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6"/>
  </p:notesMasterIdLst>
  <p:handoutMasterIdLst>
    <p:handoutMasterId r:id="rId17"/>
  </p:handoutMasterIdLst>
  <p:sldIdLst>
    <p:sldId id="714" r:id="rId5"/>
    <p:sldId id="756" r:id="rId6"/>
    <p:sldId id="766" r:id="rId7"/>
    <p:sldId id="929" r:id="rId8"/>
    <p:sldId id="765" r:id="rId9"/>
    <p:sldId id="938" r:id="rId10"/>
    <p:sldId id="939" r:id="rId11"/>
    <p:sldId id="941" r:id="rId12"/>
    <p:sldId id="940" r:id="rId13"/>
    <p:sldId id="767" r:id="rId14"/>
    <p:sldId id="74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CC"/>
    <a:srgbClr val="FAF2D4"/>
    <a:srgbClr val="FFFFFF"/>
    <a:srgbClr val="9A3B5D"/>
    <a:srgbClr val="FDEDDA"/>
    <a:srgbClr val="F2F2F2"/>
    <a:srgbClr val="EDEDED"/>
    <a:srgbClr val="4B4B4B"/>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AD6480-FAF1-4A36-AA0C-12A6179FACA6}" v="2" dt="2025-10-22T06:40:46.179"/>
    <p1510:client id="{EB8B6A11-BF55-4AA2-ACA4-9190AC96E550}" v="8" dt="2025-10-22T08:00:10.09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82" y="18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2025/10/28</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2025/10/28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2</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2025/10/22</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2025/10/22</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2025/10/22</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kumimoji="1" lang="ja-JP" altLang="en-US" sz="4400" dirty="0"/>
              <a:t>概算お見積もり</a:t>
            </a:r>
            <a:r>
              <a:rPr kumimoji="1" lang="en-US" altLang="ja-JP" sz="2800" dirty="0"/>
              <a:t>(</a:t>
            </a:r>
            <a:r>
              <a:rPr kumimoji="1" lang="ja-JP" altLang="en-US" sz="2800" dirty="0"/>
              <a:t>第</a:t>
            </a:r>
            <a:r>
              <a:rPr kumimoji="1" lang="en-US" altLang="ja-JP" sz="2800" dirty="0"/>
              <a:t>1.0</a:t>
            </a:r>
            <a:r>
              <a:rPr kumimoji="1" lang="ja-JP" altLang="en-US" sz="2800" dirty="0"/>
              <a:t>版） </a:t>
            </a:r>
            <a:br>
              <a:rPr kumimoji="1" lang="en-US" altLang="ja-JP" sz="2800" dirty="0"/>
            </a:br>
            <a:r>
              <a:rPr kumimoji="1" lang="en-US" altLang="ja-JP" sz="2800" dirty="0"/>
              <a:t>~</a:t>
            </a:r>
            <a:r>
              <a:rPr lang="en-US" altLang="ja-JP" sz="2800" dirty="0"/>
              <a:t>2026</a:t>
            </a:r>
            <a:r>
              <a:rPr lang="ja-JP" altLang="en-US" sz="2800" dirty="0"/>
              <a:t>年度要望対応</a:t>
            </a:r>
            <a:r>
              <a:rPr kumimoji="1" lang="en-US" altLang="ja-JP" sz="2800" dirty="0"/>
              <a:t>~</a:t>
            </a:r>
            <a:endParaRPr kumimoji="1" lang="ja-JP" altLang="en-US" sz="4400" dirty="0"/>
          </a:p>
        </p:txBody>
      </p:sp>
      <p:sp>
        <p:nvSpPr>
          <p:cNvPr id="4" name="サブタイトル 3"/>
          <p:cNvSpPr>
            <a:spLocks noGrp="1"/>
          </p:cNvSpPr>
          <p:nvPr>
            <p:ph type="subTitle" idx="1"/>
          </p:nvPr>
        </p:nvSpPr>
        <p:spPr>
          <a:xfrm>
            <a:off x="576000" y="2562045"/>
            <a:ext cx="8640000" cy="701955"/>
          </a:xfrm>
        </p:spPr>
        <p:txBody>
          <a:bodyPr>
            <a:normAutofit/>
          </a:bodyPr>
          <a:lstStyle/>
          <a:p>
            <a:r>
              <a:rPr kumimoji="1" lang="ja-JP" altLang="en-US" sz="3200" dirty="0"/>
              <a:t>出光総合資格サイト</a:t>
            </a:r>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2025/10/30</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dirty="0">
                <a:latin typeface="游明朝" panose="02020400000000000000" pitchFamily="18" charset="-128"/>
                <a:ea typeface="游明朝" panose="02020400000000000000" pitchFamily="18" charset="-128"/>
              </a:rPr>
              <a:t>１</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はじめに</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2025/10/22</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本資料は下記の別資料に基づき「出光総合資格サイト」要望対応のお見積もり資料です。</a:t>
            </a:r>
            <a:endParaRPr lang="en-US" altLang="ja-JP" dirty="0">
              <a:solidFill>
                <a:srgbClr val="000000"/>
              </a:solidFill>
            </a:endParaRPr>
          </a:p>
          <a:p>
            <a:r>
              <a:rPr lang="en-US" altLang="ja-JP" dirty="0">
                <a:solidFill>
                  <a:srgbClr val="000000"/>
                </a:solidFill>
              </a:rPr>
              <a:t>[</a:t>
            </a:r>
            <a:r>
              <a:rPr lang="ja-JP" altLang="en-US" dirty="0">
                <a:solidFill>
                  <a:srgbClr val="000000"/>
                </a:solidFill>
              </a:rPr>
              <a:t>別資料</a:t>
            </a:r>
            <a:r>
              <a:rPr lang="en-US" altLang="ja-JP" dirty="0">
                <a:solidFill>
                  <a:srgbClr val="000000"/>
                </a:solidFill>
              </a:rPr>
              <a:t>]</a:t>
            </a:r>
          </a:p>
          <a:p>
            <a:r>
              <a:rPr lang="ja-JP" altLang="en-US" dirty="0">
                <a:solidFill>
                  <a:srgbClr val="000000"/>
                </a:solidFill>
              </a:rPr>
              <a:t>　</a:t>
            </a:r>
            <a:r>
              <a:rPr lang="ja-JP" altLang="en-US" sz="1600" dirty="0">
                <a:solidFill>
                  <a:srgbClr val="000000"/>
                </a:solidFill>
              </a:rPr>
              <a:t>・ </a:t>
            </a:r>
            <a:r>
              <a:rPr lang="en-US" altLang="ja-JP" sz="1600" dirty="0">
                <a:solidFill>
                  <a:srgbClr val="000000"/>
                </a:solidFill>
              </a:rPr>
              <a:t>No239_②</a:t>
            </a:r>
            <a:r>
              <a:rPr lang="ja-JP" altLang="en-US" sz="1600" dirty="0">
                <a:solidFill>
                  <a:srgbClr val="000000"/>
                </a:solidFill>
              </a:rPr>
              <a:t>ユーザ統合検討案</a:t>
            </a:r>
            <a:r>
              <a:rPr lang="en-US" altLang="ja-JP" sz="1600" dirty="0">
                <a:solidFill>
                  <a:srgbClr val="000000"/>
                </a:solidFill>
              </a:rPr>
              <a:t>.xlsx</a:t>
            </a:r>
            <a:endParaRPr lang="en-US" altLang="ja-JP" sz="1600" dirty="0"/>
          </a:p>
          <a:p>
            <a:r>
              <a:rPr lang="en-US" altLang="ja-JP" sz="1600" b="1" dirty="0">
                <a:solidFill>
                  <a:srgbClr val="000000"/>
                </a:solidFill>
              </a:rPr>
              <a:t>[</a:t>
            </a:r>
            <a:r>
              <a:rPr lang="ja-JP" altLang="en-US" sz="1600" b="1" dirty="0"/>
              <a:t>見積内容</a:t>
            </a:r>
            <a:r>
              <a:rPr lang="en-US" altLang="ja-JP" sz="1600" b="1" dirty="0">
                <a:solidFill>
                  <a:srgbClr val="000000"/>
                </a:solidFill>
              </a:rPr>
              <a:t>]</a:t>
            </a:r>
          </a:p>
          <a:p>
            <a:r>
              <a:rPr lang="en-US" altLang="ja-JP" sz="1600" b="1" dirty="0">
                <a:solidFill>
                  <a:srgbClr val="000000"/>
                </a:solidFill>
              </a:rPr>
              <a:t>4</a:t>
            </a:r>
            <a:r>
              <a:rPr lang="ja-JP" altLang="en-US" sz="1600" b="1" dirty="0">
                <a:solidFill>
                  <a:srgbClr val="000000"/>
                </a:solidFill>
              </a:rPr>
              <a:t>件の内容についてのお見積りとなります。</a:t>
            </a:r>
            <a:endParaRPr lang="en-US" altLang="ja-JP" sz="1600" b="1" dirty="0">
              <a:solidFill>
                <a:srgbClr val="000000"/>
              </a:solidFill>
            </a:endParaRPr>
          </a:p>
          <a:p>
            <a:r>
              <a:rPr lang="ja-JP" altLang="en-US" sz="1600" b="1" dirty="0">
                <a:solidFill>
                  <a:srgbClr val="000000"/>
                </a:solidFill>
              </a:rPr>
              <a:t>①</a:t>
            </a:r>
            <a:r>
              <a:rPr lang="en-US" altLang="ja-JP" sz="1600" b="1" dirty="0">
                <a:solidFill>
                  <a:srgbClr val="000000"/>
                </a:solidFill>
              </a:rPr>
              <a:t>-1 </a:t>
            </a:r>
            <a:r>
              <a:rPr lang="ja-JP" altLang="en-US" sz="1600" b="1" dirty="0">
                <a:solidFill>
                  <a:srgbClr val="000000"/>
                </a:solidFill>
              </a:rPr>
              <a:t>会員情報メニューで</a:t>
            </a:r>
            <a:r>
              <a:rPr lang="en-US" altLang="ja-JP" sz="1600" b="1" dirty="0">
                <a:solidFill>
                  <a:srgbClr val="000000"/>
                </a:solidFill>
              </a:rPr>
              <a:t>No.1</a:t>
            </a:r>
            <a:r>
              <a:rPr lang="ja-JP" altLang="en-US" sz="1600" b="1" dirty="0">
                <a:solidFill>
                  <a:srgbClr val="000000"/>
                </a:solidFill>
              </a:rPr>
              <a:t>コード項目を追加する</a:t>
            </a:r>
            <a:endParaRPr lang="en-US" altLang="ja-JP" sz="1600" b="1" dirty="0">
              <a:solidFill>
                <a:srgbClr val="000000"/>
              </a:solidFill>
            </a:endParaRPr>
          </a:p>
          <a:p>
            <a:r>
              <a:rPr lang="ja-JP" altLang="en-US" sz="1600" b="1" dirty="0">
                <a:solidFill>
                  <a:srgbClr val="000000"/>
                </a:solidFill>
              </a:rPr>
              <a:t>①</a:t>
            </a:r>
            <a:r>
              <a:rPr lang="en-US" altLang="ja-JP" sz="1600" b="1" dirty="0">
                <a:solidFill>
                  <a:srgbClr val="000000"/>
                </a:solidFill>
              </a:rPr>
              <a:t>-2 ITM</a:t>
            </a:r>
            <a:r>
              <a:rPr lang="ja-JP" altLang="en-US" sz="1600" b="1" dirty="0">
                <a:solidFill>
                  <a:srgbClr val="000000"/>
                </a:solidFill>
              </a:rPr>
              <a:t>ポイント取得状況一覧を出す画面で、削除した会員を除外するチェックボックスを設けてほしい</a:t>
            </a:r>
            <a:endParaRPr lang="en-US" altLang="ja-JP" sz="1600" b="1" dirty="0">
              <a:solidFill>
                <a:srgbClr val="000000"/>
              </a:solidFill>
            </a:endParaRPr>
          </a:p>
          <a:p>
            <a:r>
              <a:rPr lang="ja-JP" altLang="en-US" sz="1600" b="1" dirty="0">
                <a:solidFill>
                  <a:srgbClr val="000000"/>
                </a:solidFill>
              </a:rPr>
              <a:t>②会員情報の一元化（ユーザ統合）</a:t>
            </a:r>
            <a:endParaRPr lang="en-US" altLang="ja-JP" sz="1600" b="1" dirty="0">
              <a:solidFill>
                <a:srgbClr val="000000"/>
              </a:solidFill>
            </a:endParaRPr>
          </a:p>
          <a:p>
            <a:r>
              <a:rPr lang="ja-JP" altLang="en-US" sz="1600" b="1" dirty="0">
                <a:solidFill>
                  <a:srgbClr val="000000"/>
                </a:solidFill>
              </a:rPr>
              <a:t>③過去分の販売活動報告登録の編集不可 </a:t>
            </a:r>
            <a:endParaRPr lang="en-US" altLang="ja-JP" sz="1600" b="1" dirty="0">
              <a:solidFill>
                <a:srgbClr val="000000"/>
              </a:solidFill>
            </a:endParaRPr>
          </a:p>
          <a:p>
            <a:endParaRPr lang="en-US" altLang="ja-JP" sz="1600" b="1" dirty="0">
              <a:solidFill>
                <a:srgbClr val="000000"/>
              </a:solidFill>
            </a:endParaRP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ja-JP" altLang="en-US" dirty="0">
                <a:latin typeface="游明朝" panose="02020400000000000000" pitchFamily="18" charset="-128"/>
                <a:ea typeface="游明朝" panose="02020400000000000000" pitchFamily="18" charset="-128"/>
              </a:rPr>
              <a:t>２</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スケジュール（仮）</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637225654"/>
              </p:ext>
            </p:extLst>
          </p:nvPr>
        </p:nvGraphicFramePr>
        <p:xfrm>
          <a:off x="853876" y="956021"/>
          <a:ext cx="10484248" cy="3495111"/>
        </p:xfrm>
        <a:graphic>
          <a:graphicData uri="http://schemas.openxmlformats.org/drawingml/2006/table">
            <a:tbl>
              <a:tblPr firstRow="1">
                <a:tableStyleId>{69012ECD-51FC-41F1-AA8D-1B2483CD663E}</a:tableStyleId>
              </a:tblPr>
              <a:tblGrid>
                <a:gridCol w="1655188">
                  <a:extLst>
                    <a:ext uri="{9D8B030D-6E8A-4147-A177-3AD203B41FA5}">
                      <a16:colId xmlns:a16="http://schemas.microsoft.com/office/drawing/2014/main" val="20001"/>
                    </a:ext>
                  </a:extLst>
                </a:gridCol>
                <a:gridCol w="735755">
                  <a:extLst>
                    <a:ext uri="{9D8B030D-6E8A-4147-A177-3AD203B41FA5}">
                      <a16:colId xmlns:a16="http://schemas.microsoft.com/office/drawing/2014/main" val="3798517737"/>
                    </a:ext>
                  </a:extLst>
                </a:gridCol>
                <a:gridCol w="735755">
                  <a:extLst>
                    <a:ext uri="{9D8B030D-6E8A-4147-A177-3AD203B41FA5}">
                      <a16:colId xmlns:a16="http://schemas.microsoft.com/office/drawing/2014/main" val="3330914773"/>
                    </a:ext>
                  </a:extLst>
                </a:gridCol>
                <a:gridCol w="735755">
                  <a:extLst>
                    <a:ext uri="{9D8B030D-6E8A-4147-A177-3AD203B41FA5}">
                      <a16:colId xmlns:a16="http://schemas.microsoft.com/office/drawing/2014/main" val="20014"/>
                    </a:ext>
                  </a:extLst>
                </a:gridCol>
                <a:gridCol w="735755">
                  <a:extLst>
                    <a:ext uri="{9D8B030D-6E8A-4147-A177-3AD203B41FA5}">
                      <a16:colId xmlns:a16="http://schemas.microsoft.com/office/drawing/2014/main" val="332361526"/>
                    </a:ext>
                  </a:extLst>
                </a:gridCol>
                <a:gridCol w="735755">
                  <a:extLst>
                    <a:ext uri="{9D8B030D-6E8A-4147-A177-3AD203B41FA5}">
                      <a16:colId xmlns:a16="http://schemas.microsoft.com/office/drawing/2014/main" val="2064698816"/>
                    </a:ext>
                  </a:extLst>
                </a:gridCol>
                <a:gridCol w="735755">
                  <a:extLst>
                    <a:ext uri="{9D8B030D-6E8A-4147-A177-3AD203B41FA5}">
                      <a16:colId xmlns:a16="http://schemas.microsoft.com/office/drawing/2014/main" val="1049139473"/>
                    </a:ext>
                  </a:extLst>
                </a:gridCol>
                <a:gridCol w="735755">
                  <a:extLst>
                    <a:ext uri="{9D8B030D-6E8A-4147-A177-3AD203B41FA5}">
                      <a16:colId xmlns:a16="http://schemas.microsoft.com/office/drawing/2014/main" val="581626291"/>
                    </a:ext>
                  </a:extLst>
                </a:gridCol>
                <a:gridCol w="735755">
                  <a:extLst>
                    <a:ext uri="{9D8B030D-6E8A-4147-A177-3AD203B41FA5}">
                      <a16:colId xmlns:a16="http://schemas.microsoft.com/office/drawing/2014/main" val="1794734865"/>
                    </a:ext>
                  </a:extLst>
                </a:gridCol>
                <a:gridCol w="735755">
                  <a:extLst>
                    <a:ext uri="{9D8B030D-6E8A-4147-A177-3AD203B41FA5}">
                      <a16:colId xmlns:a16="http://schemas.microsoft.com/office/drawing/2014/main" val="749056113"/>
                    </a:ext>
                  </a:extLst>
                </a:gridCol>
                <a:gridCol w="735755">
                  <a:extLst>
                    <a:ext uri="{9D8B030D-6E8A-4147-A177-3AD203B41FA5}">
                      <a16:colId xmlns:a16="http://schemas.microsoft.com/office/drawing/2014/main" val="2894799342"/>
                    </a:ext>
                  </a:extLst>
                </a:gridCol>
                <a:gridCol w="735755">
                  <a:extLst>
                    <a:ext uri="{9D8B030D-6E8A-4147-A177-3AD203B41FA5}">
                      <a16:colId xmlns:a16="http://schemas.microsoft.com/office/drawing/2014/main" val="1393263075"/>
                    </a:ext>
                  </a:extLst>
                </a:gridCol>
                <a:gridCol w="735755">
                  <a:extLst>
                    <a:ext uri="{9D8B030D-6E8A-4147-A177-3AD203B41FA5}">
                      <a16:colId xmlns:a16="http://schemas.microsoft.com/office/drawing/2014/main" val="1713442751"/>
                    </a:ext>
                  </a:extLst>
                </a:gridCol>
              </a:tblGrid>
              <a:tr h="353226">
                <a:tc rowSpan="3">
                  <a:txBody>
                    <a:bodyPr/>
                    <a:lstStyle/>
                    <a:p>
                      <a:pPr algn="ctr"/>
                      <a:endParaRPr kumimoji="1" lang="ja-JP" altLang="en-US" sz="12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8">
                  <a:txBody>
                    <a:bodyPr/>
                    <a:lstStyle/>
                    <a:p>
                      <a:pPr algn="ctr"/>
                      <a:r>
                        <a:rPr lang="en-US" altLang="ja-JP" sz="1400" b="0" dirty="0">
                          <a:solidFill>
                            <a:srgbClr val="FFFFFF"/>
                          </a:solidFill>
                          <a:latin typeface="游ゴシック"/>
                          <a:ea typeface="游ゴシック"/>
                        </a:rPr>
                        <a:t>2025</a:t>
                      </a:r>
                      <a:r>
                        <a:rPr kumimoji="1" lang="ja-JP" altLang="en-US" sz="1400" b="0" dirty="0">
                          <a:solidFill>
                            <a:srgbClr val="FFFFFF"/>
                          </a:solidFill>
                          <a:latin typeface="游ゴシック"/>
                          <a:ea typeface="游ゴシック"/>
                        </a:rPr>
                        <a:t>年</a:t>
                      </a:r>
                      <a:endParaRPr kumimoji="1" lang="ja-JP" altLang="en-US" sz="16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6350" cap="flat" cmpd="sng" algn="ctr">
                      <a:solidFill>
                        <a:schemeClr val="bg1">
                          <a:lumMod val="65000"/>
                        </a:schemeClr>
                      </a:solidFill>
                      <a:prstDash val="sysDot"/>
                      <a:round/>
                      <a:headEnd type="none" w="med" len="med"/>
                      <a:tailEnd type="none" w="med" len="med"/>
                    </a:ln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lang="en-US" altLang="ja-JP" sz="1400" b="0" dirty="0">
                          <a:solidFill>
                            <a:srgbClr val="FFFFFF"/>
                          </a:solidFill>
                          <a:latin typeface="游ゴシック"/>
                          <a:ea typeface="游ゴシック"/>
                        </a:rPr>
                        <a:t>2026</a:t>
                      </a:r>
                      <a:r>
                        <a:rPr kumimoji="1" lang="ja-JP" altLang="en-US" sz="1400" b="0" dirty="0">
                          <a:solidFill>
                            <a:srgbClr val="FFFFFF"/>
                          </a:solidFill>
                          <a:latin typeface="游ゴシック"/>
                          <a:ea typeface="游ゴシック"/>
                        </a:rPr>
                        <a:t>年</a:t>
                      </a:r>
                      <a:endParaRPr kumimoji="1" lang="ja-JP" altLang="en-US" sz="2000" b="0" dirty="0">
                        <a:solidFill>
                          <a:srgbClr val="FFFFFF"/>
                        </a:solidFill>
                        <a:latin typeface="游ゴシック"/>
                        <a:ea typeface="游ゴシック"/>
                      </a:endParaRP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solidFill>
                      <a:schemeClr val="accent1"/>
                    </a:solidFill>
                  </a:tcPr>
                </a:tc>
                <a:tc hMerge="1">
                  <a:txBody>
                    <a:bodyPr/>
                    <a:lstStyle/>
                    <a:p>
                      <a:pPr algn="ctr"/>
                      <a:endParaRPr kumimoji="1" lang="ja-JP" altLang="en-US" sz="1000">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extLst>
                  <a:ext uri="{0D108BD9-81ED-4DB2-BD59-A6C34878D82A}">
                    <a16:rowId xmlns:a16="http://schemas.microsoft.com/office/drawing/2014/main" val="10000"/>
                  </a:ext>
                </a:extLst>
              </a:tr>
              <a:tr h="0">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gridSpan="4">
                  <a:txBody>
                    <a:bodyPr/>
                    <a:lstStyle/>
                    <a:p>
                      <a:pPr algn="ctr"/>
                      <a:r>
                        <a:rPr kumimoji="1" lang="en-US" altLang="ja-JP" sz="1400" b="0" dirty="0">
                          <a:solidFill>
                            <a:srgbClr val="FFFFFF"/>
                          </a:solidFill>
                          <a:latin typeface="游ゴシック"/>
                          <a:ea typeface="游ゴシック"/>
                        </a:rPr>
                        <a:t>11</a:t>
                      </a:r>
                      <a:r>
                        <a:rPr kumimoji="1" lang="ja-JP" altLang="en-US" sz="1400" b="0" dirty="0">
                          <a:solidFill>
                            <a:srgbClr val="FFFFFF"/>
                          </a:solidFill>
                          <a:latin typeface="游ゴシック"/>
                          <a:ea typeface="游ゴシック"/>
                        </a:rPr>
                        <a:t>月</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dirty="0"/>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rPr>
                        <a:t>12</a:t>
                      </a:r>
                      <a:r>
                        <a:rPr kumimoji="1" lang="ja-JP" altLang="en-US" sz="1400" b="0" dirty="0">
                          <a:solidFill>
                            <a:srgbClr val="FFFFFF"/>
                          </a:solidFill>
                          <a:latin typeface="游ゴシック"/>
                          <a:ea typeface="游ゴシック"/>
                        </a:rPr>
                        <a:t>月</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dirty="0"/>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rPr>
                        <a:t>1</a:t>
                      </a:r>
                      <a:r>
                        <a:rPr kumimoji="1" lang="ja-JP" altLang="en-US" sz="1400" b="0" dirty="0">
                          <a:solidFill>
                            <a:srgbClr val="FFFFFF"/>
                          </a:solidFill>
                          <a:latin typeface="游ゴシック"/>
                          <a:ea typeface="游ゴシック"/>
                        </a:rPr>
                        <a:t>月</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dirty="0"/>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262154">
                <a:tc vMerge="1">
                  <a:txBody>
                    <a:bodyPr/>
                    <a:lstStyle/>
                    <a:p>
                      <a:endParaRPr kumimoji="1" lang="ja-JP" altLang="en-US"/>
                    </a:p>
                  </a:txBody>
                  <a:tcPr/>
                </a:tc>
                <a:tc>
                  <a:txBody>
                    <a:bodyPr/>
                    <a:lstStyle/>
                    <a:p>
                      <a:pPr algn="ctr"/>
                      <a:r>
                        <a:rPr kumimoji="1" lang="en-US" altLang="ja-JP" sz="1400" b="0" dirty="0">
                          <a:solidFill>
                            <a:srgbClr val="FFFFFF"/>
                          </a:solidFill>
                          <a:latin typeface="游ゴシック"/>
                          <a:ea typeface="游ゴシック"/>
                          <a:cs typeface="Meiryo UI" pitchFamily="50" charset="-128"/>
                        </a:rPr>
                        <a:t>4</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10</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17</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24</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1</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8</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15</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22</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5</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13</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19</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26</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50877923"/>
                  </a:ext>
                </a:extLst>
              </a:tr>
              <a:tr h="531897">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2039268">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スケジュール</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bl>
          </a:graphicData>
        </a:graphic>
      </p:graphicFrame>
      <p:sp>
        <p:nvSpPr>
          <p:cNvPr id="38" name="テキスト ボックス 37">
            <a:extLst>
              <a:ext uri="{FF2B5EF4-FFF2-40B4-BE49-F238E27FC236}">
                <a16:creationId xmlns:a16="http://schemas.microsoft.com/office/drawing/2014/main" id="{52966910-B070-4DEE-BF16-CF9CFAD5A257}"/>
              </a:ext>
            </a:extLst>
          </p:cNvPr>
          <p:cNvSpPr txBox="1"/>
          <p:nvPr/>
        </p:nvSpPr>
        <p:spPr>
          <a:xfrm>
            <a:off x="4174207" y="2215693"/>
            <a:ext cx="1036655"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▼キックオフ</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1" name="テキスト ボックス 40">
            <a:extLst>
              <a:ext uri="{FF2B5EF4-FFF2-40B4-BE49-F238E27FC236}">
                <a16:creationId xmlns:a16="http://schemas.microsoft.com/office/drawing/2014/main" id="{3DB6E5B5-DB44-426C-BD5D-3AFB7EE80EA5}"/>
              </a:ext>
            </a:extLst>
          </p:cNvPr>
          <p:cNvSpPr txBox="1"/>
          <p:nvPr/>
        </p:nvSpPr>
        <p:spPr>
          <a:xfrm>
            <a:off x="11002238" y="2098225"/>
            <a:ext cx="1036655"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▼納品</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2" name="テキスト ボックス 41">
            <a:extLst>
              <a:ext uri="{FF2B5EF4-FFF2-40B4-BE49-F238E27FC236}">
                <a16:creationId xmlns:a16="http://schemas.microsoft.com/office/drawing/2014/main" id="{45E8F807-1FBA-4D84-999D-F77A78B7AC5A}"/>
              </a:ext>
            </a:extLst>
          </p:cNvPr>
          <p:cNvSpPr txBox="1"/>
          <p:nvPr/>
        </p:nvSpPr>
        <p:spPr>
          <a:xfrm>
            <a:off x="10084558" y="1947374"/>
            <a:ext cx="870527" cy="221018"/>
          </a:xfrm>
          <a:prstGeom prst="rect">
            <a:avLst/>
          </a:prstGeom>
          <a:noFill/>
          <a:ln>
            <a:noFill/>
          </a:ln>
        </p:spPr>
        <p:txBody>
          <a:bodyPr wrap="square" lIns="18000" tIns="18000" rIns="18000" bIns="18000" rtlCol="0">
            <a:spAutoFit/>
          </a:bodyPr>
          <a:lstStyle/>
          <a:p>
            <a:r>
              <a:rPr kumimoji="1" lang="ja-JP" altLang="en-US" sz="1200" b="1" dirty="0">
                <a:solidFill>
                  <a:srgbClr val="FF0000"/>
                </a:solidFill>
                <a:latin typeface="游ゴシック" panose="020B0400000000000000" pitchFamily="50" charset="-128"/>
                <a:ea typeface="游ゴシック" panose="020B0400000000000000" pitchFamily="50" charset="-128"/>
                <a:cs typeface="Meiryo UI" panose="020B0604030504040204" pitchFamily="50" charset="-128"/>
              </a:rPr>
              <a:t>★リリース</a:t>
            </a:r>
          </a:p>
        </p:txBody>
      </p:sp>
      <p:sp>
        <p:nvSpPr>
          <p:cNvPr id="44" name="正方形/長方形 43">
            <a:extLst>
              <a:ext uri="{FF2B5EF4-FFF2-40B4-BE49-F238E27FC236}">
                <a16:creationId xmlns:a16="http://schemas.microsoft.com/office/drawing/2014/main" id="{F552483D-B47E-4672-AAB8-B1378D36B674}"/>
              </a:ext>
            </a:extLst>
          </p:cNvPr>
          <p:cNvSpPr/>
          <p:nvPr/>
        </p:nvSpPr>
        <p:spPr>
          <a:xfrm>
            <a:off x="5462854" y="2650688"/>
            <a:ext cx="2172777" cy="1191847"/>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mn-ea"/>
              </a:rPr>
              <a:t>開発</a:t>
            </a:r>
          </a:p>
        </p:txBody>
      </p:sp>
      <p:sp>
        <p:nvSpPr>
          <p:cNvPr id="50" name="正方形/長方形 49">
            <a:extLst>
              <a:ext uri="{FF2B5EF4-FFF2-40B4-BE49-F238E27FC236}">
                <a16:creationId xmlns:a16="http://schemas.microsoft.com/office/drawing/2014/main" id="{BF31360D-FAB3-4C87-B7AB-B502DDFDA9EC}"/>
              </a:ext>
            </a:extLst>
          </p:cNvPr>
          <p:cNvSpPr/>
          <p:nvPr/>
        </p:nvSpPr>
        <p:spPr>
          <a:xfrm>
            <a:off x="4359480" y="2651424"/>
            <a:ext cx="1085660" cy="1191847"/>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200" dirty="0">
                <a:solidFill>
                  <a:schemeClr val="tx1"/>
                </a:solidFill>
                <a:latin typeface="+mn-ea"/>
              </a:rPr>
              <a:t>設計</a:t>
            </a:r>
          </a:p>
        </p:txBody>
      </p:sp>
      <p:sp>
        <p:nvSpPr>
          <p:cNvPr id="53" name="正方形/長方形 52">
            <a:extLst>
              <a:ext uri="{FF2B5EF4-FFF2-40B4-BE49-F238E27FC236}">
                <a16:creationId xmlns:a16="http://schemas.microsoft.com/office/drawing/2014/main" id="{60BE86B4-B849-422B-8758-4720CC34871C}"/>
              </a:ext>
            </a:extLst>
          </p:cNvPr>
          <p:cNvSpPr/>
          <p:nvPr/>
        </p:nvSpPr>
        <p:spPr>
          <a:xfrm>
            <a:off x="7653589" y="2650687"/>
            <a:ext cx="2620196" cy="1191847"/>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mn-ea"/>
              </a:rPr>
              <a:t>テスト</a:t>
            </a:r>
            <a:endParaRPr lang="en-US" altLang="ja-JP" sz="1200" dirty="0">
              <a:solidFill>
                <a:schemeClr val="tx1"/>
              </a:solidFill>
              <a:latin typeface="+mn-ea"/>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2025/10/22</a:t>
            </a:r>
            <a:endParaRPr lang="en-US"/>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853876" y="4665845"/>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dirty="0">
                <a:latin typeface="+mn-ea"/>
                <a:cs typeface="メイリオ" pitchFamily="50" charset="-128"/>
              </a:rPr>
              <a:t>スケジュールについては、ご契約のタイミング状況により変更となる場合がございます</a:t>
            </a:r>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560606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体制（想定）</a:t>
            </a:r>
            <a:endParaRPr kumimoji="1" lang="ja-JP" altLang="en-US" dirty="0"/>
          </a:p>
        </p:txBody>
      </p:sp>
      <p:sp>
        <p:nvSpPr>
          <p:cNvPr id="3" name="日付プレースホルダー 2"/>
          <p:cNvSpPr>
            <a:spLocks noGrp="1"/>
          </p:cNvSpPr>
          <p:nvPr>
            <p:ph type="dt" sz="half" idx="10"/>
          </p:nvPr>
        </p:nvSpPr>
        <p:spPr/>
        <p:txBody>
          <a:bodyPr/>
          <a:lstStyle/>
          <a:p>
            <a:r>
              <a:rPr lang="en-US" altLang="ja-JP"/>
              <a:t>2025/10/22</a:t>
            </a:r>
            <a:endParaRPr 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2057470" y="1152827"/>
            <a:ext cx="7360893"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2057470" y="804629"/>
            <a:ext cx="7360893"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sp>
        <p:nvSpPr>
          <p:cNvPr id="28" name="正方形/長方形 27">
            <a:extLst>
              <a:ext uri="{FF2B5EF4-FFF2-40B4-BE49-F238E27FC236}">
                <a16:creationId xmlns:a16="http://schemas.microsoft.com/office/drawing/2014/main" id="{87AEB705-9D44-4043-5619-0DF9929425CE}"/>
              </a:ext>
            </a:extLst>
          </p:cNvPr>
          <p:cNvSpPr/>
          <p:nvPr/>
        </p:nvSpPr>
        <p:spPr>
          <a:xfrm>
            <a:off x="2057469" y="6033215"/>
            <a:ext cx="7360893" cy="83061"/>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4203614" y="1552513"/>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latin typeface="+mn-ea"/>
                </a:rPr>
                <a:t>福井 将敏</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5571614" y="2272513"/>
            <a:ext cx="0" cy="102923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4219578" y="4404651"/>
            <a:ext cx="2711797" cy="1041010"/>
            <a:chOff x="6852000" y="5532586"/>
            <a:chExt cx="2736000" cy="517451"/>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dirty="0">
                  <a:ln>
                    <a:noFill/>
                  </a:ln>
                  <a:solidFill>
                    <a:prstClr val="white"/>
                  </a:solidFill>
                  <a:effectLst/>
                  <a:uLnTx/>
                  <a:uFillTx/>
                  <a:latin typeface="+mn-ea"/>
                </a:rPr>
                <a:t>メンバー</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322099"/>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dirty="0">
                  <a:solidFill>
                    <a:srgbClr val="333333"/>
                  </a:solidFill>
                  <a:latin typeface="+mn-ea"/>
                </a:rPr>
                <a:t>澤田 晶子</a:t>
              </a:r>
              <a:endParaRPr lang="en-US" altLang="ja-JP" sz="1600" dirty="0">
                <a:solidFill>
                  <a:srgbClr val="333333"/>
                </a:solidFill>
                <a:latin typeface="+mn-ea"/>
              </a:endParaRPr>
            </a:p>
            <a:p>
              <a:pPr lvl="0" algn="ctr" defTabSz="914400">
                <a:defRPr/>
              </a:pPr>
              <a:r>
                <a:rPr lang="ja-JP" altLang="en-US" sz="1600" dirty="0">
                  <a:solidFill>
                    <a:srgbClr val="333333"/>
                  </a:solidFill>
                  <a:latin typeface="+mn-ea"/>
                </a:rPr>
                <a:t>葉 澤群</a:t>
              </a:r>
              <a:endParaRPr lang="ja-JP" altLang="en-US" sz="1600" b="0" i="0" dirty="0">
                <a:solidFill>
                  <a:srgbClr val="333333"/>
                </a:solidFill>
                <a:effectLst/>
                <a:latin typeface="+mn-ea"/>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5565855" y="2776513"/>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4203614" y="3301745"/>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dirty="0">
                  <a:solidFill>
                    <a:srgbClr val="333333"/>
                  </a:solidFill>
                  <a:latin typeface="+mn-ea"/>
                </a:rPr>
                <a:t>遠矢 成洋</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5940945" y="2422664"/>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1893181" y="6137676"/>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dirty="0">
                <a:latin typeface="游ゴシック"/>
                <a:ea typeface="游ゴシック"/>
                <a:cs typeface="メイリオ" pitchFamily="50" charset="-128"/>
              </a:rPr>
              <a:t>体制については、ご契約のタイミング状況により変更となる場合がございます。</a:t>
            </a:r>
            <a:endParaRPr lang="en-US" altLang="ja-JP" sz="1400" dirty="0">
              <a:latin typeface="游ゴシック"/>
              <a:ea typeface="游ゴシック"/>
              <a:cs typeface="メイリオ" pitchFamily="50" charset="-128"/>
            </a:endParaRPr>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cxnSp>
        <p:nvCxnSpPr>
          <p:cNvPr id="64" name="直線コネクタ 63">
            <a:extLst>
              <a:ext uri="{FF2B5EF4-FFF2-40B4-BE49-F238E27FC236}">
                <a16:creationId xmlns:a16="http://schemas.microsoft.com/office/drawing/2014/main" id="{3E36A9D1-620F-F185-F028-0AFC6E5D9989}"/>
              </a:ext>
            </a:extLst>
          </p:cNvPr>
          <p:cNvCxnSpPr>
            <a:cxnSpLocks/>
            <a:stCxn id="46" idx="2"/>
            <a:endCxn id="35" idx="3"/>
          </p:cNvCxnSpPr>
          <p:nvPr/>
        </p:nvCxnSpPr>
        <p:spPr>
          <a:xfrm>
            <a:off x="5571614" y="4013278"/>
            <a:ext cx="0" cy="39135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2399073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dirty="0">
                <a:latin typeface="游明朝" panose="02020400000000000000" pitchFamily="18" charset="-128"/>
                <a:ea typeface="游明朝" panose="02020400000000000000" pitchFamily="18" charset="-128"/>
              </a:rPr>
              <a:t>４</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198667789"/>
              </p:ext>
            </p:extLst>
          </p:nvPr>
        </p:nvGraphicFramePr>
        <p:xfrm>
          <a:off x="606000" y="936000"/>
          <a:ext cx="11158389" cy="2505792"/>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dirty="0">
                          <a:solidFill>
                            <a:schemeClr val="dk1"/>
                          </a:solidFill>
                          <a:latin typeface="游ゴシック"/>
                          <a:ea typeface="游ゴシック"/>
                        </a:rPr>
                        <a:t>1</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設計</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a:ea typeface="游ゴシック"/>
                        </a:rPr>
                        <a:t>新規画面仕様書（作成）、既存画面仕様書（更新）、エンティティ定義書（更新）</a:t>
                      </a:r>
                      <a:endParaRPr kumimoji="1" lang="ja-JP" altLang="en-US" sz="1600" b="1" dirty="0">
                        <a:solidFill>
                          <a:srgbClr val="FF0000"/>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開発</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dirty="0">
                          <a:solidFill>
                            <a:schemeClr val="tx1"/>
                          </a:solidFill>
                          <a:latin typeface="游ゴシック"/>
                          <a:ea typeface="游ゴシック"/>
                        </a:rPr>
                        <a:t>プログラム一式</a:t>
                      </a:r>
                      <a:r>
                        <a:rPr kumimoji="1" lang="ja-JP" altLang="en-US" sz="1600" b="0" dirty="0">
                          <a:solidFill>
                            <a:schemeClr val="tx1"/>
                          </a:solidFill>
                          <a:latin typeface="游ゴシック"/>
                          <a:ea typeface="游ゴシック"/>
                        </a:rPr>
                        <a:t>（更新）</a:t>
                      </a:r>
                      <a:endParaRPr kumimoji="1" lang="en-US" altLang="ja-JP" sz="1600" b="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marL="0" algn="ctr" defTabSz="914400" rtl="0" eaLnBrk="1" latinLnBrk="0" hangingPunct="1"/>
                      <a:r>
                        <a:rPr kumimoji="1" lang="en-US" altLang="ja-JP" sz="1600" kern="1200" dirty="0">
                          <a:solidFill>
                            <a:schemeClr val="dk1"/>
                          </a:solidFill>
                          <a:latin typeface="游ゴシック"/>
                          <a:ea typeface="游ゴシック"/>
                          <a:cs typeface="+mn-cs"/>
                        </a:rPr>
                        <a:t>3</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テスト</a:t>
                      </a:r>
                      <a:endParaRPr lang="en-US" altLang="ja-JP" sz="16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600" u="none" strike="noStrike" kern="1200" cap="none" normalizeH="0" baseline="0" dirty="0">
                          <a:ln>
                            <a:noFill/>
                          </a:ln>
                          <a:solidFill>
                            <a:schemeClr val="tx1"/>
                          </a:solidFill>
                          <a:effectLst/>
                          <a:latin typeface="游ゴシック"/>
                          <a:ea typeface="游ゴシック"/>
                        </a:rPr>
                        <a:t>テスト仕様書・エビデンス</a:t>
                      </a:r>
                      <a:endParaRPr kumimoji="0" lang="ja-JP" altLang="en-US" sz="1600" u="none" strike="noStrike" kern="1200" cap="none" normalizeH="0" baseline="0" dirty="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39999">
                <a:tc>
                  <a:txBody>
                    <a:bodyPr/>
                    <a:lstStyle/>
                    <a:p>
                      <a:pPr marL="0" lvl="0" algn="ctr" defTabSz="914400">
                        <a:buNone/>
                      </a:pPr>
                      <a:r>
                        <a:rPr kumimoji="1" lang="en-US" altLang="ja-JP" sz="1600" kern="1200" dirty="0">
                          <a:solidFill>
                            <a:schemeClr val="dk1"/>
                          </a:solidFill>
                          <a:latin typeface="游ゴシック"/>
                          <a:ea typeface="游ゴシック"/>
                        </a:rPr>
                        <a:t>4</a:t>
                      </a: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altLang="en-US" sz="1600" dirty="0">
                          <a:solidFill>
                            <a:schemeClr val="tx1"/>
                          </a:solidFill>
                          <a:latin typeface="游ゴシック"/>
                          <a:ea typeface="游ゴシック"/>
                        </a:rPr>
                        <a:t>リリース関連</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kumimoji="0" lang="ja-JP" altLang="en-US" dirty="0"/>
                        <a:t>作業手順書、エビデンス</a:t>
                      </a:r>
                      <a:endParaRPr kumimoji="0" lang="ja-JP" dirty="0"/>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extLst>
                  <a:ext uri="{0D108BD9-81ED-4DB2-BD59-A6C34878D82A}">
                    <a16:rowId xmlns:a16="http://schemas.microsoft.com/office/drawing/2014/main" val="3246691259"/>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2025/10/22</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395438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５</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2025/10/22</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
        <p:nvSpPr>
          <p:cNvPr id="6" name="テキスト ボックス 5">
            <a:extLst>
              <a:ext uri="{FF2B5EF4-FFF2-40B4-BE49-F238E27FC236}">
                <a16:creationId xmlns:a16="http://schemas.microsoft.com/office/drawing/2014/main" id="{F2F09750-93DC-B6DB-0A87-E7BFF0651CBF}"/>
              </a:ext>
            </a:extLst>
          </p:cNvPr>
          <p:cNvSpPr txBox="1"/>
          <p:nvPr/>
        </p:nvSpPr>
        <p:spPr>
          <a:xfrm>
            <a:off x="497844" y="827038"/>
            <a:ext cx="11041200" cy="369332"/>
          </a:xfrm>
          <a:prstGeom prst="rect">
            <a:avLst/>
          </a:prstGeom>
          <a:noFill/>
        </p:spPr>
        <p:txBody>
          <a:bodyPr wrap="square">
            <a:spAutoFit/>
          </a:bodyPr>
          <a:lstStyle/>
          <a:p>
            <a:r>
              <a:rPr lang="ja-JP" altLang="en-US" b="1" dirty="0">
                <a:solidFill>
                  <a:srgbClr val="000000"/>
                </a:solidFill>
              </a:rPr>
              <a:t>リリース作業、プロジェクト管理は一括して実施を想定しているため、サマリー表にのみ記載します。</a:t>
            </a:r>
            <a:endParaRPr lang="en-US" altLang="ja-JP" sz="1800" b="1" dirty="0">
              <a:solidFill>
                <a:srgbClr val="000000"/>
              </a:solidFill>
            </a:endParaRPr>
          </a:p>
        </p:txBody>
      </p:sp>
      <p:graphicFrame>
        <p:nvGraphicFramePr>
          <p:cNvPr id="7" name="表 6">
            <a:extLst>
              <a:ext uri="{FF2B5EF4-FFF2-40B4-BE49-F238E27FC236}">
                <a16:creationId xmlns:a16="http://schemas.microsoft.com/office/drawing/2014/main" id="{453361B4-76E7-DFFC-4678-951150D8BC4E}"/>
              </a:ext>
            </a:extLst>
          </p:cNvPr>
          <p:cNvGraphicFramePr>
            <a:graphicFrameLocks noGrp="1"/>
          </p:cNvGraphicFramePr>
          <p:nvPr>
            <p:extLst>
              <p:ext uri="{D42A27DB-BD31-4B8C-83A1-F6EECF244321}">
                <p14:modId xmlns:p14="http://schemas.microsoft.com/office/powerpoint/2010/main" val="1030765051"/>
              </p:ext>
            </p:extLst>
          </p:nvPr>
        </p:nvGraphicFramePr>
        <p:xfrm>
          <a:off x="937846" y="1643050"/>
          <a:ext cx="9714523" cy="1854200"/>
        </p:xfrm>
        <a:graphic>
          <a:graphicData uri="http://schemas.openxmlformats.org/drawingml/2006/table">
            <a:tbl>
              <a:tblPr firstRow="1" lastRow="1">
                <a:tableStyleId>{5C22544A-7EE6-4342-B048-85BDC9FD1C3A}</a:tableStyleId>
              </a:tblPr>
              <a:tblGrid>
                <a:gridCol w="784634">
                  <a:extLst>
                    <a:ext uri="{9D8B030D-6E8A-4147-A177-3AD203B41FA5}">
                      <a16:colId xmlns:a16="http://schemas.microsoft.com/office/drawing/2014/main" val="332460419"/>
                    </a:ext>
                  </a:extLst>
                </a:gridCol>
                <a:gridCol w="4072627">
                  <a:extLst>
                    <a:ext uri="{9D8B030D-6E8A-4147-A177-3AD203B41FA5}">
                      <a16:colId xmlns:a16="http://schemas.microsoft.com/office/drawing/2014/main" val="2434244496"/>
                    </a:ext>
                  </a:extLst>
                </a:gridCol>
                <a:gridCol w="2428631">
                  <a:extLst>
                    <a:ext uri="{9D8B030D-6E8A-4147-A177-3AD203B41FA5}">
                      <a16:colId xmlns:a16="http://schemas.microsoft.com/office/drawing/2014/main" val="1287739208"/>
                    </a:ext>
                  </a:extLst>
                </a:gridCol>
                <a:gridCol w="2428631">
                  <a:extLst>
                    <a:ext uri="{9D8B030D-6E8A-4147-A177-3AD203B41FA5}">
                      <a16:colId xmlns:a16="http://schemas.microsoft.com/office/drawing/2014/main" val="3732747071"/>
                    </a:ext>
                  </a:extLst>
                </a:gridCol>
              </a:tblGrid>
              <a:tr h="370840">
                <a:tc>
                  <a:txBody>
                    <a:bodyPr/>
                    <a:lstStyle/>
                    <a:p>
                      <a:r>
                        <a:rPr kumimoji="1" lang="en-US" altLang="ja-JP" dirty="0"/>
                        <a:t>No.</a:t>
                      </a:r>
                      <a:endParaRPr kumimoji="1" lang="ja-JP" altLang="en-US" dirty="0"/>
                    </a:p>
                  </a:txBody>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a:t>
                      </a: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日</a:t>
                      </a: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7620" marR="7620" marT="7620" marB="0" anchor="ct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tc>
                <a:extLst>
                  <a:ext uri="{0D108BD9-81ED-4DB2-BD59-A6C34878D82A}">
                    <a16:rowId xmlns:a16="http://schemas.microsoft.com/office/drawing/2014/main" val="2855636999"/>
                  </a:ext>
                </a:extLst>
              </a:tr>
              <a:tr h="370840">
                <a:tc>
                  <a:txBody>
                    <a:bodyPr/>
                    <a:lstStyle/>
                    <a:p>
                      <a:pPr algn="ctr"/>
                      <a:r>
                        <a:rPr kumimoji="1" lang="ja-JP" altLang="en-US" dirty="0"/>
                        <a:t>１</a:t>
                      </a:r>
                    </a:p>
                  </a:txBody>
                  <a:tcPr/>
                </a:tc>
                <a:tc>
                  <a:txBody>
                    <a:bodyPr/>
                    <a:lstStyle/>
                    <a:p>
                      <a:pPr marL="0" lv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設計</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algn="r"/>
                      <a:r>
                        <a:rPr kumimoji="1" lang="en-US" altLang="ja-JP" dirty="0"/>
                        <a:t>0.3</a:t>
                      </a:r>
                      <a:endParaRPr kumimoji="1" lang="ja-JP" altLang="en-US" dirty="0"/>
                    </a:p>
                  </a:txBody>
                  <a:tcPr/>
                </a:tc>
                <a:tc>
                  <a:txBody>
                    <a:bodyPr/>
                    <a:lstStyle/>
                    <a:p>
                      <a:pPr algn="r"/>
                      <a:r>
                        <a:rPr kumimoji="1" lang="en-US" altLang="ja-JP" dirty="0"/>
                        <a:t>15,000</a:t>
                      </a:r>
                      <a:endParaRPr kumimoji="1" lang="ja-JP" altLang="en-US" dirty="0"/>
                    </a:p>
                  </a:txBody>
                  <a:tcPr/>
                </a:tc>
                <a:extLst>
                  <a:ext uri="{0D108BD9-81ED-4DB2-BD59-A6C34878D82A}">
                    <a16:rowId xmlns:a16="http://schemas.microsoft.com/office/drawing/2014/main" val="1845290289"/>
                  </a:ext>
                </a:extLst>
              </a:tr>
              <a:tr h="370840">
                <a:tc>
                  <a:txBody>
                    <a:bodyPr/>
                    <a:lstStyle/>
                    <a:p>
                      <a:pPr algn="ctr"/>
                      <a:r>
                        <a:rPr kumimoji="1" lang="ja-JP" altLang="en-US" dirty="0"/>
                        <a:t>２</a:t>
                      </a:r>
                    </a:p>
                  </a:txBody>
                  <a:tcPr/>
                </a:tc>
                <a:tc>
                  <a:txBody>
                    <a:bodyPr/>
                    <a:lstStyle/>
                    <a:p>
                      <a:pPr mar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開発</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algn="r"/>
                      <a:r>
                        <a:rPr kumimoji="1" lang="en-US" altLang="ja-JP" dirty="0"/>
                        <a:t>0.4</a:t>
                      </a:r>
                      <a:endParaRPr kumimoji="1" lang="ja-JP" altLang="en-US" dirty="0"/>
                    </a:p>
                  </a:txBody>
                  <a:tcPr/>
                </a:tc>
                <a:tc>
                  <a:txBody>
                    <a:bodyPr/>
                    <a:lstStyle/>
                    <a:p>
                      <a:pPr algn="r"/>
                      <a:r>
                        <a:rPr kumimoji="1" lang="en-US" altLang="ja-JP" dirty="0"/>
                        <a:t>20,000</a:t>
                      </a:r>
                      <a:endParaRPr kumimoji="1" lang="ja-JP" altLang="en-US" dirty="0"/>
                    </a:p>
                  </a:txBody>
                  <a:tcPr/>
                </a:tc>
                <a:extLst>
                  <a:ext uri="{0D108BD9-81ED-4DB2-BD59-A6C34878D82A}">
                    <a16:rowId xmlns:a16="http://schemas.microsoft.com/office/drawing/2014/main" val="4178339501"/>
                  </a:ext>
                </a:extLst>
              </a:tr>
              <a:tr h="370840">
                <a:tc>
                  <a:txBody>
                    <a:bodyPr/>
                    <a:lstStyle/>
                    <a:p>
                      <a:pPr algn="ctr"/>
                      <a:r>
                        <a:rPr kumimoji="1" lang="ja-JP" altLang="en-US" dirty="0"/>
                        <a:t>３</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テスト</a:t>
                      </a:r>
                      <a:endParaRPr lang="en-US" altLang="ja-JP" sz="1600" dirty="0">
                        <a:solidFill>
                          <a:schemeClr val="tx1"/>
                        </a:solidFill>
                        <a:latin typeface="游ゴシック"/>
                        <a:ea typeface="游ゴシック"/>
                      </a:endParaRPr>
                    </a:p>
                  </a:txBody>
                  <a:tcPr anchor="ctr"/>
                </a:tc>
                <a:tc>
                  <a:txBody>
                    <a:bodyPr/>
                    <a:lstStyle/>
                    <a:p>
                      <a:pPr algn="r"/>
                      <a:r>
                        <a:rPr kumimoji="1" lang="en-US" altLang="ja-JP" dirty="0"/>
                        <a:t>0.3</a:t>
                      </a:r>
                      <a:endParaRPr kumimoji="1" lang="ja-JP" altLang="en-US" dirty="0"/>
                    </a:p>
                  </a:txBody>
                  <a:tcPr/>
                </a:tc>
                <a:tc>
                  <a:txBody>
                    <a:bodyPr/>
                    <a:lstStyle/>
                    <a:p>
                      <a:pPr algn="r"/>
                      <a:r>
                        <a:rPr kumimoji="1" lang="en-US" altLang="ja-JP" dirty="0"/>
                        <a:t>15,000</a:t>
                      </a:r>
                      <a:endParaRPr kumimoji="1" lang="ja-JP" altLang="en-US" dirty="0"/>
                    </a:p>
                  </a:txBody>
                  <a:tcPr/>
                </a:tc>
                <a:extLst>
                  <a:ext uri="{0D108BD9-81ED-4DB2-BD59-A6C34878D82A}">
                    <a16:rowId xmlns:a16="http://schemas.microsoft.com/office/drawing/2014/main" val="1212196521"/>
                  </a:ext>
                </a:extLst>
              </a:tr>
              <a:tr h="370840">
                <a:tc>
                  <a:txBody>
                    <a:bodyPr/>
                    <a:lstStyle/>
                    <a:p>
                      <a:endParaRPr kumimoji="1" lang="ja-JP" altLang="en-US"/>
                    </a:p>
                  </a:txBody>
                  <a:tcPr/>
                </a:tc>
                <a:tc>
                  <a:txBody>
                    <a:bodyPr/>
                    <a:lstStyle/>
                    <a:p>
                      <a:r>
                        <a:rPr kumimoji="1" lang="ja-JP" altLang="en-US" dirty="0"/>
                        <a:t>合計</a:t>
                      </a:r>
                    </a:p>
                  </a:txBody>
                  <a:tcPr/>
                </a:tc>
                <a:tc>
                  <a:txBody>
                    <a:bodyPr/>
                    <a:lstStyle/>
                    <a:p>
                      <a:pPr algn="r"/>
                      <a:r>
                        <a:rPr kumimoji="1" lang="en-US" altLang="ja-JP" dirty="0"/>
                        <a:t>1.0 </a:t>
                      </a:r>
                      <a:endParaRPr kumimoji="1" lang="ja-JP" altLang="en-US" dirty="0"/>
                    </a:p>
                  </a:txBody>
                  <a:tcPr/>
                </a:tc>
                <a:tc>
                  <a:txBody>
                    <a:bodyPr/>
                    <a:lstStyle/>
                    <a:p>
                      <a:pPr algn="r"/>
                      <a:r>
                        <a:rPr kumimoji="1" lang="en-US" altLang="ja-JP" dirty="0"/>
                        <a:t>50,000</a:t>
                      </a:r>
                      <a:endParaRPr kumimoji="1" lang="ja-JP" altLang="en-US" dirty="0"/>
                    </a:p>
                  </a:txBody>
                  <a:tcPr/>
                </a:tc>
                <a:extLst>
                  <a:ext uri="{0D108BD9-81ED-4DB2-BD59-A6C34878D82A}">
                    <a16:rowId xmlns:a16="http://schemas.microsoft.com/office/drawing/2014/main" val="1729653328"/>
                  </a:ext>
                </a:extLst>
              </a:tr>
            </a:tbl>
          </a:graphicData>
        </a:graphic>
      </p:graphicFrame>
      <p:sp>
        <p:nvSpPr>
          <p:cNvPr id="11" name="テキスト ボックス 10">
            <a:extLst>
              <a:ext uri="{FF2B5EF4-FFF2-40B4-BE49-F238E27FC236}">
                <a16:creationId xmlns:a16="http://schemas.microsoft.com/office/drawing/2014/main" id="{E86C6705-8A45-9B4B-7883-58A3C63C7A8F}"/>
              </a:ext>
            </a:extLst>
          </p:cNvPr>
          <p:cNvSpPr txBox="1"/>
          <p:nvPr/>
        </p:nvSpPr>
        <p:spPr>
          <a:xfrm>
            <a:off x="497845" y="3750169"/>
            <a:ext cx="10975140" cy="369332"/>
          </a:xfrm>
          <a:prstGeom prst="rect">
            <a:avLst/>
          </a:prstGeom>
          <a:noFill/>
        </p:spPr>
        <p:txBody>
          <a:bodyPr wrap="square">
            <a:spAutoFit/>
          </a:bodyPr>
          <a:lstStyle/>
          <a:p>
            <a:r>
              <a:rPr lang="ja-JP" altLang="en-US" b="1" dirty="0">
                <a:solidFill>
                  <a:srgbClr val="000000"/>
                </a:solidFill>
              </a:rPr>
              <a:t>①</a:t>
            </a:r>
            <a:r>
              <a:rPr lang="en-US" altLang="ja-JP" b="1" dirty="0">
                <a:solidFill>
                  <a:srgbClr val="000000"/>
                </a:solidFill>
              </a:rPr>
              <a:t>-2 ITM</a:t>
            </a:r>
            <a:r>
              <a:rPr lang="ja-JP" altLang="en-US" b="1" dirty="0">
                <a:solidFill>
                  <a:srgbClr val="000000"/>
                </a:solidFill>
              </a:rPr>
              <a:t>ポイント取得状況一覧を出す画面で、削除した会員を除外するチェックボックスを設けてほしい</a:t>
            </a:r>
            <a:endParaRPr lang="en-US" altLang="ja-JP" b="1" dirty="0">
              <a:solidFill>
                <a:srgbClr val="000000"/>
              </a:solidFill>
            </a:endParaRPr>
          </a:p>
        </p:txBody>
      </p:sp>
      <p:graphicFrame>
        <p:nvGraphicFramePr>
          <p:cNvPr id="12" name="表 11">
            <a:extLst>
              <a:ext uri="{FF2B5EF4-FFF2-40B4-BE49-F238E27FC236}">
                <a16:creationId xmlns:a16="http://schemas.microsoft.com/office/drawing/2014/main" id="{6695EC79-84B5-4C42-0CD6-F3BEDC485A7D}"/>
              </a:ext>
            </a:extLst>
          </p:cNvPr>
          <p:cNvGraphicFramePr>
            <a:graphicFrameLocks noGrp="1"/>
          </p:cNvGraphicFramePr>
          <p:nvPr>
            <p:extLst>
              <p:ext uri="{D42A27DB-BD31-4B8C-83A1-F6EECF244321}">
                <p14:modId xmlns:p14="http://schemas.microsoft.com/office/powerpoint/2010/main" val="375558345"/>
              </p:ext>
            </p:extLst>
          </p:nvPr>
        </p:nvGraphicFramePr>
        <p:xfrm>
          <a:off x="937845" y="4075549"/>
          <a:ext cx="9714523" cy="1854200"/>
        </p:xfrm>
        <a:graphic>
          <a:graphicData uri="http://schemas.openxmlformats.org/drawingml/2006/table">
            <a:tbl>
              <a:tblPr firstRow="1" lastRow="1">
                <a:tableStyleId>{5C22544A-7EE6-4342-B048-85BDC9FD1C3A}</a:tableStyleId>
              </a:tblPr>
              <a:tblGrid>
                <a:gridCol w="784634">
                  <a:extLst>
                    <a:ext uri="{9D8B030D-6E8A-4147-A177-3AD203B41FA5}">
                      <a16:colId xmlns:a16="http://schemas.microsoft.com/office/drawing/2014/main" val="332460419"/>
                    </a:ext>
                  </a:extLst>
                </a:gridCol>
                <a:gridCol w="4072627">
                  <a:extLst>
                    <a:ext uri="{9D8B030D-6E8A-4147-A177-3AD203B41FA5}">
                      <a16:colId xmlns:a16="http://schemas.microsoft.com/office/drawing/2014/main" val="2434244496"/>
                    </a:ext>
                  </a:extLst>
                </a:gridCol>
                <a:gridCol w="2428631">
                  <a:extLst>
                    <a:ext uri="{9D8B030D-6E8A-4147-A177-3AD203B41FA5}">
                      <a16:colId xmlns:a16="http://schemas.microsoft.com/office/drawing/2014/main" val="1287739208"/>
                    </a:ext>
                  </a:extLst>
                </a:gridCol>
                <a:gridCol w="2428631">
                  <a:extLst>
                    <a:ext uri="{9D8B030D-6E8A-4147-A177-3AD203B41FA5}">
                      <a16:colId xmlns:a16="http://schemas.microsoft.com/office/drawing/2014/main" val="3732747071"/>
                    </a:ext>
                  </a:extLst>
                </a:gridCol>
              </a:tblGrid>
              <a:tr h="370840">
                <a:tc>
                  <a:txBody>
                    <a:bodyPr/>
                    <a:lstStyle/>
                    <a:p>
                      <a:r>
                        <a:rPr kumimoji="1" lang="en-US" altLang="ja-JP" dirty="0"/>
                        <a:t>No.</a:t>
                      </a:r>
                      <a:endParaRPr kumimoji="1" lang="ja-JP" altLang="en-US" dirty="0"/>
                    </a:p>
                  </a:txBody>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a:t>
                      </a: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日</a:t>
                      </a: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7620" marR="7620" marT="7620" marB="0" anchor="ct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tc>
                <a:extLst>
                  <a:ext uri="{0D108BD9-81ED-4DB2-BD59-A6C34878D82A}">
                    <a16:rowId xmlns:a16="http://schemas.microsoft.com/office/drawing/2014/main" val="2855636999"/>
                  </a:ext>
                </a:extLst>
              </a:tr>
              <a:tr h="370840">
                <a:tc>
                  <a:txBody>
                    <a:bodyPr/>
                    <a:lstStyle/>
                    <a:p>
                      <a:pPr algn="ctr"/>
                      <a:r>
                        <a:rPr kumimoji="1" lang="ja-JP" altLang="en-US" dirty="0"/>
                        <a:t>１</a:t>
                      </a:r>
                    </a:p>
                  </a:txBody>
                  <a:tcPr/>
                </a:tc>
                <a:tc>
                  <a:txBody>
                    <a:bodyPr/>
                    <a:lstStyle/>
                    <a:p>
                      <a:pPr marL="0" lv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設計</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algn="r"/>
                      <a:r>
                        <a:rPr kumimoji="1" lang="en-US" altLang="ja-JP" dirty="0"/>
                        <a:t>0.3</a:t>
                      </a:r>
                      <a:endParaRPr kumimoji="1" lang="ja-JP" altLang="en-US" dirty="0"/>
                    </a:p>
                  </a:txBody>
                  <a:tcPr/>
                </a:tc>
                <a:tc>
                  <a:txBody>
                    <a:bodyPr/>
                    <a:lstStyle/>
                    <a:p>
                      <a:pPr algn="r"/>
                      <a:r>
                        <a:rPr kumimoji="1" lang="en-US" altLang="ja-JP" dirty="0"/>
                        <a:t>15,000</a:t>
                      </a:r>
                      <a:endParaRPr kumimoji="1" lang="ja-JP" altLang="en-US" dirty="0"/>
                    </a:p>
                  </a:txBody>
                  <a:tcPr/>
                </a:tc>
                <a:extLst>
                  <a:ext uri="{0D108BD9-81ED-4DB2-BD59-A6C34878D82A}">
                    <a16:rowId xmlns:a16="http://schemas.microsoft.com/office/drawing/2014/main" val="1845290289"/>
                  </a:ext>
                </a:extLst>
              </a:tr>
              <a:tr h="370840">
                <a:tc>
                  <a:txBody>
                    <a:bodyPr/>
                    <a:lstStyle/>
                    <a:p>
                      <a:pPr algn="ctr"/>
                      <a:r>
                        <a:rPr kumimoji="1" lang="ja-JP" altLang="en-US" dirty="0"/>
                        <a:t>２</a:t>
                      </a:r>
                    </a:p>
                  </a:txBody>
                  <a:tcPr/>
                </a:tc>
                <a:tc>
                  <a:txBody>
                    <a:bodyPr/>
                    <a:lstStyle/>
                    <a:p>
                      <a:pPr mar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開発</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algn="r"/>
                      <a:r>
                        <a:rPr kumimoji="1" lang="en-US" altLang="ja-JP" dirty="0"/>
                        <a:t>0.4</a:t>
                      </a:r>
                      <a:endParaRPr kumimoji="1" lang="ja-JP" altLang="en-US" dirty="0"/>
                    </a:p>
                  </a:txBody>
                  <a:tcPr/>
                </a:tc>
                <a:tc>
                  <a:txBody>
                    <a:bodyPr/>
                    <a:lstStyle/>
                    <a:p>
                      <a:pPr algn="r"/>
                      <a:r>
                        <a:rPr kumimoji="1" lang="en-US" altLang="ja-JP" dirty="0"/>
                        <a:t>20,000</a:t>
                      </a:r>
                      <a:endParaRPr kumimoji="1" lang="ja-JP" altLang="en-US" dirty="0"/>
                    </a:p>
                  </a:txBody>
                  <a:tcPr/>
                </a:tc>
                <a:extLst>
                  <a:ext uri="{0D108BD9-81ED-4DB2-BD59-A6C34878D82A}">
                    <a16:rowId xmlns:a16="http://schemas.microsoft.com/office/drawing/2014/main" val="4178339501"/>
                  </a:ext>
                </a:extLst>
              </a:tr>
              <a:tr h="370840">
                <a:tc>
                  <a:txBody>
                    <a:bodyPr/>
                    <a:lstStyle/>
                    <a:p>
                      <a:pPr algn="ctr"/>
                      <a:r>
                        <a:rPr kumimoji="1" lang="ja-JP" altLang="en-US" dirty="0"/>
                        <a:t>３</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テスト</a:t>
                      </a:r>
                      <a:endParaRPr lang="en-US" altLang="ja-JP" sz="1600" dirty="0">
                        <a:solidFill>
                          <a:schemeClr val="tx1"/>
                        </a:solidFill>
                        <a:latin typeface="游ゴシック"/>
                        <a:ea typeface="游ゴシック"/>
                      </a:endParaRPr>
                    </a:p>
                  </a:txBody>
                  <a:tcPr anchor="ctr"/>
                </a:tc>
                <a:tc>
                  <a:txBody>
                    <a:bodyPr/>
                    <a:lstStyle/>
                    <a:p>
                      <a:pPr algn="r"/>
                      <a:r>
                        <a:rPr kumimoji="1" lang="en-US" altLang="ja-JP" dirty="0"/>
                        <a:t>0.3</a:t>
                      </a:r>
                      <a:endParaRPr kumimoji="1" lang="ja-JP" altLang="en-US" dirty="0"/>
                    </a:p>
                  </a:txBody>
                  <a:tcPr/>
                </a:tc>
                <a:tc>
                  <a:txBody>
                    <a:bodyPr/>
                    <a:lstStyle/>
                    <a:p>
                      <a:pPr algn="r"/>
                      <a:r>
                        <a:rPr kumimoji="1" lang="en-US" altLang="ja-JP" dirty="0"/>
                        <a:t>15,000</a:t>
                      </a:r>
                      <a:endParaRPr kumimoji="1" lang="ja-JP" altLang="en-US" dirty="0"/>
                    </a:p>
                  </a:txBody>
                  <a:tcPr/>
                </a:tc>
                <a:extLst>
                  <a:ext uri="{0D108BD9-81ED-4DB2-BD59-A6C34878D82A}">
                    <a16:rowId xmlns:a16="http://schemas.microsoft.com/office/drawing/2014/main" val="1212196521"/>
                  </a:ext>
                </a:extLst>
              </a:tr>
              <a:tr h="370840">
                <a:tc>
                  <a:txBody>
                    <a:bodyPr/>
                    <a:lstStyle/>
                    <a:p>
                      <a:endParaRPr kumimoji="1" lang="ja-JP" altLang="en-US"/>
                    </a:p>
                  </a:txBody>
                  <a:tcPr/>
                </a:tc>
                <a:tc>
                  <a:txBody>
                    <a:bodyPr/>
                    <a:lstStyle/>
                    <a:p>
                      <a:r>
                        <a:rPr kumimoji="1" lang="ja-JP" altLang="en-US" dirty="0"/>
                        <a:t>合計</a:t>
                      </a:r>
                    </a:p>
                  </a:txBody>
                  <a:tcPr/>
                </a:tc>
                <a:tc>
                  <a:txBody>
                    <a:bodyPr/>
                    <a:lstStyle/>
                    <a:p>
                      <a:pPr algn="r"/>
                      <a:r>
                        <a:rPr kumimoji="1" lang="en-US" altLang="ja-JP" dirty="0"/>
                        <a:t>1.0 </a:t>
                      </a:r>
                      <a:endParaRPr kumimoji="1" lang="ja-JP" altLang="en-US" dirty="0"/>
                    </a:p>
                  </a:txBody>
                  <a:tcPr/>
                </a:tc>
                <a:tc>
                  <a:txBody>
                    <a:bodyPr/>
                    <a:lstStyle/>
                    <a:p>
                      <a:pPr algn="r"/>
                      <a:r>
                        <a:rPr kumimoji="1" lang="en-US" altLang="ja-JP" dirty="0"/>
                        <a:t>50,000</a:t>
                      </a:r>
                      <a:endParaRPr kumimoji="1" lang="ja-JP" altLang="en-US" dirty="0"/>
                    </a:p>
                  </a:txBody>
                  <a:tcPr/>
                </a:tc>
                <a:extLst>
                  <a:ext uri="{0D108BD9-81ED-4DB2-BD59-A6C34878D82A}">
                    <a16:rowId xmlns:a16="http://schemas.microsoft.com/office/drawing/2014/main" val="1729653328"/>
                  </a:ext>
                </a:extLst>
              </a:tr>
            </a:tbl>
          </a:graphicData>
        </a:graphic>
      </p:graphicFrame>
      <p:sp>
        <p:nvSpPr>
          <p:cNvPr id="13" name="テキスト ボックス 12">
            <a:extLst>
              <a:ext uri="{FF2B5EF4-FFF2-40B4-BE49-F238E27FC236}">
                <a16:creationId xmlns:a16="http://schemas.microsoft.com/office/drawing/2014/main" id="{03492461-DD4B-8DDD-8219-F3D68A30C2D3}"/>
              </a:ext>
            </a:extLst>
          </p:cNvPr>
          <p:cNvSpPr txBox="1"/>
          <p:nvPr/>
        </p:nvSpPr>
        <p:spPr>
          <a:xfrm>
            <a:off x="650245" y="1339409"/>
            <a:ext cx="6103814" cy="369332"/>
          </a:xfrm>
          <a:prstGeom prst="rect">
            <a:avLst/>
          </a:prstGeom>
          <a:noFill/>
        </p:spPr>
        <p:txBody>
          <a:bodyPr wrap="square">
            <a:spAutoFit/>
          </a:bodyPr>
          <a:lstStyle/>
          <a:p>
            <a:r>
              <a:rPr lang="ja-JP" altLang="en-US" sz="1800" b="1" dirty="0">
                <a:solidFill>
                  <a:srgbClr val="000000"/>
                </a:solidFill>
              </a:rPr>
              <a:t>①</a:t>
            </a:r>
            <a:r>
              <a:rPr lang="en-US" altLang="ja-JP" sz="1800" b="1" dirty="0">
                <a:solidFill>
                  <a:srgbClr val="000000"/>
                </a:solidFill>
              </a:rPr>
              <a:t>-1 </a:t>
            </a:r>
            <a:r>
              <a:rPr lang="ja-JP" altLang="en-US" sz="1800" b="1" dirty="0">
                <a:solidFill>
                  <a:srgbClr val="000000"/>
                </a:solidFill>
              </a:rPr>
              <a:t>会員情報メニューで</a:t>
            </a:r>
            <a:r>
              <a:rPr lang="en-US" altLang="ja-JP" sz="1800" b="1" dirty="0">
                <a:solidFill>
                  <a:srgbClr val="000000"/>
                </a:solidFill>
              </a:rPr>
              <a:t>No.1</a:t>
            </a:r>
            <a:r>
              <a:rPr lang="ja-JP" altLang="en-US" sz="1800" b="1" dirty="0">
                <a:solidFill>
                  <a:srgbClr val="000000"/>
                </a:solidFill>
              </a:rPr>
              <a:t>コード項目を追加する</a:t>
            </a:r>
            <a:endParaRPr lang="en-US" altLang="ja-JP" sz="1800" b="1" dirty="0">
              <a:solidFill>
                <a:srgbClr val="000000"/>
              </a:solidFill>
            </a:endParaRPr>
          </a:p>
        </p:txBody>
      </p:sp>
    </p:spTree>
    <p:extLst>
      <p:ext uri="{BB962C8B-B14F-4D97-AF65-F5344CB8AC3E}">
        <p14:creationId xmlns:p14="http://schemas.microsoft.com/office/powerpoint/2010/main" val="1589337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8124B-16CD-A7A4-E953-6168C13649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58674A9-481B-8E8D-5150-F84B6089779C}"/>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５</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CB3CD0D4-C3A8-D420-79AA-979AB4213905}"/>
              </a:ext>
            </a:extLst>
          </p:cNvPr>
          <p:cNvSpPr>
            <a:spLocks noGrp="1"/>
          </p:cNvSpPr>
          <p:nvPr>
            <p:ph type="dt" sz="half" idx="10"/>
          </p:nvPr>
        </p:nvSpPr>
        <p:spPr/>
        <p:txBody>
          <a:bodyPr/>
          <a:lstStyle/>
          <a:p>
            <a:r>
              <a:rPr lang="en-US" altLang="ja-JP"/>
              <a:t>2025/10/22</a:t>
            </a:r>
            <a:endParaRPr lang="en-US"/>
          </a:p>
        </p:txBody>
      </p:sp>
      <p:sp>
        <p:nvSpPr>
          <p:cNvPr id="3" name="フッター プレースホルダー 2">
            <a:extLst>
              <a:ext uri="{FF2B5EF4-FFF2-40B4-BE49-F238E27FC236}">
                <a16:creationId xmlns:a16="http://schemas.microsoft.com/office/drawing/2014/main" id="{DBEA539D-2701-9CA6-733D-1489613E0730}"/>
              </a:ext>
            </a:extLst>
          </p:cNvPr>
          <p:cNvSpPr>
            <a:spLocks noGrp="1"/>
          </p:cNvSpPr>
          <p:nvPr>
            <p:ph type="ftr" sz="quarter" idx="11"/>
          </p:nvPr>
        </p:nvSpPr>
        <p:spPr/>
        <p:txBody>
          <a:bodyPr/>
          <a:lstStyle/>
          <a:p>
            <a:r>
              <a:rPr lang="en-US"/>
              <a:t>Copyright © 2025 SystemEXE,Inc All Rights Reserved.</a:t>
            </a:r>
          </a:p>
        </p:txBody>
      </p:sp>
      <p:graphicFrame>
        <p:nvGraphicFramePr>
          <p:cNvPr id="7" name="表 6">
            <a:extLst>
              <a:ext uri="{FF2B5EF4-FFF2-40B4-BE49-F238E27FC236}">
                <a16:creationId xmlns:a16="http://schemas.microsoft.com/office/drawing/2014/main" id="{2F196AA2-6261-2B1D-FC8E-F41186D443FA}"/>
              </a:ext>
            </a:extLst>
          </p:cNvPr>
          <p:cNvGraphicFramePr>
            <a:graphicFrameLocks noGrp="1"/>
          </p:cNvGraphicFramePr>
          <p:nvPr>
            <p:extLst>
              <p:ext uri="{D42A27DB-BD31-4B8C-83A1-F6EECF244321}">
                <p14:modId xmlns:p14="http://schemas.microsoft.com/office/powerpoint/2010/main" val="3731659704"/>
              </p:ext>
            </p:extLst>
          </p:nvPr>
        </p:nvGraphicFramePr>
        <p:xfrm>
          <a:off x="1043354" y="1138164"/>
          <a:ext cx="9714523" cy="1854200"/>
        </p:xfrm>
        <a:graphic>
          <a:graphicData uri="http://schemas.openxmlformats.org/drawingml/2006/table">
            <a:tbl>
              <a:tblPr firstRow="1" lastRow="1">
                <a:tableStyleId>{5C22544A-7EE6-4342-B048-85BDC9FD1C3A}</a:tableStyleId>
              </a:tblPr>
              <a:tblGrid>
                <a:gridCol w="784634">
                  <a:extLst>
                    <a:ext uri="{9D8B030D-6E8A-4147-A177-3AD203B41FA5}">
                      <a16:colId xmlns:a16="http://schemas.microsoft.com/office/drawing/2014/main" val="332460419"/>
                    </a:ext>
                  </a:extLst>
                </a:gridCol>
                <a:gridCol w="4072627">
                  <a:extLst>
                    <a:ext uri="{9D8B030D-6E8A-4147-A177-3AD203B41FA5}">
                      <a16:colId xmlns:a16="http://schemas.microsoft.com/office/drawing/2014/main" val="2434244496"/>
                    </a:ext>
                  </a:extLst>
                </a:gridCol>
                <a:gridCol w="2428631">
                  <a:extLst>
                    <a:ext uri="{9D8B030D-6E8A-4147-A177-3AD203B41FA5}">
                      <a16:colId xmlns:a16="http://schemas.microsoft.com/office/drawing/2014/main" val="1287739208"/>
                    </a:ext>
                  </a:extLst>
                </a:gridCol>
                <a:gridCol w="2428631">
                  <a:extLst>
                    <a:ext uri="{9D8B030D-6E8A-4147-A177-3AD203B41FA5}">
                      <a16:colId xmlns:a16="http://schemas.microsoft.com/office/drawing/2014/main" val="3732747071"/>
                    </a:ext>
                  </a:extLst>
                </a:gridCol>
              </a:tblGrid>
              <a:tr h="370840">
                <a:tc>
                  <a:txBody>
                    <a:bodyPr/>
                    <a:lstStyle/>
                    <a:p>
                      <a:r>
                        <a:rPr kumimoji="1" lang="en-US" altLang="ja-JP" dirty="0"/>
                        <a:t>No.</a:t>
                      </a:r>
                      <a:endParaRPr kumimoji="1" lang="ja-JP" altLang="en-US" dirty="0"/>
                    </a:p>
                  </a:txBody>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a:t>
                      </a: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日</a:t>
                      </a: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7620" marR="7620" marT="7620" marB="0" anchor="ct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tc>
                <a:extLst>
                  <a:ext uri="{0D108BD9-81ED-4DB2-BD59-A6C34878D82A}">
                    <a16:rowId xmlns:a16="http://schemas.microsoft.com/office/drawing/2014/main" val="2855636999"/>
                  </a:ext>
                </a:extLst>
              </a:tr>
              <a:tr h="370840">
                <a:tc>
                  <a:txBody>
                    <a:bodyPr/>
                    <a:lstStyle/>
                    <a:p>
                      <a:pPr algn="ctr"/>
                      <a:r>
                        <a:rPr kumimoji="1" lang="ja-JP" altLang="en-US" dirty="0"/>
                        <a:t>１</a:t>
                      </a:r>
                    </a:p>
                  </a:txBody>
                  <a:tcPr/>
                </a:tc>
                <a:tc>
                  <a:txBody>
                    <a:bodyPr/>
                    <a:lstStyle/>
                    <a:p>
                      <a:pPr marL="0" lv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設計</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algn="r"/>
                      <a:r>
                        <a:rPr kumimoji="1" lang="en-US" altLang="ja-JP" dirty="0"/>
                        <a:t>5.0</a:t>
                      </a:r>
                      <a:endParaRPr kumimoji="1" lang="ja-JP" altLang="en-US" dirty="0"/>
                    </a:p>
                  </a:txBody>
                  <a:tcPr/>
                </a:tc>
                <a:tc>
                  <a:txBody>
                    <a:bodyPr/>
                    <a:lstStyle/>
                    <a:p>
                      <a:pPr algn="r"/>
                      <a:r>
                        <a:rPr kumimoji="1" lang="en-US" altLang="ja-JP" dirty="0"/>
                        <a:t>250,000</a:t>
                      </a:r>
                      <a:endParaRPr kumimoji="1" lang="ja-JP" altLang="en-US" dirty="0"/>
                    </a:p>
                  </a:txBody>
                  <a:tcPr/>
                </a:tc>
                <a:extLst>
                  <a:ext uri="{0D108BD9-81ED-4DB2-BD59-A6C34878D82A}">
                    <a16:rowId xmlns:a16="http://schemas.microsoft.com/office/drawing/2014/main" val="1845290289"/>
                  </a:ext>
                </a:extLst>
              </a:tr>
              <a:tr h="370840">
                <a:tc>
                  <a:txBody>
                    <a:bodyPr/>
                    <a:lstStyle/>
                    <a:p>
                      <a:pPr algn="ctr"/>
                      <a:r>
                        <a:rPr kumimoji="1" lang="ja-JP" altLang="en-US" dirty="0"/>
                        <a:t>２</a:t>
                      </a:r>
                    </a:p>
                  </a:txBody>
                  <a:tcPr/>
                </a:tc>
                <a:tc>
                  <a:txBody>
                    <a:bodyPr/>
                    <a:lstStyle/>
                    <a:p>
                      <a:pPr mar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開発</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algn="r"/>
                      <a:r>
                        <a:rPr kumimoji="1" lang="en-US" altLang="ja-JP" dirty="0"/>
                        <a:t>12.0</a:t>
                      </a:r>
                      <a:endParaRPr kumimoji="1" lang="ja-JP" altLang="en-US" dirty="0"/>
                    </a:p>
                  </a:txBody>
                  <a:tcPr/>
                </a:tc>
                <a:tc>
                  <a:txBody>
                    <a:bodyPr/>
                    <a:lstStyle/>
                    <a:p>
                      <a:pPr algn="r"/>
                      <a:r>
                        <a:rPr kumimoji="1" lang="en-US" altLang="ja-JP" dirty="0"/>
                        <a:t>600,000</a:t>
                      </a:r>
                      <a:endParaRPr kumimoji="1" lang="ja-JP" altLang="en-US" dirty="0"/>
                    </a:p>
                  </a:txBody>
                  <a:tcPr/>
                </a:tc>
                <a:extLst>
                  <a:ext uri="{0D108BD9-81ED-4DB2-BD59-A6C34878D82A}">
                    <a16:rowId xmlns:a16="http://schemas.microsoft.com/office/drawing/2014/main" val="4178339501"/>
                  </a:ext>
                </a:extLst>
              </a:tr>
              <a:tr h="370840">
                <a:tc>
                  <a:txBody>
                    <a:bodyPr/>
                    <a:lstStyle/>
                    <a:p>
                      <a:pPr algn="ctr"/>
                      <a:r>
                        <a:rPr kumimoji="1" lang="ja-JP" altLang="en-US" dirty="0"/>
                        <a:t>３</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テスト</a:t>
                      </a:r>
                      <a:endParaRPr lang="en-US" altLang="ja-JP" sz="1600" dirty="0">
                        <a:solidFill>
                          <a:schemeClr val="tx1"/>
                        </a:solidFill>
                        <a:latin typeface="游ゴシック"/>
                        <a:ea typeface="游ゴシック"/>
                      </a:endParaRPr>
                    </a:p>
                  </a:txBody>
                  <a:tcPr anchor="ctr"/>
                </a:tc>
                <a:tc>
                  <a:txBody>
                    <a:bodyPr/>
                    <a:lstStyle/>
                    <a:p>
                      <a:pPr algn="r"/>
                      <a:r>
                        <a:rPr kumimoji="1" lang="en-US" altLang="ja-JP" dirty="0"/>
                        <a:t>15.0</a:t>
                      </a:r>
                      <a:endParaRPr kumimoji="1" lang="ja-JP" altLang="en-US" dirty="0"/>
                    </a:p>
                  </a:txBody>
                  <a:tcPr/>
                </a:tc>
                <a:tc>
                  <a:txBody>
                    <a:bodyPr/>
                    <a:lstStyle/>
                    <a:p>
                      <a:pPr algn="r"/>
                      <a:r>
                        <a:rPr kumimoji="1" lang="en-US" altLang="ja-JP" dirty="0"/>
                        <a:t>750,000</a:t>
                      </a:r>
                      <a:endParaRPr kumimoji="1" lang="ja-JP" altLang="en-US" dirty="0"/>
                    </a:p>
                  </a:txBody>
                  <a:tcPr/>
                </a:tc>
                <a:extLst>
                  <a:ext uri="{0D108BD9-81ED-4DB2-BD59-A6C34878D82A}">
                    <a16:rowId xmlns:a16="http://schemas.microsoft.com/office/drawing/2014/main" val="1212196521"/>
                  </a:ext>
                </a:extLst>
              </a:tr>
              <a:tr h="370840">
                <a:tc>
                  <a:txBody>
                    <a:bodyPr/>
                    <a:lstStyle/>
                    <a:p>
                      <a:endParaRPr kumimoji="1" lang="ja-JP" altLang="en-US"/>
                    </a:p>
                  </a:txBody>
                  <a:tcPr/>
                </a:tc>
                <a:tc>
                  <a:txBody>
                    <a:bodyPr/>
                    <a:lstStyle/>
                    <a:p>
                      <a:r>
                        <a:rPr kumimoji="1" lang="ja-JP" altLang="en-US" dirty="0"/>
                        <a:t>合計</a:t>
                      </a:r>
                    </a:p>
                  </a:txBody>
                  <a:tcPr/>
                </a:tc>
                <a:tc>
                  <a:txBody>
                    <a:bodyPr/>
                    <a:lstStyle/>
                    <a:p>
                      <a:pPr algn="r"/>
                      <a:r>
                        <a:rPr kumimoji="1" lang="en-US" altLang="ja-JP" dirty="0"/>
                        <a:t>32.0</a:t>
                      </a:r>
                      <a:endParaRPr kumimoji="1" lang="ja-JP" altLang="en-US" dirty="0"/>
                    </a:p>
                  </a:txBody>
                  <a:tcPr/>
                </a:tc>
                <a:tc>
                  <a:txBody>
                    <a:bodyPr/>
                    <a:lstStyle/>
                    <a:p>
                      <a:pPr algn="r"/>
                      <a:r>
                        <a:rPr kumimoji="1" lang="en-US" altLang="ja-JP" dirty="0"/>
                        <a:t>1,600,000</a:t>
                      </a:r>
                      <a:endParaRPr kumimoji="1" lang="ja-JP" altLang="en-US" dirty="0"/>
                    </a:p>
                  </a:txBody>
                  <a:tcPr/>
                </a:tc>
                <a:extLst>
                  <a:ext uri="{0D108BD9-81ED-4DB2-BD59-A6C34878D82A}">
                    <a16:rowId xmlns:a16="http://schemas.microsoft.com/office/drawing/2014/main" val="1729653328"/>
                  </a:ext>
                </a:extLst>
              </a:tr>
            </a:tbl>
          </a:graphicData>
        </a:graphic>
      </p:graphicFrame>
      <p:sp>
        <p:nvSpPr>
          <p:cNvPr id="13" name="テキスト ボックス 12">
            <a:extLst>
              <a:ext uri="{FF2B5EF4-FFF2-40B4-BE49-F238E27FC236}">
                <a16:creationId xmlns:a16="http://schemas.microsoft.com/office/drawing/2014/main" id="{C5D45E48-F340-E414-346D-3546637CEB8E}"/>
              </a:ext>
            </a:extLst>
          </p:cNvPr>
          <p:cNvSpPr txBox="1"/>
          <p:nvPr/>
        </p:nvSpPr>
        <p:spPr>
          <a:xfrm>
            <a:off x="755753" y="834523"/>
            <a:ext cx="6103814" cy="369332"/>
          </a:xfrm>
          <a:prstGeom prst="rect">
            <a:avLst/>
          </a:prstGeom>
          <a:noFill/>
        </p:spPr>
        <p:txBody>
          <a:bodyPr wrap="square">
            <a:spAutoFit/>
          </a:bodyPr>
          <a:lstStyle/>
          <a:p>
            <a:r>
              <a:rPr lang="ja-JP" altLang="en-US" b="1" dirty="0">
                <a:solidFill>
                  <a:srgbClr val="000000"/>
                </a:solidFill>
              </a:rPr>
              <a:t>②会員情報の一元化（ユーザ統合）</a:t>
            </a:r>
            <a:endParaRPr lang="en-US" altLang="ja-JP" b="1" dirty="0">
              <a:solidFill>
                <a:srgbClr val="000000"/>
              </a:solidFill>
            </a:endParaRPr>
          </a:p>
        </p:txBody>
      </p:sp>
      <p:graphicFrame>
        <p:nvGraphicFramePr>
          <p:cNvPr id="4" name="表 3">
            <a:extLst>
              <a:ext uri="{FF2B5EF4-FFF2-40B4-BE49-F238E27FC236}">
                <a16:creationId xmlns:a16="http://schemas.microsoft.com/office/drawing/2014/main" id="{4C0129D0-6963-32F8-D860-1455AED45532}"/>
              </a:ext>
            </a:extLst>
          </p:cNvPr>
          <p:cNvGraphicFramePr>
            <a:graphicFrameLocks noGrp="1"/>
          </p:cNvGraphicFramePr>
          <p:nvPr>
            <p:extLst>
              <p:ext uri="{D42A27DB-BD31-4B8C-83A1-F6EECF244321}">
                <p14:modId xmlns:p14="http://schemas.microsoft.com/office/powerpoint/2010/main" val="2132105386"/>
              </p:ext>
            </p:extLst>
          </p:nvPr>
        </p:nvGraphicFramePr>
        <p:xfrm>
          <a:off x="1043354" y="3599646"/>
          <a:ext cx="9714523" cy="1854200"/>
        </p:xfrm>
        <a:graphic>
          <a:graphicData uri="http://schemas.openxmlformats.org/drawingml/2006/table">
            <a:tbl>
              <a:tblPr firstRow="1" lastRow="1">
                <a:tableStyleId>{5C22544A-7EE6-4342-B048-85BDC9FD1C3A}</a:tableStyleId>
              </a:tblPr>
              <a:tblGrid>
                <a:gridCol w="784634">
                  <a:extLst>
                    <a:ext uri="{9D8B030D-6E8A-4147-A177-3AD203B41FA5}">
                      <a16:colId xmlns:a16="http://schemas.microsoft.com/office/drawing/2014/main" val="332460419"/>
                    </a:ext>
                  </a:extLst>
                </a:gridCol>
                <a:gridCol w="4072627">
                  <a:extLst>
                    <a:ext uri="{9D8B030D-6E8A-4147-A177-3AD203B41FA5}">
                      <a16:colId xmlns:a16="http://schemas.microsoft.com/office/drawing/2014/main" val="2434244496"/>
                    </a:ext>
                  </a:extLst>
                </a:gridCol>
                <a:gridCol w="2428631">
                  <a:extLst>
                    <a:ext uri="{9D8B030D-6E8A-4147-A177-3AD203B41FA5}">
                      <a16:colId xmlns:a16="http://schemas.microsoft.com/office/drawing/2014/main" val="1287739208"/>
                    </a:ext>
                  </a:extLst>
                </a:gridCol>
                <a:gridCol w="2428631">
                  <a:extLst>
                    <a:ext uri="{9D8B030D-6E8A-4147-A177-3AD203B41FA5}">
                      <a16:colId xmlns:a16="http://schemas.microsoft.com/office/drawing/2014/main" val="3732747071"/>
                    </a:ext>
                  </a:extLst>
                </a:gridCol>
              </a:tblGrid>
              <a:tr h="370840">
                <a:tc>
                  <a:txBody>
                    <a:bodyPr/>
                    <a:lstStyle/>
                    <a:p>
                      <a:r>
                        <a:rPr kumimoji="1" lang="en-US" altLang="ja-JP" dirty="0"/>
                        <a:t>No.</a:t>
                      </a:r>
                      <a:endParaRPr kumimoji="1" lang="ja-JP" altLang="en-US" dirty="0"/>
                    </a:p>
                  </a:txBody>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a:t>
                      </a: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日</a:t>
                      </a: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7620" marR="7620" marT="7620" marB="0" anchor="ct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tc>
                <a:extLst>
                  <a:ext uri="{0D108BD9-81ED-4DB2-BD59-A6C34878D82A}">
                    <a16:rowId xmlns:a16="http://schemas.microsoft.com/office/drawing/2014/main" val="2855636999"/>
                  </a:ext>
                </a:extLst>
              </a:tr>
              <a:tr h="370840">
                <a:tc>
                  <a:txBody>
                    <a:bodyPr/>
                    <a:lstStyle/>
                    <a:p>
                      <a:pPr algn="ctr"/>
                      <a:r>
                        <a:rPr kumimoji="1" lang="ja-JP" altLang="en-US" dirty="0"/>
                        <a:t>１</a:t>
                      </a:r>
                    </a:p>
                  </a:txBody>
                  <a:tcPr/>
                </a:tc>
                <a:tc>
                  <a:txBody>
                    <a:bodyPr/>
                    <a:lstStyle/>
                    <a:p>
                      <a:pPr marL="0" lv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設計</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algn="r"/>
                      <a:r>
                        <a:rPr kumimoji="1" lang="en-US" altLang="ja-JP" dirty="0"/>
                        <a:t>0.6</a:t>
                      </a:r>
                      <a:endParaRPr kumimoji="1" lang="ja-JP" altLang="en-US" dirty="0"/>
                    </a:p>
                  </a:txBody>
                  <a:tcPr/>
                </a:tc>
                <a:tc>
                  <a:txBody>
                    <a:bodyPr/>
                    <a:lstStyle/>
                    <a:p>
                      <a:pPr algn="r"/>
                      <a:r>
                        <a:rPr kumimoji="1" lang="en-US" altLang="ja-JP" dirty="0"/>
                        <a:t>30,000</a:t>
                      </a:r>
                      <a:endParaRPr kumimoji="1" lang="ja-JP" altLang="en-US" dirty="0"/>
                    </a:p>
                  </a:txBody>
                  <a:tcPr/>
                </a:tc>
                <a:extLst>
                  <a:ext uri="{0D108BD9-81ED-4DB2-BD59-A6C34878D82A}">
                    <a16:rowId xmlns:a16="http://schemas.microsoft.com/office/drawing/2014/main" val="1845290289"/>
                  </a:ext>
                </a:extLst>
              </a:tr>
              <a:tr h="370840">
                <a:tc>
                  <a:txBody>
                    <a:bodyPr/>
                    <a:lstStyle/>
                    <a:p>
                      <a:pPr algn="ctr"/>
                      <a:r>
                        <a:rPr kumimoji="1" lang="ja-JP" altLang="en-US" dirty="0"/>
                        <a:t>２</a:t>
                      </a:r>
                    </a:p>
                  </a:txBody>
                  <a:tcPr/>
                </a:tc>
                <a:tc>
                  <a:txBody>
                    <a:bodyPr/>
                    <a:lstStyle/>
                    <a:p>
                      <a:pPr mar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開発</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algn="r"/>
                      <a:r>
                        <a:rPr kumimoji="1" lang="en-US" altLang="ja-JP" dirty="0"/>
                        <a:t>0.6</a:t>
                      </a:r>
                      <a:endParaRPr kumimoji="1" lang="ja-JP" altLang="en-US" dirty="0"/>
                    </a:p>
                  </a:txBody>
                  <a:tcPr/>
                </a:tc>
                <a:tc>
                  <a:txBody>
                    <a:bodyPr/>
                    <a:lstStyle/>
                    <a:p>
                      <a:pPr algn="r"/>
                      <a:r>
                        <a:rPr kumimoji="1" lang="en-US" altLang="ja-JP" dirty="0"/>
                        <a:t>30,000</a:t>
                      </a:r>
                      <a:endParaRPr kumimoji="1" lang="ja-JP" altLang="en-US" dirty="0"/>
                    </a:p>
                  </a:txBody>
                  <a:tcPr/>
                </a:tc>
                <a:extLst>
                  <a:ext uri="{0D108BD9-81ED-4DB2-BD59-A6C34878D82A}">
                    <a16:rowId xmlns:a16="http://schemas.microsoft.com/office/drawing/2014/main" val="4178339501"/>
                  </a:ext>
                </a:extLst>
              </a:tr>
              <a:tr h="370840">
                <a:tc>
                  <a:txBody>
                    <a:bodyPr/>
                    <a:lstStyle/>
                    <a:p>
                      <a:pPr algn="ctr"/>
                      <a:r>
                        <a:rPr kumimoji="1" lang="ja-JP" altLang="en-US" dirty="0"/>
                        <a:t>３</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テスト</a:t>
                      </a:r>
                      <a:endParaRPr lang="en-US" altLang="ja-JP" sz="1600" dirty="0">
                        <a:solidFill>
                          <a:schemeClr val="tx1"/>
                        </a:solidFill>
                        <a:latin typeface="游ゴシック"/>
                        <a:ea typeface="游ゴシック"/>
                      </a:endParaRPr>
                    </a:p>
                  </a:txBody>
                  <a:tcPr anchor="ctr"/>
                </a:tc>
                <a:tc>
                  <a:txBody>
                    <a:bodyPr/>
                    <a:lstStyle/>
                    <a:p>
                      <a:pPr algn="r"/>
                      <a:r>
                        <a:rPr kumimoji="1" lang="en-US" altLang="ja-JP" dirty="0"/>
                        <a:t>1.8</a:t>
                      </a:r>
                      <a:endParaRPr kumimoji="1" lang="ja-JP" altLang="en-US" dirty="0"/>
                    </a:p>
                  </a:txBody>
                  <a:tcPr/>
                </a:tc>
                <a:tc>
                  <a:txBody>
                    <a:bodyPr/>
                    <a:lstStyle/>
                    <a:p>
                      <a:pPr algn="r"/>
                      <a:r>
                        <a:rPr kumimoji="1" lang="en-US" altLang="ja-JP" dirty="0"/>
                        <a:t>90,000</a:t>
                      </a:r>
                      <a:endParaRPr kumimoji="1" lang="ja-JP" altLang="en-US" dirty="0"/>
                    </a:p>
                  </a:txBody>
                  <a:tcPr/>
                </a:tc>
                <a:extLst>
                  <a:ext uri="{0D108BD9-81ED-4DB2-BD59-A6C34878D82A}">
                    <a16:rowId xmlns:a16="http://schemas.microsoft.com/office/drawing/2014/main" val="1212196521"/>
                  </a:ext>
                </a:extLst>
              </a:tr>
              <a:tr h="370840">
                <a:tc>
                  <a:txBody>
                    <a:bodyPr/>
                    <a:lstStyle/>
                    <a:p>
                      <a:endParaRPr kumimoji="1" lang="ja-JP" altLang="en-US"/>
                    </a:p>
                  </a:txBody>
                  <a:tcPr/>
                </a:tc>
                <a:tc>
                  <a:txBody>
                    <a:bodyPr/>
                    <a:lstStyle/>
                    <a:p>
                      <a:r>
                        <a:rPr kumimoji="1" lang="ja-JP" altLang="en-US" dirty="0"/>
                        <a:t>合計</a:t>
                      </a:r>
                    </a:p>
                  </a:txBody>
                  <a:tcPr/>
                </a:tc>
                <a:tc>
                  <a:txBody>
                    <a:bodyPr/>
                    <a:lstStyle/>
                    <a:p>
                      <a:pPr algn="r"/>
                      <a:r>
                        <a:rPr kumimoji="1" lang="en-US" altLang="ja-JP" dirty="0"/>
                        <a:t>3.0</a:t>
                      </a:r>
                      <a:endParaRPr kumimoji="1" lang="ja-JP" altLang="en-US" dirty="0"/>
                    </a:p>
                  </a:txBody>
                  <a:tcPr/>
                </a:tc>
                <a:tc>
                  <a:txBody>
                    <a:bodyPr/>
                    <a:lstStyle/>
                    <a:p>
                      <a:pPr algn="r"/>
                      <a:r>
                        <a:rPr kumimoji="1" lang="en-US" altLang="ja-JP" dirty="0"/>
                        <a:t>150,000</a:t>
                      </a:r>
                      <a:endParaRPr kumimoji="1" lang="ja-JP" altLang="en-US" dirty="0"/>
                    </a:p>
                  </a:txBody>
                  <a:tcPr/>
                </a:tc>
                <a:extLst>
                  <a:ext uri="{0D108BD9-81ED-4DB2-BD59-A6C34878D82A}">
                    <a16:rowId xmlns:a16="http://schemas.microsoft.com/office/drawing/2014/main" val="1729653328"/>
                  </a:ext>
                </a:extLst>
              </a:tr>
            </a:tbl>
          </a:graphicData>
        </a:graphic>
      </p:graphicFrame>
      <p:sp>
        <p:nvSpPr>
          <p:cNvPr id="8" name="テキスト ボックス 7">
            <a:extLst>
              <a:ext uri="{FF2B5EF4-FFF2-40B4-BE49-F238E27FC236}">
                <a16:creationId xmlns:a16="http://schemas.microsoft.com/office/drawing/2014/main" id="{1EF4ABF0-86F2-EB8F-2ED4-649709088903}"/>
              </a:ext>
            </a:extLst>
          </p:cNvPr>
          <p:cNvSpPr txBox="1"/>
          <p:nvPr/>
        </p:nvSpPr>
        <p:spPr>
          <a:xfrm>
            <a:off x="755753" y="3296005"/>
            <a:ext cx="6103814" cy="369332"/>
          </a:xfrm>
          <a:prstGeom prst="rect">
            <a:avLst/>
          </a:prstGeom>
          <a:noFill/>
        </p:spPr>
        <p:txBody>
          <a:bodyPr wrap="square">
            <a:spAutoFit/>
          </a:bodyPr>
          <a:lstStyle/>
          <a:p>
            <a:r>
              <a:rPr lang="ja-JP" altLang="en-US" b="1" dirty="0">
                <a:solidFill>
                  <a:srgbClr val="000000"/>
                </a:solidFill>
              </a:rPr>
              <a:t>③過去分の販売活動報告登録の編集不可 </a:t>
            </a:r>
            <a:endParaRPr lang="en-US" altLang="ja-JP" b="1" dirty="0">
              <a:solidFill>
                <a:srgbClr val="000000"/>
              </a:solidFill>
            </a:endParaRPr>
          </a:p>
        </p:txBody>
      </p:sp>
    </p:spTree>
    <p:extLst>
      <p:ext uri="{BB962C8B-B14F-4D97-AF65-F5344CB8AC3E}">
        <p14:creationId xmlns:p14="http://schemas.microsoft.com/office/powerpoint/2010/main" val="1662684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8343-E8DE-7190-23C9-5D4C1C2FF7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AF05DE-B767-FAAC-9A3E-4BCB734B0A14}"/>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５</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お見積もり（合計）</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BEE3821F-495F-8609-641F-7AF0A6A4C976}"/>
              </a:ext>
            </a:extLst>
          </p:cNvPr>
          <p:cNvSpPr>
            <a:spLocks noGrp="1"/>
          </p:cNvSpPr>
          <p:nvPr>
            <p:ph type="dt" sz="half" idx="10"/>
          </p:nvPr>
        </p:nvSpPr>
        <p:spPr/>
        <p:txBody>
          <a:bodyPr/>
          <a:lstStyle/>
          <a:p>
            <a:r>
              <a:rPr lang="en-US" altLang="ja-JP"/>
              <a:t>2025/10/22</a:t>
            </a:r>
            <a:endParaRPr lang="en-US"/>
          </a:p>
        </p:txBody>
      </p:sp>
      <p:sp>
        <p:nvSpPr>
          <p:cNvPr id="3" name="フッター プレースホルダー 2">
            <a:extLst>
              <a:ext uri="{FF2B5EF4-FFF2-40B4-BE49-F238E27FC236}">
                <a16:creationId xmlns:a16="http://schemas.microsoft.com/office/drawing/2014/main" id="{79F1F7D6-7753-2FE8-C7C3-D78BF3230DF9}"/>
              </a:ext>
            </a:extLst>
          </p:cNvPr>
          <p:cNvSpPr>
            <a:spLocks noGrp="1"/>
          </p:cNvSpPr>
          <p:nvPr>
            <p:ph type="ftr" sz="quarter" idx="11"/>
          </p:nvPr>
        </p:nvSpPr>
        <p:spPr/>
        <p:txBody>
          <a:bodyPr/>
          <a:lstStyle/>
          <a:p>
            <a:r>
              <a:rPr lang="en-US"/>
              <a:t>Copyright © 2025 SystemEXE,Inc All Rights Reserved.</a:t>
            </a:r>
          </a:p>
        </p:txBody>
      </p:sp>
      <p:graphicFrame>
        <p:nvGraphicFramePr>
          <p:cNvPr id="4" name="表 3">
            <a:extLst>
              <a:ext uri="{FF2B5EF4-FFF2-40B4-BE49-F238E27FC236}">
                <a16:creationId xmlns:a16="http://schemas.microsoft.com/office/drawing/2014/main" id="{EDAA907D-118E-68B5-45FF-19C57BC5834D}"/>
              </a:ext>
            </a:extLst>
          </p:cNvPr>
          <p:cNvGraphicFramePr>
            <a:graphicFrameLocks noGrp="1"/>
          </p:cNvGraphicFramePr>
          <p:nvPr>
            <p:extLst>
              <p:ext uri="{D42A27DB-BD31-4B8C-83A1-F6EECF244321}">
                <p14:modId xmlns:p14="http://schemas.microsoft.com/office/powerpoint/2010/main" val="3696099426"/>
              </p:ext>
            </p:extLst>
          </p:nvPr>
        </p:nvGraphicFramePr>
        <p:xfrm>
          <a:off x="879231" y="1196370"/>
          <a:ext cx="9714523" cy="2966720"/>
        </p:xfrm>
        <a:graphic>
          <a:graphicData uri="http://schemas.openxmlformats.org/drawingml/2006/table">
            <a:tbl>
              <a:tblPr firstRow="1" lastRow="1">
                <a:tableStyleId>{5C22544A-7EE6-4342-B048-85BDC9FD1C3A}</a:tableStyleId>
              </a:tblPr>
              <a:tblGrid>
                <a:gridCol w="784634">
                  <a:extLst>
                    <a:ext uri="{9D8B030D-6E8A-4147-A177-3AD203B41FA5}">
                      <a16:colId xmlns:a16="http://schemas.microsoft.com/office/drawing/2014/main" val="332460419"/>
                    </a:ext>
                  </a:extLst>
                </a:gridCol>
                <a:gridCol w="2423581">
                  <a:extLst>
                    <a:ext uri="{9D8B030D-6E8A-4147-A177-3AD203B41FA5}">
                      <a16:colId xmlns:a16="http://schemas.microsoft.com/office/drawing/2014/main" val="2434244496"/>
                    </a:ext>
                  </a:extLst>
                </a:gridCol>
                <a:gridCol w="4077677">
                  <a:extLst>
                    <a:ext uri="{9D8B030D-6E8A-4147-A177-3AD203B41FA5}">
                      <a16:colId xmlns:a16="http://schemas.microsoft.com/office/drawing/2014/main" val="1287739208"/>
                    </a:ext>
                  </a:extLst>
                </a:gridCol>
                <a:gridCol w="2428631">
                  <a:extLst>
                    <a:ext uri="{9D8B030D-6E8A-4147-A177-3AD203B41FA5}">
                      <a16:colId xmlns:a16="http://schemas.microsoft.com/office/drawing/2014/main" val="3732747071"/>
                    </a:ext>
                  </a:extLst>
                </a:gridCol>
              </a:tblGrid>
              <a:tr h="370840">
                <a:tc>
                  <a:txBody>
                    <a:bodyPr/>
                    <a:lstStyle/>
                    <a:p>
                      <a:r>
                        <a:rPr kumimoji="1" lang="en-US" altLang="ja-JP" dirty="0"/>
                        <a:t>No.</a:t>
                      </a:r>
                      <a:endParaRPr kumimoji="1" lang="ja-JP" altLang="en-US" dirty="0"/>
                    </a:p>
                  </a:txBody>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要望内容（工程）</a:t>
                      </a:r>
                    </a:p>
                  </a:txBody>
                  <a:tcPr marL="7620" marR="7620" marT="7620" marB="0" anchor="ct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a:t>
                      </a: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日</a:t>
                      </a: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7620" marR="7620" marT="7620" marB="0" anchor="ct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tc>
                <a:extLst>
                  <a:ext uri="{0D108BD9-81ED-4DB2-BD59-A6C34878D82A}">
                    <a16:rowId xmlns:a16="http://schemas.microsoft.com/office/drawing/2014/main" val="2855636999"/>
                  </a:ext>
                </a:extLst>
              </a:tr>
              <a:tr h="370840">
                <a:tc>
                  <a:txBody>
                    <a:bodyPr/>
                    <a:lstStyle/>
                    <a:p>
                      <a:pPr algn="ctr"/>
                      <a:r>
                        <a:rPr kumimoji="1" lang="ja-JP" altLang="en-US" dirty="0"/>
                        <a:t>１</a:t>
                      </a:r>
                    </a:p>
                  </a:txBody>
                  <a:tcPr/>
                </a:tc>
                <a:tc>
                  <a:txBody>
                    <a:bodyPr/>
                    <a:lstStyle/>
                    <a:p>
                      <a:pPr marL="0" lv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①－</a:t>
                      </a:r>
                      <a:r>
                        <a:rPr kumimoji="1" lang="en-US" altLang="ja-JP" sz="1600" dirty="0">
                          <a:solidFill>
                            <a:schemeClr val="tx1"/>
                          </a:solidFill>
                          <a:latin typeface="游ゴシック" panose="020B0400000000000000" pitchFamily="50" charset="-128"/>
                          <a:ea typeface="游ゴシック" panose="020B0400000000000000" pitchFamily="50" charset="-128"/>
                        </a:rPr>
                        <a:t>1</a:t>
                      </a:r>
                    </a:p>
                  </a:txBody>
                  <a:tcPr anchor="ctr"/>
                </a:tc>
                <a:tc>
                  <a:txBody>
                    <a:bodyPr/>
                    <a:lstStyle/>
                    <a:p>
                      <a:pPr algn="r"/>
                      <a:r>
                        <a:rPr kumimoji="1" lang="en-US" altLang="ja-JP" dirty="0"/>
                        <a:t>1.0</a:t>
                      </a:r>
                      <a:endParaRPr kumimoji="1" lang="ja-JP" altLang="en-US" dirty="0"/>
                    </a:p>
                  </a:txBody>
                  <a:tcPr/>
                </a:tc>
                <a:tc>
                  <a:txBody>
                    <a:bodyPr/>
                    <a:lstStyle/>
                    <a:p>
                      <a:pPr algn="r"/>
                      <a:r>
                        <a:rPr kumimoji="1" lang="en-US" altLang="ja-JP" dirty="0"/>
                        <a:t>50,000</a:t>
                      </a:r>
                      <a:endParaRPr kumimoji="1" lang="ja-JP" altLang="en-US" dirty="0"/>
                    </a:p>
                  </a:txBody>
                  <a:tcPr/>
                </a:tc>
                <a:extLst>
                  <a:ext uri="{0D108BD9-81ED-4DB2-BD59-A6C34878D82A}">
                    <a16:rowId xmlns:a16="http://schemas.microsoft.com/office/drawing/2014/main" val="1845290289"/>
                  </a:ext>
                </a:extLst>
              </a:tr>
              <a:tr h="370840">
                <a:tc>
                  <a:txBody>
                    <a:bodyPr/>
                    <a:lstStyle/>
                    <a:p>
                      <a:pPr algn="ctr"/>
                      <a:r>
                        <a:rPr kumimoji="1" lang="ja-JP" altLang="en-US" dirty="0"/>
                        <a:t>２</a:t>
                      </a:r>
                    </a:p>
                  </a:txBody>
                  <a:tcPr/>
                </a:tc>
                <a:tc>
                  <a:txBody>
                    <a:bodyPr/>
                    <a:lstStyle/>
                    <a:p>
                      <a:pPr mar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①－</a:t>
                      </a:r>
                      <a:r>
                        <a:rPr kumimoji="1" lang="en-US" altLang="ja-JP" sz="1600" dirty="0">
                          <a:solidFill>
                            <a:schemeClr val="tx1"/>
                          </a:solidFill>
                          <a:latin typeface="游ゴシック" panose="020B0400000000000000" pitchFamily="50" charset="-128"/>
                          <a:ea typeface="游ゴシック" panose="020B0400000000000000" pitchFamily="50" charset="-128"/>
                        </a:rPr>
                        <a:t>2</a:t>
                      </a:r>
                    </a:p>
                  </a:txBody>
                  <a:tcPr anchor="ctr"/>
                </a:tc>
                <a:tc>
                  <a:txBody>
                    <a:bodyPr/>
                    <a:lstStyle/>
                    <a:p>
                      <a:pPr algn="r"/>
                      <a:r>
                        <a:rPr kumimoji="1" lang="en-US" altLang="ja-JP" dirty="0"/>
                        <a:t>1.0</a:t>
                      </a:r>
                      <a:endParaRPr kumimoji="1" lang="ja-JP" altLang="en-US" dirty="0"/>
                    </a:p>
                  </a:txBody>
                  <a:tcPr/>
                </a:tc>
                <a:tc>
                  <a:txBody>
                    <a:bodyPr/>
                    <a:lstStyle/>
                    <a:p>
                      <a:pPr algn="r"/>
                      <a:r>
                        <a:rPr kumimoji="1" lang="en-US" altLang="ja-JP" dirty="0"/>
                        <a:t>50,000</a:t>
                      </a:r>
                      <a:endParaRPr kumimoji="1" lang="ja-JP" altLang="en-US" dirty="0"/>
                    </a:p>
                  </a:txBody>
                  <a:tcPr/>
                </a:tc>
                <a:extLst>
                  <a:ext uri="{0D108BD9-81ED-4DB2-BD59-A6C34878D82A}">
                    <a16:rowId xmlns:a16="http://schemas.microsoft.com/office/drawing/2014/main" val="4178339501"/>
                  </a:ext>
                </a:extLst>
              </a:tr>
              <a:tr h="370840">
                <a:tc>
                  <a:txBody>
                    <a:bodyPr/>
                    <a:lstStyle/>
                    <a:p>
                      <a:pPr algn="ctr"/>
                      <a:r>
                        <a:rPr kumimoji="1" lang="ja-JP" altLang="en-US" dirty="0"/>
                        <a:t>３</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②</a:t>
                      </a:r>
                      <a:endParaRPr lang="en-US" altLang="ja-JP" sz="1600" dirty="0">
                        <a:solidFill>
                          <a:schemeClr val="tx1"/>
                        </a:solidFill>
                        <a:latin typeface="游ゴシック"/>
                        <a:ea typeface="游ゴシック"/>
                      </a:endParaRPr>
                    </a:p>
                  </a:txBody>
                  <a:tcPr anchor="ctr"/>
                </a:tc>
                <a:tc>
                  <a:txBody>
                    <a:bodyPr/>
                    <a:lstStyle/>
                    <a:p>
                      <a:pPr algn="r"/>
                      <a:r>
                        <a:rPr kumimoji="1" lang="en-US" altLang="ja-JP" dirty="0"/>
                        <a:t>32.0</a:t>
                      </a:r>
                      <a:endParaRPr kumimoji="1" lang="ja-JP" altLang="en-US" dirty="0"/>
                    </a:p>
                  </a:txBody>
                  <a:tcPr/>
                </a:tc>
                <a:tc>
                  <a:txBody>
                    <a:bodyPr/>
                    <a:lstStyle/>
                    <a:p>
                      <a:pPr algn="r"/>
                      <a:r>
                        <a:rPr kumimoji="1" lang="en-US" altLang="ja-JP" dirty="0"/>
                        <a:t>1,600,000</a:t>
                      </a:r>
                      <a:endParaRPr kumimoji="1" lang="ja-JP" altLang="en-US" dirty="0"/>
                    </a:p>
                  </a:txBody>
                  <a:tcPr/>
                </a:tc>
                <a:extLst>
                  <a:ext uri="{0D108BD9-81ED-4DB2-BD59-A6C34878D82A}">
                    <a16:rowId xmlns:a16="http://schemas.microsoft.com/office/drawing/2014/main" val="1212196521"/>
                  </a:ext>
                </a:extLst>
              </a:tr>
              <a:tr h="370840">
                <a:tc>
                  <a:txBody>
                    <a:bodyPr/>
                    <a:lstStyle/>
                    <a:p>
                      <a:pPr algn="ctr"/>
                      <a:r>
                        <a:rPr kumimoji="1" lang="ja-JP" altLang="en-US" dirty="0"/>
                        <a:t>４</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③</a:t>
                      </a:r>
                      <a:endParaRPr lang="en-US" altLang="ja-JP" sz="1600" dirty="0">
                        <a:solidFill>
                          <a:schemeClr val="tx1"/>
                        </a:solidFill>
                        <a:latin typeface="游ゴシック"/>
                        <a:ea typeface="游ゴシック"/>
                      </a:endParaRPr>
                    </a:p>
                  </a:txBody>
                  <a:tcPr anchor="ctr"/>
                </a:tc>
                <a:tc>
                  <a:txBody>
                    <a:bodyPr/>
                    <a:lstStyle/>
                    <a:p>
                      <a:pPr algn="r"/>
                      <a:r>
                        <a:rPr kumimoji="1" lang="en-US" altLang="ja-JP" dirty="0"/>
                        <a:t>3.0</a:t>
                      </a:r>
                      <a:endParaRPr kumimoji="1" lang="ja-JP" altLang="en-US" dirty="0"/>
                    </a:p>
                  </a:txBody>
                  <a:tcPr/>
                </a:tc>
                <a:tc>
                  <a:txBody>
                    <a:bodyPr/>
                    <a:lstStyle/>
                    <a:p>
                      <a:pPr algn="r"/>
                      <a:r>
                        <a:rPr kumimoji="1" lang="en-US" altLang="ja-JP" dirty="0"/>
                        <a:t>150,000</a:t>
                      </a:r>
                      <a:endParaRPr kumimoji="1" lang="ja-JP" altLang="en-US" dirty="0"/>
                    </a:p>
                  </a:txBody>
                  <a:tcPr/>
                </a:tc>
                <a:extLst>
                  <a:ext uri="{0D108BD9-81ED-4DB2-BD59-A6C34878D82A}">
                    <a16:rowId xmlns:a16="http://schemas.microsoft.com/office/drawing/2014/main" val="3406240869"/>
                  </a:ext>
                </a:extLst>
              </a:tr>
              <a:tr h="370840">
                <a:tc>
                  <a:txBody>
                    <a:bodyPr/>
                    <a:lstStyle/>
                    <a:p>
                      <a:pPr algn="ctr"/>
                      <a:r>
                        <a:rPr kumimoji="1" lang="ja-JP" altLang="en-US" dirty="0"/>
                        <a:t>５</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リリース関連</a:t>
                      </a:r>
                    </a:p>
                  </a:txBody>
                  <a:tcPr anchor="ctr"/>
                </a:tc>
                <a:tc>
                  <a:txBody>
                    <a:bodyPr/>
                    <a:lstStyle/>
                    <a:p>
                      <a:pPr algn="r"/>
                      <a:r>
                        <a:rPr kumimoji="1" lang="en-US" altLang="ja-JP" dirty="0"/>
                        <a:t>1.0</a:t>
                      </a:r>
                      <a:endParaRPr kumimoji="1" lang="ja-JP" altLang="en-US" dirty="0"/>
                    </a:p>
                  </a:txBody>
                  <a:tcPr/>
                </a:tc>
                <a:tc>
                  <a:txBody>
                    <a:bodyPr/>
                    <a:lstStyle/>
                    <a:p>
                      <a:pPr algn="r"/>
                      <a:r>
                        <a:rPr kumimoji="1" lang="en-US" altLang="ja-JP" dirty="0"/>
                        <a:t>50,000</a:t>
                      </a:r>
                      <a:endParaRPr kumimoji="1" lang="ja-JP" altLang="en-US" dirty="0"/>
                    </a:p>
                  </a:txBody>
                  <a:tcPr/>
                </a:tc>
                <a:extLst>
                  <a:ext uri="{0D108BD9-81ED-4DB2-BD59-A6C34878D82A}">
                    <a16:rowId xmlns:a16="http://schemas.microsoft.com/office/drawing/2014/main" val="678921093"/>
                  </a:ext>
                </a:extLst>
              </a:tr>
              <a:tr h="370840">
                <a:tc>
                  <a:txBody>
                    <a:bodyPr/>
                    <a:lstStyle/>
                    <a:p>
                      <a:pPr algn="ctr"/>
                      <a:r>
                        <a:rPr kumimoji="1" lang="ja-JP" altLang="en-US" dirty="0"/>
                        <a:t>６</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プロジェクト管理</a:t>
                      </a:r>
                      <a:endParaRPr lang="en-US" altLang="ja-JP" sz="1600" dirty="0">
                        <a:solidFill>
                          <a:schemeClr val="tx1"/>
                        </a:solidFill>
                        <a:latin typeface="游ゴシック"/>
                        <a:ea typeface="游ゴシック"/>
                      </a:endParaRPr>
                    </a:p>
                  </a:txBody>
                  <a:tcPr anchor="ctr"/>
                </a:tc>
                <a:tc>
                  <a:txBody>
                    <a:bodyPr/>
                    <a:lstStyle/>
                    <a:p>
                      <a:pPr algn="r"/>
                      <a:r>
                        <a:rPr kumimoji="1" lang="en-US" altLang="ja-JP" dirty="0"/>
                        <a:t>6.0</a:t>
                      </a:r>
                      <a:endParaRPr kumimoji="1" lang="ja-JP" altLang="en-US" dirty="0"/>
                    </a:p>
                  </a:txBody>
                  <a:tcPr/>
                </a:tc>
                <a:tc>
                  <a:txBody>
                    <a:bodyPr/>
                    <a:lstStyle/>
                    <a:p>
                      <a:pPr algn="r"/>
                      <a:r>
                        <a:rPr kumimoji="1" lang="en-US" altLang="ja-JP" dirty="0"/>
                        <a:t>392,000</a:t>
                      </a:r>
                      <a:endParaRPr kumimoji="1" lang="ja-JP" altLang="en-US" dirty="0"/>
                    </a:p>
                  </a:txBody>
                  <a:tcPr/>
                </a:tc>
                <a:extLst>
                  <a:ext uri="{0D108BD9-81ED-4DB2-BD59-A6C34878D82A}">
                    <a16:rowId xmlns:a16="http://schemas.microsoft.com/office/drawing/2014/main" val="3956375622"/>
                  </a:ext>
                </a:extLst>
              </a:tr>
              <a:tr h="370840">
                <a:tc>
                  <a:txBody>
                    <a:bodyPr/>
                    <a:lstStyle/>
                    <a:p>
                      <a:endParaRPr kumimoji="1" lang="ja-JP" altLang="en-US"/>
                    </a:p>
                  </a:txBody>
                  <a:tcPr/>
                </a:tc>
                <a:tc>
                  <a:txBody>
                    <a:bodyPr/>
                    <a:lstStyle/>
                    <a:p>
                      <a:r>
                        <a:rPr kumimoji="1" lang="ja-JP" altLang="en-US" dirty="0"/>
                        <a:t>合計</a:t>
                      </a:r>
                    </a:p>
                  </a:txBody>
                  <a:tcPr/>
                </a:tc>
                <a:tc>
                  <a:txBody>
                    <a:bodyPr/>
                    <a:lstStyle/>
                    <a:p>
                      <a:pPr algn="r"/>
                      <a:r>
                        <a:rPr kumimoji="1" lang="en-US" altLang="ja-JP" dirty="0"/>
                        <a:t>44.0</a:t>
                      </a:r>
                      <a:endParaRPr kumimoji="1" lang="ja-JP" altLang="en-US" dirty="0"/>
                    </a:p>
                  </a:txBody>
                  <a:tcPr/>
                </a:tc>
                <a:tc>
                  <a:txBody>
                    <a:bodyPr/>
                    <a:lstStyle/>
                    <a:p>
                      <a:pPr algn="r"/>
                      <a:r>
                        <a:rPr kumimoji="1" lang="en-US" altLang="ja-JP" dirty="0"/>
                        <a:t>2,320,000</a:t>
                      </a:r>
                      <a:endParaRPr kumimoji="1" lang="ja-JP" altLang="en-US" dirty="0"/>
                    </a:p>
                  </a:txBody>
                  <a:tcPr/>
                </a:tc>
                <a:extLst>
                  <a:ext uri="{0D108BD9-81ED-4DB2-BD59-A6C34878D82A}">
                    <a16:rowId xmlns:a16="http://schemas.microsoft.com/office/drawing/2014/main" val="1729653328"/>
                  </a:ext>
                </a:extLst>
              </a:tr>
            </a:tbl>
          </a:graphicData>
        </a:graphic>
      </p:graphicFrame>
      <p:sp>
        <p:nvSpPr>
          <p:cNvPr id="6" name="テキスト ボックス 5">
            <a:extLst>
              <a:ext uri="{FF2B5EF4-FFF2-40B4-BE49-F238E27FC236}">
                <a16:creationId xmlns:a16="http://schemas.microsoft.com/office/drawing/2014/main" id="{E4F42BFC-76A4-8736-D64B-49A090441364}"/>
              </a:ext>
            </a:extLst>
          </p:cNvPr>
          <p:cNvSpPr txBox="1"/>
          <p:nvPr/>
        </p:nvSpPr>
        <p:spPr>
          <a:xfrm>
            <a:off x="497844" y="827038"/>
            <a:ext cx="4222648" cy="369332"/>
          </a:xfrm>
          <a:prstGeom prst="rect">
            <a:avLst/>
          </a:prstGeom>
          <a:noFill/>
        </p:spPr>
        <p:txBody>
          <a:bodyPr wrap="square">
            <a:spAutoFit/>
          </a:bodyPr>
          <a:lstStyle/>
          <a:p>
            <a:r>
              <a:rPr lang="ja-JP" altLang="en-US" b="1" dirty="0">
                <a:solidFill>
                  <a:srgbClr val="000000"/>
                </a:solidFill>
              </a:rPr>
              <a:t>お見積りサマリー表</a:t>
            </a:r>
            <a:endParaRPr lang="en-US" altLang="ja-JP" sz="1800" b="1" dirty="0">
              <a:solidFill>
                <a:srgbClr val="000000"/>
              </a:solidFill>
            </a:endParaRPr>
          </a:p>
        </p:txBody>
      </p:sp>
    </p:spTree>
    <p:extLst>
      <p:ext uri="{BB962C8B-B14F-4D97-AF65-F5344CB8AC3E}">
        <p14:creationId xmlns:p14="http://schemas.microsoft.com/office/powerpoint/2010/main" val="2440862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4BDD5-71D5-E1B4-813A-A2FF4801A4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97F8E70-8F65-AD3E-3E44-9ACE2E835828}"/>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５</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お見積もり（合計）</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BB24CB9B-5CAC-D83D-09D2-9ADA4387BDE5}"/>
              </a:ext>
            </a:extLst>
          </p:cNvPr>
          <p:cNvSpPr>
            <a:spLocks noGrp="1"/>
          </p:cNvSpPr>
          <p:nvPr>
            <p:ph type="dt" sz="half" idx="10"/>
          </p:nvPr>
        </p:nvSpPr>
        <p:spPr/>
        <p:txBody>
          <a:bodyPr/>
          <a:lstStyle/>
          <a:p>
            <a:r>
              <a:rPr lang="en-US" altLang="ja-JP"/>
              <a:t>2025/10/22</a:t>
            </a:r>
            <a:endParaRPr lang="en-US"/>
          </a:p>
        </p:txBody>
      </p:sp>
      <p:sp>
        <p:nvSpPr>
          <p:cNvPr id="3" name="フッター プレースホルダー 2">
            <a:extLst>
              <a:ext uri="{FF2B5EF4-FFF2-40B4-BE49-F238E27FC236}">
                <a16:creationId xmlns:a16="http://schemas.microsoft.com/office/drawing/2014/main" id="{6BE8C62B-E9BA-8634-396D-F1BAB47E8DFC}"/>
              </a:ext>
            </a:extLst>
          </p:cNvPr>
          <p:cNvSpPr>
            <a:spLocks noGrp="1"/>
          </p:cNvSpPr>
          <p:nvPr>
            <p:ph type="ftr" sz="quarter" idx="11"/>
          </p:nvPr>
        </p:nvSpPr>
        <p:spPr/>
        <p:txBody>
          <a:bodyPr/>
          <a:lstStyle/>
          <a:p>
            <a:r>
              <a:rPr lang="en-US"/>
              <a:t>Copyright © 2025 SystemEXE,Inc All Rights Reserved.</a:t>
            </a:r>
          </a:p>
        </p:txBody>
      </p:sp>
      <p:graphicFrame>
        <p:nvGraphicFramePr>
          <p:cNvPr id="4" name="表 3">
            <a:extLst>
              <a:ext uri="{FF2B5EF4-FFF2-40B4-BE49-F238E27FC236}">
                <a16:creationId xmlns:a16="http://schemas.microsoft.com/office/drawing/2014/main" id="{8C07F483-3825-588E-0000-30E777DC0E59}"/>
              </a:ext>
            </a:extLst>
          </p:cNvPr>
          <p:cNvGraphicFramePr>
            <a:graphicFrameLocks noGrp="1"/>
          </p:cNvGraphicFramePr>
          <p:nvPr>
            <p:extLst>
              <p:ext uri="{D42A27DB-BD31-4B8C-83A1-F6EECF244321}">
                <p14:modId xmlns:p14="http://schemas.microsoft.com/office/powerpoint/2010/main" val="3583527218"/>
              </p:ext>
            </p:extLst>
          </p:nvPr>
        </p:nvGraphicFramePr>
        <p:xfrm>
          <a:off x="879231" y="1196370"/>
          <a:ext cx="9714523" cy="2595880"/>
        </p:xfrm>
        <a:graphic>
          <a:graphicData uri="http://schemas.openxmlformats.org/drawingml/2006/table">
            <a:tbl>
              <a:tblPr firstRow="1" lastRow="1">
                <a:tableStyleId>{5C22544A-7EE6-4342-B048-85BDC9FD1C3A}</a:tableStyleId>
              </a:tblPr>
              <a:tblGrid>
                <a:gridCol w="784634">
                  <a:extLst>
                    <a:ext uri="{9D8B030D-6E8A-4147-A177-3AD203B41FA5}">
                      <a16:colId xmlns:a16="http://schemas.microsoft.com/office/drawing/2014/main" val="332460419"/>
                    </a:ext>
                  </a:extLst>
                </a:gridCol>
                <a:gridCol w="4072627">
                  <a:extLst>
                    <a:ext uri="{9D8B030D-6E8A-4147-A177-3AD203B41FA5}">
                      <a16:colId xmlns:a16="http://schemas.microsoft.com/office/drawing/2014/main" val="2434244496"/>
                    </a:ext>
                  </a:extLst>
                </a:gridCol>
                <a:gridCol w="2428631">
                  <a:extLst>
                    <a:ext uri="{9D8B030D-6E8A-4147-A177-3AD203B41FA5}">
                      <a16:colId xmlns:a16="http://schemas.microsoft.com/office/drawing/2014/main" val="1287739208"/>
                    </a:ext>
                  </a:extLst>
                </a:gridCol>
                <a:gridCol w="2428631">
                  <a:extLst>
                    <a:ext uri="{9D8B030D-6E8A-4147-A177-3AD203B41FA5}">
                      <a16:colId xmlns:a16="http://schemas.microsoft.com/office/drawing/2014/main" val="3732747071"/>
                    </a:ext>
                  </a:extLst>
                </a:gridCol>
              </a:tblGrid>
              <a:tr h="370840">
                <a:tc>
                  <a:txBody>
                    <a:bodyPr/>
                    <a:lstStyle/>
                    <a:p>
                      <a:r>
                        <a:rPr kumimoji="1" lang="en-US" altLang="ja-JP" dirty="0"/>
                        <a:t>No.</a:t>
                      </a:r>
                      <a:endParaRPr kumimoji="1" lang="ja-JP" altLang="en-US" dirty="0"/>
                    </a:p>
                  </a:txBody>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a:t>
                      </a: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日</a:t>
                      </a: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7620" marR="7620" marT="7620" marB="0" anchor="ct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tc>
                <a:extLst>
                  <a:ext uri="{0D108BD9-81ED-4DB2-BD59-A6C34878D82A}">
                    <a16:rowId xmlns:a16="http://schemas.microsoft.com/office/drawing/2014/main" val="2855636999"/>
                  </a:ext>
                </a:extLst>
              </a:tr>
              <a:tr h="370840">
                <a:tc>
                  <a:txBody>
                    <a:bodyPr/>
                    <a:lstStyle/>
                    <a:p>
                      <a:pPr algn="ctr"/>
                      <a:r>
                        <a:rPr kumimoji="1" lang="ja-JP" altLang="en-US" dirty="0"/>
                        <a:t>１</a:t>
                      </a:r>
                    </a:p>
                  </a:txBody>
                  <a:tcPr/>
                </a:tc>
                <a:tc>
                  <a:txBody>
                    <a:bodyPr/>
                    <a:lstStyle/>
                    <a:p>
                      <a:pPr marL="0" lv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設計</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algn="r"/>
                      <a:r>
                        <a:rPr kumimoji="1" lang="en-US" altLang="ja-JP" dirty="0"/>
                        <a:t>6.2</a:t>
                      </a:r>
                      <a:endParaRPr kumimoji="1" lang="ja-JP" altLang="en-US" dirty="0"/>
                    </a:p>
                  </a:txBody>
                  <a:tcPr/>
                </a:tc>
                <a:tc>
                  <a:txBody>
                    <a:bodyPr/>
                    <a:lstStyle/>
                    <a:p>
                      <a:pPr algn="r"/>
                      <a:r>
                        <a:rPr kumimoji="1" lang="en-US" altLang="ja-JP" dirty="0"/>
                        <a:t>310,000</a:t>
                      </a:r>
                      <a:endParaRPr kumimoji="1" lang="ja-JP" altLang="en-US" dirty="0"/>
                    </a:p>
                  </a:txBody>
                  <a:tcPr/>
                </a:tc>
                <a:extLst>
                  <a:ext uri="{0D108BD9-81ED-4DB2-BD59-A6C34878D82A}">
                    <a16:rowId xmlns:a16="http://schemas.microsoft.com/office/drawing/2014/main" val="1845290289"/>
                  </a:ext>
                </a:extLst>
              </a:tr>
              <a:tr h="370840">
                <a:tc>
                  <a:txBody>
                    <a:bodyPr/>
                    <a:lstStyle/>
                    <a:p>
                      <a:pPr algn="ctr"/>
                      <a:r>
                        <a:rPr kumimoji="1" lang="ja-JP" altLang="en-US" dirty="0"/>
                        <a:t>２</a:t>
                      </a:r>
                    </a:p>
                  </a:txBody>
                  <a:tcPr/>
                </a:tc>
                <a:tc>
                  <a:txBody>
                    <a:bodyPr/>
                    <a:lstStyle/>
                    <a:p>
                      <a:pPr mar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開発</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algn="r"/>
                      <a:r>
                        <a:rPr kumimoji="1" lang="en-US" altLang="ja-JP" dirty="0"/>
                        <a:t>13.4</a:t>
                      </a:r>
                      <a:endParaRPr kumimoji="1" lang="ja-JP" altLang="en-US" dirty="0"/>
                    </a:p>
                  </a:txBody>
                  <a:tcPr/>
                </a:tc>
                <a:tc>
                  <a:txBody>
                    <a:bodyPr/>
                    <a:lstStyle/>
                    <a:p>
                      <a:pPr algn="r"/>
                      <a:r>
                        <a:rPr kumimoji="1" lang="en-US" altLang="ja-JP" dirty="0"/>
                        <a:t>670,000</a:t>
                      </a:r>
                      <a:endParaRPr kumimoji="1" lang="ja-JP" altLang="en-US" dirty="0"/>
                    </a:p>
                  </a:txBody>
                  <a:tcPr/>
                </a:tc>
                <a:extLst>
                  <a:ext uri="{0D108BD9-81ED-4DB2-BD59-A6C34878D82A}">
                    <a16:rowId xmlns:a16="http://schemas.microsoft.com/office/drawing/2014/main" val="4178339501"/>
                  </a:ext>
                </a:extLst>
              </a:tr>
              <a:tr h="370840">
                <a:tc>
                  <a:txBody>
                    <a:bodyPr/>
                    <a:lstStyle/>
                    <a:p>
                      <a:pPr algn="ctr"/>
                      <a:r>
                        <a:rPr kumimoji="1" lang="ja-JP" altLang="en-US" dirty="0"/>
                        <a:t>３</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テスト</a:t>
                      </a:r>
                      <a:endParaRPr lang="en-US" altLang="ja-JP" sz="1600" dirty="0">
                        <a:solidFill>
                          <a:schemeClr val="tx1"/>
                        </a:solidFill>
                        <a:latin typeface="游ゴシック"/>
                        <a:ea typeface="游ゴシック"/>
                      </a:endParaRPr>
                    </a:p>
                  </a:txBody>
                  <a:tcPr anchor="ctr"/>
                </a:tc>
                <a:tc>
                  <a:txBody>
                    <a:bodyPr/>
                    <a:lstStyle/>
                    <a:p>
                      <a:pPr algn="r"/>
                      <a:r>
                        <a:rPr kumimoji="1" lang="en-US" altLang="ja-JP" dirty="0"/>
                        <a:t>17.4</a:t>
                      </a:r>
                      <a:endParaRPr kumimoji="1" lang="ja-JP" altLang="en-US" dirty="0"/>
                    </a:p>
                  </a:txBody>
                  <a:tcPr/>
                </a:tc>
                <a:tc>
                  <a:txBody>
                    <a:bodyPr/>
                    <a:lstStyle/>
                    <a:p>
                      <a:pPr algn="r"/>
                      <a:r>
                        <a:rPr kumimoji="1" lang="en-US" altLang="ja-JP" dirty="0"/>
                        <a:t>870,000</a:t>
                      </a:r>
                      <a:endParaRPr kumimoji="1" lang="ja-JP" altLang="en-US" dirty="0"/>
                    </a:p>
                  </a:txBody>
                  <a:tcPr/>
                </a:tc>
                <a:extLst>
                  <a:ext uri="{0D108BD9-81ED-4DB2-BD59-A6C34878D82A}">
                    <a16:rowId xmlns:a16="http://schemas.microsoft.com/office/drawing/2014/main" val="1212196521"/>
                  </a:ext>
                </a:extLst>
              </a:tr>
              <a:tr h="370840">
                <a:tc>
                  <a:txBody>
                    <a:bodyPr/>
                    <a:lstStyle/>
                    <a:p>
                      <a:pPr algn="ctr"/>
                      <a:r>
                        <a:rPr kumimoji="1" lang="ja-JP" altLang="en-US" dirty="0"/>
                        <a:t>４</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リリース関連</a:t>
                      </a:r>
                    </a:p>
                  </a:txBody>
                  <a:tcPr anchor="ctr"/>
                </a:tc>
                <a:tc>
                  <a:txBody>
                    <a:bodyPr/>
                    <a:lstStyle/>
                    <a:p>
                      <a:pPr algn="r"/>
                      <a:r>
                        <a:rPr kumimoji="1" lang="en-US" altLang="ja-JP" dirty="0"/>
                        <a:t>1.0</a:t>
                      </a:r>
                      <a:endParaRPr kumimoji="1" lang="ja-JP" altLang="en-US" dirty="0"/>
                    </a:p>
                  </a:txBody>
                  <a:tcPr/>
                </a:tc>
                <a:tc>
                  <a:txBody>
                    <a:bodyPr/>
                    <a:lstStyle/>
                    <a:p>
                      <a:pPr algn="r"/>
                      <a:r>
                        <a:rPr kumimoji="1" lang="en-US" altLang="ja-JP" dirty="0"/>
                        <a:t>50,000</a:t>
                      </a:r>
                      <a:endParaRPr kumimoji="1" lang="ja-JP" altLang="en-US" dirty="0"/>
                    </a:p>
                  </a:txBody>
                  <a:tcPr/>
                </a:tc>
                <a:extLst>
                  <a:ext uri="{0D108BD9-81ED-4DB2-BD59-A6C34878D82A}">
                    <a16:rowId xmlns:a16="http://schemas.microsoft.com/office/drawing/2014/main" val="678921093"/>
                  </a:ext>
                </a:extLst>
              </a:tr>
              <a:tr h="370840">
                <a:tc>
                  <a:txBody>
                    <a:bodyPr/>
                    <a:lstStyle/>
                    <a:p>
                      <a:pPr algn="ctr"/>
                      <a:r>
                        <a:rPr kumimoji="1" lang="ja-JP" altLang="en-US" dirty="0"/>
                        <a:t>５</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プロジェクト管理</a:t>
                      </a:r>
                      <a:endParaRPr lang="en-US" altLang="ja-JP" sz="1600" dirty="0">
                        <a:solidFill>
                          <a:schemeClr val="tx1"/>
                        </a:solidFill>
                        <a:latin typeface="游ゴシック"/>
                        <a:ea typeface="游ゴシック"/>
                      </a:endParaRPr>
                    </a:p>
                  </a:txBody>
                  <a:tcPr anchor="ctr"/>
                </a:tc>
                <a:tc>
                  <a:txBody>
                    <a:bodyPr/>
                    <a:lstStyle/>
                    <a:p>
                      <a:pPr algn="r"/>
                      <a:r>
                        <a:rPr kumimoji="1" lang="en-US" altLang="ja-JP" dirty="0"/>
                        <a:t>6.0</a:t>
                      </a:r>
                      <a:endParaRPr kumimoji="1" lang="ja-JP" altLang="en-US" dirty="0"/>
                    </a:p>
                  </a:txBody>
                  <a:tcPr/>
                </a:tc>
                <a:tc>
                  <a:txBody>
                    <a:bodyPr/>
                    <a:lstStyle/>
                    <a:p>
                      <a:pPr algn="r"/>
                      <a:r>
                        <a:rPr kumimoji="1" lang="en-US" altLang="ja-JP" dirty="0"/>
                        <a:t>392,000</a:t>
                      </a:r>
                      <a:endParaRPr kumimoji="1" lang="ja-JP" altLang="en-US" dirty="0"/>
                    </a:p>
                  </a:txBody>
                  <a:tcPr/>
                </a:tc>
                <a:extLst>
                  <a:ext uri="{0D108BD9-81ED-4DB2-BD59-A6C34878D82A}">
                    <a16:rowId xmlns:a16="http://schemas.microsoft.com/office/drawing/2014/main" val="3956375622"/>
                  </a:ext>
                </a:extLst>
              </a:tr>
              <a:tr h="370840">
                <a:tc>
                  <a:txBody>
                    <a:bodyPr/>
                    <a:lstStyle/>
                    <a:p>
                      <a:endParaRPr kumimoji="1" lang="ja-JP" altLang="en-US"/>
                    </a:p>
                  </a:txBody>
                  <a:tcPr/>
                </a:tc>
                <a:tc>
                  <a:txBody>
                    <a:bodyPr/>
                    <a:lstStyle/>
                    <a:p>
                      <a:r>
                        <a:rPr kumimoji="1" lang="ja-JP" altLang="en-US" dirty="0"/>
                        <a:t>合計</a:t>
                      </a:r>
                    </a:p>
                  </a:txBody>
                  <a:tcPr/>
                </a:tc>
                <a:tc>
                  <a:txBody>
                    <a:bodyPr/>
                    <a:lstStyle/>
                    <a:p>
                      <a:pPr algn="r"/>
                      <a:r>
                        <a:rPr kumimoji="1" lang="en-US" altLang="ja-JP" dirty="0"/>
                        <a:t>44.0</a:t>
                      </a:r>
                      <a:endParaRPr kumimoji="1" lang="ja-JP" altLang="en-US" dirty="0"/>
                    </a:p>
                  </a:txBody>
                  <a:tcPr/>
                </a:tc>
                <a:tc>
                  <a:txBody>
                    <a:bodyPr/>
                    <a:lstStyle/>
                    <a:p>
                      <a:pPr algn="r"/>
                      <a:r>
                        <a:rPr kumimoji="1" lang="en-US" altLang="ja-JP" dirty="0"/>
                        <a:t>2,320,000</a:t>
                      </a:r>
                      <a:endParaRPr kumimoji="1" lang="ja-JP" altLang="en-US" dirty="0"/>
                    </a:p>
                  </a:txBody>
                  <a:tcPr/>
                </a:tc>
                <a:extLst>
                  <a:ext uri="{0D108BD9-81ED-4DB2-BD59-A6C34878D82A}">
                    <a16:rowId xmlns:a16="http://schemas.microsoft.com/office/drawing/2014/main" val="1729653328"/>
                  </a:ext>
                </a:extLst>
              </a:tr>
            </a:tbl>
          </a:graphicData>
        </a:graphic>
      </p:graphicFrame>
      <p:sp>
        <p:nvSpPr>
          <p:cNvPr id="6" name="テキスト ボックス 5">
            <a:extLst>
              <a:ext uri="{FF2B5EF4-FFF2-40B4-BE49-F238E27FC236}">
                <a16:creationId xmlns:a16="http://schemas.microsoft.com/office/drawing/2014/main" id="{FECA775E-E80A-DCE9-696D-5135D5F1B886}"/>
              </a:ext>
            </a:extLst>
          </p:cNvPr>
          <p:cNvSpPr txBox="1"/>
          <p:nvPr/>
        </p:nvSpPr>
        <p:spPr>
          <a:xfrm>
            <a:off x="497844" y="827038"/>
            <a:ext cx="4222648" cy="369332"/>
          </a:xfrm>
          <a:prstGeom prst="rect">
            <a:avLst/>
          </a:prstGeom>
          <a:noFill/>
        </p:spPr>
        <p:txBody>
          <a:bodyPr wrap="square">
            <a:spAutoFit/>
          </a:bodyPr>
          <a:lstStyle/>
          <a:p>
            <a:r>
              <a:rPr lang="ja-JP" altLang="en-US" b="1" dirty="0">
                <a:solidFill>
                  <a:srgbClr val="000000"/>
                </a:solidFill>
              </a:rPr>
              <a:t>お見積り（全体）</a:t>
            </a:r>
            <a:endParaRPr lang="en-US" altLang="ja-JP" sz="1800" b="1" dirty="0">
              <a:solidFill>
                <a:srgbClr val="000000"/>
              </a:solidFill>
            </a:endParaRPr>
          </a:p>
        </p:txBody>
      </p:sp>
    </p:spTree>
    <p:extLst>
      <p:ext uri="{BB962C8B-B14F-4D97-AF65-F5344CB8AC3E}">
        <p14:creationId xmlns:p14="http://schemas.microsoft.com/office/powerpoint/2010/main" val="3487128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６</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 お見積もり前提条件</a:t>
            </a:r>
            <a:endParaRPr kumimoji="1" lang="ja-JP" altLang="en-US" dirty="0">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pPr>
              <a:buFont typeface="Arial" panose="020B0604020202020204" pitchFamily="34" charset="0"/>
              <a:buChar char="•"/>
            </a:pPr>
            <a:r>
              <a:rPr kumimoji="1" lang="ja-JP" altLang="en-US" b="0" u="none" dirty="0"/>
              <a:t>本資料記載の金額は全て税抜となります。</a:t>
            </a:r>
            <a:endParaRPr kumimoji="1" lang="en-US" altLang="ja-JP" b="0" u="none" dirty="0"/>
          </a:p>
          <a:p>
            <a:pPr>
              <a:buFont typeface="Arial" panose="020B0604020202020204" pitchFamily="34" charset="0"/>
              <a:buChar char="•"/>
            </a:pPr>
            <a:r>
              <a:rPr lang="ja-JP" altLang="en-US" b="0" u="none" dirty="0"/>
              <a:t>作業場所は原則弊社オフィス内とします。弊社オフィス内には在宅での勤務を含みます。</a:t>
            </a:r>
          </a:p>
          <a:p>
            <a:pPr>
              <a:buFont typeface="Arial" panose="020B0604020202020204" pitchFamily="34" charset="0"/>
              <a:buChar char="•"/>
            </a:pPr>
            <a:r>
              <a:rPr kumimoji="1" lang="ja-JP" altLang="en-US" b="0" u="none" dirty="0"/>
              <a:t>上記に記載のない諸条件につきましては、別途ご相談の上、決定させていただきます。</a:t>
            </a:r>
            <a:endParaRPr kumimoji="1" lang="en-US" altLang="ja-JP" b="0" u="none" dirty="0"/>
          </a:p>
          <a:p>
            <a:pPr>
              <a:buFont typeface="Arial" panose="020B0604020202020204" pitchFamily="34" charset="0"/>
              <a:buChar char="•"/>
            </a:pPr>
            <a:r>
              <a:rPr lang="ja-JP" altLang="en-US" b="0" u="none" dirty="0"/>
              <a:t>瑕疵担保責任期間は本稼働日より１年間とします。</a:t>
            </a:r>
            <a:br>
              <a:rPr lang="en-US" altLang="ja-JP" b="0" u="none" dirty="0"/>
            </a:br>
            <a:r>
              <a:rPr lang="ja-JP" altLang="en-US" b="0" u="none" dirty="0"/>
              <a:t>（本稼働日より</a:t>
            </a:r>
            <a:r>
              <a:rPr lang="en-US" altLang="ja-JP" b="0" u="none" dirty="0"/>
              <a:t>1</a:t>
            </a:r>
            <a:r>
              <a:rPr lang="ja-JP" altLang="en-US" b="0" u="none" dirty="0"/>
              <a:t>年間に限り契約不適合責任を追及できることとします。）</a:t>
            </a:r>
            <a:endParaRPr lang="en-US" altLang="ja-JP" b="0" u="none" dirty="0"/>
          </a:p>
          <a:p>
            <a:pPr marL="0" indent="0">
              <a:buNone/>
            </a:pPr>
            <a:endParaRPr kumimoji="1" lang="ja-JP" altLang="en-US" b="0" u="none" dirty="0"/>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2025/10/22</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10374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dirty="0"/>
              <a:t>担当：遠矢成洋、髙浦祐朗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dirty="0"/>
              <a:t>Mail</a:t>
            </a:r>
            <a:r>
              <a:rPr kumimoji="1" lang="ja-JP" altLang="en-US" dirty="0"/>
              <a:t>：</a:t>
            </a:r>
            <a:r>
              <a:rPr kumimoji="1" lang="en-US" altLang="ja-JP" dirty="0"/>
              <a:t>shigehiro.toya</a:t>
            </a:r>
            <a:r>
              <a:rPr lang="en-US" altLang="ja-JP" dirty="0"/>
              <a:t>@system-exe.jp</a:t>
            </a:r>
            <a:endParaRPr kumimoji="1" lang="en-US" altLang="ja-JP" dirty="0"/>
          </a:p>
          <a:p>
            <a:r>
              <a:rPr lang="ja-JP" altLang="en-US" dirty="0"/>
              <a:t>　　　</a:t>
            </a:r>
            <a:r>
              <a:rPr kumimoji="1" lang="en-US" altLang="ja-JP" dirty="0"/>
              <a:t>masaaki.takaura@system-exe.jp</a:t>
            </a:r>
            <a:endParaRPr kumimoji="1" lang="ja-JP" altLang="en-US" dirty="0"/>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a:t>2025/10/22</a:t>
            </a:r>
            <a:endParaRPr lang="en-US"/>
          </a:p>
        </p:txBody>
      </p:sp>
      <p:sp>
        <p:nvSpPr>
          <p:cNvPr id="2" name="フッター プレースホルダー 1"/>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cd2f88ee6a2934efb41cd9289b91e144">
  <xsd:schema xmlns:xsd="http://www.w3.org/2001/XMLSchema" xmlns:xs="http://www.w3.org/2001/XMLSchema" xmlns:p="http://schemas.microsoft.com/office/2006/metadata/properties" xmlns:ns2="2fd442da-66a9-4fa6-ba31-eb0d54ad1381" targetNamespace="http://schemas.microsoft.com/office/2006/metadata/properties" ma:root="true" ma:fieldsID="a4c4fd50c0b00be67728f9d39ce10164"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006C05C-35AE-42AE-B311-75EA963A6159}">
  <ds:schemaRefs>
    <ds:schemaRef ds:uri="http://schemas.microsoft.com/sharepoint/v3/contenttype/forms"/>
  </ds:schemaRefs>
</ds:datastoreItem>
</file>

<file path=customXml/itemProps2.xml><?xml version="1.0" encoding="utf-8"?>
<ds:datastoreItem xmlns:ds="http://schemas.openxmlformats.org/officeDocument/2006/customXml" ds:itemID="{D934A1EA-441F-44E8-A2D3-F224374B4B25}"/>
</file>

<file path=customXml/itemProps3.xml><?xml version="1.0" encoding="utf-8"?>
<ds:datastoreItem xmlns:ds="http://schemas.openxmlformats.org/officeDocument/2006/customXml" ds:itemID="{D5C4C8B0-6EB0-4725-9E86-BE2C3085FBC0}">
  <ds:schemaRefs>
    <ds:schemaRef ds:uri="http://purl.org/dc/elements/1.1/"/>
    <ds:schemaRef ds:uri="http://purl.org/dc/dcmitype/"/>
    <ds:schemaRef ds:uri="http://purl.org/dc/terms/"/>
    <ds:schemaRef ds:uri="2fd442da-66a9-4fa6-ba31-eb0d54ad1381"/>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888</TotalTime>
  <Words>858</Words>
  <Application>Microsoft Office PowerPoint</Application>
  <PresentationFormat>ワイド画面</PresentationFormat>
  <Paragraphs>251</Paragraphs>
  <Slides>11</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11</vt:i4>
      </vt:variant>
    </vt:vector>
  </HeadingPairs>
  <TitlesOfParts>
    <vt:vector size="19" baseType="lpstr">
      <vt:lpstr>游ゴシック</vt:lpstr>
      <vt:lpstr>游ゴシック</vt:lpstr>
      <vt:lpstr>Yu Gothic Medium</vt:lpstr>
      <vt:lpstr>游明朝</vt:lpstr>
      <vt:lpstr>Arial</vt:lpstr>
      <vt:lpstr>Calibri</vt:lpstr>
      <vt:lpstr>Wingdings</vt:lpstr>
      <vt:lpstr>Office テーマ</vt:lpstr>
      <vt:lpstr>概算お見積もり(第1.0版）  ~2026年度要望対応~</vt:lpstr>
      <vt:lpstr>１. はじめに</vt:lpstr>
      <vt:lpstr>２. スケジュール（仮）</vt:lpstr>
      <vt:lpstr>３. 体制（想定）</vt:lpstr>
      <vt:lpstr>４. 想定している成果物</vt:lpstr>
      <vt:lpstr>５. お見積もり</vt:lpstr>
      <vt:lpstr>５. お見積もり</vt:lpstr>
      <vt:lpstr>５. お見積もり（合計）</vt:lpstr>
      <vt:lpstr>５. お見積もり（合計）</vt:lpstr>
      <vt:lpstr>６. 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遠矢成洋</cp:lastModifiedBy>
  <cp:revision>33</cp:revision>
  <dcterms:created xsi:type="dcterms:W3CDTF">2021-02-05T06:36:21Z</dcterms:created>
  <dcterms:modified xsi:type="dcterms:W3CDTF">2025-10-28T09:47:50Z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