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8"/>
  </p:notesMasterIdLst>
  <p:handoutMasterIdLst>
    <p:handoutMasterId r:id="rId19"/>
  </p:handoutMasterIdLst>
  <p:sldIdLst>
    <p:sldId id="714" r:id="rId5"/>
    <p:sldId id="757" r:id="rId6"/>
    <p:sldId id="939" r:id="rId7"/>
    <p:sldId id="934" r:id="rId8"/>
    <p:sldId id="936" r:id="rId9"/>
    <p:sldId id="765" r:id="rId10"/>
    <p:sldId id="766" r:id="rId11"/>
    <p:sldId id="945" r:id="rId12"/>
    <p:sldId id="946" r:id="rId13"/>
    <p:sldId id="947" r:id="rId14"/>
    <p:sldId id="923" r:id="rId15"/>
    <p:sldId id="767" r:id="rId16"/>
    <p:sldId id="74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21" autoAdjust="0"/>
    <p:restoredTop sz="94660"/>
  </p:normalViewPr>
  <p:slideViewPr>
    <p:cSldViewPr snapToGrid="0">
      <p:cViewPr varScale="1">
        <p:scale>
          <a:sx n="91" d="100"/>
          <a:sy n="91" d="100"/>
        </p:scale>
        <p:origin x="662" y="5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2025/10/23</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1009656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11</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2024/11/27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ー 2">
            <a:extLst>
              <a:ext uri="{FF2B5EF4-FFF2-40B4-BE49-F238E27FC236}">
                <a16:creationId xmlns:a16="http://schemas.microsoft.com/office/drawing/2014/main" id="{DDA67EA7-4BCD-4C0C-8448-F19CAB106370}"/>
              </a:ext>
            </a:extLst>
          </p:cNvPr>
          <p:cNvSpPr>
            <a:spLocks noGrp="1"/>
          </p:cNvSpPr>
          <p:nvPr>
            <p:ph type="ftr" sz="quarter" idx="14"/>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6EDC3200-90DF-4FAF-9DF6-C96E3DB12228}"/>
              </a:ext>
            </a:extLst>
          </p:cNvPr>
          <p:cNvSpPr>
            <a:spLocks noGrp="1"/>
          </p:cNvSpPr>
          <p:nvPr>
            <p:ph type="sldNum" sz="quarter" idx="15"/>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7" name="フッター プレースホルダー 6">
            <a:extLst>
              <a:ext uri="{FF2B5EF4-FFF2-40B4-BE49-F238E27FC236}">
                <a16:creationId xmlns:a16="http://schemas.microsoft.com/office/drawing/2014/main" id="{331AF37A-54CF-452F-BA97-AC316FA062DE}"/>
              </a:ext>
            </a:extLst>
          </p:cNvPr>
          <p:cNvSpPr>
            <a:spLocks noGrp="1"/>
          </p:cNvSpPr>
          <p:nvPr>
            <p:ph type="ftr" sz="quarter" idx="10"/>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5BE7DD17-AADE-4C84-BF50-F59943E57AF8}"/>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3" name="フッター プレースホルダー 2">
            <a:extLst>
              <a:ext uri="{FF2B5EF4-FFF2-40B4-BE49-F238E27FC236}">
                <a16:creationId xmlns:a16="http://schemas.microsoft.com/office/drawing/2014/main" id="{2E76925C-D4AE-4099-B9B2-38D1E0398CB2}"/>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D23860A5-C4A4-44F1-98F6-71168D128A70}"/>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
        <p:nvSpPr>
          <p:cNvPr id="3" name="フッター プレースホルダー 2">
            <a:extLst>
              <a:ext uri="{FF2B5EF4-FFF2-40B4-BE49-F238E27FC236}">
                <a16:creationId xmlns:a16="http://schemas.microsoft.com/office/drawing/2014/main" id="{E3E4985B-41C3-4B81-B162-0843B3F4E797}"/>
              </a:ext>
            </a:extLst>
          </p:cNvPr>
          <p:cNvSpPr>
            <a:spLocks noGrp="1"/>
          </p:cNvSpPr>
          <p:nvPr>
            <p:ph type="ftr" sz="quarter" idx="10"/>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6DC42A23-ABF4-4B0B-B677-7D0A5261D1F6}"/>
              </a:ext>
            </a:extLst>
          </p:cNvPr>
          <p:cNvSpPr>
            <a:spLocks noGrp="1"/>
          </p:cNvSpPr>
          <p:nvPr>
            <p:ph type="sldNum" sz="quarter" idx="11"/>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2024/11/27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 name="フッター プレースホルダー 1">
            <a:extLst>
              <a:ext uri="{FF2B5EF4-FFF2-40B4-BE49-F238E27FC236}">
                <a16:creationId xmlns:a16="http://schemas.microsoft.com/office/drawing/2014/main" id="{C287789A-0F27-444C-83BC-58074138C604}"/>
              </a:ext>
            </a:extLst>
          </p:cNvPr>
          <p:cNvSpPr>
            <a:spLocks noGrp="1"/>
          </p:cNvSpPr>
          <p:nvPr>
            <p:ph type="ftr" sz="quarter" idx="19"/>
          </p:nvPr>
        </p:nvSpPr>
        <p:spPr/>
        <p:txBody>
          <a:bodyPr/>
          <a:lstStyle/>
          <a:p>
            <a:r>
              <a:rPr lang="en-US"/>
              <a:t>Copyright © 2025 SystemEXE,Inc All Rights Reserved.</a:t>
            </a:r>
          </a:p>
        </p:txBody>
      </p:sp>
      <p:sp>
        <p:nvSpPr>
          <p:cNvPr id="21" name="スライド番号プレースホルダー 20">
            <a:extLst>
              <a:ext uri="{FF2B5EF4-FFF2-40B4-BE49-F238E27FC236}">
                <a16:creationId xmlns:a16="http://schemas.microsoft.com/office/drawing/2014/main" id="{84A40443-5346-4CA3-B1E2-0F46E56C54CE}"/>
              </a:ext>
            </a:extLst>
          </p:cNvPr>
          <p:cNvSpPr>
            <a:spLocks noGrp="1"/>
          </p:cNvSpPr>
          <p:nvPr>
            <p:ph type="sldNum" sz="quarter" idx="20"/>
          </p:nvPr>
        </p:nvSpPr>
        <p:spPr/>
        <p:txBody>
          <a:body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lang="ja-JP" altLang="en-US" dirty="0">
                <a:latin typeface="游明朝"/>
                <a:ea typeface="游明朝"/>
              </a:rPr>
              <a:t>正式</a:t>
            </a:r>
            <a:r>
              <a:rPr kumimoji="1" lang="ja-JP" altLang="en-US" sz="4400" dirty="0">
                <a:latin typeface="游明朝"/>
                <a:ea typeface="游明朝"/>
              </a:rPr>
              <a:t>お見積もり</a:t>
            </a:r>
            <a:r>
              <a:rPr kumimoji="1" lang="en-US" altLang="ja-JP" sz="2800" dirty="0">
                <a:latin typeface="游明朝"/>
                <a:ea typeface="游明朝"/>
              </a:rPr>
              <a:t>(</a:t>
            </a:r>
            <a:r>
              <a:rPr kumimoji="1" lang="ja-JP" altLang="en-US" sz="2800" dirty="0">
                <a:latin typeface="游明朝"/>
                <a:ea typeface="游明朝"/>
              </a:rPr>
              <a:t>第</a:t>
            </a:r>
            <a:r>
              <a:rPr kumimoji="1" lang="en-US" altLang="ja-JP" sz="2800" dirty="0">
                <a:latin typeface="游明朝"/>
                <a:ea typeface="游明朝"/>
              </a:rPr>
              <a:t>1.0</a:t>
            </a:r>
            <a:r>
              <a:rPr kumimoji="1" lang="ja-JP" altLang="en-US" sz="2800" dirty="0">
                <a:latin typeface="游明朝"/>
                <a:ea typeface="游明朝"/>
              </a:rPr>
              <a:t>版）</a:t>
            </a:r>
            <a:endParaRPr kumimoji="1" lang="ja-JP" altLang="en-US" sz="4400" dirty="0">
              <a:latin typeface="游明朝"/>
              <a:ea typeface="游明朝"/>
            </a:endParaRPr>
          </a:p>
        </p:txBody>
      </p:sp>
      <p:sp>
        <p:nvSpPr>
          <p:cNvPr id="4" name="サブタイトル 3"/>
          <p:cNvSpPr>
            <a:spLocks noGrp="1"/>
          </p:cNvSpPr>
          <p:nvPr>
            <p:ph type="subTitle" idx="1"/>
          </p:nvPr>
        </p:nvSpPr>
        <p:spPr>
          <a:xfrm>
            <a:off x="575999" y="2303365"/>
            <a:ext cx="9634800" cy="1392635"/>
          </a:xfrm>
        </p:spPr>
        <p:txBody>
          <a:bodyPr>
            <a:normAutofit/>
          </a:bodyPr>
          <a:lstStyle/>
          <a:p>
            <a:r>
              <a:rPr lang="ja-JP" altLang="en-US" sz="4000" dirty="0"/>
              <a:t>事務管理システム</a:t>
            </a:r>
            <a:r>
              <a:rPr kumimoji="1" lang="ja-JP" altLang="en-US" sz="4000" dirty="0"/>
              <a:t> 縮小版共通基盤移行</a:t>
            </a:r>
            <a:br>
              <a:rPr kumimoji="1" lang="en-US" altLang="ja-JP" sz="4000" dirty="0"/>
            </a:br>
            <a:r>
              <a:rPr kumimoji="1" lang="en-US" altLang="ja-JP" sz="4000" dirty="0"/>
              <a:t>(</a:t>
            </a:r>
            <a:r>
              <a:rPr kumimoji="1" lang="ja-JP" altLang="en-US" sz="4000" dirty="0"/>
              <a:t>開発フェーズ以降</a:t>
            </a:r>
            <a:r>
              <a:rPr kumimoji="1" lang="en-US" altLang="ja-JP" sz="4000" dirty="0"/>
              <a:t>)</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dirty="0"/>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ja-JP" altLang="en-US" dirty="0"/>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2025/10/24</a:t>
            </a:r>
            <a:endParaRPr lang="ja-JP" altLang="en-US" dirty="0"/>
          </a:p>
        </p:txBody>
      </p:sp>
      <p:sp>
        <p:nvSpPr>
          <p:cNvPr id="6" name="テキスト ボックス 5">
            <a:extLst>
              <a:ext uri="{FF2B5EF4-FFF2-40B4-BE49-F238E27FC236}">
                <a16:creationId xmlns:a16="http://schemas.microsoft.com/office/drawing/2014/main" id="{CBC1ADB9-7AAD-E69D-7BF3-10F54CD24F39}"/>
              </a:ext>
            </a:extLst>
          </p:cNvPr>
          <p:cNvSpPr txBox="1"/>
          <p:nvPr/>
        </p:nvSpPr>
        <p:spPr>
          <a:xfrm>
            <a:off x="8312893" y="371224"/>
            <a:ext cx="3783106" cy="307777"/>
          </a:xfrm>
          <a:prstGeom prst="rect">
            <a:avLst/>
          </a:prstGeom>
          <a:noFill/>
        </p:spPr>
        <p:txBody>
          <a:bodyPr wrap="square">
            <a:spAutoFit/>
          </a:bodyPr>
          <a:lstStyle/>
          <a:p>
            <a:pPr algn="r"/>
            <a:r>
              <a:rPr lang="ja-JP" altLang="en-US" sz="1400" dirty="0">
                <a:solidFill>
                  <a:schemeClr val="bg1"/>
                </a:solidFill>
                <a:latin typeface="游明朝" panose="02020400000000000000" pitchFamily="18" charset="-128"/>
                <a:ea typeface="游明朝" panose="02020400000000000000" pitchFamily="18" charset="-128"/>
              </a:rPr>
              <a:t>見積番号：</a:t>
            </a:r>
            <a:r>
              <a:rPr lang="en-US" altLang="ja-JP" sz="1400" dirty="0">
                <a:solidFill>
                  <a:schemeClr val="bg1"/>
                </a:solidFill>
                <a:latin typeface="游明朝" panose="02020400000000000000" pitchFamily="18" charset="-128"/>
                <a:ea typeface="游明朝" panose="02020400000000000000" pitchFamily="18" charset="-128"/>
              </a:rPr>
              <a:t>ES2025070212</a:t>
            </a:r>
            <a:endParaRPr lang="ja-JP" altLang="en-US" sz="1400" dirty="0">
              <a:solidFill>
                <a:schemeClr val="bg1"/>
              </a:solidFill>
              <a:latin typeface="游明朝" panose="02020400000000000000" pitchFamily="18" charset="-128"/>
              <a:ea typeface="游明朝" panose="02020400000000000000" pitchFamily="18" charset="-128"/>
            </a:endParaRPr>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１</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プロジェクトの背景と目的</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「事務管理システム」は、館林データセンター内の共通基盤上に構築されており</a:t>
            </a:r>
            <a:r>
              <a:rPr lang="en-US" altLang="ja-JP" dirty="0">
                <a:solidFill>
                  <a:srgbClr val="000000"/>
                </a:solidFill>
              </a:rPr>
              <a:t>2026</a:t>
            </a:r>
            <a:r>
              <a:rPr lang="ja-JP" altLang="en-US" dirty="0">
                <a:solidFill>
                  <a:srgbClr val="000000"/>
                </a:solidFill>
              </a:rPr>
              <a:t>年</a:t>
            </a:r>
            <a:r>
              <a:rPr lang="en-US" altLang="ja-JP" dirty="0">
                <a:solidFill>
                  <a:srgbClr val="000000"/>
                </a:solidFill>
              </a:rPr>
              <a:t>3</a:t>
            </a:r>
            <a:r>
              <a:rPr lang="ja-JP" altLang="en-US" dirty="0">
                <a:solidFill>
                  <a:srgbClr val="000000"/>
                </a:solidFill>
              </a:rPr>
              <a:t>月までに</a:t>
            </a:r>
            <a:r>
              <a:rPr lang="en-US" altLang="ja-JP" dirty="0">
                <a:solidFill>
                  <a:srgbClr val="000000"/>
                </a:solidFill>
              </a:rPr>
              <a:t>Azure</a:t>
            </a:r>
            <a:r>
              <a:rPr lang="ja-JP" altLang="en-US" dirty="0">
                <a:solidFill>
                  <a:srgbClr val="000000"/>
                </a:solidFill>
              </a:rPr>
              <a:t>環境の縮小共通基盤へ移行が必要となっている。</a:t>
            </a:r>
            <a:br>
              <a:rPr lang="ja-JP" altLang="en-US" dirty="0">
                <a:solidFill>
                  <a:srgbClr val="000000"/>
                </a:solidFill>
              </a:rPr>
            </a:br>
            <a:r>
              <a:rPr lang="ja-JP" altLang="en-US" dirty="0">
                <a:solidFill>
                  <a:srgbClr val="000000"/>
                </a:solidFill>
              </a:rPr>
              <a:t>そのため、事務管理システムを縮小共通基盤へ移行し、今後も継続してシステムの利用が行えるように　</a:t>
            </a:r>
            <a:br>
              <a:rPr lang="ja-JP" altLang="en-US" dirty="0">
                <a:solidFill>
                  <a:srgbClr val="000000"/>
                </a:solidFill>
              </a:rPr>
            </a:br>
            <a:r>
              <a:rPr lang="ja-JP" altLang="en-US" dirty="0">
                <a:solidFill>
                  <a:srgbClr val="000000"/>
                </a:solidFill>
              </a:rPr>
              <a:t>する。</a:t>
            </a: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3" name="フッター プレースホルダー 2">
            <a:extLst>
              <a:ext uri="{FF2B5EF4-FFF2-40B4-BE49-F238E27FC236}">
                <a16:creationId xmlns:a16="http://schemas.microsoft.com/office/drawing/2014/main" id="{79A58F11-0F81-48E9-8E39-1CF0F86551E3}"/>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① 縮小版共通基盤へのシステム資産移行</a:t>
            </a:r>
            <a:br>
              <a:rPr lang="en-US" altLang="ja-JP" dirty="0">
                <a:solidFill>
                  <a:srgbClr val="000000"/>
                </a:solidFill>
                <a:latin typeface="游ゴシック" panose="020B0400000000000000" pitchFamily="50" charset="-128"/>
                <a:ea typeface="游ゴシック" panose="020B0400000000000000" pitchFamily="50" charset="-128"/>
              </a:rPr>
            </a:br>
            <a:r>
              <a:rPr lang="en-US" altLang="ja-JP" dirty="0">
                <a:solidFill>
                  <a:srgbClr val="000000"/>
                </a:solidFill>
                <a:latin typeface="游ゴシック" panose="020B0400000000000000" pitchFamily="50" charset="-128"/>
                <a:ea typeface="游ゴシック" panose="020B0400000000000000" pitchFamily="50" charset="-128"/>
              </a:rPr>
              <a:t>     </a:t>
            </a:r>
            <a:r>
              <a:rPr lang="ja-JP" altLang="en-US" b="1" dirty="0">
                <a:solidFill>
                  <a:srgbClr val="000000"/>
                </a:solidFill>
              </a:rPr>
              <a:t>・縮小版共通基盤への事務管理システム資産移行及びアプリケーション構築、動作検証の実施</a:t>
            </a:r>
            <a:endParaRPr lang="en-US" altLang="ja-JP" b="1" dirty="0">
              <a:solidFill>
                <a:srgbClr val="000000"/>
              </a:solidFill>
              <a:latin typeface="游ゴシック" panose="020B0400000000000000" pitchFamily="50" charset="-128"/>
              <a:ea typeface="游ゴシック" panose="020B0400000000000000" pitchFamily="50" charset="-128"/>
            </a:endParaRPr>
          </a:p>
          <a:p>
            <a:endParaRPr lang="en-US" altLang="ja-JP" dirty="0">
              <a:solidFill>
                <a:srgbClr val="000000"/>
              </a:solidFill>
              <a:latin typeface="游ゴシック" panose="020B0400000000000000" pitchFamily="50" charset="-128"/>
              <a:ea typeface="游ゴシック" panose="020B0400000000000000" pitchFamily="50" charset="-128"/>
            </a:endParaRPr>
          </a:p>
        </p:txBody>
      </p:sp>
      <p:sp>
        <p:nvSpPr>
          <p:cNvPr id="4" name="スライド番号プレースホルダー 3">
            <a:extLst>
              <a:ext uri="{FF2B5EF4-FFF2-40B4-BE49-F238E27FC236}">
                <a16:creationId xmlns:a16="http://schemas.microsoft.com/office/drawing/2014/main" id="{E36D5197-48BF-11EF-104F-EA9B0896188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4952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endParaRPr>
          </a:p>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65EEC4D3-5ABA-8139-B7F4-9DB68620C1A2}"/>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館林</a:t>
            </a:r>
            <a:r>
              <a:rPr lang="en-US" altLang="ja-JP" sz="1600" b="1">
                <a:solidFill>
                  <a:schemeClr val="tx1"/>
                </a:solidFill>
              </a:rPr>
              <a:t>DC</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en-US" altLang="ja-JP">
                <a:latin typeface="游明朝"/>
                <a:ea typeface="游明朝"/>
              </a:rPr>
              <a:t>3. </a:t>
            </a:r>
            <a:r>
              <a:rPr lang="ja-JP" altLang="en-US">
                <a:latin typeface="游明朝"/>
                <a:ea typeface="游明朝"/>
              </a:rPr>
              <a:t>システム構成（</a:t>
            </a:r>
            <a:r>
              <a:rPr lang="en-US" altLang="ja-JP" err="1">
                <a:latin typeface="游明朝"/>
                <a:ea typeface="游明朝"/>
              </a:rPr>
              <a:t>AsIs</a:t>
            </a:r>
            <a:r>
              <a:rPr lang="ja-JP" altLang="en-US">
                <a:latin typeface="游明朝"/>
                <a:ea typeface="游明朝"/>
              </a:rPr>
              <a:t>）</a:t>
            </a:r>
            <a:endParaRPr kumimoji="1" lang="ja-JP" altLang="en-US">
              <a:latin typeface="游明朝"/>
              <a:ea typeface="游明朝"/>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0000000-0008-0000-0400-00005C000000}"/>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00000000-0008-0000-0400-000038010000}"/>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880536AC-B90E-A72E-D633-72F3D40011CB}"/>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D1D3F185-B5F4-089C-8A96-92C4F1990D4B}"/>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DCC182B0-C80F-6B32-266E-F9CCB20F34F4}"/>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8BC5F57-8C60-FDCE-65E5-D7F92374CC3C}"/>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172D4096-A9A9-9A0C-573F-14BE11605C1C}"/>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B70AEDE1-EFE5-B811-33C7-5DB1B3E86257}"/>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C57FEFA1-5D65-A4A9-0794-49DF021D5DA8}"/>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1820E758-1A7D-BD9F-3D94-08FDD4AD4DC8}"/>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19845CF7-AB7C-3ADD-021F-983E880795F6}"/>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3A5F1ED6-94AB-8779-9398-EFCEB3D8B1E8}"/>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EE9500F4-76B8-1DA7-691D-174E5DB5E880}"/>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8B1DEBF3-25EA-9EF8-A09C-A40FD36043E9}"/>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CD828C45-12FA-08AE-B9D9-25F5D5A64BA7}"/>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2F1041EE-FEDB-7DC3-96D0-AB77BD642C00}"/>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9CBBA942-A483-3DA5-DDD5-D11F1BC055AA}"/>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416314E3-AC2A-BBEC-03F2-7FCAAA890611}"/>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F1D3E336-D7EC-1A64-A7AE-8E66C7291CC2}"/>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07449EE4-5DA4-709A-D528-BF8E42E1D394}"/>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E09779EC-214A-CB78-B584-3CC46817B91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BEB57239-E5A9-A34C-3BDA-4ECBBEB0804F}"/>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064313D8-8FF1-B72E-FF73-794C382A46F1}"/>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3</a:t>
            </a:fld>
            <a:endParaRPr lang="en-US"/>
          </a:p>
        </p:txBody>
      </p:sp>
      <p:sp>
        <p:nvSpPr>
          <p:cNvPr id="5" name="Footer Placeholder 4">
            <a:extLst>
              <a:ext uri="{FF2B5EF4-FFF2-40B4-BE49-F238E27FC236}">
                <a16:creationId xmlns:a16="http://schemas.microsoft.com/office/drawing/2014/main" id="{E145A3F1-565D-70C9-1AD0-4F320265569E}"/>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8" name="Rectangle 92">
            <a:extLst>
              <a:ext uri="{FF2B5EF4-FFF2-40B4-BE49-F238E27FC236}">
                <a16:creationId xmlns:a16="http://schemas.microsoft.com/office/drawing/2014/main" id="{04AE45C5-DC93-52C1-42F6-E8ED2EB8231B}"/>
              </a:ext>
            </a:extLst>
          </p:cNvPr>
          <p:cNvSpPr>
            <a:spLocks noChangeArrowheads="1"/>
          </p:cNvSpPr>
          <p:nvPr/>
        </p:nvSpPr>
        <p:spPr bwMode="auto">
          <a:xfrm>
            <a:off x="8863841" y="177134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連携</a:t>
            </a:r>
            <a:r>
              <a:rPr lang="en-US" altLang="ja-JP" sz="1100" b="1" i="0" u="none" strike="noStrike" baseline="0">
                <a:solidFill>
                  <a:srgbClr val="000000"/>
                </a:solidFill>
                <a:latin typeface="ＭＳ Ｐゴシック"/>
                <a:ea typeface="ＭＳ Ｐゴシック"/>
              </a:rPr>
              <a:t>NAS</a:t>
            </a:r>
            <a:endParaRPr lang="ja-JP" altLang="en-US" sz="1100" b="1" i="0" u="none" strike="noStrike" baseline="0">
              <a:solidFill>
                <a:srgbClr val="000000"/>
              </a:solidFill>
              <a:latin typeface="ＭＳ Ｐゴシック"/>
              <a:ea typeface="ＭＳ Ｐゴシック"/>
            </a:endParaRPr>
          </a:p>
        </p:txBody>
      </p:sp>
      <p:sp>
        <p:nvSpPr>
          <p:cNvPr id="11" name="正方形/長方形 10">
            <a:extLst>
              <a:ext uri="{FF2B5EF4-FFF2-40B4-BE49-F238E27FC236}">
                <a16:creationId xmlns:a16="http://schemas.microsoft.com/office/drawing/2014/main" id="{FB7AE25A-C581-438E-8D74-D91E2759A3F0}"/>
              </a:ext>
            </a:extLst>
          </p:cNvPr>
          <p:cNvSpPr/>
          <p:nvPr/>
        </p:nvSpPr>
        <p:spPr>
          <a:xfrm>
            <a:off x="7394216" y="4682726"/>
            <a:ext cx="1227515" cy="47922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pPr algn="ctr"/>
            <a:endParaRPr kumimoji="1" lang="ja-JP" altLang="en-US">
              <a:latin typeface="+mn-ea"/>
            </a:endParaRPr>
          </a:p>
        </p:txBody>
      </p:sp>
      <p:sp>
        <p:nvSpPr>
          <p:cNvPr id="14" name="吹き出し: 線 13">
            <a:extLst>
              <a:ext uri="{FF2B5EF4-FFF2-40B4-BE49-F238E27FC236}">
                <a16:creationId xmlns:a16="http://schemas.microsoft.com/office/drawing/2014/main" id="{5BE5F949-2889-41FF-9785-5A8E7B8F567C}"/>
              </a:ext>
            </a:extLst>
          </p:cNvPr>
          <p:cNvSpPr/>
          <p:nvPr/>
        </p:nvSpPr>
        <p:spPr>
          <a:xfrm>
            <a:off x="8052238" y="3424256"/>
            <a:ext cx="1314556" cy="701088"/>
          </a:xfrm>
          <a:prstGeom prst="borderCallout1">
            <a:avLst>
              <a:gd name="adj1" fmla="val 108602"/>
              <a:gd name="adj2" fmla="val 29291"/>
              <a:gd name="adj3" fmla="val 167761"/>
              <a:gd name="adj4" fmla="val -21315"/>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r>
              <a:rPr kumimoji="1" lang="en-US" altLang="ja-JP" sz="1200" b="1" dirty="0">
                <a:solidFill>
                  <a:sysClr val="windowText" lastClr="000000"/>
                </a:solidFill>
                <a:latin typeface="+mn-ea"/>
              </a:rPr>
              <a:t>※</a:t>
            </a:r>
            <a:r>
              <a:rPr kumimoji="1" lang="ja-JP" altLang="en-US" sz="1200" b="1" dirty="0">
                <a:solidFill>
                  <a:sysClr val="windowText" lastClr="000000"/>
                </a:solidFill>
                <a:latin typeface="+mn-ea"/>
              </a:rPr>
              <a:t>連携</a:t>
            </a:r>
            <a:r>
              <a:rPr kumimoji="1" lang="en-US" altLang="ja-JP" sz="1200" b="1" dirty="0">
                <a:solidFill>
                  <a:sysClr val="windowText" lastClr="000000"/>
                </a:solidFill>
                <a:latin typeface="+mn-ea"/>
              </a:rPr>
              <a:t>NAS</a:t>
            </a:r>
            <a:r>
              <a:rPr kumimoji="1" lang="ja-JP" altLang="en-US" sz="1200" b="1" dirty="0">
                <a:solidFill>
                  <a:sysClr val="windowText" lastClr="000000"/>
                </a:solidFill>
                <a:latin typeface="+mn-ea"/>
              </a:rPr>
              <a:t>は</a:t>
            </a:r>
            <a:endParaRPr kumimoji="1" lang="en-US" altLang="ja-JP" sz="1200" b="1" dirty="0">
              <a:solidFill>
                <a:sysClr val="windowText" lastClr="000000"/>
              </a:solidFill>
              <a:latin typeface="+mn-ea"/>
            </a:endParaRPr>
          </a:p>
          <a:p>
            <a:r>
              <a:rPr kumimoji="1" lang="en-US" altLang="ja-JP" sz="1200" b="1" dirty="0">
                <a:solidFill>
                  <a:sysClr val="windowText" lastClr="000000"/>
                </a:solidFill>
                <a:latin typeface="+mn-ea"/>
              </a:rPr>
              <a:t>10/19</a:t>
            </a:r>
            <a:r>
              <a:rPr kumimoji="1" lang="ja-JP" altLang="en-US" sz="1200" b="1" dirty="0">
                <a:solidFill>
                  <a:sysClr val="windowText" lastClr="000000"/>
                </a:solidFill>
                <a:latin typeface="+mn-ea"/>
              </a:rPr>
              <a:t>移行済</a:t>
            </a:r>
          </a:p>
        </p:txBody>
      </p:sp>
      <p:sp>
        <p:nvSpPr>
          <p:cNvPr id="15" name="吹き出し: 線 14">
            <a:extLst>
              <a:ext uri="{FF2B5EF4-FFF2-40B4-BE49-F238E27FC236}">
                <a16:creationId xmlns:a16="http://schemas.microsoft.com/office/drawing/2014/main" id="{C06C355D-419D-4016-95BE-87500F212723}"/>
              </a:ext>
            </a:extLst>
          </p:cNvPr>
          <p:cNvSpPr/>
          <p:nvPr/>
        </p:nvSpPr>
        <p:spPr>
          <a:xfrm>
            <a:off x="9495042" y="2418890"/>
            <a:ext cx="1319636" cy="696008"/>
          </a:xfrm>
          <a:prstGeom prst="borderCallout1">
            <a:avLst>
              <a:gd name="adj1" fmla="val -8041"/>
              <a:gd name="adj2" fmla="val 62446"/>
              <a:gd name="adj3" fmla="val -24659"/>
              <a:gd name="adj4" fmla="val 6130"/>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defTabSz="457200" rtl="0" eaLnBrk="1" latinLnBrk="0" hangingPunct="1">
              <a:defRPr sz="1800" kern="1200">
                <a:solidFill>
                  <a:schemeClr val="lt1"/>
                </a:solidFill>
                <a:latin typeface="+mn-lt"/>
                <a:ea typeface="+mn-ea"/>
                <a:cs typeface="+mn-cs"/>
              </a:defRPr>
            </a:lvl1pPr>
            <a:lvl2pPr marL="457200" indent="0" algn="l" defTabSz="457200" rtl="0" eaLnBrk="1" latinLnBrk="0" hangingPunct="1">
              <a:defRPr sz="1800" kern="1200">
                <a:solidFill>
                  <a:schemeClr val="lt1"/>
                </a:solidFill>
                <a:latin typeface="+mn-lt"/>
                <a:ea typeface="+mn-ea"/>
                <a:cs typeface="+mn-cs"/>
              </a:defRPr>
            </a:lvl2pPr>
            <a:lvl3pPr marL="914400" indent="0" algn="l" defTabSz="457200" rtl="0" eaLnBrk="1" latinLnBrk="0" hangingPunct="1">
              <a:defRPr sz="1800" kern="1200">
                <a:solidFill>
                  <a:schemeClr val="lt1"/>
                </a:solidFill>
                <a:latin typeface="+mn-lt"/>
                <a:ea typeface="+mn-ea"/>
                <a:cs typeface="+mn-cs"/>
              </a:defRPr>
            </a:lvl3pPr>
            <a:lvl4pPr marL="1371600" indent="0" algn="l" defTabSz="457200" rtl="0" eaLnBrk="1" latinLnBrk="0" hangingPunct="1">
              <a:defRPr sz="1800" kern="1200">
                <a:solidFill>
                  <a:schemeClr val="lt1"/>
                </a:solidFill>
                <a:latin typeface="+mn-lt"/>
                <a:ea typeface="+mn-ea"/>
                <a:cs typeface="+mn-cs"/>
              </a:defRPr>
            </a:lvl4pPr>
            <a:lvl5pPr marL="1828800" indent="0" algn="l" defTabSz="457200" rtl="0" eaLnBrk="1" latinLnBrk="0" hangingPunct="1">
              <a:defRPr sz="1800" kern="1200">
                <a:solidFill>
                  <a:schemeClr val="lt1"/>
                </a:solidFill>
                <a:latin typeface="+mn-lt"/>
                <a:ea typeface="+mn-ea"/>
                <a:cs typeface="+mn-cs"/>
              </a:defRPr>
            </a:lvl5pPr>
            <a:lvl6pPr marL="2286000" indent="0" algn="l" defTabSz="457200" rtl="0" eaLnBrk="1" latinLnBrk="0" hangingPunct="1">
              <a:defRPr sz="1800" kern="1200">
                <a:solidFill>
                  <a:schemeClr val="lt1"/>
                </a:solidFill>
                <a:latin typeface="+mn-lt"/>
                <a:ea typeface="+mn-ea"/>
                <a:cs typeface="+mn-cs"/>
              </a:defRPr>
            </a:lvl6pPr>
            <a:lvl7pPr marL="2743200" indent="0" algn="l" defTabSz="457200" rtl="0" eaLnBrk="1" latinLnBrk="0" hangingPunct="1">
              <a:defRPr sz="1800" kern="1200">
                <a:solidFill>
                  <a:schemeClr val="lt1"/>
                </a:solidFill>
                <a:latin typeface="+mn-lt"/>
                <a:ea typeface="+mn-ea"/>
                <a:cs typeface="+mn-cs"/>
              </a:defRPr>
            </a:lvl7pPr>
            <a:lvl8pPr marL="3200400" indent="0" algn="l" defTabSz="457200" rtl="0" eaLnBrk="1" latinLnBrk="0" hangingPunct="1">
              <a:defRPr sz="1800" kern="1200">
                <a:solidFill>
                  <a:schemeClr val="lt1"/>
                </a:solidFill>
                <a:latin typeface="+mn-lt"/>
                <a:ea typeface="+mn-ea"/>
                <a:cs typeface="+mn-cs"/>
              </a:defRPr>
            </a:lvl8pPr>
            <a:lvl9pPr marL="3657600" indent="0" algn="l" defTabSz="457200" rtl="0" eaLnBrk="1" latinLnBrk="0" hangingPunct="1">
              <a:defRPr sz="1800" kern="1200">
                <a:solidFill>
                  <a:schemeClr val="lt1"/>
                </a:solidFill>
                <a:latin typeface="+mn-lt"/>
                <a:ea typeface="+mn-ea"/>
                <a:cs typeface="+mn-cs"/>
              </a:defRPr>
            </a:lvl9pPr>
          </a:lstStyle>
          <a:p>
            <a:r>
              <a:rPr kumimoji="1" lang="en-US" altLang="ja-JP" sz="1200" b="1">
                <a:solidFill>
                  <a:sysClr val="windowText" lastClr="000000"/>
                </a:solidFill>
                <a:latin typeface="+mn-ea"/>
              </a:rPr>
              <a:t>※</a:t>
            </a:r>
            <a:r>
              <a:rPr kumimoji="1" lang="ja-JP" altLang="en-US" sz="1200" b="1">
                <a:solidFill>
                  <a:sysClr val="windowText" lastClr="000000"/>
                </a:solidFill>
                <a:latin typeface="+mn-ea"/>
              </a:rPr>
              <a:t>帳票</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en-US" altLang="ja-JP" sz="1200" b="1">
                <a:solidFill>
                  <a:sysClr val="windowText" lastClr="000000"/>
                </a:solidFill>
                <a:latin typeface="+mn-ea"/>
              </a:rPr>
              <a:t>11/16</a:t>
            </a:r>
            <a:r>
              <a:rPr kumimoji="1" lang="ja-JP" altLang="en-US" sz="1200" b="1">
                <a:solidFill>
                  <a:sysClr val="windowText" lastClr="000000"/>
                </a:solidFill>
                <a:latin typeface="+mn-ea"/>
              </a:rPr>
              <a:t>移行予定</a:t>
            </a:r>
          </a:p>
        </p:txBody>
      </p:sp>
    </p:spTree>
    <p:extLst>
      <p:ext uri="{BB962C8B-B14F-4D97-AF65-F5344CB8AC3E}">
        <p14:creationId xmlns:p14="http://schemas.microsoft.com/office/powerpoint/2010/main" val="8076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932-253F-5203-F0E7-C66058B3CA65}"/>
            </a:ext>
          </a:extLst>
        </p:cNvPr>
        <p:cNvGrpSpPr/>
        <p:nvPr/>
      </p:nvGrpSpPr>
      <p:grpSpPr>
        <a:xfrm>
          <a:off x="0" y="0"/>
          <a:ext cx="0" cy="0"/>
          <a:chOff x="0" y="0"/>
          <a:chExt cx="0" cy="0"/>
        </a:xfrm>
      </p:grpSpPr>
      <p:sp>
        <p:nvSpPr>
          <p:cNvPr id="76" name="正方形/長方形 75">
            <a:extLst>
              <a:ext uri="{FF2B5EF4-FFF2-40B4-BE49-F238E27FC236}">
                <a16:creationId xmlns:a16="http://schemas.microsoft.com/office/drawing/2014/main" id="{83192845-2E3B-B195-123F-A9F99A512C32}"/>
              </a:ext>
            </a:extLst>
          </p:cNvPr>
          <p:cNvSpPr/>
          <p:nvPr/>
        </p:nvSpPr>
        <p:spPr>
          <a:xfrm>
            <a:off x="7109614" y="766597"/>
            <a:ext cx="4456614" cy="4564125"/>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endParaRPr>
          </a:p>
        </p:txBody>
      </p:sp>
      <p:sp>
        <p:nvSpPr>
          <p:cNvPr id="48" name="正方形/長方形 47">
            <a:extLst>
              <a:ext uri="{FF2B5EF4-FFF2-40B4-BE49-F238E27FC236}">
                <a16:creationId xmlns:a16="http://schemas.microsoft.com/office/drawing/2014/main" id="{F6D74D77-6F8B-8EC2-A124-009BFA951686}"/>
              </a:ext>
            </a:extLst>
          </p:cNvPr>
          <p:cNvSpPr/>
          <p:nvPr/>
        </p:nvSpPr>
        <p:spPr>
          <a:xfrm>
            <a:off x="10128582" y="4368878"/>
            <a:ext cx="1444953" cy="961844"/>
          </a:xfrm>
          <a:prstGeom prst="rect">
            <a:avLst/>
          </a:prstGeom>
          <a:solidFill>
            <a:schemeClr val="bg2"/>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社外？</a:t>
            </a:r>
          </a:p>
        </p:txBody>
      </p:sp>
      <p:sp>
        <p:nvSpPr>
          <p:cNvPr id="73" name="正方形/長方形 72">
            <a:extLst>
              <a:ext uri="{FF2B5EF4-FFF2-40B4-BE49-F238E27FC236}">
                <a16:creationId xmlns:a16="http://schemas.microsoft.com/office/drawing/2014/main" id="{D304EEF0-F7FC-A48B-70CB-7F3065D9E091}"/>
              </a:ext>
            </a:extLst>
          </p:cNvPr>
          <p:cNvSpPr/>
          <p:nvPr/>
        </p:nvSpPr>
        <p:spPr>
          <a:xfrm>
            <a:off x="576000" y="766598"/>
            <a:ext cx="6539754" cy="5675373"/>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rPr>
              <a:t>Azure</a:t>
            </a:r>
            <a:endParaRPr lang="ja-JP" altLang="en-US" sz="1600" b="1">
              <a:solidFill>
                <a:schemeClr val="tx1"/>
              </a:solidFill>
            </a:endParaRPr>
          </a:p>
        </p:txBody>
      </p:sp>
      <p:sp>
        <p:nvSpPr>
          <p:cNvPr id="147" name="正方形/長方形 146">
            <a:extLst>
              <a:ext uri="{FF2B5EF4-FFF2-40B4-BE49-F238E27FC236}">
                <a16:creationId xmlns:a16="http://schemas.microsoft.com/office/drawing/2014/main" id="{FBA2C46B-D1CD-4542-3AF1-24E7E5011A16}"/>
              </a:ext>
            </a:extLst>
          </p:cNvPr>
          <p:cNvSpPr/>
          <p:nvPr/>
        </p:nvSpPr>
        <p:spPr>
          <a:xfrm>
            <a:off x="7124016" y="5315605"/>
            <a:ext cx="4456614" cy="1126366"/>
          </a:xfrm>
          <a:prstGeom prst="rect">
            <a:avLst/>
          </a:prstGeom>
          <a:solidFill>
            <a:schemeClr val="accent3">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各所</a:t>
            </a:r>
          </a:p>
        </p:txBody>
      </p:sp>
      <p:sp>
        <p:nvSpPr>
          <p:cNvPr id="116" name="正方形/長方形 115">
            <a:extLst>
              <a:ext uri="{FF2B5EF4-FFF2-40B4-BE49-F238E27FC236}">
                <a16:creationId xmlns:a16="http://schemas.microsoft.com/office/drawing/2014/main" id="{EDA943F8-99BD-43D6-29FD-455DB5F01D3F}"/>
              </a:ext>
            </a:extLst>
          </p:cNvPr>
          <p:cNvSpPr/>
          <p:nvPr/>
        </p:nvSpPr>
        <p:spPr>
          <a:xfrm>
            <a:off x="7277213" y="4427754"/>
            <a:ext cx="2605118" cy="8677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連携基盤</a:t>
            </a:r>
          </a:p>
        </p:txBody>
      </p:sp>
      <p:sp>
        <p:nvSpPr>
          <p:cNvPr id="64" name="正方形/長方形 63">
            <a:extLst>
              <a:ext uri="{FF2B5EF4-FFF2-40B4-BE49-F238E27FC236}">
                <a16:creationId xmlns:a16="http://schemas.microsoft.com/office/drawing/2014/main" id="{EF4072FF-102F-F7E3-A4EC-BEE3C901041B}"/>
              </a:ext>
            </a:extLst>
          </p:cNvPr>
          <p:cNvSpPr/>
          <p:nvPr/>
        </p:nvSpPr>
        <p:spPr>
          <a:xfrm>
            <a:off x="4167494" y="5567327"/>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バッチ実行サーバ</a:t>
            </a:r>
          </a:p>
        </p:txBody>
      </p:sp>
      <p:sp>
        <p:nvSpPr>
          <p:cNvPr id="105" name="正方形/長方形 104">
            <a:extLst>
              <a:ext uri="{FF2B5EF4-FFF2-40B4-BE49-F238E27FC236}">
                <a16:creationId xmlns:a16="http://schemas.microsoft.com/office/drawing/2014/main" id="{D8BC6BEB-FCC7-E234-EA3F-0201771013D8}"/>
              </a:ext>
            </a:extLst>
          </p:cNvPr>
          <p:cNvSpPr/>
          <p:nvPr/>
        </p:nvSpPr>
        <p:spPr>
          <a:xfrm>
            <a:off x="4291841" y="5840119"/>
            <a:ext cx="2442882" cy="3496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63" name="正方形/長方形 62">
            <a:extLst>
              <a:ext uri="{FF2B5EF4-FFF2-40B4-BE49-F238E27FC236}">
                <a16:creationId xmlns:a16="http://schemas.microsoft.com/office/drawing/2014/main" id="{C8D96522-CA5D-48A2-CED4-25C4385EE2E2}"/>
              </a:ext>
            </a:extLst>
          </p:cNvPr>
          <p:cNvSpPr/>
          <p:nvPr/>
        </p:nvSpPr>
        <p:spPr>
          <a:xfrm>
            <a:off x="4157372" y="2820387"/>
            <a:ext cx="2846636" cy="2636911"/>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バッチスケジュールサーバ</a:t>
            </a:r>
          </a:p>
        </p:txBody>
      </p:sp>
      <p:sp>
        <p:nvSpPr>
          <p:cNvPr id="104" name="正方形/長方形 103">
            <a:extLst>
              <a:ext uri="{FF2B5EF4-FFF2-40B4-BE49-F238E27FC236}">
                <a16:creationId xmlns:a16="http://schemas.microsoft.com/office/drawing/2014/main" id="{0C423093-299E-8ADD-5C38-EAEC773110C5}"/>
              </a:ext>
            </a:extLst>
          </p:cNvPr>
          <p:cNvSpPr/>
          <p:nvPr/>
        </p:nvSpPr>
        <p:spPr>
          <a:xfrm>
            <a:off x="4300932" y="3142763"/>
            <a:ext cx="2442882" cy="2211462"/>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3" name="正方形/長方形 2">
            <a:extLst>
              <a:ext uri="{FF2B5EF4-FFF2-40B4-BE49-F238E27FC236}">
                <a16:creationId xmlns:a16="http://schemas.microsoft.com/office/drawing/2014/main" id="{4E1D74E8-3320-0D90-F9D6-1A147D66F052}"/>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Oracle</a:t>
            </a:r>
            <a:endParaRPr lang="ja-JP" altLang="en-US" sz="1600" b="1">
              <a:solidFill>
                <a:schemeClr val="tx1"/>
              </a:solidFill>
            </a:endParaRPr>
          </a:p>
        </p:txBody>
      </p:sp>
      <p:sp>
        <p:nvSpPr>
          <p:cNvPr id="98" name="正方形/長方形 97">
            <a:extLst>
              <a:ext uri="{FF2B5EF4-FFF2-40B4-BE49-F238E27FC236}">
                <a16:creationId xmlns:a16="http://schemas.microsoft.com/office/drawing/2014/main" id="{A4400B3C-340E-9C1F-CFF0-40EAE5513685}"/>
              </a:ext>
            </a:extLst>
          </p:cNvPr>
          <p:cNvSpPr/>
          <p:nvPr/>
        </p:nvSpPr>
        <p:spPr>
          <a:xfrm>
            <a:off x="828427" y="3052744"/>
            <a:ext cx="1866687" cy="313933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57" name="正方形/長方形 56">
            <a:extLst>
              <a:ext uri="{FF2B5EF4-FFF2-40B4-BE49-F238E27FC236}">
                <a16:creationId xmlns:a16="http://schemas.microsoft.com/office/drawing/2014/main" id="{75A2E4FD-1991-58B3-0AFA-42124F8E4E8A}"/>
              </a:ext>
            </a:extLst>
          </p:cNvPr>
          <p:cNvSpPr/>
          <p:nvPr/>
        </p:nvSpPr>
        <p:spPr>
          <a:xfrm>
            <a:off x="4206730" y="1132151"/>
            <a:ext cx="2723031" cy="1605843"/>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共通</a:t>
            </a:r>
            <a:r>
              <a:rPr lang="en-US" altLang="ja-JP" sz="1600" b="1">
                <a:solidFill>
                  <a:schemeClr val="tx1"/>
                </a:solidFill>
              </a:rPr>
              <a:t>AP</a:t>
            </a:r>
            <a:r>
              <a:rPr lang="ja-JP" altLang="en-US" sz="1600" b="1">
                <a:solidFill>
                  <a:schemeClr val="tx1"/>
                </a:solidFill>
              </a:rPr>
              <a:t>サーバ</a:t>
            </a:r>
          </a:p>
        </p:txBody>
      </p:sp>
      <p:sp>
        <p:nvSpPr>
          <p:cNvPr id="2" name="タイトル 1">
            <a:extLst>
              <a:ext uri="{FF2B5EF4-FFF2-40B4-BE49-F238E27FC236}">
                <a16:creationId xmlns:a16="http://schemas.microsoft.com/office/drawing/2014/main" id="{71F486B9-888B-23E5-C188-0D6A627BD0A8}"/>
              </a:ext>
            </a:extLst>
          </p:cNvPr>
          <p:cNvSpPr>
            <a:spLocks noGrp="1"/>
          </p:cNvSpPr>
          <p:nvPr>
            <p:ph type="title"/>
          </p:nvPr>
        </p:nvSpPr>
        <p:spPr/>
        <p:txBody>
          <a:bodyPr/>
          <a:lstStyle/>
          <a:p>
            <a:r>
              <a:rPr lang="en-US" altLang="ja-JP" dirty="0">
                <a:latin typeface="游明朝"/>
                <a:ea typeface="游明朝"/>
              </a:rPr>
              <a:t>3. </a:t>
            </a:r>
            <a:r>
              <a:rPr lang="ja-JP" altLang="en-US" dirty="0">
                <a:latin typeface="游明朝"/>
                <a:ea typeface="游明朝"/>
              </a:rPr>
              <a:t>システム構成（</a:t>
            </a:r>
            <a:r>
              <a:rPr lang="en-US" altLang="ja-JP" dirty="0" err="1">
                <a:latin typeface="游明朝"/>
                <a:ea typeface="游明朝"/>
              </a:rPr>
              <a:t>ToBe</a:t>
            </a:r>
            <a:r>
              <a:rPr lang="ja-JP" altLang="en-US" dirty="0">
                <a:latin typeface="游明朝"/>
                <a:ea typeface="游明朝"/>
              </a:rPr>
              <a:t>） ① 縮小版共通基盤へのシステム資産移行</a:t>
            </a:r>
            <a:endParaRPr kumimoji="1" lang="ja-JP" altLang="en-US" dirty="0">
              <a:latin typeface="游明朝"/>
              <a:ea typeface="游明朝"/>
            </a:endParaRPr>
          </a:p>
        </p:txBody>
      </p:sp>
      <p:sp>
        <p:nvSpPr>
          <p:cNvPr id="6" name="フローチャート : 磁気ディスク 66">
            <a:extLst>
              <a:ext uri="{FF2B5EF4-FFF2-40B4-BE49-F238E27FC236}">
                <a16:creationId xmlns:a16="http://schemas.microsoft.com/office/drawing/2014/main" id="{63B62DB9-46C7-D09F-A24E-DFE1E03A3142}"/>
              </a:ext>
            </a:extLst>
          </p:cNvPr>
          <p:cNvSpPr/>
          <p:nvPr/>
        </p:nvSpPr>
        <p:spPr>
          <a:xfrm>
            <a:off x="1198294" y="2036302"/>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rPr>
              <a:t>ロール</a:t>
            </a:r>
            <a:endParaRPr kumimoji="1" lang="en-US" altLang="ja-JP" sz="800">
              <a:solidFill>
                <a:sysClr val="windowText" lastClr="000000"/>
              </a:solidFill>
            </a:endParaRPr>
          </a:p>
          <a:p>
            <a:pPr algn="ctr"/>
            <a:r>
              <a:rPr kumimoji="1" lang="ja-JP" altLang="en-US" sz="800">
                <a:solidFill>
                  <a:sysClr val="windowText" lastClr="000000"/>
                </a:solidFill>
              </a:rPr>
              <a:t>ユーザー情報</a:t>
            </a:r>
          </a:p>
        </p:txBody>
      </p:sp>
      <p:sp>
        <p:nvSpPr>
          <p:cNvPr id="9" name="正方形/長方形 8">
            <a:extLst>
              <a:ext uri="{FF2B5EF4-FFF2-40B4-BE49-F238E27FC236}">
                <a16:creationId xmlns:a16="http://schemas.microsoft.com/office/drawing/2014/main" id="{12C915E9-AD87-AA1D-6304-82EB8F09C497}"/>
              </a:ext>
            </a:extLst>
          </p:cNvPr>
          <p:cNvSpPr/>
          <p:nvPr/>
        </p:nvSpPr>
        <p:spPr>
          <a:xfrm>
            <a:off x="4319866" y="1503775"/>
            <a:ext cx="2442882" cy="99630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endParaRPr>
          </a:p>
        </p:txBody>
      </p:sp>
      <p:sp>
        <p:nvSpPr>
          <p:cNvPr id="10" name="Rectangle 92">
            <a:extLst>
              <a:ext uri="{FF2B5EF4-FFF2-40B4-BE49-F238E27FC236}">
                <a16:creationId xmlns:a16="http://schemas.microsoft.com/office/drawing/2014/main" id="{C1F875C1-D034-4CB4-A44B-48BCFFCF5661}"/>
              </a:ext>
            </a:extLst>
          </p:cNvPr>
          <p:cNvSpPr>
            <a:spLocks noChangeArrowheads="1"/>
          </p:cNvSpPr>
          <p:nvPr/>
        </p:nvSpPr>
        <p:spPr bwMode="auto">
          <a:xfrm>
            <a:off x="4555189" y="1728871"/>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b="1"/>
              <a:t>事務管理</a:t>
            </a:r>
            <a:r>
              <a:rPr lang="ja-JP" altLang="en-US" sz="1100" b="1">
                <a:effectLst/>
                <a:latin typeface="+mn-lt"/>
                <a:ea typeface="+mn-ea"/>
                <a:cs typeface="+mn-cs"/>
              </a:rPr>
              <a:t>システム</a:t>
            </a:r>
            <a:endParaRPr lang="ja-JP" altLang="ja-JP" sz="1000">
              <a:effectLst/>
            </a:endParaRPr>
          </a:p>
        </p:txBody>
      </p:sp>
      <p:sp>
        <p:nvSpPr>
          <p:cNvPr id="12" name="テキスト ボックス 82">
            <a:extLst>
              <a:ext uri="{FF2B5EF4-FFF2-40B4-BE49-F238E27FC236}">
                <a16:creationId xmlns:a16="http://schemas.microsoft.com/office/drawing/2014/main" id="{D35E794A-99BE-2A4B-11D0-D882E26891F7}"/>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（認証基盤スキーマ）</a:t>
            </a:r>
            <a:endParaRPr kumimoji="1" lang="en-US" altLang="ja-JP" sz="900"/>
          </a:p>
        </p:txBody>
      </p:sp>
      <p:sp>
        <p:nvSpPr>
          <p:cNvPr id="18" name="テキスト ボックス 167">
            <a:extLst>
              <a:ext uri="{FF2B5EF4-FFF2-40B4-BE49-F238E27FC236}">
                <a16:creationId xmlns:a16="http://schemas.microsoft.com/office/drawing/2014/main" id="{20C0AD38-9058-856E-2D31-B2E254DA4DD0}"/>
              </a:ext>
            </a:extLst>
          </p:cNvPr>
          <p:cNvSpPr txBox="1"/>
          <p:nvPr/>
        </p:nvSpPr>
        <p:spPr>
          <a:xfrm>
            <a:off x="4571993" y="3226517"/>
            <a:ext cx="1815353" cy="301831"/>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ドメイン停止・起動</a:t>
            </a:r>
            <a:endParaRPr kumimoji="1" lang="en-US" altLang="ja-JP" sz="900"/>
          </a:p>
        </p:txBody>
      </p:sp>
      <p:sp>
        <p:nvSpPr>
          <p:cNvPr id="19" name="テキスト ボックス 201">
            <a:extLst>
              <a:ext uri="{FF2B5EF4-FFF2-40B4-BE49-F238E27FC236}">
                <a16:creationId xmlns:a16="http://schemas.microsoft.com/office/drawing/2014/main" id="{F484F7E6-78C4-AAEA-3CF4-41361A47CC62}"/>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（事務管理システムスキーマ）</a:t>
            </a:r>
            <a:endParaRPr kumimoji="1" lang="en-US" altLang="ja-JP" sz="900"/>
          </a:p>
        </p:txBody>
      </p:sp>
      <p:cxnSp>
        <p:nvCxnSpPr>
          <p:cNvPr id="22" name="カギ線コネクタ 219">
            <a:extLst>
              <a:ext uri="{FF2B5EF4-FFF2-40B4-BE49-F238E27FC236}">
                <a16:creationId xmlns:a16="http://schemas.microsoft.com/office/drawing/2014/main" id="{BE13253F-9502-A180-E94A-59EF3126EB89}"/>
              </a:ext>
            </a:extLst>
          </p:cNvPr>
          <p:cNvCxnSpPr>
            <a:cxnSpLocks/>
            <a:stCxn id="92" idx="2"/>
            <a:endCxn id="9" idx="1"/>
          </p:cNvCxnSpPr>
          <p:nvPr/>
        </p:nvCxnSpPr>
        <p:spPr>
          <a:xfrm rot="16200000" flipH="1">
            <a:off x="3881166" y="1563227"/>
            <a:ext cx="208435" cy="668966"/>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427D639D-1329-9BE0-64F3-434E16A2E646}"/>
              </a:ext>
            </a:extLst>
          </p:cNvPr>
          <p:cNvCxnSpPr>
            <a:cxnSpLocks/>
            <a:stCxn id="6" idx="4"/>
            <a:endCxn id="92" idx="1"/>
          </p:cNvCxnSpPr>
          <p:nvPr/>
        </p:nvCxnSpPr>
        <p:spPr>
          <a:xfrm flipV="1">
            <a:off x="2150795" y="1530513"/>
            <a:ext cx="985553" cy="95962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431A6231-3AB4-95BB-7B82-BCF5CD4DEB5D}"/>
              </a:ext>
            </a:extLst>
          </p:cNvPr>
          <p:cNvSpPr txBox="1"/>
          <p:nvPr/>
        </p:nvSpPr>
        <p:spPr>
          <a:xfrm>
            <a:off x="4601806" y="449979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出クレ送信</a:t>
            </a:r>
            <a:endParaRPr kumimoji="1" lang="en-US" altLang="ja-JP" sz="900"/>
          </a:p>
        </p:txBody>
      </p:sp>
      <p:sp>
        <p:nvSpPr>
          <p:cNvPr id="25" name="テキスト ボックス 115">
            <a:extLst>
              <a:ext uri="{FF2B5EF4-FFF2-40B4-BE49-F238E27FC236}">
                <a16:creationId xmlns:a16="http://schemas.microsoft.com/office/drawing/2014/main" id="{F48E1BD8-1A33-15C6-2146-2244857770F5}"/>
              </a:ext>
            </a:extLst>
          </p:cNvPr>
          <p:cNvSpPr txBox="1"/>
          <p:nvPr/>
        </p:nvSpPr>
        <p:spPr>
          <a:xfrm>
            <a:off x="4605606" y="428211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全所メール送信</a:t>
            </a:r>
            <a:endParaRPr kumimoji="1" lang="en-US" altLang="ja-JP" sz="900"/>
          </a:p>
        </p:txBody>
      </p:sp>
      <p:sp>
        <p:nvSpPr>
          <p:cNvPr id="26" name="テキスト ボックス 116">
            <a:extLst>
              <a:ext uri="{FF2B5EF4-FFF2-40B4-BE49-F238E27FC236}">
                <a16:creationId xmlns:a16="http://schemas.microsoft.com/office/drawing/2014/main" id="{71539410-843E-5047-F93D-B7582D4AF634}"/>
              </a:ext>
            </a:extLst>
          </p:cNvPr>
          <p:cNvSpPr txBox="1"/>
          <p:nvPr/>
        </p:nvSpPr>
        <p:spPr>
          <a:xfrm>
            <a:off x="4605611" y="473511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en-US" altLang="ja-JP" sz="900"/>
              <a:t>POS</a:t>
            </a:r>
            <a:r>
              <a:rPr kumimoji="1" lang="ja-JP" altLang="en-US" sz="900"/>
              <a:t>集信</a:t>
            </a:r>
            <a:endParaRPr kumimoji="1" lang="en-US" altLang="ja-JP" sz="900"/>
          </a:p>
        </p:txBody>
      </p:sp>
      <p:cxnSp>
        <p:nvCxnSpPr>
          <p:cNvPr id="34" name="カギ線コネクタ 91">
            <a:extLst>
              <a:ext uri="{FF2B5EF4-FFF2-40B4-BE49-F238E27FC236}">
                <a16:creationId xmlns:a16="http://schemas.microsoft.com/office/drawing/2014/main" id="{09CDF8DB-7DD6-0000-4F48-C20A9375717C}"/>
              </a:ext>
            </a:extLst>
          </p:cNvPr>
          <p:cNvCxnSpPr>
            <a:cxnSpLocks/>
            <a:stCxn id="18" idx="3"/>
            <a:endCxn id="9" idx="3"/>
          </p:cNvCxnSpPr>
          <p:nvPr/>
        </p:nvCxnSpPr>
        <p:spPr>
          <a:xfrm flipV="1">
            <a:off x="6387346" y="2001928"/>
            <a:ext cx="375402" cy="1375505"/>
          </a:xfrm>
          <a:prstGeom prst="bentConnector3">
            <a:avLst>
              <a:gd name="adj1" fmla="val 160895"/>
            </a:avLst>
          </a:prstGeom>
          <a:ln>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18A428D8-FA06-B40F-7FF1-7606214CBC07}"/>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食堂データ</a:t>
            </a:r>
          </a:p>
        </p:txBody>
      </p:sp>
      <p:sp>
        <p:nvSpPr>
          <p:cNvPr id="42" name="フローチャート : 磁気ディスク 257">
            <a:extLst>
              <a:ext uri="{FF2B5EF4-FFF2-40B4-BE49-F238E27FC236}">
                <a16:creationId xmlns:a16="http://schemas.microsoft.com/office/drawing/2014/main" id="{6ED79064-8692-3E4C-EE81-5C4D5FF3BAA1}"/>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宿日直データ</a:t>
            </a:r>
          </a:p>
        </p:txBody>
      </p:sp>
      <p:sp>
        <p:nvSpPr>
          <p:cNvPr id="44" name="正方形/長方形 43">
            <a:extLst>
              <a:ext uri="{FF2B5EF4-FFF2-40B4-BE49-F238E27FC236}">
                <a16:creationId xmlns:a16="http://schemas.microsoft.com/office/drawing/2014/main" id="{AE441D61-43CC-C0D4-A6C4-129E0B3B7681}"/>
              </a:ext>
            </a:extLst>
          </p:cNvPr>
          <p:cNvSpPr/>
          <p:nvPr/>
        </p:nvSpPr>
        <p:spPr>
          <a:xfrm>
            <a:off x="4381488" y="3650226"/>
            <a:ext cx="2252383" cy="1645274"/>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rPr>
              <a:t>ジョブネット</a:t>
            </a:r>
          </a:p>
        </p:txBody>
      </p:sp>
      <p:cxnSp>
        <p:nvCxnSpPr>
          <p:cNvPr id="45" name="カギ線コネクタ 288">
            <a:extLst>
              <a:ext uri="{FF2B5EF4-FFF2-40B4-BE49-F238E27FC236}">
                <a16:creationId xmlns:a16="http://schemas.microsoft.com/office/drawing/2014/main" id="{C5A6286A-9096-2B96-6EEC-3B9870216E13}"/>
              </a:ext>
            </a:extLst>
          </p:cNvPr>
          <p:cNvCxnSpPr>
            <a:cxnSpLocks/>
            <a:stCxn id="9" idx="1"/>
            <a:endCxn id="40" idx="4"/>
          </p:cNvCxnSpPr>
          <p:nvPr/>
        </p:nvCxnSpPr>
        <p:spPr>
          <a:xfrm rot="10800000" flipV="1">
            <a:off x="1982618" y="2001927"/>
            <a:ext cx="2337249" cy="1969143"/>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610D250-41DD-3C5A-DFC4-0780A1001287}"/>
              </a:ext>
            </a:extLst>
          </p:cNvPr>
          <p:cNvCxnSpPr>
            <a:cxnSpLocks/>
            <a:stCxn id="9" idx="1"/>
            <a:endCxn id="42" idx="4"/>
          </p:cNvCxnSpPr>
          <p:nvPr/>
        </p:nvCxnSpPr>
        <p:spPr>
          <a:xfrm rot="10800000" flipV="1">
            <a:off x="1993824" y="2001927"/>
            <a:ext cx="2326042" cy="2820789"/>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43607181-774B-B524-A880-137C54A529F7}"/>
              </a:ext>
            </a:extLst>
          </p:cNvPr>
          <p:cNvCxnSpPr>
            <a:cxnSpLocks/>
            <a:stCxn id="63" idx="2"/>
            <a:endCxn id="64" idx="0"/>
          </p:cNvCxnSpPr>
          <p:nvPr/>
        </p:nvCxnSpPr>
        <p:spPr>
          <a:xfrm>
            <a:off x="5580690" y="5457298"/>
            <a:ext cx="10122" cy="11002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CD2C6B2-F41F-6460-3EEF-03666F3637D5}"/>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rPr>
              <a:t>貸与品データ</a:t>
            </a:r>
          </a:p>
        </p:txBody>
      </p:sp>
      <p:cxnSp>
        <p:nvCxnSpPr>
          <p:cNvPr id="51" name="カギ線コネクタ 311">
            <a:extLst>
              <a:ext uri="{FF2B5EF4-FFF2-40B4-BE49-F238E27FC236}">
                <a16:creationId xmlns:a16="http://schemas.microsoft.com/office/drawing/2014/main" id="{E5B480CC-072B-06EB-FB2C-F638DA41E206}"/>
              </a:ext>
            </a:extLst>
          </p:cNvPr>
          <p:cNvCxnSpPr>
            <a:cxnSpLocks/>
            <a:stCxn id="9" idx="1"/>
            <a:endCxn id="50" idx="4"/>
          </p:cNvCxnSpPr>
          <p:nvPr/>
        </p:nvCxnSpPr>
        <p:spPr>
          <a:xfrm rot="10800000" flipV="1">
            <a:off x="1982618" y="2001927"/>
            <a:ext cx="2337248" cy="3672439"/>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103083E0-6A35-5213-940C-BB2E5AAB5FD6}"/>
              </a:ext>
            </a:extLst>
          </p:cNvPr>
          <p:cNvCxnSpPr>
            <a:cxnSpLocks/>
            <a:stCxn id="25" idx="3"/>
            <a:endCxn id="69" idx="2"/>
          </p:cNvCxnSpPr>
          <p:nvPr/>
        </p:nvCxnSpPr>
        <p:spPr>
          <a:xfrm flipV="1">
            <a:off x="6420959" y="1405453"/>
            <a:ext cx="4278107" cy="294949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D4E1F7C1-50F6-7783-45A7-81CAE4EAD2E3}"/>
              </a:ext>
            </a:extLst>
          </p:cNvPr>
          <p:cNvSpPr/>
          <p:nvPr/>
        </p:nvSpPr>
        <p:spPr>
          <a:xfrm>
            <a:off x="8616812" y="1478210"/>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帳票基盤</a:t>
            </a:r>
          </a:p>
        </p:txBody>
      </p:sp>
      <p:sp>
        <p:nvSpPr>
          <p:cNvPr id="69" name="正方形/長方形 68">
            <a:extLst>
              <a:ext uri="{FF2B5EF4-FFF2-40B4-BE49-F238E27FC236}">
                <a16:creationId xmlns:a16="http://schemas.microsoft.com/office/drawing/2014/main" id="{66235523-8708-7E27-929E-96886E6B1651}"/>
              </a:ext>
            </a:extLst>
          </p:cNvPr>
          <p:cNvSpPr/>
          <p:nvPr/>
        </p:nvSpPr>
        <p:spPr>
          <a:xfrm>
            <a:off x="9882331" y="879493"/>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メールサーバ</a:t>
            </a:r>
          </a:p>
        </p:txBody>
      </p:sp>
      <p:sp>
        <p:nvSpPr>
          <p:cNvPr id="92" name="正方形/長方形 91">
            <a:extLst>
              <a:ext uri="{FF2B5EF4-FFF2-40B4-BE49-F238E27FC236}">
                <a16:creationId xmlns:a16="http://schemas.microsoft.com/office/drawing/2014/main" id="{94385022-F665-9832-9B5B-CB9798B683BE}"/>
              </a:ext>
            </a:extLst>
          </p:cNvPr>
          <p:cNvSpPr/>
          <p:nvPr/>
        </p:nvSpPr>
        <p:spPr>
          <a:xfrm>
            <a:off x="3136348" y="1267533"/>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認証基盤</a:t>
            </a:r>
          </a:p>
        </p:txBody>
      </p:sp>
      <p:sp>
        <p:nvSpPr>
          <p:cNvPr id="101" name="テキスト ボックス 114">
            <a:extLst>
              <a:ext uri="{FF2B5EF4-FFF2-40B4-BE49-F238E27FC236}">
                <a16:creationId xmlns:a16="http://schemas.microsoft.com/office/drawing/2014/main" id="{AD67AF2A-0469-A981-231C-3EA9A30E5286}"/>
              </a:ext>
            </a:extLst>
          </p:cNvPr>
          <p:cNvSpPr txBox="1"/>
          <p:nvPr/>
        </p:nvSpPr>
        <p:spPr>
          <a:xfrm>
            <a:off x="4721071" y="5923073"/>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バッチモジュール</a:t>
            </a:r>
            <a:endParaRPr kumimoji="1" lang="en-US" altLang="ja-JP" sz="900"/>
          </a:p>
        </p:txBody>
      </p:sp>
      <p:sp>
        <p:nvSpPr>
          <p:cNvPr id="109" name="Rectangle 92">
            <a:extLst>
              <a:ext uri="{FF2B5EF4-FFF2-40B4-BE49-F238E27FC236}">
                <a16:creationId xmlns:a16="http://schemas.microsoft.com/office/drawing/2014/main" id="{7CC89809-0BFA-0DCB-0072-169E354AE50D}"/>
              </a:ext>
            </a:extLst>
          </p:cNvPr>
          <p:cNvSpPr>
            <a:spLocks noChangeArrowheads="1"/>
          </p:cNvSpPr>
          <p:nvPr/>
        </p:nvSpPr>
        <p:spPr bwMode="auto">
          <a:xfrm>
            <a:off x="7736260" y="56443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12" name="Rectangle 92">
            <a:extLst>
              <a:ext uri="{FF2B5EF4-FFF2-40B4-BE49-F238E27FC236}">
                <a16:creationId xmlns:a16="http://schemas.microsoft.com/office/drawing/2014/main" id="{8A39C870-D9EF-B108-6CF5-99EC043AFCED}"/>
              </a:ext>
            </a:extLst>
          </p:cNvPr>
          <p:cNvSpPr>
            <a:spLocks noChangeArrowheads="1"/>
          </p:cNvSpPr>
          <p:nvPr/>
        </p:nvSpPr>
        <p:spPr bwMode="auto">
          <a:xfrm>
            <a:off x="9147617" y="56579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sp>
        <p:nvSpPr>
          <p:cNvPr id="134" name="Rectangle 92">
            <a:extLst>
              <a:ext uri="{FF2B5EF4-FFF2-40B4-BE49-F238E27FC236}">
                <a16:creationId xmlns:a16="http://schemas.microsoft.com/office/drawing/2014/main" id="{4B9B1D7C-E84C-E69D-B296-181380121EAB}"/>
              </a:ext>
            </a:extLst>
          </p:cNvPr>
          <p:cNvSpPr>
            <a:spLocks noChangeArrowheads="1"/>
          </p:cNvSpPr>
          <p:nvPr/>
        </p:nvSpPr>
        <p:spPr bwMode="auto">
          <a:xfrm>
            <a:off x="7444376" y="4747592"/>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dirty="0">
                <a:solidFill>
                  <a:srgbClr val="000000"/>
                </a:solidFill>
                <a:latin typeface="ＭＳ Ｐゴシック"/>
                <a:ea typeface="ＭＳ Ｐゴシック"/>
              </a:rPr>
              <a:t>Azure NetApp Files</a:t>
            </a:r>
            <a:endParaRPr lang="ja-JP" altLang="en-US" sz="1100" b="1" i="0" u="none" strike="noStrike" baseline="0" dirty="0">
              <a:solidFill>
                <a:srgbClr val="000000"/>
              </a:solidFill>
              <a:latin typeface="ＭＳ Ｐゴシック"/>
              <a:ea typeface="ＭＳ Ｐゴシック"/>
            </a:endParaRPr>
          </a:p>
        </p:txBody>
      </p:sp>
      <p:cxnSp>
        <p:nvCxnSpPr>
          <p:cNvPr id="144" name="直線矢印コネクタ 143">
            <a:extLst>
              <a:ext uri="{FF2B5EF4-FFF2-40B4-BE49-F238E27FC236}">
                <a16:creationId xmlns:a16="http://schemas.microsoft.com/office/drawing/2014/main" id="{CE79798D-08CC-1FE0-9CA7-165A825D2F47}"/>
              </a:ext>
            </a:extLst>
          </p:cNvPr>
          <p:cNvCxnSpPr>
            <a:cxnSpLocks/>
            <a:stCxn id="112" idx="1"/>
            <a:endCxn id="109" idx="3"/>
          </p:cNvCxnSpPr>
          <p:nvPr/>
        </p:nvCxnSpPr>
        <p:spPr>
          <a:xfrm flipH="1" flipV="1">
            <a:off x="8868055" y="58628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66" name="テキスト ボックス 82">
            <a:extLst>
              <a:ext uri="{FF2B5EF4-FFF2-40B4-BE49-F238E27FC236}">
                <a16:creationId xmlns:a16="http://schemas.microsoft.com/office/drawing/2014/main" id="{4C3DF4B2-71C0-5EC6-B48B-389EF0CE3CFC}"/>
              </a:ext>
            </a:extLst>
          </p:cNvPr>
          <p:cNvSpPr txBox="1"/>
          <p:nvPr/>
        </p:nvSpPr>
        <p:spPr>
          <a:xfrm>
            <a:off x="4696216" y="4960844"/>
            <a:ext cx="1591227" cy="334655"/>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a:t>
            </a:r>
            <a:endParaRPr kumimoji="1" lang="en-US" altLang="ja-JP" sz="900"/>
          </a:p>
          <a:p>
            <a:pPr algn="ctr"/>
            <a:r>
              <a:rPr kumimoji="1" lang="ja-JP" altLang="en-US" sz="900"/>
              <a:t>・</a:t>
            </a:r>
            <a:endParaRPr kumimoji="1" lang="en-US" altLang="ja-JP" sz="900"/>
          </a:p>
          <a:p>
            <a:pPr algn="ctr"/>
            <a:r>
              <a:rPr kumimoji="1" lang="ja-JP" altLang="en-US" sz="900"/>
              <a:t>・</a:t>
            </a:r>
            <a:endParaRPr kumimoji="1" lang="en-US" altLang="ja-JP" sz="900"/>
          </a:p>
        </p:txBody>
      </p:sp>
      <p:cxnSp>
        <p:nvCxnSpPr>
          <p:cNvPr id="168" name="カギ線コネクタ 321">
            <a:extLst>
              <a:ext uri="{FF2B5EF4-FFF2-40B4-BE49-F238E27FC236}">
                <a16:creationId xmlns:a16="http://schemas.microsoft.com/office/drawing/2014/main" id="{8D589D3B-85FA-6EFE-A29E-2BD85AF44325}"/>
              </a:ext>
            </a:extLst>
          </p:cNvPr>
          <p:cNvCxnSpPr>
            <a:cxnSpLocks/>
            <a:stCxn id="24" idx="3"/>
            <a:endCxn id="134" idx="1"/>
          </p:cNvCxnSpPr>
          <p:nvPr/>
        </p:nvCxnSpPr>
        <p:spPr>
          <a:xfrm>
            <a:off x="6417159" y="4572638"/>
            <a:ext cx="1027217" cy="352007"/>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171" name="カギ線コネクタ 321">
            <a:extLst>
              <a:ext uri="{FF2B5EF4-FFF2-40B4-BE49-F238E27FC236}">
                <a16:creationId xmlns:a16="http://schemas.microsoft.com/office/drawing/2014/main" id="{B0616520-1EFB-149A-3561-3B16AF6DF58C}"/>
              </a:ext>
            </a:extLst>
          </p:cNvPr>
          <p:cNvCxnSpPr>
            <a:cxnSpLocks/>
            <a:stCxn id="134" idx="3"/>
            <a:endCxn id="174" idx="1"/>
          </p:cNvCxnSpPr>
          <p:nvPr/>
        </p:nvCxnSpPr>
        <p:spPr>
          <a:xfrm flipV="1">
            <a:off x="8576171" y="4922341"/>
            <a:ext cx="1724496" cy="2304"/>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174" name="Rectangle 92">
            <a:extLst>
              <a:ext uri="{FF2B5EF4-FFF2-40B4-BE49-F238E27FC236}">
                <a16:creationId xmlns:a16="http://schemas.microsoft.com/office/drawing/2014/main" id="{761AE20E-8C8E-C939-D27A-25AEC1C44AC9}"/>
              </a:ext>
            </a:extLst>
          </p:cNvPr>
          <p:cNvSpPr>
            <a:spLocks noChangeArrowheads="1"/>
          </p:cNvSpPr>
          <p:nvPr/>
        </p:nvSpPr>
        <p:spPr bwMode="auto">
          <a:xfrm>
            <a:off x="10300667" y="4703825"/>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b="1">
                <a:solidFill>
                  <a:srgbClr val="000000"/>
                </a:solidFill>
                <a:latin typeface="ＭＳ Ｐゴシック"/>
                <a:ea typeface="ＭＳ Ｐゴシック"/>
              </a:rPr>
              <a:t>出クレシステム</a:t>
            </a:r>
            <a:endParaRPr lang="ja-JP" altLang="en-US" sz="1100" b="1" i="0" u="none" strike="noStrike" baseline="0">
              <a:solidFill>
                <a:srgbClr val="000000"/>
              </a:solidFill>
              <a:latin typeface="ＭＳ Ｐゴシック"/>
              <a:ea typeface="ＭＳ Ｐゴシック"/>
            </a:endParaRPr>
          </a:p>
        </p:txBody>
      </p:sp>
      <p:sp>
        <p:nvSpPr>
          <p:cNvPr id="179" name="Rectangle 92">
            <a:extLst>
              <a:ext uri="{FF2B5EF4-FFF2-40B4-BE49-F238E27FC236}">
                <a16:creationId xmlns:a16="http://schemas.microsoft.com/office/drawing/2014/main" id="{07D5911B-1CD5-E4D8-4ED8-6AECC3C7281A}"/>
              </a:ext>
            </a:extLst>
          </p:cNvPr>
          <p:cNvSpPr>
            <a:spLocks noChangeArrowheads="1"/>
          </p:cNvSpPr>
          <p:nvPr/>
        </p:nvSpPr>
        <p:spPr bwMode="auto">
          <a:xfrm>
            <a:off x="7888660" y="57967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0" name="Rectangle 92">
            <a:extLst>
              <a:ext uri="{FF2B5EF4-FFF2-40B4-BE49-F238E27FC236}">
                <a16:creationId xmlns:a16="http://schemas.microsoft.com/office/drawing/2014/main" id="{A059EE11-965D-EA58-2CB6-11F5668C9CEB}"/>
              </a:ext>
            </a:extLst>
          </p:cNvPr>
          <p:cNvSpPr>
            <a:spLocks noChangeArrowheads="1"/>
          </p:cNvSpPr>
          <p:nvPr/>
        </p:nvSpPr>
        <p:spPr bwMode="auto">
          <a:xfrm>
            <a:off x="9300017" y="58103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1" name="直線矢印コネクタ 180">
            <a:extLst>
              <a:ext uri="{FF2B5EF4-FFF2-40B4-BE49-F238E27FC236}">
                <a16:creationId xmlns:a16="http://schemas.microsoft.com/office/drawing/2014/main" id="{046D97D2-B8A4-44B8-D832-98BCF5941E1C}"/>
              </a:ext>
            </a:extLst>
          </p:cNvPr>
          <p:cNvCxnSpPr>
            <a:cxnSpLocks/>
            <a:stCxn id="180" idx="1"/>
            <a:endCxn id="179" idx="3"/>
          </p:cNvCxnSpPr>
          <p:nvPr/>
        </p:nvCxnSpPr>
        <p:spPr>
          <a:xfrm flipH="1" flipV="1">
            <a:off x="9020455" y="60152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82" name="Rectangle 92">
            <a:extLst>
              <a:ext uri="{FF2B5EF4-FFF2-40B4-BE49-F238E27FC236}">
                <a16:creationId xmlns:a16="http://schemas.microsoft.com/office/drawing/2014/main" id="{7141A045-06E3-7AE2-4043-1C8EBE04EE24}"/>
              </a:ext>
            </a:extLst>
          </p:cNvPr>
          <p:cNvSpPr>
            <a:spLocks noChangeArrowheads="1"/>
          </p:cNvSpPr>
          <p:nvPr/>
        </p:nvSpPr>
        <p:spPr bwMode="auto">
          <a:xfrm>
            <a:off x="8041060" y="5949172"/>
            <a:ext cx="1131795" cy="437031"/>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後方支援</a:t>
            </a:r>
            <a:r>
              <a:rPr lang="en-US" altLang="ja-JP" sz="1100" b="1" i="0" u="none" strike="noStrike" baseline="0">
                <a:solidFill>
                  <a:srgbClr val="000000"/>
                </a:solidFill>
                <a:latin typeface="ＭＳ Ｐゴシック"/>
                <a:ea typeface="ＭＳ Ｐゴシック"/>
              </a:rPr>
              <a:t>PC</a:t>
            </a:r>
            <a:endParaRPr lang="ja-JP" altLang="en-US" sz="1100" b="1" i="0" u="none" strike="noStrike" baseline="0">
              <a:solidFill>
                <a:srgbClr val="000000"/>
              </a:solidFill>
              <a:latin typeface="ＭＳ Ｐゴシック"/>
              <a:ea typeface="ＭＳ Ｐゴシック"/>
            </a:endParaRPr>
          </a:p>
        </p:txBody>
      </p:sp>
      <p:sp>
        <p:nvSpPr>
          <p:cNvPr id="183" name="Rectangle 92">
            <a:extLst>
              <a:ext uri="{FF2B5EF4-FFF2-40B4-BE49-F238E27FC236}">
                <a16:creationId xmlns:a16="http://schemas.microsoft.com/office/drawing/2014/main" id="{A89E7070-691F-19F0-EF4B-1BCED7762B3B}"/>
              </a:ext>
            </a:extLst>
          </p:cNvPr>
          <p:cNvSpPr>
            <a:spLocks noChangeArrowheads="1"/>
          </p:cNvSpPr>
          <p:nvPr/>
        </p:nvSpPr>
        <p:spPr bwMode="auto">
          <a:xfrm>
            <a:off x="9452417" y="5962700"/>
            <a:ext cx="1120582" cy="43703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ＭＳ Ｐゴシック"/>
                <a:ea typeface="ＭＳ Ｐゴシック"/>
              </a:rPr>
              <a:t>食堂</a:t>
            </a:r>
            <a:r>
              <a:rPr lang="en-US" altLang="ja-JP" sz="1100" b="1" i="0" u="none" strike="noStrike" baseline="0">
                <a:solidFill>
                  <a:srgbClr val="000000"/>
                </a:solidFill>
                <a:latin typeface="ＭＳ Ｐゴシック"/>
                <a:ea typeface="ＭＳ Ｐゴシック"/>
              </a:rPr>
              <a:t>POS</a:t>
            </a:r>
            <a:endParaRPr lang="ja-JP" altLang="en-US" sz="1100" b="1" i="0" u="none" strike="noStrike" baseline="0">
              <a:solidFill>
                <a:srgbClr val="000000"/>
              </a:solidFill>
              <a:latin typeface="ＭＳ Ｐゴシック"/>
              <a:ea typeface="ＭＳ Ｐゴシック"/>
            </a:endParaRPr>
          </a:p>
        </p:txBody>
      </p:sp>
      <p:cxnSp>
        <p:nvCxnSpPr>
          <p:cNvPr id="184" name="直線矢印コネクタ 183">
            <a:extLst>
              <a:ext uri="{FF2B5EF4-FFF2-40B4-BE49-F238E27FC236}">
                <a16:creationId xmlns:a16="http://schemas.microsoft.com/office/drawing/2014/main" id="{FCA4A154-16A5-C9CB-905E-963E266737CC}"/>
              </a:ext>
            </a:extLst>
          </p:cNvPr>
          <p:cNvCxnSpPr>
            <a:cxnSpLocks/>
            <a:stCxn id="183" idx="1"/>
            <a:endCxn id="182" idx="3"/>
          </p:cNvCxnSpPr>
          <p:nvPr/>
        </p:nvCxnSpPr>
        <p:spPr>
          <a:xfrm flipH="1" flipV="1">
            <a:off x="9172855" y="6167688"/>
            <a:ext cx="279562" cy="1352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185" name="カギ線コネクタ 321">
            <a:extLst>
              <a:ext uri="{FF2B5EF4-FFF2-40B4-BE49-F238E27FC236}">
                <a16:creationId xmlns:a16="http://schemas.microsoft.com/office/drawing/2014/main" id="{03B163DE-5749-65E4-D0D9-5DB8B1BB4769}"/>
              </a:ext>
            </a:extLst>
          </p:cNvPr>
          <p:cNvCxnSpPr>
            <a:cxnSpLocks/>
            <a:stCxn id="109" idx="1"/>
            <a:endCxn id="26" idx="3"/>
          </p:cNvCxnSpPr>
          <p:nvPr/>
        </p:nvCxnSpPr>
        <p:spPr>
          <a:xfrm rot="10800000">
            <a:off x="6420964" y="4807956"/>
            <a:ext cx="1315296" cy="1054932"/>
          </a:xfrm>
          <a:prstGeom prst="bentConnector3">
            <a:avLst>
              <a:gd name="adj1" fmla="val 68136"/>
            </a:avLst>
          </a:prstGeom>
          <a:ln>
            <a:tailEnd type="arrow"/>
          </a:ln>
        </p:spPr>
        <p:style>
          <a:lnRef idx="1">
            <a:schemeClr val="dk1"/>
          </a:lnRef>
          <a:fillRef idx="0">
            <a:schemeClr val="dk1"/>
          </a:fillRef>
          <a:effectRef idx="0">
            <a:schemeClr val="dk1"/>
          </a:effectRef>
          <a:fontRef idx="minor">
            <a:schemeClr val="tx1"/>
          </a:fontRef>
        </p:style>
      </p:cxnSp>
      <p:cxnSp>
        <p:nvCxnSpPr>
          <p:cNvPr id="189" name="カギ線コネクタ 321">
            <a:extLst>
              <a:ext uri="{FF2B5EF4-FFF2-40B4-BE49-F238E27FC236}">
                <a16:creationId xmlns:a16="http://schemas.microsoft.com/office/drawing/2014/main" id="{C39C8A22-4D24-B8F8-2C3A-BBEE69AAB580}"/>
              </a:ext>
            </a:extLst>
          </p:cNvPr>
          <p:cNvCxnSpPr>
            <a:cxnSpLocks/>
            <a:endCxn id="26" idx="3"/>
          </p:cNvCxnSpPr>
          <p:nvPr/>
        </p:nvCxnSpPr>
        <p:spPr>
          <a:xfrm rot="10800000">
            <a:off x="6420964" y="4807956"/>
            <a:ext cx="1467696" cy="1207332"/>
          </a:xfrm>
          <a:prstGeom prst="bentConnector3">
            <a:avLst>
              <a:gd name="adj1" fmla="val 72348"/>
            </a:avLst>
          </a:prstGeom>
          <a:ln>
            <a:tailEnd type="arrow"/>
          </a:ln>
        </p:spPr>
        <p:style>
          <a:lnRef idx="1">
            <a:schemeClr val="dk1"/>
          </a:lnRef>
          <a:fillRef idx="0">
            <a:schemeClr val="dk1"/>
          </a:fillRef>
          <a:effectRef idx="0">
            <a:schemeClr val="dk1"/>
          </a:effectRef>
          <a:fontRef idx="minor">
            <a:schemeClr val="tx1"/>
          </a:fontRef>
        </p:style>
      </p:cxnSp>
      <p:cxnSp>
        <p:nvCxnSpPr>
          <p:cNvPr id="193" name="カギ線コネクタ 321">
            <a:extLst>
              <a:ext uri="{FF2B5EF4-FFF2-40B4-BE49-F238E27FC236}">
                <a16:creationId xmlns:a16="http://schemas.microsoft.com/office/drawing/2014/main" id="{3F6E27B7-A3C8-D7E3-44E4-A4EC9C07F56C}"/>
              </a:ext>
            </a:extLst>
          </p:cNvPr>
          <p:cNvCxnSpPr>
            <a:cxnSpLocks/>
            <a:endCxn id="26" idx="3"/>
          </p:cNvCxnSpPr>
          <p:nvPr/>
        </p:nvCxnSpPr>
        <p:spPr>
          <a:xfrm rot="10800000">
            <a:off x="6420964" y="4807956"/>
            <a:ext cx="1620096" cy="1359732"/>
          </a:xfrm>
          <a:prstGeom prst="bentConnector3">
            <a:avLst>
              <a:gd name="adj1" fmla="val 74540"/>
            </a:avLst>
          </a:prstGeom>
          <a:ln>
            <a:tailEnd type="arrow"/>
          </a:ln>
        </p:spPr>
        <p:style>
          <a:lnRef idx="1">
            <a:schemeClr val="dk1"/>
          </a:lnRef>
          <a:fillRef idx="0">
            <a:schemeClr val="dk1"/>
          </a:fillRef>
          <a:effectRef idx="0">
            <a:schemeClr val="dk1"/>
          </a:effectRef>
          <a:fontRef idx="minor">
            <a:schemeClr val="tx1"/>
          </a:fontRef>
        </p:style>
      </p:cxnSp>
      <p:cxnSp>
        <p:nvCxnSpPr>
          <p:cNvPr id="4" name="カギ線コネクタ 91">
            <a:extLst>
              <a:ext uri="{FF2B5EF4-FFF2-40B4-BE49-F238E27FC236}">
                <a16:creationId xmlns:a16="http://schemas.microsoft.com/office/drawing/2014/main" id="{B9876616-74C0-0D5E-0000-3AAA4DF66333}"/>
              </a:ext>
            </a:extLst>
          </p:cNvPr>
          <p:cNvCxnSpPr>
            <a:cxnSpLocks/>
            <a:stCxn id="13" idx="3"/>
            <a:endCxn id="58" idx="2"/>
          </p:cNvCxnSpPr>
          <p:nvPr/>
        </p:nvCxnSpPr>
        <p:spPr>
          <a:xfrm flipV="1">
            <a:off x="6415355" y="2004170"/>
            <a:ext cx="3018192" cy="2153906"/>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13" name="テキスト ボックス 115">
            <a:extLst>
              <a:ext uri="{FF2B5EF4-FFF2-40B4-BE49-F238E27FC236}">
                <a16:creationId xmlns:a16="http://schemas.microsoft.com/office/drawing/2014/main" id="{CB65CC15-A490-3398-E577-B6B6587C5AEE}"/>
              </a:ext>
            </a:extLst>
          </p:cNvPr>
          <p:cNvSpPr txBox="1"/>
          <p:nvPr/>
        </p:nvSpPr>
        <p:spPr>
          <a:xfrm>
            <a:off x="4600002" y="4085237"/>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帳票印刷</a:t>
            </a:r>
            <a:endParaRPr kumimoji="1" lang="en-US" altLang="ja-JP" sz="900"/>
          </a:p>
        </p:txBody>
      </p:sp>
      <p:cxnSp>
        <p:nvCxnSpPr>
          <p:cNvPr id="16" name="カギ線コネクタ 91">
            <a:extLst>
              <a:ext uri="{FF2B5EF4-FFF2-40B4-BE49-F238E27FC236}">
                <a16:creationId xmlns:a16="http://schemas.microsoft.com/office/drawing/2014/main" id="{EAD93759-9E74-130E-5DE6-B990344623C5}"/>
              </a:ext>
            </a:extLst>
          </p:cNvPr>
          <p:cNvCxnSpPr>
            <a:cxnSpLocks/>
            <a:endCxn id="58" idx="1"/>
          </p:cNvCxnSpPr>
          <p:nvPr/>
        </p:nvCxnSpPr>
        <p:spPr>
          <a:xfrm>
            <a:off x="6725641" y="1655297"/>
            <a:ext cx="1891171" cy="85893"/>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sp>
        <p:nvSpPr>
          <p:cNvPr id="30" name="正方形/長方形 29">
            <a:extLst>
              <a:ext uri="{FF2B5EF4-FFF2-40B4-BE49-F238E27FC236}">
                <a16:creationId xmlns:a16="http://schemas.microsoft.com/office/drawing/2014/main" id="{380A6D1C-6317-A8F7-0048-BB28B7592694}"/>
              </a:ext>
            </a:extLst>
          </p:cNvPr>
          <p:cNvSpPr/>
          <p:nvPr/>
        </p:nvSpPr>
        <p:spPr>
          <a:xfrm>
            <a:off x="7168750" y="2055739"/>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rPr>
              <a:t>マクロ実行</a:t>
            </a:r>
            <a:endParaRPr lang="en-US" altLang="ja-JP" sz="1600" b="1">
              <a:solidFill>
                <a:schemeClr val="tx1"/>
              </a:solidFill>
            </a:endParaRPr>
          </a:p>
          <a:p>
            <a:pPr algn="ctr"/>
            <a:r>
              <a:rPr lang="ja-JP" altLang="en-US" sz="1600" b="1">
                <a:solidFill>
                  <a:schemeClr val="tx1"/>
                </a:solidFill>
              </a:rPr>
              <a:t>サーバ</a:t>
            </a:r>
          </a:p>
        </p:txBody>
      </p:sp>
      <p:sp>
        <p:nvSpPr>
          <p:cNvPr id="37" name="テキスト ボックス 115">
            <a:extLst>
              <a:ext uri="{FF2B5EF4-FFF2-40B4-BE49-F238E27FC236}">
                <a16:creationId xmlns:a16="http://schemas.microsoft.com/office/drawing/2014/main" id="{49D66C3C-5DAC-D5F7-8DE6-7EFB362A1815}"/>
              </a:ext>
            </a:extLst>
          </p:cNvPr>
          <p:cNvSpPr txBox="1"/>
          <p:nvPr/>
        </p:nvSpPr>
        <p:spPr>
          <a:xfrm>
            <a:off x="4600002" y="3870429"/>
            <a:ext cx="1815353" cy="145677"/>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t>利用者抽出・品名・要領等更新</a:t>
            </a:r>
            <a:endParaRPr kumimoji="1" lang="en-US" altLang="ja-JP" sz="900"/>
          </a:p>
        </p:txBody>
      </p:sp>
      <p:cxnSp>
        <p:nvCxnSpPr>
          <p:cNvPr id="38" name="カギ線コネクタ 91">
            <a:extLst>
              <a:ext uri="{FF2B5EF4-FFF2-40B4-BE49-F238E27FC236}">
                <a16:creationId xmlns:a16="http://schemas.microsoft.com/office/drawing/2014/main" id="{A4C7A58E-08F5-FEA6-7041-C72BC10EE8A8}"/>
              </a:ext>
            </a:extLst>
          </p:cNvPr>
          <p:cNvCxnSpPr>
            <a:cxnSpLocks/>
            <a:stCxn id="37" idx="3"/>
            <a:endCxn id="30" idx="2"/>
          </p:cNvCxnSpPr>
          <p:nvPr/>
        </p:nvCxnSpPr>
        <p:spPr>
          <a:xfrm flipV="1">
            <a:off x="6415355" y="2581699"/>
            <a:ext cx="1570130" cy="1361569"/>
          </a:xfrm>
          <a:prstGeom prst="bentConnector2">
            <a:avLst/>
          </a:prstGeom>
          <a:ln>
            <a:tailEnd type="arrow"/>
          </a:ln>
        </p:spPr>
        <p:style>
          <a:lnRef idx="1">
            <a:schemeClr val="dk1"/>
          </a:lnRef>
          <a:fillRef idx="0">
            <a:schemeClr val="dk1"/>
          </a:fillRef>
          <a:effectRef idx="0">
            <a:schemeClr val="dk1"/>
          </a:effectRef>
          <a:fontRef idx="minor">
            <a:schemeClr val="tx1"/>
          </a:fontRef>
        </p:style>
      </p:cxnSp>
      <p:sp>
        <p:nvSpPr>
          <p:cNvPr id="47" name="Rectangle 92">
            <a:extLst>
              <a:ext uri="{FF2B5EF4-FFF2-40B4-BE49-F238E27FC236}">
                <a16:creationId xmlns:a16="http://schemas.microsoft.com/office/drawing/2014/main" id="{C230E360-E7FE-11CA-1C4E-FA42B9426170}"/>
              </a:ext>
            </a:extLst>
          </p:cNvPr>
          <p:cNvSpPr>
            <a:spLocks noChangeArrowheads="1"/>
          </p:cNvSpPr>
          <p:nvPr/>
        </p:nvSpPr>
        <p:spPr bwMode="auto">
          <a:xfrm>
            <a:off x="8711490" y="4767539"/>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err="1">
                <a:solidFill>
                  <a:srgbClr val="000000"/>
                </a:solidFill>
                <a:latin typeface="ＭＳ Ｐゴシック"/>
                <a:ea typeface="ＭＳ Ｐゴシック"/>
              </a:rPr>
              <a:t>Waha</a:t>
            </a:r>
            <a:endParaRPr lang="ja-JP" altLang="en-US" sz="1100" b="1" i="0" u="none" strike="noStrike" baseline="0">
              <a:solidFill>
                <a:srgbClr val="000000"/>
              </a:solidFill>
              <a:latin typeface="ＭＳ Ｐゴシック"/>
              <a:ea typeface="ＭＳ Ｐゴシック"/>
            </a:endParaRPr>
          </a:p>
        </p:txBody>
      </p:sp>
      <p:sp>
        <p:nvSpPr>
          <p:cNvPr id="7" name="Slide Number Placeholder 6">
            <a:extLst>
              <a:ext uri="{FF2B5EF4-FFF2-40B4-BE49-F238E27FC236}">
                <a16:creationId xmlns:a16="http://schemas.microsoft.com/office/drawing/2014/main" id="{85C5B5BA-595F-A857-3B03-E22CE1BC3633}"/>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4</a:t>
            </a:fld>
            <a:endParaRPr lang="en-US"/>
          </a:p>
        </p:txBody>
      </p:sp>
      <p:sp>
        <p:nvSpPr>
          <p:cNvPr id="5" name="Footer Placeholder 4">
            <a:extLst>
              <a:ext uri="{FF2B5EF4-FFF2-40B4-BE49-F238E27FC236}">
                <a16:creationId xmlns:a16="http://schemas.microsoft.com/office/drawing/2014/main" id="{5B8D9A42-57B8-812C-B2A0-FFECEA4A052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8" name="Rectangle 92">
            <a:extLst>
              <a:ext uri="{FF2B5EF4-FFF2-40B4-BE49-F238E27FC236}">
                <a16:creationId xmlns:a16="http://schemas.microsoft.com/office/drawing/2014/main" id="{892505CB-EB99-1284-4ED4-1E09A590C812}"/>
              </a:ext>
            </a:extLst>
          </p:cNvPr>
          <p:cNvSpPr>
            <a:spLocks noChangeArrowheads="1"/>
          </p:cNvSpPr>
          <p:nvPr/>
        </p:nvSpPr>
        <p:spPr bwMode="auto">
          <a:xfrm>
            <a:off x="8907481" y="1778495"/>
            <a:ext cx="1131795" cy="354106"/>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dirty="0">
                <a:solidFill>
                  <a:srgbClr val="000000"/>
                </a:solidFill>
                <a:latin typeface="ＭＳ Ｐゴシック"/>
                <a:ea typeface="ＭＳ Ｐゴシック"/>
              </a:rPr>
              <a:t>Azure NetApp Files</a:t>
            </a:r>
            <a:endParaRPr lang="ja-JP" altLang="en-US" sz="1100" b="1" i="0" u="none" strike="noStrike" baseline="0" dirty="0">
              <a:solidFill>
                <a:srgbClr val="000000"/>
              </a:solidFill>
              <a:latin typeface="ＭＳ Ｐゴシック"/>
              <a:ea typeface="ＭＳ Ｐゴシック"/>
            </a:endParaRPr>
          </a:p>
        </p:txBody>
      </p:sp>
    </p:spTree>
    <p:extLst>
      <p:ext uri="{BB962C8B-B14F-4D97-AF65-F5344CB8AC3E}">
        <p14:creationId xmlns:p14="http://schemas.microsoft.com/office/powerpoint/2010/main" val="158941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4</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作業内容と成果物</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592C7D7D-4AE4-40B0-8EDA-E5FF88C878D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481837375"/>
              </p:ext>
            </p:extLst>
          </p:nvPr>
        </p:nvGraphicFramePr>
        <p:xfrm>
          <a:off x="606000" y="936000"/>
          <a:ext cx="11158390" cy="4857313"/>
        </p:xfrm>
        <a:graphic>
          <a:graphicData uri="http://schemas.openxmlformats.org/drawingml/2006/table">
            <a:tbl>
              <a:tblPr firstRow="1" bandRow="1">
                <a:tableStyleId>{69012ECD-51FC-41F1-AA8D-1B2483CD663E}</a:tableStyleId>
              </a:tblPr>
              <a:tblGrid>
                <a:gridCol w="575786">
                  <a:extLst>
                    <a:ext uri="{9D8B030D-6E8A-4147-A177-3AD203B41FA5}">
                      <a16:colId xmlns:a16="http://schemas.microsoft.com/office/drawing/2014/main" val="820809534"/>
                    </a:ext>
                  </a:extLst>
                </a:gridCol>
                <a:gridCol w="1847164">
                  <a:extLst>
                    <a:ext uri="{9D8B030D-6E8A-4147-A177-3AD203B41FA5}">
                      <a16:colId xmlns:a16="http://schemas.microsoft.com/office/drawing/2014/main" val="2667349602"/>
                    </a:ext>
                  </a:extLst>
                </a:gridCol>
                <a:gridCol w="5502729">
                  <a:extLst>
                    <a:ext uri="{9D8B030D-6E8A-4147-A177-3AD203B41FA5}">
                      <a16:colId xmlns:a16="http://schemas.microsoft.com/office/drawing/2014/main" val="2117318705"/>
                    </a:ext>
                  </a:extLst>
                </a:gridCol>
                <a:gridCol w="323271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游ゴシック"/>
                          <a:ea typeface="游ゴシック"/>
                        </a:rPr>
                        <a:t>移行計画書、</a:t>
                      </a:r>
                      <a:r>
                        <a:rPr kumimoji="1" lang="ja-JP" altLang="en-US" sz="14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基本設計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既存設計書の修正及び全体テストの計画を作成します。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基本設計書、全体テスト計画</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修正箇所のコーディング及び環境構築を実施します。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検証環境も含みます。</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検証環境にて動作検証を実施します。</a:t>
                      </a:r>
                      <a:endParaRPr lang="en-US" altLang="ja-JP" sz="1400" u="none" strike="noStrike" kern="1200" cap="none" normalizeH="0" baseline="0">
                        <a:ln>
                          <a:noFill/>
                        </a:ln>
                        <a:solidFill>
                          <a:schemeClr val="tx1"/>
                        </a:solidFill>
                        <a:effectLst/>
                        <a:latin typeface="游ゴシック"/>
                        <a:ea typeface="游ゴシック"/>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游ゴシック"/>
                          <a:ea typeface="游ゴシック"/>
                        </a:rPr>
                        <a:t>※</a:t>
                      </a:r>
                      <a:r>
                        <a:rPr lang="ja-JP" altLang="en-US" sz="1400" u="none" strike="noStrike" kern="1200" cap="none" normalizeH="0" baseline="0">
                          <a:ln>
                            <a:noFill/>
                          </a:ln>
                          <a:solidFill>
                            <a:schemeClr val="tx1"/>
                          </a:solidFill>
                          <a:effectLst/>
                          <a:latin typeface="游ゴシック"/>
                          <a:ea typeface="游ゴシック"/>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本番環境にて</a:t>
                      </a:r>
                      <a:r>
                        <a:rPr lang="ja-JP" altLang="en-US" sz="1400">
                          <a:solidFill>
                            <a:srgbClr val="000000"/>
                          </a:solidFill>
                        </a:rPr>
                        <a:t>その他共通基盤との連携の確認を実施します。</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游ゴシック"/>
                          <a:ea typeface="游ゴシック"/>
                        </a:rPr>
                        <a:t>システム</a:t>
                      </a:r>
                      <a:r>
                        <a:rPr kumimoji="0" lang="ja-JP" altLang="en-US" sz="1400" u="none" strike="noStrike" kern="1200" cap="none" normalizeH="0" baseline="0">
                          <a:ln>
                            <a:noFill/>
                          </a:ln>
                          <a:solidFill>
                            <a:schemeClr val="tx1"/>
                          </a:solidFill>
                          <a:effectLst/>
                          <a:latin typeface="游ゴシック"/>
                          <a:ea typeface="游ゴシック"/>
                        </a:rPr>
                        <a:t>テスト仕様書、エビデンス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游ゴシック"/>
                          <a:ea typeface="游ゴシック"/>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本番環境にてアプリケーションの導入を実施します。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バッチ基盤上の</a:t>
                      </a:r>
                      <a:r>
                        <a:rPr kumimoji="0" lang="en-US" altLang="ja-JP" sz="1400">
                          <a:solidFill>
                            <a:schemeClr val="tx1"/>
                          </a:solidFill>
                          <a:latin typeface="游ゴシック"/>
                          <a:ea typeface="游ゴシック"/>
                        </a:rPr>
                        <a:t>JOB</a:t>
                      </a:r>
                      <a:r>
                        <a:rPr kumimoji="0" lang="ja-JP" altLang="en-US" sz="1400">
                          <a:solidFill>
                            <a:schemeClr val="tx1"/>
                          </a:solidFill>
                          <a:latin typeface="游ゴシック"/>
                          <a:ea typeface="游ゴシック"/>
                        </a:rPr>
                        <a:t>を現新で切り替えます。</a:t>
                      </a:r>
                      <a:endParaRPr kumimoji="0" lang="en-US" altLang="ja-JP" sz="1400">
                        <a:solidFill>
                          <a:schemeClr val="tx1"/>
                        </a:solidFill>
                        <a:latin typeface="游ゴシック"/>
                        <a:ea typeface="游ゴシック"/>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chemeClr val="tx1"/>
                          </a:solidFill>
                          <a:latin typeface="游ゴシック"/>
                          <a:ea typeface="游ゴシック"/>
                        </a:rPr>
                        <a:t>※</a:t>
                      </a:r>
                      <a:r>
                        <a:rPr kumimoji="0" lang="ja-JP" altLang="en-US" sz="1400">
                          <a:solidFill>
                            <a:schemeClr val="tx1"/>
                          </a:solidFill>
                          <a:latin typeface="游ゴシック"/>
                          <a:ea typeface="游ゴシック"/>
                        </a:rPr>
                        <a:t>データ移行は貴社にてご対応お願い致します。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游ゴシック"/>
                          <a:ea typeface="游ゴシック"/>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問題管理表</a:t>
                      </a:r>
                      <a:endParaRPr kumimoji="0"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4" name="スライド番号プレースホルダー 3">
            <a:extLst>
              <a:ext uri="{FF2B5EF4-FFF2-40B4-BE49-F238E27FC236}">
                <a16:creationId xmlns:a16="http://schemas.microsoft.com/office/drawing/2014/main" id="{C4588E05-9E85-DF98-0F18-7121F235FA86}"/>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5</a:t>
            </a:fld>
            <a:endParaRPr kumimoji="1" lang="ja-JP" altLang="en-US" sz="700"/>
          </a:p>
        </p:txBody>
      </p:sp>
      <p:sp>
        <p:nvSpPr>
          <p:cNvPr id="5" name="正方形/長方形 4">
            <a:extLst>
              <a:ext uri="{FF2B5EF4-FFF2-40B4-BE49-F238E27FC236}">
                <a16:creationId xmlns:a16="http://schemas.microsoft.com/office/drawing/2014/main" id="{60EBC0F6-BA69-437D-A84B-FDA25ECB71D6}"/>
              </a:ext>
            </a:extLst>
          </p:cNvPr>
          <p:cNvSpPr/>
          <p:nvPr/>
        </p:nvSpPr>
        <p:spPr>
          <a:xfrm>
            <a:off x="576000" y="2312894"/>
            <a:ext cx="11188390" cy="348041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FE7CE61-4E23-4E16-8736-515436460738}"/>
              </a:ext>
            </a:extLst>
          </p:cNvPr>
          <p:cNvSpPr/>
          <p:nvPr/>
        </p:nvSpPr>
        <p:spPr>
          <a:xfrm>
            <a:off x="8704729" y="5829173"/>
            <a:ext cx="3059661" cy="571628"/>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rgbClr val="FF0000"/>
                </a:solidFill>
              </a:rPr>
              <a:t>本御見積対象範囲</a:t>
            </a:r>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5</a:t>
            </a:r>
            <a:r>
              <a:rPr kumimoji="1" lang="en-US" altLang="ja-JP">
                <a:latin typeface="游明朝"/>
                <a:ea typeface="游明朝"/>
              </a:rPr>
              <a:t>. </a:t>
            </a:r>
            <a:r>
              <a:rPr lang="ja-JP" altLang="en-US">
                <a:latin typeface="游明朝"/>
                <a:ea typeface="游明朝"/>
              </a:rPr>
              <a:t>機能数と作業範囲</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6</a:t>
            </a:fld>
            <a:endParaRPr kumimoji="1" lang="ja-JP" altLang="en-US" sz="700"/>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21640497"/>
              </p:ext>
            </p:extLst>
          </p:nvPr>
        </p:nvGraphicFramePr>
        <p:xfrm>
          <a:off x="606000" y="774630"/>
          <a:ext cx="11158389" cy="5693775"/>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138629">
                  <a:extLst>
                    <a:ext uri="{9D8B030D-6E8A-4147-A177-3AD203B41FA5}">
                      <a16:colId xmlns:a16="http://schemas.microsoft.com/office/drawing/2014/main" val="944581160"/>
                    </a:ext>
                  </a:extLst>
                </a:gridCol>
                <a:gridCol w="5188693">
                  <a:extLst>
                    <a:ext uri="{9D8B030D-6E8A-4147-A177-3AD203B41FA5}">
                      <a16:colId xmlns:a16="http://schemas.microsoft.com/office/drawing/2014/main" val="2117318705"/>
                    </a:ext>
                  </a:extLst>
                </a:gridCol>
                <a:gridCol w="3518460">
                  <a:extLst>
                    <a:ext uri="{9D8B030D-6E8A-4147-A177-3AD203B41FA5}">
                      <a16:colId xmlns:a16="http://schemas.microsoft.com/office/drawing/2014/main" val="852570537"/>
                    </a:ext>
                  </a:extLst>
                </a:gridCol>
              </a:tblGrid>
              <a:tr h="419424">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dirty="0">
                          <a:solidFill>
                            <a:srgbClr val="FFFFFF"/>
                          </a:solidFill>
                          <a:latin typeface="游ゴシック"/>
                          <a:ea typeface="游ゴシック"/>
                        </a:rPr>
                        <a:t>機能数</a:t>
                      </a:r>
                      <a:endParaRPr kumimoji="1" lang="en-US" altLang="ja-JP" sz="1600" dirty="0">
                        <a:solidFill>
                          <a:srgbClr val="FFFFFF"/>
                        </a:solidFill>
                        <a:latin typeface="游ゴシック"/>
                        <a:ea typeface="游ゴシック"/>
                      </a:endParaRPr>
                    </a:p>
                    <a:p>
                      <a:pPr algn="ctr"/>
                      <a:r>
                        <a:rPr kumimoji="1" lang="ja-JP" altLang="en-US" sz="1600" dirty="0">
                          <a:solidFill>
                            <a:srgbClr val="FFFFFF"/>
                          </a:solidFill>
                          <a:latin typeface="游ゴシック"/>
                          <a:ea typeface="游ゴシック"/>
                        </a:rPr>
                        <a:t>（テスト対象）</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250218">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dirty="0">
                          <a:solidFill>
                            <a:schemeClr val="tx1"/>
                          </a:solidFill>
                          <a:latin typeface="游ゴシック"/>
                          <a:ea typeface="游ゴシック"/>
                        </a:rPr>
                        <a:t>54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事務管理システム内の全画面を確認し、初期画面の描画や</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正常系の動作に問題がないことを確認します。</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・データベースの参照・登録</a:t>
                      </a:r>
                      <a:endParaRPr kumimoji="1" lang="en-US" altLang="ja-JP" sz="1400" dirty="0">
                        <a:solidFill>
                          <a:schemeClr val="tx1"/>
                        </a:solidFill>
                        <a:latin typeface="游ゴシック"/>
                        <a:ea typeface="游ゴシック"/>
                      </a:endParaRPr>
                    </a:p>
                    <a:p>
                      <a:pPr marL="0" indent="0">
                        <a:buFont typeface="Arial" pitchFamily="34" charset="0"/>
                        <a:buNone/>
                      </a:pPr>
                      <a:r>
                        <a:rPr kumimoji="1" lang="ja-JP" altLang="en-US" sz="1400" dirty="0">
                          <a:solidFill>
                            <a:schemeClr val="tx1"/>
                          </a:solidFill>
                          <a:latin typeface="游ゴシック"/>
                          <a:ea typeface="游ゴシック"/>
                        </a:rPr>
                        <a:t>・画面遷移</a:t>
                      </a:r>
                      <a:endParaRPr kumimoji="1"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dirty="0">
                          <a:solidFill>
                            <a:schemeClr val="tx1"/>
                          </a:solidFill>
                          <a:latin typeface="游ゴシック"/>
                          <a:ea typeface="游ゴシック"/>
                        </a:rPr>
                        <a:t>・ボタン押下　等</a:t>
                      </a:r>
                      <a:endParaRPr kumimoji="1"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924403">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全体：</a:t>
                      </a:r>
                      <a:r>
                        <a:rPr kumimoji="1" lang="en-US" altLang="ja-JP" sz="1400" dirty="0">
                          <a:solidFill>
                            <a:schemeClr val="tx1"/>
                          </a:solidFill>
                          <a:latin typeface="游ゴシック"/>
                          <a:ea typeface="游ゴシック"/>
                        </a:rPr>
                        <a:t>81</a:t>
                      </a:r>
                    </a:p>
                    <a:p>
                      <a:pPr marL="0" indent="0">
                        <a:buFont typeface="Arial" pitchFamily="34" charset="0"/>
                        <a:buNone/>
                      </a:pPr>
                      <a:r>
                        <a:rPr kumimoji="1" lang="ja-JP" altLang="en-US" sz="1400" dirty="0">
                          <a:solidFill>
                            <a:srgbClr val="FF0000"/>
                          </a:solidFill>
                          <a:latin typeface="游ゴシック"/>
                          <a:ea typeface="游ゴシック"/>
                        </a:rPr>
                        <a:t>対象：</a:t>
                      </a:r>
                      <a:r>
                        <a:rPr kumimoji="1" lang="en-US" altLang="ja-JP" sz="1400" dirty="0">
                          <a:solidFill>
                            <a:srgbClr val="FF0000"/>
                          </a:solidFill>
                          <a:latin typeface="游ゴシック"/>
                          <a:ea typeface="游ゴシック"/>
                        </a:rPr>
                        <a:t>28</a:t>
                      </a:r>
                    </a:p>
                    <a:p>
                      <a:pPr marL="0" indent="0">
                        <a:buFont typeface="Arial" pitchFamily="34" charset="0"/>
                        <a:buNone/>
                      </a:pPr>
                      <a:r>
                        <a:rPr kumimoji="1" lang="ja-JP" altLang="en-US" sz="1400" dirty="0">
                          <a:solidFill>
                            <a:schemeClr val="tx1"/>
                          </a:solidFill>
                          <a:latin typeface="游ゴシック"/>
                          <a:ea typeface="游ゴシック"/>
                        </a:rPr>
                        <a:t>対象外：</a:t>
                      </a:r>
                      <a:r>
                        <a:rPr kumimoji="1" lang="en-US" altLang="ja-JP" sz="1400" dirty="0">
                          <a:solidFill>
                            <a:schemeClr val="tx1"/>
                          </a:solidFill>
                          <a:latin typeface="游ゴシック"/>
                          <a:ea typeface="游ゴシック"/>
                        </a:rPr>
                        <a:t>53</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dirty="0">
                          <a:solidFill>
                            <a:schemeClr val="tx1"/>
                          </a:solidFill>
                          <a:latin typeface="游ゴシック"/>
                          <a:ea typeface="游ゴシック"/>
                        </a:rPr>
                        <a:t>帳票を印刷し、帳票機能に問題ないことを確認します。</a:t>
                      </a:r>
                    </a:p>
                    <a:p>
                      <a:pPr marL="0" lvl="0" indent="0">
                        <a:buFont typeface="Arial" pitchFamily="34" charset="0"/>
                        <a:buNone/>
                      </a:pPr>
                      <a:r>
                        <a:rPr lang="ja-JP" altLang="en-US" sz="1400" dirty="0">
                          <a:solidFill>
                            <a:schemeClr val="tx1"/>
                          </a:solidFill>
                          <a:latin typeface="游ゴシック"/>
                          <a:ea typeface="游ゴシック"/>
                        </a:rPr>
                        <a:t>※サンプリングで数本の実施を想定しています。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357817">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全体：</a:t>
                      </a:r>
                      <a:r>
                        <a:rPr lang="en-US" altLang="ja-JP" sz="1400" dirty="0">
                          <a:solidFill>
                            <a:schemeClr val="tx1"/>
                          </a:solidFill>
                          <a:latin typeface="游ゴシック"/>
                          <a:ea typeface="游ゴシック"/>
                        </a:rPr>
                        <a:t>13</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rgbClr val="FF0000"/>
                          </a:solidFill>
                          <a:latin typeface="游ゴシック"/>
                          <a:ea typeface="游ゴシック"/>
                        </a:rPr>
                        <a:t>対象：</a:t>
                      </a:r>
                      <a:r>
                        <a:rPr lang="en-US" altLang="ja-JP" sz="1400" dirty="0">
                          <a:solidFill>
                            <a:srgbClr val="FF0000"/>
                          </a:solidFill>
                          <a:latin typeface="游ゴシック"/>
                          <a:ea typeface="游ゴシック"/>
                        </a:rPr>
                        <a:t>7</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対象外：</a:t>
                      </a:r>
                      <a:r>
                        <a:rPr lang="en-US" altLang="ja-JP" sz="1400" dirty="0">
                          <a:solidFill>
                            <a:schemeClr val="tx1"/>
                          </a:solidFill>
                          <a:latin typeface="游ゴシック"/>
                          <a:ea typeface="游ゴシック"/>
                        </a:rPr>
                        <a:t>6</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各周辺システムとのデータ連携を検証環境にて実施します。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各連携が正常に動作することを確認します。</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dirty="0">
                          <a:solidFill>
                            <a:schemeClr val="tx1"/>
                          </a:solidFill>
                          <a:latin typeface="游ゴシック"/>
                          <a:ea typeface="游ゴシック"/>
                        </a:rPr>
                        <a:t>※</a:t>
                      </a:r>
                      <a:r>
                        <a:rPr lang="ja-JP" altLang="en-US" sz="1400" dirty="0">
                          <a:solidFill>
                            <a:schemeClr val="tx1"/>
                          </a:solidFill>
                          <a:latin typeface="游ゴシック"/>
                          <a:ea typeface="游ゴシック"/>
                        </a:rPr>
                        <a:t>本番環境については、疎通テストとし、各システムごとに</a:t>
                      </a:r>
                      <a:br>
                        <a:rPr lang="en-US" altLang="ja-JP" sz="1400" dirty="0">
                          <a:solidFill>
                            <a:srgbClr val="323232"/>
                          </a:solidFill>
                          <a:latin typeface="游ゴシック"/>
                          <a:ea typeface="游ゴシック"/>
                        </a:rPr>
                      </a:br>
                      <a:r>
                        <a:rPr lang="ja-JP" altLang="en-US" sz="1400" dirty="0">
                          <a:solidFill>
                            <a:schemeClr val="tx1"/>
                          </a:solidFill>
                          <a:latin typeface="游ゴシック"/>
                          <a:ea typeface="游ゴシック"/>
                        </a:rPr>
                        <a:t>　</a:t>
                      </a:r>
                      <a:r>
                        <a:rPr lang="en-US" altLang="ja-JP" sz="1400" dirty="0">
                          <a:solidFill>
                            <a:schemeClr val="tx1"/>
                          </a:solidFill>
                          <a:latin typeface="游ゴシック"/>
                          <a:ea typeface="游ゴシック"/>
                        </a:rPr>
                        <a:t>1</a:t>
                      </a:r>
                      <a:r>
                        <a:rPr lang="ja-JP" altLang="en-US" sz="1400" dirty="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a:t>
                      </a:r>
                      <a:r>
                        <a:rPr lang="en-US" altLang="ja-JP" sz="1400" dirty="0">
                          <a:solidFill>
                            <a:schemeClr val="tx1"/>
                          </a:solidFill>
                          <a:latin typeface="游ゴシック"/>
                          <a:ea typeface="游ゴシック"/>
                        </a:rPr>
                        <a:t>I/F</a:t>
                      </a:r>
                      <a:r>
                        <a:rPr lang="ja-JP" altLang="en-US" sz="1400" dirty="0">
                          <a:solidFill>
                            <a:schemeClr val="tx1"/>
                          </a:solidFill>
                          <a:latin typeface="游ゴシック"/>
                          <a:ea typeface="游ゴシック"/>
                        </a:rPr>
                        <a:t>項目の全項目テスト</a:t>
                      </a:r>
                      <a:br>
                        <a:rPr lang="en-US" altLang="ja-JP" sz="1400" dirty="0">
                          <a:solidFill>
                            <a:srgbClr val="323232"/>
                          </a:solidFill>
                          <a:latin typeface="游ゴシック"/>
                          <a:ea typeface="游ゴシック"/>
                        </a:rPr>
                      </a:br>
                      <a:r>
                        <a:rPr lang="ja-JP" altLang="en-US" sz="1400" dirty="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135781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全体：50</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rgbClr val="FF0000"/>
                          </a:solidFill>
                          <a:latin typeface="游ゴシック"/>
                          <a:ea typeface="游ゴシック"/>
                        </a:rPr>
                        <a:t>対象：</a:t>
                      </a:r>
                      <a:r>
                        <a:rPr lang="en-US" altLang="ja-JP" sz="1400" dirty="0">
                          <a:solidFill>
                            <a:srgbClr val="FF0000"/>
                          </a:solidFill>
                          <a:latin typeface="游ゴシック"/>
                          <a:ea typeface="游ゴシック"/>
                        </a:rPr>
                        <a:t>21</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対象外：</a:t>
                      </a:r>
                      <a:r>
                        <a:rPr lang="en-US" altLang="ja-JP" sz="1400" dirty="0">
                          <a:solidFill>
                            <a:schemeClr val="tx1"/>
                          </a:solidFill>
                          <a:latin typeface="游ゴシック"/>
                          <a:ea typeface="游ゴシック"/>
                        </a:rPr>
                        <a:t>29</a:t>
                      </a:r>
                      <a:endParaRPr lang="ja-JP" altLang="en-US"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p>
                      <a:pPr marL="0" marR="0" lvl="0" indent="0" algn="l">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※各所毎のJOBは代表1本のみの確認とします。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・異常系のテスト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・繰り返しのテスト</a:t>
                      </a:r>
                      <a:endParaRPr lang="en-US" altLang="ja-JP" sz="1400" dirty="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dirty="0">
                          <a:solidFill>
                            <a:schemeClr val="tx1"/>
                          </a:solidFill>
                          <a:latin typeface="游ゴシック"/>
                          <a:ea typeface="游ゴシック"/>
                        </a:rPr>
                        <a:t>・定期起動の確認</a:t>
                      </a:r>
                      <a:endParaRPr lang="en-US" altLang="ja-JP" sz="14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dirty="0">
                <a:latin typeface="游明朝"/>
                <a:ea typeface="游明朝"/>
              </a:rPr>
              <a:t>6. </a:t>
            </a:r>
            <a:r>
              <a:rPr lang="ja-JP" altLang="en-US" dirty="0">
                <a:latin typeface="游明朝"/>
                <a:ea typeface="游明朝"/>
              </a:rPr>
              <a:t>体制</a:t>
            </a:r>
            <a:endParaRPr kumimoji="1" lang="ja-JP" altLang="en-US" dirty="0">
              <a:latin typeface="游明朝"/>
              <a:ea typeface="游明朝"/>
            </a:endParaRPr>
          </a:p>
        </p:txBody>
      </p:sp>
      <p:sp>
        <p:nvSpPr>
          <p:cNvPr id="4" name="フッター プレースホルダー 3"/>
          <p:cNvSpPr>
            <a:spLocks noGrp="1"/>
          </p:cNvSpPr>
          <p:nvPr>
            <p:ph type="ftr" sz="quarter" idx="10"/>
          </p:nvPr>
        </p:nvSpPr>
        <p:spPr>
          <a:xfrm>
            <a:off x="3036000" y="6552000"/>
            <a:ext cx="6120000" cy="216000"/>
          </a:xfrm>
        </p:spPr>
        <p:txBody>
          <a:bodyPr/>
          <a:lstStyle/>
          <a:p>
            <a:r>
              <a:rPr lang="en-US" altLang="ja-JP"/>
              <a:t>Copyright © 2025 SystemEXE,Inc All Rights Reserved.</a:t>
            </a:r>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sz="1600" kern="0">
                  <a:solidFill>
                    <a:prstClr val="black"/>
                  </a:solidFill>
                  <a:latin typeface="游ゴシック"/>
                  <a:ea typeface="游ゴシック"/>
                </a:rPr>
                <a:t>澤田 陽哉</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lang="en-US">
                <a:solidFill>
                  <a:prstClr val="black"/>
                </a:solidFill>
              </a:endParaRP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80066"/>
            <a:chOff x="1213170" y="3826430"/>
            <a:chExt cx="2736000" cy="108006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30"/>
              <a:ext cx="2736000" cy="79206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横田 昌彦様</a:t>
              </a:r>
              <a:endParaRPr kumimoji="1" lang="en-US" altLang="ja-JP" sz="1600" b="0" i="0" u="none" strike="noStrike" kern="0" cap="none" spc="0" normalizeH="0" baseline="0" noProof="0" dirty="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kern="0" dirty="0">
                  <a:solidFill>
                    <a:prstClr val="black"/>
                  </a:solidFill>
                  <a:latin typeface="+mn-ea"/>
                </a:rPr>
                <a:t>福田 大河様</a:t>
              </a:r>
              <a:endParaRPr kumimoji="1" lang="en-US" altLang="ja-JP" sz="1600" kern="0" dirty="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latin typeface="+mn-ea"/>
                </a:rPr>
                <a:t>河名 美則様</a:t>
              </a:r>
              <a:endParaRPr kumimoji="1" lang="en-US" altLang="ja-JP" sz="1600" b="0" i="0" u="none" strike="noStrike" kern="0" cap="none" spc="0" normalizeH="0" baseline="0" noProof="0" dirty="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dirty="0">
                  <a:ln>
                    <a:noFill/>
                  </a:ln>
                  <a:solidFill>
                    <a:prstClr val="black"/>
                  </a:solidFill>
                  <a:effectLst/>
                  <a:uLnTx/>
                  <a:uFillTx/>
                  <a:latin typeface="+mn-ea"/>
                </a:rPr>
                <a:t>山本 将也様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78694" y="5095363"/>
            <a:ext cx="730415" cy="25231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スライド番号プレースホルダー 8"/>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7</a:t>
            </a:fld>
            <a:endParaRPr kumimoji="1" lang="ja-JP" altLang="en-US" sz="700"/>
          </a:p>
        </p:txBody>
      </p:sp>
      <p:grpSp>
        <p:nvGrpSpPr>
          <p:cNvPr id="5" name="グループ化 4">
            <a:extLst>
              <a:ext uri="{FF2B5EF4-FFF2-40B4-BE49-F238E27FC236}">
                <a16:creationId xmlns:a16="http://schemas.microsoft.com/office/drawing/2014/main" id="{EE2E3150-6ACF-7CB6-4DDD-9BE64200EB8C}"/>
              </a:ext>
            </a:extLst>
          </p:cNvPr>
          <p:cNvGrpSpPr/>
          <p:nvPr/>
        </p:nvGrpSpPr>
        <p:grpSpPr>
          <a:xfrm>
            <a:off x="5448941" y="1404012"/>
            <a:ext cx="2736000" cy="720000"/>
            <a:chOff x="6852000" y="1800000"/>
            <a:chExt cx="2736000" cy="720000"/>
          </a:xfrm>
        </p:grpSpPr>
        <p:sp>
          <p:nvSpPr>
            <p:cNvPr id="6" name="片側の 2 つの角を丸めた四角形 8">
              <a:extLst>
                <a:ext uri="{FF2B5EF4-FFF2-40B4-BE49-F238E27FC236}">
                  <a16:creationId xmlns:a16="http://schemas.microsoft.com/office/drawing/2014/main" id="{2561BF20-71D3-A881-A8B3-608654C168F7}"/>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7" name="正方形/長方形 6">
              <a:extLst>
                <a:ext uri="{FF2B5EF4-FFF2-40B4-BE49-F238E27FC236}">
                  <a16:creationId xmlns:a16="http://schemas.microsoft.com/office/drawing/2014/main" id="{E11B061B-E430-98FC-EC2C-DDD5576488AF}"/>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12" name="直線コネクタ 11">
            <a:extLst>
              <a:ext uri="{FF2B5EF4-FFF2-40B4-BE49-F238E27FC236}">
                <a16:creationId xmlns:a16="http://schemas.microsoft.com/office/drawing/2014/main" id="{E8CB1D8F-AA13-4826-8923-16851E504D84}"/>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13" name="グループ化 12">
            <a:extLst>
              <a:ext uri="{FF2B5EF4-FFF2-40B4-BE49-F238E27FC236}">
                <a16:creationId xmlns:a16="http://schemas.microsoft.com/office/drawing/2014/main" id="{F6911C65-186B-6AC0-DDDD-E69F7F7DF96E}"/>
              </a:ext>
            </a:extLst>
          </p:cNvPr>
          <p:cNvGrpSpPr/>
          <p:nvPr/>
        </p:nvGrpSpPr>
        <p:grpSpPr>
          <a:xfrm>
            <a:off x="5437423" y="4684387"/>
            <a:ext cx="2736000" cy="1118343"/>
            <a:chOff x="6852000" y="5532583"/>
            <a:chExt cx="2736000" cy="555891"/>
          </a:xfrm>
        </p:grpSpPr>
        <p:sp>
          <p:nvSpPr>
            <p:cNvPr id="14" name="片側の 2 つの角を丸めた四角形 21">
              <a:extLst>
                <a:ext uri="{FF2B5EF4-FFF2-40B4-BE49-F238E27FC236}">
                  <a16:creationId xmlns:a16="http://schemas.microsoft.com/office/drawing/2014/main" id="{DB6C7046-FAAB-215B-8C6D-E8B0772FB554}"/>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20" name="正方形/長方形 19">
              <a:extLst>
                <a:ext uri="{FF2B5EF4-FFF2-40B4-BE49-F238E27FC236}">
                  <a16:creationId xmlns:a16="http://schemas.microsoft.com/office/drawing/2014/main" id="{A221841D-DBE2-150B-1D11-DA688BFC1AE2}"/>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b="0" i="0" dirty="0">
                  <a:solidFill>
                    <a:srgbClr val="333333"/>
                  </a:solidFill>
                  <a:effectLst/>
                  <a:latin typeface="游ゴシック"/>
                  <a:ea typeface="游ゴシック"/>
                </a:rPr>
                <a:t>崔</a:t>
              </a:r>
              <a:endParaRPr lang="en-US" altLang="ja-JP" sz="1600" b="0" i="0" dirty="0">
                <a:solidFill>
                  <a:srgbClr val="333333"/>
                </a:solidFill>
                <a:effectLst/>
                <a:latin typeface="游ゴシック"/>
                <a:ea typeface="游ゴシック"/>
              </a:endParaRPr>
            </a:p>
            <a:p>
              <a:pPr lvl="0" algn="ctr" defTabSz="914400">
                <a:defRPr/>
              </a:pPr>
              <a:r>
                <a:rPr lang="ja-JP" altLang="en-US" sz="1600" b="0" i="0" dirty="0">
                  <a:solidFill>
                    <a:srgbClr val="333333"/>
                  </a:solidFill>
                  <a:effectLst/>
                  <a:latin typeface="游ゴシック"/>
                  <a:ea typeface="游ゴシック"/>
                </a:rPr>
                <a:t>河野</a:t>
              </a:r>
            </a:p>
          </p:txBody>
        </p:sp>
      </p:grpSp>
      <p:cxnSp>
        <p:nvCxnSpPr>
          <p:cNvPr id="25" name="直線コネクタ 24">
            <a:extLst>
              <a:ext uri="{FF2B5EF4-FFF2-40B4-BE49-F238E27FC236}">
                <a16:creationId xmlns:a16="http://schemas.microsoft.com/office/drawing/2014/main" id="{A16D3BE5-7BD7-D262-672A-CF4C5FA53A30}"/>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38" name="グループ化 37">
            <a:extLst>
              <a:ext uri="{FF2B5EF4-FFF2-40B4-BE49-F238E27FC236}">
                <a16:creationId xmlns:a16="http://schemas.microsoft.com/office/drawing/2014/main" id="{C3F8AD94-D721-A9BA-614D-FB29EAAD5DE6}"/>
              </a:ext>
            </a:extLst>
          </p:cNvPr>
          <p:cNvGrpSpPr/>
          <p:nvPr/>
        </p:nvGrpSpPr>
        <p:grpSpPr>
          <a:xfrm>
            <a:off x="5448941" y="3311319"/>
            <a:ext cx="2736000" cy="711533"/>
            <a:chOff x="6852000" y="2538555"/>
            <a:chExt cx="2736000" cy="711533"/>
          </a:xfrm>
        </p:grpSpPr>
        <p:sp>
          <p:nvSpPr>
            <p:cNvPr id="39" name="片側の 2 つの角を丸めた四角形 8">
              <a:extLst>
                <a:ext uri="{FF2B5EF4-FFF2-40B4-BE49-F238E27FC236}">
                  <a16:creationId xmlns:a16="http://schemas.microsoft.com/office/drawing/2014/main" id="{8FF1C8A5-0170-1D51-8292-3C9D791ECB65}"/>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95EB6CD8-C68D-04BA-5641-3A773E84EB0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kern="0" dirty="0">
                  <a:solidFill>
                    <a:prstClr val="black"/>
                  </a:solidFill>
                  <a:latin typeface="+mn-ea"/>
                </a:rPr>
                <a:t>東条 美佳</a:t>
              </a:r>
              <a:endParaRPr lang="en-US" altLang="ja-JP" sz="1600" kern="0" dirty="0">
                <a:solidFill>
                  <a:prstClr val="black"/>
                </a:solidFill>
                <a:latin typeface="+mn-ea"/>
              </a:endParaRPr>
            </a:p>
          </p:txBody>
        </p:sp>
      </p:grpSp>
      <p:grpSp>
        <p:nvGrpSpPr>
          <p:cNvPr id="41" name="グループ化 40">
            <a:extLst>
              <a:ext uri="{FF2B5EF4-FFF2-40B4-BE49-F238E27FC236}">
                <a16:creationId xmlns:a16="http://schemas.microsoft.com/office/drawing/2014/main" id="{66137411-7E45-B994-6A1A-BDEFBCBA0975}"/>
              </a:ext>
            </a:extLst>
          </p:cNvPr>
          <p:cNvGrpSpPr/>
          <p:nvPr/>
        </p:nvGrpSpPr>
        <p:grpSpPr>
          <a:xfrm>
            <a:off x="8319332" y="2497316"/>
            <a:ext cx="2736000" cy="728930"/>
            <a:chOff x="8524839" y="4231002"/>
            <a:chExt cx="2736000" cy="728930"/>
          </a:xfrm>
        </p:grpSpPr>
        <p:sp>
          <p:nvSpPr>
            <p:cNvPr id="43" name="片側の 2 つの角を丸めた四角形 29">
              <a:extLst>
                <a:ext uri="{FF2B5EF4-FFF2-40B4-BE49-F238E27FC236}">
                  <a16:creationId xmlns:a16="http://schemas.microsoft.com/office/drawing/2014/main" id="{AFD8279B-0F53-3F86-811D-2160236910E4}"/>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47" name="正方形/長方形 46">
              <a:extLst>
                <a:ext uri="{FF2B5EF4-FFF2-40B4-BE49-F238E27FC236}">
                  <a16:creationId xmlns:a16="http://schemas.microsoft.com/office/drawing/2014/main" id="{A8B6557D-1136-7119-B63F-256D7F03A9FE}"/>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48" name="グループ化 47">
            <a:extLst>
              <a:ext uri="{FF2B5EF4-FFF2-40B4-BE49-F238E27FC236}">
                <a16:creationId xmlns:a16="http://schemas.microsoft.com/office/drawing/2014/main" id="{38AFE58B-AB1D-EB9E-368C-4214DA09182E}"/>
              </a:ext>
            </a:extLst>
          </p:cNvPr>
          <p:cNvGrpSpPr/>
          <p:nvPr/>
        </p:nvGrpSpPr>
        <p:grpSpPr>
          <a:xfrm>
            <a:off x="8310152" y="4183367"/>
            <a:ext cx="2745180" cy="1068616"/>
            <a:chOff x="8515659" y="4231002"/>
            <a:chExt cx="2745180" cy="1068616"/>
          </a:xfrm>
        </p:grpSpPr>
        <p:sp>
          <p:nvSpPr>
            <p:cNvPr id="49" name="片側の 2 つの角を丸めた四角形 29">
              <a:extLst>
                <a:ext uri="{FF2B5EF4-FFF2-40B4-BE49-F238E27FC236}">
                  <a16:creationId xmlns:a16="http://schemas.microsoft.com/office/drawing/2014/main" id="{409BB09A-4745-7292-CC8A-1D1E62EE68F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6" name="正方形/長方形 55">
              <a:extLst>
                <a:ext uri="{FF2B5EF4-FFF2-40B4-BE49-F238E27FC236}">
                  <a16:creationId xmlns:a16="http://schemas.microsoft.com/office/drawing/2014/main" id="{B6730360-ED82-C2C7-602A-B52FEC06F6A2}"/>
                </a:ext>
              </a:extLst>
            </p:cNvPr>
            <p:cNvSpPr/>
            <p:nvPr/>
          </p:nvSpPr>
          <p:spPr>
            <a:xfrm>
              <a:off x="8515659" y="4518752"/>
              <a:ext cx="2745180" cy="78086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altLang="en-US" sz="1600" kern="0" dirty="0">
                  <a:solidFill>
                    <a:prstClr val="black"/>
                  </a:solidFill>
                  <a:latin typeface="游ゴシック"/>
                  <a:ea typeface="游ゴシック"/>
                </a:rPr>
                <a:t>伊達 翔互</a:t>
              </a: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篠塚 正裕</a:t>
              </a:r>
              <a:endParaRPr kumimoji="0" lang="en-US" altLang="ja-JP" sz="1600" b="0" i="0" u="none" strike="noStrike" kern="0" cap="none" spc="0" normalizeH="0" baseline="0" noProof="0" dirty="0">
                <a:ln>
                  <a:noFill/>
                </a:ln>
                <a:solidFill>
                  <a:prstClr val="black"/>
                </a:solidFill>
                <a:effectLst/>
                <a:uLnTx/>
                <a:uFillTx/>
                <a:latin typeface="+mn-ea"/>
              </a:endParaRPr>
            </a:p>
          </p:txBody>
        </p:sp>
      </p:grpSp>
      <p:cxnSp>
        <p:nvCxnSpPr>
          <p:cNvPr id="57" name="直線コネクタ 56">
            <a:extLst>
              <a:ext uri="{FF2B5EF4-FFF2-40B4-BE49-F238E27FC236}">
                <a16:creationId xmlns:a16="http://schemas.microsoft.com/office/drawing/2014/main" id="{888358D9-7F91-7189-3C7F-6851F47AFA2C}"/>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854406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7</a:t>
            </a:r>
            <a:r>
              <a:rPr kumimoji="1" lang="en-US" altLang="ja-JP">
                <a:latin typeface="游明朝"/>
                <a:ea typeface="游明朝"/>
              </a:rPr>
              <a:t>. </a:t>
            </a:r>
            <a:r>
              <a:rPr kumimoji="1" lang="ja-JP" altLang="en-US">
                <a:latin typeface="游明朝"/>
                <a:ea typeface="游明朝"/>
              </a:rPr>
              <a:t>スケジュール</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798999441"/>
              </p:ext>
            </p:extLst>
          </p:nvPr>
        </p:nvGraphicFramePr>
        <p:xfrm>
          <a:off x="576000" y="936002"/>
          <a:ext cx="11041199" cy="3327880"/>
        </p:xfrm>
        <a:graphic>
          <a:graphicData uri="http://schemas.openxmlformats.org/drawingml/2006/table">
            <a:tbl>
              <a:tblPr firstRow="1">
                <a:tableStyleId>{69012ECD-51FC-41F1-AA8D-1B2483CD663E}</a:tableStyleId>
              </a:tblPr>
              <a:tblGrid>
                <a:gridCol w="2315090">
                  <a:extLst>
                    <a:ext uri="{9D8B030D-6E8A-4147-A177-3AD203B41FA5}">
                      <a16:colId xmlns:a16="http://schemas.microsoft.com/office/drawing/2014/main" val="20001"/>
                    </a:ext>
                  </a:extLst>
                </a:gridCol>
                <a:gridCol w="1246587">
                  <a:extLst>
                    <a:ext uri="{9D8B030D-6E8A-4147-A177-3AD203B41FA5}">
                      <a16:colId xmlns:a16="http://schemas.microsoft.com/office/drawing/2014/main" val="332361526"/>
                    </a:ext>
                  </a:extLst>
                </a:gridCol>
                <a:gridCol w="1246587">
                  <a:extLst>
                    <a:ext uri="{9D8B030D-6E8A-4147-A177-3AD203B41FA5}">
                      <a16:colId xmlns:a16="http://schemas.microsoft.com/office/drawing/2014/main" val="1301509302"/>
                    </a:ext>
                  </a:extLst>
                </a:gridCol>
                <a:gridCol w="1246587">
                  <a:extLst>
                    <a:ext uri="{9D8B030D-6E8A-4147-A177-3AD203B41FA5}">
                      <a16:colId xmlns:a16="http://schemas.microsoft.com/office/drawing/2014/main" val="2064698816"/>
                    </a:ext>
                  </a:extLst>
                </a:gridCol>
                <a:gridCol w="1246587">
                  <a:extLst>
                    <a:ext uri="{9D8B030D-6E8A-4147-A177-3AD203B41FA5}">
                      <a16:colId xmlns:a16="http://schemas.microsoft.com/office/drawing/2014/main" val="1049139473"/>
                    </a:ext>
                  </a:extLst>
                </a:gridCol>
                <a:gridCol w="1246587">
                  <a:extLst>
                    <a:ext uri="{9D8B030D-6E8A-4147-A177-3AD203B41FA5}">
                      <a16:colId xmlns:a16="http://schemas.microsoft.com/office/drawing/2014/main" val="581626291"/>
                    </a:ext>
                  </a:extLst>
                </a:gridCol>
                <a:gridCol w="1246587">
                  <a:extLst>
                    <a:ext uri="{9D8B030D-6E8A-4147-A177-3AD203B41FA5}">
                      <a16:colId xmlns:a16="http://schemas.microsoft.com/office/drawing/2014/main" val="1794734865"/>
                    </a:ext>
                  </a:extLst>
                </a:gridCol>
                <a:gridCol w="1246587">
                  <a:extLst>
                    <a:ext uri="{9D8B030D-6E8A-4147-A177-3AD203B41FA5}">
                      <a16:colId xmlns:a16="http://schemas.microsoft.com/office/drawing/2014/main" val="3533700286"/>
                    </a:ext>
                  </a:extLst>
                </a:gridCol>
              </a:tblGrid>
              <a:tr h="453716">
                <a:tc rowSpan="2">
                  <a:txBody>
                    <a:bodyPr/>
                    <a:lstStyle/>
                    <a:p>
                      <a:pPr algn="ctr"/>
                      <a:endParaRPr kumimoji="1" lang="ja-JP" altLang="en-US" sz="1200" b="0" dirty="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4">
                  <a:txBody>
                    <a:bodyPr/>
                    <a:lstStyle/>
                    <a:p>
                      <a:r>
                        <a:rPr kumimoji="1" lang="en-US" altLang="ja-JP" dirty="0"/>
                        <a:t>2025</a:t>
                      </a:r>
                      <a:r>
                        <a:rPr kumimoji="1" lang="ja-JP" altLang="en-US" dirty="0"/>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3">
                  <a:txBody>
                    <a:bodyPr/>
                    <a:lstStyle/>
                    <a:p>
                      <a:r>
                        <a:rPr kumimoji="1" lang="en-US" altLang="ja-JP" dirty="0"/>
                        <a:t>2026</a:t>
                      </a:r>
                      <a:r>
                        <a:rPr kumimoji="1" lang="ja-JP" altLang="en-US" dirty="0"/>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tcPr>
                </a:tc>
                <a:tc hMerge="1">
                  <a:txBody>
                    <a:bodyPr/>
                    <a:lstStyle/>
                    <a:p>
                      <a:endParaRPr kumimoji="1" lang="ja-JP" altLang="en-US" dirty="0"/>
                    </a:p>
                  </a:txBody>
                  <a:tcPr>
                    <a:lnL w="12700" cap="flat" cmpd="sng" algn="ctr">
                      <a:solidFill>
                        <a:schemeClr val="bg1">
                          <a:lumMod val="65000"/>
                        </a:schemeClr>
                      </a:solidFill>
                      <a:prstDash val="solid"/>
                      <a:round/>
                      <a:headEnd type="none" w="med" len="med"/>
                      <a:tailEnd type="none" w="med" len="med"/>
                    </a:lnL>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618650">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dirty="0">
                          <a:solidFill>
                            <a:srgbClr val="FFFFFF"/>
                          </a:solidFill>
                          <a:latin typeface="游ゴシック"/>
                          <a:ea typeface="游ゴシック"/>
                        </a:rPr>
                        <a:t>9</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10</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11</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12</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1</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rPr>
                        <a:t>2</a:t>
                      </a:r>
                    </a:p>
                    <a:p>
                      <a:pPr algn="ctr"/>
                      <a:r>
                        <a:rPr kumimoji="1" lang="ja-JP" altLang="en-US" sz="1400" b="0" dirty="0">
                          <a:solidFill>
                            <a:srgbClr val="FFFFFF"/>
                          </a:solidFill>
                          <a:latin typeface="游ゴシック"/>
                          <a:ea typeface="游ゴシック"/>
                        </a:rPr>
                        <a:t>月</a:t>
                      </a:r>
                      <a:endParaRPr kumimoji="1" lang="ja-JP" altLang="en-US" sz="1400" b="0" dirty="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dirty="0">
                          <a:solidFill>
                            <a:srgbClr val="FFFFFF"/>
                          </a:solidFill>
                          <a:latin typeface="游ゴシック"/>
                          <a:ea typeface="游ゴシック"/>
                          <a:cs typeface="Meiryo UI" pitchFamily="50" charset="-128"/>
                        </a:rPr>
                        <a:t>3</a:t>
                      </a:r>
                    </a:p>
                    <a:p>
                      <a:pPr algn="ctr"/>
                      <a:r>
                        <a:rPr kumimoji="1" lang="ja-JP" altLang="en-US" sz="1400" b="0" dirty="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815514">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40000">
                <a:tc>
                  <a:txBody>
                    <a:bodyPr/>
                    <a:lstStyle/>
                    <a:p>
                      <a:pPr algn="l"/>
                      <a:r>
                        <a:rPr kumimoji="1" lang="ja-JP" altLang="en-US" sz="1200" b="0" dirty="0">
                          <a:latin typeface="游ゴシック" panose="020B0400000000000000" pitchFamily="50" charset="-128"/>
                          <a:ea typeface="+mn-ea"/>
                          <a:cs typeface="Meiryo UI" pitchFamily="50" charset="-128"/>
                        </a:rPr>
                        <a:t>① 縮小版共通基盤へのシステム資産移行</a:t>
                      </a:r>
                      <a:endParaRPr kumimoji="1" lang="ja-JP" altLang="en-US" sz="1200" b="0" dirty="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7712719" y="5531384"/>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004619" y="5531384"/>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296518" y="5531384"/>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637682" y="5456686"/>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4136576" y="3510717"/>
            <a:ext cx="604618"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要件</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定義</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871011" y="3510717"/>
            <a:ext cx="900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システム</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テスト</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4732586" y="3510717"/>
            <a:ext cx="64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基本</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6266444" y="3510717"/>
            <a:ext cx="1604209"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571864" y="3510717"/>
            <a:ext cx="79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a:ea typeface="游ゴシック"/>
              </a:rPr>
              <a:t>本番移行</a:t>
            </a:r>
            <a:endParaRPr lang="en-US" altLang="ja-JP" sz="1100" dirty="0">
              <a:solidFill>
                <a:schemeClr val="tx1"/>
              </a:solidFill>
              <a:latin typeface="游ゴシック"/>
              <a:ea typeface="游ゴシック"/>
            </a:endParaRPr>
          </a:p>
          <a:p>
            <a:pPr algn="ctr"/>
            <a:r>
              <a:rPr lang="ja-JP" altLang="en-US" sz="1100" dirty="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8756870" y="3510717"/>
            <a:ext cx="814637"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運用</a:t>
            </a:r>
            <a:endParaRPr lang="en-US" altLang="ja-JP" sz="1100" dirty="0">
              <a:solidFill>
                <a:schemeClr val="tx1"/>
              </a:solidFill>
              <a:latin typeface="游ゴシック" panose="020B0400000000000000" pitchFamily="50" charset="-128"/>
              <a:ea typeface="游ゴシック" panose="020B0400000000000000" pitchFamily="50" charset="-128"/>
            </a:endParaRPr>
          </a:p>
          <a:p>
            <a:pPr algn="ctr"/>
            <a:r>
              <a:rPr lang="ja-JP" altLang="en-US" sz="1100" dirty="0">
                <a:solidFill>
                  <a:schemeClr val="tx1"/>
                </a:solidFill>
                <a:latin typeface="游ゴシック" panose="020B0400000000000000" pitchFamily="50" charset="-128"/>
                <a:ea typeface="游ゴシック" panose="020B0400000000000000" pitchFamily="50" charset="-128"/>
              </a:rPr>
              <a:t>テスト</a:t>
            </a: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129398" y="2033680"/>
            <a:ext cx="2583321"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★検証環境構築（</a:t>
            </a:r>
            <a:r>
              <a:rPr kumimoji="1" lang="en-US" altLang="ja-JP" sz="1100" dirty="0">
                <a:latin typeface="游ゴシック" panose="020B0400000000000000" pitchFamily="50" charset="-128"/>
                <a:ea typeface="游ゴシック" panose="020B0400000000000000" pitchFamily="50" charset="-128"/>
              </a:rPr>
              <a:t>AP</a:t>
            </a:r>
            <a:r>
              <a:rPr kumimoji="1" lang="ja-JP" altLang="en-US" sz="1100" dirty="0">
                <a:latin typeface="游ゴシック" panose="020B0400000000000000" pitchFamily="50" charset="-128"/>
                <a:ea typeface="游ゴシック" panose="020B0400000000000000" pitchFamily="50" charset="-128"/>
              </a:rPr>
              <a:t>・</a:t>
            </a:r>
            <a:r>
              <a:rPr kumimoji="1" lang="en-US" altLang="ja-JP" sz="1100" dirty="0">
                <a:latin typeface="游ゴシック" panose="020B0400000000000000" pitchFamily="50" charset="-128"/>
                <a:ea typeface="游ゴシック" panose="020B0400000000000000" pitchFamily="50" charset="-128"/>
              </a:rPr>
              <a:t>DB</a:t>
            </a:r>
            <a:r>
              <a:rPr kumimoji="1" lang="ja-JP" altLang="en-US" sz="1100" dirty="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6214341" y="2389458"/>
            <a:ext cx="2583321"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★本番環境構築（</a:t>
            </a:r>
            <a:r>
              <a:rPr kumimoji="1" lang="en-US" altLang="ja-JP" sz="1100" dirty="0">
                <a:latin typeface="游ゴシック" panose="020B0400000000000000" pitchFamily="50" charset="-128"/>
                <a:ea typeface="游ゴシック" panose="020B0400000000000000" pitchFamily="50" charset="-128"/>
              </a:rPr>
              <a:t>AP</a:t>
            </a:r>
            <a:r>
              <a:rPr kumimoji="1" lang="ja-JP" altLang="en-US" sz="1100" dirty="0">
                <a:latin typeface="游ゴシック" panose="020B0400000000000000" pitchFamily="50" charset="-128"/>
                <a:ea typeface="游ゴシック" panose="020B0400000000000000" pitchFamily="50" charset="-128"/>
              </a:rPr>
              <a:t>・</a:t>
            </a:r>
            <a:r>
              <a:rPr kumimoji="1" lang="en-US" altLang="ja-JP" sz="1100" dirty="0">
                <a:latin typeface="游ゴシック" panose="020B0400000000000000" pitchFamily="50" charset="-128"/>
                <a:ea typeface="游ゴシック" panose="020B0400000000000000" pitchFamily="50" charset="-128"/>
              </a:rPr>
              <a:t>DB</a:t>
            </a:r>
            <a:r>
              <a:rPr kumimoji="1" lang="ja-JP" altLang="en-US" sz="1100" dirty="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803396" y="2033680"/>
            <a:ext cx="1123122" cy="261610"/>
          </a:xfrm>
          <a:prstGeom prst="rect">
            <a:avLst/>
          </a:prstGeom>
          <a:noFill/>
        </p:spPr>
        <p:txBody>
          <a:bodyPr wrap="square" rtlCol="0">
            <a:spAutoFit/>
          </a:bodyPr>
          <a:lstStyle/>
          <a:p>
            <a:r>
              <a:rPr kumimoji="1" lang="ja-JP" altLang="en-US" sz="1100" dirty="0">
                <a:latin typeface="游ゴシック" panose="020B0400000000000000" pitchFamily="50" charset="-128"/>
                <a:ea typeface="游ゴシック" panose="020B0400000000000000" pitchFamily="50" charset="-128"/>
              </a:rPr>
              <a:t>★①本番切替</a:t>
            </a:r>
          </a:p>
        </p:txBody>
      </p:sp>
      <p:sp>
        <p:nvSpPr>
          <p:cNvPr id="6" name="Slide Number Placeholder 5">
            <a:extLst>
              <a:ext uri="{FF2B5EF4-FFF2-40B4-BE49-F238E27FC236}">
                <a16:creationId xmlns:a16="http://schemas.microsoft.com/office/drawing/2014/main" id="{FCB654B0-232F-0B8C-AD6C-A67A98497A4C}"/>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8</a:t>
            </a:fld>
            <a:endParaRPr lang="en-US"/>
          </a:p>
        </p:txBody>
      </p:sp>
      <p:sp>
        <p:nvSpPr>
          <p:cNvPr id="3" name="Footer Placeholder 2">
            <a:extLst>
              <a:ext uri="{FF2B5EF4-FFF2-40B4-BE49-F238E27FC236}">
                <a16:creationId xmlns:a16="http://schemas.microsoft.com/office/drawing/2014/main" id="{80B194A0-C198-FAC1-050B-9EA648E549AA}"/>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8" name="矢印: 左右 7">
            <a:extLst>
              <a:ext uri="{FF2B5EF4-FFF2-40B4-BE49-F238E27FC236}">
                <a16:creationId xmlns:a16="http://schemas.microsoft.com/office/drawing/2014/main" id="{EE71303A-190E-DC83-D7A8-7F863FFBEC07}"/>
              </a:ext>
            </a:extLst>
          </p:cNvPr>
          <p:cNvSpPr/>
          <p:nvPr/>
        </p:nvSpPr>
        <p:spPr>
          <a:xfrm>
            <a:off x="4136576" y="3021021"/>
            <a:ext cx="1238150" cy="4589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400">
                <a:solidFill>
                  <a:schemeClr val="tx1"/>
                </a:solidFill>
                <a:ea typeface="游ゴシック"/>
              </a:rPr>
              <a:t>契約①</a:t>
            </a:r>
          </a:p>
        </p:txBody>
      </p:sp>
      <p:sp>
        <p:nvSpPr>
          <p:cNvPr id="17" name="矢印: 左右 16">
            <a:extLst>
              <a:ext uri="{FF2B5EF4-FFF2-40B4-BE49-F238E27FC236}">
                <a16:creationId xmlns:a16="http://schemas.microsoft.com/office/drawing/2014/main" id="{4A65D611-AB6C-7F27-69C8-9C603A0332F2}"/>
              </a:ext>
            </a:extLst>
          </p:cNvPr>
          <p:cNvSpPr/>
          <p:nvPr/>
        </p:nvSpPr>
        <p:spPr>
          <a:xfrm>
            <a:off x="5374726" y="3008322"/>
            <a:ext cx="4989138" cy="484317"/>
          </a:xfrm>
          <a:prstGeom prst="lef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契約②</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5374726" y="3510717"/>
            <a:ext cx="89136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開発</a:t>
            </a:r>
          </a:p>
        </p:txBody>
      </p:sp>
      <p:sp>
        <p:nvSpPr>
          <p:cNvPr id="25" name="正方形/長方形 24">
            <a:extLst>
              <a:ext uri="{FF2B5EF4-FFF2-40B4-BE49-F238E27FC236}">
                <a16:creationId xmlns:a16="http://schemas.microsoft.com/office/drawing/2014/main" id="{52F3D286-FDE4-4EA5-A219-D7AC3DDF0E54}"/>
              </a:ext>
            </a:extLst>
          </p:cNvPr>
          <p:cNvSpPr/>
          <p:nvPr/>
        </p:nvSpPr>
        <p:spPr>
          <a:xfrm>
            <a:off x="5374726" y="2972119"/>
            <a:ext cx="4989138" cy="1366462"/>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D036B7CF-8BCF-47C9-AAD1-E5C5DD76A21B}"/>
              </a:ext>
            </a:extLst>
          </p:cNvPr>
          <p:cNvSpPr/>
          <p:nvPr/>
        </p:nvSpPr>
        <p:spPr>
          <a:xfrm>
            <a:off x="8115478" y="4540098"/>
            <a:ext cx="2248386" cy="32438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rgbClr val="FF0000"/>
                </a:solidFill>
              </a:rPr>
              <a:t>本御見積対象範囲</a:t>
            </a:r>
          </a:p>
        </p:txBody>
      </p:sp>
    </p:spTree>
    <p:extLst>
      <p:ext uri="{BB962C8B-B14F-4D97-AF65-F5344CB8AC3E}">
        <p14:creationId xmlns:p14="http://schemas.microsoft.com/office/powerpoint/2010/main" val="213602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en-US" altLang="ja-JP">
                <a:latin typeface="游明朝"/>
                <a:ea typeface="游明朝"/>
              </a:rPr>
              <a:t>8.</a:t>
            </a:r>
            <a:r>
              <a:rPr lang="ja-JP" altLang="en-US">
                <a:latin typeface="游明朝"/>
                <a:ea typeface="游明朝"/>
              </a:rPr>
              <a:t>想定している会議体</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EAE72EB3-397D-4431-B5A6-36A04C1748AB}"/>
              </a:ext>
            </a:extLst>
          </p:cNvPr>
          <p:cNvSpPr>
            <a:spLocks noGrp="1"/>
          </p:cNvSpPr>
          <p:nvPr>
            <p:ph type="ftr" sz="quarter" idx="10"/>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3C1429CC-0904-7287-60DD-EC2572B0CED5}"/>
              </a:ext>
            </a:extLst>
          </p:cNvPr>
          <p:cNvSpPr>
            <a:spLocks noGrp="1"/>
          </p:cNvSpPr>
          <p:nvPr>
            <p:ph type="sldNum" sz="quarter" idx="11"/>
          </p:nvPr>
        </p:nvSpPr>
        <p:spPr>
          <a:xfrm>
            <a:off x="10752000" y="6552000"/>
            <a:ext cx="1440000" cy="216000"/>
          </a:xfrm>
        </p:spPr>
        <p:txBody>
          <a:bodyPr/>
          <a:lstStyle/>
          <a:p>
            <a:fld id="{26CA5134-5AAC-D342-B763-43605FECB385}" type="slidenum">
              <a:rPr kumimoji="1" lang="ja-JP" altLang="en-US" smtClean="0"/>
              <a:pPr/>
              <a:t>9</a:t>
            </a:fld>
            <a:endParaRPr kumimoji="1" lang="ja-JP" altLang="en-US" sz="700"/>
          </a:p>
        </p:txBody>
      </p:sp>
      <p:sp>
        <p:nvSpPr>
          <p:cNvPr id="7" name="テキスト ボックス 6">
            <a:extLst>
              <a:ext uri="{FF2B5EF4-FFF2-40B4-BE49-F238E27FC236}">
                <a16:creationId xmlns:a16="http://schemas.microsoft.com/office/drawing/2014/main" id="{ABC8AA5A-10BD-4D38-B3F4-DE12131249F5}"/>
              </a:ext>
            </a:extLst>
          </p:cNvPr>
          <p:cNvSpPr txBox="1"/>
          <p:nvPr/>
        </p:nvSpPr>
        <p:spPr>
          <a:xfrm>
            <a:off x="576000" y="788894"/>
            <a:ext cx="10961576" cy="338554"/>
          </a:xfrm>
          <a:prstGeom prst="rect">
            <a:avLst/>
          </a:prstGeom>
          <a:noFill/>
        </p:spPr>
        <p:txBody>
          <a:bodyPr wrap="square" rtlCol="0">
            <a:spAutoFit/>
          </a:bodyPr>
          <a:lstStyle/>
          <a:p>
            <a:r>
              <a:rPr kumimoji="1" lang="ja-JP" altLang="en-US" sz="1600" dirty="0">
                <a:latin typeface="游ゴシック" panose="020B0400000000000000" pitchFamily="50" charset="-128"/>
                <a:ea typeface="游ゴシック" panose="020B0400000000000000" pitchFamily="50" charset="-128"/>
              </a:rPr>
              <a:t>開発フェーズ以降で想定している会議体となります。</a:t>
            </a:r>
          </a:p>
        </p:txBody>
      </p:sp>
      <p:graphicFrame>
        <p:nvGraphicFramePr>
          <p:cNvPr id="8" name="表 7">
            <a:extLst>
              <a:ext uri="{FF2B5EF4-FFF2-40B4-BE49-F238E27FC236}">
                <a16:creationId xmlns:a16="http://schemas.microsoft.com/office/drawing/2014/main" id="{59E87056-BFCA-4F79-814E-450EDD5EA42B}"/>
              </a:ext>
            </a:extLst>
          </p:cNvPr>
          <p:cNvGraphicFramePr>
            <a:graphicFrameLocks noGrp="1"/>
          </p:cNvGraphicFramePr>
          <p:nvPr>
            <p:extLst>
              <p:ext uri="{D42A27DB-BD31-4B8C-83A1-F6EECF244321}">
                <p14:modId xmlns:p14="http://schemas.microsoft.com/office/powerpoint/2010/main" val="3691444635"/>
              </p:ext>
            </p:extLst>
          </p:nvPr>
        </p:nvGraphicFramePr>
        <p:xfrm>
          <a:off x="576000" y="1478563"/>
          <a:ext cx="11158372" cy="1504033"/>
        </p:xfrm>
        <a:graphic>
          <a:graphicData uri="http://schemas.openxmlformats.org/drawingml/2006/table">
            <a:tbl>
              <a:tblPr firstRow="1" bandRow="1">
                <a:tableStyleId>{69012ECD-51FC-41F1-AA8D-1B2483CD663E}</a:tableStyleId>
              </a:tblPr>
              <a:tblGrid>
                <a:gridCol w="458473">
                  <a:extLst>
                    <a:ext uri="{9D8B030D-6E8A-4147-A177-3AD203B41FA5}">
                      <a16:colId xmlns:a16="http://schemas.microsoft.com/office/drawing/2014/main" val="820809534"/>
                    </a:ext>
                  </a:extLst>
                </a:gridCol>
                <a:gridCol w="1734492">
                  <a:extLst>
                    <a:ext uri="{9D8B030D-6E8A-4147-A177-3AD203B41FA5}">
                      <a16:colId xmlns:a16="http://schemas.microsoft.com/office/drawing/2014/main" val="2667349602"/>
                    </a:ext>
                  </a:extLst>
                </a:gridCol>
                <a:gridCol w="2218671">
                  <a:extLst>
                    <a:ext uri="{9D8B030D-6E8A-4147-A177-3AD203B41FA5}">
                      <a16:colId xmlns:a16="http://schemas.microsoft.com/office/drawing/2014/main" val="610294435"/>
                    </a:ext>
                  </a:extLst>
                </a:gridCol>
                <a:gridCol w="1440873">
                  <a:extLst>
                    <a:ext uri="{9D8B030D-6E8A-4147-A177-3AD203B41FA5}">
                      <a16:colId xmlns:a16="http://schemas.microsoft.com/office/drawing/2014/main" val="3248297098"/>
                    </a:ext>
                  </a:extLst>
                </a:gridCol>
                <a:gridCol w="5305863">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会議名</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lvl="0" algn="ctr">
                        <a:buNone/>
                      </a:pPr>
                      <a:r>
                        <a:rPr lang="ja-JP" altLang="en-US" sz="1600">
                          <a:solidFill>
                            <a:srgbClr val="FFFFFF"/>
                          </a:solidFill>
                          <a:latin typeface="游ゴシック"/>
                          <a:ea typeface="游ゴシック"/>
                        </a:rPr>
                        <a:t>時期</a:t>
                      </a:r>
                      <a:endParaRPr kumimoji="1" lang="ja-JP" altLang="en-US" sz="160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lvl="0" algn="ctr">
                        <a:buNone/>
                      </a:pPr>
                      <a:r>
                        <a:rPr lang="ja-JP" altLang="en-US" sz="1600" dirty="0">
                          <a:solidFill>
                            <a:srgbClr val="FFFFFF"/>
                          </a:solidFill>
                          <a:latin typeface="游ゴシック"/>
                          <a:ea typeface="游ゴシック"/>
                        </a:rPr>
                        <a:t>参加者</a:t>
                      </a:r>
                      <a:endParaRPr kumimoji="1" lang="ja-JP" altLang="en-US" sz="1600" dirty="0">
                        <a:solidFill>
                          <a:srgbClr val="FFFFFF"/>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solidFill>
                      <a:schemeClr val="accent1"/>
                    </a:solidFill>
                  </a:tcPr>
                </a:tc>
                <a:tc>
                  <a:txBody>
                    <a:bodyPr/>
                    <a:lstStyle/>
                    <a:p>
                      <a:pPr algn="ctr"/>
                      <a:r>
                        <a:rPr lang="ja-JP" altLang="en-US" sz="1600" dirty="0">
                          <a:solidFill>
                            <a:srgbClr val="FFFFFF"/>
                          </a:solidFill>
                          <a:latin typeface="游ゴシック"/>
                          <a:ea typeface="游ゴシック"/>
                        </a:rPr>
                        <a:t>議題</a:t>
                      </a:r>
                      <a:endParaRPr kumimoji="1" lang="ja-JP" altLang="en-US" sz="1600" dirty="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dirty="0">
                          <a:solidFill>
                            <a:schemeClr val="dk1"/>
                          </a:solidFill>
                          <a:latin typeface="游ゴシック"/>
                          <a:ea typeface="游ゴシック"/>
                          <a:cs typeface="+mn-cs"/>
                        </a:rPr>
                        <a:t>1</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600" dirty="0">
                          <a:solidFill>
                            <a:schemeClr val="tx1"/>
                          </a:solidFill>
                          <a:latin typeface="游ゴシック"/>
                          <a:ea typeface="游ゴシック"/>
                        </a:rPr>
                        <a:t>週次報告</a:t>
                      </a:r>
                      <a:endParaRPr kumimoji="1"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None/>
                      </a:pPr>
                      <a:r>
                        <a:rPr lang="ja-JP" altLang="en-US" sz="1600" dirty="0">
                          <a:solidFill>
                            <a:schemeClr val="tx1"/>
                          </a:solidFill>
                          <a:latin typeface="游ゴシック"/>
                          <a:ea typeface="游ゴシック"/>
                        </a:rPr>
                        <a:t>毎週金曜</a:t>
                      </a:r>
                      <a:endParaRPr lang="en-US" altLang="ja-JP" sz="1600" dirty="0">
                        <a:solidFill>
                          <a:schemeClr val="tx1"/>
                        </a:solidFill>
                        <a:latin typeface="游ゴシック"/>
                        <a:ea typeface="游ゴシック"/>
                      </a:endParaRPr>
                    </a:p>
                    <a:p>
                      <a:pPr marL="0" lvl="0" indent="0">
                        <a:buNone/>
                      </a:pPr>
                      <a:r>
                        <a:rPr lang="en-US" altLang="ja-JP" sz="1600" dirty="0">
                          <a:solidFill>
                            <a:schemeClr val="tx1"/>
                          </a:solidFill>
                          <a:latin typeface="游ゴシック"/>
                          <a:ea typeface="游ゴシック"/>
                        </a:rPr>
                        <a:t>11</a:t>
                      </a:r>
                      <a:r>
                        <a:rPr lang="ja-JP" altLang="en-US" sz="1600" dirty="0">
                          <a:solidFill>
                            <a:schemeClr val="tx1"/>
                          </a:solidFill>
                          <a:latin typeface="游ゴシック"/>
                          <a:ea typeface="游ゴシック"/>
                        </a:rPr>
                        <a:t>時～</a:t>
                      </a:r>
                      <a:r>
                        <a:rPr lang="en-US" altLang="ja-JP" sz="1600" dirty="0">
                          <a:solidFill>
                            <a:schemeClr val="tx1"/>
                          </a:solidFill>
                          <a:latin typeface="游ゴシック"/>
                          <a:ea typeface="游ゴシック"/>
                        </a:rPr>
                        <a:t>12</a:t>
                      </a:r>
                      <a:r>
                        <a:rPr lang="ja-JP" altLang="en-US" sz="1600" dirty="0">
                          <a:solidFill>
                            <a:schemeClr val="tx1"/>
                          </a:solidFill>
                          <a:latin typeface="游ゴシック"/>
                          <a:ea typeface="游ゴシック"/>
                        </a:rPr>
                        <a:t>時</a:t>
                      </a:r>
                      <a:endParaRPr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lvl="0" indent="0">
                        <a:buNone/>
                      </a:pPr>
                      <a:r>
                        <a:rPr lang="ja-JP" sz="1600" b="0" i="0" u="none" strike="noStrike" noProof="0" dirty="0">
                          <a:solidFill>
                            <a:schemeClr val="tx1"/>
                          </a:solidFill>
                          <a:latin typeface="游ゴシック"/>
                          <a:ea typeface="游ゴシック"/>
                        </a:rPr>
                        <a:t>四課様、EXE</a:t>
                      </a:r>
                      <a:endParaRPr kumimoji="1" lang="en-US" altLang="ja-JP" dirty="0"/>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a:solidFill>
                        <a:schemeClr val="bg1">
                          <a:lumMod val="65000"/>
                        </a:schemeClr>
                      </a:solidFill>
                    </a:lnB>
                    <a:lnTlToBr w="0">
                      <a:noFill/>
                    </a:lnTlToBr>
                    <a:lnBlToTr w="0">
                      <a:noFill/>
                    </a:lnBlToTr>
                  </a:tcPr>
                </a:tc>
                <a:tc>
                  <a:txBody>
                    <a:bodyPr/>
                    <a:lstStyle/>
                    <a:p>
                      <a:pPr marL="0" indent="0">
                        <a:buFont typeface="Arial" pitchFamily="34" charset="0"/>
                        <a:buNone/>
                      </a:pPr>
                      <a:r>
                        <a:rPr lang="ja-JP" altLang="en-US" sz="1600" dirty="0">
                          <a:solidFill>
                            <a:schemeClr val="tx1"/>
                          </a:solidFill>
                          <a:latin typeface="游ゴシック"/>
                          <a:ea typeface="游ゴシック"/>
                        </a:rPr>
                        <a:t>プロジェクトの進捗、課題の報告をいたします。</a:t>
                      </a:r>
                      <a:endParaRPr kumimoji="1"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dirty="0">
                          <a:solidFill>
                            <a:schemeClr val="dk1"/>
                          </a:solidFill>
                          <a:latin typeface="游ゴシック"/>
                          <a:ea typeface="游ゴシック"/>
                          <a:cs typeface="+mn-cs"/>
                        </a:rPr>
                        <a:t>2</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dirty="0">
                          <a:solidFill>
                            <a:schemeClr val="tx1"/>
                          </a:solidFill>
                          <a:latin typeface="游ゴシック"/>
                          <a:ea typeface="游ゴシック"/>
                        </a:rPr>
                        <a:t>成果物レビュー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l" defTabSz="914400">
                        <a:lnSpc>
                          <a:spcPct val="100000"/>
                        </a:lnSpc>
                        <a:spcBef>
                          <a:spcPts val="0"/>
                        </a:spcBef>
                        <a:spcAft>
                          <a:spcPts val="0"/>
                        </a:spcAft>
                        <a:buNone/>
                        <a:tabLst/>
                        <a:defRPr/>
                      </a:pPr>
                      <a:r>
                        <a:rPr lang="ja-JP" altLang="en-US" sz="1600" b="0" i="0" u="none" strike="noStrike" noProof="0" dirty="0">
                          <a:solidFill>
                            <a:schemeClr val="tx1"/>
                          </a:solidFill>
                          <a:latin typeface="游ゴシック"/>
                          <a:ea typeface="游ゴシック"/>
                        </a:rPr>
                        <a:t>各成果物の作成完了時</a:t>
                      </a:r>
                      <a:endParaRPr lang="en-US" altLang="ja-JP" sz="1600" b="0" i="0" u="none" strike="noStrike" noProof="0" dirty="0">
                        <a:solidFill>
                          <a:schemeClr val="tx1"/>
                        </a:solidFill>
                        <a:latin typeface="游ゴシック"/>
                        <a:ea typeface="游ゴシック"/>
                      </a:endParaRPr>
                    </a:p>
                    <a:p>
                      <a:pPr marL="0" lvl="0" indent="0" algn="l" defTabSz="914400">
                        <a:lnSpc>
                          <a:spcPct val="100000"/>
                        </a:lnSpc>
                        <a:spcBef>
                          <a:spcPts val="0"/>
                        </a:spcBef>
                        <a:spcAft>
                          <a:spcPts val="0"/>
                        </a:spcAft>
                        <a:buNone/>
                        <a:tabLst/>
                        <a:defRPr/>
                      </a:pPr>
                      <a:r>
                        <a:rPr lang="en-US" altLang="ja-JP" sz="1600" b="0" i="0" u="none" strike="noStrike" noProof="0" dirty="0">
                          <a:solidFill>
                            <a:schemeClr val="tx1"/>
                          </a:solidFill>
                          <a:latin typeface="游ゴシック"/>
                          <a:ea typeface="游ゴシック"/>
                        </a:rPr>
                        <a:t>1</a:t>
                      </a:r>
                      <a:r>
                        <a:rPr lang="ja-JP" altLang="en-US" sz="1600" b="0" i="0" u="none" strike="noStrike" noProof="0" dirty="0">
                          <a:solidFill>
                            <a:schemeClr val="tx1"/>
                          </a:solidFill>
                          <a:latin typeface="游ゴシック"/>
                          <a:ea typeface="游ゴシック"/>
                        </a:rPr>
                        <a:t>時間程度</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noProof="0" dirty="0">
                          <a:solidFill>
                            <a:schemeClr val="tx1"/>
                          </a:solidFill>
                          <a:latin typeface="游ゴシック"/>
                          <a:ea typeface="游ゴシック"/>
                        </a:rPr>
                        <a:t>四課様、EXE</a:t>
                      </a:r>
                      <a:endParaRPr lang="en-US" altLang="ja-JP" dirty="0"/>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テスト仕様、リリース手順について</a:t>
                      </a:r>
                      <a:r>
                        <a:rPr lang="ja-JP" altLang="en-US" sz="1600" u="none" strike="noStrike" kern="1200" cap="none" normalizeH="0" baseline="0" dirty="0">
                          <a:ln>
                            <a:noFill/>
                          </a:ln>
                          <a:solidFill>
                            <a:schemeClr val="tx1"/>
                          </a:solidFill>
                          <a:effectLst/>
                          <a:latin typeface="游ゴシック"/>
                          <a:ea typeface="游ゴシック"/>
                        </a:rPr>
                        <a:t>レビューを頂きます。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bl>
          </a:graphicData>
        </a:graphic>
      </p:graphicFrame>
    </p:spTree>
    <p:extLst>
      <p:ext uri="{BB962C8B-B14F-4D97-AF65-F5344CB8AC3E}">
        <p14:creationId xmlns:p14="http://schemas.microsoft.com/office/powerpoint/2010/main" val="2582618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dirty="0">
                <a:latin typeface="游明朝"/>
                <a:ea typeface="游明朝"/>
              </a:rPr>
              <a:t>9. </a:t>
            </a:r>
            <a:r>
              <a:rPr lang="ja-JP" altLang="en-US" dirty="0">
                <a:latin typeface="游明朝"/>
                <a:ea typeface="游明朝"/>
              </a:rPr>
              <a:t>お見積もり</a:t>
            </a:r>
            <a:endParaRPr kumimoji="1" lang="ja-JP" altLang="en-US" sz="2000" dirty="0">
              <a:latin typeface="游明朝"/>
              <a:ea typeface="游明朝"/>
            </a:endParaRPr>
          </a:p>
        </p:txBody>
      </p:sp>
      <p:sp>
        <p:nvSpPr>
          <p:cNvPr id="3" name="フッター プレースホルダー 2">
            <a:extLst>
              <a:ext uri="{FF2B5EF4-FFF2-40B4-BE49-F238E27FC236}">
                <a16:creationId xmlns:a16="http://schemas.microsoft.com/office/drawing/2014/main" id="{367FCF23-2C12-1622-9EEB-804CDD53B06F}"/>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B6EDFBB4-85D2-C7DB-88A3-8C326CAECAC5}"/>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10</a:t>
            </a:fld>
            <a:endParaRPr kumimoji="1" lang="ja-JP" altLang="en-US" sz="700"/>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516000" y="866864"/>
            <a:ext cx="7595218" cy="345057"/>
          </a:xfrm>
          <a:prstGeom prst="rect">
            <a:avLst/>
          </a:prstGeom>
          <a:noFill/>
        </p:spPr>
        <p:txBody>
          <a:bodyPr wrap="square" rtlCol="0">
            <a:noAutofit/>
          </a:bodyPr>
          <a:lstStyle/>
          <a:p>
            <a:r>
              <a:rPr lang="ja-JP" altLang="en-US" sz="1600" dirty="0">
                <a:latin typeface="+mn-ea"/>
                <a:cs typeface="メイリオ" pitchFamily="50" charset="-128"/>
              </a:rPr>
              <a:t>作業期間は、</a:t>
            </a:r>
            <a:r>
              <a:rPr lang="en-US" altLang="ja-JP" sz="1600" dirty="0">
                <a:latin typeface="+mn-ea"/>
                <a:cs typeface="メイリオ" pitchFamily="50" charset="-128"/>
              </a:rPr>
              <a:t>2025/10/1</a:t>
            </a:r>
            <a:r>
              <a:rPr lang="ja-JP" altLang="en-US" sz="1600" dirty="0">
                <a:latin typeface="+mn-ea"/>
                <a:cs typeface="メイリオ" pitchFamily="50" charset="-128"/>
              </a:rPr>
              <a:t>～</a:t>
            </a:r>
            <a:r>
              <a:rPr lang="en-US" altLang="ja-JP" sz="1600" dirty="0">
                <a:latin typeface="+mn-ea"/>
                <a:cs typeface="メイリオ" pitchFamily="50" charset="-128"/>
              </a:rPr>
              <a:t>2026/2/28</a:t>
            </a:r>
            <a:r>
              <a:rPr lang="ja-JP" altLang="en-US" sz="1600" dirty="0" err="1">
                <a:latin typeface="+mn-ea"/>
                <a:cs typeface="メイリオ" pitchFamily="50" charset="-128"/>
              </a:rPr>
              <a:t>までの</a:t>
            </a:r>
            <a:r>
              <a:rPr lang="en-US" altLang="ja-JP" sz="1600" dirty="0">
                <a:latin typeface="+mn-ea"/>
                <a:cs typeface="メイリオ" pitchFamily="50" charset="-128"/>
              </a:rPr>
              <a:t>5</a:t>
            </a:r>
            <a:r>
              <a:rPr lang="ja-JP" altLang="en-US" sz="1600" dirty="0">
                <a:latin typeface="+mn-ea"/>
                <a:cs typeface="メイリオ" pitchFamily="50" charset="-128"/>
              </a:rPr>
              <a:t>ヶ月を想定しております。</a:t>
            </a:r>
            <a:endParaRPr lang="en-US" altLang="ja-JP" sz="1600" dirty="0">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3097168945"/>
              </p:ext>
            </p:extLst>
          </p:nvPr>
        </p:nvGraphicFramePr>
        <p:xfrm>
          <a:off x="516000" y="1394785"/>
          <a:ext cx="11160000" cy="3180920"/>
        </p:xfrm>
        <a:graphic>
          <a:graphicData uri="http://schemas.openxmlformats.org/drawingml/2006/table">
            <a:tbl>
              <a:tblPr firstRow="1" bandRow="1">
                <a:tableStyleId>{2D5ABB26-0587-4C30-8999-92F81FD0307C}</a:tableStyleId>
              </a:tblPr>
              <a:tblGrid>
                <a:gridCol w="418500">
                  <a:extLst>
                    <a:ext uri="{9D8B030D-6E8A-4147-A177-3AD203B41FA5}">
                      <a16:colId xmlns:a16="http://schemas.microsoft.com/office/drawing/2014/main" val="233225342"/>
                    </a:ext>
                  </a:extLst>
                </a:gridCol>
                <a:gridCol w="976500">
                  <a:extLst>
                    <a:ext uri="{9D8B030D-6E8A-4147-A177-3AD203B41FA5}">
                      <a16:colId xmlns:a16="http://schemas.microsoft.com/office/drawing/2014/main" val="3410166423"/>
                    </a:ext>
                  </a:extLst>
                </a:gridCol>
                <a:gridCol w="976500">
                  <a:extLst>
                    <a:ext uri="{9D8B030D-6E8A-4147-A177-3AD203B41FA5}">
                      <a16:colId xmlns:a16="http://schemas.microsoft.com/office/drawing/2014/main" val="568014644"/>
                    </a:ext>
                  </a:extLst>
                </a:gridCol>
                <a:gridCol w="697500">
                  <a:extLst>
                    <a:ext uri="{9D8B030D-6E8A-4147-A177-3AD203B41FA5}">
                      <a16:colId xmlns:a16="http://schemas.microsoft.com/office/drawing/2014/main" val="2247639322"/>
                    </a:ext>
                  </a:extLst>
                </a:gridCol>
                <a:gridCol w="1232097">
                  <a:extLst>
                    <a:ext uri="{9D8B030D-6E8A-4147-A177-3AD203B41FA5}">
                      <a16:colId xmlns:a16="http://schemas.microsoft.com/office/drawing/2014/main" val="4260495519"/>
                    </a:ext>
                  </a:extLst>
                </a:gridCol>
                <a:gridCol w="1649691">
                  <a:extLst>
                    <a:ext uri="{9D8B030D-6E8A-4147-A177-3AD203B41FA5}">
                      <a16:colId xmlns:a16="http://schemas.microsoft.com/office/drawing/2014/main" val="3343664097"/>
                    </a:ext>
                  </a:extLst>
                </a:gridCol>
                <a:gridCol w="1489435">
                  <a:extLst>
                    <a:ext uri="{9D8B030D-6E8A-4147-A177-3AD203B41FA5}">
                      <a16:colId xmlns:a16="http://schemas.microsoft.com/office/drawing/2014/main" val="3289193583"/>
                    </a:ext>
                  </a:extLst>
                </a:gridCol>
                <a:gridCol w="1781666">
                  <a:extLst>
                    <a:ext uri="{9D8B030D-6E8A-4147-A177-3AD203B41FA5}">
                      <a16:colId xmlns:a16="http://schemas.microsoft.com/office/drawing/2014/main" val="419565712"/>
                    </a:ext>
                  </a:extLst>
                </a:gridCol>
                <a:gridCol w="1938111">
                  <a:extLst>
                    <a:ext uri="{9D8B030D-6E8A-4147-A177-3AD203B41FA5}">
                      <a16:colId xmlns:a16="http://schemas.microsoft.com/office/drawing/2014/main" val="2912004341"/>
                    </a:ext>
                  </a:extLst>
                </a:gridCol>
              </a:tblGrid>
              <a:tr h="397615">
                <a:tc>
                  <a:txBody>
                    <a:bodyPr/>
                    <a:lstStyle/>
                    <a:p>
                      <a:pPr algn="ctr" rtl="0" fontAlgn="ctr"/>
                      <a:r>
                        <a:rPr lang="en-US" sz="1600" b="1" i="0" u="none" strike="noStrike" dirty="0">
                          <a:solidFill>
                            <a:srgbClr val="FFFFFF"/>
                          </a:solidFill>
                          <a:effectLst/>
                          <a:latin typeface="游ゴシック"/>
                          <a:ea typeface="游ゴシック"/>
                        </a:rPr>
                        <a:t>No.</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a:ea typeface="游ゴシック"/>
                        </a:rPr>
                        <a:t>作業者</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a:ea typeface="游ゴシック"/>
                        </a:rPr>
                        <a:t>工数/月（人月）</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dirty="0">
                          <a:solidFill>
                            <a:srgbClr val="FFFFFF"/>
                          </a:solidFill>
                          <a:effectLst/>
                          <a:latin typeface="游ゴシック"/>
                          <a:ea typeface="游ゴシック"/>
                        </a:rPr>
                        <a:t>期間</a:t>
                      </a:r>
                    </a:p>
                  </a:txBody>
                  <a:tcPr marL="7620" marR="7620" marT="762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lvl="0" algn="ctr">
                        <a:buNone/>
                      </a:pPr>
                      <a:r>
                        <a:rPr lang="ja-JP" altLang="en-US" sz="1600" b="1" i="0" u="none" strike="noStrike" dirty="0">
                          <a:solidFill>
                            <a:srgbClr val="FFFFFF"/>
                          </a:solidFill>
                          <a:effectLst/>
                          <a:latin typeface="游ゴシック"/>
                          <a:ea typeface="游ゴシック"/>
                        </a:rPr>
                        <a:t>合計工数</a:t>
                      </a:r>
                      <a:r>
                        <a:rPr lang="zh-CN" altLang="en-US" sz="1600" b="1" i="0" u="none" strike="noStrike" dirty="0">
                          <a:solidFill>
                            <a:srgbClr val="FFFFFF"/>
                          </a:solidFill>
                          <a:effectLst/>
                          <a:latin typeface="游ゴシック"/>
                          <a:ea typeface="游ゴシック"/>
                        </a:rPr>
                        <a:t>（人月）</a:t>
                      </a:r>
                      <a:endParaRPr lang="ja-JP" altLang="en-US" sz="1600" b="1" i="0" u="none" strike="noStrike" dirty="0">
                        <a:solidFill>
                          <a:srgbClr val="FFFFFF"/>
                        </a:solidFill>
                        <a:effectLst/>
                        <a:latin typeface="游ゴシック"/>
                        <a:ea typeface="游ゴシック"/>
                      </a:endParaRPr>
                    </a:p>
                  </a:txBody>
                  <a:tcPr marL="7620" marR="7620" marT="762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97615">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要件定義・設計</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a:ea typeface="游ゴシック"/>
                        </a:rPr>
                        <a:t>作業者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2">
                  <a:txBody>
                    <a:bodyPr/>
                    <a:lstStyle/>
                    <a:p>
                      <a:pPr lvl="0" algn="r">
                        <a:buNone/>
                      </a:pPr>
                      <a:r>
                        <a:rPr lang="en-US" altLang="ja-JP" sz="1600" b="0" i="0" u="none" strike="noStrike" dirty="0">
                          <a:solidFill>
                            <a:srgbClr val="000000"/>
                          </a:solidFill>
                          <a:effectLst/>
                          <a:latin typeface="游ゴシック"/>
                          <a:ea typeface="游ゴシック"/>
                        </a:rPr>
                        <a:t>2025/10/1</a:t>
                      </a: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2025/10/31</a:t>
                      </a:r>
                    </a:p>
                    <a:p>
                      <a:pPr lvl="0" algn="r">
                        <a:buNone/>
                      </a:pP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1</a:t>
                      </a:r>
                      <a:r>
                        <a:rPr lang="ja-JP" altLang="en-US" sz="1600" b="0" i="0" u="none" strike="noStrike" dirty="0">
                          <a:solidFill>
                            <a:srgbClr val="000000"/>
                          </a:solidFill>
                          <a:effectLst/>
                          <a:latin typeface="游ゴシック"/>
                          <a:ea typeface="游ゴシック"/>
                        </a:rPr>
                        <a:t>か月）</a:t>
                      </a:r>
                      <a:endParaRPr lang="en-US" altLang="ja-JP" sz="1600" b="0" i="0" u="none" strike="noStrike" dirty="0">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dirty="0">
                          <a:solidFill>
                            <a:srgbClr val="000000"/>
                          </a:solidFill>
                          <a:effectLst/>
                          <a:latin typeface="游ゴシック"/>
                          <a:ea typeface="游ゴシック"/>
                        </a:rPr>
                        <a:t>1.8</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dirty="0">
                          <a:solidFill>
                            <a:srgbClr val="000000"/>
                          </a:solidFill>
                          <a:effectLst/>
                          <a:latin typeface="游ゴシック"/>
                          <a:ea typeface="游ゴシック"/>
                        </a:rPr>
                        <a:t>1,800,000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12587978"/>
                  </a:ext>
                </a:extLst>
              </a:tr>
              <a:tr h="397615">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a:ea typeface="游ゴシック"/>
                        </a:rPr>
                        <a:t>管理者</a:t>
                      </a:r>
                    </a:p>
                  </a:txBody>
                  <a:tcPr marL="72000" marR="72000" marT="36000" marB="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vMerge="1">
                  <a:txBody>
                    <a:bodyPr/>
                    <a:lstStyle/>
                    <a:p>
                      <a:pPr lvl="0" algn="r">
                        <a:buNone/>
                      </a:pPr>
                      <a:endParaRPr lang="en-US" altLang="ja-JP" sz="1600" b="0" i="0" u="none" strike="noStrike" dirty="0">
                        <a:solidFill>
                          <a:srgbClr val="000000"/>
                        </a:solidFill>
                        <a:effectLst/>
                        <a:latin typeface="游ゴシック"/>
                        <a:ea typeface="游ゴシック"/>
                      </a:endParaRPr>
                    </a:p>
                  </a:txBody>
                  <a:tcPr marL="6350" marR="72000" marT="6350" marB="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lgn="r">
                        <a:buNone/>
                      </a:pPr>
                      <a:r>
                        <a:rPr lang="en-US" altLang="ja-JP" sz="1600" b="0" i="0" u="none" strike="noStrike" dirty="0">
                          <a:solidFill>
                            <a:srgbClr val="000000"/>
                          </a:solidFill>
                          <a:effectLst/>
                          <a:latin typeface="游ゴシック"/>
                          <a:ea typeface="游ゴシック"/>
                        </a:rPr>
                        <a:t>0.2</a:t>
                      </a:r>
                    </a:p>
                  </a:txBody>
                  <a:tcPr marL="6350" marR="72000" marT="6350" marB="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algn="r" rtl="0" fontAlgn="ctr"/>
                      <a:r>
                        <a:rPr lang="en-US" altLang="ja-JP" sz="1600" b="0" i="0" u="none" strike="noStrike" dirty="0">
                          <a:solidFill>
                            <a:srgbClr val="000000"/>
                          </a:solidFill>
                          <a:effectLst/>
                          <a:latin typeface="游ゴシック"/>
                          <a:ea typeface="游ゴシック"/>
                        </a:rPr>
                        <a:t>280,000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45517169"/>
                  </a:ext>
                </a:extLst>
              </a:tr>
              <a:tr h="397615">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dirty="0">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2,080,000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97615">
                <a:tc rowSpan="3">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a:t>
                      </a: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移行</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a:t>
                      </a: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dirty="0">
                          <a:solidFill>
                            <a:schemeClr val="tx1"/>
                          </a:solidFill>
                          <a:effectLst/>
                          <a:latin typeface="游ゴシック" panose="020B0400000000000000" pitchFamily="50" charset="-128"/>
                          <a:ea typeface="游ゴシック" panose="020B0400000000000000" pitchFamily="50" charset="-128"/>
                        </a:rPr>
                        <a:t>正式</a:t>
                      </a: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a:ea typeface="游ゴシック"/>
                        </a:rPr>
                        <a:t>作業者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1.8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rowSpan="2">
                  <a:txBody>
                    <a:bodyPr/>
                    <a:lstStyle/>
                    <a:p>
                      <a:pPr lvl="0" algn="r">
                        <a:buNone/>
                      </a:pPr>
                      <a:r>
                        <a:rPr lang="en-US" altLang="ja-JP" sz="1600" b="0" i="0" u="none" strike="noStrike" dirty="0">
                          <a:solidFill>
                            <a:srgbClr val="000000"/>
                          </a:solidFill>
                          <a:effectLst/>
                          <a:latin typeface="游ゴシック"/>
                          <a:ea typeface="游ゴシック"/>
                        </a:rPr>
                        <a:t>2025/11/1</a:t>
                      </a:r>
                      <a:r>
                        <a:rPr lang="ja-JP" altLang="en-US" sz="1600" b="0" i="0" u="none" strike="noStrike" dirty="0">
                          <a:solidFill>
                            <a:srgbClr val="000000"/>
                          </a:solidFill>
                          <a:effectLst/>
                          <a:latin typeface="游ゴシック"/>
                          <a:ea typeface="游ゴシック"/>
                        </a:rPr>
                        <a:t>～</a:t>
                      </a:r>
                      <a:r>
                        <a:rPr lang="en-US" altLang="ja-JP" sz="1600" b="0" i="0" u="none" strike="noStrike" dirty="0">
                          <a:solidFill>
                            <a:srgbClr val="000000"/>
                          </a:solidFill>
                          <a:effectLst/>
                          <a:latin typeface="游ゴシック"/>
                          <a:ea typeface="游ゴシック"/>
                        </a:rPr>
                        <a:t>2026/2/28</a:t>
                      </a:r>
                    </a:p>
                    <a:p>
                      <a:pPr marL="0" marR="0" lvl="0" indent="0" algn="r" defTabSz="914400" rtl="0" eaLnBrk="1" fontAlgn="auto"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游ゴシック"/>
                        </a:rPr>
                        <a:t>（4か月）</a:t>
                      </a:r>
                      <a:endParaRPr lang="en-US" altLang="ja-JP" sz="1600" b="0"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dirty="0">
                          <a:solidFill>
                            <a:srgbClr val="000000"/>
                          </a:solidFill>
                          <a:effectLst/>
                          <a:latin typeface="游ゴシック"/>
                          <a:ea typeface="游ゴシック"/>
                        </a:rPr>
                        <a:t>7.2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7,200,000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94450184"/>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a:ea typeface="游ゴシック"/>
                        </a:rPr>
                        <a:t>管理者</a:t>
                      </a:r>
                    </a:p>
                  </a:txBody>
                  <a:tcPr marL="72000" marR="72000" marT="36000" marB="3600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0.2</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vMerge="1">
                  <a:txBody>
                    <a:bodyPr/>
                    <a:lstStyle/>
                    <a:p>
                      <a:pPr lvl="0" algn="r">
                        <a:buNone/>
                      </a:pPr>
                      <a:endParaRPr lang="en-US" altLang="ja-JP" sz="1600" b="0"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lvl="0" algn="r">
                        <a:buNone/>
                      </a:pPr>
                      <a:r>
                        <a:rPr lang="en-US" altLang="ja-JP" sz="1600" b="0" i="0" u="none" strike="noStrike" dirty="0">
                          <a:solidFill>
                            <a:srgbClr val="000000"/>
                          </a:solidFill>
                          <a:effectLst/>
                          <a:latin typeface="游ゴシック"/>
                          <a:ea typeface="游ゴシック"/>
                        </a:rPr>
                        <a:t>0.8</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algn="r" rtl="0" fontAlgn="ctr"/>
                      <a:r>
                        <a:rPr lang="en-US" altLang="ja-JP" sz="1600" b="0" i="0" u="none" strike="noStrike" dirty="0">
                          <a:solidFill>
                            <a:srgbClr val="000000"/>
                          </a:solidFill>
                          <a:effectLst/>
                          <a:latin typeface="游ゴシック"/>
                          <a:ea typeface="游ゴシック"/>
                        </a:rPr>
                        <a:t>1,120,000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254259302"/>
                  </a:ext>
                </a:extLst>
              </a:tr>
              <a:tr h="397615">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dirty="0">
                          <a:solidFill>
                            <a:srgbClr val="000000"/>
                          </a:solidFill>
                          <a:effectLst/>
                          <a:latin typeface="游ゴシック"/>
                          <a:ea typeface="游ゴシック"/>
                        </a:rPr>
                        <a:t>小計</a:t>
                      </a: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2.0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8.0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8,320,000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1832122"/>
                  </a:ext>
                </a:extLst>
              </a:tr>
              <a:tr h="397615">
                <a:tc gridSpan="6">
                  <a:txBody>
                    <a:bodyPr/>
                    <a:lstStyle/>
                    <a:p>
                      <a:pPr algn="r" rtl="0" fontAlgn="ctr"/>
                      <a:r>
                        <a:rPr kumimoji="1" lang="ja-JP" altLang="en-US" sz="1600" b="1" i="0" u="none" strike="noStrike" kern="1200" dirty="0">
                          <a:solidFill>
                            <a:srgbClr val="000000"/>
                          </a:solidFill>
                          <a:effectLst/>
                          <a:latin typeface="游ゴシック"/>
                          <a:ea typeface="游ゴシック"/>
                          <a:cs typeface="+mn-cs"/>
                        </a:rPr>
                        <a:t>合計</a:t>
                      </a:r>
                      <a:endParaRPr kumimoji="1" lang="en-US" altLang="ja-JP" sz="1600" b="1" i="0" u="none" strike="noStrike" kern="1200" dirty="0">
                        <a:solidFill>
                          <a:srgbClr val="000000"/>
                        </a:solidFill>
                        <a:effectLst/>
                        <a:latin typeface="游ゴシック"/>
                        <a:ea typeface="游ゴシック"/>
                        <a:cs typeface="+mn-cs"/>
                      </a:endParaRPr>
                    </a:p>
                  </a:txBody>
                  <a:tcPr marL="0" marR="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ctr" rtl="0" fontAlgn="ctr"/>
                      <a:endPar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75000"/>
                        </a:schemeClr>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dirty="0">
                        <a:solidFill>
                          <a:srgbClr val="000000"/>
                        </a:solidFill>
                        <a:effectLst/>
                        <a:latin typeface="游ゴシック"/>
                        <a:ea typeface="游ゴシック"/>
                      </a:endParaRPr>
                    </a:p>
                  </a:txBody>
                  <a:tcPr marL="7620" marR="72000" marT="7620" marB="0" anchor="ctr">
                    <a:lnL w="6350" cap="flat" cmpd="sng" algn="ctr">
                      <a:solidFill>
                        <a:schemeClr val="accent3"/>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hMerge="1">
                  <a:txBody>
                    <a:bodyPr/>
                    <a:lstStyle/>
                    <a:p>
                      <a:pPr algn="r" rtl="0" fontAlgn="ct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lvl="0" algn="r">
                        <a:buNone/>
                      </a:pPr>
                      <a:endParaRPr lang="en-US" altLang="ja-JP" sz="1600" b="1" i="0" u="none" strike="noStrike" dirty="0">
                        <a:solidFill>
                          <a:srgbClr val="000000"/>
                        </a:solidFill>
                        <a:effectLst/>
                        <a:latin typeface="游ゴシック"/>
                        <a:ea typeface="游ゴシック"/>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lvl="0" algn="r">
                        <a:buNone/>
                      </a:pPr>
                      <a:r>
                        <a:rPr lang="en-US" altLang="ja-JP" sz="1600" b="1" i="0" u="none" strike="noStrike" dirty="0">
                          <a:solidFill>
                            <a:srgbClr val="000000"/>
                          </a:solidFill>
                          <a:effectLst/>
                          <a:latin typeface="游ゴシック"/>
                          <a:ea typeface="游ゴシック"/>
                        </a:rPr>
                        <a:t>10.0</a:t>
                      </a: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a:solidFill>
                        <a:schemeClr val="bg1">
                          <a:lumMod val="75000"/>
                        </a:schemeClr>
                      </a:solidFill>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a:ea typeface="游ゴシック"/>
                        </a:rPr>
                        <a:t>10,400,000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73092215"/>
                  </a:ext>
                </a:extLst>
              </a:tr>
            </a:tbl>
          </a:graphicData>
        </a:graphic>
      </p:graphicFrame>
      <p:sp>
        <p:nvSpPr>
          <p:cNvPr id="7" name="正方形/長方形 6">
            <a:extLst>
              <a:ext uri="{FF2B5EF4-FFF2-40B4-BE49-F238E27FC236}">
                <a16:creationId xmlns:a16="http://schemas.microsoft.com/office/drawing/2014/main" id="{E167BA46-D481-4A41-88B9-C36D17773702}"/>
              </a:ext>
            </a:extLst>
          </p:cNvPr>
          <p:cNvSpPr/>
          <p:nvPr/>
        </p:nvSpPr>
        <p:spPr>
          <a:xfrm>
            <a:off x="516000" y="2972119"/>
            <a:ext cx="11160000" cy="1205434"/>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BE11B4D-80F0-44BF-8EA5-C62141DB215A}"/>
              </a:ext>
            </a:extLst>
          </p:cNvPr>
          <p:cNvSpPr/>
          <p:nvPr/>
        </p:nvSpPr>
        <p:spPr>
          <a:xfrm>
            <a:off x="9368814" y="4764185"/>
            <a:ext cx="2248386" cy="32438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ja-JP" altLang="en-US" dirty="0">
                <a:solidFill>
                  <a:srgbClr val="FF0000"/>
                </a:solidFill>
              </a:rPr>
              <a:t>本御見積対象範囲</a:t>
            </a:r>
          </a:p>
        </p:txBody>
      </p:sp>
    </p:spTree>
    <p:extLst>
      <p:ext uri="{BB962C8B-B14F-4D97-AF65-F5344CB8AC3E}">
        <p14:creationId xmlns:p14="http://schemas.microsoft.com/office/powerpoint/2010/main" val="2453405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10.</a:t>
            </a:r>
            <a:r>
              <a:rPr lang="ja-JP" altLang="en-US">
                <a:latin typeface="游明朝"/>
                <a:ea typeface="游明朝"/>
              </a:rPr>
              <a:t> お見積もり前提条件</a:t>
            </a:r>
            <a:endParaRPr kumimoji="1" lang="ja-JP" altLang="en-US">
              <a:latin typeface="游明朝"/>
              <a:ea typeface="游明朝"/>
            </a:endParaRPr>
          </a:p>
        </p:txBody>
      </p:sp>
      <p:sp>
        <p:nvSpPr>
          <p:cNvPr id="3" name="フッター プレースホルダー 2">
            <a:extLst>
              <a:ext uri="{FF2B5EF4-FFF2-40B4-BE49-F238E27FC236}">
                <a16:creationId xmlns:a16="http://schemas.microsoft.com/office/drawing/2014/main" id="{7FFE6012-16C9-4E66-95F3-FFCA3BF4B89A}"/>
              </a:ext>
            </a:extLst>
          </p:cNvPr>
          <p:cNvSpPr>
            <a:spLocks noGrp="1"/>
          </p:cNvSpPr>
          <p:nvPr>
            <p:ph type="ftr" sz="quarter" idx="14"/>
          </p:nvPr>
        </p:nvSpPr>
        <p:spPr>
          <a:xfrm>
            <a:off x="3036000" y="6552000"/>
            <a:ext cx="6120000" cy="216000"/>
          </a:xfrm>
        </p:spPr>
        <p:txBody>
          <a:bodyPr/>
          <a:lstStyle/>
          <a:p>
            <a:r>
              <a:rPr lang="en-US"/>
              <a:t>Copyright © 2025 SystemEXE,Inc All Rights Reserved.</a:t>
            </a: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fontScale="92500" lnSpcReduction="20000"/>
          </a:bodyPr>
          <a:lstStyle/>
          <a:p>
            <a:r>
              <a:rPr kumimoji="1" lang="ja-JP" altLang="en-US" b="0" u="none" dirty="0"/>
              <a:t>本資料記載の金額は全て税抜となります。</a:t>
            </a:r>
            <a:endParaRPr kumimoji="1" lang="en-US" altLang="ja-JP" b="0" u="none" dirty="0"/>
          </a:p>
          <a:p>
            <a:r>
              <a:rPr lang="ja-JP" altLang="en-US" b="0" u="none" dirty="0">
                <a:solidFill>
                  <a:srgbClr val="0000FF"/>
                </a:solidFill>
              </a:rPr>
              <a:t>本お見積もりの契約形態は準委任契約（履行割合型）を想定しております。</a:t>
            </a:r>
            <a:endParaRPr lang="en-US" altLang="ja-JP" b="0" u="none" dirty="0">
              <a:solidFill>
                <a:srgbClr val="0000FF"/>
              </a:solidFill>
            </a:endParaRPr>
          </a:p>
          <a:p>
            <a:r>
              <a:rPr kumimoji="1" lang="ja-JP" altLang="en-US" b="0" u="none" dirty="0">
                <a:latin typeface="游ゴシック"/>
                <a:ea typeface="游ゴシック"/>
              </a:rPr>
              <a:t>本お見積もりの作業内容は、「</a:t>
            </a:r>
            <a:r>
              <a:rPr kumimoji="1" lang="en-US" altLang="ja-JP" b="0" u="none" dirty="0">
                <a:latin typeface="游ゴシック"/>
                <a:ea typeface="游ゴシック"/>
              </a:rPr>
              <a:t>4.</a:t>
            </a:r>
            <a:r>
              <a:rPr kumimoji="1" lang="ja-JP" altLang="en-US" b="0" u="none" dirty="0">
                <a:latin typeface="游ゴシック"/>
                <a:ea typeface="游ゴシック"/>
              </a:rPr>
              <a:t> </a:t>
            </a:r>
            <a:r>
              <a:rPr lang="ja-JP" altLang="en-US" b="0" u="none" dirty="0">
                <a:latin typeface="游ゴシック"/>
                <a:ea typeface="游ゴシック"/>
              </a:rPr>
              <a:t>想定している作業内容と成果物」に基づいてお見積もりしております。</a:t>
            </a:r>
            <a:br>
              <a:rPr lang="ja-JP" altLang="en-US" b="0" u="none" dirty="0">
                <a:latin typeface="游ゴシック"/>
                <a:ea typeface="游ゴシック"/>
              </a:rPr>
            </a:br>
            <a:r>
              <a:rPr lang="ja-JP" altLang="en-US" b="0" u="none" dirty="0">
                <a:latin typeface="游ゴシック"/>
                <a:ea typeface="游ゴシック"/>
              </a:rPr>
              <a:t>上記以外の対応が発生した場合は別途ご相談の上、決定させていただきます。</a:t>
            </a:r>
            <a:endParaRPr lang="en-US" altLang="ja-JP" b="0" u="none" dirty="0"/>
          </a:p>
          <a:p>
            <a:r>
              <a:rPr lang="ja-JP" altLang="en-US" b="0" u="none" dirty="0"/>
              <a:t>本お見積もりは縮小版共通基盤への単純移行を想定しております。</a:t>
            </a:r>
            <a:endParaRPr lang="en-US" altLang="ja-JP" b="0" u="none" dirty="0"/>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kumimoji="1" lang="en-US" altLang="ja-JP" b="0" u="none" dirty="0">
                <a:latin typeface="游ゴシック"/>
                <a:ea typeface="游ゴシック"/>
              </a:rPr>
              <a:t>DB</a:t>
            </a:r>
            <a:r>
              <a:rPr kumimoji="1" lang="ja-JP" altLang="en-US" b="0" u="none" dirty="0">
                <a:latin typeface="游ゴシック"/>
                <a:ea typeface="游ゴシック"/>
              </a:rPr>
              <a:t>の移行先は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r>
              <a:rPr lang="ja-JP" altLang="en-US" b="0" u="none" dirty="0">
                <a:latin typeface="游ゴシック"/>
                <a:ea typeface="游ゴシック"/>
              </a:rPr>
              <a:t>DB移行に関する費用は含まれておりません。</a:t>
            </a:r>
            <a:endParaRPr lang="en-US" altLang="ja-JP" b="0" u="none" dirty="0">
              <a:latin typeface="游ゴシック"/>
              <a:ea typeface="游ゴシック"/>
            </a:endParaRPr>
          </a:p>
          <a:p>
            <a:r>
              <a:rPr lang="ja-JP" b="0" u="none" dirty="0">
                <a:latin typeface="游ゴシック"/>
                <a:ea typeface="游ゴシック"/>
                <a:cs typeface="+mn-ea"/>
              </a:rPr>
              <a:t>Azureのサーバ等は、2</a:t>
            </a:r>
            <a:r>
              <a:rPr lang="en-US" altLang="ja-JP" b="0" u="none" dirty="0">
                <a:latin typeface="游ゴシック"/>
                <a:ea typeface="游ゴシック"/>
                <a:cs typeface="+mn-ea"/>
              </a:rPr>
              <a:t>5</a:t>
            </a:r>
            <a:r>
              <a:rPr lang="ja-JP" b="0" u="none" dirty="0">
                <a:latin typeface="游ゴシック"/>
                <a:ea typeface="游ゴシック"/>
                <a:cs typeface="+mn-ea"/>
              </a:rPr>
              <a:t>年</a:t>
            </a:r>
            <a:r>
              <a:rPr lang="en-US" altLang="ja-JP" b="0" u="none" dirty="0">
                <a:latin typeface="游ゴシック"/>
                <a:ea typeface="游ゴシック"/>
                <a:cs typeface="+mn-ea"/>
              </a:rPr>
              <a:t>8</a:t>
            </a:r>
            <a:r>
              <a:rPr lang="ja-JP" b="0" u="none" dirty="0">
                <a:latin typeface="游ゴシック"/>
                <a:ea typeface="游ゴシック"/>
                <a:cs typeface="+mn-ea"/>
              </a:rPr>
              <a:t>月の案件開始時点で必要数分を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b="0" u="none" dirty="0">
                <a:latin typeface="游ゴシック"/>
                <a:ea typeface="游ゴシック"/>
                <a:cs typeface="+mn-ea"/>
              </a:rPr>
              <a:t>非互換対応</a:t>
            </a:r>
            <a:r>
              <a:rPr lang="ja-JP" altLang="en-US" b="0" u="none" dirty="0">
                <a:latin typeface="游ゴシック"/>
                <a:ea typeface="游ゴシック"/>
                <a:cs typeface="+mn-ea"/>
              </a:rPr>
              <a:t>や業務変更などのプログラム改修は想定していません。</a:t>
            </a:r>
            <a:endParaRPr lang="ja-JP" altLang="en-US" b="0" u="none" dirty="0">
              <a:latin typeface="游ゴシック"/>
              <a:ea typeface="游ゴシック"/>
            </a:endParaRPr>
          </a:p>
          <a:p>
            <a:r>
              <a:rPr lang="ja-JP" altLang="en-US" b="0" u="none" dirty="0">
                <a:latin typeface="游ゴシック"/>
                <a:ea typeface="游ゴシック"/>
                <a:cs typeface="+mn-ea"/>
              </a:rPr>
              <a:t>汎用徴収と上下水道システム（</a:t>
            </a:r>
            <a:r>
              <a:rPr lang="en-US" altLang="ja-JP" b="0" u="none" dirty="0">
                <a:latin typeface="游ゴシック"/>
                <a:ea typeface="游ゴシック"/>
                <a:cs typeface="+mn-ea"/>
              </a:rPr>
              <a:t>Excel</a:t>
            </a:r>
            <a:r>
              <a:rPr lang="ja-JP" altLang="en-US" b="0" u="none" dirty="0">
                <a:latin typeface="游ゴシック"/>
                <a:ea typeface="游ゴシック"/>
                <a:cs typeface="+mn-ea"/>
              </a:rPr>
              <a:t>）は本御見積対象外となります。</a:t>
            </a:r>
            <a:endParaRPr lang="en-US" altLang="ja-JP" b="0" u="none" dirty="0">
              <a:latin typeface="游ゴシック"/>
              <a:ea typeface="游ゴシック"/>
              <a:cs typeface="+mn-ea"/>
            </a:endParaRPr>
          </a:p>
          <a:p>
            <a:r>
              <a:rPr lang="ja-JP" altLang="en-US" b="0" u="none" dirty="0">
                <a:latin typeface="游ゴシック"/>
                <a:ea typeface="游ゴシック"/>
              </a:rPr>
              <a:t>出クレ送信処理については、事務管理⇒連携</a:t>
            </a:r>
            <a:r>
              <a:rPr lang="en-US" altLang="ja-JP" b="0" u="none" dirty="0">
                <a:latin typeface="游ゴシック"/>
                <a:ea typeface="游ゴシック"/>
              </a:rPr>
              <a:t>NAS</a:t>
            </a:r>
            <a:r>
              <a:rPr lang="ja-JP" altLang="en-US" b="0" u="none" dirty="0">
                <a:latin typeface="游ゴシック"/>
                <a:ea typeface="游ゴシック"/>
              </a:rPr>
              <a:t>間の移行のみ対象となります。</a:t>
            </a:r>
            <a:br>
              <a:rPr lang="en-US" altLang="ja-JP" b="0" u="none" dirty="0">
                <a:latin typeface="游ゴシック"/>
                <a:ea typeface="游ゴシック"/>
              </a:rPr>
            </a:br>
            <a:r>
              <a:rPr lang="ja-JP" altLang="en-US" b="0" u="none" dirty="0">
                <a:latin typeface="游ゴシック"/>
                <a:ea typeface="游ゴシック"/>
              </a:rPr>
              <a:t>後続処理（</a:t>
            </a:r>
            <a:r>
              <a:rPr lang="en-US" altLang="ja-JP" b="0" u="none" dirty="0" err="1">
                <a:latin typeface="游ゴシック"/>
                <a:ea typeface="游ゴシック"/>
              </a:rPr>
              <a:t>Waha</a:t>
            </a:r>
            <a:r>
              <a:rPr lang="ja-JP" altLang="en-US" b="0" u="none" dirty="0">
                <a:latin typeface="游ゴシック"/>
                <a:ea typeface="游ゴシック"/>
              </a:rPr>
              <a:t>変換、出クレシステムへの送信）は貴社にてご対応お願いします。</a:t>
            </a:r>
          </a:p>
          <a:p>
            <a:r>
              <a:rPr lang="ja-JP" altLang="en-US" b="0" u="none" dirty="0">
                <a:latin typeface="游ゴシック"/>
                <a:ea typeface="游ゴシック"/>
              </a:rPr>
              <a:t>初期流動期間（</a:t>
            </a:r>
            <a:r>
              <a:rPr lang="en-US" altLang="ja-JP" b="0" u="none" dirty="0">
                <a:latin typeface="游ゴシック"/>
                <a:ea typeface="游ゴシック"/>
              </a:rPr>
              <a:t>2025/12/19</a:t>
            </a:r>
            <a:r>
              <a:rPr lang="ja-JP" altLang="en-US" b="0" u="none" dirty="0">
                <a:latin typeface="游ゴシック"/>
                <a:ea typeface="游ゴシック"/>
              </a:rPr>
              <a:t>まで）の対応が完了しない場合は、別途ご発注とさせていただきます。</a:t>
            </a:r>
            <a:endParaRPr lang="en-US" altLang="ja-JP" b="0" u="none" dirty="0">
              <a:latin typeface="游ゴシック"/>
              <a:ea typeface="游ゴシック"/>
            </a:endParaRPr>
          </a:p>
          <a:p>
            <a:r>
              <a:rPr lang="ja-JP" altLang="en-US" b="0" u="none" dirty="0">
                <a:solidFill>
                  <a:srgbClr val="0000FF"/>
                </a:solidFill>
                <a:latin typeface="游ゴシック"/>
                <a:ea typeface="游ゴシック"/>
              </a:rPr>
              <a:t>お支払いにつきましては、「月末締、翌月末現金支払」を想定しております。</a:t>
            </a:r>
            <a:endParaRPr lang="en-US" altLang="ja-JP" b="0" u="none" dirty="0">
              <a:solidFill>
                <a:srgbClr val="0000FF"/>
              </a:solidFill>
              <a:latin typeface="游ゴシック"/>
              <a:ea typeface="游ゴシック"/>
            </a:endParaRPr>
          </a:p>
          <a:p>
            <a:r>
              <a:rPr kumimoji="1" lang="ja-JP" altLang="en-US" b="0" u="none" dirty="0"/>
              <a:t>上記に記載のない諸条件につきましては、別途ご相談の上、決定させていただきます。</a:t>
            </a:r>
          </a:p>
        </p:txBody>
      </p:sp>
      <p:sp>
        <p:nvSpPr>
          <p:cNvPr id="4" name="スライド番号プレースホルダー 3">
            <a:extLst>
              <a:ext uri="{FF2B5EF4-FFF2-40B4-BE49-F238E27FC236}">
                <a16:creationId xmlns:a16="http://schemas.microsoft.com/office/drawing/2014/main" id="{9727429A-C023-892D-7F62-63C0A818E404}"/>
              </a:ext>
            </a:extLst>
          </p:cNvPr>
          <p:cNvSpPr>
            <a:spLocks noGrp="1"/>
          </p:cNvSpPr>
          <p:nvPr>
            <p:ph type="sldNum" sz="quarter" idx="15"/>
          </p:nvPr>
        </p:nvSpPr>
        <p:spPr>
          <a:xfrm>
            <a:off x="10752000" y="6552000"/>
            <a:ext cx="1440000" cy="216000"/>
          </a:xfrm>
        </p:spPr>
        <p:txBody>
          <a:bodyPr/>
          <a:lstStyle/>
          <a:p>
            <a:fld id="{26CA5134-5AAC-D342-B763-43605FECB385}" type="slidenum">
              <a:rPr kumimoji="1" lang="ja-JP" altLang="en-US" smtClean="0"/>
              <a:pPr/>
              <a:t>11</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095D63-28E3-4ACD-BFC6-41E0771A0F31}"/>
              </a:ext>
            </a:extLst>
          </p:cNvPr>
          <p:cNvSpPr>
            <a:spLocks noGrp="1"/>
          </p:cNvSpPr>
          <p:nvPr>
            <p:ph type="ftr" sz="quarter" idx="19"/>
          </p:nvPr>
        </p:nvSpPr>
        <p:spPr>
          <a:xfrm>
            <a:off x="3036000" y="6552000"/>
            <a:ext cx="6120000" cy="216000"/>
          </a:xfrm>
        </p:spPr>
        <p:txBody>
          <a:bodyPr/>
          <a:lstStyle/>
          <a:p>
            <a:r>
              <a:rPr lang="en-US"/>
              <a:t>Copyright © 2025 SystemEXE,Inc All Rights Reserved.</a:t>
            </a:r>
          </a:p>
        </p:txBody>
      </p:sp>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dirty="0">
                <a:latin typeface="游ゴシック"/>
                <a:ea typeface="游ゴシック"/>
              </a:rPr>
              <a:t>担当：</a:t>
            </a:r>
            <a:r>
              <a:rPr lang="ja-JP" altLang="en-US" dirty="0">
                <a:latin typeface="游ゴシック"/>
                <a:ea typeface="游ゴシック"/>
              </a:rPr>
              <a:t>東条</a:t>
            </a:r>
            <a:r>
              <a:rPr kumimoji="1" lang="ja-JP" altLang="en-US" dirty="0">
                <a:latin typeface="游ゴシック"/>
                <a:ea typeface="游ゴシック"/>
              </a:rPr>
              <a:t>美佳</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dirty="0">
                <a:latin typeface="游ゴシック"/>
                <a:ea typeface="游ゴシック"/>
              </a:rPr>
              <a:t>Mail</a:t>
            </a:r>
            <a:r>
              <a:rPr kumimoji="1" lang="ja-JP" altLang="en-US" dirty="0">
                <a:latin typeface="游ゴシック"/>
                <a:ea typeface="游ゴシック"/>
              </a:rPr>
              <a:t>：</a:t>
            </a:r>
            <a:r>
              <a:rPr kumimoji="1" lang="en-US" altLang="ja-JP" dirty="0">
                <a:latin typeface="游ゴシック"/>
                <a:ea typeface="游ゴシック"/>
              </a:rPr>
              <a:t>mika.tojo@system-exe.jp</a:t>
            </a:r>
            <a:endParaRPr kumimoji="1" lang="ja-JP" altLang="en-US" dirty="0">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3" name="スライド番号プレースホルダー 2">
            <a:extLst>
              <a:ext uri="{FF2B5EF4-FFF2-40B4-BE49-F238E27FC236}">
                <a16:creationId xmlns:a16="http://schemas.microsoft.com/office/drawing/2014/main" id="{D2AC980A-9628-92BB-20DA-EB1F38EE5911}"/>
              </a:ext>
            </a:extLst>
          </p:cNvPr>
          <p:cNvSpPr>
            <a:spLocks noGrp="1"/>
          </p:cNvSpPr>
          <p:nvPr>
            <p:ph type="sldNum" sz="quarter" idx="20"/>
          </p:nvPr>
        </p:nvSpPr>
        <p:spPr>
          <a:xfrm>
            <a:off x="10752000" y="6552000"/>
            <a:ext cx="1440000" cy="216000"/>
          </a:xfrm>
        </p:spPr>
        <p:txBody>
          <a:bodyPr/>
          <a:lstStyle/>
          <a:p>
            <a:fld id="{26CA5134-5AAC-D342-B763-43605FECB385}" type="slidenum">
              <a:rPr kumimoji="1" lang="ja-JP" altLang="en-US" smtClean="0"/>
              <a:pPr/>
              <a:t>12</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04C728C5-B22A-42B4-8163-E4A5D49941FF}">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2fd442da-66a9-4fa6-ba31-eb0d54ad1381"/>
    <ds:schemaRef ds:uri="http://www.w3.org/XML/1998/namespace"/>
    <ds:schemaRef ds:uri="http://purl.org/dc/dcmitype/"/>
  </ds:schemaRefs>
</ds:datastoreItem>
</file>

<file path=customXml/itemProps3.xml><?xml version="1.0" encoding="utf-8"?>
<ds:datastoreItem xmlns:ds="http://schemas.openxmlformats.org/officeDocument/2006/customXml" ds:itemID="{6D8262E6-A4A2-4E8A-8AA5-A4BEF4991A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226</TotalTime>
  <Words>1645</Words>
  <Application>Microsoft Office PowerPoint</Application>
  <PresentationFormat>ワイド画面</PresentationFormat>
  <Paragraphs>379</Paragraphs>
  <Slides>13</Slides>
  <Notes>4</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13</vt:i4>
      </vt:variant>
    </vt:vector>
  </HeadingPairs>
  <TitlesOfParts>
    <vt:vector size="22" baseType="lpstr">
      <vt:lpstr>ＭＳ Ｐゴシック</vt:lpstr>
      <vt:lpstr>Yu Gothic</vt:lpstr>
      <vt:lpstr>Yu Gothic</vt:lpstr>
      <vt:lpstr>Yu Gothic Medium</vt:lpstr>
      <vt:lpstr>游明朝</vt:lpstr>
      <vt:lpstr>Arial</vt:lpstr>
      <vt:lpstr>Calibri</vt:lpstr>
      <vt:lpstr>Wingdings</vt:lpstr>
      <vt:lpstr>Office テーマ</vt:lpstr>
      <vt:lpstr>正式お見積もり(第1.0版）</vt:lpstr>
      <vt:lpstr>１. プロジェクトの背景と目的</vt:lpstr>
      <vt:lpstr>２. お見積り範囲</vt:lpstr>
      <vt:lpstr>3. システム構成（AsIs）</vt:lpstr>
      <vt:lpstr>3. システム構成（ToBe） ① 縮小版共通基盤へのシステム資産移行</vt:lpstr>
      <vt:lpstr>4. 想定している作業内容と成果物</vt:lpstr>
      <vt:lpstr>5. 機能数と作業範囲</vt:lpstr>
      <vt:lpstr>6. 体制</vt:lpstr>
      <vt:lpstr>7. スケジュール</vt:lpstr>
      <vt:lpstr>8.想定している会議体</vt:lpstr>
      <vt:lpstr>9. お見積もり</vt:lpstr>
      <vt:lpstr>10.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Tojo, Mika</cp:lastModifiedBy>
  <cp:revision>14</cp:revision>
  <dcterms:created xsi:type="dcterms:W3CDTF">2021-02-05T06:36:21Z</dcterms:created>
  <dcterms:modified xsi:type="dcterms:W3CDTF">2025-10-23T01:53:40Z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