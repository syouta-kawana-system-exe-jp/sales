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6" r:id="rId6"/>
    <p:sldId id="757" r:id="rId7"/>
    <p:sldId id="936" r:id="rId8"/>
    <p:sldId id="933" r:id="rId9"/>
    <p:sldId id="934" r:id="rId10"/>
    <p:sldId id="935" r:id="rId11"/>
    <p:sldId id="766" r:id="rId12"/>
    <p:sldId id="765" r:id="rId13"/>
    <p:sldId id="937" r:id="rId14"/>
    <p:sldId id="932" r:id="rId15"/>
    <p:sldId id="938" r:id="rId16"/>
    <p:sldId id="930" r:id="rId17"/>
    <p:sldId id="923" r:id="rId18"/>
    <p:sldId id="767"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DDA"/>
    <a:srgbClr val="787878"/>
    <a:srgbClr val="FFFFFF"/>
    <a:srgbClr val="0000FF"/>
    <a:srgbClr val="9A3B5D"/>
    <a:srgbClr val="FAF2D4"/>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16B88E-60DB-2781-8FD3-71D26C62832C}" v="1" dt="2025-11-28T05:59:55.10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F816B88E-60DB-2781-8FD3-71D26C62832C}"/>
    <pc:docChg chg="modSld">
      <pc:chgData name="野村康二" userId="S::kouji.nomura@system-exe.jp::acaa808a-f809-4ef9-8028-a2ce14b82415" providerId="AD" clId="Web-{F816B88E-60DB-2781-8FD3-71D26C62832C}" dt="2025-11-28T05:59:55.109" v="0" actId="1076"/>
      <pc:docMkLst>
        <pc:docMk/>
      </pc:docMkLst>
      <pc:sldChg chg="modSp">
        <pc:chgData name="野村康二" userId="S::kouji.nomura@system-exe.jp::acaa808a-f809-4ef9-8028-a2ce14b82415" providerId="AD" clId="Web-{F816B88E-60DB-2781-8FD3-71D26C62832C}" dt="2025-11-28T05:59:55.109" v="0" actId="1076"/>
        <pc:sldMkLst>
          <pc:docMk/>
          <pc:sldMk cId="2061661648" sldId="937"/>
        </pc:sldMkLst>
        <pc:spChg chg="mod">
          <ac:chgData name="野村康二" userId="S::kouji.nomura@system-exe.jp::acaa808a-f809-4ef9-8028-a2ce14b82415" providerId="AD" clId="Web-{F816B88E-60DB-2781-8FD3-71D26C62832C}" dt="2025-11-28T05:59:55.109" v="0" actId="1076"/>
          <ac:spMkLst>
            <pc:docMk/>
            <pc:sldMk cId="2061661648" sldId="937"/>
            <ac:spMk id="26" creationId="{ED7DB45D-C23A-8720-93A1-3E088C31D2C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2025/11/27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2360-E1E7-B206-7F35-9B5E6F4BAA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FA56E6-1A37-3C3F-46CA-143D3CB8F1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545E4E-7885-A58B-86E3-2B350F2AE60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818E020-D357-3655-2C9E-D590B4DB378E}"/>
              </a:ext>
            </a:extLst>
          </p:cNvPr>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3644296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4" name="Footer Placeholder 3"/>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2025/4/4</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t>概算お見積もり</a:t>
            </a:r>
            <a:r>
              <a:rPr kumimoji="1" lang="en-US" altLang="ja-JP" sz="2800"/>
              <a:t>(</a:t>
            </a:r>
            <a:r>
              <a:rPr kumimoji="1" lang="ja-JP" altLang="en-US" sz="2800"/>
              <a:t>第</a:t>
            </a:r>
            <a:r>
              <a:rPr kumimoji="1" lang="en-US" altLang="ja-JP" sz="2800"/>
              <a:t>5.1</a:t>
            </a:r>
            <a:r>
              <a:rPr kumimoji="1" lang="ja-JP" altLang="en-US" sz="2800"/>
              <a:t>版）</a:t>
            </a:r>
            <a:endParaRPr kumimoji="1" lang="ja-JP" altLang="en-US" sz="440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600"/>
              <a:t>工場系システム</a:t>
            </a:r>
            <a:br>
              <a:rPr lang="en-US" altLang="ja-JP" sz="3600"/>
            </a:br>
            <a:r>
              <a:rPr lang="ja-JP" altLang="en-US" sz="3600"/>
              <a:t>陸上出荷システムへの</a:t>
            </a:r>
            <a:r>
              <a:rPr lang="en-US" altLang="ja-JP" sz="3600"/>
              <a:t>MEK</a:t>
            </a:r>
            <a:r>
              <a:rPr lang="ja-JP" altLang="en-US" sz="3600"/>
              <a:t>関連取込</a:t>
            </a:r>
            <a:endParaRPr kumimoji="1" lang="en-US" altLang="ja-JP" sz="3600"/>
          </a:p>
          <a:p>
            <a:endParaRPr kumimoji="1" lang="ja-JP" altLang="en-US" sz="40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050">
                <a:latin typeface="游明朝"/>
                <a:ea typeface="游明朝"/>
              </a:rPr>
              <a:t>2025/4/7</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2025/4/7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ja-JP" altLang="en-US"/>
              <a:t>燃料油陸上出荷システムへの</a:t>
            </a:r>
            <a:r>
              <a:rPr lang="en-US" altLang="ja-JP"/>
              <a:t>MEK</a:t>
            </a:r>
            <a:r>
              <a:rPr lang="ja-JP" altLang="en-US"/>
              <a:t>関連取込</a:t>
            </a:r>
            <a:r>
              <a:rPr lang="en-US" altLang="ja-JP"/>
              <a:t>.</a:t>
            </a:r>
            <a:r>
              <a:rPr lang="en-US" altLang="ja-JP" err="1"/>
              <a:t>pptx</a:t>
            </a:r>
            <a:r>
              <a:rPr kumimoji="1" lang="ja-JP" altLang="en-US"/>
              <a:t>」及び</a:t>
            </a:r>
            <a:r>
              <a:rPr kumimoji="1" lang="en-US" altLang="ja-JP"/>
              <a:t>24</a:t>
            </a:r>
            <a:r>
              <a:rPr kumimoji="1" lang="ja-JP" altLang="en-US"/>
              <a:t>年</a:t>
            </a:r>
            <a:r>
              <a:rPr kumimoji="1" lang="en-US" altLang="ja-JP"/>
              <a:t>12</a:t>
            </a:r>
            <a:r>
              <a:rPr kumimoji="1" lang="ja-JP" altLang="en-US"/>
              <a:t>月</a:t>
            </a:r>
            <a:r>
              <a:rPr kumimoji="1" lang="en-US" altLang="ja-JP"/>
              <a:t>6</a:t>
            </a:r>
            <a:r>
              <a:rPr kumimoji="1" lang="ja-JP" altLang="en-US"/>
              <a:t>日９時に実施した打合せを元に</a:t>
            </a:r>
            <a:endParaRPr kumimoji="1" lang="en-US" altLang="ja-JP"/>
          </a:p>
          <a:p>
            <a:r>
              <a:rPr lang="ja-JP" altLang="en-US">
                <a:solidFill>
                  <a:srgbClr val="000000"/>
                </a:solidFill>
              </a:rPr>
              <a:t> 参考のため概算お見積もりを行った資料です。</a:t>
            </a:r>
            <a:endParaRPr lang="ja-JP" altLang="en-US" sz="20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2025/4/7</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3218561099"/>
              </p:ext>
            </p:extLst>
          </p:nvPr>
        </p:nvGraphicFramePr>
        <p:xfrm>
          <a:off x="720000" y="988181"/>
          <a:ext cx="10832464" cy="4962862"/>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b="1">
                          <a:latin typeface="+mj-lt"/>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ローリー出荷</a:t>
                      </a:r>
                    </a:p>
                  </a:txBody>
                  <a:tcPr anchor="ctr"/>
                </a:tc>
                <a:tc>
                  <a:txBody>
                    <a:bodyPr/>
                    <a:lstStyle/>
                    <a:p>
                      <a:pPr algn="l"/>
                      <a:r>
                        <a:rPr kumimoji="1" lang="ja-JP" altLang="en-US" sz="1600" b="0">
                          <a:solidFill>
                            <a:schemeClr val="tx1"/>
                          </a:solidFill>
                          <a:latin typeface="+mj-lt"/>
                        </a:rPr>
                        <a:t>他燃料油と同様に上位システムから予約連携し、実績を返す。</a:t>
                      </a:r>
                      <a:endParaRPr kumimoji="1" lang="en-US" altLang="ja-JP" sz="1600" b="0">
                        <a:solidFill>
                          <a:schemeClr val="tx1"/>
                        </a:solidFill>
                        <a:latin typeface="+mj-lt"/>
                      </a:endParaRPr>
                    </a:p>
                    <a:p>
                      <a:pPr algn="l"/>
                      <a:r>
                        <a:rPr kumimoji="1" lang="ja-JP" altLang="en-US" sz="1600" b="0">
                          <a:solidFill>
                            <a:schemeClr val="tx1"/>
                          </a:solidFill>
                          <a:latin typeface="+mj-lt"/>
                        </a:rPr>
                        <a:t>また、積場出線後に出荷済にするのではなく、トラックスケールで重量測定する必要があるので、その重量を出荷実績として実績をあげたい。</a:t>
                      </a: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ドラムとは別になる想定。</a:t>
                      </a:r>
                    </a:p>
                  </a:txBody>
                  <a:tcPr anchor="ctr"/>
                </a:tc>
                <a:extLst>
                  <a:ext uri="{0D108BD9-81ED-4DB2-BD59-A6C34878D82A}">
                    <a16:rowId xmlns:a16="http://schemas.microsoft.com/office/drawing/2014/main" val="959911932"/>
                  </a:ext>
                </a:extLst>
              </a:tr>
              <a:tr h="1230997">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ドラム出荷</a:t>
                      </a:r>
                    </a:p>
                  </a:txBody>
                  <a:tcPr anchor="ctr"/>
                </a:tc>
                <a:tc>
                  <a:txBody>
                    <a:bodyPr/>
                    <a:lstStyle/>
                    <a:p>
                      <a:pPr algn="l"/>
                      <a:r>
                        <a:rPr kumimoji="1" lang="ja-JP" altLang="en-US" sz="1600" b="0" kern="1200">
                          <a:solidFill>
                            <a:schemeClr val="dk1"/>
                          </a:solidFill>
                          <a:latin typeface="+mn-lt"/>
                          <a:ea typeface="+mn-ea"/>
                          <a:cs typeface="+mn-cs"/>
                        </a:rPr>
                        <a:t>予約連携</a:t>
                      </a:r>
                      <a:r>
                        <a:rPr kumimoji="1" lang="en-US" altLang="ja-JP" sz="1600" b="0" kern="1200">
                          <a:solidFill>
                            <a:schemeClr val="dk1"/>
                          </a:solidFill>
                          <a:latin typeface="+mn-lt"/>
                          <a:ea typeface="+mn-ea"/>
                          <a:cs typeface="+mn-cs"/>
                        </a:rPr>
                        <a:t>(1</a:t>
                      </a:r>
                      <a:r>
                        <a:rPr kumimoji="1" lang="ja-JP" altLang="en-US" sz="1600" b="0" kern="1200">
                          <a:solidFill>
                            <a:schemeClr val="dk1"/>
                          </a:solidFill>
                          <a:latin typeface="+mn-lt"/>
                          <a:ea typeface="+mn-ea"/>
                          <a:cs typeface="+mn-cs"/>
                        </a:rPr>
                        <a:t>回次における本数、向先、</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、帳票出力</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納品書・受領書</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、積み込んだ実績を送信。</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ドラム出荷関係の足回り連携はないので、伝票発行のような感じにで納品書・受領書を発行し、実績を連携する。</a:t>
                      </a:r>
                      <a:endParaRPr kumimoji="1" lang="en-US" altLang="ja-JP" sz="1600" b="0" kern="1200">
                        <a:solidFill>
                          <a:schemeClr val="dk1"/>
                        </a:solidFill>
                        <a:latin typeface="+mn-lt"/>
                        <a:ea typeface="+mn-ea"/>
                        <a:cs typeface="+mn-cs"/>
                      </a:endParaRP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ローリーとは別になる想定。</a:t>
                      </a:r>
                    </a:p>
                  </a:txBody>
                  <a:tcPr anchor="ctr"/>
                </a:tc>
                <a:extLst>
                  <a:ext uri="{0D108BD9-81ED-4DB2-BD59-A6C34878D82A}">
                    <a16:rowId xmlns:a16="http://schemas.microsoft.com/office/drawing/2014/main" val="1105486315"/>
                  </a:ext>
                </a:extLst>
              </a:tr>
              <a:tr h="1230997">
                <a:tc>
                  <a:txBody>
                    <a:bodyPr/>
                    <a:lstStyle/>
                    <a:p>
                      <a:pPr algn="ctr"/>
                      <a:r>
                        <a:rPr kumimoji="1" lang="ja-JP" altLang="en-US" sz="2000" b="1">
                          <a:latin typeface="游ゴシック" panose="020B0400000000000000" pitchFamily="50" charset="-128"/>
                          <a:ea typeface="游ゴシック" panose="020B0400000000000000" pitchFamily="50" charset="-128"/>
                        </a:rPr>
                        <a:t>試験成績書</a:t>
                      </a: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各ローリー積込毎、ドラム出荷搬出毎に試験成績書を運転手さんにお渡ししている書類になり、現在は前営業日に他の「出荷予定表」、「詰品出荷作業（指図）報告書」、「指図書・納品書・受領書 伝票」と一緒に構内便で郵送しているので、今回併せてシステム化を検討したい。</a:t>
                      </a:r>
                      <a:endParaRPr kumimoji="1" lang="en-US" altLang="ja-JP" sz="1600" b="0" kern="1200">
                        <a:solidFill>
                          <a:schemeClr val="dk1"/>
                        </a:solidFill>
                        <a:latin typeface="+mn-lt"/>
                        <a:ea typeface="+mn-ea"/>
                        <a:cs typeface="+mn-cs"/>
                      </a:endParaRPr>
                    </a:p>
                  </a:txBody>
                  <a:tcPr anchor="ctr">
                    <a:solidFill>
                      <a:schemeClr val="bg1">
                        <a:lumMod val="75000"/>
                      </a:schemeClr>
                    </a:solidFill>
                  </a:tcPr>
                </a:tc>
                <a:tc>
                  <a:txBody>
                    <a:bodyPr/>
                    <a:lstStyle/>
                    <a:p>
                      <a:pPr algn="l"/>
                      <a:r>
                        <a:rPr lang="ja-JP" sz="1600" b="0" i="0" u="none" strike="noStrike" kern="1200" noProof="0">
                          <a:solidFill>
                            <a:srgbClr val="FF0000"/>
                          </a:solidFill>
                        </a:rPr>
                        <a:t>貴社都合によりSAPからの試験成績書出力を継続すること</a:t>
                      </a:r>
                      <a:r>
                        <a:rPr kumimoji="1" lang="ja-JP" sz="1600" b="0" i="0" u="none" strike="noStrike" kern="1200" noProof="0">
                          <a:solidFill>
                            <a:srgbClr val="FF0000"/>
                          </a:solidFill>
                        </a:rPr>
                        <a:t>となった</a:t>
                      </a:r>
                      <a:r>
                        <a:rPr lang="ja-JP" sz="1600" b="0" i="0" u="none" strike="noStrike" kern="1200" noProof="0">
                          <a:solidFill>
                            <a:srgbClr val="FF0000"/>
                          </a:solidFill>
                        </a:rPr>
                        <a:t>ため</a:t>
                      </a:r>
                      <a:r>
                        <a:rPr kumimoji="1" lang="ja-JP" sz="1600" b="0" i="0" u="none" strike="noStrike" kern="1200" noProof="0">
                          <a:solidFill>
                            <a:srgbClr val="FF0000"/>
                          </a:solidFill>
                        </a:rPr>
                        <a:t>、見積対象外とする。</a:t>
                      </a:r>
                      <a:endParaRPr kumimoji="1" lang="en-US" sz="1600" b="0" i="0" u="none" strike="noStrike" kern="1200" noProof="0">
                        <a:solidFill>
                          <a:srgbClr val="FF0000"/>
                        </a:solidFill>
                      </a:endParaRPr>
                    </a:p>
                  </a:txBody>
                  <a:tcPr anchor="ctr">
                    <a:solidFill>
                      <a:schemeClr val="bg1">
                        <a:lumMod val="75000"/>
                      </a:schemeClr>
                    </a:solidFill>
                  </a:tcPr>
                </a:tc>
                <a:extLst>
                  <a:ext uri="{0D108BD9-81ED-4DB2-BD59-A6C34878D82A}">
                    <a16:rowId xmlns:a16="http://schemas.microsoft.com/office/drawing/2014/main" val="3487687141"/>
                  </a:ext>
                </a:extLst>
              </a:tr>
            </a:tbl>
          </a:graphicData>
        </a:graphic>
      </p:graphicFrame>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2025/4/7</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1721520737"/>
              </p:ext>
            </p:extLst>
          </p:nvPr>
        </p:nvGraphicFramePr>
        <p:xfrm>
          <a:off x="720000" y="988181"/>
          <a:ext cx="10832464" cy="3512597"/>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sz="1800" b="1" kern="1200">
                          <a:solidFill>
                            <a:schemeClr val="lt1"/>
                          </a:solidFill>
                          <a:latin typeface="+mn-lt"/>
                          <a:ea typeface="+mn-ea"/>
                          <a:cs typeface="+mn-cs"/>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mn-ea"/>
                        </a:rPr>
                        <a:t>L</a:t>
                      </a:r>
                      <a:r>
                        <a:rPr kumimoji="1" lang="ja-JP" altLang="en-US" sz="2000" b="1">
                          <a:latin typeface="游ゴシック" panose="020B0400000000000000" pitchFamily="50" charset="-128"/>
                          <a:ea typeface="+mn-ea"/>
                        </a:rPr>
                        <a:t>オーダーへ密度を反映</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r>
                        <a:rPr kumimoji="1" lang="ja-JP" altLang="en-US" sz="1600">
                          <a:solidFill>
                            <a:schemeClr val="tx1"/>
                          </a:solidFill>
                        </a:rPr>
                        <a:t>試験結果がヤード操業システムへ連携されるのであれば、試験結果の密度を</a:t>
                      </a:r>
                      <a:r>
                        <a:rPr kumimoji="1" lang="en-US" altLang="ja-JP" sz="1600">
                          <a:solidFill>
                            <a:schemeClr val="tx1"/>
                          </a:solidFill>
                        </a:rPr>
                        <a:t>L</a:t>
                      </a:r>
                      <a:r>
                        <a:rPr kumimoji="1" lang="ja-JP" altLang="en-US" sz="1600">
                          <a:solidFill>
                            <a:schemeClr val="tx1"/>
                          </a:solidFill>
                        </a:rPr>
                        <a:t>オーダーの密度に反映して欲しい</a:t>
                      </a:r>
                      <a:endParaRPr kumimoji="1" lang="en-US" altLang="ja-JP" sz="1600">
                        <a:solidFill>
                          <a:schemeClr val="tx1"/>
                        </a:solidFill>
                      </a:endParaRPr>
                    </a:p>
                  </a:txBody>
                  <a:tcPr anchor="ctr">
                    <a:solidFill>
                      <a:schemeClr val="bg1">
                        <a:lumMod val="75000"/>
                      </a:schemeClr>
                    </a:solidFill>
                  </a:tcPr>
                </a:tc>
                <a:tc>
                  <a:txBody>
                    <a:bodyPr/>
                    <a:lstStyle/>
                    <a:p>
                      <a:pPr algn="l"/>
                      <a:r>
                        <a:rPr lang="ja-JP" altLang="en-US" sz="1600" b="0" kern="1200">
                          <a:solidFill>
                            <a:srgbClr val="FF0000"/>
                          </a:solidFill>
                          <a:latin typeface="+mn-lt"/>
                          <a:ea typeface="+mn-ea"/>
                          <a:cs typeface="+mn-cs"/>
                        </a:rPr>
                        <a:t>SAPからの試験成績書データ受信がなくなり実現不可のため、見積対象外とする。</a:t>
                      </a:r>
                      <a:endParaRPr kumimoji="1" lang="ja-JP" altLang="en-US"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959911932"/>
                  </a:ext>
                </a:extLst>
              </a:tr>
              <a:tr h="1230997">
                <a:tc>
                  <a:txBody>
                    <a:bodyPr/>
                    <a:lstStyle/>
                    <a:p>
                      <a:pPr algn="ctr"/>
                      <a:r>
                        <a:rPr kumimoji="1" lang="ja-JP" altLang="en-US" sz="2000" b="1">
                          <a:latin typeface="游ゴシック" panose="020B0400000000000000" pitchFamily="50" charset="-128"/>
                          <a:ea typeface="+mn-ea"/>
                        </a:rPr>
                        <a:t>潤滑油品ロット</a:t>
                      </a:r>
                      <a:r>
                        <a:rPr kumimoji="1" lang="en-US" altLang="ja-JP" sz="2000" b="1">
                          <a:latin typeface="游ゴシック" panose="020B0400000000000000" pitchFamily="50" charset="-128"/>
                          <a:ea typeface="+mn-ea"/>
                        </a:rPr>
                        <a:t>No</a:t>
                      </a:r>
                      <a:r>
                        <a:rPr kumimoji="1" lang="ja-JP" altLang="en-US" sz="2000" b="1">
                          <a:latin typeface="游ゴシック" panose="020B0400000000000000" pitchFamily="50" charset="-128"/>
                          <a:ea typeface="+mn-ea"/>
                        </a:rPr>
                        <a:t>紐づけ</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潤滑油品はロット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手入力となっているが、化学品と同様にタンク選択で紐づいたロット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をセットして欲しい</a:t>
                      </a:r>
                    </a:p>
                  </a:txBody>
                  <a:tcPr anchor="ctr">
                    <a:solidFill>
                      <a:schemeClr val="bg1">
                        <a:lumMod val="75000"/>
                      </a:schemeClr>
                    </a:solidFill>
                  </a:tcPr>
                </a:tc>
                <a:tc>
                  <a:txBody>
                    <a:bodyPr/>
                    <a:lstStyle/>
                    <a:p>
                      <a:pPr algn="l"/>
                      <a:r>
                        <a:rPr kumimoji="1" lang="ja-JP" altLang="en-US" sz="1600" b="0" kern="1200">
                          <a:solidFill>
                            <a:srgbClr val="FF0000"/>
                          </a:solidFill>
                          <a:latin typeface="+mn-lt"/>
                          <a:ea typeface="+mn-ea"/>
                          <a:cs typeface="+mn-cs"/>
                        </a:rPr>
                        <a:t>潤滑油品がどれにあたるか、ロット</a:t>
                      </a:r>
                      <a:r>
                        <a:rPr kumimoji="1" lang="en-US" altLang="ja-JP" sz="1600" b="0" kern="1200">
                          <a:solidFill>
                            <a:srgbClr val="FF0000"/>
                          </a:solidFill>
                          <a:latin typeface="+mn-lt"/>
                          <a:ea typeface="+mn-ea"/>
                          <a:cs typeface="+mn-cs"/>
                        </a:rPr>
                        <a:t>No</a:t>
                      </a:r>
                      <a:r>
                        <a:rPr kumimoji="1" lang="ja-JP" altLang="en-US" sz="1600" b="0" kern="1200">
                          <a:solidFill>
                            <a:srgbClr val="FF0000"/>
                          </a:solidFill>
                          <a:latin typeface="+mn-lt"/>
                          <a:ea typeface="+mn-ea"/>
                          <a:cs typeface="+mn-cs"/>
                        </a:rPr>
                        <a:t>とタンクの紐づけとなる元データがどこに存在しているか等不明な点が大きい為、本見積からは外しています。</a:t>
                      </a:r>
                      <a:endParaRPr kumimoji="1" lang="en-US" altLang="ja-JP"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1105486315"/>
                  </a:ext>
                </a:extLst>
              </a:tr>
            </a:tbl>
          </a:graphicData>
        </a:graphic>
      </p:graphicFrame>
    </p:spTree>
    <p:extLst>
      <p:ext uri="{BB962C8B-B14F-4D97-AF65-F5344CB8AC3E}">
        <p14:creationId xmlns:p14="http://schemas.microsoft.com/office/powerpoint/2010/main" val="1166953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a:ea typeface="游ゴシック"/>
              </a:rPr>
              <a:t>３. </a:t>
            </a:r>
            <a:r>
              <a:rPr lang="ja-JP" altLang="en-US">
                <a:latin typeface="游明朝"/>
                <a:ea typeface="游明朝"/>
              </a:rPr>
              <a:t>システム構成（</a:t>
            </a:r>
            <a:r>
              <a:rPr lang="en-US" altLang="ja-JP">
                <a:latin typeface="游明朝"/>
                <a:ea typeface="游ゴシック"/>
              </a:rPr>
              <a:t>AsIs</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2025/4/7</a:t>
            </a:r>
            <a:endParaRPr lang="en-US"/>
          </a:p>
        </p:txBody>
      </p:sp>
      <p:cxnSp>
        <p:nvCxnSpPr>
          <p:cNvPr id="175" name="直線コネクタ 174">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線コネクタ 175">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77" name="図 1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78" name="テキスト ボックス 177"/>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79" name="テキスト ボックス 178"/>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80" name="図 179">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81" name="直線矢印コネクタ 180">
            <a:extLst>
              <a:ext uri="{FF2B5EF4-FFF2-40B4-BE49-F238E27FC236}">
                <a16:creationId xmlns:a16="http://schemas.microsoft.com/office/drawing/2014/main" id="{1576BBEA-4A79-8CC0-6210-DA4B18715EC7}"/>
              </a:ext>
            </a:extLst>
          </p:cNvPr>
          <p:cNvCxnSpPr>
            <a:cxnSpLocks/>
            <a:stCxn id="180" idx="3"/>
            <a:endCxn id="177"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2" name="テキスト ボックス 181">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83" name="テキスト ボックス 182">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84" name="図 183">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85" name="テキスト ボックス 184">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86" name="図 185">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87" name="テキスト ボックス 186">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88" name="カギ線コネクタ 63">
            <a:extLst>
              <a:ext uri="{FF2B5EF4-FFF2-40B4-BE49-F238E27FC236}">
                <a16:creationId xmlns:a16="http://schemas.microsoft.com/office/drawing/2014/main" id="{ACD1FA9C-63FB-8E6A-A91E-B7B6E5E8AA3D}"/>
              </a:ext>
            </a:extLst>
          </p:cNvPr>
          <p:cNvCxnSpPr>
            <a:cxnSpLocks/>
            <a:stCxn id="180" idx="0"/>
            <a:endCxn id="186"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直線矢印コネクタ 188">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4C397DBB-F55A-0439-B0AB-9C42DDC6ADAB}"/>
              </a:ext>
            </a:extLst>
          </p:cNvPr>
          <p:cNvCxnSpPr>
            <a:cxnSpLocks/>
            <a:stCxn id="184" idx="3"/>
            <a:endCxn id="180"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テキスト ボックス 190">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2" name="直線矢印コネクタ 191">
            <a:extLst>
              <a:ext uri="{FF2B5EF4-FFF2-40B4-BE49-F238E27FC236}">
                <a16:creationId xmlns:a16="http://schemas.microsoft.com/office/drawing/2014/main" id="{6001787D-F734-861A-3DF7-988517640F48}"/>
              </a:ext>
            </a:extLst>
          </p:cNvPr>
          <p:cNvCxnSpPr>
            <a:cxnSpLocks/>
            <a:stCxn id="200" idx="3"/>
            <a:endCxn id="201"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テキスト ボックス 192">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94" name="テキスト ボックス 193">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5" name="テキスト ボックス 194">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6" name="テキスト ボックス 195">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7" name="テキスト ボックス 196">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98" name="テキスト ボックス 197">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9" name="直線矢印コネクタ 198">
            <a:extLst>
              <a:ext uri="{FF2B5EF4-FFF2-40B4-BE49-F238E27FC236}">
                <a16:creationId xmlns:a16="http://schemas.microsoft.com/office/drawing/2014/main" id="{1576BBEA-4A79-8CC0-6210-DA4B18715EC7}"/>
              </a:ext>
            </a:extLst>
          </p:cNvPr>
          <p:cNvCxnSpPr>
            <a:cxnSpLocks/>
            <a:stCxn id="177" idx="3"/>
            <a:endCxn id="200"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0" name="図 19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201" name="図 20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202" name="テキスト ボックス 201">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203" name="直線コネクタ 202">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204" name="テキスト ボックス 20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spTree>
    <p:extLst>
      <p:ext uri="{BB962C8B-B14F-4D97-AF65-F5344CB8AC3E}">
        <p14:creationId xmlns:p14="http://schemas.microsoft.com/office/powerpoint/2010/main" val="191475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2025/4/7</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Tree>
    <p:extLst>
      <p:ext uri="{BB962C8B-B14F-4D97-AF65-F5344CB8AC3E}">
        <p14:creationId xmlns:p14="http://schemas.microsoft.com/office/powerpoint/2010/main" val="2849627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）：作業範囲</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2025/4/7</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40" name="吹き出し: 四角形 33">
            <a:extLst>
              <a:ext uri="{FF2B5EF4-FFF2-40B4-BE49-F238E27FC236}">
                <a16:creationId xmlns:a16="http://schemas.microsoft.com/office/drawing/2014/main" id="{F75F6588-C759-4827-0146-B95006E50CC5}"/>
              </a:ext>
            </a:extLst>
          </p:cNvPr>
          <p:cNvSpPr/>
          <p:nvPr/>
        </p:nvSpPr>
        <p:spPr>
          <a:xfrm>
            <a:off x="4920510" y="1869725"/>
            <a:ext cx="2352180" cy="1017996"/>
          </a:xfrm>
          <a:prstGeom prst="wedgeRectCallout">
            <a:avLst>
              <a:gd name="adj1" fmla="val -32695"/>
              <a:gd name="adj2" fmla="val 106021"/>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
        <p:nvSpPr>
          <p:cNvPr id="43" name="吹き出し: 四角形 33">
            <a:extLst>
              <a:ext uri="{FF2B5EF4-FFF2-40B4-BE49-F238E27FC236}">
                <a16:creationId xmlns:a16="http://schemas.microsoft.com/office/drawing/2014/main" id="{F75F6588-C759-4827-0146-B95006E50CC5}"/>
              </a:ext>
            </a:extLst>
          </p:cNvPr>
          <p:cNvSpPr/>
          <p:nvPr/>
        </p:nvSpPr>
        <p:spPr>
          <a:xfrm>
            <a:off x="6657110" y="4420133"/>
            <a:ext cx="2453322" cy="1050601"/>
          </a:xfrm>
          <a:prstGeom prst="wedgeRectCallout">
            <a:avLst>
              <a:gd name="adj1" fmla="val -47484"/>
              <a:gd name="adj2" fmla="val -120174"/>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以下機能を追加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・連携監視</a:t>
            </a:r>
            <a:r>
              <a:rPr kumimoji="1" lang="en-US" altLang="ja-JP" sz="1000" b="1">
                <a:solidFill>
                  <a:srgbClr val="FF0000"/>
                </a:solidFill>
                <a:latin typeface="游ゴシック"/>
                <a:ea typeface="游ゴシック"/>
              </a:rPr>
              <a:t>(</a:t>
            </a:r>
            <a:r>
              <a:rPr kumimoji="1" lang="ja-JP" altLang="en-US" sz="1000" b="1">
                <a:solidFill>
                  <a:srgbClr val="FF0000"/>
                </a:solidFill>
                <a:latin typeface="游ゴシック"/>
                <a:ea typeface="游ゴシック"/>
              </a:rPr>
              <a:t>新規分</a:t>
            </a:r>
            <a:r>
              <a:rPr kumimoji="1" lang="en-US" altLang="ja-JP" sz="1000" b="1">
                <a:solidFill>
                  <a:srgbClr val="FF0000"/>
                </a:solidFill>
                <a:latin typeface="游ゴシック"/>
                <a:ea typeface="游ゴシック"/>
              </a:rPr>
              <a:t>)</a:t>
            </a:r>
            <a:endParaRPr lang="ja-JP" altLang="en-US" sz="1000" b="1">
              <a:solidFill>
                <a:srgbClr val="FF0000"/>
              </a:solidFill>
              <a:latin typeface="游ゴシック"/>
              <a:ea typeface="游ゴシック"/>
            </a:endParaRPr>
          </a:p>
        </p:txBody>
      </p:sp>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42" name="吹き出し: 四角形 33">
            <a:extLst>
              <a:ext uri="{FF2B5EF4-FFF2-40B4-BE49-F238E27FC236}">
                <a16:creationId xmlns:a16="http://schemas.microsoft.com/office/drawing/2014/main" id="{F75F6588-C759-4827-0146-B95006E50CC5}"/>
              </a:ext>
            </a:extLst>
          </p:cNvPr>
          <p:cNvSpPr/>
          <p:nvPr/>
        </p:nvSpPr>
        <p:spPr>
          <a:xfrm>
            <a:off x="4167608" y="5298570"/>
            <a:ext cx="2352180" cy="1017996"/>
          </a:xfrm>
          <a:prstGeom prst="wedgeRectCallout">
            <a:avLst>
              <a:gd name="adj1" fmla="val -46640"/>
              <a:gd name="adj2" fmla="val -95105"/>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Tree>
    <p:extLst>
      <p:ext uri="{BB962C8B-B14F-4D97-AF65-F5344CB8AC3E}">
        <p14:creationId xmlns:p14="http://schemas.microsoft.com/office/powerpoint/2010/main" val="223736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４</a:t>
            </a:r>
            <a:r>
              <a:rPr kumimoji="1" lang="en-US" altLang="ja-JP">
                <a:latin typeface="游明朝"/>
                <a:ea typeface="游明朝"/>
              </a:rPr>
              <a:t>. </a:t>
            </a:r>
            <a:r>
              <a:rPr lang="ja-JP" altLang="en-US">
                <a:latin typeface="游明朝"/>
                <a:ea typeface="游明朝"/>
              </a:rPr>
              <a:t>対応内容</a:t>
            </a:r>
            <a:endParaRPr kumimoji="1" lang="ja-JP" altLang="en-US">
              <a:latin typeface="游明朝"/>
              <a:ea typeface="游明朝"/>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2025/4/7</a:t>
            </a:r>
            <a:endParaRPr lang="en-US"/>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22656286"/>
              </p:ext>
            </p:extLst>
          </p:nvPr>
        </p:nvGraphicFramePr>
        <p:xfrm>
          <a:off x="606000" y="852407"/>
          <a:ext cx="11030005" cy="3840270"/>
        </p:xfrm>
        <a:graphic>
          <a:graphicData uri="http://schemas.openxmlformats.org/drawingml/2006/table">
            <a:tbl>
              <a:tblPr firstRow="1" bandRow="1">
                <a:tableStyleId>{69012ECD-51FC-41F1-AA8D-1B2483CD663E}</a:tableStyleId>
              </a:tblPr>
              <a:tblGrid>
                <a:gridCol w="500997">
                  <a:extLst>
                    <a:ext uri="{9D8B030D-6E8A-4147-A177-3AD203B41FA5}">
                      <a16:colId xmlns:a16="http://schemas.microsoft.com/office/drawing/2014/main" val="820809534"/>
                    </a:ext>
                  </a:extLst>
                </a:gridCol>
                <a:gridCol w="2954513">
                  <a:extLst>
                    <a:ext uri="{9D8B030D-6E8A-4147-A177-3AD203B41FA5}">
                      <a16:colId xmlns:a16="http://schemas.microsoft.com/office/drawing/2014/main" val="2667349602"/>
                    </a:ext>
                  </a:extLst>
                </a:gridCol>
                <a:gridCol w="7574495">
                  <a:extLst>
                    <a:ext uri="{9D8B030D-6E8A-4147-A177-3AD203B41FA5}">
                      <a16:colId xmlns:a16="http://schemas.microsoft.com/office/drawing/2014/main" val="2117318705"/>
                    </a:ext>
                  </a:extLst>
                </a:gridCol>
              </a:tblGrid>
              <a:tr h="327828">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業務処理</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対応内容</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85407">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ローリー予約送信</a:t>
                      </a:r>
                      <a:endParaRPr kumimoji="1" lang="en-US" altLang="ja-JP" sz="14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連携追加、画面設計修正追加、連携監視ジョブの追加、</a:t>
                      </a:r>
                    </a:p>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ローリーデータ</a:t>
                      </a:r>
                      <a:r>
                        <a:rPr kumimoji="1" lang="ja-JP" altLang="en-US" sz="1400">
                          <a:solidFill>
                            <a:schemeClr val="tx1"/>
                          </a:solidFill>
                          <a:latin typeface="游ゴシック"/>
                          <a:ea typeface="游ゴシック"/>
                        </a:rPr>
                        <a:t>送信処理の追加、送信用ボタン追加想定</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85407">
                <a:tc>
                  <a:txBody>
                    <a:bodyPr/>
                    <a:lstStyle/>
                    <a:p>
                      <a:pPr algn="ctr"/>
                      <a:r>
                        <a:rPr kumimoji="1" lang="en-US" altLang="ja-JP" sz="1400" kern="1200">
                          <a:solidFill>
                            <a:schemeClr val="dk1"/>
                          </a:solidFill>
                          <a:latin typeface="游ゴシック"/>
                          <a:ea typeface="游ゴシック"/>
                          <a:cs typeface="+mn-cs"/>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ローリー実績受信</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a:t>
                      </a:r>
                    </a:p>
                    <a:p>
                      <a:pPr marL="0" indent="0">
                        <a:buFont typeface="Arial" pitchFamily="34" charset="0"/>
                        <a:buNone/>
                      </a:pPr>
                      <a:r>
                        <a:rPr kumimoji="1" lang="en-US" altLang="ja-JP" sz="1400">
                          <a:solidFill>
                            <a:schemeClr val="tx1"/>
                          </a:solidFill>
                          <a:latin typeface="游ゴシック"/>
                          <a:ea typeface="游ゴシック"/>
                        </a:rPr>
                        <a:t>MEK</a:t>
                      </a:r>
                      <a:r>
                        <a:rPr kumimoji="1" lang="ja-JP" altLang="en-US" sz="1400">
                          <a:solidFill>
                            <a:schemeClr val="tx1"/>
                          </a:solidFill>
                          <a:latin typeface="游ゴシック"/>
                          <a:ea typeface="游ゴシック"/>
                        </a:rPr>
                        <a:t>ローリー実績連携データ取込処理追加</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623921"/>
                  </a:ext>
                </a:extLst>
              </a:tr>
              <a:tr h="585407">
                <a:tc>
                  <a:txBody>
                    <a:bodyPr/>
                    <a:lstStyle/>
                    <a:p>
                      <a:pPr algn="ctr"/>
                      <a:r>
                        <a:rPr kumimoji="1" lang="en-US" altLang="ja-JP" sz="1400" kern="1200">
                          <a:solidFill>
                            <a:schemeClr val="dk1"/>
                          </a:solidFill>
                          <a:latin typeface="游ゴシック"/>
                          <a:ea typeface="游ゴシック"/>
                          <a:cs typeface="+mn-cs"/>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ドラム出荷予約送信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連携追加、画面設計修正追加、</a:t>
                      </a:r>
                      <a:r>
                        <a:rPr kumimoji="1" lang="ja-JP" altLang="en-US" sz="1400">
                          <a:solidFill>
                            <a:schemeClr val="tx1"/>
                          </a:solidFill>
                          <a:latin typeface="游ゴシック"/>
                          <a:ea typeface="游ゴシック"/>
                        </a:rPr>
                        <a:t>連携監視ジョブの追加、</a:t>
                      </a:r>
                      <a:endParaRPr lang="ja-JP" altLang="en-US"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ドラムデータ</a:t>
                      </a:r>
                      <a:r>
                        <a:rPr lang="ja-JP" altLang="en-US" sz="1400">
                          <a:solidFill>
                            <a:schemeClr val="tx1"/>
                          </a:solidFill>
                          <a:latin typeface="游ゴシック"/>
                          <a:ea typeface="游ゴシック"/>
                        </a:rPr>
                        <a:t>送信処理の追加、送信用ボタン追加想定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8540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ドラム出荷実績受信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a:t>
                      </a:r>
                      <a:r>
                        <a:rPr lang="en-US" altLang="ja-JP" sz="1400">
                          <a:solidFill>
                            <a:schemeClr val="tx1"/>
                          </a:solidFill>
                          <a:latin typeface="游ゴシック"/>
                          <a:ea typeface="游ゴシック"/>
                        </a:rPr>
                        <a:t>MEK</a:t>
                      </a:r>
                      <a:r>
                        <a:rPr lang="ja-JP" altLang="en-US" sz="1400">
                          <a:solidFill>
                            <a:schemeClr val="tx1"/>
                          </a:solidFill>
                          <a:latin typeface="游ゴシック"/>
                          <a:ea typeface="游ゴシック"/>
                        </a:rPr>
                        <a:t>ドラム実績連携データ取込処理追加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85407">
                <a:tc>
                  <a:txBody>
                    <a:bodyPr/>
                    <a:lstStyle/>
                    <a:p>
                      <a:pPr algn="ctr"/>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b="0" i="0" u="none" strike="noStrike" noProof="0">
                          <a:solidFill>
                            <a:srgbClr val="323232"/>
                          </a:solidFill>
                          <a:latin typeface="游ゴシック"/>
                          <a:ea typeface="游ゴシック"/>
                        </a:rPr>
                        <a:t>連携ファイルバックアップ</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バッチ設計書、</a:t>
                      </a:r>
                      <a:r>
                        <a:rPr lang="en-US" altLang="ja-JP" sz="1400">
                          <a:solidFill>
                            <a:schemeClr val="tx1"/>
                          </a:solidFill>
                          <a:latin typeface="游ゴシック"/>
                          <a:ea typeface="游ゴシック"/>
                        </a:rPr>
                        <a:t>PG</a:t>
                      </a:r>
                      <a:r>
                        <a:rPr lang="ja-JP" altLang="en-US" sz="1400">
                          <a:solidFill>
                            <a:schemeClr val="tx1"/>
                          </a:solidFill>
                          <a:latin typeface="游ゴシック"/>
                          <a:ea typeface="游ゴシック"/>
                        </a:rPr>
                        <a:t>修正</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r h="585407">
                <a:tc>
                  <a:txBody>
                    <a:bodyPr/>
                    <a:lstStyle/>
                    <a:p>
                      <a:pPr algn="ctr"/>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DB</a:t>
                      </a:r>
                      <a:r>
                        <a:rPr lang="ja-JP" altLang="en-US" sz="1400" b="0" i="0" u="none" strike="noStrike" noProof="0">
                          <a:solidFill>
                            <a:srgbClr val="323232"/>
                          </a:solidFill>
                          <a:latin typeface="游ゴシック"/>
                          <a:ea typeface="游ゴシック"/>
                        </a:rPr>
                        <a:t>修正</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テーブル追加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33851"/>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５</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成果物</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62386813"/>
              </p:ext>
            </p:extLst>
          </p:nvPr>
        </p:nvGraphicFramePr>
        <p:xfrm>
          <a:off x="606000" y="899278"/>
          <a:ext cx="11011199" cy="4665793"/>
        </p:xfrm>
        <a:graphic>
          <a:graphicData uri="http://schemas.openxmlformats.org/drawingml/2006/table">
            <a:tbl>
              <a:tblPr firstRow="1" bandRow="1">
                <a:tableStyleId>{69012ECD-51FC-41F1-AA8D-1B2483CD663E}</a:tableStyleId>
              </a:tblPr>
              <a:tblGrid>
                <a:gridCol w="692121">
                  <a:extLst>
                    <a:ext uri="{9D8B030D-6E8A-4147-A177-3AD203B41FA5}">
                      <a16:colId xmlns:a16="http://schemas.microsoft.com/office/drawing/2014/main" val="820809534"/>
                    </a:ext>
                  </a:extLst>
                </a:gridCol>
                <a:gridCol w="2204358">
                  <a:extLst>
                    <a:ext uri="{9D8B030D-6E8A-4147-A177-3AD203B41FA5}">
                      <a16:colId xmlns:a16="http://schemas.microsoft.com/office/drawing/2014/main" val="2667349602"/>
                    </a:ext>
                  </a:extLst>
                </a:gridCol>
                <a:gridCol w="81147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SA-01:</a:t>
                      </a:r>
                      <a:r>
                        <a:rPr kumimoji="1" lang="ja-JP" altLang="en-US" sz="1400">
                          <a:latin typeface="游ゴシック" panose="020B0400000000000000" pitchFamily="50" charset="-128"/>
                          <a:ea typeface="+mn-ea"/>
                        </a:rPr>
                        <a:t>変更仕様書、</a:t>
                      </a:r>
                      <a:r>
                        <a:rPr kumimoji="1" lang="en-US" altLang="ja-JP" sz="1400">
                          <a:latin typeface="游ゴシック" panose="020B0400000000000000" pitchFamily="50" charset="-128"/>
                          <a:ea typeface="+mn-ea"/>
                        </a:rPr>
                        <a:t>SA-11:</a:t>
                      </a:r>
                      <a:r>
                        <a:rPr kumimoji="1" lang="ja-JP" altLang="en-US" sz="1400">
                          <a:latin typeface="游ゴシック" panose="020B0400000000000000" pitchFamily="50" charset="-128"/>
                          <a:ea typeface="+mn-ea"/>
                        </a:rPr>
                        <a:t>外部システムインターフェース概要</a:t>
                      </a:r>
                      <a:endParaRPr kumimoji="1" lang="en-US" altLang="ja-JP" sz="14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UI-01 </a:t>
                      </a:r>
                      <a:r>
                        <a:rPr kumimoji="1" lang="ja-JP" altLang="en-US" sz="1400">
                          <a:latin typeface="游ゴシック" panose="020B0400000000000000" pitchFamily="50" charset="-128"/>
                          <a:ea typeface="+mn-ea"/>
                        </a:rPr>
                        <a:t>プロセス機能一覧、</a:t>
                      </a:r>
                      <a:r>
                        <a:rPr kumimoji="1" lang="en-US" altLang="ja-JP" sz="1400">
                          <a:latin typeface="游ゴシック" panose="020B0400000000000000" pitchFamily="50" charset="-128"/>
                          <a:ea typeface="+mn-ea"/>
                        </a:rPr>
                        <a:t>UI-03 </a:t>
                      </a:r>
                      <a:r>
                        <a:rPr kumimoji="1" lang="ja-JP" altLang="en-US" sz="1400">
                          <a:latin typeface="游ゴシック" panose="020B0400000000000000" pitchFamily="50" charset="-128"/>
                          <a:ea typeface="+mn-ea"/>
                        </a:rPr>
                        <a:t>プロセス仕様、</a:t>
                      </a:r>
                      <a:r>
                        <a:rPr kumimoji="1" lang="en-US" altLang="ja-JP" sz="1400">
                          <a:latin typeface="游ゴシック" panose="020B0400000000000000" pitchFamily="50" charset="-128"/>
                          <a:ea typeface="+mn-ea"/>
                        </a:rPr>
                        <a:t>UI-14:</a:t>
                      </a:r>
                      <a:r>
                        <a:rPr kumimoji="1" lang="ja-JP" altLang="en-US" sz="1400">
                          <a:latin typeface="游ゴシック" panose="020B0400000000000000" pitchFamily="50" charset="-128"/>
                          <a:ea typeface="+mn-ea"/>
                        </a:rPr>
                        <a:t>外部システムインターフェース一覧、</a:t>
                      </a:r>
                      <a:endParaRPr kumimoji="1" lang="en-US" altLang="ja-JP" sz="1400">
                        <a:latin typeface="游ゴシック" panose="020B0400000000000000" pitchFamily="50" charset="-128"/>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UI-15:</a:t>
                      </a:r>
                      <a:r>
                        <a:rPr kumimoji="1" lang="ja-JP" altLang="en-US" sz="1400">
                          <a:latin typeface="游ゴシック" panose="020B0400000000000000" pitchFamily="50" charset="-128"/>
                          <a:ea typeface="+mn-ea"/>
                        </a:rPr>
                        <a:t>外部システムインターフェース定義、</a:t>
                      </a:r>
                      <a:r>
                        <a:rPr kumimoji="1" lang="en-US" altLang="ja-JP" sz="1400">
                          <a:latin typeface="游ゴシック" panose="020B0400000000000000" pitchFamily="50" charset="-128"/>
                          <a:ea typeface="+mn-ea"/>
                        </a:rPr>
                        <a:t>UI-20:</a:t>
                      </a:r>
                      <a:r>
                        <a:rPr kumimoji="1" lang="ja-JP" altLang="en-US" sz="1400">
                          <a:latin typeface="游ゴシック" panose="020B0400000000000000" pitchFamily="50" charset="-128"/>
                          <a:ea typeface="+mn-ea"/>
                        </a:rPr>
                        <a:t>エンティティ定義書</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IT-01:</a:t>
                      </a:r>
                      <a:r>
                        <a:rPr kumimoji="1" lang="ja-JP" altLang="en-US" sz="1400">
                          <a:latin typeface="游ゴシック" panose="020B0400000000000000" pitchFamily="50" charset="-128"/>
                          <a:ea typeface="+mn-ea"/>
                        </a:rPr>
                        <a:t>結合テスト仕様書兼成績書</a:t>
                      </a:r>
                      <a:r>
                        <a:rPr lang="ja-JP" altLang="en-US" sz="1400" u="none" strike="noStrike" kern="1200" cap="none" normalizeH="0" baseline="0">
                          <a:ln>
                            <a:noFill/>
                          </a:ln>
                          <a:solidFill>
                            <a:schemeClr val="tx1"/>
                          </a:solidFill>
                          <a:effectLst/>
                          <a:latin typeface="游ゴシック"/>
                          <a:ea typeface="游ゴシック"/>
                        </a:rPr>
                        <a:t>、エビデンス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ST-01:</a:t>
                      </a:r>
                      <a:r>
                        <a:rPr kumimoji="1" lang="ja-JP" altLang="en-US" sz="1400">
                          <a:latin typeface="游ゴシック" panose="020B0400000000000000" pitchFamily="50" charset="-128"/>
                          <a:ea typeface="+mn-ea"/>
                        </a:rPr>
                        <a:t>システムテスト仕様書兼成績書</a:t>
                      </a:r>
                      <a:r>
                        <a:rPr kumimoji="0" lang="ja-JP" altLang="en-US" sz="1400" u="none" strike="noStrike" kern="1200" cap="none" normalizeH="0" baseline="0">
                          <a:ln>
                            <a:noFill/>
                          </a:ln>
                          <a:solidFill>
                            <a:schemeClr val="tx1"/>
                          </a:solidFill>
                          <a:effectLst/>
                          <a:latin typeface="游ゴシック"/>
                          <a:ea typeface="游ゴシック"/>
                        </a:rPr>
                        <a:t>、エビデンス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2025/4/7</a:t>
            </a:r>
            <a:endParaRPr lang="en-US"/>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F4455-CB8C-F577-5F98-B2AA942039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30C422-04F9-EE24-53A2-09385AFA525E}"/>
              </a:ext>
            </a:extLst>
          </p:cNvPr>
          <p:cNvSpPr>
            <a:spLocks noGrp="1"/>
          </p:cNvSpPr>
          <p:nvPr>
            <p:ph type="title"/>
          </p:nvPr>
        </p:nvSpPr>
        <p:spPr/>
        <p:txBody>
          <a:bodyPr/>
          <a:lstStyle/>
          <a:p>
            <a:r>
              <a:rPr lang="en-US" altLang="ja-JP">
                <a:latin typeface="游明朝"/>
                <a:ea typeface="游明朝"/>
              </a:rPr>
              <a:t>６-</a:t>
            </a:r>
            <a:r>
              <a:rPr lang="ja-JP" altLang="en-US">
                <a:latin typeface="游明朝"/>
                <a:ea typeface="游明朝"/>
              </a:rPr>
              <a:t>１</a:t>
            </a:r>
            <a:r>
              <a:rPr kumimoji="1" lang="en-US" altLang="ja-JP">
                <a:latin typeface="游明朝"/>
                <a:ea typeface="游明朝"/>
              </a:rPr>
              <a:t>. </a:t>
            </a:r>
            <a:r>
              <a:rPr kumimoji="1" lang="ja-JP" altLang="en-US">
                <a:latin typeface="游明朝"/>
                <a:ea typeface="游明朝"/>
              </a:rPr>
              <a:t>スケジュール（想定）</a:t>
            </a:r>
          </a:p>
        </p:txBody>
      </p:sp>
      <p:sp>
        <p:nvSpPr>
          <p:cNvPr id="7" name="日付プレースホルダー 6">
            <a:extLst>
              <a:ext uri="{FF2B5EF4-FFF2-40B4-BE49-F238E27FC236}">
                <a16:creationId xmlns:a16="http://schemas.microsoft.com/office/drawing/2014/main" id="{91B46059-163E-55F9-4862-9CACB1ADE949}"/>
              </a:ext>
            </a:extLst>
          </p:cNvPr>
          <p:cNvSpPr>
            <a:spLocks noGrp="1"/>
          </p:cNvSpPr>
          <p:nvPr>
            <p:ph type="dt" sz="half" idx="10"/>
          </p:nvPr>
        </p:nvSpPr>
        <p:spPr/>
        <p:txBody>
          <a:bodyPr/>
          <a:lstStyle/>
          <a:p>
            <a:r>
              <a:rPr lang="en-US" altLang="ja-JP"/>
              <a:t>2025/4/7</a:t>
            </a:r>
            <a:endParaRPr lang="en-US"/>
          </a:p>
        </p:txBody>
      </p:sp>
      <p:graphicFrame>
        <p:nvGraphicFramePr>
          <p:cNvPr id="10" name="表 9">
            <a:extLst>
              <a:ext uri="{FF2B5EF4-FFF2-40B4-BE49-F238E27FC236}">
                <a16:creationId xmlns:a16="http://schemas.microsoft.com/office/drawing/2014/main" id="{B4854A8F-2A6F-C93F-B02C-A406C2F4A13C}"/>
              </a:ext>
            </a:extLst>
          </p:cNvPr>
          <p:cNvGraphicFramePr>
            <a:graphicFrameLocks noGrp="1"/>
          </p:cNvGraphicFramePr>
          <p:nvPr>
            <p:extLst>
              <p:ext uri="{D42A27DB-BD31-4B8C-83A1-F6EECF244321}">
                <p14:modId xmlns:p14="http://schemas.microsoft.com/office/powerpoint/2010/main" val="779539069"/>
              </p:ext>
            </p:extLst>
          </p:nvPr>
        </p:nvGraphicFramePr>
        <p:xfrm>
          <a:off x="208720" y="936002"/>
          <a:ext cx="11315694" cy="3687932"/>
        </p:xfrm>
        <a:graphic>
          <a:graphicData uri="http://schemas.openxmlformats.org/drawingml/2006/table">
            <a:tbl>
              <a:tblPr firstRow="1">
                <a:tableStyleId>{69012ECD-51FC-41F1-AA8D-1B2483CD663E}</a:tableStyleId>
              </a:tblPr>
              <a:tblGrid>
                <a:gridCol w="1094910">
                  <a:extLst>
                    <a:ext uri="{9D8B030D-6E8A-4147-A177-3AD203B41FA5}">
                      <a16:colId xmlns:a16="http://schemas.microsoft.com/office/drawing/2014/main" val="20001"/>
                    </a:ext>
                  </a:extLst>
                </a:gridCol>
                <a:gridCol w="486704">
                  <a:extLst>
                    <a:ext uri="{9D8B030D-6E8A-4147-A177-3AD203B41FA5}">
                      <a16:colId xmlns:a16="http://schemas.microsoft.com/office/drawing/2014/main" val="3410075611"/>
                    </a:ext>
                  </a:extLst>
                </a:gridCol>
                <a:gridCol w="486704">
                  <a:extLst>
                    <a:ext uri="{9D8B030D-6E8A-4147-A177-3AD203B41FA5}">
                      <a16:colId xmlns:a16="http://schemas.microsoft.com/office/drawing/2014/main" val="581140380"/>
                    </a:ext>
                  </a:extLst>
                </a:gridCol>
                <a:gridCol w="486704">
                  <a:extLst>
                    <a:ext uri="{9D8B030D-6E8A-4147-A177-3AD203B41FA5}">
                      <a16:colId xmlns:a16="http://schemas.microsoft.com/office/drawing/2014/main" val="2281884067"/>
                    </a:ext>
                  </a:extLst>
                </a:gridCol>
                <a:gridCol w="486704">
                  <a:extLst>
                    <a:ext uri="{9D8B030D-6E8A-4147-A177-3AD203B41FA5}">
                      <a16:colId xmlns:a16="http://schemas.microsoft.com/office/drawing/2014/main" val="3798517737"/>
                    </a:ext>
                  </a:extLst>
                </a:gridCol>
                <a:gridCol w="486704">
                  <a:extLst>
                    <a:ext uri="{9D8B030D-6E8A-4147-A177-3AD203B41FA5}">
                      <a16:colId xmlns:a16="http://schemas.microsoft.com/office/drawing/2014/main" val="3330914773"/>
                    </a:ext>
                  </a:extLst>
                </a:gridCol>
                <a:gridCol w="486704">
                  <a:extLst>
                    <a:ext uri="{9D8B030D-6E8A-4147-A177-3AD203B41FA5}">
                      <a16:colId xmlns:a16="http://schemas.microsoft.com/office/drawing/2014/main" val="20014"/>
                    </a:ext>
                  </a:extLst>
                </a:gridCol>
                <a:gridCol w="486704">
                  <a:extLst>
                    <a:ext uri="{9D8B030D-6E8A-4147-A177-3AD203B41FA5}">
                      <a16:colId xmlns:a16="http://schemas.microsoft.com/office/drawing/2014/main" val="332361526"/>
                    </a:ext>
                  </a:extLst>
                </a:gridCol>
                <a:gridCol w="486704">
                  <a:extLst>
                    <a:ext uri="{9D8B030D-6E8A-4147-A177-3AD203B41FA5}">
                      <a16:colId xmlns:a16="http://schemas.microsoft.com/office/drawing/2014/main" val="1301509302"/>
                    </a:ext>
                  </a:extLst>
                </a:gridCol>
                <a:gridCol w="486704">
                  <a:extLst>
                    <a:ext uri="{9D8B030D-6E8A-4147-A177-3AD203B41FA5}">
                      <a16:colId xmlns:a16="http://schemas.microsoft.com/office/drawing/2014/main" val="2064698816"/>
                    </a:ext>
                  </a:extLst>
                </a:gridCol>
                <a:gridCol w="486704">
                  <a:extLst>
                    <a:ext uri="{9D8B030D-6E8A-4147-A177-3AD203B41FA5}">
                      <a16:colId xmlns:a16="http://schemas.microsoft.com/office/drawing/2014/main" val="1049139473"/>
                    </a:ext>
                  </a:extLst>
                </a:gridCol>
                <a:gridCol w="486704">
                  <a:extLst>
                    <a:ext uri="{9D8B030D-6E8A-4147-A177-3AD203B41FA5}">
                      <a16:colId xmlns:a16="http://schemas.microsoft.com/office/drawing/2014/main" val="581626291"/>
                    </a:ext>
                  </a:extLst>
                </a:gridCol>
                <a:gridCol w="486704">
                  <a:extLst>
                    <a:ext uri="{9D8B030D-6E8A-4147-A177-3AD203B41FA5}">
                      <a16:colId xmlns:a16="http://schemas.microsoft.com/office/drawing/2014/main" val="1794734865"/>
                    </a:ext>
                  </a:extLst>
                </a:gridCol>
                <a:gridCol w="486704">
                  <a:extLst>
                    <a:ext uri="{9D8B030D-6E8A-4147-A177-3AD203B41FA5}">
                      <a16:colId xmlns:a16="http://schemas.microsoft.com/office/drawing/2014/main" val="2108640072"/>
                    </a:ext>
                  </a:extLst>
                </a:gridCol>
                <a:gridCol w="486704">
                  <a:extLst>
                    <a:ext uri="{9D8B030D-6E8A-4147-A177-3AD203B41FA5}">
                      <a16:colId xmlns:a16="http://schemas.microsoft.com/office/drawing/2014/main" val="2565848082"/>
                    </a:ext>
                  </a:extLst>
                </a:gridCol>
                <a:gridCol w="486704">
                  <a:extLst>
                    <a:ext uri="{9D8B030D-6E8A-4147-A177-3AD203B41FA5}">
                      <a16:colId xmlns:a16="http://schemas.microsoft.com/office/drawing/2014/main" val="625707461"/>
                    </a:ext>
                  </a:extLst>
                </a:gridCol>
                <a:gridCol w="486704">
                  <a:extLst>
                    <a:ext uri="{9D8B030D-6E8A-4147-A177-3AD203B41FA5}">
                      <a16:colId xmlns:a16="http://schemas.microsoft.com/office/drawing/2014/main" val="2208195312"/>
                    </a:ext>
                  </a:extLst>
                </a:gridCol>
                <a:gridCol w="486704">
                  <a:extLst>
                    <a:ext uri="{9D8B030D-6E8A-4147-A177-3AD203B41FA5}">
                      <a16:colId xmlns:a16="http://schemas.microsoft.com/office/drawing/2014/main" val="1113983326"/>
                    </a:ext>
                  </a:extLst>
                </a:gridCol>
                <a:gridCol w="486704">
                  <a:extLst>
                    <a:ext uri="{9D8B030D-6E8A-4147-A177-3AD203B41FA5}">
                      <a16:colId xmlns:a16="http://schemas.microsoft.com/office/drawing/2014/main" val="3033107777"/>
                    </a:ext>
                  </a:extLst>
                </a:gridCol>
                <a:gridCol w="486704">
                  <a:extLst>
                    <a:ext uri="{9D8B030D-6E8A-4147-A177-3AD203B41FA5}">
                      <a16:colId xmlns:a16="http://schemas.microsoft.com/office/drawing/2014/main" val="1162710899"/>
                    </a:ext>
                  </a:extLst>
                </a:gridCol>
                <a:gridCol w="486704">
                  <a:extLst>
                    <a:ext uri="{9D8B030D-6E8A-4147-A177-3AD203B41FA5}">
                      <a16:colId xmlns:a16="http://schemas.microsoft.com/office/drawing/2014/main" val="1123801871"/>
                    </a:ext>
                  </a:extLst>
                </a:gridCol>
                <a:gridCol w="486704">
                  <a:extLst>
                    <a:ext uri="{9D8B030D-6E8A-4147-A177-3AD203B41FA5}">
                      <a16:colId xmlns:a16="http://schemas.microsoft.com/office/drawing/2014/main" val="860796379"/>
                    </a:ext>
                  </a:extLst>
                </a:gridCol>
              </a:tblGrid>
              <a:tr h="267324">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12">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67199">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10</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11</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33166">
                <a:tc>
                  <a:txBody>
                    <a:bodyPr/>
                    <a:lstStyle/>
                    <a:p>
                      <a:pPr lvl="0" algn="l">
                        <a:buNone/>
                      </a:pPr>
                      <a:r>
                        <a:rPr kumimoji="1" lang="ja-JP" altLang="en-US" sz="1400" b="0">
                          <a:latin typeface="游ゴシック"/>
                          <a:ea typeface="游ゴシック"/>
                          <a:cs typeface="Meiryo UI" pitchFamily="50" charset="-128"/>
                        </a:rPr>
                        <a:t>マイルストーン</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5624585"/>
                  </a:ext>
                </a:extLst>
              </a:tr>
              <a:tr h="667074">
                <a:tc>
                  <a:txBody>
                    <a:bodyPr/>
                    <a:lstStyle/>
                    <a:p>
                      <a:pPr algn="l"/>
                      <a:r>
                        <a:rPr kumimoji="1" lang="ja-JP" altLang="en-US" sz="1400" b="0">
                          <a:latin typeface="游ゴシック"/>
                          <a:ea typeface="游ゴシック"/>
                          <a:cs typeface="Meiryo UI" pitchFamily="50" charset="-128"/>
                        </a:rPr>
                        <a:t>陸上出荷システム</a:t>
                      </a:r>
                      <a:endParaRPr lang="en-US" altLang="ja-JP" sz="1400" b="0">
                        <a:latin typeface="游ゴシック"/>
                        <a:ea typeface="游ゴシック"/>
                        <a:cs typeface="Meiryo UI" pitchFamily="50" charset="-128"/>
                      </a:endParaRPr>
                    </a:p>
                    <a:p>
                      <a:pPr lvl="0" algn="l">
                        <a:buNone/>
                      </a:pPr>
                      <a:r>
                        <a:rPr kumimoji="1" lang="ja-JP" altLang="en-US" sz="1400" b="0">
                          <a:latin typeface="游ゴシック"/>
                          <a:ea typeface="游ゴシック"/>
                          <a:cs typeface="Meiryo UI" pitchFamily="50" charset="-128"/>
                        </a:rPr>
                        <a:t>構築</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66948">
                <a:tc>
                  <a:txBody>
                    <a:bodyPr/>
                    <a:lstStyle/>
                    <a:p>
                      <a:pPr algn="l"/>
                      <a:r>
                        <a:rPr kumimoji="1" lang="ja-JP" altLang="en-US" sz="1400" b="0">
                          <a:latin typeface="游ゴシック"/>
                          <a:ea typeface="游ゴシック"/>
                          <a:cs typeface="Meiryo UI" pitchFamily="50" charset="-128"/>
                        </a:rPr>
                        <a:t>徳山ヤード操業サーバ</a:t>
                      </a:r>
                      <a:r>
                        <a:rPr kumimoji="1" lang="en-US" altLang="ja-JP" sz="1400" b="0">
                          <a:latin typeface="游ゴシック"/>
                          <a:ea typeface="游ゴシック"/>
                          <a:cs typeface="Meiryo UI" pitchFamily="50" charset="-128"/>
                        </a:rPr>
                        <a:t>MEK</a:t>
                      </a:r>
                      <a:r>
                        <a:rPr kumimoji="1" lang="ja-JP" altLang="en-US" sz="1400" b="0">
                          <a:latin typeface="游ゴシック"/>
                          <a:ea typeface="游ゴシック"/>
                          <a:cs typeface="Meiryo UI" pitchFamily="50" charset="-128"/>
                        </a:rPr>
                        <a:t>取込改修</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extLst>
                  <a:ext uri="{0D108BD9-81ED-4DB2-BD59-A6C34878D82A}">
                    <a16:rowId xmlns:a16="http://schemas.microsoft.com/office/drawing/2014/main" val="920133689"/>
                  </a:ext>
                </a:extLst>
              </a:tr>
              <a:tr h="633166">
                <a:tc>
                  <a:txBody>
                    <a:bodyPr/>
                    <a:lstStyle/>
                    <a:p>
                      <a:pPr algn="l"/>
                      <a:r>
                        <a:rPr kumimoji="1" lang="ja-JP" altLang="en-US" sz="1200" b="0">
                          <a:latin typeface="游ゴシック" panose="020B0400000000000000" pitchFamily="50" charset="-128"/>
                          <a:ea typeface="+mn-ea"/>
                          <a:cs typeface="Meiryo UI" pitchFamily="50" charset="-128"/>
                        </a:rPr>
                        <a:t>徳山</a:t>
                      </a:r>
                      <a:r>
                        <a:rPr kumimoji="1" lang="en-US" altLang="ja-JP" sz="1200" b="0">
                          <a:latin typeface="游ゴシック" panose="020B0400000000000000" pitchFamily="50" charset="-128"/>
                          <a:ea typeface="+mn-ea"/>
                          <a:cs typeface="Meiryo UI" pitchFamily="50" charset="-128"/>
                        </a:rPr>
                        <a:t>L3.5GW</a:t>
                      </a:r>
                      <a:r>
                        <a:rPr kumimoji="1" lang="ja-JP" altLang="en-US" sz="1200" b="0">
                          <a:latin typeface="游ゴシック" panose="020B0400000000000000" pitchFamily="50" charset="-128"/>
                          <a:ea typeface="+mn-ea"/>
                          <a:cs typeface="Meiryo UI" pitchFamily="50" charset="-128"/>
                        </a:rPr>
                        <a:t>サーバ</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2838059"/>
                  </a:ext>
                </a:extLst>
              </a:tr>
            </a:tbl>
          </a:graphicData>
        </a:graphic>
      </p:graphicFrame>
      <p:sp>
        <p:nvSpPr>
          <p:cNvPr id="11" name="ホームベース 30">
            <a:extLst>
              <a:ext uri="{FF2B5EF4-FFF2-40B4-BE49-F238E27FC236}">
                <a16:creationId xmlns:a16="http://schemas.microsoft.com/office/drawing/2014/main" id="{DCB36EC3-8E20-C3F6-7B28-01D15E55DD07}"/>
              </a:ext>
            </a:extLst>
          </p:cNvPr>
          <p:cNvSpPr/>
          <p:nvPr/>
        </p:nvSpPr>
        <p:spPr>
          <a:xfrm>
            <a:off x="7677400" y="6039490"/>
            <a:ext cx="1260000" cy="360000"/>
          </a:xfrm>
          <a:prstGeom prst="homePlate">
            <a:avLst>
              <a:gd name="adj" fmla="val 0"/>
            </a:avLst>
          </a:prstGeom>
          <a:solidFill>
            <a:schemeClr val="accent2">
              <a:lumMod val="60000"/>
              <a:lumOff val="40000"/>
            </a:schemeClr>
          </a:solidFill>
          <a:ln>
            <a:solidFill>
              <a:schemeClr val="tx1">
                <a:lumMod val="75000"/>
                <a:lumOff val="25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BFB62DC3-6DA3-D4FC-16D3-B40614E1ABDE}"/>
              </a:ext>
            </a:extLst>
          </p:cNvPr>
          <p:cNvSpPr/>
          <p:nvPr/>
        </p:nvSpPr>
        <p:spPr>
          <a:xfrm>
            <a:off x="8969300" y="6039490"/>
            <a:ext cx="1260000" cy="360000"/>
          </a:xfrm>
          <a:prstGeom prst="homePlate">
            <a:avLst>
              <a:gd name="adj" fmla="val 0"/>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9C118669-AAAC-CB56-4106-836E9D178670}"/>
              </a:ext>
            </a:extLst>
          </p:cNvPr>
          <p:cNvSpPr/>
          <p:nvPr/>
        </p:nvSpPr>
        <p:spPr>
          <a:xfrm>
            <a:off x="10261199" y="6039490"/>
            <a:ext cx="1260000" cy="360000"/>
          </a:xfrm>
          <a:prstGeom prst="homePlate">
            <a:avLst>
              <a:gd name="adj" fmla="val 0"/>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8C6CEE94-A689-CD52-18E4-F850504C8DFB}"/>
              </a:ext>
            </a:extLst>
          </p:cNvPr>
          <p:cNvSpPr/>
          <p:nvPr/>
        </p:nvSpPr>
        <p:spPr>
          <a:xfrm>
            <a:off x="7602363" y="5964878"/>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E7DB5001-E355-EA1E-354F-9012E305B8F7}"/>
              </a:ext>
            </a:extLst>
          </p:cNvPr>
          <p:cNvSpPr/>
          <p:nvPr/>
        </p:nvSpPr>
        <p:spPr>
          <a:xfrm>
            <a:off x="1790585" y="3439453"/>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20" name="正方形/長方形 19">
            <a:extLst>
              <a:ext uri="{FF2B5EF4-FFF2-40B4-BE49-F238E27FC236}">
                <a16:creationId xmlns:a16="http://schemas.microsoft.com/office/drawing/2014/main" id="{3DD4AABD-7F3B-0C9F-D46E-716939B141B9}"/>
              </a:ext>
            </a:extLst>
          </p:cNvPr>
          <p:cNvSpPr/>
          <p:nvPr/>
        </p:nvSpPr>
        <p:spPr>
          <a:xfrm>
            <a:off x="3750153" y="3439453"/>
            <a:ext cx="950694"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詳細設計</a:t>
            </a:r>
            <a:r>
              <a:rPr lang="en-US" altLang="ja-JP" sz="1100">
                <a:solidFill>
                  <a:schemeClr val="tx1"/>
                </a:solidFill>
                <a:latin typeface="游ゴシック" panose="020B0400000000000000" pitchFamily="50" charset="-128"/>
                <a:ea typeface="游ゴシック" panose="020B0400000000000000" pitchFamily="50" charset="-128"/>
              </a:rPr>
              <a:t>/</a:t>
            </a:r>
          </a:p>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F393101E-A8D5-24E0-0052-8E7ADDE42244}"/>
              </a:ext>
            </a:extLst>
          </p:cNvPr>
          <p:cNvSpPr/>
          <p:nvPr/>
        </p:nvSpPr>
        <p:spPr>
          <a:xfrm>
            <a:off x="7131727" y="3439453"/>
            <a:ext cx="985649"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EA0BE68A-B0BC-DB81-1043-21C107AF1B3D}"/>
              </a:ext>
            </a:extLst>
          </p:cNvPr>
          <p:cNvSpPr/>
          <p:nvPr/>
        </p:nvSpPr>
        <p:spPr>
          <a:xfrm>
            <a:off x="2278712" y="3439453"/>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5C04B0F1-5703-2F7D-EC8F-D23CD1AC3790}"/>
              </a:ext>
            </a:extLst>
          </p:cNvPr>
          <p:cNvSpPr/>
          <p:nvPr/>
        </p:nvSpPr>
        <p:spPr>
          <a:xfrm>
            <a:off x="4700847" y="3439453"/>
            <a:ext cx="490451"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489A1212-7467-05A5-0AD0-769FDABA54E8}"/>
              </a:ext>
            </a:extLst>
          </p:cNvPr>
          <p:cNvSpPr/>
          <p:nvPr/>
        </p:nvSpPr>
        <p:spPr>
          <a:xfrm>
            <a:off x="8394022" y="3439453"/>
            <a:ext cx="21004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800">
                <a:solidFill>
                  <a:schemeClr val="tx1"/>
                </a:solidFill>
                <a:latin typeface="游ゴシック"/>
                <a:ea typeface="游ゴシック"/>
              </a:rPr>
              <a:t>本番移行</a:t>
            </a:r>
            <a:endParaRPr lang="en-US" altLang="ja-JP" sz="800">
              <a:solidFill>
                <a:schemeClr val="tx1"/>
              </a:solidFill>
              <a:latin typeface="游ゴシック"/>
              <a:ea typeface="游ゴシック"/>
            </a:endParaRPr>
          </a:p>
          <a:p>
            <a:pPr algn="ctr"/>
            <a:r>
              <a:rPr lang="ja-JP" altLang="en-US" sz="8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ED7DB45D-C23A-8720-93A1-3E088C31D2CA}"/>
              </a:ext>
            </a:extLst>
          </p:cNvPr>
          <p:cNvSpPr txBox="1"/>
          <p:nvPr/>
        </p:nvSpPr>
        <p:spPr>
          <a:xfrm>
            <a:off x="576713" y="5704833"/>
            <a:ext cx="6875464" cy="507247"/>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DAE579D4-432B-AA46-E744-1157390B2189}"/>
              </a:ext>
            </a:extLst>
          </p:cNvPr>
          <p:cNvSpPr/>
          <p:nvPr/>
        </p:nvSpPr>
        <p:spPr>
          <a:xfrm>
            <a:off x="1439999" y="2534838"/>
            <a:ext cx="3260847" cy="442800"/>
          </a:xfrm>
          <a:prstGeom prst="homePlate">
            <a:avLst>
              <a:gd name="adj" fmla="val 0"/>
            </a:avLst>
          </a:prstGeom>
          <a:solidFill>
            <a:schemeClr val="accent2">
              <a:lumMod val="60000"/>
              <a:lumOff val="40000"/>
            </a:schemeClr>
          </a:solidFill>
          <a:ln>
            <a:solidFill>
              <a:schemeClr val="tx1">
                <a:lumMod val="75000"/>
                <a:lumOff val="25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
        <p:nvSpPr>
          <p:cNvPr id="4" name="正方形/長方形 3">
            <a:extLst>
              <a:ext uri="{FF2B5EF4-FFF2-40B4-BE49-F238E27FC236}">
                <a16:creationId xmlns:a16="http://schemas.microsoft.com/office/drawing/2014/main" id="{7D0A58B3-9E37-C2B2-C14B-2D4134C71BD0}"/>
              </a:ext>
            </a:extLst>
          </p:cNvPr>
          <p:cNvSpPr/>
          <p:nvPr/>
        </p:nvSpPr>
        <p:spPr>
          <a:xfrm>
            <a:off x="4700847" y="2534838"/>
            <a:ext cx="490451"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IF</a:t>
            </a:r>
            <a:r>
              <a:rPr lang="ja-JP" altLang="en-US" sz="1100">
                <a:solidFill>
                  <a:schemeClr val="tx1"/>
                </a:solidFill>
                <a:latin typeface="游ゴシック" panose="020B0400000000000000" pitchFamily="50" charset="-128"/>
                <a:ea typeface="游ゴシック" panose="020B0400000000000000" pitchFamily="50" charset="-128"/>
              </a:rPr>
              <a:t>確認</a:t>
            </a:r>
          </a:p>
        </p:txBody>
      </p:sp>
      <p:sp>
        <p:nvSpPr>
          <p:cNvPr id="5" name="正方形/長方形 4">
            <a:extLst>
              <a:ext uri="{FF2B5EF4-FFF2-40B4-BE49-F238E27FC236}">
                <a16:creationId xmlns:a16="http://schemas.microsoft.com/office/drawing/2014/main" id="{21ABEAFF-96E5-D183-AA10-74130D5F379F}"/>
              </a:ext>
            </a:extLst>
          </p:cNvPr>
          <p:cNvSpPr/>
          <p:nvPr/>
        </p:nvSpPr>
        <p:spPr>
          <a:xfrm>
            <a:off x="7131728" y="2534838"/>
            <a:ext cx="985650"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820EE1E6-1C75-39C2-1E6B-8A268118A1C0}"/>
              </a:ext>
            </a:extLst>
          </p:cNvPr>
          <p:cNvGrpSpPr/>
          <p:nvPr/>
        </p:nvGrpSpPr>
        <p:grpSpPr>
          <a:xfrm>
            <a:off x="4763193" y="1769527"/>
            <a:ext cx="2107277" cy="144000"/>
            <a:chOff x="2968075" y="2178156"/>
            <a:chExt cx="2107277" cy="144000"/>
          </a:xfrm>
          <a:solidFill>
            <a:schemeClr val="bg1"/>
          </a:solidFill>
        </p:grpSpPr>
        <p:sp>
          <p:nvSpPr>
            <p:cNvPr id="8" name="星 5 25">
              <a:extLst>
                <a:ext uri="{FF2B5EF4-FFF2-40B4-BE49-F238E27FC236}">
                  <a16:creationId xmlns:a16="http://schemas.microsoft.com/office/drawing/2014/main" id="{6B24A56B-723D-1465-7C0E-2B60627D89CE}"/>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9" name="テキスト ボックス 8">
              <a:extLst>
                <a:ext uri="{FF2B5EF4-FFF2-40B4-BE49-F238E27FC236}">
                  <a16:creationId xmlns:a16="http://schemas.microsoft.com/office/drawing/2014/main" id="{F0190DBE-626D-3406-7E36-590125C6859A}"/>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-MEK</a:t>
              </a:r>
              <a:r>
                <a:rPr lang="ja-JP" altLang="en-US" sz="900">
                  <a:latin typeface="Meiryo UI" panose="020B0604030504040204" pitchFamily="50" charset="-128"/>
                  <a:ea typeface="Meiryo UI" panose="020B0604030504040204" pitchFamily="50" charset="-128"/>
                  <a:cs typeface="Meiryo UI" panose="020B0604030504040204" pitchFamily="50" charset="-128"/>
                </a:rPr>
                <a:t>取込</a:t>
              </a:r>
              <a:r>
                <a:rPr lang="en-US" altLang="ja-JP" sz="900">
                  <a:latin typeface="Meiryo UI" panose="020B0604030504040204" pitchFamily="50" charset="-128"/>
                  <a:ea typeface="Meiryo UI" panose="020B0604030504040204" pitchFamily="50" charset="-128"/>
                  <a:cs typeface="Meiryo UI" panose="020B0604030504040204" pitchFamily="50" charset="-128"/>
                </a:rPr>
                <a:t>IF</a:t>
              </a:r>
              <a:r>
                <a:rPr lang="ja-JP" altLang="en-US" sz="900">
                  <a:latin typeface="Meiryo UI" panose="020B0604030504040204" pitchFamily="50" charset="-128"/>
                  <a:ea typeface="Meiryo UI" panose="020B0604030504040204" pitchFamily="50" charset="-128"/>
                  <a:cs typeface="Meiryo UI" panose="020B0604030504040204" pitchFamily="50" charset="-128"/>
                </a:rPr>
                <a:t>テスト</a:t>
              </a:r>
            </a:p>
          </p:txBody>
        </p:sp>
      </p:grpSp>
      <p:grpSp>
        <p:nvGrpSpPr>
          <p:cNvPr id="17" name="グループ化 16">
            <a:extLst>
              <a:ext uri="{FF2B5EF4-FFF2-40B4-BE49-F238E27FC236}">
                <a16:creationId xmlns:a16="http://schemas.microsoft.com/office/drawing/2014/main" id="{8965198B-50C6-7D18-EA65-B6AAA903EE03}"/>
              </a:ext>
            </a:extLst>
          </p:cNvPr>
          <p:cNvGrpSpPr/>
          <p:nvPr/>
        </p:nvGrpSpPr>
        <p:grpSpPr>
          <a:xfrm>
            <a:off x="7063739" y="1770716"/>
            <a:ext cx="2107277" cy="144000"/>
            <a:chOff x="2968075" y="2178156"/>
            <a:chExt cx="2107277" cy="144000"/>
          </a:xfrm>
          <a:solidFill>
            <a:schemeClr val="bg1"/>
          </a:solidFill>
        </p:grpSpPr>
        <p:sp>
          <p:nvSpPr>
            <p:cNvPr id="18" name="星 5 25">
              <a:extLst>
                <a:ext uri="{FF2B5EF4-FFF2-40B4-BE49-F238E27FC236}">
                  <a16:creationId xmlns:a16="http://schemas.microsoft.com/office/drawing/2014/main" id="{B0E30EB7-3F59-D93C-5FDA-A5F1041B2FD9}"/>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19" name="テキスト ボックス 18">
              <a:extLst>
                <a:ext uri="{FF2B5EF4-FFF2-40B4-BE49-F238E27FC236}">
                  <a16:creationId xmlns:a16="http://schemas.microsoft.com/office/drawing/2014/main" id="{B3935E75-55AB-27B9-0340-789CD9D426D1}"/>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現地搬入</a:t>
              </a:r>
            </a:p>
          </p:txBody>
        </p:sp>
      </p:grpSp>
      <p:sp>
        <p:nvSpPr>
          <p:cNvPr id="25" name="正方形/長方形 24">
            <a:extLst>
              <a:ext uri="{FF2B5EF4-FFF2-40B4-BE49-F238E27FC236}">
                <a16:creationId xmlns:a16="http://schemas.microsoft.com/office/drawing/2014/main" id="{6ACF56EA-A81D-3F8A-7CFB-A714A2F4E623}"/>
              </a:ext>
            </a:extLst>
          </p:cNvPr>
          <p:cNvSpPr/>
          <p:nvPr/>
        </p:nvSpPr>
        <p:spPr>
          <a:xfrm>
            <a:off x="8116066" y="3439453"/>
            <a:ext cx="27926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C215152C-5DAE-8D02-0746-CB1DE5924120}"/>
              </a:ext>
            </a:extLst>
          </p:cNvPr>
          <p:cNvSpPr/>
          <p:nvPr/>
        </p:nvSpPr>
        <p:spPr>
          <a:xfrm>
            <a:off x="5191298" y="4093748"/>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32" name="正方形/長方形 31">
            <a:extLst>
              <a:ext uri="{FF2B5EF4-FFF2-40B4-BE49-F238E27FC236}">
                <a16:creationId xmlns:a16="http://schemas.microsoft.com/office/drawing/2014/main" id="{5DCA70D3-F1D2-3CBA-8B11-37382F677ADC}"/>
              </a:ext>
            </a:extLst>
          </p:cNvPr>
          <p:cNvSpPr/>
          <p:nvPr/>
        </p:nvSpPr>
        <p:spPr>
          <a:xfrm>
            <a:off x="5679425" y="4093748"/>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33" name="正方形/長方形 32">
            <a:extLst>
              <a:ext uri="{FF2B5EF4-FFF2-40B4-BE49-F238E27FC236}">
                <a16:creationId xmlns:a16="http://schemas.microsoft.com/office/drawing/2014/main" id="{9B9B3848-2725-39D6-D158-C72AF4CDB7A6}"/>
              </a:ext>
            </a:extLst>
          </p:cNvPr>
          <p:cNvSpPr/>
          <p:nvPr/>
        </p:nvSpPr>
        <p:spPr>
          <a:xfrm>
            <a:off x="6166527" y="4093748"/>
            <a:ext cx="487103"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34" name="正方形/長方形 33">
            <a:extLst>
              <a:ext uri="{FF2B5EF4-FFF2-40B4-BE49-F238E27FC236}">
                <a16:creationId xmlns:a16="http://schemas.microsoft.com/office/drawing/2014/main" id="{041CDDBA-E10F-296B-82DE-B55D36677D19}"/>
              </a:ext>
            </a:extLst>
          </p:cNvPr>
          <p:cNvSpPr/>
          <p:nvPr/>
        </p:nvSpPr>
        <p:spPr>
          <a:xfrm>
            <a:off x="6653629" y="4093748"/>
            <a:ext cx="490451"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45CE681D-68AE-BC25-0926-35D19CE30AB5}"/>
              </a:ext>
            </a:extLst>
          </p:cNvPr>
          <p:cNvSpPr/>
          <p:nvPr/>
        </p:nvSpPr>
        <p:spPr>
          <a:xfrm>
            <a:off x="7131727" y="4093748"/>
            <a:ext cx="985649"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B0F70C3A-95B7-EE6F-FC7F-5A7BB9EC4E30}"/>
              </a:ext>
            </a:extLst>
          </p:cNvPr>
          <p:cNvSpPr/>
          <p:nvPr/>
        </p:nvSpPr>
        <p:spPr>
          <a:xfrm>
            <a:off x="8116066" y="4093748"/>
            <a:ext cx="27926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7" name="正方形/長方形 36">
            <a:extLst>
              <a:ext uri="{FF2B5EF4-FFF2-40B4-BE49-F238E27FC236}">
                <a16:creationId xmlns:a16="http://schemas.microsoft.com/office/drawing/2014/main" id="{BBFEDB2C-DF2C-0D55-BEF4-5F0F0A939FB0}"/>
              </a:ext>
            </a:extLst>
          </p:cNvPr>
          <p:cNvSpPr/>
          <p:nvPr/>
        </p:nvSpPr>
        <p:spPr>
          <a:xfrm>
            <a:off x="8394022" y="4093748"/>
            <a:ext cx="688554"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grpSp>
        <p:nvGrpSpPr>
          <p:cNvPr id="46" name="グループ化 45">
            <a:extLst>
              <a:ext uri="{FF2B5EF4-FFF2-40B4-BE49-F238E27FC236}">
                <a16:creationId xmlns:a16="http://schemas.microsoft.com/office/drawing/2014/main" id="{91BD4F7D-9EB8-BF0E-5412-3EEA1B479E61}"/>
              </a:ext>
            </a:extLst>
          </p:cNvPr>
          <p:cNvGrpSpPr/>
          <p:nvPr/>
        </p:nvGrpSpPr>
        <p:grpSpPr>
          <a:xfrm>
            <a:off x="11252561" y="1750196"/>
            <a:ext cx="939439" cy="326662"/>
            <a:chOff x="2968075" y="2157636"/>
            <a:chExt cx="939439" cy="326662"/>
          </a:xfrm>
          <a:solidFill>
            <a:schemeClr val="bg1"/>
          </a:solidFill>
        </p:grpSpPr>
        <p:sp>
          <p:nvSpPr>
            <p:cNvPr id="47" name="星 5 25">
              <a:extLst>
                <a:ext uri="{FF2B5EF4-FFF2-40B4-BE49-F238E27FC236}">
                  <a16:creationId xmlns:a16="http://schemas.microsoft.com/office/drawing/2014/main" id="{1593BDF3-CE5C-03A5-CB38-A90AC5A00793}"/>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48" name="テキスト ボックス 47">
              <a:extLst>
                <a:ext uri="{FF2B5EF4-FFF2-40B4-BE49-F238E27FC236}">
                  <a16:creationId xmlns:a16="http://schemas.microsoft.com/office/drawing/2014/main" id="{76E347F6-2454-E41E-E13E-622E5AA3E524}"/>
                </a:ext>
              </a:extLst>
            </p:cNvPr>
            <p:cNvSpPr txBox="1"/>
            <p:nvPr/>
          </p:nvSpPr>
          <p:spPr>
            <a:xfrm>
              <a:off x="3112075" y="2157636"/>
              <a:ext cx="795439" cy="326662"/>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L3.5</a:t>
              </a:r>
              <a:r>
                <a:rPr lang="ja-JP" altLang="en-US" sz="900">
                  <a:latin typeface="Meiryo UI" panose="020B0604030504040204" pitchFamily="50" charset="-128"/>
                  <a:ea typeface="Meiryo UI" panose="020B0604030504040204" pitchFamily="50" charset="-128"/>
                  <a:cs typeface="Meiryo UI" panose="020B0604030504040204" pitchFamily="50" charset="-128"/>
                </a:rPr>
                <a:t>サーバ</a:t>
              </a:r>
              <a:endParaRPr lang="en-US" altLang="ja-JP" sz="90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サポート終了</a:t>
              </a:r>
            </a:p>
          </p:txBody>
        </p:sp>
      </p:grpSp>
      <p:sp>
        <p:nvSpPr>
          <p:cNvPr id="3" name="正方形/長方形 2">
            <a:extLst>
              <a:ext uri="{FF2B5EF4-FFF2-40B4-BE49-F238E27FC236}">
                <a16:creationId xmlns:a16="http://schemas.microsoft.com/office/drawing/2014/main" id="{6491A8D8-57B5-B9FE-C273-AD3641895CCC}"/>
              </a:ext>
            </a:extLst>
          </p:cNvPr>
          <p:cNvSpPr/>
          <p:nvPr/>
        </p:nvSpPr>
        <p:spPr>
          <a:xfrm>
            <a:off x="208720" y="3046469"/>
            <a:ext cx="11312479" cy="9467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5A8D184E-906C-792A-3849-B3AA739D8020}"/>
              </a:ext>
            </a:extLst>
          </p:cNvPr>
          <p:cNvSpPr/>
          <p:nvPr/>
        </p:nvSpPr>
        <p:spPr>
          <a:xfrm>
            <a:off x="11075229" y="414079"/>
            <a:ext cx="445970" cy="1929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A4B09224-E29C-8044-2C1E-FA73C47AF30D}"/>
              </a:ext>
            </a:extLst>
          </p:cNvPr>
          <p:cNvCxnSpPr>
            <a:cxnSpLocks/>
          </p:cNvCxnSpPr>
          <p:nvPr/>
        </p:nvCxnSpPr>
        <p:spPr>
          <a:xfrm>
            <a:off x="1790585" y="3328700"/>
            <a:ext cx="975229"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4CDFCA8-93E2-F744-641E-B751852D0D51}"/>
              </a:ext>
            </a:extLst>
          </p:cNvPr>
          <p:cNvCxnSpPr>
            <a:cxnSpLocks/>
          </p:cNvCxnSpPr>
          <p:nvPr/>
        </p:nvCxnSpPr>
        <p:spPr>
          <a:xfrm>
            <a:off x="7144080" y="3328700"/>
            <a:ext cx="1459989"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C6AA6BD2-7DFD-3FC9-36DA-1561F52AA720}"/>
              </a:ext>
            </a:extLst>
          </p:cNvPr>
          <p:cNvCxnSpPr>
            <a:cxnSpLocks/>
          </p:cNvCxnSpPr>
          <p:nvPr/>
        </p:nvCxnSpPr>
        <p:spPr>
          <a:xfrm>
            <a:off x="3756618" y="3334779"/>
            <a:ext cx="143468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75265DDC-B605-0047-5ACE-C7D9D6DB8910}"/>
              </a:ext>
            </a:extLst>
          </p:cNvPr>
          <p:cNvSpPr txBox="1"/>
          <p:nvPr/>
        </p:nvSpPr>
        <p:spPr>
          <a:xfrm>
            <a:off x="1747058" y="3046632"/>
            <a:ext cx="106125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3" name="テキスト ボックス 42">
            <a:extLst>
              <a:ext uri="{FF2B5EF4-FFF2-40B4-BE49-F238E27FC236}">
                <a16:creationId xmlns:a16="http://schemas.microsoft.com/office/drawing/2014/main" id="{94B69154-7D72-DB7A-E831-D2E077E240D5}"/>
              </a:ext>
            </a:extLst>
          </p:cNvPr>
          <p:cNvSpPr txBox="1"/>
          <p:nvPr/>
        </p:nvSpPr>
        <p:spPr>
          <a:xfrm>
            <a:off x="7332765" y="3046632"/>
            <a:ext cx="106125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4" name="テキスト ボックス 43">
            <a:extLst>
              <a:ext uri="{FF2B5EF4-FFF2-40B4-BE49-F238E27FC236}">
                <a16:creationId xmlns:a16="http://schemas.microsoft.com/office/drawing/2014/main" id="{8E86905A-4A6B-366E-442B-7848F8446553}"/>
              </a:ext>
            </a:extLst>
          </p:cNvPr>
          <p:cNvSpPr txBox="1"/>
          <p:nvPr/>
        </p:nvSpPr>
        <p:spPr>
          <a:xfrm>
            <a:off x="3960422" y="3071984"/>
            <a:ext cx="985650"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請負契約</a:t>
            </a:r>
          </a:p>
        </p:txBody>
      </p:sp>
      <p:sp>
        <p:nvSpPr>
          <p:cNvPr id="45" name="テキスト ボックス 44">
            <a:extLst>
              <a:ext uri="{FF2B5EF4-FFF2-40B4-BE49-F238E27FC236}">
                <a16:creationId xmlns:a16="http://schemas.microsoft.com/office/drawing/2014/main" id="{09A066E5-FFBC-56EB-9559-B5D109843907}"/>
              </a:ext>
            </a:extLst>
          </p:cNvPr>
          <p:cNvSpPr txBox="1"/>
          <p:nvPr/>
        </p:nvSpPr>
        <p:spPr>
          <a:xfrm>
            <a:off x="9974384" y="383726"/>
            <a:ext cx="1124441" cy="253624"/>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見積範囲</a:t>
            </a:r>
            <a:endParaRPr lang="en-US" altLang="ja-JP" sz="1400">
              <a:latin typeface="+mn-ea"/>
              <a:cs typeface="メイリオ" pitchFamily="50" charset="-128"/>
            </a:endParaRPr>
          </a:p>
        </p:txBody>
      </p:sp>
      <p:grpSp>
        <p:nvGrpSpPr>
          <p:cNvPr id="56" name="グループ化 55">
            <a:extLst>
              <a:ext uri="{FF2B5EF4-FFF2-40B4-BE49-F238E27FC236}">
                <a16:creationId xmlns:a16="http://schemas.microsoft.com/office/drawing/2014/main" id="{EEF8C3B8-25C7-FA86-188F-4DB67B732E6D}"/>
              </a:ext>
            </a:extLst>
          </p:cNvPr>
          <p:cNvGrpSpPr/>
          <p:nvPr/>
        </p:nvGrpSpPr>
        <p:grpSpPr>
          <a:xfrm>
            <a:off x="4302801" y="1976817"/>
            <a:ext cx="1274135" cy="159376"/>
            <a:chOff x="2968075" y="2178156"/>
            <a:chExt cx="1274135" cy="159376"/>
          </a:xfrm>
          <a:solidFill>
            <a:schemeClr val="bg1"/>
          </a:solidFill>
        </p:grpSpPr>
        <p:sp>
          <p:nvSpPr>
            <p:cNvPr id="57" name="星 5 25">
              <a:extLst>
                <a:ext uri="{FF2B5EF4-FFF2-40B4-BE49-F238E27FC236}">
                  <a16:creationId xmlns:a16="http://schemas.microsoft.com/office/drawing/2014/main" id="{5D8EC1E3-CA06-264A-DC13-6138E6944826}"/>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58" name="テキスト ボックス 57">
              <a:extLst>
                <a:ext uri="{FF2B5EF4-FFF2-40B4-BE49-F238E27FC236}">
                  <a16:creationId xmlns:a16="http://schemas.microsoft.com/office/drawing/2014/main" id="{8B1C74FF-B372-66D6-7D9A-11EAE1633108}"/>
                </a:ext>
              </a:extLst>
            </p:cNvPr>
            <p:cNvSpPr txBox="1"/>
            <p:nvPr/>
          </p:nvSpPr>
          <p:spPr>
            <a:xfrm>
              <a:off x="3112076" y="2194058"/>
              <a:ext cx="1130134" cy="143474"/>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PIMSDB</a:t>
              </a:r>
              <a:r>
                <a:rPr lang="ja-JP" altLang="en-US" sz="900">
                  <a:latin typeface="Meiryo UI" panose="020B0604030504040204" pitchFamily="50" charset="-128"/>
                  <a:ea typeface="Meiryo UI" panose="020B0604030504040204" pitchFamily="50" charset="-128"/>
                  <a:cs typeface="Meiryo UI" panose="020B0604030504040204" pitchFamily="50" charset="-128"/>
                </a:rPr>
                <a:t>更新</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千葉</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endParaRPr lang="ja-JP" altLang="en-US" sz="900">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9" name="グループ化 58">
            <a:extLst>
              <a:ext uri="{FF2B5EF4-FFF2-40B4-BE49-F238E27FC236}">
                <a16:creationId xmlns:a16="http://schemas.microsoft.com/office/drawing/2014/main" id="{38713EAD-DF71-B9E3-953E-FB8443A69123}"/>
              </a:ext>
            </a:extLst>
          </p:cNvPr>
          <p:cNvGrpSpPr/>
          <p:nvPr/>
        </p:nvGrpSpPr>
        <p:grpSpPr>
          <a:xfrm>
            <a:off x="4763193" y="2164706"/>
            <a:ext cx="1274135" cy="159376"/>
            <a:chOff x="2968075" y="2178156"/>
            <a:chExt cx="1274135" cy="159376"/>
          </a:xfrm>
          <a:solidFill>
            <a:schemeClr val="bg1"/>
          </a:solidFill>
        </p:grpSpPr>
        <p:sp>
          <p:nvSpPr>
            <p:cNvPr id="60" name="星 5 25">
              <a:extLst>
                <a:ext uri="{FF2B5EF4-FFF2-40B4-BE49-F238E27FC236}">
                  <a16:creationId xmlns:a16="http://schemas.microsoft.com/office/drawing/2014/main" id="{90275CD6-F994-052C-E549-175F36D6DF14}"/>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61" name="テキスト ボックス 60">
              <a:extLst>
                <a:ext uri="{FF2B5EF4-FFF2-40B4-BE49-F238E27FC236}">
                  <a16:creationId xmlns:a16="http://schemas.microsoft.com/office/drawing/2014/main" id="{4886065F-3AE0-9417-B07F-5D1C3FA6F7EB}"/>
                </a:ext>
              </a:extLst>
            </p:cNvPr>
            <p:cNvSpPr txBox="1"/>
            <p:nvPr/>
          </p:nvSpPr>
          <p:spPr>
            <a:xfrm>
              <a:off x="3112076" y="2194058"/>
              <a:ext cx="1130134" cy="143474"/>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PIMSDB</a:t>
              </a:r>
              <a:r>
                <a:rPr lang="ja-JP" altLang="en-US" sz="900">
                  <a:latin typeface="Meiryo UI" panose="020B0604030504040204" pitchFamily="50" charset="-128"/>
                  <a:ea typeface="Meiryo UI" panose="020B0604030504040204" pitchFamily="50" charset="-128"/>
                  <a:cs typeface="Meiryo UI" panose="020B0604030504040204" pitchFamily="50" charset="-128"/>
                </a:rPr>
                <a:t>更新</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徳山</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endParaRPr lang="ja-JP" altLang="en-US" sz="900">
                <a:latin typeface="Meiryo UI" panose="020B0604030504040204" pitchFamily="50" charset="-128"/>
                <a:ea typeface="Meiryo UI" panose="020B0604030504040204" pitchFamily="50" charset="-128"/>
                <a:cs typeface="Meiryo UI" panose="020B0604030504040204" pitchFamily="50" charset="-128"/>
              </a:endParaRPr>
            </a:p>
          </p:txBody>
        </p:sp>
      </p:grpSp>
    </p:spTree>
    <p:extLst>
      <p:ext uri="{BB962C8B-B14F-4D97-AF65-F5344CB8AC3E}">
        <p14:creationId xmlns:p14="http://schemas.microsoft.com/office/powerpoint/2010/main" val="206166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６-</a:t>
            </a:r>
            <a:r>
              <a:rPr lang="ja-JP" altLang="en-US">
                <a:latin typeface="游明朝"/>
                <a:ea typeface="游明朝"/>
              </a:rPr>
              <a:t>２</a:t>
            </a:r>
            <a:r>
              <a:rPr kumimoji="1" lang="en-US" altLang="ja-JP">
                <a:latin typeface="游明朝"/>
                <a:ea typeface="游明朝"/>
              </a:rPr>
              <a:t>. </a:t>
            </a:r>
            <a:r>
              <a:rPr kumimoji="1" lang="ja-JP" altLang="en-US">
                <a:latin typeface="游明朝"/>
                <a:ea typeface="游明朝"/>
              </a:rPr>
              <a:t>スケジュール（関連対応を含めた想定）</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2025/4/7</a:t>
            </a:r>
            <a:endParaRPr lang="en-US"/>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520406997"/>
              </p:ext>
            </p:extLst>
          </p:nvPr>
        </p:nvGraphicFramePr>
        <p:xfrm>
          <a:off x="208720" y="936002"/>
          <a:ext cx="11315694" cy="4954264"/>
        </p:xfrm>
        <a:graphic>
          <a:graphicData uri="http://schemas.openxmlformats.org/drawingml/2006/table">
            <a:tbl>
              <a:tblPr firstRow="1">
                <a:tableStyleId>{69012ECD-51FC-41F1-AA8D-1B2483CD663E}</a:tableStyleId>
              </a:tblPr>
              <a:tblGrid>
                <a:gridCol w="1094910">
                  <a:extLst>
                    <a:ext uri="{9D8B030D-6E8A-4147-A177-3AD203B41FA5}">
                      <a16:colId xmlns:a16="http://schemas.microsoft.com/office/drawing/2014/main" val="20001"/>
                    </a:ext>
                  </a:extLst>
                </a:gridCol>
                <a:gridCol w="486704">
                  <a:extLst>
                    <a:ext uri="{9D8B030D-6E8A-4147-A177-3AD203B41FA5}">
                      <a16:colId xmlns:a16="http://schemas.microsoft.com/office/drawing/2014/main" val="3410075611"/>
                    </a:ext>
                  </a:extLst>
                </a:gridCol>
                <a:gridCol w="486704">
                  <a:extLst>
                    <a:ext uri="{9D8B030D-6E8A-4147-A177-3AD203B41FA5}">
                      <a16:colId xmlns:a16="http://schemas.microsoft.com/office/drawing/2014/main" val="581140380"/>
                    </a:ext>
                  </a:extLst>
                </a:gridCol>
                <a:gridCol w="486704">
                  <a:extLst>
                    <a:ext uri="{9D8B030D-6E8A-4147-A177-3AD203B41FA5}">
                      <a16:colId xmlns:a16="http://schemas.microsoft.com/office/drawing/2014/main" val="2281884067"/>
                    </a:ext>
                  </a:extLst>
                </a:gridCol>
                <a:gridCol w="486704">
                  <a:extLst>
                    <a:ext uri="{9D8B030D-6E8A-4147-A177-3AD203B41FA5}">
                      <a16:colId xmlns:a16="http://schemas.microsoft.com/office/drawing/2014/main" val="3798517737"/>
                    </a:ext>
                  </a:extLst>
                </a:gridCol>
                <a:gridCol w="486704">
                  <a:extLst>
                    <a:ext uri="{9D8B030D-6E8A-4147-A177-3AD203B41FA5}">
                      <a16:colId xmlns:a16="http://schemas.microsoft.com/office/drawing/2014/main" val="3330914773"/>
                    </a:ext>
                  </a:extLst>
                </a:gridCol>
                <a:gridCol w="486704">
                  <a:extLst>
                    <a:ext uri="{9D8B030D-6E8A-4147-A177-3AD203B41FA5}">
                      <a16:colId xmlns:a16="http://schemas.microsoft.com/office/drawing/2014/main" val="20014"/>
                    </a:ext>
                  </a:extLst>
                </a:gridCol>
                <a:gridCol w="486704">
                  <a:extLst>
                    <a:ext uri="{9D8B030D-6E8A-4147-A177-3AD203B41FA5}">
                      <a16:colId xmlns:a16="http://schemas.microsoft.com/office/drawing/2014/main" val="332361526"/>
                    </a:ext>
                  </a:extLst>
                </a:gridCol>
                <a:gridCol w="486704">
                  <a:extLst>
                    <a:ext uri="{9D8B030D-6E8A-4147-A177-3AD203B41FA5}">
                      <a16:colId xmlns:a16="http://schemas.microsoft.com/office/drawing/2014/main" val="1301509302"/>
                    </a:ext>
                  </a:extLst>
                </a:gridCol>
                <a:gridCol w="486704">
                  <a:extLst>
                    <a:ext uri="{9D8B030D-6E8A-4147-A177-3AD203B41FA5}">
                      <a16:colId xmlns:a16="http://schemas.microsoft.com/office/drawing/2014/main" val="2064698816"/>
                    </a:ext>
                  </a:extLst>
                </a:gridCol>
                <a:gridCol w="486704">
                  <a:extLst>
                    <a:ext uri="{9D8B030D-6E8A-4147-A177-3AD203B41FA5}">
                      <a16:colId xmlns:a16="http://schemas.microsoft.com/office/drawing/2014/main" val="1049139473"/>
                    </a:ext>
                  </a:extLst>
                </a:gridCol>
                <a:gridCol w="486704">
                  <a:extLst>
                    <a:ext uri="{9D8B030D-6E8A-4147-A177-3AD203B41FA5}">
                      <a16:colId xmlns:a16="http://schemas.microsoft.com/office/drawing/2014/main" val="581626291"/>
                    </a:ext>
                  </a:extLst>
                </a:gridCol>
                <a:gridCol w="486704">
                  <a:extLst>
                    <a:ext uri="{9D8B030D-6E8A-4147-A177-3AD203B41FA5}">
                      <a16:colId xmlns:a16="http://schemas.microsoft.com/office/drawing/2014/main" val="1794734865"/>
                    </a:ext>
                  </a:extLst>
                </a:gridCol>
                <a:gridCol w="486704">
                  <a:extLst>
                    <a:ext uri="{9D8B030D-6E8A-4147-A177-3AD203B41FA5}">
                      <a16:colId xmlns:a16="http://schemas.microsoft.com/office/drawing/2014/main" val="2108640072"/>
                    </a:ext>
                  </a:extLst>
                </a:gridCol>
                <a:gridCol w="486704">
                  <a:extLst>
                    <a:ext uri="{9D8B030D-6E8A-4147-A177-3AD203B41FA5}">
                      <a16:colId xmlns:a16="http://schemas.microsoft.com/office/drawing/2014/main" val="2565848082"/>
                    </a:ext>
                  </a:extLst>
                </a:gridCol>
                <a:gridCol w="486704">
                  <a:extLst>
                    <a:ext uri="{9D8B030D-6E8A-4147-A177-3AD203B41FA5}">
                      <a16:colId xmlns:a16="http://schemas.microsoft.com/office/drawing/2014/main" val="625707461"/>
                    </a:ext>
                  </a:extLst>
                </a:gridCol>
                <a:gridCol w="486704">
                  <a:extLst>
                    <a:ext uri="{9D8B030D-6E8A-4147-A177-3AD203B41FA5}">
                      <a16:colId xmlns:a16="http://schemas.microsoft.com/office/drawing/2014/main" val="2208195312"/>
                    </a:ext>
                  </a:extLst>
                </a:gridCol>
                <a:gridCol w="486704">
                  <a:extLst>
                    <a:ext uri="{9D8B030D-6E8A-4147-A177-3AD203B41FA5}">
                      <a16:colId xmlns:a16="http://schemas.microsoft.com/office/drawing/2014/main" val="1113983326"/>
                    </a:ext>
                  </a:extLst>
                </a:gridCol>
                <a:gridCol w="486704">
                  <a:extLst>
                    <a:ext uri="{9D8B030D-6E8A-4147-A177-3AD203B41FA5}">
                      <a16:colId xmlns:a16="http://schemas.microsoft.com/office/drawing/2014/main" val="3033107777"/>
                    </a:ext>
                  </a:extLst>
                </a:gridCol>
                <a:gridCol w="486704">
                  <a:extLst>
                    <a:ext uri="{9D8B030D-6E8A-4147-A177-3AD203B41FA5}">
                      <a16:colId xmlns:a16="http://schemas.microsoft.com/office/drawing/2014/main" val="1162710899"/>
                    </a:ext>
                  </a:extLst>
                </a:gridCol>
                <a:gridCol w="486704">
                  <a:extLst>
                    <a:ext uri="{9D8B030D-6E8A-4147-A177-3AD203B41FA5}">
                      <a16:colId xmlns:a16="http://schemas.microsoft.com/office/drawing/2014/main" val="1123801871"/>
                    </a:ext>
                  </a:extLst>
                </a:gridCol>
                <a:gridCol w="486704">
                  <a:extLst>
                    <a:ext uri="{9D8B030D-6E8A-4147-A177-3AD203B41FA5}">
                      <a16:colId xmlns:a16="http://schemas.microsoft.com/office/drawing/2014/main" val="860796379"/>
                    </a:ext>
                  </a:extLst>
                </a:gridCol>
              </a:tblGrid>
              <a:tr h="267324">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12">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67199">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10</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11</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33166">
                <a:tc>
                  <a:txBody>
                    <a:bodyPr/>
                    <a:lstStyle/>
                    <a:p>
                      <a:pPr lvl="0" algn="l">
                        <a:buNone/>
                      </a:pPr>
                      <a:r>
                        <a:rPr kumimoji="1" lang="ja-JP" altLang="en-US" sz="1400" b="0">
                          <a:latin typeface="游ゴシック"/>
                          <a:ea typeface="游ゴシック"/>
                          <a:cs typeface="Meiryo UI" pitchFamily="50" charset="-128"/>
                        </a:rPr>
                        <a:t>マイルストーン</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5624585"/>
                  </a:ext>
                </a:extLst>
              </a:tr>
              <a:tr h="667074">
                <a:tc>
                  <a:txBody>
                    <a:bodyPr/>
                    <a:lstStyle/>
                    <a:p>
                      <a:pPr algn="l"/>
                      <a:r>
                        <a:rPr kumimoji="1" lang="ja-JP" altLang="en-US" sz="1400" b="0">
                          <a:latin typeface="游ゴシック"/>
                          <a:ea typeface="游ゴシック"/>
                          <a:cs typeface="Meiryo UI" pitchFamily="50" charset="-128"/>
                        </a:rPr>
                        <a:t>陸上出荷システム</a:t>
                      </a:r>
                      <a:endParaRPr lang="en-US" altLang="ja-JP" sz="1400" b="0">
                        <a:latin typeface="游ゴシック"/>
                        <a:ea typeface="游ゴシック"/>
                        <a:cs typeface="Meiryo UI" pitchFamily="50" charset="-128"/>
                      </a:endParaRPr>
                    </a:p>
                    <a:p>
                      <a:pPr lvl="0" algn="l">
                        <a:buNone/>
                      </a:pPr>
                      <a:r>
                        <a:rPr kumimoji="1" lang="ja-JP" altLang="en-US" sz="1400" b="0">
                          <a:latin typeface="游ゴシック"/>
                          <a:ea typeface="游ゴシック"/>
                          <a:cs typeface="Meiryo UI" pitchFamily="50" charset="-128"/>
                        </a:rPr>
                        <a:t>構築</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66948">
                <a:tc>
                  <a:txBody>
                    <a:bodyPr/>
                    <a:lstStyle/>
                    <a:p>
                      <a:pPr algn="l"/>
                      <a:r>
                        <a:rPr kumimoji="1" lang="ja-JP" altLang="en-US" sz="1400" b="0">
                          <a:latin typeface="游ゴシック"/>
                          <a:ea typeface="游ゴシック"/>
                          <a:cs typeface="Meiryo UI" pitchFamily="50" charset="-128"/>
                        </a:rPr>
                        <a:t>徳山ヤード操業サーバ</a:t>
                      </a:r>
                      <a:r>
                        <a:rPr kumimoji="1" lang="en-US" altLang="ja-JP" sz="1400" b="0">
                          <a:latin typeface="游ゴシック"/>
                          <a:ea typeface="游ゴシック"/>
                          <a:cs typeface="Meiryo UI" pitchFamily="50" charset="-128"/>
                        </a:rPr>
                        <a:t>MEK</a:t>
                      </a:r>
                      <a:r>
                        <a:rPr kumimoji="1" lang="ja-JP" altLang="en-US" sz="1400" b="0">
                          <a:latin typeface="游ゴシック"/>
                          <a:ea typeface="游ゴシック"/>
                          <a:cs typeface="Meiryo UI" pitchFamily="50" charset="-128"/>
                        </a:rPr>
                        <a:t>取込改修</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DEDDA"/>
                    </a:solidFill>
                  </a:tcPr>
                </a:tc>
                <a:extLst>
                  <a:ext uri="{0D108BD9-81ED-4DB2-BD59-A6C34878D82A}">
                    <a16:rowId xmlns:a16="http://schemas.microsoft.com/office/drawing/2014/main" val="920133689"/>
                  </a:ext>
                </a:extLst>
              </a:tr>
              <a:tr h="633166">
                <a:tc>
                  <a:txBody>
                    <a:bodyPr/>
                    <a:lstStyle/>
                    <a:p>
                      <a:pPr algn="l"/>
                      <a:r>
                        <a:rPr kumimoji="1" lang="en-US" altLang="ja-JP" sz="1200" b="0">
                          <a:latin typeface="游ゴシック"/>
                          <a:ea typeface="游ゴシック"/>
                          <a:cs typeface="Meiryo UI" pitchFamily="50" charset="-128"/>
                        </a:rPr>
                        <a:t>PIMSDB</a:t>
                      </a:r>
                    </a:p>
                    <a:p>
                      <a:pPr lvl="0" algn="l">
                        <a:buNone/>
                      </a:pPr>
                      <a:r>
                        <a:rPr lang="en-US" altLang="ja-JP" sz="1200" b="0">
                          <a:latin typeface="游ゴシック"/>
                          <a:ea typeface="游ゴシック"/>
                          <a:cs typeface="Meiryo UI" pitchFamily="50" charset="-128"/>
                        </a:rPr>
                        <a:t>（工場系）</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4281006"/>
                  </a:ext>
                </a:extLst>
              </a:tr>
              <a:tr h="633166">
                <a:tc>
                  <a:txBody>
                    <a:bodyPr/>
                    <a:lstStyle/>
                    <a:p>
                      <a:pPr algn="l"/>
                      <a:r>
                        <a:rPr kumimoji="1" lang="ja-JP" altLang="en-US" sz="1200" b="0">
                          <a:latin typeface="游ゴシック" panose="020B0400000000000000" pitchFamily="50" charset="-128"/>
                          <a:ea typeface="+mn-ea"/>
                          <a:cs typeface="Meiryo UI" pitchFamily="50" charset="-128"/>
                        </a:rPr>
                        <a:t>徳山</a:t>
                      </a:r>
                      <a:r>
                        <a:rPr kumimoji="1" lang="en-US" altLang="ja-JP" sz="1200" b="0">
                          <a:latin typeface="游ゴシック" panose="020B0400000000000000" pitchFamily="50" charset="-128"/>
                          <a:ea typeface="+mn-ea"/>
                          <a:cs typeface="Meiryo UI" pitchFamily="50" charset="-128"/>
                        </a:rPr>
                        <a:t>L3.5GW</a:t>
                      </a:r>
                      <a:r>
                        <a:rPr kumimoji="1" lang="ja-JP" altLang="en-US" sz="1200" b="0">
                          <a:latin typeface="游ゴシック" panose="020B0400000000000000" pitchFamily="50" charset="-128"/>
                          <a:ea typeface="+mn-ea"/>
                          <a:cs typeface="Meiryo UI" pitchFamily="50" charset="-128"/>
                        </a:rPr>
                        <a:t>サーバ</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2838059"/>
                  </a:ext>
                </a:extLst>
              </a:tr>
              <a:tr h="633166">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r>
                        <a:rPr kumimoji="1" lang="en-US" altLang="ja-JP" sz="1200" b="0">
                          <a:latin typeface="游ゴシック" panose="020B0400000000000000" pitchFamily="50" charset="-128"/>
                          <a:ea typeface="游ゴシック" panose="020B0400000000000000" pitchFamily="50" charset="-128"/>
                          <a:cs typeface="Meiryo UI" pitchFamily="50" charset="-128"/>
                        </a:rPr>
                        <a:t>L3.5GW</a:t>
                      </a:r>
                      <a:r>
                        <a:rPr kumimoji="1" lang="ja-JP" altLang="en-US" sz="1200" b="0">
                          <a:latin typeface="游ゴシック" panose="020B0400000000000000" pitchFamily="50" charset="-128"/>
                          <a:ea typeface="游ゴシック" panose="020B0400000000000000" pitchFamily="50" charset="-128"/>
                          <a:cs typeface="Meiryo UI" pitchFamily="50" charset="-128"/>
                        </a:rPr>
                        <a:t>サーバ</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7677400" y="6039490"/>
            <a:ext cx="1260000" cy="360000"/>
          </a:xfrm>
          <a:prstGeom prst="homePlate">
            <a:avLst>
              <a:gd name="adj" fmla="val 0"/>
            </a:avLst>
          </a:prstGeom>
          <a:solidFill>
            <a:schemeClr val="accent2">
              <a:lumMod val="60000"/>
              <a:lumOff val="40000"/>
            </a:schemeClr>
          </a:solidFill>
          <a:ln>
            <a:solidFill>
              <a:schemeClr val="tx1">
                <a:lumMod val="75000"/>
                <a:lumOff val="25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8969300" y="6039490"/>
            <a:ext cx="1260000" cy="360000"/>
          </a:xfrm>
          <a:prstGeom prst="homePlate">
            <a:avLst>
              <a:gd name="adj" fmla="val 0"/>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261199" y="6039490"/>
            <a:ext cx="1260000" cy="360000"/>
          </a:xfrm>
          <a:prstGeom prst="homePlate">
            <a:avLst>
              <a:gd name="adj" fmla="val 0"/>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602363" y="5964878"/>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1790585" y="3336048"/>
            <a:ext cx="486000"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3713542" y="3336048"/>
            <a:ext cx="987305"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詳細設計</a:t>
            </a:r>
            <a:r>
              <a:rPr lang="en-US" altLang="ja-JP" sz="1100">
                <a:solidFill>
                  <a:schemeClr val="tx1"/>
                </a:solidFill>
                <a:latin typeface="游ゴシック" panose="020B0400000000000000" pitchFamily="50" charset="-128"/>
                <a:ea typeface="游ゴシック" panose="020B0400000000000000" pitchFamily="50" charset="-128"/>
              </a:rPr>
              <a:t>/</a:t>
            </a:r>
          </a:p>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131727" y="3336048"/>
            <a:ext cx="985649"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3" name="正方形/長方形 22">
            <a:extLst>
              <a:ext uri="{FF2B5EF4-FFF2-40B4-BE49-F238E27FC236}">
                <a16:creationId xmlns:a16="http://schemas.microsoft.com/office/drawing/2014/main" id="{60BE86B4-B849-422B-8758-4720CC34871C}"/>
              </a:ext>
            </a:extLst>
          </p:cNvPr>
          <p:cNvSpPr/>
          <p:nvPr/>
        </p:nvSpPr>
        <p:spPr>
          <a:xfrm>
            <a:off x="4700847" y="3336048"/>
            <a:ext cx="490451"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394022" y="3336048"/>
            <a:ext cx="21004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800">
                <a:solidFill>
                  <a:schemeClr val="tx1"/>
                </a:solidFill>
                <a:latin typeface="游ゴシック"/>
                <a:ea typeface="游ゴシック"/>
              </a:rPr>
              <a:t>本番移行</a:t>
            </a:r>
            <a:endParaRPr lang="en-US" altLang="ja-JP" sz="800">
              <a:solidFill>
                <a:schemeClr val="tx1"/>
              </a:solidFill>
              <a:latin typeface="游ゴシック"/>
              <a:ea typeface="游ゴシック"/>
            </a:endParaRPr>
          </a:p>
          <a:p>
            <a:pPr algn="ctr"/>
            <a:r>
              <a:rPr lang="ja-JP" altLang="en-US" sz="8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622617" y="5964878"/>
            <a:ext cx="7054784" cy="493325"/>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3B57EEC6-A848-4914-BC9B-95C84C7B6637}"/>
              </a:ext>
            </a:extLst>
          </p:cNvPr>
          <p:cNvSpPr/>
          <p:nvPr/>
        </p:nvSpPr>
        <p:spPr>
          <a:xfrm>
            <a:off x="1541929" y="2534838"/>
            <a:ext cx="3158918" cy="442800"/>
          </a:xfrm>
          <a:prstGeom prst="homePlate">
            <a:avLst>
              <a:gd name="adj" fmla="val 0"/>
            </a:avLst>
          </a:prstGeom>
          <a:solidFill>
            <a:schemeClr val="accent2">
              <a:lumMod val="60000"/>
              <a:lumOff val="40000"/>
            </a:schemeClr>
          </a:solidFill>
          <a:ln>
            <a:solidFill>
              <a:schemeClr val="tx1">
                <a:lumMod val="75000"/>
                <a:lumOff val="25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
        <p:nvSpPr>
          <p:cNvPr id="4" name="正方形/長方形 3">
            <a:extLst>
              <a:ext uri="{FF2B5EF4-FFF2-40B4-BE49-F238E27FC236}">
                <a16:creationId xmlns:a16="http://schemas.microsoft.com/office/drawing/2014/main" id="{A76D76BE-3659-2B22-1DFB-74FC63CAD12C}"/>
              </a:ext>
            </a:extLst>
          </p:cNvPr>
          <p:cNvSpPr/>
          <p:nvPr/>
        </p:nvSpPr>
        <p:spPr>
          <a:xfrm>
            <a:off x="4700847" y="2534838"/>
            <a:ext cx="490451"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IF</a:t>
            </a:r>
            <a:r>
              <a:rPr lang="ja-JP" altLang="en-US" sz="1100">
                <a:solidFill>
                  <a:schemeClr val="tx1"/>
                </a:solidFill>
                <a:latin typeface="游ゴシック" panose="020B0400000000000000" pitchFamily="50" charset="-128"/>
                <a:ea typeface="游ゴシック" panose="020B0400000000000000" pitchFamily="50" charset="-128"/>
              </a:rPr>
              <a:t>確認</a:t>
            </a:r>
          </a:p>
        </p:txBody>
      </p:sp>
      <p:sp>
        <p:nvSpPr>
          <p:cNvPr id="5" name="正方形/長方形 4">
            <a:extLst>
              <a:ext uri="{FF2B5EF4-FFF2-40B4-BE49-F238E27FC236}">
                <a16:creationId xmlns:a16="http://schemas.microsoft.com/office/drawing/2014/main" id="{BC5322C5-20EF-431B-9D0F-92AA12CEC142}"/>
              </a:ext>
            </a:extLst>
          </p:cNvPr>
          <p:cNvSpPr/>
          <p:nvPr/>
        </p:nvSpPr>
        <p:spPr>
          <a:xfrm>
            <a:off x="7131728" y="2534838"/>
            <a:ext cx="985650"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86D505A6-B0E7-C303-E3EF-0700F328982C}"/>
              </a:ext>
            </a:extLst>
          </p:cNvPr>
          <p:cNvGrpSpPr/>
          <p:nvPr/>
        </p:nvGrpSpPr>
        <p:grpSpPr>
          <a:xfrm>
            <a:off x="4763193" y="1769527"/>
            <a:ext cx="2107277" cy="144000"/>
            <a:chOff x="2968075" y="2178156"/>
            <a:chExt cx="2107277" cy="144000"/>
          </a:xfrm>
          <a:solidFill>
            <a:schemeClr val="bg1"/>
          </a:solidFill>
        </p:grpSpPr>
        <p:sp>
          <p:nvSpPr>
            <p:cNvPr id="8" name="星 5 25">
              <a:extLst>
                <a:ext uri="{FF2B5EF4-FFF2-40B4-BE49-F238E27FC236}">
                  <a16:creationId xmlns:a16="http://schemas.microsoft.com/office/drawing/2014/main" id="{FE931FDE-C482-9B04-87C9-F80BCC95EB48}"/>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9" name="テキスト ボックス 8">
              <a:extLst>
                <a:ext uri="{FF2B5EF4-FFF2-40B4-BE49-F238E27FC236}">
                  <a16:creationId xmlns:a16="http://schemas.microsoft.com/office/drawing/2014/main" id="{BB6E8BA3-0739-8EF6-5DF3-BF8750F80ACD}"/>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-MEK</a:t>
              </a:r>
              <a:r>
                <a:rPr lang="ja-JP" altLang="en-US" sz="900">
                  <a:latin typeface="Meiryo UI" panose="020B0604030504040204" pitchFamily="50" charset="-128"/>
                  <a:ea typeface="Meiryo UI" panose="020B0604030504040204" pitchFamily="50" charset="-128"/>
                  <a:cs typeface="Meiryo UI" panose="020B0604030504040204" pitchFamily="50" charset="-128"/>
                </a:rPr>
                <a:t>取込</a:t>
              </a:r>
              <a:r>
                <a:rPr lang="en-US" altLang="ja-JP" sz="900">
                  <a:latin typeface="Meiryo UI" panose="020B0604030504040204" pitchFamily="50" charset="-128"/>
                  <a:ea typeface="Meiryo UI" panose="020B0604030504040204" pitchFamily="50" charset="-128"/>
                  <a:cs typeface="Meiryo UI" panose="020B0604030504040204" pitchFamily="50" charset="-128"/>
                </a:rPr>
                <a:t>IF</a:t>
              </a:r>
              <a:r>
                <a:rPr lang="ja-JP" altLang="en-US" sz="900">
                  <a:latin typeface="Meiryo UI" panose="020B0604030504040204" pitchFamily="50" charset="-128"/>
                  <a:ea typeface="Meiryo UI" panose="020B0604030504040204" pitchFamily="50" charset="-128"/>
                  <a:cs typeface="Meiryo UI" panose="020B0604030504040204" pitchFamily="50" charset="-128"/>
                </a:rPr>
                <a:t>テスト</a:t>
              </a:r>
            </a:p>
          </p:txBody>
        </p:sp>
      </p:grpSp>
      <p:grpSp>
        <p:nvGrpSpPr>
          <p:cNvPr id="17" name="グループ化 16">
            <a:extLst>
              <a:ext uri="{FF2B5EF4-FFF2-40B4-BE49-F238E27FC236}">
                <a16:creationId xmlns:a16="http://schemas.microsoft.com/office/drawing/2014/main" id="{8A583B1F-999C-642B-F5D2-8F844121431E}"/>
              </a:ext>
            </a:extLst>
          </p:cNvPr>
          <p:cNvGrpSpPr/>
          <p:nvPr/>
        </p:nvGrpSpPr>
        <p:grpSpPr>
          <a:xfrm>
            <a:off x="7063739" y="1770716"/>
            <a:ext cx="2107277" cy="144000"/>
            <a:chOff x="2968075" y="2178156"/>
            <a:chExt cx="2107277" cy="144000"/>
          </a:xfrm>
          <a:solidFill>
            <a:schemeClr val="bg1"/>
          </a:solidFill>
        </p:grpSpPr>
        <p:sp>
          <p:nvSpPr>
            <p:cNvPr id="18" name="星 5 25">
              <a:extLst>
                <a:ext uri="{FF2B5EF4-FFF2-40B4-BE49-F238E27FC236}">
                  <a16:creationId xmlns:a16="http://schemas.microsoft.com/office/drawing/2014/main" id="{A6560514-1B2D-7A5F-673B-ED4F9D6C71AA}"/>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19" name="テキスト ボックス 18">
              <a:extLst>
                <a:ext uri="{FF2B5EF4-FFF2-40B4-BE49-F238E27FC236}">
                  <a16:creationId xmlns:a16="http://schemas.microsoft.com/office/drawing/2014/main" id="{1A8DD411-5C0B-B305-3279-76464B967978}"/>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現地搬入</a:t>
              </a:r>
            </a:p>
          </p:txBody>
        </p:sp>
      </p:grpSp>
      <p:sp>
        <p:nvSpPr>
          <p:cNvPr id="25" name="正方形/長方形 24">
            <a:extLst>
              <a:ext uri="{FF2B5EF4-FFF2-40B4-BE49-F238E27FC236}">
                <a16:creationId xmlns:a16="http://schemas.microsoft.com/office/drawing/2014/main" id="{882E51B6-156B-EA3A-BDB1-4A2F2B5817A4}"/>
              </a:ext>
            </a:extLst>
          </p:cNvPr>
          <p:cNvSpPr/>
          <p:nvPr/>
        </p:nvSpPr>
        <p:spPr>
          <a:xfrm>
            <a:off x="8116066" y="3336048"/>
            <a:ext cx="27926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7" name="正方形/長方形 26">
            <a:extLst>
              <a:ext uri="{FF2B5EF4-FFF2-40B4-BE49-F238E27FC236}">
                <a16:creationId xmlns:a16="http://schemas.microsoft.com/office/drawing/2014/main" id="{6337A289-61D5-7B41-154C-D85700C83D35}"/>
              </a:ext>
            </a:extLst>
          </p:cNvPr>
          <p:cNvSpPr/>
          <p:nvPr/>
        </p:nvSpPr>
        <p:spPr>
          <a:xfrm>
            <a:off x="3239502" y="4079230"/>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B516917E-840E-C373-303A-BB46F78E8404}"/>
              </a:ext>
            </a:extLst>
          </p:cNvPr>
          <p:cNvSpPr/>
          <p:nvPr/>
        </p:nvSpPr>
        <p:spPr>
          <a:xfrm>
            <a:off x="5191298" y="4726091"/>
            <a:ext cx="487102"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32" name="正方形/長方形 31">
            <a:extLst>
              <a:ext uri="{FF2B5EF4-FFF2-40B4-BE49-F238E27FC236}">
                <a16:creationId xmlns:a16="http://schemas.microsoft.com/office/drawing/2014/main" id="{8095533F-6795-9B85-7EEF-CDB429257850}"/>
              </a:ext>
            </a:extLst>
          </p:cNvPr>
          <p:cNvSpPr/>
          <p:nvPr/>
        </p:nvSpPr>
        <p:spPr>
          <a:xfrm>
            <a:off x="5679425" y="4726091"/>
            <a:ext cx="487102" cy="4428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33" name="正方形/長方形 32">
            <a:extLst>
              <a:ext uri="{FF2B5EF4-FFF2-40B4-BE49-F238E27FC236}">
                <a16:creationId xmlns:a16="http://schemas.microsoft.com/office/drawing/2014/main" id="{C11AF0F9-5F3F-5CA8-515E-3D432EC06EF9}"/>
              </a:ext>
            </a:extLst>
          </p:cNvPr>
          <p:cNvSpPr/>
          <p:nvPr/>
        </p:nvSpPr>
        <p:spPr>
          <a:xfrm>
            <a:off x="6166527" y="4726091"/>
            <a:ext cx="487103" cy="4428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詳細設計</a:t>
            </a:r>
            <a:r>
              <a:rPr lang="en-US" altLang="ja-JP" sz="1100">
                <a:solidFill>
                  <a:schemeClr val="tx1"/>
                </a:solidFill>
                <a:latin typeface="游ゴシック" panose="020B0400000000000000" pitchFamily="50" charset="-128"/>
                <a:ea typeface="游ゴシック" panose="020B0400000000000000" pitchFamily="50" charset="-128"/>
              </a:rPr>
              <a:t>/</a:t>
            </a: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34" name="正方形/長方形 33">
            <a:extLst>
              <a:ext uri="{FF2B5EF4-FFF2-40B4-BE49-F238E27FC236}">
                <a16:creationId xmlns:a16="http://schemas.microsoft.com/office/drawing/2014/main" id="{59C780EA-5CA3-0030-10D0-1AFD1604A734}"/>
              </a:ext>
            </a:extLst>
          </p:cNvPr>
          <p:cNvSpPr/>
          <p:nvPr/>
        </p:nvSpPr>
        <p:spPr>
          <a:xfrm>
            <a:off x="6653629" y="4726091"/>
            <a:ext cx="490451" cy="4428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2960D906-1DC6-A904-D0FE-D471C1C575CC}"/>
              </a:ext>
            </a:extLst>
          </p:cNvPr>
          <p:cNvSpPr/>
          <p:nvPr/>
        </p:nvSpPr>
        <p:spPr>
          <a:xfrm>
            <a:off x="7131727" y="4726091"/>
            <a:ext cx="985649" cy="4428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0B746271-B6EB-E877-ADDA-011F566A75E5}"/>
              </a:ext>
            </a:extLst>
          </p:cNvPr>
          <p:cNvSpPr/>
          <p:nvPr/>
        </p:nvSpPr>
        <p:spPr>
          <a:xfrm>
            <a:off x="8116066" y="4726091"/>
            <a:ext cx="279267" cy="4428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7" name="正方形/長方形 36">
            <a:extLst>
              <a:ext uri="{FF2B5EF4-FFF2-40B4-BE49-F238E27FC236}">
                <a16:creationId xmlns:a16="http://schemas.microsoft.com/office/drawing/2014/main" id="{989F34BD-9A2D-55B8-14C6-3350B4043C2F}"/>
              </a:ext>
            </a:extLst>
          </p:cNvPr>
          <p:cNvSpPr/>
          <p:nvPr/>
        </p:nvSpPr>
        <p:spPr>
          <a:xfrm>
            <a:off x="8394022" y="4726091"/>
            <a:ext cx="688554" cy="4428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38" name="正方形/長方形 37">
            <a:extLst>
              <a:ext uri="{FF2B5EF4-FFF2-40B4-BE49-F238E27FC236}">
                <a16:creationId xmlns:a16="http://schemas.microsoft.com/office/drawing/2014/main" id="{BA64AECE-77CE-5D41-FE7B-8EBC1E83C3CF}"/>
              </a:ext>
            </a:extLst>
          </p:cNvPr>
          <p:cNvSpPr/>
          <p:nvPr/>
        </p:nvSpPr>
        <p:spPr>
          <a:xfrm>
            <a:off x="7144080" y="5354643"/>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39" name="正方形/長方形 38">
            <a:extLst>
              <a:ext uri="{FF2B5EF4-FFF2-40B4-BE49-F238E27FC236}">
                <a16:creationId xmlns:a16="http://schemas.microsoft.com/office/drawing/2014/main" id="{1AA45C8F-9F02-7B53-1E10-1B0550AF9ED1}"/>
              </a:ext>
            </a:extLst>
          </p:cNvPr>
          <p:cNvSpPr/>
          <p:nvPr/>
        </p:nvSpPr>
        <p:spPr>
          <a:xfrm>
            <a:off x="7632207" y="5354643"/>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40" name="正方形/長方形 39">
            <a:extLst>
              <a:ext uri="{FF2B5EF4-FFF2-40B4-BE49-F238E27FC236}">
                <a16:creationId xmlns:a16="http://schemas.microsoft.com/office/drawing/2014/main" id="{A8F0636A-3225-CA29-811D-C9CCD47B1811}"/>
              </a:ext>
            </a:extLst>
          </p:cNvPr>
          <p:cNvSpPr/>
          <p:nvPr/>
        </p:nvSpPr>
        <p:spPr>
          <a:xfrm>
            <a:off x="8119309" y="5354643"/>
            <a:ext cx="487103"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詳細設計</a:t>
            </a:r>
            <a:r>
              <a:rPr lang="en-US" altLang="ja-JP" sz="1100">
                <a:solidFill>
                  <a:schemeClr val="tx1"/>
                </a:solidFill>
                <a:latin typeface="游ゴシック" panose="020B0400000000000000" pitchFamily="50" charset="-128"/>
                <a:ea typeface="游ゴシック" panose="020B0400000000000000" pitchFamily="50" charset="-128"/>
              </a:rPr>
              <a:t>/</a:t>
            </a: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41" name="正方形/長方形 40">
            <a:extLst>
              <a:ext uri="{FF2B5EF4-FFF2-40B4-BE49-F238E27FC236}">
                <a16:creationId xmlns:a16="http://schemas.microsoft.com/office/drawing/2014/main" id="{E323B815-7AB7-01BA-BEF1-933C9B394CFD}"/>
              </a:ext>
            </a:extLst>
          </p:cNvPr>
          <p:cNvSpPr/>
          <p:nvPr/>
        </p:nvSpPr>
        <p:spPr>
          <a:xfrm>
            <a:off x="8606411" y="5354643"/>
            <a:ext cx="490451" cy="4412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3" name="正方形/長方形 42">
            <a:extLst>
              <a:ext uri="{FF2B5EF4-FFF2-40B4-BE49-F238E27FC236}">
                <a16:creationId xmlns:a16="http://schemas.microsoft.com/office/drawing/2014/main" id="{9536C753-33DD-4ABC-3EEC-2F55CE32D3AD}"/>
              </a:ext>
            </a:extLst>
          </p:cNvPr>
          <p:cNvSpPr/>
          <p:nvPr/>
        </p:nvSpPr>
        <p:spPr>
          <a:xfrm>
            <a:off x="9084509" y="5354643"/>
            <a:ext cx="985649"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4" name="正方形/長方形 43">
            <a:extLst>
              <a:ext uri="{FF2B5EF4-FFF2-40B4-BE49-F238E27FC236}">
                <a16:creationId xmlns:a16="http://schemas.microsoft.com/office/drawing/2014/main" id="{A7FC6807-F5E5-BBA7-4627-86698274BD60}"/>
              </a:ext>
            </a:extLst>
          </p:cNvPr>
          <p:cNvSpPr/>
          <p:nvPr/>
        </p:nvSpPr>
        <p:spPr>
          <a:xfrm>
            <a:off x="10068848" y="5354643"/>
            <a:ext cx="279267"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5" name="正方形/長方形 44">
            <a:extLst>
              <a:ext uri="{FF2B5EF4-FFF2-40B4-BE49-F238E27FC236}">
                <a16:creationId xmlns:a16="http://schemas.microsoft.com/office/drawing/2014/main" id="{B61B46D8-9089-01BA-71D3-E03A772B0656}"/>
              </a:ext>
            </a:extLst>
          </p:cNvPr>
          <p:cNvSpPr/>
          <p:nvPr/>
        </p:nvSpPr>
        <p:spPr>
          <a:xfrm>
            <a:off x="10346804" y="5354643"/>
            <a:ext cx="688554" cy="4412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grpSp>
        <p:nvGrpSpPr>
          <p:cNvPr id="46" name="グループ化 45">
            <a:extLst>
              <a:ext uri="{FF2B5EF4-FFF2-40B4-BE49-F238E27FC236}">
                <a16:creationId xmlns:a16="http://schemas.microsoft.com/office/drawing/2014/main" id="{C61AEAD1-F56D-A929-63BF-3FC3E2235F6C}"/>
              </a:ext>
            </a:extLst>
          </p:cNvPr>
          <p:cNvGrpSpPr/>
          <p:nvPr/>
        </p:nvGrpSpPr>
        <p:grpSpPr>
          <a:xfrm>
            <a:off x="11252561" y="1750196"/>
            <a:ext cx="939439" cy="326662"/>
            <a:chOff x="2968075" y="2157636"/>
            <a:chExt cx="939439" cy="326662"/>
          </a:xfrm>
          <a:solidFill>
            <a:schemeClr val="bg1"/>
          </a:solidFill>
        </p:grpSpPr>
        <p:sp>
          <p:nvSpPr>
            <p:cNvPr id="47" name="星 5 25">
              <a:extLst>
                <a:ext uri="{FF2B5EF4-FFF2-40B4-BE49-F238E27FC236}">
                  <a16:creationId xmlns:a16="http://schemas.microsoft.com/office/drawing/2014/main" id="{438C1BE0-78EB-AAAA-713A-6FF6B1407948}"/>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48" name="テキスト ボックス 47">
              <a:extLst>
                <a:ext uri="{FF2B5EF4-FFF2-40B4-BE49-F238E27FC236}">
                  <a16:creationId xmlns:a16="http://schemas.microsoft.com/office/drawing/2014/main" id="{D751A6E1-B5D5-A2A2-5E0B-A4F7BCD2F8DD}"/>
                </a:ext>
              </a:extLst>
            </p:cNvPr>
            <p:cNvSpPr txBox="1"/>
            <p:nvPr/>
          </p:nvSpPr>
          <p:spPr>
            <a:xfrm>
              <a:off x="3112075" y="2157636"/>
              <a:ext cx="795439" cy="326662"/>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L3.5</a:t>
              </a:r>
              <a:r>
                <a:rPr lang="ja-JP" altLang="en-US" sz="900">
                  <a:latin typeface="Meiryo UI" panose="020B0604030504040204" pitchFamily="50" charset="-128"/>
                  <a:ea typeface="Meiryo UI" panose="020B0604030504040204" pitchFamily="50" charset="-128"/>
                  <a:cs typeface="Meiryo UI" panose="020B0604030504040204" pitchFamily="50" charset="-128"/>
                </a:rPr>
                <a:t>サーバ</a:t>
              </a:r>
              <a:endParaRPr lang="en-US" altLang="ja-JP" sz="90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サポート終了</a:t>
              </a:r>
            </a:p>
          </p:txBody>
        </p:sp>
      </p:grpSp>
      <p:grpSp>
        <p:nvGrpSpPr>
          <p:cNvPr id="3" name="グループ化 2">
            <a:extLst>
              <a:ext uri="{FF2B5EF4-FFF2-40B4-BE49-F238E27FC236}">
                <a16:creationId xmlns:a16="http://schemas.microsoft.com/office/drawing/2014/main" id="{31EE14A5-38CB-048E-6E26-28BDBE4BCB71}"/>
              </a:ext>
            </a:extLst>
          </p:cNvPr>
          <p:cNvGrpSpPr/>
          <p:nvPr/>
        </p:nvGrpSpPr>
        <p:grpSpPr>
          <a:xfrm>
            <a:off x="4302801" y="1976817"/>
            <a:ext cx="1274135" cy="159376"/>
            <a:chOff x="2968075" y="2178156"/>
            <a:chExt cx="1274135" cy="159376"/>
          </a:xfrm>
          <a:solidFill>
            <a:schemeClr val="bg1"/>
          </a:solidFill>
        </p:grpSpPr>
        <p:sp>
          <p:nvSpPr>
            <p:cNvPr id="16" name="星 5 25">
              <a:extLst>
                <a:ext uri="{FF2B5EF4-FFF2-40B4-BE49-F238E27FC236}">
                  <a16:creationId xmlns:a16="http://schemas.microsoft.com/office/drawing/2014/main" id="{FFF284AB-5AEE-8D44-7B35-997675448810}"/>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28" name="テキスト ボックス 27">
              <a:extLst>
                <a:ext uri="{FF2B5EF4-FFF2-40B4-BE49-F238E27FC236}">
                  <a16:creationId xmlns:a16="http://schemas.microsoft.com/office/drawing/2014/main" id="{E80660A0-8950-F22C-1263-D4F02CAC4C09}"/>
                </a:ext>
              </a:extLst>
            </p:cNvPr>
            <p:cNvSpPr txBox="1"/>
            <p:nvPr/>
          </p:nvSpPr>
          <p:spPr>
            <a:xfrm>
              <a:off x="3112076" y="2194058"/>
              <a:ext cx="1130134" cy="143474"/>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PIMSDB</a:t>
              </a:r>
              <a:r>
                <a:rPr lang="ja-JP" altLang="en-US" sz="900">
                  <a:latin typeface="Meiryo UI" panose="020B0604030504040204" pitchFamily="50" charset="-128"/>
                  <a:ea typeface="Meiryo UI" panose="020B0604030504040204" pitchFamily="50" charset="-128"/>
                  <a:cs typeface="Meiryo UI" panose="020B0604030504040204" pitchFamily="50" charset="-128"/>
                </a:rPr>
                <a:t>更新</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千葉</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endParaRPr lang="ja-JP" altLang="en-US" sz="900">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29" name="グループ化 28">
            <a:extLst>
              <a:ext uri="{FF2B5EF4-FFF2-40B4-BE49-F238E27FC236}">
                <a16:creationId xmlns:a16="http://schemas.microsoft.com/office/drawing/2014/main" id="{B1C98C03-0D62-D25C-15E2-44616D18C019}"/>
              </a:ext>
            </a:extLst>
          </p:cNvPr>
          <p:cNvGrpSpPr/>
          <p:nvPr/>
        </p:nvGrpSpPr>
        <p:grpSpPr>
          <a:xfrm>
            <a:off x="4763193" y="2164706"/>
            <a:ext cx="1274135" cy="159376"/>
            <a:chOff x="2968075" y="2178156"/>
            <a:chExt cx="1274135" cy="159376"/>
          </a:xfrm>
          <a:solidFill>
            <a:schemeClr val="bg1"/>
          </a:solidFill>
        </p:grpSpPr>
        <p:sp>
          <p:nvSpPr>
            <p:cNvPr id="30" name="星 5 25">
              <a:extLst>
                <a:ext uri="{FF2B5EF4-FFF2-40B4-BE49-F238E27FC236}">
                  <a16:creationId xmlns:a16="http://schemas.microsoft.com/office/drawing/2014/main" id="{09ACC528-A519-94C2-B5B7-B403386DA0D7}"/>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49" name="テキスト ボックス 48">
              <a:extLst>
                <a:ext uri="{FF2B5EF4-FFF2-40B4-BE49-F238E27FC236}">
                  <a16:creationId xmlns:a16="http://schemas.microsoft.com/office/drawing/2014/main" id="{F9F23C1F-1937-A6B0-D6DE-9FAC04F05CF4}"/>
                </a:ext>
              </a:extLst>
            </p:cNvPr>
            <p:cNvSpPr txBox="1"/>
            <p:nvPr/>
          </p:nvSpPr>
          <p:spPr>
            <a:xfrm>
              <a:off x="3112076" y="2194058"/>
              <a:ext cx="1130134" cy="143474"/>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PIMSDB</a:t>
              </a:r>
              <a:r>
                <a:rPr lang="ja-JP" altLang="en-US" sz="900">
                  <a:latin typeface="Meiryo UI" panose="020B0604030504040204" pitchFamily="50" charset="-128"/>
                  <a:ea typeface="Meiryo UI" panose="020B0604030504040204" pitchFamily="50" charset="-128"/>
                  <a:cs typeface="Meiryo UI" panose="020B0604030504040204" pitchFamily="50" charset="-128"/>
                </a:rPr>
                <a:t>更新</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徳山</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endParaRPr lang="ja-JP" altLang="en-US" sz="900">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50" name="正方形/長方形 49">
            <a:extLst>
              <a:ext uri="{FF2B5EF4-FFF2-40B4-BE49-F238E27FC236}">
                <a16:creationId xmlns:a16="http://schemas.microsoft.com/office/drawing/2014/main" id="{F1EF1C33-DDB8-88E1-B162-60B2AA6310F1}"/>
              </a:ext>
            </a:extLst>
          </p:cNvPr>
          <p:cNvSpPr/>
          <p:nvPr/>
        </p:nvSpPr>
        <p:spPr>
          <a:xfrm>
            <a:off x="3717846" y="4077630"/>
            <a:ext cx="1222825" cy="4428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050">
                <a:solidFill>
                  <a:schemeClr val="tx1"/>
                </a:solidFill>
                <a:latin typeface="游ゴシック"/>
                <a:ea typeface="游ゴシック"/>
              </a:rPr>
              <a:t>本番移行</a:t>
            </a:r>
            <a:endParaRPr lang="en-US" altLang="ja-JP" sz="1050">
              <a:solidFill>
                <a:schemeClr val="tx1"/>
              </a:solidFill>
              <a:latin typeface="游ゴシック"/>
              <a:ea typeface="游ゴシック"/>
            </a:endParaRPr>
          </a:p>
          <a:p>
            <a:pPr algn="ctr"/>
            <a:r>
              <a:rPr lang="ja-JP" altLang="en-US" sz="1050">
                <a:solidFill>
                  <a:schemeClr val="tx1"/>
                </a:solidFill>
                <a:latin typeface="游ゴシック"/>
                <a:ea typeface="游ゴシック"/>
              </a:rPr>
              <a:t>初期流動</a:t>
            </a:r>
          </a:p>
        </p:txBody>
      </p:sp>
      <p:sp>
        <p:nvSpPr>
          <p:cNvPr id="51" name="正方形/長方形 50">
            <a:extLst>
              <a:ext uri="{FF2B5EF4-FFF2-40B4-BE49-F238E27FC236}">
                <a16:creationId xmlns:a16="http://schemas.microsoft.com/office/drawing/2014/main" id="{9BA834AD-CA43-21C7-1FA4-78B546084477}"/>
              </a:ext>
            </a:extLst>
          </p:cNvPr>
          <p:cNvSpPr/>
          <p:nvPr/>
        </p:nvSpPr>
        <p:spPr>
          <a:xfrm>
            <a:off x="208720" y="3046469"/>
            <a:ext cx="11312479" cy="9467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26FAF0A7-690A-9FC0-C937-17CF6AF031AE}"/>
              </a:ext>
            </a:extLst>
          </p:cNvPr>
          <p:cNvSpPr/>
          <p:nvPr/>
        </p:nvSpPr>
        <p:spPr>
          <a:xfrm>
            <a:off x="2273316" y="3333575"/>
            <a:ext cx="487102" cy="4412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22" name="正方形/長方形 21">
            <a:extLst>
              <a:ext uri="{FF2B5EF4-FFF2-40B4-BE49-F238E27FC236}">
                <a16:creationId xmlns:a16="http://schemas.microsoft.com/office/drawing/2014/main" id="{57A9AB82-F0CB-15FF-3C6A-2193B5D788B9}"/>
              </a:ext>
            </a:extLst>
          </p:cNvPr>
          <p:cNvSpPr/>
          <p:nvPr/>
        </p:nvSpPr>
        <p:spPr>
          <a:xfrm>
            <a:off x="11075229" y="414079"/>
            <a:ext cx="445970" cy="1929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47430435-27B5-B086-B203-1290895BC6AC}"/>
              </a:ext>
            </a:extLst>
          </p:cNvPr>
          <p:cNvSpPr txBox="1"/>
          <p:nvPr/>
        </p:nvSpPr>
        <p:spPr>
          <a:xfrm>
            <a:off x="9974384" y="383726"/>
            <a:ext cx="1124441" cy="253624"/>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見積範囲</a:t>
            </a:r>
            <a:endParaRPr lang="en-US" altLang="ja-JP" sz="1400">
              <a:latin typeface="+mn-ea"/>
              <a:cs typeface="メイリオ" pitchFamily="50" charset="-128"/>
            </a:endParaRPr>
          </a:p>
        </p:txBody>
      </p:sp>
    </p:spTree>
    <p:extLst>
      <p:ext uri="{BB962C8B-B14F-4D97-AF65-F5344CB8AC3E}">
        <p14:creationId xmlns:p14="http://schemas.microsoft.com/office/powerpoint/2010/main" val="326126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D5079-E82D-816F-14AE-1E9334DD714E}"/>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6B789043-600E-0CE4-D9FF-77DEA9CC7265}"/>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a:extLst>
              <a:ext uri="{FF2B5EF4-FFF2-40B4-BE49-F238E27FC236}">
                <a16:creationId xmlns:a16="http://schemas.microsoft.com/office/drawing/2014/main" id="{DC4897C4-E051-CEE4-9521-45BE5195C78C}"/>
              </a:ext>
            </a:extLst>
          </p:cNvPr>
          <p:cNvSpPr>
            <a:spLocks noGrp="1"/>
          </p:cNvSpPr>
          <p:nvPr>
            <p:ph type="title"/>
          </p:nvPr>
        </p:nvSpPr>
        <p:spPr/>
        <p:txBody>
          <a:bodyPr/>
          <a:lstStyle/>
          <a:p>
            <a:r>
              <a:rPr lang="en-US" altLang="ja-JP">
                <a:latin typeface="游明朝"/>
                <a:ea typeface="游明朝"/>
              </a:rPr>
              <a:t>７-</a:t>
            </a:r>
            <a:r>
              <a:rPr lang="ja-JP" altLang="en-US">
                <a:latin typeface="游明朝"/>
                <a:ea typeface="游明朝"/>
              </a:rPr>
              <a:t>１</a:t>
            </a:r>
            <a:r>
              <a:rPr lang="en-US" altLang="ja-JP">
                <a:latin typeface="游明朝"/>
                <a:ea typeface="游明朝"/>
              </a:rPr>
              <a:t>. </a:t>
            </a:r>
            <a:r>
              <a:rPr lang="ja-JP" altLang="en-US">
                <a:latin typeface="游明朝"/>
                <a:ea typeface="游明朝"/>
              </a:rPr>
              <a:t>体制（要件定義～基本設計）</a:t>
            </a:r>
            <a:endParaRPr kumimoji="1" lang="ja-JP" altLang="en-US">
              <a:latin typeface="游明朝"/>
              <a:ea typeface="游明朝"/>
            </a:endParaRPr>
          </a:p>
        </p:txBody>
      </p:sp>
      <p:sp>
        <p:nvSpPr>
          <p:cNvPr id="3" name="日付プレースホルダー 2">
            <a:extLst>
              <a:ext uri="{FF2B5EF4-FFF2-40B4-BE49-F238E27FC236}">
                <a16:creationId xmlns:a16="http://schemas.microsoft.com/office/drawing/2014/main" id="{53B5E556-52B9-A3BC-9224-D4087B578C62}"/>
              </a:ext>
            </a:extLst>
          </p:cNvPr>
          <p:cNvSpPr>
            <a:spLocks noGrp="1"/>
          </p:cNvSpPr>
          <p:nvPr>
            <p:ph type="dt" sz="half" idx="10"/>
          </p:nvPr>
        </p:nvSpPr>
        <p:spPr/>
        <p:txBody>
          <a:bodyPr/>
          <a:lstStyle/>
          <a:p>
            <a:r>
              <a:rPr lang="en-US" altLang="ja-JP"/>
              <a:t>2025/4/7</a:t>
            </a:r>
            <a:endParaRPr lang="en-US"/>
          </a:p>
        </p:txBody>
      </p:sp>
      <p:sp>
        <p:nvSpPr>
          <p:cNvPr id="11" name="正方形/長方形 10">
            <a:extLst>
              <a:ext uri="{FF2B5EF4-FFF2-40B4-BE49-F238E27FC236}">
                <a16:creationId xmlns:a16="http://schemas.microsoft.com/office/drawing/2014/main" id="{84A5A49F-B361-554F-DF88-302112CD7A25}"/>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61B37DC5-62B6-A463-83AC-56F444895A44}"/>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6A87FF00-11B5-B006-B5A8-F0FE30C7C9AE}"/>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6FAEF3FE-E69F-2C31-5081-C8E8E3C6B797}"/>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F76B749A-A94D-A4C6-144B-1BAC757A78DE}"/>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948C21F-8477-284E-82B7-32942F959E84}"/>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86180342-1F04-0954-615F-C8FB36CF094C}"/>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523F5067-620C-5B0C-96AB-727BF542AF5E}"/>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E295517B-3B8D-32CD-52BC-2487C6CE7637}"/>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0EDFA8C3-0D1C-126C-CE9B-D1B720AB14A8}"/>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31C94D80-CED4-E9F3-C5FE-29265B28B530}"/>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64637F9A-AF56-1047-9DB5-78D2006949AE}"/>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5C2E9F8B-6732-130A-5D4B-23930D374652}"/>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B2139605-2320-28FD-5A0B-6C85DDF1751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10D59372-E2CF-7732-C748-7B2127FE0D72}"/>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8E5E2C0A-EA1B-A999-5682-43082CE68BCB}"/>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9DDB4C94-C7F4-2644-5ABD-62294A786602}"/>
              </a:ext>
            </a:extLst>
          </p:cNvPr>
          <p:cNvGrpSpPr/>
          <p:nvPr/>
        </p:nvGrpSpPr>
        <p:grpSpPr>
          <a:xfrm>
            <a:off x="6570483" y="4316999"/>
            <a:ext cx="2736000" cy="1403611"/>
            <a:chOff x="6852000" y="5532583"/>
            <a:chExt cx="2736000" cy="697688"/>
          </a:xfrm>
        </p:grpSpPr>
        <p:sp>
          <p:nvSpPr>
            <p:cNvPr id="35" name="片側の 2 つの角を丸めた四角形 21">
              <a:extLst>
                <a:ext uri="{FF2B5EF4-FFF2-40B4-BE49-F238E27FC236}">
                  <a16:creationId xmlns:a16="http://schemas.microsoft.com/office/drawing/2014/main" id="{303EA247-F423-8B56-C041-E732145A5C18}"/>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0650AE5F-5198-EE34-5832-8300D22ABB7F}"/>
                </a:ext>
              </a:extLst>
            </p:cNvPr>
            <p:cNvSpPr/>
            <p:nvPr/>
          </p:nvSpPr>
          <p:spPr>
            <a:xfrm>
              <a:off x="6852000" y="5727938"/>
              <a:ext cx="2736000" cy="50233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ja-JP" sz="1600">
                  <a:solidFill>
                    <a:srgbClr val="323232"/>
                  </a:solidFill>
                  <a:latin typeface="Calibri"/>
                  <a:ea typeface="游ゴシック"/>
                  <a:cs typeface="Calibri"/>
                </a:rPr>
                <a:t>伊達 翔互</a:t>
              </a:r>
              <a:endParaRPr lang="ja-JP" altLang="ja-JP" sz="1600"/>
            </a:p>
          </p:txBody>
        </p:sp>
      </p:grpSp>
      <p:cxnSp>
        <p:nvCxnSpPr>
          <p:cNvPr id="37" name="直線コネクタ 36">
            <a:extLst>
              <a:ext uri="{FF2B5EF4-FFF2-40B4-BE49-F238E27FC236}">
                <a16:creationId xmlns:a16="http://schemas.microsoft.com/office/drawing/2014/main" id="{F0EA0B40-D10D-8C8F-2FCC-AF16C31D42E5}"/>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6C048FD5-B2B3-3516-7B3B-78DB89381D36}"/>
              </a:ext>
            </a:extLst>
          </p:cNvPr>
          <p:cNvGrpSpPr/>
          <p:nvPr/>
        </p:nvGrpSpPr>
        <p:grpSpPr>
          <a:xfrm>
            <a:off x="6582001" y="3338294"/>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873984B6-60F6-C356-380E-665E580437BA}"/>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BBC43799-6943-5141-AE2B-A957B31D582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altLang="en-US" sz="1600"/>
                <a:t>石井 徹</a:t>
              </a:r>
              <a:endParaRPr lang="ja-JP" sz="1600"/>
            </a:p>
          </p:txBody>
        </p:sp>
      </p:grpSp>
      <p:grpSp>
        <p:nvGrpSpPr>
          <p:cNvPr id="50" name="グループ化 49">
            <a:extLst>
              <a:ext uri="{FF2B5EF4-FFF2-40B4-BE49-F238E27FC236}">
                <a16:creationId xmlns:a16="http://schemas.microsoft.com/office/drawing/2014/main" id="{0B34E189-D0E0-9D6B-0EB3-F4102B90761E}"/>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B7872AB4-1B35-AC56-5EF7-4D2013B3DE55}"/>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8D14DA5E-2B93-FF69-B8AB-6EFB548C2205}"/>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54A50AD2-F0B4-EA5B-0489-8EF86F106B24}"/>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0F08E6AB-7AAB-3CAB-D82D-C676D5552FA6}"/>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32F2DDC2-1F2F-A5CC-886B-201FDC718697}"/>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2936CD12-AAD8-C5DA-54F8-E80DD75AFD9F}"/>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02CA1C4D-75A5-A442-7C68-3B00F0BC1CC9}"/>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BDE8B0F4-FD49-B3C6-D052-A278822E2927}"/>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E26C8C2A-6B16-ECAE-DBF6-3C9557B9BBD6}"/>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186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７-</a:t>
            </a:r>
            <a:r>
              <a:rPr lang="ja-JP" altLang="en-US">
                <a:latin typeface="游明朝"/>
                <a:ea typeface="游明朝"/>
              </a:rPr>
              <a:t>２</a:t>
            </a:r>
            <a:r>
              <a:rPr lang="en-US" altLang="ja-JP">
                <a:latin typeface="游明朝"/>
                <a:ea typeface="游明朝"/>
              </a:rPr>
              <a:t>. </a:t>
            </a:r>
            <a:r>
              <a:rPr lang="ja-JP" altLang="en-US">
                <a:latin typeface="游明朝"/>
                <a:ea typeface="游明朝"/>
              </a:rPr>
              <a:t>体制（詳細設計以降）</a:t>
            </a:r>
            <a:endParaRPr kumimoji="1" lang="ja-JP" altLang="en-US">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2025/4/7</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570483" y="4316999"/>
            <a:ext cx="2736000" cy="1403611"/>
            <a:chOff x="6852000" y="5532583"/>
            <a:chExt cx="2736000" cy="697688"/>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50233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b="0" i="0">
                  <a:solidFill>
                    <a:srgbClr val="333333"/>
                  </a:solidFill>
                  <a:effectLst/>
                  <a:latin typeface="游ゴシック"/>
                  <a:ea typeface="游ゴシック"/>
                </a:rPr>
                <a:t>TBD</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582001" y="3338294"/>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altLang="en-US" sz="1600"/>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14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８. </a:t>
            </a:r>
            <a:r>
              <a:rPr lang="ja-JP" altLang="en-US">
                <a:latin typeface="游明朝"/>
                <a:ea typeface="游明朝"/>
              </a:rPr>
              <a:t>お見積もり</a:t>
            </a:r>
            <a:endParaRPr kumimoji="1" lang="ja-JP" altLang="en-US" sz="2000">
              <a:latin typeface="游明朝"/>
              <a:ea typeface="游明朝"/>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2025/4/7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080989714"/>
              </p:ext>
            </p:extLst>
          </p:nvPr>
        </p:nvGraphicFramePr>
        <p:xfrm>
          <a:off x="695999" y="865868"/>
          <a:ext cx="10890000" cy="5563680"/>
        </p:xfrm>
        <a:graphic>
          <a:graphicData uri="http://schemas.openxmlformats.org/drawingml/2006/table">
            <a:tbl>
              <a:tblPr firstRow="1" bandRow="1">
                <a:tableStyleId>{2D5ABB26-0587-4C30-8999-92F81FD0307C}</a:tableStyleId>
              </a:tblPr>
              <a:tblGrid>
                <a:gridCol w="466714">
                  <a:extLst>
                    <a:ext uri="{9D8B030D-6E8A-4147-A177-3AD203B41FA5}">
                      <a16:colId xmlns:a16="http://schemas.microsoft.com/office/drawing/2014/main" val="233225342"/>
                    </a:ext>
                  </a:extLst>
                </a:gridCol>
                <a:gridCol w="1199516">
                  <a:extLst>
                    <a:ext uri="{9D8B030D-6E8A-4147-A177-3AD203B41FA5}">
                      <a16:colId xmlns:a16="http://schemas.microsoft.com/office/drawing/2014/main" val="568014644"/>
                    </a:ext>
                  </a:extLst>
                </a:gridCol>
                <a:gridCol w="1878588">
                  <a:extLst>
                    <a:ext uri="{9D8B030D-6E8A-4147-A177-3AD203B41FA5}">
                      <a16:colId xmlns:a16="http://schemas.microsoft.com/office/drawing/2014/main" val="3608806225"/>
                    </a:ext>
                  </a:extLst>
                </a:gridCol>
                <a:gridCol w="890711">
                  <a:extLst>
                    <a:ext uri="{9D8B030D-6E8A-4147-A177-3AD203B41FA5}">
                      <a16:colId xmlns:a16="http://schemas.microsoft.com/office/drawing/2014/main" val="2247639322"/>
                    </a:ext>
                  </a:extLst>
                </a:gridCol>
                <a:gridCol w="2876328">
                  <a:extLst>
                    <a:ext uri="{9D8B030D-6E8A-4147-A177-3AD203B41FA5}">
                      <a16:colId xmlns:a16="http://schemas.microsoft.com/office/drawing/2014/main" val="4260495519"/>
                    </a:ext>
                  </a:extLst>
                </a:gridCol>
                <a:gridCol w="1555714">
                  <a:extLst>
                    <a:ext uri="{9D8B030D-6E8A-4147-A177-3AD203B41FA5}">
                      <a16:colId xmlns:a16="http://schemas.microsoft.com/office/drawing/2014/main" val="3343664097"/>
                    </a:ext>
                  </a:extLst>
                </a:gridCol>
                <a:gridCol w="2022429">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288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mn-ea"/>
                        </a:rPr>
                        <a:t>\420,000</a:t>
                      </a:r>
                      <a:endParaRPr lang="ja-JP" altLang="en-US"/>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288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1.5</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¥1,620,000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8800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76895876"/>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a:ea typeface="+mn-ea"/>
                        </a:rPr>
                        <a:t>0.8</a:t>
                      </a: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\800,000</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0.5</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mn-ea"/>
                        </a:rPr>
                        <a:t>\700,000</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3.6</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¥3,800,000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28800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mn-ea"/>
                        </a:rPr>
                        <a:t>システムテスト</a:t>
                      </a:r>
                      <a:endParaRPr lang="ja-JP"/>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a:ea typeface="+mn-ea"/>
                        </a:rPr>
                        <a:t>0.9</a:t>
                      </a: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mn-ea"/>
                        </a:rPr>
                        <a:t>¥900,000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1679848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12496499"/>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mn-ea"/>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8862414"/>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1.4</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¥1,480,000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47902244"/>
                  </a:ext>
                </a:extLst>
              </a:tr>
              <a:tr h="28800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mn-ea"/>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0.9</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¥940,000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288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7.4</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¥7,840,000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９.</a:t>
            </a:r>
            <a:r>
              <a:rPr lang="ja-JP" altLang="en-US">
                <a:latin typeface="游明朝"/>
                <a:ea typeface="游明朝"/>
              </a:rPr>
              <a:t> お見積もり前提条件</a:t>
            </a:r>
            <a:endParaRPr kumimoji="1" lang="ja-JP" altLang="en-US">
              <a:latin typeface="游明朝"/>
              <a:ea typeface="游明朝"/>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lang="ja-JP" altLang="en-US" b="0" u="none">
                <a:latin typeface="游ゴシック"/>
                <a:ea typeface="游ゴシック"/>
                <a:cs typeface="+mn-ea"/>
              </a:rPr>
              <a:t>連携監視ジョブについて</a:t>
            </a:r>
            <a:r>
              <a:rPr lang="en-US" altLang="ja-JP" b="0" u="none">
                <a:latin typeface="游ゴシック"/>
                <a:ea typeface="游ゴシック"/>
                <a:cs typeface="+mn-ea"/>
              </a:rPr>
              <a:t>A-AUTO</a:t>
            </a:r>
            <a:r>
              <a:rPr lang="ja-JP" altLang="en-US" b="0" u="none">
                <a:latin typeface="游ゴシック"/>
                <a:ea typeface="游ゴシック"/>
                <a:cs typeface="+mn-ea"/>
              </a:rPr>
              <a:t>側の設定は貴社にて対応頂く想定となります。</a:t>
            </a:r>
            <a:endParaRPr lang="en-US" altLang="ja-JP" b="0" u="none">
              <a:latin typeface="游ゴシック"/>
              <a:ea typeface="游ゴシック"/>
              <a:cs typeface="+mn-ea"/>
            </a:endParaRPr>
          </a:p>
          <a:p>
            <a:r>
              <a:rPr lang="ja-JP" altLang="en-US" b="0" u="none">
                <a:latin typeface="游ゴシック"/>
                <a:ea typeface="游ゴシック"/>
                <a:cs typeface="+mn-ea"/>
              </a:rPr>
              <a:t>システムテストは陸上出荷側が主体となってスケジュール等が決定される想定となります。</a:t>
            </a:r>
            <a:endParaRPr lang="en-US" altLang="ja-JP" b="0" u="none">
              <a:latin typeface="游ゴシック"/>
              <a:ea typeface="游ゴシック"/>
              <a:cs typeface="+mn-ea"/>
            </a:endParaRPr>
          </a:p>
          <a:p>
            <a:r>
              <a:rPr lang="ja-JP" altLang="en-US" b="0" u="none">
                <a:latin typeface="游ゴシック"/>
                <a:ea typeface="游ゴシック"/>
                <a:cs typeface="+mn-ea"/>
              </a:rPr>
              <a:t>システムテストはシナリオテストとしてヤードから陸上出荷まで一気通貫で実施する想定となります。</a:t>
            </a:r>
            <a:endParaRPr kumimoji="1" lang="en-US" altLang="ja-JP" b="0" u="none"/>
          </a:p>
          <a:p>
            <a:r>
              <a:rPr kumimoji="1" lang="ja-JP" altLang="en-US" b="0" u="none"/>
              <a:t>本資料記載の金額は全て税抜となります。</a:t>
            </a:r>
            <a:endParaRPr kumimoji="1" lang="en-US" altLang="ja-JP" b="0" u="none"/>
          </a:p>
          <a:p>
            <a:r>
              <a:rPr lang="ja-JP" altLang="en-US" b="0" u="none"/>
              <a:t>お見積もりは概算お見積もりのため、改めて正式にお見積もりさせていただきます。</a:t>
            </a:r>
            <a:endParaRPr lang="en-US" altLang="ja-JP" b="0" u="none"/>
          </a:p>
          <a:p>
            <a:r>
              <a:rPr kumimoji="1" lang="ja-JP" altLang="en-US" b="0" u="none"/>
              <a:t>本お見積りは単純移行を想定しております。</a:t>
            </a:r>
            <a:endParaRPr kumimoji="1" lang="en-US" altLang="ja-JP" b="0" u="none"/>
          </a:p>
          <a:p>
            <a:r>
              <a:rPr lang="ja-JP" altLang="en-US" b="0" u="none"/>
              <a:t>作業場所は原則弊社オフィス内とします。弊社オフィス内には在宅での勤務を含みます。</a:t>
            </a:r>
            <a:endParaRPr lang="en-US" altLang="ja-JP" b="0" u="none"/>
          </a:p>
          <a:p>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lang="ja-JP" altLang="en-US" b="0" u="none"/>
              <a:t>既存の</a:t>
            </a:r>
            <a:r>
              <a:rPr lang="en-US" altLang="ja-JP" b="0" u="none"/>
              <a:t>OWFT</a:t>
            </a:r>
            <a:r>
              <a:rPr lang="ja-JP" altLang="en-US" b="0" u="none"/>
              <a:t>を利用した構成と</a:t>
            </a:r>
            <a:r>
              <a:rPr lang="ja-JP" b="0" u="none">
                <a:latin typeface="游ゴシック"/>
                <a:ea typeface="游ゴシック"/>
              </a:rPr>
              <a:t>なります。</a:t>
            </a:r>
            <a:endParaRPr lang="ja-JP" altLang="en-US" b="0" u="none">
              <a:latin typeface="游ゴシック"/>
              <a:ea typeface="游ゴシック"/>
            </a:endParaRPr>
          </a:p>
          <a:p>
            <a:r>
              <a:rPr lang="ja-JP" altLang="en-US" b="0" u="none">
                <a:latin typeface="游ゴシック"/>
                <a:ea typeface="游ゴシック"/>
              </a:rPr>
              <a:t>インフラ環境（ネットワーク等）の構築は含まれておりません</a:t>
            </a:r>
            <a:endParaRPr lang="en-US" altLang="ja-JP" b="0" u="none">
              <a:latin typeface="游ゴシック"/>
              <a:ea typeface="游ゴシック"/>
            </a:endParaRPr>
          </a:p>
          <a:p>
            <a:r>
              <a:rPr lang="ja-JP" altLang="en-US" b="0" u="none">
                <a:latin typeface="游ゴシック"/>
                <a:ea typeface="游ゴシック"/>
                <a:cs typeface="+mn-ea"/>
              </a:rPr>
              <a:t>本対応以外の業務変更などのプログラム改修は想定していません。</a:t>
            </a:r>
            <a:endParaRPr lang="en-US" altLang="ja-JP" b="0" u="none">
              <a:latin typeface="游ゴシック"/>
              <a:ea typeface="游ゴシック"/>
              <a:cs typeface="+mn-ea"/>
            </a:endParaRPr>
          </a:p>
          <a:p>
            <a:r>
              <a:rPr kumimoji="1" lang="ja-JP" altLang="en-US" b="0" u="none"/>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2025/4/7</a:t>
            </a:r>
            <a:endParaRPr lang="en-US"/>
          </a:p>
        </p:txBody>
      </p:sp>
    </p:spTree>
    <p:extLst>
      <p:ext uri="{BB962C8B-B14F-4D97-AF65-F5344CB8AC3E}">
        <p14:creationId xmlns:p14="http://schemas.microsoft.com/office/powerpoint/2010/main" val="2410374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kumimoji="1" lang="en-US" altLang="ja-JP">
                <a:latin typeface="游ゴシック"/>
                <a:ea typeface="游ゴシック"/>
              </a:rPr>
              <a:t>toru.ishii@system-exe.jp</a:t>
            </a:r>
          </a:p>
          <a:p>
            <a:r>
              <a:rPr lang="en-US" altLang="ja-JP">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2025/4/7</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6E287B-7255-4AC6-9E52-03E3159BDE74}"/>
</file>

<file path=customXml/itemProps2.xml><?xml version="1.0" encoding="utf-8"?>
<ds:datastoreItem xmlns:ds="http://schemas.openxmlformats.org/officeDocument/2006/customXml" ds:itemID="{04C728C5-B22A-42B4-8163-E4A5D49941FF}">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E332BF2-0A3C-4B34-A48C-16084CC4E1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4</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テーマ</vt:lpstr>
      <vt:lpstr>概算お見積もり(第5.1版）</vt:lpstr>
      <vt:lpstr>１. はじめに</vt:lpstr>
      <vt:lpstr>２. お見積り範囲</vt:lpstr>
      <vt:lpstr>２. お見積り範囲</vt:lpstr>
      <vt:lpstr>３. システム構成（AsIs）</vt:lpstr>
      <vt:lpstr>３. システム構成（ToBe）</vt:lpstr>
      <vt:lpstr>３. システム構成（ToBe）：作業範囲</vt:lpstr>
      <vt:lpstr>４. 対応内容</vt:lpstr>
      <vt:lpstr>５. 想定している成果物</vt:lpstr>
      <vt:lpstr>６-１. スケジュール（想定）</vt:lpstr>
      <vt:lpstr>６-２. スケジュール（関連対応を含めた想定）</vt:lpstr>
      <vt:lpstr>７-１. 体制（要件定義～基本設計）</vt:lpstr>
      <vt:lpstr>７-２. 体制（詳細設計以降）</vt:lpstr>
      <vt:lpstr>８. お見積もり</vt:lpstr>
      <vt:lpstr>９. お見積もり前提条件</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4</cp:revision>
  <dcterms:created xsi:type="dcterms:W3CDTF">2021-02-05T06:36:21Z</dcterms:created>
  <dcterms:modified xsi:type="dcterms:W3CDTF">2025-11-28T05:59:55Z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