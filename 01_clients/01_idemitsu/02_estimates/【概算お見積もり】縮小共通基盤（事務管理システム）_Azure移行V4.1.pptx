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2"/>
  </p:notesMasterIdLst>
  <p:handoutMasterIdLst>
    <p:handoutMasterId r:id="rId23"/>
  </p:handoutMasterIdLst>
  <p:sldIdLst>
    <p:sldId id="714" r:id="rId5"/>
    <p:sldId id="757" r:id="rId6"/>
    <p:sldId id="939" r:id="rId7"/>
    <p:sldId id="934" r:id="rId8"/>
    <p:sldId id="935" r:id="rId9"/>
    <p:sldId id="936" r:id="rId10"/>
    <p:sldId id="765" r:id="rId11"/>
    <p:sldId id="766" r:id="rId12"/>
    <p:sldId id="945" r:id="rId13"/>
    <p:sldId id="946" r:id="rId14"/>
    <p:sldId id="947" r:id="rId15"/>
    <p:sldId id="923" r:id="rId16"/>
    <p:sldId id="929" r:id="rId17"/>
    <p:sldId id="767" r:id="rId18"/>
    <p:sldId id="749" r:id="rId19"/>
    <p:sldId id="937" r:id="rId20"/>
    <p:sldId id="94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A379A2-EC4B-AC88-A0BA-E1AF88670C29}" v="6" dt="2025-09-18T07:11:58.001"/>
    <p1510:client id="{654083E9-D512-4778-A748-5C9C3BA1D040}" v="26" dt="2025-09-18T05:43:57.27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21" autoAdjust="0"/>
    <p:restoredTop sz="94660"/>
  </p:normalViewPr>
  <p:slideViewPr>
    <p:cSldViewPr snapToGrid="0">
      <p:cViewPr varScale="1">
        <p:scale>
          <a:sx n="107" d="100"/>
          <a:sy n="107" d="100"/>
        </p:scale>
        <p:origin x="1038"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浦祐朗" userId="d6d860fe-bc64-411b-9605-a16d1ba875f6" providerId="ADAL" clId="{A65FDE6D-D768-44DB-ADF3-5348D2950BED}"/>
    <pc:docChg chg="undo custSel addSld delSld modSld">
      <pc:chgData name="髙浦祐朗" userId="d6d860fe-bc64-411b-9605-a16d1ba875f6" providerId="ADAL" clId="{A65FDE6D-D768-44DB-ADF3-5348D2950BED}" dt="2025-09-18T05:44:10.831" v="159" actId="1076"/>
      <pc:docMkLst>
        <pc:docMk/>
      </pc:docMkLst>
      <pc:sldChg chg="addSp modSp mod">
        <pc:chgData name="髙浦祐朗" userId="d6d860fe-bc64-411b-9605-a16d1ba875f6" providerId="ADAL" clId="{A65FDE6D-D768-44DB-ADF3-5348D2950BED}" dt="2025-09-18T05:44:10.831" v="159" actId="1076"/>
        <pc:sldMkLst>
          <pc:docMk/>
          <pc:sldMk cId="3201888243" sldId="714"/>
        </pc:sldMkLst>
        <pc:spChg chg="add mod">
          <ac:chgData name="髙浦祐朗" userId="d6d860fe-bc64-411b-9605-a16d1ba875f6" providerId="ADAL" clId="{A65FDE6D-D768-44DB-ADF3-5348D2950BED}" dt="2025-09-18T05:44:10.831" v="159" actId="1076"/>
          <ac:spMkLst>
            <pc:docMk/>
            <pc:sldMk cId="3201888243" sldId="714"/>
            <ac:spMk id="6" creationId="{CBC1ADB9-7AAD-E69D-7BF3-10F54CD24F39}"/>
          </ac:spMkLst>
        </pc:spChg>
      </pc:sldChg>
      <pc:sldChg chg="modSp mod">
        <pc:chgData name="髙浦祐朗" userId="d6d860fe-bc64-411b-9605-a16d1ba875f6" providerId="ADAL" clId="{A65FDE6D-D768-44DB-ADF3-5348D2950BED}" dt="2025-09-18T05:11:50.305" v="124" actId="555"/>
        <pc:sldMkLst>
          <pc:docMk/>
          <pc:sldMk cId="2136027133" sldId="946"/>
        </pc:sldMkLst>
        <pc:spChg chg="mod">
          <ac:chgData name="髙浦祐朗" userId="d6d860fe-bc64-411b-9605-a16d1ba875f6" providerId="ADAL" clId="{A65FDE6D-D768-44DB-ADF3-5348D2950BED}" dt="2025-09-18T05:10:27.774" v="113" actId="208"/>
          <ac:spMkLst>
            <pc:docMk/>
            <pc:sldMk cId="2136027133" sldId="946"/>
            <ac:spMk id="4" creationId="{A1B67386-AD83-3967-5D45-C866A13904CF}"/>
          </ac:spMkLst>
        </pc:spChg>
        <pc:spChg chg="mod">
          <ac:chgData name="髙浦祐朗" userId="d6d860fe-bc64-411b-9605-a16d1ba875f6" providerId="ADAL" clId="{A65FDE6D-D768-44DB-ADF3-5348D2950BED}" dt="2025-09-18T05:11:50.305" v="124" actId="555"/>
          <ac:spMkLst>
            <pc:docMk/>
            <pc:sldMk cId="2136027133" sldId="946"/>
            <ac:spMk id="5" creationId="{4C383857-658A-27E0-C87F-6186580943F2}"/>
          </ac:spMkLst>
        </pc:spChg>
        <pc:spChg chg="mod">
          <ac:chgData name="髙浦祐朗" userId="d6d860fe-bc64-411b-9605-a16d1ba875f6" providerId="ADAL" clId="{A65FDE6D-D768-44DB-ADF3-5348D2950BED}" dt="2025-09-18T05:11:09.449" v="120" actId="14100"/>
          <ac:spMkLst>
            <pc:docMk/>
            <pc:sldMk cId="2136027133" sldId="946"/>
            <ac:spMk id="8" creationId="{EE71303A-190E-DC83-D7A8-7F863FFBEC07}"/>
          </ac:spMkLst>
        </pc:spChg>
        <pc:spChg chg="mod">
          <ac:chgData name="髙浦祐朗" userId="d6d860fe-bc64-411b-9605-a16d1ba875f6" providerId="ADAL" clId="{A65FDE6D-D768-44DB-ADF3-5348D2950BED}" dt="2025-09-18T05:11:39.323" v="123" actId="1076"/>
          <ac:spMkLst>
            <pc:docMk/>
            <pc:sldMk cId="2136027133" sldId="946"/>
            <ac:spMk id="9" creationId="{95E9508C-14AD-4227-AFB2-DA670F343CD0}"/>
          </ac:spMkLst>
        </pc:spChg>
        <pc:spChg chg="mod">
          <ac:chgData name="髙浦祐朗" userId="d6d860fe-bc64-411b-9605-a16d1ba875f6" providerId="ADAL" clId="{A65FDE6D-D768-44DB-ADF3-5348D2950BED}" dt="2025-09-18T05:06:27.194" v="23" actId="1037"/>
          <ac:spMkLst>
            <pc:docMk/>
            <pc:sldMk cId="2136027133" sldId="946"/>
            <ac:spMk id="11" creationId="{3B57EEC6-A848-4914-BC9B-95C84C7B6637}"/>
          </ac:spMkLst>
        </pc:spChg>
        <pc:spChg chg="mod">
          <ac:chgData name="髙浦祐朗" userId="d6d860fe-bc64-411b-9605-a16d1ba875f6" providerId="ADAL" clId="{A65FDE6D-D768-44DB-ADF3-5348D2950BED}" dt="2025-09-18T05:06:27.194" v="23" actId="1037"/>
          <ac:spMkLst>
            <pc:docMk/>
            <pc:sldMk cId="2136027133" sldId="946"/>
            <ac:spMk id="12" creationId="{2BED1E46-0D50-4D21-A77D-92FC258B00B7}"/>
          </ac:spMkLst>
        </pc:spChg>
        <pc:spChg chg="mod">
          <ac:chgData name="髙浦祐朗" userId="d6d860fe-bc64-411b-9605-a16d1ba875f6" providerId="ADAL" clId="{A65FDE6D-D768-44DB-ADF3-5348D2950BED}" dt="2025-09-18T05:06:27.194" v="23" actId="1037"/>
          <ac:spMkLst>
            <pc:docMk/>
            <pc:sldMk cId="2136027133" sldId="946"/>
            <ac:spMk id="13" creationId="{C37584D3-7DC1-4AF5-821B-4EB0B466578A}"/>
          </ac:spMkLst>
        </pc:spChg>
        <pc:spChg chg="mod">
          <ac:chgData name="髙浦祐朗" userId="d6d860fe-bc64-411b-9605-a16d1ba875f6" providerId="ADAL" clId="{A65FDE6D-D768-44DB-ADF3-5348D2950BED}" dt="2025-09-18T05:06:27.194" v="23" actId="1037"/>
          <ac:spMkLst>
            <pc:docMk/>
            <pc:sldMk cId="2136027133" sldId="946"/>
            <ac:spMk id="14" creationId="{5E7C7353-36D9-4E13-AE62-C6438FB175BA}"/>
          </ac:spMkLst>
        </pc:spChg>
        <pc:spChg chg="mod">
          <ac:chgData name="髙浦祐朗" userId="d6d860fe-bc64-411b-9605-a16d1ba875f6" providerId="ADAL" clId="{A65FDE6D-D768-44DB-ADF3-5348D2950BED}" dt="2025-09-18T05:10:27.774" v="113" actId="208"/>
          <ac:spMkLst>
            <pc:docMk/>
            <pc:sldMk cId="2136027133" sldId="946"/>
            <ac:spMk id="15" creationId="{9C526A88-681C-4A44-BFD9-AF76E9622DCF}"/>
          </ac:spMkLst>
        </pc:spChg>
        <pc:spChg chg="mod">
          <ac:chgData name="髙浦祐朗" userId="d6d860fe-bc64-411b-9605-a16d1ba875f6" providerId="ADAL" clId="{A65FDE6D-D768-44DB-ADF3-5348D2950BED}" dt="2025-09-18T05:11:50.305" v="124" actId="555"/>
          <ac:spMkLst>
            <pc:docMk/>
            <pc:sldMk cId="2136027133" sldId="946"/>
            <ac:spMk id="16" creationId="{5C58B4E0-435A-97E7-B757-B0DE17C1F398}"/>
          </ac:spMkLst>
        </pc:spChg>
        <pc:spChg chg="mod">
          <ac:chgData name="髙浦祐朗" userId="d6d860fe-bc64-411b-9605-a16d1ba875f6" providerId="ADAL" clId="{A65FDE6D-D768-44DB-ADF3-5348D2950BED}" dt="2025-09-18T05:11:03.806" v="118" actId="14100"/>
          <ac:spMkLst>
            <pc:docMk/>
            <pc:sldMk cId="2136027133" sldId="946"/>
            <ac:spMk id="17" creationId="{4A65D611-AB6C-7F27-69C8-9C603A0332F2}"/>
          </ac:spMkLst>
        </pc:spChg>
        <pc:spChg chg="mod">
          <ac:chgData name="髙浦祐朗" userId="d6d860fe-bc64-411b-9605-a16d1ba875f6" providerId="ADAL" clId="{A65FDE6D-D768-44DB-ADF3-5348D2950BED}" dt="2025-09-18T05:10:57.970" v="117" actId="14100"/>
          <ac:spMkLst>
            <pc:docMk/>
            <pc:sldMk cId="2136027133" sldId="946"/>
            <ac:spMk id="20" creationId="{F552483D-B47E-4672-AAB8-B1378D36B674}"/>
          </ac:spMkLst>
        </pc:spChg>
        <pc:spChg chg="mod">
          <ac:chgData name="髙浦祐朗" userId="d6d860fe-bc64-411b-9605-a16d1ba875f6" providerId="ADAL" clId="{A65FDE6D-D768-44DB-ADF3-5348D2950BED}" dt="2025-09-18T05:10:27.774" v="113" actId="208"/>
          <ac:spMkLst>
            <pc:docMk/>
            <pc:sldMk cId="2136027133" sldId="946"/>
            <ac:spMk id="21" creationId="{D288673B-1B1E-4C6E-BA69-E5F1FEDB27ED}"/>
          </ac:spMkLst>
        </pc:spChg>
        <pc:spChg chg="mod">
          <ac:chgData name="髙浦祐朗" userId="d6d860fe-bc64-411b-9605-a16d1ba875f6" providerId="ADAL" clId="{A65FDE6D-D768-44DB-ADF3-5348D2950BED}" dt="2025-09-18T05:10:27.774" v="113" actId="208"/>
          <ac:spMkLst>
            <pc:docMk/>
            <pc:sldMk cId="2136027133" sldId="946"/>
            <ac:spMk id="22" creationId="{BF31360D-FAB3-4C87-B7AB-B502DDFDA9EC}"/>
          </ac:spMkLst>
        </pc:spChg>
        <pc:spChg chg="mod">
          <ac:chgData name="髙浦祐朗" userId="d6d860fe-bc64-411b-9605-a16d1ba875f6" providerId="ADAL" clId="{A65FDE6D-D768-44DB-ADF3-5348D2950BED}" dt="2025-09-18T05:10:49.628" v="116" actId="14100"/>
          <ac:spMkLst>
            <pc:docMk/>
            <pc:sldMk cId="2136027133" sldId="946"/>
            <ac:spMk id="23" creationId="{60BE86B4-B849-422B-8758-4720CC34871C}"/>
          </ac:spMkLst>
        </pc:spChg>
        <pc:spChg chg="mod">
          <ac:chgData name="髙浦祐朗" userId="d6d860fe-bc64-411b-9605-a16d1ba875f6" providerId="ADAL" clId="{A65FDE6D-D768-44DB-ADF3-5348D2950BED}" dt="2025-09-18T05:10:27.774" v="113" actId="208"/>
          <ac:spMkLst>
            <pc:docMk/>
            <pc:sldMk cId="2136027133" sldId="946"/>
            <ac:spMk id="24" creationId="{D2FFFA7C-8485-4FB5-B3FC-30EC4188DB9D}"/>
          </ac:spMkLst>
        </pc:spChg>
        <pc:graphicFrameChg chg="mod modGraphic">
          <ac:chgData name="髙浦祐朗" userId="d6d860fe-bc64-411b-9605-a16d1ba875f6" providerId="ADAL" clId="{A65FDE6D-D768-44DB-ADF3-5348D2950BED}" dt="2025-09-18T05:08:15.856" v="74" actId="14100"/>
          <ac:graphicFrameMkLst>
            <pc:docMk/>
            <pc:sldMk cId="2136027133" sldId="946"/>
            <ac:graphicFrameMk id="10" creationId="{1B9651D0-1C8B-452E-8B2F-91E497A82D84}"/>
          </ac:graphicFrameMkLst>
        </pc:graphicFrameChg>
      </pc:sldChg>
      <pc:sldChg chg="add del">
        <pc:chgData name="髙浦祐朗" userId="d6d860fe-bc64-411b-9605-a16d1ba875f6" providerId="ADAL" clId="{A65FDE6D-D768-44DB-ADF3-5348D2950BED}" dt="2025-09-18T05:12:01.121" v="125" actId="47"/>
        <pc:sldMkLst>
          <pc:docMk/>
          <pc:sldMk cId="4152798929" sldId="948"/>
        </pc:sldMkLst>
      </pc:sldChg>
    </pc:docChg>
  </pc:docChgLst>
  <pc:docChgLst>
    <pc:chgData name="野村康二" userId="S::kouji.nomura@system-exe.jp::acaa808a-f809-4ef9-8028-a2ce14b82415" providerId="AD" clId="Web-{EF922F3C-1B63-0FBC-017C-43EC477FBDBF}"/>
    <pc:docChg chg="addSld modSld">
      <pc:chgData name="野村康二" userId="S::kouji.nomura@system-exe.jp::acaa808a-f809-4ef9-8028-a2ce14b82415" providerId="AD" clId="Web-{EF922F3C-1B63-0FBC-017C-43EC477FBDBF}" dt="2025-07-17T09:29:44.244" v="266" actId="20577"/>
      <pc:docMkLst>
        <pc:docMk/>
      </pc:docMkLst>
      <pc:sldChg chg="modSp">
        <pc:chgData name="野村康二" userId="S::kouji.nomura@system-exe.jp::acaa808a-f809-4ef9-8028-a2ce14b82415" providerId="AD" clId="Web-{EF922F3C-1B63-0FBC-017C-43EC477FBDBF}" dt="2025-07-17T08:37:32.230" v="2" actId="20577"/>
        <pc:sldMkLst>
          <pc:docMk/>
          <pc:sldMk cId="3201888243" sldId="714"/>
        </pc:sldMkLst>
      </pc:sldChg>
      <pc:sldChg chg="modSp">
        <pc:chgData name="野村康二" userId="S::kouji.nomura@system-exe.jp::acaa808a-f809-4ef9-8028-a2ce14b82415" providerId="AD" clId="Web-{EF922F3C-1B63-0FBC-017C-43EC477FBDBF}" dt="2025-07-17T09:21:26.695" v="208"/>
        <pc:sldMkLst>
          <pc:docMk/>
          <pc:sldMk cId="3560606343" sldId="766"/>
        </pc:sldMkLst>
      </pc:sldChg>
      <pc:sldChg chg="modSp">
        <pc:chgData name="野村康二" userId="S::kouji.nomura@system-exe.jp::acaa808a-f809-4ef9-8028-a2ce14b82415" providerId="AD" clId="Web-{EF922F3C-1B63-0FBC-017C-43EC477FBDBF}" dt="2025-07-17T09:29:44.244" v="266" actId="20577"/>
        <pc:sldMkLst>
          <pc:docMk/>
          <pc:sldMk cId="2410374903" sldId="767"/>
        </pc:sldMkLst>
      </pc:sldChg>
      <pc:sldChg chg="delSp modSp">
        <pc:chgData name="野村康二" userId="S::kouji.nomura@system-exe.jp::acaa808a-f809-4ef9-8028-a2ce14b82415" providerId="AD" clId="Web-{EF922F3C-1B63-0FBC-017C-43EC477FBDBF}" dt="2025-07-17T09:19:55.629" v="168"/>
        <pc:sldMkLst>
          <pc:docMk/>
          <pc:sldMk cId="2453405637" sldId="923"/>
        </pc:sldMkLst>
      </pc:sldChg>
      <pc:sldChg chg="modSp">
        <pc:chgData name="野村康二" userId="S::kouji.nomura@system-exe.jp::acaa808a-f809-4ef9-8028-a2ce14b82415" providerId="AD" clId="Web-{EF922F3C-1B63-0FBC-017C-43EC477FBDBF}" dt="2025-07-17T09:21:37.461" v="209" actId="20577"/>
        <pc:sldMkLst>
          <pc:docMk/>
          <pc:sldMk cId="1851614100" sldId="930"/>
        </pc:sldMkLst>
      </pc:sldChg>
      <pc:sldChg chg="addSp delSp modSp">
        <pc:chgData name="野村康二" userId="S::kouji.nomura@system-exe.jp::acaa808a-f809-4ef9-8028-a2ce14b82415" providerId="AD" clId="Web-{EF922F3C-1B63-0FBC-017C-43EC477FBDBF}" dt="2025-07-17T09:28:51.774" v="263" actId="20577"/>
        <pc:sldMkLst>
          <pc:docMk/>
          <pc:sldMk cId="3261265475" sldId="932"/>
        </pc:sldMkLst>
      </pc:sldChg>
      <pc:sldChg chg="add replId">
        <pc:chgData name="野村康二" userId="S::kouji.nomura@system-exe.jp::acaa808a-f809-4ef9-8028-a2ce14b82415" providerId="AD" clId="Web-{EF922F3C-1B63-0FBC-017C-43EC477FBDBF}" dt="2025-07-17T09:14:57.524" v="15"/>
        <pc:sldMkLst>
          <pc:docMk/>
          <pc:sldMk cId="4014796018" sldId="944"/>
        </pc:sldMkLst>
      </pc:sldChg>
    </pc:docChg>
  </pc:docChgLst>
  <pc:docChgLst>
    <pc:chgData name="野村康二" userId="S::kouji.nomura@system-exe.jp::acaa808a-f809-4ef9-8028-a2ce14b82415" providerId="AD" clId="Web-{5BA379A2-EC4B-AC88-A0BA-E1AF88670C29}"/>
    <pc:docChg chg="modSld">
      <pc:chgData name="野村康二" userId="S::kouji.nomura@system-exe.jp::acaa808a-f809-4ef9-8028-a2ce14b82415" providerId="AD" clId="Web-{5BA379A2-EC4B-AC88-A0BA-E1AF88670C29}" dt="2025-09-18T07:11:42.031" v="3"/>
      <pc:docMkLst>
        <pc:docMk/>
      </pc:docMkLst>
      <pc:sldChg chg="modSp">
        <pc:chgData name="野村康二" userId="S::kouji.nomura@system-exe.jp::acaa808a-f809-4ef9-8028-a2ce14b82415" providerId="AD" clId="Web-{5BA379A2-EC4B-AC88-A0BA-E1AF88670C29}" dt="2025-09-18T07:11:42.031" v="3"/>
        <pc:sldMkLst>
          <pc:docMk/>
          <pc:sldMk cId="2453405637" sldId="923"/>
        </pc:sldMkLst>
        <pc:graphicFrameChg chg="mod modGraphic">
          <ac:chgData name="野村康二" userId="S::kouji.nomura@system-exe.jp::acaa808a-f809-4ef9-8028-a2ce14b82415" providerId="AD" clId="Web-{5BA379A2-EC4B-AC88-A0BA-E1AF88670C29}" dt="2025-09-18T07:11:42.031" v="3"/>
          <ac:graphicFrameMkLst>
            <pc:docMk/>
            <pc:sldMk cId="2453405637" sldId="923"/>
            <ac:graphicFrameMk id="9" creationId="{BBA8B256-12B2-6E8C-50F9-31564ECC0266}"/>
          </ac:graphicFrameMkLst>
        </pc:graphicFrameChg>
      </pc:sldChg>
    </pc:docChg>
  </pc:docChgLst>
  <pc:docChgLst>
    <pc:chgData name="髙浦祐朗" userId="d6d860fe-bc64-411b-9605-a16d1ba875f6" providerId="ADAL" clId="{0B7ACC95-9E3A-410C-A9A9-87F94D8A1F7B}"/>
    <pc:docChg chg="undo custSel modSld sldOrd">
      <pc:chgData name="髙浦祐朗" userId="d6d860fe-bc64-411b-9605-a16d1ba875f6" providerId="ADAL" clId="{0B7ACC95-9E3A-410C-A9A9-87F94D8A1F7B}" dt="2025-07-22T05:34:50.052" v="428" actId="20577"/>
      <pc:docMkLst>
        <pc:docMk/>
      </pc:docMkLst>
      <pc:sldChg chg="modSp mod">
        <pc:chgData name="髙浦祐朗" userId="d6d860fe-bc64-411b-9605-a16d1ba875f6" providerId="ADAL" clId="{0B7ACC95-9E3A-410C-A9A9-87F94D8A1F7B}" dt="2025-07-22T05:34:50.052" v="428" actId="20577"/>
        <pc:sldMkLst>
          <pc:docMk/>
          <pc:sldMk cId="3201888243" sldId="714"/>
        </pc:sldMkLst>
      </pc:sldChg>
      <pc:sldChg chg="modSp mod">
        <pc:chgData name="髙浦祐朗" userId="d6d860fe-bc64-411b-9605-a16d1ba875f6" providerId="ADAL" clId="{0B7ACC95-9E3A-410C-A9A9-87F94D8A1F7B}" dt="2025-07-22T05:33:55.519" v="424" actId="207"/>
        <pc:sldMkLst>
          <pc:docMk/>
          <pc:sldMk cId="2410374903" sldId="767"/>
        </pc:sldMkLst>
      </pc:sldChg>
      <pc:sldChg chg="modSp mod">
        <pc:chgData name="髙浦祐朗" userId="d6d860fe-bc64-411b-9605-a16d1ba875f6" providerId="ADAL" clId="{0B7ACC95-9E3A-410C-A9A9-87F94D8A1F7B}" dt="2025-07-17T09:55:13.459" v="264" actId="20577"/>
        <pc:sldMkLst>
          <pc:docMk/>
          <pc:sldMk cId="2453405637" sldId="923"/>
        </pc:sldMkLst>
      </pc:sldChg>
      <pc:sldChg chg="modSp mod">
        <pc:chgData name="髙浦祐朗" userId="d6d860fe-bc64-411b-9605-a16d1ba875f6" providerId="ADAL" clId="{0B7ACC95-9E3A-410C-A9A9-87F94D8A1F7B}" dt="2025-07-17T09:57:15.025" v="309"/>
        <pc:sldMkLst>
          <pc:docMk/>
          <pc:sldMk cId="1851614100" sldId="930"/>
        </pc:sldMkLst>
      </pc:sldChg>
      <pc:sldChg chg="modSp mod">
        <pc:chgData name="髙浦祐朗" userId="d6d860fe-bc64-411b-9605-a16d1ba875f6" providerId="ADAL" clId="{0B7ACC95-9E3A-410C-A9A9-87F94D8A1F7B}" dt="2025-07-22T05:31:15.744" v="352" actId="404"/>
        <pc:sldMkLst>
          <pc:docMk/>
          <pc:sldMk cId="3261265475" sldId="932"/>
        </pc:sldMkLst>
      </pc:sldChg>
      <pc:sldChg chg="addSp modSp mod ord modShow">
        <pc:chgData name="髙浦祐朗" userId="d6d860fe-bc64-411b-9605-a16d1ba875f6" providerId="ADAL" clId="{0B7ACC95-9E3A-410C-A9A9-87F94D8A1F7B}" dt="2025-07-17T09:55:59.207" v="271" actId="729"/>
        <pc:sldMkLst>
          <pc:docMk/>
          <pc:sldMk cId="4014796018" sldId="9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2025/9/18</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2025/9/18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1009656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13</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4400" dirty="0">
                <a:latin typeface="游明朝"/>
                <a:ea typeface="游明朝"/>
              </a:rPr>
              <a:t>概算お見積もり</a:t>
            </a:r>
            <a:r>
              <a:rPr kumimoji="1" lang="en-US" altLang="ja-JP" sz="2800" dirty="0">
                <a:latin typeface="游明朝"/>
                <a:ea typeface="游明朝"/>
              </a:rPr>
              <a:t>(</a:t>
            </a:r>
            <a:r>
              <a:rPr kumimoji="1" lang="ja-JP" altLang="en-US" sz="2800" dirty="0">
                <a:latin typeface="游明朝"/>
                <a:ea typeface="游明朝"/>
              </a:rPr>
              <a:t>第</a:t>
            </a:r>
            <a:r>
              <a:rPr lang="ja-JP" altLang="en-US" sz="2800" dirty="0">
                <a:latin typeface="游明朝"/>
                <a:ea typeface="游明朝"/>
              </a:rPr>
              <a:t>4</a:t>
            </a:r>
            <a:r>
              <a:rPr lang="en-US" altLang="ja-JP" sz="2800" dirty="0">
                <a:latin typeface="游明朝"/>
                <a:ea typeface="游明朝"/>
              </a:rPr>
              <a:t>.1</a:t>
            </a:r>
            <a:r>
              <a:rPr kumimoji="1" lang="ja-JP" altLang="en-US" sz="2800" dirty="0">
                <a:latin typeface="游明朝"/>
                <a:ea typeface="游明朝"/>
              </a:rPr>
              <a:t>版）</a:t>
            </a:r>
            <a:endParaRPr kumimoji="1" lang="ja-JP" altLang="en-US" sz="4400" dirty="0">
              <a:latin typeface="游明朝"/>
              <a:ea typeface="游明朝"/>
            </a:endParaRPr>
          </a:p>
        </p:txBody>
      </p:sp>
      <p:sp>
        <p:nvSpPr>
          <p:cNvPr id="4" name="サブタイトル 3"/>
          <p:cNvSpPr>
            <a:spLocks noGrp="1"/>
          </p:cNvSpPr>
          <p:nvPr>
            <p:ph type="subTitle" idx="1"/>
          </p:nvPr>
        </p:nvSpPr>
        <p:spPr>
          <a:xfrm>
            <a:off x="575999" y="2303365"/>
            <a:ext cx="9634800" cy="1392635"/>
          </a:xfrm>
        </p:spPr>
        <p:txBody>
          <a:bodyPr>
            <a:normAutofit/>
          </a:bodyPr>
          <a:lstStyle/>
          <a:p>
            <a:r>
              <a:rPr lang="ja-JP" altLang="en-US" sz="4000"/>
              <a:t>事務管理システム</a:t>
            </a:r>
            <a:r>
              <a:rPr kumimoji="1" lang="ja-JP" altLang="en-US" sz="4000"/>
              <a:t> 縮小版共通基盤移行</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dirty="0"/>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2025/9/18</a:t>
            </a:r>
            <a:endParaRPr lang="ja-JP" altLang="en-US" dirty="0"/>
          </a:p>
        </p:txBody>
      </p:sp>
      <p:sp>
        <p:nvSpPr>
          <p:cNvPr id="6" name="テキスト ボックス 5">
            <a:extLst>
              <a:ext uri="{FF2B5EF4-FFF2-40B4-BE49-F238E27FC236}">
                <a16:creationId xmlns:a16="http://schemas.microsoft.com/office/drawing/2014/main" id="{CBC1ADB9-7AAD-E69D-7BF3-10F54CD24F39}"/>
              </a:ext>
            </a:extLst>
          </p:cNvPr>
          <p:cNvSpPr txBox="1"/>
          <p:nvPr/>
        </p:nvSpPr>
        <p:spPr>
          <a:xfrm>
            <a:off x="8312893" y="371224"/>
            <a:ext cx="3783106" cy="307777"/>
          </a:xfrm>
          <a:prstGeom prst="rect">
            <a:avLst/>
          </a:prstGeom>
          <a:noFill/>
        </p:spPr>
        <p:txBody>
          <a:bodyPr wrap="square">
            <a:spAutoFit/>
          </a:bodyPr>
          <a:lstStyle/>
          <a:p>
            <a:pPr algn="r"/>
            <a:r>
              <a:rPr lang="ja-JP" altLang="en-US" sz="1400" dirty="0">
                <a:solidFill>
                  <a:schemeClr val="bg1"/>
                </a:solidFill>
                <a:latin typeface="游明朝" panose="02020400000000000000" pitchFamily="18" charset="-128"/>
                <a:ea typeface="游明朝" panose="02020400000000000000" pitchFamily="18" charset="-128"/>
              </a:rPr>
              <a:t>見積番号：</a:t>
            </a:r>
            <a:r>
              <a:rPr lang="en-US" altLang="ja-JP" sz="1400" dirty="0">
                <a:solidFill>
                  <a:schemeClr val="bg1"/>
                </a:solidFill>
                <a:latin typeface="游明朝" panose="02020400000000000000" pitchFamily="18" charset="-128"/>
                <a:ea typeface="游明朝" panose="02020400000000000000" pitchFamily="18" charset="-128"/>
              </a:rPr>
              <a:t>ES2025070212</a:t>
            </a:r>
            <a:endParaRPr lang="ja-JP" altLang="en-US" sz="1400" dirty="0">
              <a:solidFill>
                <a:schemeClr val="bg1"/>
              </a:solidFill>
              <a:latin typeface="游明朝" panose="02020400000000000000" pitchFamily="18" charset="-128"/>
              <a:ea typeface="游明朝" panose="02020400000000000000" pitchFamily="18" charset="-128"/>
            </a:endParaRPr>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「事務管理システム」は、館林データセンター内の共通基盤上に構築されており</a:t>
            </a:r>
            <a:r>
              <a:rPr lang="en-US" altLang="ja-JP">
                <a:solidFill>
                  <a:srgbClr val="000000"/>
                </a:solidFill>
              </a:rPr>
              <a:t>2026</a:t>
            </a:r>
            <a:r>
              <a:rPr lang="ja-JP" altLang="en-US">
                <a:solidFill>
                  <a:srgbClr val="000000"/>
                </a:solidFill>
              </a:rPr>
              <a:t>年</a:t>
            </a:r>
            <a:r>
              <a:rPr lang="en-US" altLang="ja-JP">
                <a:solidFill>
                  <a:srgbClr val="000000"/>
                </a:solidFill>
              </a:rPr>
              <a:t>3</a:t>
            </a:r>
            <a:r>
              <a:rPr lang="ja-JP" altLang="en-US">
                <a:solidFill>
                  <a:srgbClr val="000000"/>
                </a:solidFill>
              </a:rPr>
              <a:t>月までに</a:t>
            </a:r>
            <a:r>
              <a:rPr lang="en-US" altLang="ja-JP">
                <a:solidFill>
                  <a:srgbClr val="000000"/>
                </a:solidFill>
              </a:rPr>
              <a:t>Azure</a:t>
            </a:r>
            <a:r>
              <a:rPr lang="ja-JP" altLang="en-US">
                <a:solidFill>
                  <a:srgbClr val="000000"/>
                </a:solidFill>
              </a:rPr>
              <a:t>環境の縮小共通基盤へ移行が必要となっている。</a:t>
            </a:r>
            <a:br>
              <a:rPr lang="ja-JP" altLang="en-US">
                <a:solidFill>
                  <a:srgbClr val="000000"/>
                </a:solidFill>
              </a:rPr>
            </a:br>
            <a:r>
              <a:rPr lang="ja-JP" altLang="en-US">
                <a:solidFill>
                  <a:srgbClr val="000000"/>
                </a:solidFill>
              </a:rPr>
              <a:t>そのため、事務管理システムを縮小共通基盤へ移行し、今後も継続してシステムの利用が行えるように　</a:t>
            </a:r>
            <a:br>
              <a:rPr lang="ja-JP" altLang="en-US">
                <a:solidFill>
                  <a:srgbClr val="000000"/>
                </a:solidFill>
              </a:rPr>
            </a:br>
            <a:r>
              <a:rPr lang="ja-JP" altLang="en-US">
                <a:solidFill>
                  <a:srgbClr val="000000"/>
                </a:solidFill>
              </a:rPr>
              <a:t>する。</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① 縮小版共通基盤へのシステム資産移行</a:t>
            </a:r>
            <a:br>
              <a:rPr lang="en-US" altLang="ja-JP">
                <a:solidFill>
                  <a:srgbClr val="000000"/>
                </a:solidFill>
                <a:latin typeface="游ゴシック" panose="020B0400000000000000" pitchFamily="50" charset="-128"/>
                <a:ea typeface="游ゴシック" panose="020B0400000000000000" pitchFamily="50" charset="-128"/>
              </a:rPr>
            </a:br>
            <a:r>
              <a:rPr lang="en-US" altLang="ja-JP">
                <a:solidFill>
                  <a:srgbClr val="000000"/>
                </a:solidFill>
                <a:latin typeface="游ゴシック" panose="020B0400000000000000" pitchFamily="50" charset="-128"/>
                <a:ea typeface="游ゴシック" panose="020B0400000000000000" pitchFamily="50" charset="-128"/>
              </a:rPr>
              <a:t>     </a:t>
            </a:r>
            <a:r>
              <a:rPr lang="ja-JP" altLang="en-US" b="1">
                <a:solidFill>
                  <a:srgbClr val="000000"/>
                </a:solidFill>
              </a:rPr>
              <a:t>・縮小版共通基盤への事務管理システム資産移行及びアプリケーション構築、動作検証の実施</a:t>
            </a:r>
            <a:endParaRPr lang="en-US" altLang="ja-JP" b="1">
              <a:solidFill>
                <a:srgbClr val="000000"/>
              </a:solidFill>
              <a:latin typeface="游ゴシック" panose="020B0400000000000000" pitchFamily="50" charset="-128"/>
              <a:ea typeface="游ゴシック" panose="020B0400000000000000" pitchFamily="50" charset="-128"/>
            </a:endParaRPr>
          </a:p>
          <a:p>
            <a:endParaRPr lang="en-US" altLang="ja-JP">
              <a:solidFill>
                <a:srgbClr val="000000"/>
              </a:solidFill>
              <a:latin typeface="游ゴシック" panose="020B0400000000000000" pitchFamily="50" charset="-128"/>
              <a:ea typeface="游ゴシック" panose="020B0400000000000000" pitchFamily="50" charset="-128"/>
            </a:endParaRPr>
          </a:p>
          <a:p>
            <a:r>
              <a:rPr lang="ja-JP" altLang="en-US">
                <a:solidFill>
                  <a:srgbClr val="000000"/>
                </a:solidFill>
                <a:latin typeface="游ゴシック"/>
                <a:ea typeface="游ゴシック"/>
              </a:rPr>
              <a:t>② その他共通基盤の環境移行に際する支援</a:t>
            </a:r>
            <a:endParaRPr lang="ja-JP" altLang="en-US" b="1">
              <a:solidFill>
                <a:srgbClr val="323232"/>
              </a:solidFill>
              <a:latin typeface="游ゴシック"/>
              <a:ea typeface="游ゴシック"/>
            </a:endParaRPr>
          </a:p>
          <a:p>
            <a:r>
              <a:rPr lang="en-US" altLang="ja-JP">
                <a:solidFill>
                  <a:srgbClr val="000000"/>
                </a:solidFill>
                <a:latin typeface="游ゴシック"/>
                <a:ea typeface="游ゴシック"/>
              </a:rPr>
              <a:t>      </a:t>
            </a:r>
            <a:r>
              <a:rPr lang="ja-JP" altLang="en-US" b="1">
                <a:solidFill>
                  <a:srgbClr val="000000"/>
                </a:solidFill>
                <a:latin typeface="游ゴシック"/>
                <a:ea typeface="游ゴシック"/>
              </a:rPr>
              <a:t>・環境移行する基盤（</a:t>
            </a:r>
            <a:r>
              <a:rPr lang="en-US" altLang="ja-JP" b="1">
                <a:solidFill>
                  <a:srgbClr val="000000"/>
                </a:solidFill>
                <a:latin typeface="游ゴシック"/>
                <a:ea typeface="游ゴシック"/>
              </a:rPr>
              <a:t>EDI</a:t>
            </a:r>
            <a:r>
              <a:rPr lang="ja-JP" altLang="en-US" b="1">
                <a:solidFill>
                  <a:srgbClr val="000000"/>
                </a:solidFill>
                <a:latin typeface="游ゴシック"/>
                <a:ea typeface="游ゴシック"/>
              </a:rPr>
              <a:t>基盤、連携基盤</a:t>
            </a:r>
            <a:r>
              <a:rPr lang="en-US" altLang="ja-JP" b="1">
                <a:solidFill>
                  <a:srgbClr val="000000"/>
                </a:solidFill>
                <a:latin typeface="游ゴシック"/>
                <a:ea typeface="游ゴシック"/>
              </a:rPr>
              <a:t>S/L</a:t>
            </a:r>
            <a:r>
              <a:rPr lang="ja-JP" altLang="en-US" b="1">
                <a:solidFill>
                  <a:srgbClr val="000000"/>
                </a:solidFill>
                <a:latin typeface="游ゴシック"/>
                <a:ea typeface="游ゴシック"/>
              </a:rPr>
              <a:t>）において、</a:t>
            </a:r>
            <a:br>
              <a:rPr lang="en-US" altLang="ja-JP" b="1">
                <a:solidFill>
                  <a:srgbClr val="000000"/>
                </a:solidFill>
              </a:rPr>
            </a:br>
            <a:r>
              <a:rPr lang="en-US" altLang="ja-JP" b="1">
                <a:solidFill>
                  <a:srgbClr val="000000"/>
                </a:solidFill>
                <a:latin typeface="游ゴシック"/>
                <a:ea typeface="游ゴシック"/>
              </a:rPr>
              <a:t>         </a:t>
            </a:r>
            <a:r>
              <a:rPr lang="ja-JP" altLang="en-US" b="1">
                <a:solidFill>
                  <a:srgbClr val="000000"/>
                </a:solidFill>
                <a:latin typeface="游ゴシック"/>
                <a:ea typeface="游ゴシック"/>
              </a:rPr>
              <a:t>事務管理システムで接続先変更や動作確認等の実施</a:t>
            </a:r>
            <a:endParaRPr lang="ja-JP" altLang="en-US" b="1">
              <a:latin typeface="游ゴシック"/>
              <a:ea typeface="游ゴシック"/>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7D0C-9DB0-EA29-5684-E9F5A78C2A05}"/>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EEACD9F8-4403-3BEF-6954-42C71EBC338A}"/>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65EEC4D3-5ABA-8139-B7F4-9DB68620C1A2}"/>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5B82FC32-D68A-3236-D268-A85D755F64B7}"/>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DEDC5834-EAA7-1292-764C-A47320550921}"/>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F1911D82-63D1-5B94-4A16-4786F4B50369}"/>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4740E88C-9DC4-7367-DF6A-773C5BD21DB0}"/>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3231D27E-A026-1FD5-94FB-5CEE341E235E}"/>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196F2F00-841B-34AA-13CF-B6E3B9CC26D9}"/>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261BFEC0-D8E2-B065-7AAB-65CD21F8A642}"/>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00000000-0008-0000-0400-000040000000}"/>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C4942FBE-2E11-EB51-381B-B921D13CB357}"/>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76" name="正方形/長方形 75">
            <a:extLst>
              <a:ext uri="{FF2B5EF4-FFF2-40B4-BE49-F238E27FC236}">
                <a16:creationId xmlns:a16="http://schemas.microsoft.com/office/drawing/2014/main" id="{4A49F36D-44D1-3E34-746D-367EE96A992C}"/>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57" name="正方形/長方形 56">
            <a:extLst>
              <a:ext uri="{FF2B5EF4-FFF2-40B4-BE49-F238E27FC236}">
                <a16:creationId xmlns:a16="http://schemas.microsoft.com/office/drawing/2014/main" id="{C42A30AC-F464-3465-7EEC-3BE990ED9A1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FB09025F-D1C4-75D4-7A31-B8E8F5692DF9}"/>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AsIs</a:t>
            </a:r>
            <a:r>
              <a:rPr lang="ja-JP" altLang="en-US">
                <a:latin typeface="游明朝"/>
                <a:ea typeface="游明朝"/>
              </a:rPr>
              <a:t>）</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00000000-0008-0000-0400-000043000000}"/>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00000000-0008-0000-0400-000042000000}"/>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00000000-0008-0000-0400-000045000000}"/>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00000000-0008-0000-0400-000053000000}"/>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00000000-0008-0000-0400-0000A800000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00000000-0008-0000-0400-0000CA000000}"/>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00000000-0008-0000-0400-0000DC000000}"/>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00000000-0008-0000-0400-0000E3000000}"/>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00000000-0008-0000-0400-000073000000}"/>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00000000-0008-0000-0400-000074000000}"/>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00000000-0008-0000-0400-000075000000}"/>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0000000-0008-0000-0400-00005C000000}"/>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00000000-0008-0000-0400-0000C8000000}"/>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00000000-0008-0000-0400-000002010000}"/>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00000000-0008-0000-0400-00001C010000}"/>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00000000-0008-0000-0400-000021010000}"/>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00000000-0008-0000-0400-000023010000}"/>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00000000-0008-0000-0400-00002D010000}"/>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00000000-0008-0000-0400-000036010000}"/>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00000000-0008-0000-0400-000038010000}"/>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00000000-0008-0000-0400-000042010000}"/>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21727DB8-A3FA-3F0F-1020-9EACC9769ED5}"/>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C41A6068-AE61-B041-EE01-83996F90C69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E2CF0360-5F16-DC44-EB22-68418B2E92A1}"/>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DFD204EB-C327-EEC5-173B-CEC93CEDC56E}"/>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2C9F2522-E1DD-4F91-26A6-11A171F023D6}"/>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7C523CE0-C983-440C-0B4E-F46242A877C3}"/>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66FA5A9C-99AC-E63F-6F60-07285679CC80}"/>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B8054E75-C5A2-66BC-BC9B-B45441451F1E}"/>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880536AC-B90E-A72E-D633-72F3D40011CB}"/>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D1D3F185-B5F4-089C-8A96-92C4F1990D4B}"/>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DCC182B0-C80F-6B32-266E-F9CCB20F34F4}"/>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8BC5F57-8C60-FDCE-65E5-D7F92374CC3C}"/>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172D4096-A9A9-9A0C-573F-14BE11605C1C}"/>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B70AEDE1-EFE5-B811-33C7-5DB1B3E86257}"/>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C57FEFA1-5D65-A4A9-0794-49DF021D5DA8}"/>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1820E758-1A7D-BD9F-3D94-08FDD4AD4DC8}"/>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19845CF7-AB7C-3ADD-021F-983E880795F6}"/>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3A5F1ED6-94AB-8779-9398-EFCEB3D8B1E8}"/>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EE9500F4-76B8-1DA7-691D-174E5DB5E880}"/>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8B1DEBF3-25EA-9EF8-A09C-A40FD36043E9}"/>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CD828C45-12FA-08AE-B9D9-25F5D5A64BA7}"/>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2F1041EE-FEDB-7DC3-96D0-AB77BD642C00}"/>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9CBBA942-A483-3DA5-DDD5-D11F1BC055AA}"/>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416314E3-AC2A-BBEC-03F2-7FCAAA890611}"/>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F1D3E336-D7EC-1A64-A7AE-8E66C7291CC2}"/>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07449EE4-5DA4-709A-D528-BF8E42E1D394}"/>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E09779EC-214A-CB78-B584-3CC46817B91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BEB57239-E5A9-A34C-3BDA-4ECBBEB0804F}"/>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064313D8-8FF1-B72E-FF73-794C382A46F1}"/>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3</a:t>
            </a:fld>
            <a:endParaRPr lang="en-US"/>
          </a:p>
        </p:txBody>
      </p:sp>
      <p:sp>
        <p:nvSpPr>
          <p:cNvPr id="5" name="Footer Placeholder 4">
            <a:extLst>
              <a:ext uri="{FF2B5EF4-FFF2-40B4-BE49-F238E27FC236}">
                <a16:creationId xmlns:a16="http://schemas.microsoft.com/office/drawing/2014/main" id="{E145A3F1-565D-70C9-1AD0-4F320265569E}"/>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8076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D3A52-094D-FE3D-8BA1-D8645F4D47D2}"/>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FC3DB460-5D28-166F-7598-FAE89E35AEE8}"/>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p>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881F1941-19DD-C841-3169-4D8A252E8E28}"/>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A41C8973-BE87-F7FB-8DF4-BEE020AFE01E}"/>
              </a:ext>
            </a:extLst>
          </p:cNvPr>
          <p:cNvSpPr/>
          <p:nvPr/>
        </p:nvSpPr>
        <p:spPr>
          <a:xfrm>
            <a:off x="576000" y="766598"/>
            <a:ext cx="6539754" cy="5675373"/>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0EB90589-B217-C334-4EB0-E27EE28368AC}"/>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25003C85-4DE1-107B-1F33-7A512F64103C}"/>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2C4FB786-0607-69C9-79DB-B296BB7CA974}"/>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6BDE5A0E-20F7-0326-B80C-189081772E7A}"/>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8D266223-59C8-99C2-E553-F97DD94F41EE}"/>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90032C1D-3DA7-C30F-E835-BF0F226E45BA}"/>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A2686772-8969-ED77-BF4C-FEABD6A64ADC}"/>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B8672B75-50F4-E37A-0F15-8F912845EEDE}"/>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76" name="正方形/長方形 75">
            <a:extLst>
              <a:ext uri="{FF2B5EF4-FFF2-40B4-BE49-F238E27FC236}">
                <a16:creationId xmlns:a16="http://schemas.microsoft.com/office/drawing/2014/main" id="{BFA0DBA2-CCA6-6710-9987-F5571F14E282}"/>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endParaRPr>
          </a:p>
        </p:txBody>
      </p:sp>
      <p:sp>
        <p:nvSpPr>
          <p:cNvPr id="57" name="正方形/長方形 56">
            <a:extLst>
              <a:ext uri="{FF2B5EF4-FFF2-40B4-BE49-F238E27FC236}">
                <a16:creationId xmlns:a16="http://schemas.microsoft.com/office/drawing/2014/main" id="{31496F90-A682-DE61-A21F-C4458D9B96B9}"/>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A9F3D6B9-88B0-070E-659F-1D2D4837B408}"/>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ToBe</a:t>
            </a:r>
            <a:r>
              <a:rPr lang="ja-JP" altLang="en-US">
                <a:latin typeface="游明朝"/>
                <a:ea typeface="游明朝"/>
              </a:rPr>
              <a:t>）① 縮小版共通基盤へのシステム資産移行</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157C4639-A738-48E8-25B5-E1BB82FD79FE}"/>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2223F7E8-13C7-0008-923D-450BD33F1685}"/>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E866F57D-36C3-0BEC-3BF6-35429B26B5D9}"/>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4135CA59-9F7F-A786-A014-CA4F0DF0A735}"/>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52DB5FA6-41CC-07C3-C0CC-745F457FDD9A}"/>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E6A6C17F-E364-762F-CC1D-E77EEE24D60F}"/>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FA4A7105-1224-C421-C69C-ED5C7F13CA90}"/>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FB22FBEA-DBEB-2FCC-56C7-86F55261E3CA}"/>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F2CF033F-A42C-5772-9556-14D53542CF9C}"/>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A34EBF8F-14A2-1D45-28CD-BDAFB594005D}"/>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7977589C-12F5-C695-678F-AC0956BD647B}"/>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FC2DB01A-BCE8-3251-8B70-ABCF9257CB08}"/>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80C4C37F-7BD0-C3E2-A33F-43FFB263AF35}"/>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994AD9EA-825E-C00B-DAB1-04C1803D4BA1}"/>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DA0D6641-AE8C-CA4F-1CBD-FDB916170FC1}"/>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1BF6BBDF-F1A7-EC02-188D-765A9F51FA24}"/>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FBD029B7-7311-748A-1A56-E93892292DFB}"/>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B7F7F86D-F1A7-F11D-13D3-8B1A935F44E3}"/>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81811B63-4E9E-FE5F-9645-711D0FE28917}"/>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5048FED6-E196-1460-7D43-A3666F0602FC}"/>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1E7B31D5-B2C7-8682-F4E4-90D48BB19D66}"/>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DBDA527A-414E-FD9F-558D-FB4C61634834}"/>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CF595A46-5955-E32E-BD67-EE0440508864}"/>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CD34E653-6D1B-FE73-B914-204E064C526A}"/>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BDD163B7-7942-A41F-4244-E7FD073A837D}"/>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73417E2F-EA03-6196-B2D6-3EE844D14B30}"/>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9D758568-0AA9-3A8D-8C75-3D10E1484AA3}"/>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727E1A83-059F-13AD-5273-112B4D76C224}"/>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D1905716-D839-868A-C547-5AC247223DE8}"/>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AFB7B05A-7A18-D332-B5E8-EC317C748D8A}"/>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EFA812D8-1B85-3D3E-122B-890E36C80A81}"/>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0294AB0F-F49D-A1D7-72CE-2B7BA34C4EEB}"/>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13F8CE24-D80C-657A-C175-E6079C26D2DE}"/>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5340B75D-2EB8-0F58-1760-31DD88543935}"/>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425E4680-C720-CB6D-5865-98194D57D043}"/>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85AE6818-DAA9-CC17-C530-F123F3894559}"/>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90A1FBD8-046A-4A97-E2F4-622402EFCCF9}"/>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4E1DEC30-6EC8-3160-CACA-4950419416D0}"/>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F876156A-EAAE-806B-A0ED-A25D0DA67280}"/>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28D1B67D-BDA3-ABF2-2345-A533744E0805}"/>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6FB76ABC-46AB-11BF-07A2-F20D65A66964}"/>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CF92C5DB-18C3-2279-3732-087AB6637F8D}"/>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52E3F395-E447-4EFF-1A18-7E4DAFFE845A}"/>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1F0EE1E7-16D0-7BFB-DF5F-48004906949E}"/>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C105F1F8-99D5-CAE0-EAAA-B474FE701EA9}"/>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070D5E6D-6BA8-B178-774A-024765C49530}"/>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B96D51AF-36F9-ACDA-E16D-3B458E5DF6A4}"/>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6E8D48E1-8160-69E5-7B74-BF23F29F15F6}"/>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046699B0-6598-B83A-BED1-A1E350160391}"/>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B08B9112-F3DF-6E9D-0A7A-DE1CDDA5E5F7}"/>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lang="en-US"/>
          </a:p>
        </p:txBody>
      </p:sp>
      <p:sp>
        <p:nvSpPr>
          <p:cNvPr id="5" name="Footer Placeholder 4">
            <a:extLst>
              <a:ext uri="{FF2B5EF4-FFF2-40B4-BE49-F238E27FC236}">
                <a16:creationId xmlns:a16="http://schemas.microsoft.com/office/drawing/2014/main" id="{7D3E81CE-3F82-4CD8-5CA6-80995A4D3EC7}"/>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525159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7932-253F-5203-F0E7-C66058B3CA65}"/>
            </a:ext>
          </a:extLst>
        </p:cNvPr>
        <p:cNvGrpSpPr/>
        <p:nvPr/>
      </p:nvGrpSpPr>
      <p:grpSpPr>
        <a:xfrm>
          <a:off x="0" y="0"/>
          <a:ext cx="0" cy="0"/>
          <a:chOff x="0" y="0"/>
          <a:chExt cx="0" cy="0"/>
        </a:xfrm>
      </p:grpSpPr>
      <p:sp>
        <p:nvSpPr>
          <p:cNvPr id="76" name="正方形/長方形 75">
            <a:extLst>
              <a:ext uri="{FF2B5EF4-FFF2-40B4-BE49-F238E27FC236}">
                <a16:creationId xmlns:a16="http://schemas.microsoft.com/office/drawing/2014/main" id="{83192845-2E3B-B195-123F-A9F99A512C32}"/>
              </a:ext>
            </a:extLst>
          </p:cNvPr>
          <p:cNvSpPr/>
          <p:nvPr/>
        </p:nvSpPr>
        <p:spPr>
          <a:xfrm>
            <a:off x="7109614" y="766597"/>
            <a:ext cx="4456614" cy="4564125"/>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F6D74D77-6F8B-8EC2-A124-009BFA951686}"/>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D304EEF0-F7FC-A48B-70CB-7F3065D9E091}"/>
              </a:ext>
            </a:extLst>
          </p:cNvPr>
          <p:cNvSpPr/>
          <p:nvPr/>
        </p:nvSpPr>
        <p:spPr>
          <a:xfrm>
            <a:off x="576000" y="766598"/>
            <a:ext cx="6539754" cy="5675373"/>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FBA2C46B-D1CD-4542-3AF1-24E7E5011A16}"/>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EDA943F8-99BD-43D6-29FD-455DB5F01D3F}"/>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EF4072FF-102F-F7E3-A4EC-BEE3C901041B}"/>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D8BC6BEB-FCC7-E234-EA3F-0201771013D8}"/>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C8D96522-CA5D-48A2-CED4-25C4385EE2E2}"/>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0C423093-299E-8ADD-5C38-EAEC773110C5}"/>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4E1D74E8-3320-0D90-F9D6-1A147D66F052}"/>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A4400B3C-340E-9C1F-CFF0-40EAE5513685}"/>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57" name="正方形/長方形 56">
            <a:extLst>
              <a:ext uri="{FF2B5EF4-FFF2-40B4-BE49-F238E27FC236}">
                <a16:creationId xmlns:a16="http://schemas.microsoft.com/office/drawing/2014/main" id="{75A2E4FD-1991-58B3-0AFA-42124F8E4E8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71F486B9-888B-23E5-C188-0D6A627BD0A8}"/>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ToBe</a:t>
            </a:r>
            <a:r>
              <a:rPr lang="ja-JP" altLang="en-US">
                <a:latin typeface="游明朝"/>
                <a:ea typeface="游明朝"/>
              </a:rPr>
              <a:t>）② その他共通基盤の環境移行</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63B62DB9-46C7-D09F-A24E-DFE1E03A3142}"/>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12C915E9-AD87-AA1D-6304-82EB8F09C497}"/>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C1F875C1-D034-4CB4-A44B-48BCFFCF5661}"/>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D35E794A-99BE-2A4B-11D0-D882E26891F7}"/>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20C0AD38-9058-856E-2D31-B2E254DA4DD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F484F7E6-78C4-AAEA-3CF4-41361A47CC62}"/>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BE13253F-9502-A180-E94A-59EF3126EB89}"/>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427D639D-1329-9BE0-64F3-434E16A2E646}"/>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431A6231-3AB4-95BB-7B82-BCF5CD4DEB5D}"/>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F48E1BD8-1A33-15C6-2146-2244857770F5}"/>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71539410-843E-5047-F93D-B7582D4AF634}"/>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9CDF8DB-7DD6-0000-4F48-C20A9375717C}"/>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18A428D8-FA06-B40F-7FF1-7606214CBC07}"/>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6ED79064-8692-3E4C-EE81-5C4D5FF3BAA1}"/>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AE441D61-43CC-C0D4-A6C4-129E0B3B7681}"/>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C5A6286A-9096-2B96-6EEC-3B9870216E13}"/>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6610D250-41DD-3C5A-DFC4-0780A1001287}"/>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43607181-774B-B524-A880-137C54A529F7}"/>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9CD2C6B2-F41F-6460-3EEF-03666F3637D5}"/>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E5B480CC-072B-06EB-FB2C-F638DA41E206}"/>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103083E0-6A35-5213-940C-BB2E5AAB5FD6}"/>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D4E1F7C1-50F6-7783-45A7-81CAE4EAD2E3}"/>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66235523-8708-7E27-929E-96886E6B165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94385022-F665-9832-9B5B-CB9798B683BE}"/>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AD67AF2A-0469-A981-231C-3EA9A30E5286}"/>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7CC89809-0BFA-0DCB-0072-169E354AE50D}"/>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8A39C870-D9EF-B108-6CF5-99EC043AFCED}"/>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4B9B1D7C-E84C-E69D-B296-181380121EAB}"/>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CE79798D-08CC-1FE0-9CA7-165A825D2F47}"/>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4C3DF4B2-71C0-5EC6-B48B-389EF0CE3CFC}"/>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8D589D3B-85FA-6EFE-A29E-2BD85AF44325}"/>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B0616520-1EFB-149A-3561-3B16AF6DF58C}"/>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61AE20E-8C8E-C939-D27A-25AEC1C44AC9}"/>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07D5911B-1CD5-E4D8-4ED8-6AECC3C7281A}"/>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A059EE11-965D-EA58-2CB6-11F5668C9CEB}"/>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046D97D2-B8A4-44B8-D832-98BCF5941E1C}"/>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7141A045-06E3-7AE2-4043-1C8EBE04EE24}"/>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A89E7070-691F-19F0-EF4B-1BCED7762B3B}"/>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FCA4A154-16A5-C9CB-905E-963E266737CC}"/>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03B163DE-5749-65E4-D0D9-5DB8B1BB4769}"/>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C39C8A22-4D24-B8F8-2C3A-BBEE69AAB580}"/>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3F6E27B7-A3C8-D7E3-44E4-A4EC9C07F56C}"/>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B9876616-74C0-0D5E-0000-3AAA4DF66333}"/>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CB65CC15-A490-3398-E577-B6B6587C5AEE}"/>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EAD93759-9E74-130E-5DE6-B990344623C5}"/>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380A6D1C-6317-A8F7-0048-BB28B7592694}"/>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49D66C3C-5DAC-D5F7-8DE6-7EFB362A1815}"/>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A4C7A58E-08F5-FEA6-7041-C72BC10EE8A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C230E360-E7FE-11CA-1C4E-FA42B9426170}"/>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85C5B5BA-595F-A857-3B03-E22CE1BC3633}"/>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5</a:t>
            </a:fld>
            <a:endParaRPr lang="en-US"/>
          </a:p>
        </p:txBody>
      </p:sp>
      <p:sp>
        <p:nvSpPr>
          <p:cNvPr id="5" name="Footer Placeholder 4">
            <a:extLst>
              <a:ext uri="{FF2B5EF4-FFF2-40B4-BE49-F238E27FC236}">
                <a16:creationId xmlns:a16="http://schemas.microsoft.com/office/drawing/2014/main" id="{5B8D9A42-57B8-812C-B2A0-FFECEA4A052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1589412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4</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作業内容と成果物</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481837375"/>
              </p:ext>
            </p:extLst>
          </p:nvPr>
        </p:nvGraphicFramePr>
        <p:xfrm>
          <a:off x="606000" y="936000"/>
          <a:ext cx="11158390" cy="485731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a:solidFill>
                            <a:schemeClr val="tx1"/>
                          </a:solidFill>
                          <a:latin typeface="游ゴシック"/>
                          <a:ea typeface="游ゴシック"/>
                        </a:rPr>
                        <a:t>移行計画書、</a:t>
                      </a:r>
                      <a:r>
                        <a:rPr kumimoji="1" lang="ja-JP" altLang="en-US" sz="140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基本設計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既存設計書の修正及び全体テストの計画を作成します。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基本設計書、全体テスト計画</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修正箇所のコーディング及び環境構築を実施します。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検証環境も含みます。</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4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a:ln>
                            <a:noFill/>
                          </a:ln>
                          <a:solidFill>
                            <a:schemeClr val="tx1"/>
                          </a:solidFill>
                          <a:effectLst/>
                          <a:latin typeface="游ゴシック"/>
                          <a:ea typeface="游ゴシック"/>
                        </a:rPr>
                        <a:t>※</a:t>
                      </a:r>
                      <a:r>
                        <a:rPr lang="ja-JP" altLang="en-US" sz="1400" u="none" strike="noStrike" kern="1200" cap="none" normalizeH="0" baseline="0">
                          <a:ln>
                            <a:noFill/>
                          </a:ln>
                          <a:solidFill>
                            <a:schemeClr val="tx1"/>
                          </a:solidFill>
                          <a:effectLst/>
                          <a:latin typeface="游ゴシック"/>
                          <a:ea typeface="游ゴシック"/>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本番環境にて</a:t>
                      </a:r>
                      <a:r>
                        <a:rPr lang="ja-JP" altLang="en-US" sz="1400">
                          <a:solidFill>
                            <a:srgbClr val="000000"/>
                          </a:solidFill>
                        </a:rPr>
                        <a:t>その他共通基盤との連携の確認を実施します。</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システム</a:t>
                      </a:r>
                      <a:r>
                        <a:rPr kumimoji="0" lang="ja-JP" altLang="en-US" sz="14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本番環境にてアプリケーションの導入を実施します。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バッチ基盤上の</a:t>
                      </a:r>
                      <a:r>
                        <a:rPr kumimoji="0" lang="en-US" altLang="ja-JP" sz="1400">
                          <a:solidFill>
                            <a:schemeClr val="tx1"/>
                          </a:solidFill>
                          <a:latin typeface="游ゴシック"/>
                          <a:ea typeface="游ゴシック"/>
                        </a:rPr>
                        <a:t>JOB</a:t>
                      </a:r>
                      <a:r>
                        <a:rPr kumimoji="0" lang="ja-JP" altLang="en-US" sz="1400">
                          <a:solidFill>
                            <a:schemeClr val="tx1"/>
                          </a:solidFill>
                          <a:latin typeface="游ゴシック"/>
                          <a:ea typeface="游ゴシック"/>
                        </a:rPr>
                        <a:t>を現新で切り替えます。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a:solidFill>
                            <a:schemeClr val="tx1"/>
                          </a:solidFill>
                          <a:latin typeface="游ゴシック"/>
                          <a:ea typeface="游ゴシック"/>
                        </a:rPr>
                        <a:t>※</a:t>
                      </a:r>
                      <a:r>
                        <a:rPr kumimoji="0" lang="ja-JP" altLang="en-US" sz="14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5</a:t>
            </a:r>
            <a:r>
              <a:rPr kumimoji="1" lang="en-US" altLang="ja-JP">
                <a:latin typeface="游明朝"/>
                <a:ea typeface="游明朝"/>
              </a:rPr>
              <a:t>. </a:t>
            </a:r>
            <a:r>
              <a:rPr lang="ja-JP" altLang="en-US">
                <a:latin typeface="游明朝"/>
                <a:ea typeface="游明朝"/>
              </a:rPr>
              <a:t>機能数と作業範囲</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756337905"/>
              </p:ext>
            </p:extLst>
          </p:nvPr>
        </p:nvGraphicFramePr>
        <p:xfrm>
          <a:off x="606000" y="936000"/>
          <a:ext cx="11158389" cy="5309679"/>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028700">
                  <a:extLst>
                    <a:ext uri="{9D8B030D-6E8A-4147-A177-3AD203B41FA5}">
                      <a16:colId xmlns:a16="http://schemas.microsoft.com/office/drawing/2014/main" val="944581160"/>
                    </a:ext>
                  </a:extLst>
                </a:gridCol>
                <a:gridCol w="5298622">
                  <a:extLst>
                    <a:ext uri="{9D8B030D-6E8A-4147-A177-3AD203B41FA5}">
                      <a16:colId xmlns:a16="http://schemas.microsoft.com/office/drawing/2014/main" val="2117318705"/>
                    </a:ext>
                  </a:extLst>
                </a:gridCol>
                <a:gridCol w="3518460">
                  <a:extLst>
                    <a:ext uri="{9D8B030D-6E8A-4147-A177-3AD203B41FA5}">
                      <a16:colId xmlns:a16="http://schemas.microsoft.com/office/drawing/2014/main" val="852570537"/>
                    </a:ext>
                  </a:extLst>
                </a:gridCol>
              </a:tblGrid>
              <a:tr h="419424">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250218">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54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事務管理システム内の全画面を確認し、初期画面の描画や</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正常系の動作に問題がないことを確認します。</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・データベースの参照・登録</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・画面遷移</a:t>
                      </a:r>
                      <a:endParaRPr kumimoji="1"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・ボタン押下　等</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924403">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73</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帳票を印刷し、帳票機能に問題ないことを確認します。</a:t>
                      </a:r>
                    </a:p>
                    <a:p>
                      <a:pPr marL="0" lvl="0" indent="0">
                        <a:buFont typeface="Arial" pitchFamily="34" charset="0"/>
                        <a:buNone/>
                      </a:pPr>
                      <a:r>
                        <a:rPr lang="ja-JP" altLang="en-US" sz="1400">
                          <a:solidFill>
                            <a:schemeClr val="tx1"/>
                          </a:solidFill>
                          <a:latin typeface="游ゴシック"/>
                          <a:ea typeface="游ゴシック"/>
                        </a:rPr>
                        <a:t>※サンプリングで数本の実施を想定しています。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・帳票内の全項目の印字</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・複数ページ印刷</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357817">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11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本番環境については、疎通テストとし、各システムごとに</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　</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1357817">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50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基本的には手動での実行を想定しています。</a:t>
                      </a:r>
                    </a:p>
                    <a:p>
                      <a:pPr marL="0" marR="0" lvl="0" indent="0" algn="l">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※各所毎のJOBは代表1本のみの確認とします。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・異常系のテスト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・繰り返しのテスト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・定期起動の確認</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a:latin typeface="游明朝"/>
                <a:ea typeface="游明朝"/>
              </a:rPr>
              <a:t>6. </a:t>
            </a:r>
            <a:r>
              <a:rPr lang="ja-JP" altLang="en-US">
                <a:latin typeface="游明朝"/>
                <a:ea typeface="游明朝"/>
              </a:rPr>
              <a:t>体制</a:t>
            </a:r>
            <a:endParaRPr kumimoji="1" lang="ja-JP" altLang="en-US">
              <a:latin typeface="游明朝"/>
              <a:ea typeface="游明朝"/>
            </a:endParaRPr>
          </a:p>
        </p:txBody>
      </p:sp>
      <p:sp>
        <p:nvSpPr>
          <p:cNvPr id="4" name="フッター プレースホルダー 3"/>
          <p:cNvSpPr>
            <a:spLocks noGrp="1"/>
          </p:cNvSpPr>
          <p:nvPr>
            <p:ph type="ftr" sz="quarter" idx="10"/>
          </p:nvPr>
        </p:nvSpPr>
        <p:spPr>
          <a:xfrm>
            <a:off x="3036000" y="6552000"/>
            <a:ext cx="6120000" cy="216000"/>
          </a:xfrm>
        </p:spPr>
        <p:txBody>
          <a:bodyPr/>
          <a:lstStyle/>
          <a:p>
            <a:r>
              <a:rPr lang="en-US" altLang="ja-JP"/>
              <a:t>Copyright © 2025 SystemEXE,Inc All Rights Reserved.</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sz="1600" kern="0">
                  <a:solidFill>
                    <a:prstClr val="black"/>
                  </a:solidFill>
                  <a:latin typeface="游ゴシック"/>
                  <a:ea typeface="游ゴシック"/>
                </a:rPr>
                <a:t>澤田 陽哉</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lang="en-US">
                <a:solidFill>
                  <a:prstClr val="black"/>
                </a:solidFill>
              </a:endParaRP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720000"/>
            <a:chOff x="1213170" y="3826430"/>
            <a:chExt cx="2736000" cy="720000"/>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3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横田 昌彦様</a:t>
              </a:r>
              <a:endParaRPr kumimoji="1" lang="en-US" altLang="ja-JP" sz="1600" b="0" i="0" u="none" strike="noStrike" kern="0" cap="none" spc="0" normalizeH="0" baseline="0" noProof="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山本 将也様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009789" y="4926458"/>
            <a:ext cx="1090483" cy="23006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dirty="0">
                  <a:solidFill>
                    <a:srgbClr val="333333"/>
                  </a:solidFill>
                  <a:effectLst/>
                  <a:latin typeface="游ゴシック"/>
                  <a:ea typeface="游ゴシック"/>
                </a:rPr>
                <a:t>崔</a:t>
              </a:r>
              <a:endParaRPr lang="en-US" altLang="ja-JP" sz="1600" b="0" i="0" dirty="0">
                <a:solidFill>
                  <a:srgbClr val="333333"/>
                </a:solidFill>
                <a:effectLst/>
                <a:latin typeface="游ゴシック"/>
                <a:ea typeface="游ゴシック"/>
              </a:endParaRPr>
            </a:p>
            <a:p>
              <a:pPr lvl="0" algn="ctr" defTabSz="914400">
                <a:defRPr/>
              </a:pPr>
              <a:r>
                <a:rPr lang="en-US" altLang="ja-JP" sz="1600" dirty="0">
                  <a:solidFill>
                    <a:srgbClr val="333333"/>
                  </a:solidFill>
                  <a:latin typeface="游ゴシック"/>
                  <a:ea typeface="游ゴシック"/>
                </a:rPr>
                <a:t>TBD</a:t>
              </a:r>
              <a:endParaRPr lang="ja-JP" altLang="en-US" sz="1600" b="0" i="0" dirty="0">
                <a:solidFill>
                  <a:srgbClr val="333333"/>
                </a:solidFill>
                <a:effectLst/>
                <a:latin typeface="游ゴシック"/>
                <a:ea typeface="游ゴシック"/>
              </a:endParaRP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kern="0" dirty="0">
                  <a:solidFill>
                    <a:prstClr val="black"/>
                  </a:solidFill>
                  <a:latin typeface="+mn-ea"/>
                </a:rPr>
                <a:t>東条 美佳</a:t>
              </a:r>
              <a:endParaRPr lang="en-US" altLang="ja-JP" sz="1600" kern="0" dirty="0">
                <a:solidFill>
                  <a:prstClr val="black"/>
                </a:solidFill>
                <a:latin typeface="+mn-ea"/>
              </a:endParaRP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48" name="グループ化 47">
            <a:extLst>
              <a:ext uri="{FF2B5EF4-FFF2-40B4-BE49-F238E27FC236}">
                <a16:creationId xmlns:a16="http://schemas.microsoft.com/office/drawing/2014/main" id="{38AFE58B-AB1D-EB9E-368C-4214DA09182E}"/>
              </a:ext>
            </a:extLst>
          </p:cNvPr>
          <p:cNvGrpSpPr/>
          <p:nvPr/>
        </p:nvGrpSpPr>
        <p:grpSpPr>
          <a:xfrm>
            <a:off x="8310152" y="4183367"/>
            <a:ext cx="2745180" cy="1068616"/>
            <a:chOff x="8515659" y="4231002"/>
            <a:chExt cx="2745180" cy="1068616"/>
          </a:xfrm>
        </p:grpSpPr>
        <p:sp>
          <p:nvSpPr>
            <p:cNvPr id="49" name="片側の 2 つの角を丸めた四角形 29">
              <a:extLst>
                <a:ext uri="{FF2B5EF4-FFF2-40B4-BE49-F238E27FC236}">
                  <a16:creationId xmlns:a16="http://schemas.microsoft.com/office/drawing/2014/main" id="{409BB09A-4745-7292-CC8A-1D1E62EE68F3}"/>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保守サポート</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6" name="正方形/長方形 55">
              <a:extLst>
                <a:ext uri="{FF2B5EF4-FFF2-40B4-BE49-F238E27FC236}">
                  <a16:creationId xmlns:a16="http://schemas.microsoft.com/office/drawing/2014/main" id="{B6730360-ED82-C2C7-602A-B52FEC06F6A2}"/>
                </a:ext>
              </a:extLst>
            </p:cNvPr>
            <p:cNvSpPr/>
            <p:nvPr/>
          </p:nvSpPr>
          <p:spPr>
            <a:xfrm>
              <a:off x="8515659" y="4518752"/>
              <a:ext cx="2745180" cy="78086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en-US" sz="1600" kern="0" dirty="0">
                  <a:solidFill>
                    <a:prstClr val="black"/>
                  </a:solidFill>
                  <a:latin typeface="游ゴシック"/>
                  <a:ea typeface="游ゴシック"/>
                </a:rPr>
                <a:t>伊達 翔互</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篠塚 正裕</a:t>
              </a:r>
              <a:endParaRPr kumimoji="0" lang="en-US" altLang="ja-JP" sz="1600" b="0" i="0" u="none" strike="noStrike" kern="0" cap="none" spc="0" normalizeH="0" baseline="0" noProof="0" dirty="0">
                <a:ln>
                  <a:noFill/>
                </a:ln>
                <a:solidFill>
                  <a:prstClr val="black"/>
                </a:solidFill>
                <a:effectLst/>
                <a:uLnTx/>
                <a:uFillTx/>
                <a:latin typeface="+mn-ea"/>
              </a:endParaRPr>
            </a:p>
          </p:txBody>
        </p:sp>
      </p:grpSp>
      <p:cxnSp>
        <p:nvCxnSpPr>
          <p:cNvPr id="57" name="直線コネクタ 56">
            <a:extLst>
              <a:ext uri="{FF2B5EF4-FFF2-40B4-BE49-F238E27FC236}">
                <a16:creationId xmlns:a16="http://schemas.microsoft.com/office/drawing/2014/main" id="{888358D9-7F91-7189-3C7F-6851F47AFA2C}"/>
              </a:ext>
            </a:extLst>
          </p:cNvPr>
          <p:cNvCxnSpPr>
            <a:cxnSpLocks/>
          </p:cNvCxnSpPr>
          <p:nvPr/>
        </p:nvCxnSpPr>
        <p:spPr>
          <a:xfrm flipH="1">
            <a:off x="6797496" y="4512843"/>
            <a:ext cx="1513909"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854406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7</a:t>
            </a:r>
            <a:r>
              <a:rPr kumimoji="1" lang="en-US" altLang="ja-JP">
                <a:latin typeface="游明朝"/>
                <a:ea typeface="游明朝"/>
              </a:rPr>
              <a:t>. </a:t>
            </a:r>
            <a:r>
              <a:rPr kumimoji="1" lang="ja-JP" altLang="en-US">
                <a:latin typeface="游明朝"/>
                <a:ea typeface="游明朝"/>
              </a:rPr>
              <a:t>スケジュール</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1798999441"/>
              </p:ext>
            </p:extLst>
          </p:nvPr>
        </p:nvGraphicFramePr>
        <p:xfrm>
          <a:off x="576000" y="936002"/>
          <a:ext cx="11041199" cy="3327880"/>
        </p:xfrm>
        <a:graphic>
          <a:graphicData uri="http://schemas.openxmlformats.org/drawingml/2006/table">
            <a:tbl>
              <a:tblPr firstRow="1">
                <a:tableStyleId>{69012ECD-51FC-41F1-AA8D-1B2483CD663E}</a:tableStyleId>
              </a:tblPr>
              <a:tblGrid>
                <a:gridCol w="2315090">
                  <a:extLst>
                    <a:ext uri="{9D8B030D-6E8A-4147-A177-3AD203B41FA5}">
                      <a16:colId xmlns:a16="http://schemas.microsoft.com/office/drawing/2014/main" val="20001"/>
                    </a:ext>
                  </a:extLst>
                </a:gridCol>
                <a:gridCol w="1246587">
                  <a:extLst>
                    <a:ext uri="{9D8B030D-6E8A-4147-A177-3AD203B41FA5}">
                      <a16:colId xmlns:a16="http://schemas.microsoft.com/office/drawing/2014/main" val="332361526"/>
                    </a:ext>
                  </a:extLst>
                </a:gridCol>
                <a:gridCol w="1246587">
                  <a:extLst>
                    <a:ext uri="{9D8B030D-6E8A-4147-A177-3AD203B41FA5}">
                      <a16:colId xmlns:a16="http://schemas.microsoft.com/office/drawing/2014/main" val="1301509302"/>
                    </a:ext>
                  </a:extLst>
                </a:gridCol>
                <a:gridCol w="1246587">
                  <a:extLst>
                    <a:ext uri="{9D8B030D-6E8A-4147-A177-3AD203B41FA5}">
                      <a16:colId xmlns:a16="http://schemas.microsoft.com/office/drawing/2014/main" val="2064698816"/>
                    </a:ext>
                  </a:extLst>
                </a:gridCol>
                <a:gridCol w="1246587">
                  <a:extLst>
                    <a:ext uri="{9D8B030D-6E8A-4147-A177-3AD203B41FA5}">
                      <a16:colId xmlns:a16="http://schemas.microsoft.com/office/drawing/2014/main" val="1049139473"/>
                    </a:ext>
                  </a:extLst>
                </a:gridCol>
                <a:gridCol w="1246587">
                  <a:extLst>
                    <a:ext uri="{9D8B030D-6E8A-4147-A177-3AD203B41FA5}">
                      <a16:colId xmlns:a16="http://schemas.microsoft.com/office/drawing/2014/main" val="581626291"/>
                    </a:ext>
                  </a:extLst>
                </a:gridCol>
                <a:gridCol w="1246587">
                  <a:extLst>
                    <a:ext uri="{9D8B030D-6E8A-4147-A177-3AD203B41FA5}">
                      <a16:colId xmlns:a16="http://schemas.microsoft.com/office/drawing/2014/main" val="1794734865"/>
                    </a:ext>
                  </a:extLst>
                </a:gridCol>
                <a:gridCol w="1246587">
                  <a:extLst>
                    <a:ext uri="{9D8B030D-6E8A-4147-A177-3AD203B41FA5}">
                      <a16:colId xmlns:a16="http://schemas.microsoft.com/office/drawing/2014/main" val="3533700286"/>
                    </a:ext>
                  </a:extLst>
                </a:gridCol>
              </a:tblGrid>
              <a:tr h="453716">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r>
                        <a:rPr kumimoji="1" lang="en-US" altLang="ja-JP" dirty="0"/>
                        <a:t>2025</a:t>
                      </a:r>
                      <a:r>
                        <a:rPr kumimoji="1" lang="ja-JP" altLang="en-US" dirty="0"/>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3">
                  <a:txBody>
                    <a:bodyPr/>
                    <a:lstStyle/>
                    <a:p>
                      <a:r>
                        <a:rPr kumimoji="1" lang="en-US" altLang="ja-JP" dirty="0"/>
                        <a:t>2026</a:t>
                      </a:r>
                      <a:r>
                        <a:rPr kumimoji="1" lang="ja-JP" altLang="en-US" dirty="0"/>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61865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dirty="0">
                          <a:solidFill>
                            <a:srgbClr val="FFFFFF"/>
                          </a:solidFill>
                          <a:latin typeface="游ゴシック"/>
                          <a:ea typeface="游ゴシック"/>
                        </a:rPr>
                        <a:t>9</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10</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11</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12</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2</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3</a:t>
                      </a:r>
                    </a:p>
                    <a:p>
                      <a:pPr algn="ct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15514">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440000">
                <a:tc>
                  <a:txBody>
                    <a:bodyPr/>
                    <a:lstStyle/>
                    <a:p>
                      <a:pPr algn="l"/>
                      <a:r>
                        <a:rPr kumimoji="1" lang="ja-JP" altLang="en-US" sz="1200" b="0" dirty="0">
                          <a:latin typeface="游ゴシック" panose="020B0400000000000000" pitchFamily="50" charset="-128"/>
                          <a:ea typeface="+mn-ea"/>
                          <a:cs typeface="Meiryo UI" pitchFamily="50" charset="-128"/>
                        </a:rPr>
                        <a:t>① 縮小版共通基盤へのシステム資産移行</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7712719" y="5531384"/>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004619" y="5531384"/>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296518" y="5531384"/>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637682" y="5456686"/>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4136576" y="3510717"/>
            <a:ext cx="604618"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要件</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定義</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7871011" y="3510717"/>
            <a:ext cx="900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テスト</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4732586" y="3510717"/>
            <a:ext cx="64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基本</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6266444" y="3510717"/>
            <a:ext cx="1604209"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9571864" y="3510717"/>
            <a:ext cx="792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本番移行</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初期流動</a:t>
            </a:r>
          </a:p>
        </p:txBody>
      </p:sp>
      <p:sp>
        <p:nvSpPr>
          <p:cNvPr id="4" name="正方形/長方形 3">
            <a:extLst>
              <a:ext uri="{FF2B5EF4-FFF2-40B4-BE49-F238E27FC236}">
                <a16:creationId xmlns:a16="http://schemas.microsoft.com/office/drawing/2014/main" id="{A1B67386-AD83-3967-5D45-C866A13904CF}"/>
              </a:ext>
            </a:extLst>
          </p:cNvPr>
          <p:cNvSpPr/>
          <p:nvPr/>
        </p:nvSpPr>
        <p:spPr>
          <a:xfrm>
            <a:off x="8756870" y="3510717"/>
            <a:ext cx="814637"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運用</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テスト</a:t>
            </a:r>
          </a:p>
        </p:txBody>
      </p:sp>
      <p:sp>
        <p:nvSpPr>
          <p:cNvPr id="5" name="テキスト ボックス 4">
            <a:extLst>
              <a:ext uri="{FF2B5EF4-FFF2-40B4-BE49-F238E27FC236}">
                <a16:creationId xmlns:a16="http://schemas.microsoft.com/office/drawing/2014/main" id="{4C383857-658A-27E0-C87F-6186580943F2}"/>
              </a:ext>
            </a:extLst>
          </p:cNvPr>
          <p:cNvSpPr txBox="1"/>
          <p:nvPr/>
        </p:nvSpPr>
        <p:spPr>
          <a:xfrm>
            <a:off x="5129398" y="2033680"/>
            <a:ext cx="2583321"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★検証環境構築（</a:t>
            </a:r>
            <a:r>
              <a:rPr kumimoji="1" lang="en-US" altLang="ja-JP" sz="1100" dirty="0">
                <a:latin typeface="游ゴシック" panose="020B0400000000000000" pitchFamily="50" charset="-128"/>
                <a:ea typeface="游ゴシック" panose="020B0400000000000000" pitchFamily="50" charset="-128"/>
              </a:rPr>
              <a:t>AP</a:t>
            </a:r>
            <a:r>
              <a:rPr kumimoji="1" lang="ja-JP" altLang="en-US" sz="1100" dirty="0">
                <a:latin typeface="游ゴシック" panose="020B0400000000000000" pitchFamily="50" charset="-128"/>
                <a:ea typeface="游ゴシック" panose="020B0400000000000000" pitchFamily="50" charset="-128"/>
              </a:rPr>
              <a:t>・</a:t>
            </a:r>
            <a:r>
              <a:rPr kumimoji="1" lang="en-US" altLang="ja-JP" sz="1100" dirty="0">
                <a:latin typeface="游ゴシック" panose="020B0400000000000000" pitchFamily="50" charset="-128"/>
                <a:ea typeface="游ゴシック" panose="020B0400000000000000" pitchFamily="50" charset="-128"/>
              </a:rPr>
              <a:t>DB</a:t>
            </a:r>
            <a:r>
              <a:rPr kumimoji="1" lang="ja-JP" altLang="en-US" sz="1100" dirty="0">
                <a:latin typeface="游ゴシック" panose="020B0400000000000000" pitchFamily="50" charset="-128"/>
                <a:ea typeface="游ゴシック" panose="020B0400000000000000" pitchFamily="50" charset="-128"/>
              </a:rPr>
              <a:t>・バッチ）</a:t>
            </a:r>
          </a:p>
        </p:txBody>
      </p:sp>
      <p:sp>
        <p:nvSpPr>
          <p:cNvPr id="9" name="テキスト ボックス 8">
            <a:extLst>
              <a:ext uri="{FF2B5EF4-FFF2-40B4-BE49-F238E27FC236}">
                <a16:creationId xmlns:a16="http://schemas.microsoft.com/office/drawing/2014/main" id="{95E9508C-14AD-4227-AFB2-DA670F343CD0}"/>
              </a:ext>
            </a:extLst>
          </p:cNvPr>
          <p:cNvSpPr txBox="1"/>
          <p:nvPr/>
        </p:nvSpPr>
        <p:spPr>
          <a:xfrm>
            <a:off x="6214341" y="2389458"/>
            <a:ext cx="2583321"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★本番環境構築（</a:t>
            </a:r>
            <a:r>
              <a:rPr kumimoji="1" lang="en-US" altLang="ja-JP" sz="1100" dirty="0">
                <a:latin typeface="游ゴシック" panose="020B0400000000000000" pitchFamily="50" charset="-128"/>
                <a:ea typeface="游ゴシック" panose="020B0400000000000000" pitchFamily="50" charset="-128"/>
              </a:rPr>
              <a:t>AP</a:t>
            </a:r>
            <a:r>
              <a:rPr kumimoji="1" lang="ja-JP" altLang="en-US" sz="1100" dirty="0">
                <a:latin typeface="游ゴシック" panose="020B0400000000000000" pitchFamily="50" charset="-128"/>
                <a:ea typeface="游ゴシック" panose="020B0400000000000000" pitchFamily="50" charset="-128"/>
              </a:rPr>
              <a:t>・</a:t>
            </a:r>
            <a:r>
              <a:rPr kumimoji="1" lang="en-US" altLang="ja-JP" sz="1100" dirty="0">
                <a:latin typeface="游ゴシック" panose="020B0400000000000000" pitchFamily="50" charset="-128"/>
                <a:ea typeface="游ゴシック" panose="020B0400000000000000" pitchFamily="50" charset="-128"/>
              </a:rPr>
              <a:t>DB</a:t>
            </a:r>
            <a:r>
              <a:rPr kumimoji="1" lang="ja-JP" altLang="en-US" sz="1100" dirty="0">
                <a:latin typeface="游ゴシック" panose="020B0400000000000000" pitchFamily="50" charset="-128"/>
                <a:ea typeface="游ゴシック" panose="020B0400000000000000" pitchFamily="50" charset="-128"/>
              </a:rPr>
              <a:t>・バッチ）</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9803396" y="2033680"/>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★①本番切替</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9</a:t>
            </a:fld>
            <a:endParaRPr lang="en-US"/>
          </a:p>
        </p:txBody>
      </p:sp>
      <p:sp>
        <p:nvSpPr>
          <p:cNvPr id="3" name="Footer Placeholder 2">
            <a:extLst>
              <a:ext uri="{FF2B5EF4-FFF2-40B4-BE49-F238E27FC236}">
                <a16:creationId xmlns:a16="http://schemas.microsoft.com/office/drawing/2014/main" id="{80B194A0-C198-FAC1-050B-9EA648E549AA}"/>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8" name="矢印: 左右 7">
            <a:extLst>
              <a:ext uri="{FF2B5EF4-FFF2-40B4-BE49-F238E27FC236}">
                <a16:creationId xmlns:a16="http://schemas.microsoft.com/office/drawing/2014/main" id="{EE71303A-190E-DC83-D7A8-7F863FFBEC07}"/>
              </a:ext>
            </a:extLst>
          </p:cNvPr>
          <p:cNvSpPr/>
          <p:nvPr/>
        </p:nvSpPr>
        <p:spPr>
          <a:xfrm>
            <a:off x="4136576" y="3021021"/>
            <a:ext cx="1238150" cy="4589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400">
                <a:solidFill>
                  <a:schemeClr val="tx1"/>
                </a:solidFill>
                <a:ea typeface="游ゴシック"/>
              </a:rPr>
              <a:t>契約①</a:t>
            </a:r>
          </a:p>
        </p:txBody>
      </p:sp>
      <p:sp>
        <p:nvSpPr>
          <p:cNvPr id="17" name="矢印: 左右 16">
            <a:extLst>
              <a:ext uri="{FF2B5EF4-FFF2-40B4-BE49-F238E27FC236}">
                <a16:creationId xmlns:a16="http://schemas.microsoft.com/office/drawing/2014/main" id="{4A65D611-AB6C-7F27-69C8-9C603A0332F2}"/>
              </a:ext>
            </a:extLst>
          </p:cNvPr>
          <p:cNvSpPr/>
          <p:nvPr/>
        </p:nvSpPr>
        <p:spPr>
          <a:xfrm>
            <a:off x="5374726" y="3008322"/>
            <a:ext cx="4989138" cy="4843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契約②</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5374726" y="3510717"/>
            <a:ext cx="89136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p>
        </p:txBody>
      </p:sp>
    </p:spTree>
    <p:extLst>
      <p:ext uri="{BB962C8B-B14F-4D97-AF65-F5344CB8AC3E}">
        <p14:creationId xmlns:p14="http://schemas.microsoft.com/office/powerpoint/2010/main" val="2136027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a:ea typeface="游明朝"/>
              </a:rPr>
              <a:t>8.</a:t>
            </a:r>
            <a:r>
              <a:rPr lang="ja-JP" altLang="en-US">
                <a:latin typeface="游明朝"/>
                <a:ea typeface="游明朝"/>
              </a:rPr>
              <a:t>想定している会議体</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a:p>
        </p:txBody>
      </p:sp>
      <p:sp>
        <p:nvSpPr>
          <p:cNvPr id="7" name="テキスト ボックス 6">
            <a:extLst>
              <a:ext uri="{FF2B5EF4-FFF2-40B4-BE49-F238E27FC236}">
                <a16:creationId xmlns:a16="http://schemas.microsoft.com/office/drawing/2014/main" id="{ABC8AA5A-10BD-4D38-B3F4-DE12131249F5}"/>
              </a:ext>
            </a:extLst>
          </p:cNvPr>
          <p:cNvSpPr txBox="1"/>
          <p:nvPr/>
        </p:nvSpPr>
        <p:spPr>
          <a:xfrm>
            <a:off x="576000" y="788894"/>
            <a:ext cx="10961576" cy="584775"/>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要件定義フェーズで想定している会議体となります。</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開発フェーズ以降は別途調整させていただきます。</a:t>
            </a:r>
          </a:p>
        </p:txBody>
      </p:sp>
      <p:graphicFrame>
        <p:nvGraphicFramePr>
          <p:cNvPr id="8" name="表 7">
            <a:extLst>
              <a:ext uri="{FF2B5EF4-FFF2-40B4-BE49-F238E27FC236}">
                <a16:creationId xmlns:a16="http://schemas.microsoft.com/office/drawing/2014/main" id="{59E87056-BFCA-4F79-814E-450EDD5EA42B}"/>
              </a:ext>
            </a:extLst>
          </p:cNvPr>
          <p:cNvGraphicFramePr>
            <a:graphicFrameLocks noGrp="1"/>
          </p:cNvGraphicFramePr>
          <p:nvPr/>
        </p:nvGraphicFramePr>
        <p:xfrm>
          <a:off x="576000" y="1478563"/>
          <a:ext cx="11158372" cy="225792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lvl="0" algn="ctr">
                        <a:buNone/>
                      </a:pPr>
                      <a:r>
                        <a:rPr lang="ja-JP" altLang="en-US" sz="1600" dirty="0">
                          <a:solidFill>
                            <a:srgbClr val="FFFFFF"/>
                          </a:solidFill>
                          <a:latin typeface="游ゴシック"/>
                          <a:ea typeface="游ゴシック"/>
                        </a:rPr>
                        <a:t>参加者</a:t>
                      </a:r>
                      <a:endParaRPr kumimoji="1" lang="ja-JP" altLang="en-US" sz="1600" dirty="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a:solidFill>
                            <a:schemeClr val="tx1"/>
                          </a:solidFill>
                          <a:latin typeface="游ゴシック"/>
                          <a:ea typeface="游ゴシック"/>
                        </a:rPr>
                        <a:t>キックオフ</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dirty="0">
                          <a:solidFill>
                            <a:schemeClr val="tx1"/>
                          </a:solidFill>
                          <a:latin typeface="游ゴシック"/>
                          <a:ea typeface="游ゴシック"/>
                        </a:rPr>
                        <a:t>2025/</a:t>
                      </a:r>
                      <a:r>
                        <a:rPr lang="en-US" altLang="ja-JP" sz="1600" dirty="0">
                          <a:solidFill>
                            <a:schemeClr val="tx1"/>
                          </a:solidFill>
                          <a:latin typeface="游ゴシック"/>
                          <a:ea typeface="游ゴシック"/>
                        </a:rPr>
                        <a:t>10</a:t>
                      </a:r>
                      <a:r>
                        <a:rPr lang="ja-JP" altLang="en-US" sz="1600" dirty="0">
                          <a:solidFill>
                            <a:schemeClr val="tx1"/>
                          </a:solidFill>
                          <a:latin typeface="游ゴシック"/>
                          <a:ea typeface="游ゴシック"/>
                        </a:rPr>
                        <a:t>上旬</a:t>
                      </a:r>
                      <a:endParaRPr kumimoji="1" lang="ja-JP" altLang="en-US" sz="1600" dirty="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altLang="en-US" sz="1600" dirty="0">
                          <a:solidFill>
                            <a:schemeClr val="tx1"/>
                          </a:solidFill>
                          <a:latin typeface="游ゴシック"/>
                          <a:ea typeface="游ゴシック"/>
                        </a:rPr>
                        <a:t>四課様、EXE</a:t>
                      </a:r>
                      <a:endParaRPr kumimoji="1" lang="ja-JP" altLang="en-US" sz="1600" dirty="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プロジェクト内容、スケジュール、進め方の認識合わせを実施いたします。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dirty="0">
                          <a:solidFill>
                            <a:schemeClr val="tx1"/>
                          </a:solidFill>
                          <a:latin typeface="游ゴシック"/>
                          <a:ea typeface="游ゴシック"/>
                        </a:rPr>
                        <a:t>毎週</a:t>
                      </a:r>
                      <a:endParaRPr kumimoji="1" lang="ja-JP" altLang="en-US" sz="1600" dirty="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dirty="0">
                          <a:solidFill>
                            <a:schemeClr val="tx1"/>
                          </a:solidFill>
                          <a:latin typeface="游ゴシック"/>
                          <a:ea typeface="游ゴシック"/>
                        </a:rPr>
                        <a:t>四課様、EXE</a:t>
                      </a:r>
                      <a:endParaRPr kumimoji="1" lang="en-US" altLang="ja-JP" dirty="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要件確定</a:t>
                      </a:r>
                      <a:r>
                        <a:rPr lang="en-US" altLang="ja-JP" sz="1600">
                          <a:solidFill>
                            <a:schemeClr val="tx1"/>
                          </a:solidFill>
                          <a:latin typeface="游ゴシック"/>
                          <a:ea typeface="游ゴシック"/>
                        </a:rPr>
                        <a: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設計書レビュー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noProof="0" dirty="0">
                          <a:solidFill>
                            <a:schemeClr val="tx1"/>
                          </a:solidFill>
                          <a:latin typeface="游ゴシック"/>
                          <a:ea typeface="游ゴシック"/>
                        </a:rPr>
                        <a:t>2025/</a:t>
                      </a:r>
                      <a:r>
                        <a:rPr lang="en-US" altLang="ja-JP" sz="1600" b="0" i="0" u="none" strike="noStrike" noProof="0" dirty="0">
                          <a:solidFill>
                            <a:schemeClr val="tx1"/>
                          </a:solidFill>
                          <a:latin typeface="游ゴシック"/>
                          <a:ea typeface="游ゴシック"/>
                        </a:rPr>
                        <a:t>10</a:t>
                      </a:r>
                      <a:r>
                        <a:rPr lang="ja-JP" altLang="en-US" sz="1600" b="0" i="0" u="none" strike="noStrike" noProof="0" dirty="0">
                          <a:solidFill>
                            <a:schemeClr val="tx1"/>
                          </a:solidFill>
                          <a:latin typeface="游ゴシック"/>
                          <a:ea typeface="游ゴシック"/>
                        </a:rPr>
                        <a:t>下旬</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dirty="0">
                          <a:solidFill>
                            <a:schemeClr val="tx1"/>
                          </a:solidFill>
                          <a:latin typeface="游ゴシック"/>
                          <a:ea typeface="游ゴシック"/>
                        </a:rPr>
                        <a:t>四課様、EXE</a:t>
                      </a:r>
                      <a:endParaRPr lang="en-US" altLang="ja-JP" dirty="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移行計画、テスト計画の合意を行います。</a:t>
                      </a:r>
                      <a:endParaRPr lang="en-US" altLang="ja-JP" sz="16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設計内容のレビューを頂きます。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bl>
          </a:graphicData>
        </a:graphic>
      </p:graphicFrame>
    </p:spTree>
    <p:extLst>
      <p:ext uri="{BB962C8B-B14F-4D97-AF65-F5344CB8AC3E}">
        <p14:creationId xmlns:p14="http://schemas.microsoft.com/office/powerpoint/2010/main" val="2582618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dirty="0">
                <a:latin typeface="游明朝"/>
                <a:ea typeface="游明朝"/>
              </a:rPr>
              <a:t>9. </a:t>
            </a:r>
            <a:r>
              <a:rPr lang="ja-JP" altLang="en-US" dirty="0">
                <a:latin typeface="游明朝"/>
                <a:ea typeface="游明朝"/>
              </a:rPr>
              <a:t>お見積もり</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516000" y="866864"/>
            <a:ext cx="7595218" cy="345057"/>
          </a:xfrm>
          <a:prstGeom prst="rect">
            <a:avLst/>
          </a:prstGeom>
          <a:noFill/>
        </p:spPr>
        <p:txBody>
          <a:bodyPr wrap="square" rtlCol="0">
            <a:noAutofit/>
          </a:bodyPr>
          <a:lstStyle/>
          <a:p>
            <a:r>
              <a:rPr lang="ja-JP" altLang="en-US" sz="1600" dirty="0">
                <a:latin typeface="+mn-ea"/>
                <a:cs typeface="メイリオ" pitchFamily="50" charset="-128"/>
              </a:rPr>
              <a:t>作業期間は、</a:t>
            </a:r>
            <a:r>
              <a:rPr lang="en-US" altLang="ja-JP" sz="1600" dirty="0">
                <a:latin typeface="+mn-ea"/>
                <a:cs typeface="メイリオ" pitchFamily="50" charset="-128"/>
              </a:rPr>
              <a:t>2025/10/1</a:t>
            </a:r>
            <a:r>
              <a:rPr lang="ja-JP" altLang="en-US" sz="1600" dirty="0">
                <a:latin typeface="+mn-ea"/>
                <a:cs typeface="メイリオ" pitchFamily="50" charset="-128"/>
              </a:rPr>
              <a:t>～</a:t>
            </a:r>
            <a:r>
              <a:rPr lang="en-US" altLang="ja-JP" sz="1600" dirty="0">
                <a:latin typeface="+mn-ea"/>
                <a:cs typeface="メイリオ" pitchFamily="50" charset="-128"/>
              </a:rPr>
              <a:t>2026/2/28</a:t>
            </a:r>
            <a:r>
              <a:rPr lang="ja-JP" altLang="en-US" sz="1600" dirty="0" err="1">
                <a:latin typeface="+mn-ea"/>
                <a:cs typeface="メイリオ" pitchFamily="50" charset="-128"/>
              </a:rPr>
              <a:t>までの</a:t>
            </a:r>
            <a:r>
              <a:rPr lang="en-US" altLang="ja-JP" sz="1600" dirty="0">
                <a:latin typeface="+mn-ea"/>
                <a:cs typeface="メイリオ" pitchFamily="50" charset="-128"/>
              </a:rPr>
              <a:t>5</a:t>
            </a:r>
            <a:r>
              <a:rPr lang="ja-JP" altLang="en-US" sz="1600" dirty="0">
                <a:latin typeface="+mn-ea"/>
                <a:cs typeface="メイリオ" pitchFamily="50" charset="-128"/>
              </a:rPr>
              <a:t>ヶ月を想定しております。</a:t>
            </a:r>
            <a:endParaRPr lang="en-US" altLang="ja-JP" sz="1600" dirty="0">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4077523221"/>
              </p:ext>
            </p:extLst>
          </p:nvPr>
        </p:nvGraphicFramePr>
        <p:xfrm>
          <a:off x="516000" y="1394785"/>
          <a:ext cx="11160000" cy="3180920"/>
        </p:xfrm>
        <a:graphic>
          <a:graphicData uri="http://schemas.openxmlformats.org/drawingml/2006/table">
            <a:tbl>
              <a:tblPr firstRow="1" bandRow="1">
                <a:tableStyleId>{2D5ABB26-0587-4C30-8999-92F81FD0307C}</a:tableStyleId>
              </a:tblPr>
              <a:tblGrid>
                <a:gridCol w="418500">
                  <a:extLst>
                    <a:ext uri="{9D8B030D-6E8A-4147-A177-3AD203B41FA5}">
                      <a16:colId xmlns:a16="http://schemas.microsoft.com/office/drawing/2014/main" val="233225342"/>
                    </a:ext>
                  </a:extLst>
                </a:gridCol>
                <a:gridCol w="976500">
                  <a:extLst>
                    <a:ext uri="{9D8B030D-6E8A-4147-A177-3AD203B41FA5}">
                      <a16:colId xmlns:a16="http://schemas.microsoft.com/office/drawing/2014/main" val="3410166423"/>
                    </a:ext>
                  </a:extLst>
                </a:gridCol>
                <a:gridCol w="976500">
                  <a:extLst>
                    <a:ext uri="{9D8B030D-6E8A-4147-A177-3AD203B41FA5}">
                      <a16:colId xmlns:a16="http://schemas.microsoft.com/office/drawing/2014/main" val="568014644"/>
                    </a:ext>
                  </a:extLst>
                </a:gridCol>
                <a:gridCol w="697500">
                  <a:extLst>
                    <a:ext uri="{9D8B030D-6E8A-4147-A177-3AD203B41FA5}">
                      <a16:colId xmlns:a16="http://schemas.microsoft.com/office/drawing/2014/main" val="2247639322"/>
                    </a:ext>
                  </a:extLst>
                </a:gridCol>
                <a:gridCol w="1232097">
                  <a:extLst>
                    <a:ext uri="{9D8B030D-6E8A-4147-A177-3AD203B41FA5}">
                      <a16:colId xmlns:a16="http://schemas.microsoft.com/office/drawing/2014/main" val="4260495519"/>
                    </a:ext>
                  </a:extLst>
                </a:gridCol>
                <a:gridCol w="1649691">
                  <a:extLst>
                    <a:ext uri="{9D8B030D-6E8A-4147-A177-3AD203B41FA5}">
                      <a16:colId xmlns:a16="http://schemas.microsoft.com/office/drawing/2014/main" val="3343664097"/>
                    </a:ext>
                  </a:extLst>
                </a:gridCol>
                <a:gridCol w="1489435">
                  <a:extLst>
                    <a:ext uri="{9D8B030D-6E8A-4147-A177-3AD203B41FA5}">
                      <a16:colId xmlns:a16="http://schemas.microsoft.com/office/drawing/2014/main" val="3289193583"/>
                    </a:ext>
                  </a:extLst>
                </a:gridCol>
                <a:gridCol w="1781666">
                  <a:extLst>
                    <a:ext uri="{9D8B030D-6E8A-4147-A177-3AD203B41FA5}">
                      <a16:colId xmlns:a16="http://schemas.microsoft.com/office/drawing/2014/main" val="419565712"/>
                    </a:ext>
                  </a:extLst>
                </a:gridCol>
                <a:gridCol w="1938111">
                  <a:extLst>
                    <a:ext uri="{9D8B030D-6E8A-4147-A177-3AD203B41FA5}">
                      <a16:colId xmlns:a16="http://schemas.microsoft.com/office/drawing/2014/main" val="2912004341"/>
                    </a:ext>
                  </a:extLst>
                </a:gridCol>
              </a:tblGrid>
              <a:tr h="397615">
                <a:tc>
                  <a:txBody>
                    <a:bodyPr/>
                    <a:lstStyle/>
                    <a:p>
                      <a:pPr algn="ctr" rtl="0" fontAlgn="ctr"/>
                      <a:r>
                        <a:rPr lang="en-US" sz="1600" b="1" i="0" u="none" strike="noStrike" dirty="0">
                          <a:solidFill>
                            <a:srgbClr val="FFFFFF"/>
                          </a:solidFill>
                          <a:effectLst/>
                          <a:latin typeface="游ゴシック"/>
                          <a:ea typeface="游ゴシック"/>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a:ea typeface="游ゴシック"/>
                        </a:rPr>
                        <a:t>作業者</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a:ea typeface="游ゴシック"/>
                        </a:rPr>
                        <a:t>工数/月（人月）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lvl="0" algn="ctr">
                        <a:buNone/>
                      </a:pPr>
                      <a:r>
                        <a:rPr lang="ja-JP" altLang="en-US" sz="1600" b="1" i="0" u="none" strike="noStrike" dirty="0">
                          <a:solidFill>
                            <a:srgbClr val="FFFFFF"/>
                          </a:solidFill>
                          <a:effectLst/>
                          <a:latin typeface="游ゴシック"/>
                          <a:ea typeface="游ゴシック"/>
                        </a:rPr>
                        <a:t>期間</a:t>
                      </a:r>
                    </a:p>
                  </a:txBody>
                  <a:tcPr marL="7620" marR="7620" marT="762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lvl="0" algn="ctr">
                        <a:buNone/>
                      </a:pPr>
                      <a:r>
                        <a:rPr lang="ja-JP" altLang="en-US" sz="1600" b="1" i="0" u="none" strike="noStrike" dirty="0">
                          <a:solidFill>
                            <a:srgbClr val="FFFFFF"/>
                          </a:solidFill>
                          <a:effectLst/>
                          <a:latin typeface="游ゴシック"/>
                          <a:ea typeface="游ゴシック"/>
                        </a:rPr>
                        <a:t>合計工数</a:t>
                      </a:r>
                      <a:r>
                        <a:rPr lang="zh-CN" altLang="en-US" sz="1600" b="1" i="0" u="none" strike="noStrike" dirty="0">
                          <a:solidFill>
                            <a:srgbClr val="FFFFFF"/>
                          </a:solidFill>
                          <a:effectLst/>
                          <a:latin typeface="游ゴシック"/>
                          <a:ea typeface="游ゴシック"/>
                        </a:rPr>
                        <a:t>（人月）</a:t>
                      </a:r>
                      <a:endParaRPr lang="ja-JP" altLang="en-US" sz="1600" b="1" i="0" u="none" strike="noStrike" dirty="0">
                        <a:solidFill>
                          <a:srgbClr val="FFFFFF"/>
                        </a:solidFill>
                        <a:effectLst/>
                        <a:latin typeface="游ゴシック"/>
                        <a:ea typeface="游ゴシック"/>
                      </a:endParaRPr>
                    </a:p>
                  </a:txBody>
                  <a:tcPr marL="7620" marR="7620" marT="762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97615">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要件定義・設計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a:ea typeface="游ゴシック"/>
                        </a:rPr>
                        <a:t>作業者</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rowSpan="2">
                  <a:txBody>
                    <a:bodyPr/>
                    <a:lstStyle/>
                    <a:p>
                      <a:pPr lvl="0" algn="r">
                        <a:buNone/>
                      </a:pPr>
                      <a:r>
                        <a:rPr lang="en-US" altLang="ja-JP" sz="1600" b="0" i="0" u="none" strike="noStrike" dirty="0">
                          <a:solidFill>
                            <a:srgbClr val="000000"/>
                          </a:solidFill>
                          <a:effectLst/>
                          <a:latin typeface="游ゴシック"/>
                          <a:ea typeface="游ゴシック"/>
                        </a:rPr>
                        <a:t>2025/10/1</a:t>
                      </a:r>
                      <a:r>
                        <a:rPr lang="ja-JP" altLang="en-US" sz="1600" b="0" i="0" u="none" strike="noStrike" dirty="0">
                          <a:solidFill>
                            <a:srgbClr val="000000"/>
                          </a:solidFill>
                          <a:effectLst/>
                          <a:latin typeface="游ゴシック"/>
                          <a:ea typeface="游ゴシック"/>
                        </a:rPr>
                        <a:t>～</a:t>
                      </a:r>
                      <a:r>
                        <a:rPr lang="en-US" altLang="ja-JP" sz="1600" b="0" i="0" u="none" strike="noStrike" dirty="0">
                          <a:solidFill>
                            <a:srgbClr val="000000"/>
                          </a:solidFill>
                          <a:effectLst/>
                          <a:latin typeface="游ゴシック"/>
                          <a:ea typeface="游ゴシック"/>
                        </a:rPr>
                        <a:t>2025/10/31</a:t>
                      </a:r>
                    </a:p>
                    <a:p>
                      <a:pPr lvl="0" algn="r">
                        <a:buNone/>
                      </a:pPr>
                      <a:r>
                        <a:rPr lang="ja-JP" altLang="en-US" sz="1600" b="0" i="0" u="none" strike="noStrike" dirty="0">
                          <a:solidFill>
                            <a:srgbClr val="000000"/>
                          </a:solidFill>
                          <a:effectLst/>
                          <a:latin typeface="游ゴシック"/>
                          <a:ea typeface="游ゴシック"/>
                        </a:rPr>
                        <a:t>（</a:t>
                      </a:r>
                      <a:r>
                        <a:rPr lang="en-US" altLang="ja-JP" sz="1600" b="0" i="0" u="none" strike="noStrike" dirty="0">
                          <a:solidFill>
                            <a:srgbClr val="000000"/>
                          </a:solidFill>
                          <a:effectLst/>
                          <a:latin typeface="游ゴシック"/>
                          <a:ea typeface="游ゴシック"/>
                        </a:rPr>
                        <a:t>1</a:t>
                      </a:r>
                      <a:r>
                        <a:rPr lang="ja-JP" altLang="en-US" sz="1600" b="0" i="0" u="none" strike="noStrike" dirty="0">
                          <a:solidFill>
                            <a:srgbClr val="000000"/>
                          </a:solidFill>
                          <a:effectLst/>
                          <a:latin typeface="游ゴシック"/>
                          <a:ea typeface="游ゴシック"/>
                        </a:rPr>
                        <a:t>か月）</a:t>
                      </a:r>
                      <a:endParaRPr lang="en-US" altLang="ja-JP" sz="1600" b="0" i="0" u="none" strike="noStrike" dirty="0">
                        <a:solidFill>
                          <a:srgbClr val="000000"/>
                        </a:solidFill>
                        <a:effectLst/>
                        <a:latin typeface="游ゴシック"/>
                        <a:ea typeface="游ゴシック"/>
                      </a:endParaRPr>
                    </a:p>
                  </a:txBody>
                  <a:tcPr marL="6350" marR="72000" marT="635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r">
                        <a:buNone/>
                      </a:pPr>
                      <a:r>
                        <a:rPr lang="en-US" altLang="ja-JP" sz="1600" b="0" i="0" u="none" strike="noStrike" dirty="0">
                          <a:solidFill>
                            <a:srgbClr val="000000"/>
                          </a:solidFill>
                          <a:effectLst/>
                          <a:latin typeface="游ゴシック"/>
                          <a:ea typeface="游ゴシック"/>
                        </a:rPr>
                        <a:t>1.8</a:t>
                      </a:r>
                    </a:p>
                  </a:txBody>
                  <a:tcPr marL="6350" marR="72000" marT="635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algn="r" rtl="0" fontAlgn="ctr"/>
                      <a:r>
                        <a:rPr lang="en-US" altLang="ja-JP" sz="1600" b="0" i="0" u="none" strike="noStrike" dirty="0">
                          <a:solidFill>
                            <a:srgbClr val="000000"/>
                          </a:solidFill>
                          <a:effectLst/>
                          <a:latin typeface="游ゴシック"/>
                          <a:ea typeface="游ゴシック"/>
                        </a:rPr>
                        <a:t>1,800,000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12587978"/>
                  </a:ext>
                </a:extLst>
              </a:tr>
              <a:tr h="39761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a:ea typeface="游ゴシック"/>
                        </a:rPr>
                        <a:t>管理者</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0.2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lvl="0" algn="r">
                        <a:buNone/>
                      </a:pPr>
                      <a:endParaRPr lang="en-US" altLang="ja-JP" sz="1600" b="0" i="0" u="none" strike="noStrike" dirty="0">
                        <a:solidFill>
                          <a:srgbClr val="000000"/>
                        </a:solidFill>
                        <a:effectLst/>
                        <a:latin typeface="游ゴシック"/>
                        <a:ea typeface="游ゴシック"/>
                      </a:endParaRPr>
                    </a:p>
                  </a:txBody>
                  <a:tcPr marL="6350" marR="72000" marT="635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r">
                        <a:buNone/>
                      </a:pPr>
                      <a:r>
                        <a:rPr lang="en-US" altLang="ja-JP" sz="1600" b="0" i="0" u="none" strike="noStrike" dirty="0">
                          <a:solidFill>
                            <a:srgbClr val="000000"/>
                          </a:solidFill>
                          <a:effectLst/>
                          <a:latin typeface="游ゴシック"/>
                          <a:ea typeface="游ゴシック"/>
                        </a:rPr>
                        <a:t>0.2</a:t>
                      </a:r>
                    </a:p>
                  </a:txBody>
                  <a:tcPr marL="6350" marR="72000" marT="635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algn="r" rtl="0" fontAlgn="ctr"/>
                      <a:r>
                        <a:rPr lang="en-US" altLang="ja-JP" sz="1600" b="0" i="0" u="none" strike="noStrike" dirty="0">
                          <a:solidFill>
                            <a:srgbClr val="000000"/>
                          </a:solidFill>
                          <a:effectLst/>
                          <a:latin typeface="游ゴシック"/>
                          <a:ea typeface="游ゴシック"/>
                        </a:rPr>
                        <a:t>280,000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5517169"/>
                  </a:ext>
                </a:extLst>
              </a:tr>
              <a:tr h="397615">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dirty="0">
                          <a:solidFill>
                            <a:srgbClr val="000000"/>
                          </a:solidFill>
                          <a:effectLst/>
                          <a:latin typeface="游ゴシック"/>
                          <a:ea typeface="游ゴシック"/>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r>
                        <a:rPr lang="en-US" altLang="ja-JP" sz="1600" b="1" i="0" u="none" strike="noStrike" dirty="0">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2,080,000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97615">
                <a:tc rowSpan="3">
                  <a:txBody>
                    <a:bodyPr/>
                    <a:lstStyle/>
                    <a:p>
                      <a:pPr algn="ct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移行</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a:ea typeface="游ゴシック"/>
                        </a:rPr>
                        <a:t>作業者</a:t>
                      </a:r>
                    </a:p>
                  </a:txBody>
                  <a:tcPr marL="72000" marR="72000" marT="36000" marB="3600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dirty="0">
                          <a:solidFill>
                            <a:srgbClr val="000000"/>
                          </a:solidFill>
                          <a:effectLst/>
                          <a:latin typeface="游ゴシック"/>
                          <a:ea typeface="游ゴシック"/>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rowSpan="2">
                  <a:txBody>
                    <a:bodyPr/>
                    <a:lstStyle/>
                    <a:p>
                      <a:pPr lvl="0" algn="r">
                        <a:buNone/>
                      </a:pPr>
                      <a:r>
                        <a:rPr lang="en-US" altLang="ja-JP" sz="1600" b="0" i="0" u="none" strike="noStrike" dirty="0">
                          <a:solidFill>
                            <a:srgbClr val="000000"/>
                          </a:solidFill>
                          <a:effectLst/>
                          <a:latin typeface="游ゴシック"/>
                          <a:ea typeface="游ゴシック"/>
                        </a:rPr>
                        <a:t>2025/11/1</a:t>
                      </a:r>
                      <a:r>
                        <a:rPr lang="ja-JP" altLang="en-US" sz="1600" b="0" i="0" u="none" strike="noStrike" dirty="0">
                          <a:solidFill>
                            <a:srgbClr val="000000"/>
                          </a:solidFill>
                          <a:effectLst/>
                          <a:latin typeface="游ゴシック"/>
                          <a:ea typeface="游ゴシック"/>
                        </a:rPr>
                        <a:t>～</a:t>
                      </a:r>
                      <a:r>
                        <a:rPr lang="en-US" altLang="ja-JP" sz="1600" b="0" i="0" u="none" strike="noStrike" dirty="0">
                          <a:solidFill>
                            <a:srgbClr val="000000"/>
                          </a:solidFill>
                          <a:effectLst/>
                          <a:latin typeface="游ゴシック"/>
                          <a:ea typeface="游ゴシック"/>
                        </a:rPr>
                        <a:t>2026/2/28</a:t>
                      </a:r>
                    </a:p>
                    <a:p>
                      <a:pPr marL="0" marR="0" lvl="0" indent="0" algn="r" defTabSz="914400" rtl="0" eaLnBrk="1" fontAlgn="auto"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a:ea typeface="游ゴシック"/>
                        </a:rPr>
                        <a:t>（4か月）</a:t>
                      </a:r>
                      <a:endParaRPr lang="en-US" altLang="ja-JP" sz="1600" b="0"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lvl="0" algn="r">
                        <a:buNone/>
                      </a:pPr>
                      <a:r>
                        <a:rPr lang="en-US" altLang="ja-JP" sz="1600" b="0" i="0" u="none" strike="noStrike" dirty="0">
                          <a:solidFill>
                            <a:srgbClr val="000000"/>
                          </a:solidFill>
                          <a:effectLst/>
                          <a:latin typeface="游ゴシック"/>
                          <a:ea typeface="游ゴシック"/>
                        </a:rPr>
                        <a:t>7.2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dirty="0">
                          <a:solidFill>
                            <a:srgbClr val="000000"/>
                          </a:solidFill>
                          <a:effectLst/>
                          <a:latin typeface="游ゴシック"/>
                          <a:ea typeface="游ゴシック"/>
                        </a:rPr>
                        <a:t>7,200,000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94450184"/>
                  </a:ext>
                </a:extLst>
              </a:tr>
              <a:tr h="397615">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a:ea typeface="游ゴシック"/>
                        </a:rPr>
                        <a:t>管理者</a:t>
                      </a:r>
                    </a:p>
                  </a:txBody>
                  <a:tcPr marL="72000" marR="72000" marT="36000" marB="3600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dirty="0">
                          <a:solidFill>
                            <a:srgbClr val="000000"/>
                          </a:solidFill>
                          <a:effectLst/>
                          <a:latin typeface="游ゴシック"/>
                          <a:ea typeface="游ゴシック"/>
                        </a:rPr>
                        <a:t>0.2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vMerge="1">
                  <a:txBody>
                    <a:bodyPr/>
                    <a:lstStyle/>
                    <a:p>
                      <a:pPr lvl="0" algn="r">
                        <a:buNone/>
                      </a:pPr>
                      <a:endParaRPr lang="en-US" altLang="ja-JP" sz="1600" b="0"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lvl="0" algn="r">
                        <a:buNone/>
                      </a:pPr>
                      <a:r>
                        <a:rPr lang="en-US" altLang="ja-JP" sz="1600" b="0" i="0" u="none" strike="noStrike" dirty="0">
                          <a:solidFill>
                            <a:srgbClr val="000000"/>
                          </a:solidFill>
                          <a:effectLst/>
                          <a:latin typeface="游ゴシック"/>
                          <a:ea typeface="游ゴシック"/>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dirty="0">
                          <a:solidFill>
                            <a:srgbClr val="000000"/>
                          </a:solidFill>
                          <a:effectLst/>
                          <a:latin typeface="游ゴシック"/>
                          <a:ea typeface="游ゴシック"/>
                        </a:rPr>
                        <a:t>1,120,000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254259302"/>
                  </a:ext>
                </a:extLst>
              </a:tr>
              <a:tr h="397615">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游ゴシック"/>
                          <a:ea typeface="游ゴシック"/>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r>
                        <a:rPr lang="en-US" altLang="ja-JP" sz="1600" b="1" i="0" u="none" strike="noStrike" dirty="0">
                          <a:solidFill>
                            <a:srgbClr val="000000"/>
                          </a:solidFill>
                          <a:effectLst/>
                          <a:latin typeface="游ゴシック"/>
                          <a:ea typeface="游ゴシック"/>
                        </a:rPr>
                        <a:t>8.0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8,320,000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1832122"/>
                  </a:ext>
                </a:extLst>
              </a:tr>
              <a:tr h="397615">
                <a:tc gridSpan="6">
                  <a:txBody>
                    <a:bodyPr/>
                    <a:lstStyle/>
                    <a:p>
                      <a:pPr algn="r" rtl="0" fontAlgn="ctr"/>
                      <a:r>
                        <a:rPr kumimoji="1" lang="ja-JP" altLang="en-US" sz="1600" b="1" i="0" u="none" strike="noStrike" kern="1200" dirty="0">
                          <a:solidFill>
                            <a:srgbClr val="000000"/>
                          </a:solidFill>
                          <a:effectLst/>
                          <a:latin typeface="游ゴシック"/>
                          <a:ea typeface="游ゴシック"/>
                          <a:cs typeface="+mn-cs"/>
                        </a:rPr>
                        <a:t>合計</a:t>
                      </a:r>
                      <a:endParaRPr kumimoji="1" lang="en-US" altLang="ja-JP" sz="1600" b="1" i="0" u="none" strike="noStrike" kern="1200" dirty="0">
                        <a:solidFill>
                          <a:srgbClr val="000000"/>
                        </a:solidFill>
                        <a:effectLst/>
                        <a:latin typeface="游ゴシック"/>
                        <a:ea typeface="游ゴシック"/>
                        <a:cs typeface="+mn-cs"/>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dirty="0">
                        <a:solidFill>
                          <a:srgbClr val="000000"/>
                        </a:solidFill>
                        <a:effectLst/>
                        <a:latin typeface="游ゴシック"/>
                        <a:ea typeface="游ゴシック"/>
                      </a:endParaRP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lstStyle/>
                    <a:p>
                      <a:pPr algn="r" rtl="0" fontAlgn="ctr"/>
                      <a:endParaRPr lang="en-US" altLang="ja-JP" sz="1600" b="1"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solidFill>
                      <a:schemeClr val="accent1">
                        <a:lumMod val="20000"/>
                        <a:lumOff val="80000"/>
                      </a:schemeClr>
                    </a:solidFill>
                  </a:tcPr>
                </a:tc>
                <a:tc>
                  <a:txBody>
                    <a:bodyPr/>
                    <a:lstStyle/>
                    <a:p>
                      <a:pPr lvl="0" algn="r">
                        <a:buNone/>
                      </a:pPr>
                      <a:r>
                        <a:rPr lang="en-US" altLang="ja-JP" sz="1600" b="1" i="0" u="none" strike="noStrike" dirty="0">
                          <a:solidFill>
                            <a:srgbClr val="000000"/>
                          </a:solidFill>
                          <a:effectLst/>
                          <a:latin typeface="游ゴシック"/>
                          <a:ea typeface="游ゴシック"/>
                        </a:rPr>
                        <a:t>10.0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10,400,000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73092215"/>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9. 【</a:t>
            </a:r>
            <a:r>
              <a:rPr lang="ja-JP" altLang="en-US">
                <a:latin typeface="游明朝"/>
                <a:ea typeface="游明朝"/>
              </a:rPr>
              <a:t>参考</a:t>
            </a:r>
            <a:r>
              <a:rPr lang="en-US" altLang="ja-JP">
                <a:latin typeface="游明朝"/>
                <a:ea typeface="游明朝"/>
              </a:rPr>
              <a:t>】</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② その他共通基盤の環境移行に際する支援</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735233850"/>
              </p:ext>
            </p:extLst>
          </p:nvPr>
        </p:nvGraphicFramePr>
        <p:xfrm>
          <a:off x="606000" y="865868"/>
          <a:ext cx="10979999" cy="511323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200,000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140,000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9282">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0.6</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640,000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9282">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280,000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9282">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1.2</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1,280,000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9282">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458713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420,000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2.6</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2,720,000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928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4.4</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4,640,000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AA608998-7E3E-1298-045C-A506F642ABA9}"/>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個別に実施した場合の想定金額となります。①のシステム資産移行と同時に実施する場合は金額が異なります。</a:t>
            </a:r>
            <a:endParaRPr lang="en-US" altLang="ja-JP" sz="1400">
              <a:latin typeface="+mn-ea"/>
              <a:cs typeface="メイリオ" pitchFamily="50" charset="-128"/>
            </a:endParaRPr>
          </a:p>
        </p:txBody>
      </p:sp>
    </p:spTree>
    <p:extLst>
      <p:ext uri="{BB962C8B-B14F-4D97-AF65-F5344CB8AC3E}">
        <p14:creationId xmlns:p14="http://schemas.microsoft.com/office/powerpoint/2010/main" val="1471803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10.</a:t>
            </a:r>
            <a:r>
              <a:rPr lang="ja-JP" altLang="en-US">
                <a:latin typeface="游明朝"/>
                <a:ea typeface="游明朝"/>
              </a:rPr>
              <a:t> お見積もり前提条件</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r>
              <a:rPr kumimoji="1" lang="ja-JP" altLang="en-US" b="0" u="none" dirty="0"/>
              <a:t>本資料記載の金額は全て税抜となります。</a:t>
            </a:r>
            <a:endParaRPr kumimoji="1" lang="en-US" altLang="ja-JP" b="0" u="none" dirty="0"/>
          </a:p>
          <a:p>
            <a:r>
              <a:rPr lang="ja-JP" altLang="en-US" b="0" u="none" dirty="0">
                <a:solidFill>
                  <a:srgbClr val="0000FF"/>
                </a:solidFill>
              </a:rPr>
              <a:t>本お見積もりの契約形態は準委任契約（履行割合型）を想定しております。</a:t>
            </a:r>
            <a:endParaRPr lang="en-US" altLang="ja-JP" b="0" u="none" dirty="0">
              <a:solidFill>
                <a:srgbClr val="0000FF"/>
              </a:solidFill>
            </a:endParaRPr>
          </a:p>
          <a:p>
            <a:r>
              <a:rPr kumimoji="1" lang="ja-JP" altLang="en-US" b="0" u="none" dirty="0">
                <a:latin typeface="游ゴシック"/>
                <a:ea typeface="游ゴシック"/>
              </a:rPr>
              <a:t>本お見積もりの作業内容は、「</a:t>
            </a:r>
            <a:r>
              <a:rPr kumimoji="1" lang="en-US" altLang="ja-JP" b="0" u="none" dirty="0">
                <a:latin typeface="游ゴシック"/>
                <a:ea typeface="游ゴシック"/>
              </a:rPr>
              <a:t>4.</a:t>
            </a:r>
            <a:r>
              <a:rPr kumimoji="1" lang="ja-JP" altLang="en-US" b="0" u="none" dirty="0">
                <a:latin typeface="游ゴシック"/>
                <a:ea typeface="游ゴシック"/>
              </a:rPr>
              <a:t> </a:t>
            </a:r>
            <a:r>
              <a:rPr lang="ja-JP" altLang="en-US" b="0" u="none" dirty="0">
                <a:latin typeface="游ゴシック"/>
                <a:ea typeface="游ゴシック"/>
              </a:rPr>
              <a:t>想定している作業内容と成果物」に基づいてお見積もりしております。</a:t>
            </a:r>
            <a:br>
              <a:rPr lang="ja-JP" altLang="en-US" b="0" u="none" dirty="0">
                <a:latin typeface="游ゴシック"/>
                <a:ea typeface="游ゴシック"/>
              </a:rPr>
            </a:br>
            <a:r>
              <a:rPr lang="ja-JP" altLang="en-US" b="0" u="none" dirty="0">
                <a:latin typeface="游ゴシック"/>
                <a:ea typeface="游ゴシック"/>
              </a:rPr>
              <a:t>上記以外の対応が発生した場合は別途ご相談の上、決定させていただきます。</a:t>
            </a:r>
            <a:endParaRPr lang="en-US" altLang="ja-JP" b="0" u="none" dirty="0"/>
          </a:p>
          <a:p>
            <a:r>
              <a:rPr lang="ja-JP" altLang="en-US" b="0" u="none" dirty="0"/>
              <a:t>本お見積もりは縮小版共通基盤への単純移行を想定しております。</a:t>
            </a:r>
            <a:endParaRPr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r>
              <a:rPr kumimoji="1" lang="en-US" altLang="ja-JP" b="0" u="none" dirty="0">
                <a:latin typeface="游ゴシック"/>
                <a:ea typeface="游ゴシック"/>
              </a:rPr>
              <a:t>DB</a:t>
            </a:r>
            <a:r>
              <a:rPr kumimoji="1" lang="ja-JP" altLang="en-US" b="0" u="none" dirty="0">
                <a:latin typeface="游ゴシック"/>
                <a:ea typeface="游ゴシック"/>
              </a:rPr>
              <a:t>の移行先は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kumimoji="1" lang="en-US" altLang="ja-JP" b="0" u="none" dirty="0">
              <a:latin typeface="游ゴシック"/>
              <a:ea typeface="游ゴシック"/>
            </a:endParaRPr>
          </a:p>
          <a:p>
            <a:r>
              <a:rPr lang="ja-JP" altLang="en-US" b="0" u="none" dirty="0">
                <a:latin typeface="游ゴシック"/>
                <a:ea typeface="游ゴシック"/>
              </a:rPr>
              <a:t>DB移行に関する費用は含まれておりません。</a:t>
            </a:r>
            <a:endParaRPr lang="en-US" altLang="ja-JP" b="0" u="none" dirty="0">
              <a:latin typeface="游ゴシック"/>
              <a:ea typeface="游ゴシック"/>
            </a:endParaRPr>
          </a:p>
          <a:p>
            <a:r>
              <a:rPr lang="ja-JP" b="0" u="none" dirty="0">
                <a:latin typeface="游ゴシック"/>
                <a:ea typeface="游ゴシック"/>
                <a:cs typeface="+mn-ea"/>
              </a:rPr>
              <a:t>Azureのサーバ等は、2</a:t>
            </a:r>
            <a:r>
              <a:rPr lang="en-US" altLang="ja-JP" b="0" u="none" dirty="0">
                <a:latin typeface="游ゴシック"/>
                <a:ea typeface="游ゴシック"/>
                <a:cs typeface="+mn-ea"/>
              </a:rPr>
              <a:t>5</a:t>
            </a:r>
            <a:r>
              <a:rPr lang="ja-JP" b="0" u="none" dirty="0">
                <a:latin typeface="游ゴシック"/>
                <a:ea typeface="游ゴシック"/>
                <a:cs typeface="+mn-ea"/>
              </a:rPr>
              <a:t>年</a:t>
            </a:r>
            <a:r>
              <a:rPr lang="en-US" altLang="ja-JP" b="0" u="none" dirty="0">
                <a:latin typeface="游ゴシック"/>
                <a:ea typeface="游ゴシック"/>
                <a:cs typeface="+mn-ea"/>
              </a:rPr>
              <a:t>8</a:t>
            </a:r>
            <a:r>
              <a:rPr lang="ja-JP" b="0" u="none" dirty="0">
                <a:latin typeface="游ゴシック"/>
                <a:ea typeface="游ゴシック"/>
                <a:cs typeface="+mn-ea"/>
              </a:rPr>
              <a:t>月の案件開始時点で必要数分を</a:t>
            </a:r>
            <a:r>
              <a:rPr lang="ja-JP" altLang="en-US" b="0" u="none" dirty="0">
                <a:latin typeface="游ゴシック"/>
                <a:ea typeface="游ゴシック"/>
                <a:cs typeface="+mn-ea"/>
              </a:rPr>
              <a:t>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endParaRPr>
          </a:p>
          <a:p>
            <a:r>
              <a:rPr lang="ja-JP" b="0" u="none" dirty="0">
                <a:latin typeface="游ゴシック"/>
                <a:ea typeface="游ゴシック"/>
                <a:cs typeface="+mn-ea"/>
              </a:rPr>
              <a:t>非互換対応</a:t>
            </a:r>
            <a:r>
              <a:rPr lang="ja-JP" altLang="en-US" b="0" u="none" dirty="0">
                <a:latin typeface="游ゴシック"/>
                <a:ea typeface="游ゴシック"/>
                <a:cs typeface="+mn-ea"/>
              </a:rPr>
              <a:t>や業務変更などのプログラム改修は想定していません。</a:t>
            </a:r>
            <a:endParaRPr lang="ja-JP" altLang="en-US" b="0" u="none" dirty="0">
              <a:latin typeface="游ゴシック"/>
              <a:ea typeface="游ゴシック"/>
            </a:endParaRPr>
          </a:p>
          <a:p>
            <a:r>
              <a:rPr lang="ja-JP" altLang="en-US" b="0" u="none" dirty="0">
                <a:latin typeface="游ゴシック"/>
                <a:ea typeface="游ゴシック"/>
                <a:cs typeface="+mn-ea"/>
              </a:rPr>
              <a:t>汎用徴収と上下水道システム（</a:t>
            </a:r>
            <a:r>
              <a:rPr lang="en-US" altLang="ja-JP" b="0" u="none" dirty="0">
                <a:latin typeface="游ゴシック"/>
                <a:ea typeface="游ゴシック"/>
                <a:cs typeface="+mn-ea"/>
              </a:rPr>
              <a:t>Excel</a:t>
            </a:r>
            <a:r>
              <a:rPr lang="ja-JP" altLang="en-US" b="0" u="none" dirty="0">
                <a:latin typeface="游ゴシック"/>
                <a:ea typeface="游ゴシック"/>
                <a:cs typeface="+mn-ea"/>
              </a:rPr>
              <a:t>）は本御見積対象外となります。</a:t>
            </a:r>
            <a:endParaRPr lang="en-US" altLang="ja-JP" b="0" u="none" dirty="0">
              <a:latin typeface="游ゴシック"/>
              <a:ea typeface="游ゴシック"/>
              <a:cs typeface="+mn-ea"/>
            </a:endParaRPr>
          </a:p>
          <a:p>
            <a:r>
              <a:rPr lang="ja-JP" altLang="en-US" b="0" u="none" dirty="0">
                <a:latin typeface="游ゴシック"/>
                <a:ea typeface="游ゴシック"/>
              </a:rPr>
              <a:t>出クレ送信処理については、事務管理⇒連携</a:t>
            </a:r>
            <a:r>
              <a:rPr lang="en-US" altLang="ja-JP" b="0" u="none" dirty="0">
                <a:latin typeface="游ゴシック"/>
                <a:ea typeface="游ゴシック"/>
              </a:rPr>
              <a:t>NAS</a:t>
            </a:r>
            <a:r>
              <a:rPr lang="ja-JP" altLang="en-US" b="0" u="none" dirty="0">
                <a:latin typeface="游ゴシック"/>
                <a:ea typeface="游ゴシック"/>
              </a:rPr>
              <a:t>間の移行のみ対象となります。</a:t>
            </a:r>
            <a:br>
              <a:rPr lang="en-US" altLang="ja-JP" b="0" u="none" dirty="0">
                <a:latin typeface="游ゴシック"/>
                <a:ea typeface="游ゴシック"/>
              </a:rPr>
            </a:br>
            <a:r>
              <a:rPr lang="ja-JP" altLang="en-US" b="0" u="none" dirty="0">
                <a:latin typeface="游ゴシック"/>
                <a:ea typeface="游ゴシック"/>
              </a:rPr>
              <a:t>後続処理（</a:t>
            </a:r>
            <a:r>
              <a:rPr lang="en-US" altLang="ja-JP" b="0" u="none" dirty="0" err="1">
                <a:latin typeface="游ゴシック"/>
                <a:ea typeface="游ゴシック"/>
              </a:rPr>
              <a:t>Waha</a:t>
            </a:r>
            <a:r>
              <a:rPr lang="ja-JP" altLang="en-US" b="0" u="none" dirty="0">
                <a:latin typeface="游ゴシック"/>
                <a:ea typeface="游ゴシック"/>
              </a:rPr>
              <a:t>変換、出クレシステムへの送信）は貴社にてご対応お願いします。</a:t>
            </a:r>
          </a:p>
          <a:p>
            <a:r>
              <a:rPr lang="ja-JP" altLang="en-US" b="0" u="none" dirty="0">
                <a:latin typeface="游ゴシック"/>
                <a:ea typeface="游ゴシック"/>
              </a:rPr>
              <a:t>初期流動期間（</a:t>
            </a:r>
            <a:r>
              <a:rPr lang="en-US" altLang="ja-JP" b="0" u="none" dirty="0">
                <a:latin typeface="游ゴシック"/>
                <a:ea typeface="游ゴシック"/>
              </a:rPr>
              <a:t>2025/12/19</a:t>
            </a:r>
            <a:r>
              <a:rPr lang="ja-JP" altLang="en-US" b="0" u="none" dirty="0">
                <a:latin typeface="游ゴシック"/>
                <a:ea typeface="游ゴシック"/>
              </a:rPr>
              <a:t>まで）の対応が完了しない場合は、別途ご発注とさせていただきます。</a:t>
            </a:r>
            <a:endParaRPr lang="en-US" altLang="ja-JP" b="0" u="none" dirty="0">
              <a:latin typeface="游ゴシック"/>
              <a:ea typeface="游ゴシック"/>
            </a:endParaRPr>
          </a:p>
          <a:p>
            <a:r>
              <a:rPr lang="ja-JP" altLang="en-US" b="0" u="none" dirty="0">
                <a:solidFill>
                  <a:srgbClr val="0000FF"/>
                </a:solidFill>
                <a:latin typeface="游ゴシック"/>
                <a:ea typeface="游ゴシック"/>
              </a:rPr>
              <a:t>お支払いにつきましては、「月末締、翌月末現金支払」を想定しております。</a:t>
            </a:r>
            <a:endParaRPr lang="en-US" altLang="ja-JP" b="0" u="none" dirty="0">
              <a:solidFill>
                <a:srgbClr val="0000FF"/>
              </a:solidFill>
              <a:latin typeface="游ゴシック"/>
              <a:ea typeface="游ゴシック"/>
            </a:endParaRPr>
          </a:p>
          <a:p>
            <a:r>
              <a:rPr kumimoji="1" lang="ja-JP" altLang="en-US" b="0" u="none" dirty="0"/>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a:t>
            </a:r>
            <a:r>
              <a:rPr lang="ja-JP" altLang="en-US">
                <a:latin typeface="游ゴシック"/>
                <a:ea typeface="游ゴシック"/>
              </a:rPr>
              <a:t>野村康二</a:t>
            </a:r>
            <a:r>
              <a:rPr kumimoji="1" lang="ja-JP" altLang="en-US">
                <a:latin typeface="游ゴシック"/>
                <a:ea typeface="游ゴシック"/>
              </a:rPr>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lang="ja-JP" altLang="en-US">
                <a:latin typeface="游ゴシック"/>
                <a:ea typeface="游ゴシック"/>
              </a:rPr>
              <a:t>kouji</a:t>
            </a:r>
            <a:r>
              <a:rPr lang="en-US" altLang="ja-JP">
                <a:latin typeface="游ゴシック"/>
                <a:ea typeface="游ゴシック"/>
              </a:rPr>
              <a:t>.nomura@system-exe.jp</a:t>
            </a:r>
            <a:endParaRPr kumimoji="1" lang="en-US" altLang="ja-JP">
              <a:latin typeface="游ゴシック"/>
              <a:ea typeface="游ゴシック"/>
            </a:endParaRPr>
          </a:p>
          <a:p>
            <a:r>
              <a:rPr lang="ja-JP" altLang="en-US">
                <a:latin typeface="游ゴシック"/>
                <a:ea typeface="游ゴシック"/>
              </a:rPr>
              <a:t>　　　</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14</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8. </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② その他共通基盤の環境移行に際するご協力のお願い</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nvGraphicFramePr>
        <p:xfrm>
          <a:off x="606000" y="865868"/>
          <a:ext cx="10979999" cy="511323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200,000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140,000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9282">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0.8</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840,000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9282">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2,000,000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700,000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9282">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2.5</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3,700,000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9282">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2,000,000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458713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5.5</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5,900,000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928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8.8</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10,440,000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AA608998-7E3E-1298-045C-A506F642ABA9}"/>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個別に実施した場合の想定金額となります。①のシステム資産移行と同時に実施する場合は金額が異なります。</a:t>
            </a:r>
            <a:endParaRPr lang="en-US" altLang="ja-JP" sz="1400">
              <a:latin typeface="+mn-ea"/>
              <a:cs typeface="メイリオ" pitchFamily="50" charset="-128"/>
            </a:endParaRPr>
          </a:p>
        </p:txBody>
      </p:sp>
      <p:sp>
        <p:nvSpPr>
          <p:cNvPr id="11" name="正方形/長方形 10">
            <a:extLst>
              <a:ext uri="{FF2B5EF4-FFF2-40B4-BE49-F238E27FC236}">
                <a16:creationId xmlns:a16="http://schemas.microsoft.com/office/drawing/2014/main" id="{A3D249A9-1153-4F2E-985C-DB545E892B6B}"/>
              </a:ext>
            </a:extLst>
          </p:cNvPr>
          <p:cNvSpPr/>
          <p:nvPr/>
        </p:nvSpPr>
        <p:spPr>
          <a:xfrm>
            <a:off x="9432235" y="180000"/>
            <a:ext cx="1908313" cy="50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修正前</a:t>
            </a:r>
          </a:p>
        </p:txBody>
      </p:sp>
    </p:spTree>
    <p:extLst>
      <p:ext uri="{BB962C8B-B14F-4D97-AF65-F5344CB8AC3E}">
        <p14:creationId xmlns:p14="http://schemas.microsoft.com/office/powerpoint/2010/main" val="1440214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BBB614-F76F-5323-2115-575A3F961B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33E966-55EE-52BA-48D8-7D6293C8C51E}"/>
              </a:ext>
            </a:extLst>
          </p:cNvPr>
          <p:cNvSpPr>
            <a:spLocks noGrp="1"/>
          </p:cNvSpPr>
          <p:nvPr>
            <p:ph type="title"/>
          </p:nvPr>
        </p:nvSpPr>
        <p:spPr/>
        <p:txBody>
          <a:bodyPr/>
          <a:lstStyle/>
          <a:p>
            <a:r>
              <a:rPr lang="en-US" altLang="ja-JP">
                <a:latin typeface="游明朝"/>
                <a:ea typeface="游明朝"/>
              </a:rPr>
              <a:t>9. </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① 縮小版共通基盤へのシステム資産移行</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423F6EF6-BC5F-C212-61C4-98415356DDE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595379F1-3DD7-D19C-2A7E-53FC1913DB2F}"/>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16</a:t>
            </a:fld>
            <a:endParaRPr kumimoji="1" lang="ja-JP" altLang="en-US" sz="700"/>
          </a:p>
        </p:txBody>
      </p:sp>
      <p:sp>
        <p:nvSpPr>
          <p:cNvPr id="8" name="テキスト ボックス 7">
            <a:extLst>
              <a:ext uri="{FF2B5EF4-FFF2-40B4-BE49-F238E27FC236}">
                <a16:creationId xmlns:a16="http://schemas.microsoft.com/office/drawing/2014/main" id="{49245238-E28F-1A81-9D48-E7DE458BD51B}"/>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DA26F174-237A-BE8E-E03B-4751A464AD4A}"/>
              </a:ext>
            </a:extLst>
          </p:cNvPr>
          <p:cNvGraphicFramePr>
            <a:graphicFrameLocks noGrp="1"/>
          </p:cNvGraphicFramePr>
          <p:nvPr>
            <p:extLst>
              <p:ext uri="{D42A27DB-BD31-4B8C-83A1-F6EECF244321}">
                <p14:modId xmlns:p14="http://schemas.microsoft.com/office/powerpoint/2010/main" val="4063268750"/>
              </p:ext>
            </p:extLst>
          </p:nvPr>
        </p:nvGraphicFramePr>
        <p:xfrm>
          <a:off x="606000" y="865868"/>
          <a:ext cx="10979999" cy="511146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1.9</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2,020,000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25146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6.6</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7,000,000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4000">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5,900,000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14,920,000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7" name="テキスト ボックス 6">
            <a:extLst>
              <a:ext uri="{FF2B5EF4-FFF2-40B4-BE49-F238E27FC236}">
                <a16:creationId xmlns:a16="http://schemas.microsoft.com/office/drawing/2014/main" id="{9FC85580-C3F0-8D0A-ED8C-6C87A5D3F157}"/>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ご契約は</a:t>
            </a:r>
            <a:r>
              <a:rPr lang="ja-JP" altLang="en-US" sz="1400"/>
              <a:t>「要件定義・設計」「開発」「システムテスト以降」の各フェーズ単位を想定しております。</a:t>
            </a:r>
            <a:endParaRPr lang="en-US" altLang="ja-JP" sz="1400">
              <a:latin typeface="+mn-ea"/>
              <a:cs typeface="メイリオ" pitchFamily="50" charset="-128"/>
            </a:endParaRPr>
          </a:p>
        </p:txBody>
      </p:sp>
      <p:sp>
        <p:nvSpPr>
          <p:cNvPr id="5" name="正方形/長方形 4">
            <a:extLst>
              <a:ext uri="{FF2B5EF4-FFF2-40B4-BE49-F238E27FC236}">
                <a16:creationId xmlns:a16="http://schemas.microsoft.com/office/drawing/2014/main" id="{46E8EE1D-3CC7-4C91-DE3A-EB4F365CFA5C}"/>
              </a:ext>
            </a:extLst>
          </p:cNvPr>
          <p:cNvSpPr/>
          <p:nvPr/>
        </p:nvSpPr>
        <p:spPr>
          <a:xfrm>
            <a:off x="9432235" y="180000"/>
            <a:ext cx="1908313" cy="50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修正前</a:t>
            </a:r>
          </a:p>
        </p:txBody>
      </p:sp>
    </p:spTree>
    <p:extLst>
      <p:ext uri="{BB962C8B-B14F-4D97-AF65-F5344CB8AC3E}">
        <p14:creationId xmlns:p14="http://schemas.microsoft.com/office/powerpoint/2010/main" val="4014796018"/>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6D8262E6-A4A2-4E8A-8AA5-A4BEF4991A11}">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C728C5-B22A-42B4-8163-E4A5D49941FF}">
  <ds:schemaRefs>
    <ds:schemaRef ds:uri="http://schemas.openxmlformats.org/package/2006/metadata/core-properties"/>
    <ds:schemaRef ds:uri="http://purl.org/dc/elements/1.1/"/>
    <ds:schemaRef ds:uri="2fd442da-66a9-4fa6-ba31-eb0d54ad1381"/>
    <ds:schemaRef ds:uri="http://purl.org/dc/dcmitype/"/>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174</TotalTime>
  <Words>2263</Words>
  <Application>Microsoft Office PowerPoint</Application>
  <PresentationFormat>Widescreen</PresentationFormat>
  <Paragraphs>632</Paragraphs>
  <Slides>17</Slides>
  <Notes>4</Notes>
  <HiddenSlides>2</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テーマ</vt:lpstr>
      <vt:lpstr>概算お見積もり(第4.1版）</vt:lpstr>
      <vt:lpstr>１. プロジェクトの背景と目的</vt:lpstr>
      <vt:lpstr>２. お見積り範囲</vt:lpstr>
      <vt:lpstr>3. システム構成（AsIs）</vt:lpstr>
      <vt:lpstr>3. システム構成（ToBe）① 縮小版共通基盤へのシステム資産移行</vt:lpstr>
      <vt:lpstr>3. システム構成（ToBe）② その他共通基盤の環境移行</vt:lpstr>
      <vt:lpstr>4. 想定している作業内容と成果物</vt:lpstr>
      <vt:lpstr>5. 機能数と作業範囲</vt:lpstr>
      <vt:lpstr>6. 体制</vt:lpstr>
      <vt:lpstr>7. スケジュール</vt:lpstr>
      <vt:lpstr>8.想定している会議体</vt:lpstr>
      <vt:lpstr>9. お見積もり</vt:lpstr>
      <vt:lpstr>9. 【参考】お見積もり(② その他共通基盤の環境移行に際する支援) </vt:lpstr>
      <vt:lpstr>10. お見積もり前提条件</vt:lpstr>
      <vt:lpstr>PowerPoint Presentation</vt:lpstr>
      <vt:lpstr>8. お見積もり(② その他共通基盤の環境移行に際するご協力のお願い) </vt:lpstr>
      <vt:lpstr>9. お見積もり(① 縮小版共通基盤へのシステム資産移行)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5</cp:revision>
  <dcterms:created xsi:type="dcterms:W3CDTF">2021-02-05T06:36:21Z</dcterms:created>
  <dcterms:modified xsi:type="dcterms:W3CDTF">2025-09-18T07:11:58Z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