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768" r:id="rId2"/>
    <p:sldId id="754" r:id="rId3"/>
    <p:sldId id="766" r:id="rId4"/>
    <p:sldId id="769" r:id="rId5"/>
  </p:sldIdLst>
  <p:sldSz cx="9144000" cy="6858000" type="screen4x3"/>
  <p:notesSz cx="6805613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株式会社システムエグゼ" initials="MF" lastIdx="2" clrIdx="0">
    <p:extLst>
      <p:ext uri="{19B8F6BF-5375-455C-9EA6-DF929625EA0E}">
        <p15:presenceInfo xmlns:p15="http://schemas.microsoft.com/office/powerpoint/2012/main" userId="株式会社システムエグゼ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CCFFCC"/>
    <a:srgbClr val="CCFFFF"/>
    <a:srgbClr val="FFFF99"/>
    <a:srgbClr val="A91B4B"/>
    <a:srgbClr val="F6083B"/>
    <a:srgbClr val="EAEFF7"/>
    <a:srgbClr val="DEEBF7"/>
    <a:srgbClr val="BDD7EE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2" autoAdjust="0"/>
    <p:restoredTop sz="68067" autoAdjust="0"/>
  </p:normalViewPr>
  <p:slideViewPr>
    <p:cSldViewPr snapToGrid="0">
      <p:cViewPr varScale="1">
        <p:scale>
          <a:sx n="70" d="100"/>
          <a:sy n="70" d="100"/>
        </p:scale>
        <p:origin x="6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2400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2986F-13A2-49D6-B8C6-920CC5111872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D9DFD-0D3B-49A2-B23E-C70DA4F20F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602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9099" cy="498693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4942" y="2"/>
            <a:ext cx="2949099" cy="498693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C8D63E47-C492-4389-A9D6-4B7622D85505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6" rIns="91431" bIns="45716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562" y="4783309"/>
            <a:ext cx="5444490" cy="3913614"/>
          </a:xfrm>
          <a:prstGeom prst="rect">
            <a:avLst/>
          </a:prstGeom>
        </p:spPr>
        <p:txBody>
          <a:bodyPr vert="horz" lIns="91431" tIns="45716" rIns="91431" bIns="45716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440649"/>
            <a:ext cx="2949099" cy="498692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4942" y="9440649"/>
            <a:ext cx="2949099" cy="498692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F418B1AF-4AFD-4D71-944C-82BDB271F9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08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18B1AF-4AFD-4D71-944C-82BDB271F90A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361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412000" y="4633401"/>
            <a:ext cx="4320000" cy="864000"/>
          </a:xfrm>
          <a:solidFill>
            <a:schemeClr val="bg1"/>
          </a:solidFill>
        </p:spPr>
        <p:txBody>
          <a:bodyPr anchor="b" anchorCtr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テキスト ボックス 3"/>
          <p:cNvSpPr txBox="1"/>
          <p:nvPr userDrawn="1"/>
        </p:nvSpPr>
        <p:spPr>
          <a:xfrm>
            <a:off x="6630306" y="6357342"/>
            <a:ext cx="2441694" cy="42716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kumimoji="1" lang="ja-JP" altLang="en-US" sz="16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株式会社システムエグゼ</a:t>
            </a:r>
            <a:endParaRPr kumimoji="1" lang="en-US" altLang="ja-JP" sz="1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955" y="6004443"/>
            <a:ext cx="1857375" cy="328136"/>
          </a:xfrm>
          <a:prstGeom prst="rect">
            <a:avLst/>
          </a:prstGeom>
        </p:spPr>
      </p:pic>
      <p:sp>
        <p:nvSpPr>
          <p:cNvPr id="7" name="コンテンツ プレースホルダー 6"/>
          <p:cNvSpPr>
            <a:spLocks noGrp="1"/>
          </p:cNvSpPr>
          <p:nvPr>
            <p:ph sz="quarter" idx="12" hasCustomPrompt="1"/>
          </p:nvPr>
        </p:nvSpPr>
        <p:spPr>
          <a:xfrm>
            <a:off x="72000" y="144000"/>
            <a:ext cx="4320000" cy="36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〇〇株式会社　御中</a:t>
            </a:r>
          </a:p>
        </p:txBody>
      </p:sp>
    </p:spTree>
    <p:extLst>
      <p:ext uri="{BB962C8B-B14F-4D97-AF65-F5344CB8AC3E}">
        <p14:creationId xmlns:p14="http://schemas.microsoft.com/office/powerpoint/2010/main" val="1808357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152000" y="1116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１</a:t>
            </a:r>
            <a:endParaRPr lang="en-US" altLang="ja-JP" sz="2400" b="1" dirty="0">
              <a:solidFill>
                <a:srgbClr val="A01D45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1152000" y="1908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152000" y="270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152000" y="3492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4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152000" y="4284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5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152000" y="5076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endParaRPr lang="en-US" altLang="ja-JP" sz="2400" b="1" dirty="0">
              <a:solidFill>
                <a:srgbClr val="A01D45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8" name="テキスト プレースホルダー 27"/>
          <p:cNvSpPr>
            <a:spLocks noGrp="1"/>
          </p:cNvSpPr>
          <p:nvPr>
            <p:ph type="body" sz="quarter" idx="13"/>
          </p:nvPr>
        </p:nvSpPr>
        <p:spPr>
          <a:xfrm>
            <a:off x="1512000" y="1188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4"/>
          </p:nvPr>
        </p:nvSpPr>
        <p:spPr>
          <a:xfrm>
            <a:off x="1512000" y="1476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1" name="テキスト プレースホルダー 27"/>
          <p:cNvSpPr>
            <a:spLocks noGrp="1"/>
          </p:cNvSpPr>
          <p:nvPr>
            <p:ph type="body" sz="quarter" idx="15"/>
          </p:nvPr>
        </p:nvSpPr>
        <p:spPr>
          <a:xfrm>
            <a:off x="1512000" y="1980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2" name="テキスト プレースホルダー 29"/>
          <p:cNvSpPr>
            <a:spLocks noGrp="1"/>
          </p:cNvSpPr>
          <p:nvPr>
            <p:ph type="body" sz="quarter" idx="16"/>
          </p:nvPr>
        </p:nvSpPr>
        <p:spPr>
          <a:xfrm>
            <a:off x="1512000" y="2268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3" name="テキスト プレースホルダー 27"/>
          <p:cNvSpPr>
            <a:spLocks noGrp="1"/>
          </p:cNvSpPr>
          <p:nvPr>
            <p:ph type="body" sz="quarter" idx="17"/>
          </p:nvPr>
        </p:nvSpPr>
        <p:spPr>
          <a:xfrm>
            <a:off x="1512000" y="2772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4" name="テキスト プレースホルダー 29"/>
          <p:cNvSpPr>
            <a:spLocks noGrp="1"/>
          </p:cNvSpPr>
          <p:nvPr>
            <p:ph type="body" sz="quarter" idx="18"/>
          </p:nvPr>
        </p:nvSpPr>
        <p:spPr>
          <a:xfrm>
            <a:off x="1512000" y="3060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5" name="テキスト プレースホルダー 27"/>
          <p:cNvSpPr>
            <a:spLocks noGrp="1"/>
          </p:cNvSpPr>
          <p:nvPr>
            <p:ph type="body" sz="quarter" idx="19"/>
          </p:nvPr>
        </p:nvSpPr>
        <p:spPr>
          <a:xfrm>
            <a:off x="1512000" y="3564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6" name="テキスト プレースホルダー 29"/>
          <p:cNvSpPr>
            <a:spLocks noGrp="1"/>
          </p:cNvSpPr>
          <p:nvPr>
            <p:ph type="body" sz="quarter" idx="20"/>
          </p:nvPr>
        </p:nvSpPr>
        <p:spPr>
          <a:xfrm>
            <a:off x="1512000" y="3852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7" name="テキスト プレースホルダー 27"/>
          <p:cNvSpPr>
            <a:spLocks noGrp="1"/>
          </p:cNvSpPr>
          <p:nvPr>
            <p:ph type="body" sz="quarter" idx="21"/>
          </p:nvPr>
        </p:nvSpPr>
        <p:spPr>
          <a:xfrm>
            <a:off x="1512000" y="4356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8" name="テキスト プレースホルダー 29"/>
          <p:cNvSpPr>
            <a:spLocks noGrp="1"/>
          </p:cNvSpPr>
          <p:nvPr>
            <p:ph type="body" sz="quarter" idx="22"/>
          </p:nvPr>
        </p:nvSpPr>
        <p:spPr>
          <a:xfrm>
            <a:off x="1512000" y="4644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9" name="テキスト プレースホルダー 27"/>
          <p:cNvSpPr>
            <a:spLocks noGrp="1"/>
          </p:cNvSpPr>
          <p:nvPr>
            <p:ph type="body" sz="quarter" idx="23"/>
          </p:nvPr>
        </p:nvSpPr>
        <p:spPr>
          <a:xfrm>
            <a:off x="1512000" y="5148000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0" name="テキスト プレースホルダー 29"/>
          <p:cNvSpPr>
            <a:spLocks noGrp="1"/>
          </p:cNvSpPr>
          <p:nvPr>
            <p:ph type="body" sz="quarter" idx="24"/>
          </p:nvPr>
        </p:nvSpPr>
        <p:spPr>
          <a:xfrm>
            <a:off x="1512000" y="5436000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8369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152000" y="1861068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１</a:t>
            </a:r>
            <a:endParaRPr lang="en-US" altLang="ja-JP" sz="2400" b="1" dirty="0">
              <a:solidFill>
                <a:srgbClr val="A01D45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1152000" y="2653068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152000" y="3445068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152000" y="4237068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4</a:t>
            </a:r>
          </a:p>
        </p:txBody>
      </p:sp>
      <p:sp>
        <p:nvSpPr>
          <p:cNvPr id="28" name="テキスト プレースホルダー 27"/>
          <p:cNvSpPr>
            <a:spLocks noGrp="1"/>
          </p:cNvSpPr>
          <p:nvPr>
            <p:ph type="body" sz="quarter" idx="13"/>
          </p:nvPr>
        </p:nvSpPr>
        <p:spPr>
          <a:xfrm>
            <a:off x="1512000" y="1933068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4"/>
          </p:nvPr>
        </p:nvSpPr>
        <p:spPr>
          <a:xfrm>
            <a:off x="1512000" y="2221068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1" name="テキスト プレースホルダー 27"/>
          <p:cNvSpPr>
            <a:spLocks noGrp="1"/>
          </p:cNvSpPr>
          <p:nvPr>
            <p:ph type="body" sz="quarter" idx="15"/>
          </p:nvPr>
        </p:nvSpPr>
        <p:spPr>
          <a:xfrm>
            <a:off x="1512000" y="2725068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2" name="テキスト プレースホルダー 29"/>
          <p:cNvSpPr>
            <a:spLocks noGrp="1"/>
          </p:cNvSpPr>
          <p:nvPr>
            <p:ph type="body" sz="quarter" idx="16"/>
          </p:nvPr>
        </p:nvSpPr>
        <p:spPr>
          <a:xfrm>
            <a:off x="1512000" y="3013068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3" name="テキスト プレースホルダー 27"/>
          <p:cNvSpPr>
            <a:spLocks noGrp="1"/>
          </p:cNvSpPr>
          <p:nvPr>
            <p:ph type="body" sz="quarter" idx="17"/>
          </p:nvPr>
        </p:nvSpPr>
        <p:spPr>
          <a:xfrm>
            <a:off x="1512000" y="3517068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4" name="テキスト プレースホルダー 29"/>
          <p:cNvSpPr>
            <a:spLocks noGrp="1"/>
          </p:cNvSpPr>
          <p:nvPr>
            <p:ph type="body" sz="quarter" idx="18"/>
          </p:nvPr>
        </p:nvSpPr>
        <p:spPr>
          <a:xfrm>
            <a:off x="1512000" y="3805068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5" name="テキスト プレースホルダー 27"/>
          <p:cNvSpPr>
            <a:spLocks noGrp="1"/>
          </p:cNvSpPr>
          <p:nvPr>
            <p:ph type="body" sz="quarter" idx="19"/>
          </p:nvPr>
        </p:nvSpPr>
        <p:spPr>
          <a:xfrm>
            <a:off x="1512000" y="4309068"/>
            <a:ext cx="648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6" name="テキスト プレースホルダー 29"/>
          <p:cNvSpPr>
            <a:spLocks noGrp="1"/>
          </p:cNvSpPr>
          <p:nvPr>
            <p:ph type="body" sz="quarter" idx="20"/>
          </p:nvPr>
        </p:nvSpPr>
        <p:spPr>
          <a:xfrm>
            <a:off x="1512000" y="4597068"/>
            <a:ext cx="6480000" cy="432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93260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720000" y="144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１</a:t>
            </a:r>
            <a:endParaRPr lang="en-US" altLang="ja-JP" sz="2400" b="1" dirty="0">
              <a:solidFill>
                <a:srgbClr val="A01D45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720000" y="252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720000" y="360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20000" y="468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4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824000" y="144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5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824000" y="468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ja-JP" altLang="en-US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endParaRPr lang="en-US" altLang="ja-JP" sz="2400" b="1" dirty="0">
              <a:solidFill>
                <a:srgbClr val="A01D45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8" name="テキスト プレースホルダー 27"/>
          <p:cNvSpPr>
            <a:spLocks noGrp="1"/>
          </p:cNvSpPr>
          <p:nvPr>
            <p:ph type="body" sz="quarter" idx="13"/>
          </p:nvPr>
        </p:nvSpPr>
        <p:spPr>
          <a:xfrm>
            <a:off x="1080000" y="151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4"/>
          </p:nvPr>
        </p:nvSpPr>
        <p:spPr>
          <a:xfrm>
            <a:off x="1080000" y="183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1" name="テキスト プレースホルダー 27"/>
          <p:cNvSpPr>
            <a:spLocks noGrp="1"/>
          </p:cNvSpPr>
          <p:nvPr>
            <p:ph type="body" sz="quarter" idx="15"/>
          </p:nvPr>
        </p:nvSpPr>
        <p:spPr>
          <a:xfrm>
            <a:off x="1080000" y="259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2" name="テキスト プレースホルダー 29"/>
          <p:cNvSpPr>
            <a:spLocks noGrp="1"/>
          </p:cNvSpPr>
          <p:nvPr>
            <p:ph type="body" sz="quarter" idx="16"/>
          </p:nvPr>
        </p:nvSpPr>
        <p:spPr>
          <a:xfrm>
            <a:off x="1080000" y="291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3" name="テキスト プレースホルダー 27"/>
          <p:cNvSpPr>
            <a:spLocks noGrp="1"/>
          </p:cNvSpPr>
          <p:nvPr>
            <p:ph type="body" sz="quarter" idx="17"/>
          </p:nvPr>
        </p:nvSpPr>
        <p:spPr>
          <a:xfrm>
            <a:off x="1080000" y="367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4" name="テキスト プレースホルダー 29"/>
          <p:cNvSpPr>
            <a:spLocks noGrp="1"/>
          </p:cNvSpPr>
          <p:nvPr>
            <p:ph type="body" sz="quarter" idx="18"/>
          </p:nvPr>
        </p:nvSpPr>
        <p:spPr>
          <a:xfrm>
            <a:off x="1080000" y="399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5" name="テキスト プレースホルダー 27"/>
          <p:cNvSpPr>
            <a:spLocks noGrp="1"/>
          </p:cNvSpPr>
          <p:nvPr>
            <p:ph type="body" sz="quarter" idx="19"/>
          </p:nvPr>
        </p:nvSpPr>
        <p:spPr>
          <a:xfrm>
            <a:off x="1080000" y="475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6" name="テキスト プレースホルダー 29"/>
          <p:cNvSpPr>
            <a:spLocks noGrp="1"/>
          </p:cNvSpPr>
          <p:nvPr>
            <p:ph type="body" sz="quarter" idx="20"/>
          </p:nvPr>
        </p:nvSpPr>
        <p:spPr>
          <a:xfrm>
            <a:off x="1080000" y="507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7" name="テキスト プレースホルダー 27"/>
          <p:cNvSpPr>
            <a:spLocks noGrp="1"/>
          </p:cNvSpPr>
          <p:nvPr>
            <p:ph type="body" sz="quarter" idx="21"/>
          </p:nvPr>
        </p:nvSpPr>
        <p:spPr>
          <a:xfrm>
            <a:off x="5184000" y="151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8" name="テキスト プレースホルダー 29"/>
          <p:cNvSpPr>
            <a:spLocks noGrp="1"/>
          </p:cNvSpPr>
          <p:nvPr>
            <p:ph type="body" sz="quarter" idx="22"/>
          </p:nvPr>
        </p:nvSpPr>
        <p:spPr>
          <a:xfrm>
            <a:off x="5184000" y="183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39" name="テキスト プレースホルダー 27"/>
          <p:cNvSpPr>
            <a:spLocks noGrp="1"/>
          </p:cNvSpPr>
          <p:nvPr>
            <p:ph type="body" sz="quarter" idx="23"/>
          </p:nvPr>
        </p:nvSpPr>
        <p:spPr>
          <a:xfrm>
            <a:off x="5184000" y="475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0" name="テキスト プレースホルダー 29"/>
          <p:cNvSpPr>
            <a:spLocks noGrp="1"/>
          </p:cNvSpPr>
          <p:nvPr>
            <p:ph type="body" sz="quarter" idx="24"/>
          </p:nvPr>
        </p:nvSpPr>
        <p:spPr>
          <a:xfrm>
            <a:off x="5184000" y="507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4824000" y="252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6</a:t>
            </a:r>
          </a:p>
        </p:txBody>
      </p:sp>
      <p:sp>
        <p:nvSpPr>
          <p:cNvPr id="26" name="テキスト プレースホルダー 27"/>
          <p:cNvSpPr>
            <a:spLocks noGrp="1"/>
          </p:cNvSpPr>
          <p:nvPr>
            <p:ph type="body" sz="quarter" idx="25"/>
          </p:nvPr>
        </p:nvSpPr>
        <p:spPr>
          <a:xfrm>
            <a:off x="5184000" y="259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7" name="テキスト プレースホルダー 29"/>
          <p:cNvSpPr>
            <a:spLocks noGrp="1"/>
          </p:cNvSpPr>
          <p:nvPr>
            <p:ph type="body" sz="quarter" idx="26"/>
          </p:nvPr>
        </p:nvSpPr>
        <p:spPr>
          <a:xfrm>
            <a:off x="5184000" y="291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29" name="テキスト ボックス 28"/>
          <p:cNvSpPr txBox="1"/>
          <p:nvPr userDrawn="1"/>
        </p:nvSpPr>
        <p:spPr>
          <a:xfrm>
            <a:off x="4824000" y="3600000"/>
            <a:ext cx="432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ja-JP" sz="2400" b="1" dirty="0">
                <a:solidFill>
                  <a:srgbClr val="A01D45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7</a:t>
            </a:r>
          </a:p>
        </p:txBody>
      </p:sp>
      <p:sp>
        <p:nvSpPr>
          <p:cNvPr id="41" name="テキスト プレースホルダー 27"/>
          <p:cNvSpPr>
            <a:spLocks noGrp="1"/>
          </p:cNvSpPr>
          <p:nvPr>
            <p:ph type="body" sz="quarter" idx="27"/>
          </p:nvPr>
        </p:nvSpPr>
        <p:spPr>
          <a:xfrm>
            <a:off x="5184000" y="3672000"/>
            <a:ext cx="3240000" cy="252000"/>
          </a:xfrm>
        </p:spPr>
        <p:txBody>
          <a:bodyPr tIns="36000" bIns="36000"/>
          <a:lstStyle>
            <a:lvl1pPr marL="0" indent="0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2" name="テキスト プレースホルダー 29"/>
          <p:cNvSpPr>
            <a:spLocks noGrp="1"/>
          </p:cNvSpPr>
          <p:nvPr>
            <p:ph type="body" sz="quarter" idx="28"/>
          </p:nvPr>
        </p:nvSpPr>
        <p:spPr>
          <a:xfrm>
            <a:off x="5184000" y="3996000"/>
            <a:ext cx="3240000" cy="648000"/>
          </a:xfrm>
        </p:spPr>
        <p:txBody>
          <a:bodyPr tIns="0" bIns="0"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697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323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609601"/>
            <a:ext cx="9144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838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0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449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1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3227107" y="5265822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870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2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3773733" y="5265822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5162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3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4320000" y="5265822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355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4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4866267" y="5265822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4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1494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5/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45733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938267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84534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299466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5414925" y="5265822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5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3496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0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0241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1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2808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6813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2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3312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046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3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3816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3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645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4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4320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4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9600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5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4824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5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1626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6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5328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6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2744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(7/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0" y="2088000"/>
            <a:ext cx="9000000" cy="2520000"/>
          </a:xfrm>
        </p:spPr>
        <p:txBody>
          <a:bodyPr anchor="ctr" anchorCtr="0">
            <a:normAutofit/>
          </a:bodyPr>
          <a:lstStyle>
            <a:lvl1pPr algn="ctr">
              <a:lnSpc>
                <a:spcPct val="120000"/>
              </a:lnSpc>
              <a:defRPr sz="4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2000" y="6500068"/>
            <a:ext cx="3888000" cy="288000"/>
          </a:xfrm>
        </p:spPr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01134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4392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3888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4896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40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338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7" name="円/楕円 15"/>
          <p:cNvSpPr/>
          <p:nvPr userDrawn="1"/>
        </p:nvSpPr>
        <p:spPr>
          <a:xfrm>
            <a:off x="2880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円/楕円 15"/>
          <p:cNvSpPr/>
          <p:nvPr userDrawn="1"/>
        </p:nvSpPr>
        <p:spPr>
          <a:xfrm>
            <a:off x="5904000" y="53280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0" dirty="0">
              <a:solidFill>
                <a:schemeClr val="accent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円/楕円 16"/>
          <p:cNvSpPr/>
          <p:nvPr userDrawn="1"/>
        </p:nvSpPr>
        <p:spPr>
          <a:xfrm>
            <a:off x="5832000" y="5256000"/>
            <a:ext cx="504000" cy="504000"/>
          </a:xfrm>
          <a:prstGeom prst="ellipse">
            <a:avLst/>
          </a:prstGeom>
          <a:solidFill>
            <a:srgbClr val="A01D4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7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65207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0" y="609601"/>
            <a:ext cx="9144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0" y="2980373"/>
            <a:ext cx="3429000" cy="897255"/>
          </a:xfrm>
          <a:prstGeom prst="rect">
            <a:avLst/>
          </a:prstGeom>
        </p:spPr>
      </p:pic>
      <p:sp>
        <p:nvSpPr>
          <p:cNvPr id="15" name="正方形/長方形 14"/>
          <p:cNvSpPr/>
          <p:nvPr userDrawn="1"/>
        </p:nvSpPr>
        <p:spPr>
          <a:xfrm>
            <a:off x="6951135" y="6290734"/>
            <a:ext cx="2150533" cy="522735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384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44000" y="36000"/>
            <a:ext cx="8856000" cy="576000"/>
          </a:xfrm>
          <a:prstGeom prst="rect">
            <a:avLst/>
          </a:prstGeom>
        </p:spPr>
        <p:txBody>
          <a:bodyPr vert="horz" wrap="none" lIns="91440" tIns="45720" rIns="91440" bIns="45720" rtlCol="0" anchor="b" anchorCtr="0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44000" y="863599"/>
            <a:ext cx="8856000" cy="55084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7644731" y="36000"/>
            <a:ext cx="1368000" cy="576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72000" y="6500068"/>
            <a:ext cx="3888000" cy="288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en-US" altLang="ja-JP"/>
              <a:t>Copyright© 2020 SystemEXE,Inc. all rights reserved.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212000" y="6500068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74395F4E-A786-454B-9285-EF3DEA272B3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612000"/>
            <a:ext cx="9144000" cy="36000"/>
          </a:xfrm>
          <a:prstGeom prst="rect">
            <a:avLst/>
          </a:prstGeom>
          <a:solidFill>
            <a:srgbClr val="A01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356" y="6459932"/>
            <a:ext cx="1857375" cy="32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7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66" r:id="rId3"/>
    <p:sldLayoutId id="2147483668" r:id="rId4"/>
    <p:sldLayoutId id="2147483650" r:id="rId5"/>
    <p:sldLayoutId id="2147483677" r:id="rId6"/>
    <p:sldLayoutId id="2147483659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56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0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１．スケジュール案（千葉</a:t>
            </a:r>
            <a:r>
              <a:rPr kumimoji="1" lang="en-US" altLang="ja-JP" dirty="0"/>
              <a:t>AP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DB Azure</a:t>
            </a:r>
            <a:r>
              <a:rPr kumimoji="1" lang="ja-JP" altLang="en-US" dirty="0"/>
              <a:t>移行）</a:t>
            </a:r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Copyright© </a:t>
            </a:r>
            <a:r>
              <a:rPr lang="en-US" altLang="ja-JP"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SystemEXE,Inc</a:t>
            </a:r>
            <a:r>
              <a:rPr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. all rights reserved.</a:t>
            </a:r>
            <a:endParaRPr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179390" y="983307"/>
            <a:ext cx="8785098" cy="5338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180000" rIns="252000" bIns="180000" numCol="1"/>
          <a:lstStyle/>
          <a:p>
            <a:pPr marL="457200" indent="-457200" algn="l">
              <a:spcBef>
                <a:spcPct val="10000"/>
              </a:spcBef>
            </a:pPr>
            <a:r>
              <a:rPr kumimoji="0" lang="ja-JP" altLang="en-US" sz="2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endParaRPr kumimoji="0" lang="en-US" altLang="ja-JP" sz="2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graphicFrame>
        <p:nvGraphicFramePr>
          <p:cNvPr id="34" name="表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308268"/>
              </p:ext>
            </p:extLst>
          </p:nvPr>
        </p:nvGraphicFramePr>
        <p:xfrm>
          <a:off x="178444" y="777607"/>
          <a:ext cx="8821552" cy="5492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3024002691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164915069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48194802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3219444920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075135988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586765681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396803449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499997670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1558511152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517378957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95909134"/>
                    </a:ext>
                  </a:extLst>
                </a:gridCol>
                <a:gridCol w="580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933">
                <a:tc rowSpan="2" gridSpan="2">
                  <a:txBody>
                    <a:bodyPr/>
                    <a:lstStyle/>
                    <a:p>
                      <a:pPr algn="l"/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l"/>
                      <a:endParaRPr kumimoji="1" lang="ja-JP" altLang="en-US" sz="14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kern="1200" dirty="0">
                          <a:solidFill>
                            <a:schemeClr val="lt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2025</a:t>
                      </a:r>
                      <a:r>
                        <a:rPr kumimoji="1" lang="ja-JP" altLang="en-US" sz="1200" b="1" kern="1200" dirty="0">
                          <a:solidFill>
                            <a:schemeClr val="lt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1" kern="1200" dirty="0">
                        <a:solidFill>
                          <a:schemeClr val="lt1"/>
                        </a:solidFill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</a:rPr>
                        <a:t>2026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</a:rPr>
                        <a:t>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2023</a:t>
                      </a:r>
                      <a:r>
                        <a:rPr kumimoji="1" lang="ja-JP" altLang="en-US" sz="14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33">
                <a:tc gridSpan="2" vMerge="1">
                  <a:txBody>
                    <a:bodyPr/>
                    <a:lstStyle/>
                    <a:p>
                      <a:endParaRPr lang="ja-JP" altLang="en-US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4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5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6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7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8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10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11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12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2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3</a:t>
                      </a:r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月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</a:rPr>
                        <a:t>以降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以降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1242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イベント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dirty="0">
                        <a:solidFill>
                          <a:schemeClr val="bg1"/>
                        </a:solidFill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438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開発概要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最適化エンジン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43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画面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643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業務課様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6438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200" dirty="0">
                        <a:solidFill>
                          <a:schemeClr val="bg1"/>
                        </a:solidFill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dirty="0">
                          <a:solidFill>
                            <a:schemeClr val="bg1"/>
                          </a:solidFill>
                          <a:latin typeface="メイリオ" pitchFamily="50" charset="-128"/>
                          <a:ea typeface="メイリオ" pitchFamily="50" charset="-128"/>
                          <a:cs typeface="メイリオ" pitchFamily="50" charset="-128"/>
                        </a:rPr>
                        <a:t>インフラ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772815"/>
                  </a:ext>
                </a:extLst>
              </a:tr>
            </a:tbl>
          </a:graphicData>
        </a:graphic>
      </p:graphicFrame>
      <p:grpSp>
        <p:nvGrpSpPr>
          <p:cNvPr id="85" name="グループ化 84"/>
          <p:cNvGrpSpPr/>
          <p:nvPr/>
        </p:nvGrpSpPr>
        <p:grpSpPr>
          <a:xfrm>
            <a:off x="5195372" y="1607562"/>
            <a:ext cx="1078229" cy="843191"/>
            <a:chOff x="7553005" y="3713992"/>
            <a:chExt cx="1078229" cy="843191"/>
          </a:xfrm>
        </p:grpSpPr>
        <p:sp>
          <p:nvSpPr>
            <p:cNvPr id="86" name="テキスト ボックス 85"/>
            <p:cNvSpPr txBox="1"/>
            <p:nvPr/>
          </p:nvSpPr>
          <p:spPr>
            <a:xfrm>
              <a:off x="7915833" y="3713992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solidFill>
                    <a:srgbClr val="FF0000"/>
                  </a:solidFill>
                  <a:latin typeface="Verdana" pitchFamily="34" charset="0"/>
                  <a:ea typeface="HG丸ｺﾞｼｯｸM-PRO" pitchFamily="50" charset="-128"/>
                </a:rPr>
                <a:t>▲</a:t>
              </a:r>
            </a:p>
          </p:txBody>
        </p:sp>
        <p:sp>
          <p:nvSpPr>
            <p:cNvPr id="87" name="テキスト ボックス 86"/>
            <p:cNvSpPr txBox="1"/>
            <p:nvPr/>
          </p:nvSpPr>
          <p:spPr>
            <a:xfrm>
              <a:off x="7553005" y="3910852"/>
              <a:ext cx="10782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12/10</a:t>
              </a:r>
              <a:r>
                <a:rPr kumimoji="1"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頃</a:t>
              </a:r>
              <a:endParaRPr kumimoji="1" lang="en-US" altLang="ja-JP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/>
              <a:r>
                <a:rPr kumimoji="1"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本番</a:t>
              </a:r>
              <a:endParaRPr kumimoji="1" lang="en-US" altLang="ja-JP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/>
              <a:r>
                <a:rPr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リリース</a:t>
              </a:r>
              <a:endParaRPr kumimoji="1"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sp>
        <p:nvSpPr>
          <p:cNvPr id="21" name="ホームベース 40">
            <a:extLst>
              <a:ext uri="{FF2B5EF4-FFF2-40B4-BE49-F238E27FC236}">
                <a16:creationId xmlns:a16="http://schemas.microsoft.com/office/drawing/2014/main" id="{364C0C14-9530-7B4C-DB0D-7459772F15AF}"/>
              </a:ext>
            </a:extLst>
          </p:cNvPr>
          <p:cNvSpPr/>
          <p:nvPr/>
        </p:nvSpPr>
        <p:spPr>
          <a:xfrm>
            <a:off x="3791536" y="5488809"/>
            <a:ext cx="568197" cy="601712"/>
          </a:xfrm>
          <a:prstGeom prst="homePlate">
            <a:avLst>
              <a:gd name="adj" fmla="val 21624"/>
            </a:avLst>
          </a:prstGeom>
          <a:solidFill>
            <a:schemeClr val="accent2"/>
          </a:solidFill>
          <a:ln w="28575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ja-JP" altLang="en-US" sz="1200" b="1" dirty="0">
                <a:latin typeface="メイリオ" pitchFamily="50" charset="-128"/>
                <a:ea typeface="メイリオ" pitchFamily="50" charset="-128"/>
              </a:rPr>
              <a:t>本番環境構築</a:t>
            </a:r>
            <a:endParaRPr lang="en-US" altLang="ja-JP" sz="1200" b="1" dirty="0"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6" name="ホームベース 95">
            <a:extLst>
              <a:ext uri="{FF2B5EF4-FFF2-40B4-BE49-F238E27FC236}">
                <a16:creationId xmlns:a16="http://schemas.microsoft.com/office/drawing/2014/main" id="{B24C396E-35D4-B7EB-7119-BD3D27A3F914}"/>
              </a:ext>
            </a:extLst>
          </p:cNvPr>
          <p:cNvSpPr/>
          <p:nvPr/>
        </p:nvSpPr>
        <p:spPr>
          <a:xfrm>
            <a:off x="5689071" y="4488110"/>
            <a:ext cx="3275415" cy="717528"/>
          </a:xfrm>
          <a:prstGeom prst="homePlate">
            <a:avLst>
              <a:gd name="adj" fmla="val 22899"/>
            </a:avLst>
          </a:prstGeom>
          <a:solidFill>
            <a:schemeClr val="accent2"/>
          </a:solidFill>
          <a:ln w="28575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ja-JP" altLang="en-US" sz="16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本番運用</a:t>
            </a:r>
            <a:endParaRPr lang="en-US" altLang="ja-JP" sz="1600" b="1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ホームベース 46">
            <a:extLst>
              <a:ext uri="{FF2B5EF4-FFF2-40B4-BE49-F238E27FC236}">
                <a16:creationId xmlns:a16="http://schemas.microsoft.com/office/drawing/2014/main" id="{A33E4901-2996-5311-AC62-402EBB4D9152}"/>
              </a:ext>
            </a:extLst>
          </p:cNvPr>
          <p:cNvSpPr/>
          <p:nvPr/>
        </p:nvSpPr>
        <p:spPr>
          <a:xfrm>
            <a:off x="4945804" y="2709893"/>
            <a:ext cx="240351" cy="1643993"/>
          </a:xfrm>
          <a:prstGeom prst="homePlate">
            <a:avLst>
              <a:gd name="adj" fmla="val 18918"/>
            </a:avLst>
          </a:prstGeom>
          <a:solidFill>
            <a:schemeClr val="accent6"/>
          </a:solidFill>
          <a:ln w="28575"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105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システムテスト</a:t>
            </a:r>
            <a:endParaRPr lang="en-US" altLang="ja-JP" sz="1400" b="1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ホームベース 46">
            <a:extLst>
              <a:ext uri="{FF2B5EF4-FFF2-40B4-BE49-F238E27FC236}">
                <a16:creationId xmlns:a16="http://schemas.microsoft.com/office/drawing/2014/main" id="{D616242A-B14C-F93C-0CBB-F8F91166D876}"/>
              </a:ext>
            </a:extLst>
          </p:cNvPr>
          <p:cNvSpPr/>
          <p:nvPr/>
        </p:nvSpPr>
        <p:spPr>
          <a:xfrm>
            <a:off x="5221664" y="2709894"/>
            <a:ext cx="246007" cy="2469184"/>
          </a:xfrm>
          <a:prstGeom prst="homePlate">
            <a:avLst>
              <a:gd name="adj" fmla="val 18918"/>
            </a:avLst>
          </a:prstGeom>
          <a:solidFill>
            <a:schemeClr val="accent6"/>
          </a:solidFill>
          <a:ln w="28575"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12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ユーザテスト</a:t>
            </a:r>
            <a:endParaRPr lang="en-US" altLang="ja-JP" sz="1200" b="1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" name="ホームベース 40">
            <a:extLst>
              <a:ext uri="{FF2B5EF4-FFF2-40B4-BE49-F238E27FC236}">
                <a16:creationId xmlns:a16="http://schemas.microsoft.com/office/drawing/2014/main" id="{000BBA6B-2581-CF3E-4743-7CA4EEAB0604}"/>
              </a:ext>
            </a:extLst>
          </p:cNvPr>
          <p:cNvSpPr/>
          <p:nvPr/>
        </p:nvSpPr>
        <p:spPr>
          <a:xfrm>
            <a:off x="4358038" y="2709894"/>
            <a:ext cx="568196" cy="1463381"/>
          </a:xfrm>
          <a:prstGeom prst="homePlate">
            <a:avLst>
              <a:gd name="adj" fmla="val 21624"/>
            </a:avLst>
          </a:prstGeom>
          <a:solidFill>
            <a:schemeClr val="accent6"/>
          </a:solidFill>
          <a:ln w="28575"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1200" b="1" dirty="0">
                <a:latin typeface="メイリオ" pitchFamily="50" charset="-128"/>
                <a:ea typeface="メイリオ" pitchFamily="50" charset="-128"/>
              </a:rPr>
              <a:t>移行作業</a:t>
            </a:r>
            <a:endParaRPr lang="en-US" altLang="ja-JP" sz="1200" b="1" dirty="0">
              <a:latin typeface="メイリオ" pitchFamily="50" charset="-128"/>
              <a:ea typeface="メイリオ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25DDF98-DAD0-3061-9081-2E5AC9FF48A2}"/>
              </a:ext>
            </a:extLst>
          </p:cNvPr>
          <p:cNvGrpSpPr/>
          <p:nvPr/>
        </p:nvGrpSpPr>
        <p:grpSpPr>
          <a:xfrm>
            <a:off x="7001042" y="1607562"/>
            <a:ext cx="1078229" cy="473859"/>
            <a:chOff x="7553005" y="3713992"/>
            <a:chExt cx="1078229" cy="473859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A0432CF-DA23-F22B-59A4-8B6D87447131}"/>
                </a:ext>
              </a:extLst>
            </p:cNvPr>
            <p:cNvSpPr txBox="1"/>
            <p:nvPr/>
          </p:nvSpPr>
          <p:spPr>
            <a:xfrm>
              <a:off x="7915833" y="3713992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solidFill>
                    <a:srgbClr val="FF0000"/>
                  </a:solidFill>
                  <a:latin typeface="Verdana" pitchFamily="34" charset="0"/>
                  <a:ea typeface="HG丸ｺﾞｼｯｸM-PRO" pitchFamily="50" charset="-128"/>
                </a:rPr>
                <a:t>▲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C4BE8A9-06C6-F3F6-4780-0642717D8F71}"/>
                </a:ext>
              </a:extLst>
            </p:cNvPr>
            <p:cNvSpPr txBox="1"/>
            <p:nvPr/>
          </p:nvSpPr>
          <p:spPr>
            <a:xfrm>
              <a:off x="7553005" y="3910852"/>
              <a:ext cx="10782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館林</a:t>
              </a:r>
              <a:r>
                <a:rPr kumimoji="1" lang="en-US" altLang="ja-JP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DC</a:t>
              </a:r>
              <a:r>
                <a:rPr kumimoji="1"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廃止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0A5AEA0-156D-F334-80AA-DA78F5624EED}"/>
              </a:ext>
            </a:extLst>
          </p:cNvPr>
          <p:cNvGrpSpPr/>
          <p:nvPr/>
        </p:nvGrpSpPr>
        <p:grpSpPr>
          <a:xfrm>
            <a:off x="5837766" y="1607562"/>
            <a:ext cx="1078229" cy="658525"/>
            <a:chOff x="7553005" y="3713992"/>
            <a:chExt cx="1078229" cy="658525"/>
          </a:xfrm>
        </p:grpSpPr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3956528B-74AE-CB27-BB19-2FFDC61DA762}"/>
                </a:ext>
              </a:extLst>
            </p:cNvPr>
            <p:cNvSpPr txBox="1"/>
            <p:nvPr/>
          </p:nvSpPr>
          <p:spPr>
            <a:xfrm>
              <a:off x="7915833" y="3713992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solidFill>
                    <a:srgbClr val="FF0000"/>
                  </a:solidFill>
                  <a:latin typeface="Verdana" pitchFamily="34" charset="0"/>
                  <a:ea typeface="HG丸ｺﾞｼｯｸM-PRO" pitchFamily="50" charset="-128"/>
                </a:rPr>
                <a:t>▲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CF3815B3-D8C9-90FF-3905-C22D7F5B342E}"/>
                </a:ext>
              </a:extLst>
            </p:cNvPr>
            <p:cNvSpPr txBox="1"/>
            <p:nvPr/>
          </p:nvSpPr>
          <p:spPr>
            <a:xfrm>
              <a:off x="7553005" y="3910852"/>
              <a:ext cx="10782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旧環境</a:t>
              </a:r>
              <a:endParaRPr lang="en-US" altLang="ja-JP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/>
              <a:r>
                <a:rPr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停止</a:t>
              </a:r>
              <a:endParaRPr kumimoji="1"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sp>
        <p:nvSpPr>
          <p:cNvPr id="25" name="ホームベース 46">
            <a:extLst>
              <a:ext uri="{FF2B5EF4-FFF2-40B4-BE49-F238E27FC236}">
                <a16:creationId xmlns:a16="http://schemas.microsoft.com/office/drawing/2014/main" id="{74326F69-C9B4-0E98-4618-00864299CF28}"/>
              </a:ext>
            </a:extLst>
          </p:cNvPr>
          <p:cNvSpPr/>
          <p:nvPr/>
        </p:nvSpPr>
        <p:spPr>
          <a:xfrm>
            <a:off x="5689072" y="2709893"/>
            <a:ext cx="342691" cy="1643993"/>
          </a:xfrm>
          <a:prstGeom prst="homePlate">
            <a:avLst>
              <a:gd name="adj" fmla="val 18918"/>
            </a:avLst>
          </a:prstGeom>
          <a:solidFill>
            <a:schemeClr val="accent6"/>
          </a:solidFill>
          <a:ln w="28575"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105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初期流動</a:t>
            </a:r>
            <a:endParaRPr lang="en-US" altLang="ja-JP" sz="1400" b="1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71754C8-358F-4FDB-E184-7D176072B0F6}"/>
              </a:ext>
            </a:extLst>
          </p:cNvPr>
          <p:cNvGrpSpPr/>
          <p:nvPr/>
        </p:nvGrpSpPr>
        <p:grpSpPr>
          <a:xfrm>
            <a:off x="3845175" y="1619256"/>
            <a:ext cx="1078229" cy="658525"/>
            <a:chOff x="7553005" y="3713992"/>
            <a:chExt cx="1078229" cy="658525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645898B2-2F3C-9B1D-3CCB-FBB820A0B995}"/>
                </a:ext>
              </a:extLst>
            </p:cNvPr>
            <p:cNvSpPr txBox="1"/>
            <p:nvPr/>
          </p:nvSpPr>
          <p:spPr>
            <a:xfrm>
              <a:off x="7915833" y="3713992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solidFill>
                    <a:srgbClr val="FF0000"/>
                  </a:solidFill>
                  <a:latin typeface="Verdana" pitchFamily="34" charset="0"/>
                  <a:ea typeface="HG丸ｺﾞｼｯｸM-PRO" pitchFamily="50" charset="-128"/>
                </a:rPr>
                <a:t>▲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B4729EC-F70D-1AA5-CD7B-59DE5D9931C5}"/>
                </a:ext>
              </a:extLst>
            </p:cNvPr>
            <p:cNvSpPr txBox="1"/>
            <p:nvPr/>
          </p:nvSpPr>
          <p:spPr>
            <a:xfrm>
              <a:off x="7553005" y="3910852"/>
              <a:ext cx="10782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10</a:t>
              </a:r>
              <a:r>
                <a:rPr kumimoji="1" lang="en-US" altLang="ja-JP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/1</a:t>
              </a:r>
            </a:p>
            <a:p>
              <a:pPr algn="ctr"/>
              <a:r>
                <a:rPr lang="ja-JP" altLang="en-US" sz="1200" dirty="0"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開始</a:t>
              </a:r>
              <a:endParaRPr kumimoji="1"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5138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10000"/>
              </a:spcBef>
              <a:buNone/>
            </a:pPr>
            <a:r>
              <a:rPr kumimoji="0" lang="en-US" altLang="ja-JP" sz="2000" b="1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2.1.</a:t>
            </a:r>
            <a:r>
              <a:rPr kumimoji="0" lang="ja-JP" altLang="en-US" sz="2000" b="1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千葉本番環境サーバシステム現状</a:t>
            </a:r>
            <a:endParaRPr kumimoji="0" lang="en-US" altLang="ja-JP" sz="2000" b="1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kumimoji="0" lang="ja-JP" altLang="en-US" sz="2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現状の本番環境のシステム構成は、図の通り。</a:t>
            </a:r>
            <a:endParaRPr kumimoji="0" lang="en-US" altLang="ja-JP" sz="2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indent="0">
              <a:spcBef>
                <a:spcPct val="10000"/>
              </a:spcBef>
              <a:buNone/>
            </a:pPr>
            <a:endParaRPr kumimoji="0" lang="en-US" altLang="ja-JP" sz="2000" b="1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endParaRPr kumimoji="1" lang="ja-JP" altLang="en-US" sz="2000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161FF7F8-9FD7-C5B7-2BA2-D55B98CD6A97}"/>
              </a:ext>
            </a:extLst>
          </p:cNvPr>
          <p:cNvGrpSpPr/>
          <p:nvPr/>
        </p:nvGrpSpPr>
        <p:grpSpPr>
          <a:xfrm>
            <a:off x="3641619" y="1580349"/>
            <a:ext cx="5448826" cy="5020858"/>
            <a:chOff x="3641619" y="1580349"/>
            <a:chExt cx="5448826" cy="5020858"/>
          </a:xfrm>
        </p:grpSpPr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A36D9920-A115-40BE-0A84-616B4883DAC7}"/>
                </a:ext>
              </a:extLst>
            </p:cNvPr>
            <p:cNvGrpSpPr/>
            <p:nvPr/>
          </p:nvGrpSpPr>
          <p:grpSpPr>
            <a:xfrm>
              <a:off x="3641619" y="1580349"/>
              <a:ext cx="5448826" cy="5020858"/>
              <a:chOff x="3641619" y="1580349"/>
              <a:chExt cx="5448826" cy="5020858"/>
            </a:xfrm>
          </p:grpSpPr>
          <p:sp>
            <p:nvSpPr>
              <p:cNvPr id="18" name="テキスト ボックス 30">
                <a:extLst>
                  <a:ext uri="{FF2B5EF4-FFF2-40B4-BE49-F238E27FC236}">
                    <a16:creationId xmlns:a16="http://schemas.microsoft.com/office/drawing/2014/main" id="{9EB5C865-14C9-E123-00F0-959C9FEE9E59}"/>
                  </a:ext>
                </a:extLst>
              </p:cNvPr>
              <p:cNvSpPr txBox="1"/>
              <p:nvPr/>
            </p:nvSpPr>
            <p:spPr>
              <a:xfrm>
                <a:off x="3641619" y="1580349"/>
                <a:ext cx="3166506" cy="5020858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1"/>
                </a:solidFill>
                <a:prstDash val="dash"/>
              </a:ln>
              <a:effectLst/>
            </p:spPr>
            <p:txBody>
              <a:bodyPr wrap="square" rtlCol="0" anchor="t"/>
              <a:lstStyle>
                <a:defPPr>
                  <a:defRPr lang="ja-JP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kern="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itchFamily="50" charset="-128"/>
                    <a:ea typeface="メイリオ" pitchFamily="50" charset="-128"/>
                    <a:cs typeface="メイリオ" pitchFamily="50" charset="-128"/>
                  </a:defRPr>
                </a:lvl1pPr>
                <a:lvl2pPr indent="0">
                  <a:defRPr sz="1100">
                    <a:solidFill>
                      <a:schemeClr val="dk1"/>
                    </a:solidFill>
                  </a:defRPr>
                </a:lvl2pPr>
                <a:lvl3pPr indent="0">
                  <a:defRPr sz="1100">
                    <a:solidFill>
                      <a:schemeClr val="dk1"/>
                    </a:solidFill>
                  </a:defRPr>
                </a:lvl3pPr>
                <a:lvl4pPr indent="0">
                  <a:defRPr sz="1100">
                    <a:solidFill>
                      <a:schemeClr val="dk1"/>
                    </a:solidFill>
                  </a:defRPr>
                </a:lvl4pPr>
                <a:lvl5pPr indent="0">
                  <a:defRPr sz="1100">
                    <a:solidFill>
                      <a:schemeClr val="dk1"/>
                    </a:solidFill>
                  </a:defRPr>
                </a:lvl5pPr>
                <a:lvl6pPr indent="0">
                  <a:defRPr sz="1100">
                    <a:solidFill>
                      <a:schemeClr val="dk1"/>
                    </a:solidFill>
                  </a:defRPr>
                </a:lvl6pPr>
                <a:lvl7pPr indent="0">
                  <a:defRPr sz="1100">
                    <a:solidFill>
                      <a:schemeClr val="dk1"/>
                    </a:solidFill>
                  </a:defRPr>
                </a:lvl7pPr>
                <a:lvl8pPr indent="0">
                  <a:defRPr sz="1100">
                    <a:solidFill>
                      <a:schemeClr val="dk1"/>
                    </a:solidFill>
                  </a:defRPr>
                </a:lvl8pPr>
                <a:lvl9pPr indent="0">
                  <a:defRPr sz="1100">
                    <a:solidFill>
                      <a:schemeClr val="dk1"/>
                    </a:solidFill>
                  </a:defRPr>
                </a:lvl9pPr>
              </a:lstStyle>
              <a:p>
                <a:r>
                  <a:rPr lang="ja-JP" altLang="en-US" dirty="0"/>
                  <a:t>館林</a:t>
                </a:r>
                <a:r>
                  <a:rPr lang="en-US" altLang="ja-JP" dirty="0"/>
                  <a:t>DC</a:t>
                </a:r>
                <a:endParaRPr lang="ja-JP" altLang="en-US" dirty="0"/>
              </a:p>
            </p:txBody>
          </p:sp>
          <p:sp>
            <p:nvSpPr>
              <p:cNvPr id="19" name="テキスト ボックス 30">
                <a:extLst>
                  <a:ext uri="{FF2B5EF4-FFF2-40B4-BE49-F238E27FC236}">
                    <a16:creationId xmlns:a16="http://schemas.microsoft.com/office/drawing/2014/main" id="{CFD18F74-68AD-B05C-49DF-13016E6F0610}"/>
                  </a:ext>
                </a:extLst>
              </p:cNvPr>
              <p:cNvSpPr txBox="1"/>
              <p:nvPr/>
            </p:nvSpPr>
            <p:spPr>
              <a:xfrm>
                <a:off x="6817422" y="1580349"/>
                <a:ext cx="2273023" cy="2931398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1"/>
                </a:solidFill>
                <a:prstDash val="dash"/>
              </a:ln>
              <a:effectLst/>
            </p:spPr>
            <p:txBody>
              <a:bodyPr wrap="square" rtlCol="0" anchor="t"/>
              <a:lstStyle>
                <a:defPPr>
                  <a:defRPr lang="ja-JP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kern="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itchFamily="50" charset="-128"/>
                    <a:ea typeface="メイリオ" pitchFamily="50" charset="-128"/>
                    <a:cs typeface="メイリオ" pitchFamily="50" charset="-128"/>
                  </a:defRPr>
                </a:lvl1pPr>
                <a:lvl2pPr indent="0">
                  <a:defRPr sz="1100">
                    <a:solidFill>
                      <a:schemeClr val="dk1"/>
                    </a:solidFill>
                  </a:defRPr>
                </a:lvl2pPr>
                <a:lvl3pPr indent="0">
                  <a:defRPr sz="1100">
                    <a:solidFill>
                      <a:schemeClr val="dk1"/>
                    </a:solidFill>
                  </a:defRPr>
                </a:lvl3pPr>
                <a:lvl4pPr indent="0">
                  <a:defRPr sz="1100">
                    <a:solidFill>
                      <a:schemeClr val="dk1"/>
                    </a:solidFill>
                  </a:defRPr>
                </a:lvl4pPr>
                <a:lvl5pPr indent="0">
                  <a:defRPr sz="1100">
                    <a:solidFill>
                      <a:schemeClr val="dk1"/>
                    </a:solidFill>
                  </a:defRPr>
                </a:lvl5pPr>
                <a:lvl6pPr indent="0">
                  <a:defRPr sz="1100">
                    <a:solidFill>
                      <a:schemeClr val="dk1"/>
                    </a:solidFill>
                  </a:defRPr>
                </a:lvl6pPr>
                <a:lvl7pPr indent="0">
                  <a:defRPr sz="1100">
                    <a:solidFill>
                      <a:schemeClr val="dk1"/>
                    </a:solidFill>
                  </a:defRPr>
                </a:lvl7pPr>
                <a:lvl8pPr indent="0">
                  <a:defRPr sz="1100">
                    <a:solidFill>
                      <a:schemeClr val="dk1"/>
                    </a:solidFill>
                  </a:defRPr>
                </a:lvl8pPr>
                <a:lvl9pPr indent="0">
                  <a:defRPr sz="1100">
                    <a:solidFill>
                      <a:schemeClr val="dk1"/>
                    </a:solidFill>
                  </a:defRPr>
                </a:lvl9pPr>
              </a:lstStyle>
              <a:p>
                <a:endParaRPr lang="ja-JP" altLang="en-US" dirty="0"/>
              </a:p>
            </p:txBody>
          </p:sp>
        </p:grpSp>
        <p:sp>
          <p:nvSpPr>
            <p:cNvPr id="17" name="テキスト ボックス 30">
              <a:extLst>
                <a:ext uri="{FF2B5EF4-FFF2-40B4-BE49-F238E27FC236}">
                  <a16:creationId xmlns:a16="http://schemas.microsoft.com/office/drawing/2014/main" id="{FC88B7BD-8CBF-194D-E07A-78825DAFF829}"/>
                </a:ext>
              </a:extLst>
            </p:cNvPr>
            <p:cNvSpPr txBox="1"/>
            <p:nvPr/>
          </p:nvSpPr>
          <p:spPr>
            <a:xfrm>
              <a:off x="6636368" y="1604354"/>
              <a:ext cx="381350" cy="290739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dash"/>
            </a:ln>
            <a:effectLst/>
          </p:spPr>
          <p:txBody>
            <a:bodyPr wrap="square" rtlCol="0" anchor="t"/>
            <a:lstStyle>
              <a:defPPr>
                <a:defRPr lang="ja-JP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endParaRPr lang="ja-JP" altLang="en-US" dirty="0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２．千葉本番環境サーバクラウド移行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Copyright© </a:t>
            </a:r>
            <a:r>
              <a:rPr lang="en-US" altLang="ja-JP" dirty="0" err="1"/>
              <a:t>SystemEXE,Inc</a:t>
            </a:r>
            <a:r>
              <a:rPr lang="en-US" altLang="ja-JP" dirty="0"/>
              <a:t>. all rights reserved.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kumimoji="1" lang="ja-JP" altLang="en-US" smtClean="0"/>
              <a:t>1</a:t>
            </a:fld>
            <a:endParaRPr kumimoji="1" lang="ja-JP" altLang="en-US"/>
          </a:p>
        </p:txBody>
      </p:sp>
      <p:grpSp>
        <p:nvGrpSpPr>
          <p:cNvPr id="40" name="グループ化 39"/>
          <p:cNvGrpSpPr/>
          <p:nvPr/>
        </p:nvGrpSpPr>
        <p:grpSpPr>
          <a:xfrm>
            <a:off x="113586" y="2008231"/>
            <a:ext cx="8892468" cy="4445107"/>
            <a:chOff x="0" y="-311694"/>
            <a:chExt cx="12234438" cy="6413674"/>
          </a:xfrm>
        </p:grpSpPr>
        <p:sp>
          <p:nvSpPr>
            <p:cNvPr id="41" name="テキスト ボックス 30"/>
            <p:cNvSpPr txBox="1"/>
            <p:nvPr/>
          </p:nvSpPr>
          <p:spPr>
            <a:xfrm>
              <a:off x="5054874" y="-311694"/>
              <a:ext cx="4043964" cy="640713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wrap="square" rtlCol="0" anchor="t"/>
            <a:lstStyle>
              <a:defPPr>
                <a:defRPr lang="ja-JP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r>
                <a:rPr lang="ja-JP" altLang="en-US" dirty="0"/>
                <a:t>海上入出荷業務システム</a:t>
              </a:r>
              <a:endParaRPr lang="en-US" altLang="ja-JP" dirty="0"/>
            </a:p>
            <a:p>
              <a:r>
                <a:rPr lang="en-US" altLang="ja-JP" dirty="0"/>
                <a:t>AP</a:t>
              </a:r>
              <a:r>
                <a:rPr lang="ja-JP" altLang="en-US" dirty="0"/>
                <a:t>サーバ（本番機）</a:t>
              </a:r>
              <a:endParaRPr lang="ja-JP" altLang="ja-JP" dirty="0"/>
            </a:p>
            <a:p>
              <a:endParaRPr lang="ja-JP" altLang="en-US" dirty="0"/>
            </a:p>
          </p:txBody>
        </p:sp>
        <p:sp>
          <p:nvSpPr>
            <p:cNvPr id="75" name="テキスト ボックス 34"/>
            <p:cNvSpPr txBox="1"/>
            <p:nvPr/>
          </p:nvSpPr>
          <p:spPr>
            <a:xfrm>
              <a:off x="9371646" y="3387470"/>
              <a:ext cx="2862792" cy="2682332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wrap="square" rtlCol="0" anchor="b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新オフラス</a:t>
              </a:r>
              <a:endParaRPr kumimoji="0" lang="en-US" altLang="ja-JP" sz="1600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r>
                <a: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サーバ（</a:t>
              </a: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DMZ</a:t>
              </a:r>
              <a:r>
                <a: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）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（本番機）</a:t>
              </a:r>
            </a:p>
          </p:txBody>
        </p:sp>
        <p:sp>
          <p:nvSpPr>
            <p:cNvPr id="74" name="正方形/長方形 73"/>
            <p:cNvSpPr/>
            <p:nvPr/>
          </p:nvSpPr>
          <p:spPr>
            <a:xfrm>
              <a:off x="5291974" y="3510021"/>
              <a:ext cx="3640359" cy="2369456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MATLB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1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32bit</a:t>
              </a:r>
              <a:endPara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5291974" y="892338"/>
              <a:ext cx="3640359" cy="2535620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IIS10</a:t>
              </a:r>
              <a:endPara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43" name="テキスト ボックス 34"/>
            <p:cNvSpPr txBox="1"/>
            <p:nvPr/>
          </p:nvSpPr>
          <p:spPr>
            <a:xfrm>
              <a:off x="9371646" y="-311693"/>
              <a:ext cx="2862792" cy="327506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需給調整システム</a:t>
              </a:r>
              <a:endParaRPr kumimoji="0" lang="en-US" altLang="ja-JP" sz="1600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r>
                <a: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サーバ</a:t>
              </a:r>
              <a:endPara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（本番機）</a:t>
              </a:r>
            </a:p>
          </p:txBody>
        </p:sp>
        <p:sp>
          <p:nvSpPr>
            <p:cNvPr id="44" name="テキスト ボックス 29"/>
            <p:cNvSpPr txBox="1"/>
            <p:nvPr/>
          </p:nvSpPr>
          <p:spPr>
            <a:xfrm>
              <a:off x="0" y="-311694"/>
              <a:ext cx="4648502" cy="641367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Windows 10</a:t>
              </a:r>
              <a:endParaRPr kumimoji="0" lang="ja-JP" altLang="ja-JP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49" name="テキスト ボックス 35"/>
            <p:cNvSpPr txBox="1"/>
            <p:nvPr/>
          </p:nvSpPr>
          <p:spPr>
            <a:xfrm>
              <a:off x="5943065" y="1700609"/>
              <a:ext cx="2475974" cy="1058327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アプリ</a:t>
              </a:r>
              <a:endParaRPr kumimoji="0" lang="en-US" altLang="ja-JP" sz="1800" b="1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ケーション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0" name="フローチャート : 磁気ディスク 33"/>
            <p:cNvSpPr/>
            <p:nvPr/>
          </p:nvSpPr>
          <p:spPr>
            <a:xfrm>
              <a:off x="9955824" y="1211012"/>
              <a:ext cx="1902827" cy="1324159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BRSS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スキーマ</a:t>
              </a:r>
            </a:p>
          </p:txBody>
        </p:sp>
        <p:sp>
          <p:nvSpPr>
            <p:cNvPr id="54" name="下矢印 53"/>
            <p:cNvSpPr/>
            <p:nvPr/>
          </p:nvSpPr>
          <p:spPr>
            <a:xfrm rot="16200000">
              <a:off x="8995996" y="1277455"/>
              <a:ext cx="317503" cy="973668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5" name="下矢印 54"/>
            <p:cNvSpPr/>
            <p:nvPr/>
          </p:nvSpPr>
          <p:spPr>
            <a:xfrm rot="5400000" flipH="1">
              <a:off x="9015405" y="1624963"/>
              <a:ext cx="278682" cy="973667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6" name="下矢印 55"/>
            <p:cNvSpPr/>
            <p:nvPr/>
          </p:nvSpPr>
          <p:spPr>
            <a:xfrm rot="16200000">
              <a:off x="4952370" y="1232294"/>
              <a:ext cx="298241" cy="1350145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7" name="下矢印 56"/>
            <p:cNvSpPr/>
            <p:nvPr/>
          </p:nvSpPr>
          <p:spPr>
            <a:xfrm rot="5400000" flipH="1">
              <a:off x="4967241" y="1575264"/>
              <a:ext cx="268489" cy="1350146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9" name="下矢印 58"/>
            <p:cNvSpPr/>
            <p:nvPr/>
          </p:nvSpPr>
          <p:spPr>
            <a:xfrm flipV="1">
              <a:off x="6756094" y="3090252"/>
              <a:ext cx="380147" cy="1266245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60" name="下矢印 59"/>
            <p:cNvSpPr/>
            <p:nvPr/>
          </p:nvSpPr>
          <p:spPr>
            <a:xfrm>
              <a:off x="7315316" y="3108224"/>
              <a:ext cx="355604" cy="1302258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61" name="フローチャート : 磁気ディスク 67"/>
            <p:cNvSpPr/>
            <p:nvPr/>
          </p:nvSpPr>
          <p:spPr>
            <a:xfrm>
              <a:off x="9955824" y="3532578"/>
              <a:ext cx="1902827" cy="1324159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既存</a:t>
              </a:r>
              <a:r>
                <a:rPr kumimoji="0" lang="en-US" altLang="ja-JP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70" name="テキスト ボックス 77"/>
            <p:cNvSpPr txBox="1"/>
            <p:nvPr/>
          </p:nvSpPr>
          <p:spPr>
            <a:xfrm>
              <a:off x="5943065" y="4557372"/>
              <a:ext cx="2471024" cy="92995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最適化</a:t>
              </a:r>
              <a:endParaRPr kumimoji="0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エンジン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77" name="テキスト ボックス 35"/>
            <p:cNvSpPr txBox="1"/>
            <p:nvPr/>
          </p:nvSpPr>
          <p:spPr>
            <a:xfrm>
              <a:off x="2512186" y="1395356"/>
              <a:ext cx="1841498" cy="1058327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ブラウザ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80" name="下矢印 79"/>
            <p:cNvSpPr/>
            <p:nvPr/>
          </p:nvSpPr>
          <p:spPr>
            <a:xfrm flipV="1">
              <a:off x="10718803" y="2595448"/>
              <a:ext cx="382302" cy="863323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2" name="フローチャート : 磁気ディスク 33">
              <a:extLst>
                <a:ext uri="{FF2B5EF4-FFF2-40B4-BE49-F238E27FC236}">
                  <a16:creationId xmlns:a16="http://schemas.microsoft.com/office/drawing/2014/main" id="{C8088953-AC96-B8A3-4FAC-4AF9BFBC17DA}"/>
                </a:ext>
              </a:extLst>
            </p:cNvPr>
            <p:cNvSpPr/>
            <p:nvPr/>
          </p:nvSpPr>
          <p:spPr>
            <a:xfrm>
              <a:off x="11243180" y="239498"/>
              <a:ext cx="504062" cy="379690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3" name="フローチャート : 磁気ディスク 33">
              <a:extLst>
                <a:ext uri="{FF2B5EF4-FFF2-40B4-BE49-F238E27FC236}">
                  <a16:creationId xmlns:a16="http://schemas.microsoft.com/office/drawing/2014/main" id="{3DBAAC9E-98A7-0A63-DB1E-314FA11BB701}"/>
                </a:ext>
              </a:extLst>
            </p:cNvPr>
            <p:cNvSpPr/>
            <p:nvPr/>
          </p:nvSpPr>
          <p:spPr>
            <a:xfrm>
              <a:off x="11037743" y="429907"/>
              <a:ext cx="504062" cy="379690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4" name="フローチャート : 磁気ディスク 33">
              <a:extLst>
                <a:ext uri="{FF2B5EF4-FFF2-40B4-BE49-F238E27FC236}">
                  <a16:creationId xmlns:a16="http://schemas.microsoft.com/office/drawing/2014/main" id="{019AB514-708C-8032-0C7B-AEF01E6CD291}"/>
                </a:ext>
              </a:extLst>
            </p:cNvPr>
            <p:cNvSpPr/>
            <p:nvPr/>
          </p:nvSpPr>
          <p:spPr>
            <a:xfrm>
              <a:off x="11394790" y="575015"/>
              <a:ext cx="504062" cy="379690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pic>
        <p:nvPicPr>
          <p:cNvPr id="76" name="図 7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60" y="2683512"/>
            <a:ext cx="1507126" cy="1514699"/>
          </a:xfrm>
          <a:prstGeom prst="rect">
            <a:avLst/>
          </a:prstGeom>
        </p:spPr>
      </p:pic>
      <p:grpSp>
        <p:nvGrpSpPr>
          <p:cNvPr id="9" name="グループ化 8"/>
          <p:cNvGrpSpPr/>
          <p:nvPr/>
        </p:nvGrpSpPr>
        <p:grpSpPr>
          <a:xfrm>
            <a:off x="7373791" y="108218"/>
            <a:ext cx="1420116" cy="745210"/>
            <a:chOff x="5430644" y="207494"/>
            <a:chExt cx="1420116" cy="745210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5430644" y="207494"/>
              <a:ext cx="1420116" cy="7452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kumimoji="1" lang="ja-JP" altLang="en-US" sz="16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5" name="下矢印 34"/>
            <p:cNvSpPr/>
            <p:nvPr/>
          </p:nvSpPr>
          <p:spPr>
            <a:xfrm rot="5400000" flipH="1">
              <a:off x="6041433" y="45680"/>
              <a:ext cx="198538" cy="769812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5590193" y="619283"/>
              <a:ext cx="11010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データの流れ</a:t>
              </a:r>
            </a:p>
          </p:txBody>
        </p:sp>
      </p:grpSp>
      <p:sp>
        <p:nvSpPr>
          <p:cNvPr id="10" name="四角形吹き出し 9"/>
          <p:cNvSpPr/>
          <p:nvPr/>
        </p:nvSpPr>
        <p:spPr>
          <a:xfrm>
            <a:off x="6229275" y="903467"/>
            <a:ext cx="2847217" cy="1053515"/>
          </a:xfrm>
          <a:prstGeom prst="wedgeRectCallout">
            <a:avLst/>
          </a:prstGeom>
          <a:solidFill>
            <a:srgbClr val="CCFFCC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バース繰りシステム用データベースを需給調整サーバに</a:t>
            </a:r>
            <a:endParaRPr lang="en-US" altLang="ja-JP" sz="1600" b="1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ja-JP" altLang="en-US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間借りしている</a:t>
            </a:r>
            <a:endParaRPr lang="en-US" altLang="ja-JP" sz="1600" b="1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1" name="四角形吹き出し 9">
            <a:extLst>
              <a:ext uri="{FF2B5EF4-FFF2-40B4-BE49-F238E27FC236}">
                <a16:creationId xmlns:a16="http://schemas.microsoft.com/office/drawing/2014/main" id="{A7E59E30-F403-E5CA-E616-76DFF3723896}"/>
              </a:ext>
            </a:extLst>
          </p:cNvPr>
          <p:cNvSpPr/>
          <p:nvPr/>
        </p:nvSpPr>
        <p:spPr>
          <a:xfrm>
            <a:off x="1438747" y="5260554"/>
            <a:ext cx="1993279" cy="1053515"/>
          </a:xfrm>
          <a:prstGeom prst="wedgeRectCallout">
            <a:avLst>
              <a:gd name="adj1" fmla="val 72385"/>
              <a:gd name="adj2" fmla="val -110302"/>
            </a:avLst>
          </a:prstGeom>
          <a:solidFill>
            <a:srgbClr val="CCFFCC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サーバは現状</a:t>
            </a:r>
            <a:endParaRPr lang="en-US" altLang="ja-JP" sz="1600" b="1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ja-JP" altLang="en-US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館林</a:t>
            </a:r>
            <a:r>
              <a:rPr lang="en-US" altLang="ja-JP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DC</a:t>
            </a:r>
            <a:r>
              <a:rPr lang="ja-JP" altLang="en-US" sz="1600" b="1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上に構築</a:t>
            </a:r>
            <a:endParaRPr lang="en-US" altLang="ja-JP" sz="1600" b="1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313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10000"/>
              </a:spcBef>
              <a:buNone/>
            </a:pPr>
            <a:r>
              <a:rPr kumimoji="0" lang="en-US" altLang="ja-JP" sz="2000" b="1" dirty="0">
                <a:solidFill>
                  <a:srgbClr val="000000"/>
                </a:solidFill>
                <a:latin typeface="メイリオ"/>
                <a:ea typeface="メイリオ"/>
                <a:cs typeface="メイリオ" pitchFamily="50" charset="-128"/>
              </a:rPr>
              <a:t>2.2.</a:t>
            </a:r>
            <a:r>
              <a:rPr kumimoji="0" lang="ja-JP" altLang="en-US" sz="2000" b="1" dirty="0">
                <a:solidFill>
                  <a:srgbClr val="000000"/>
                </a:solidFill>
                <a:latin typeface="メイリオ"/>
                <a:ea typeface="メイリオ"/>
                <a:cs typeface="メイリオ" pitchFamily="50" charset="-128"/>
              </a:rPr>
              <a:t>　千葉本番環境サーバシステム移行</a:t>
            </a:r>
            <a:endParaRPr lang="en-US" altLang="ja-JP" sz="2000" b="1" dirty="0">
              <a:solidFill>
                <a:srgbClr val="000000"/>
              </a:solidFill>
              <a:latin typeface="メイリオ"/>
              <a:ea typeface="メイリオ"/>
              <a:cs typeface="メイリオ" pitchFamily="50" charset="-128"/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kumimoji="0" lang="ja-JP" altLang="en-US" sz="2000" dirty="0">
                <a:solidFill>
                  <a:srgbClr val="000000"/>
                </a:solidFill>
                <a:latin typeface="メイリオ"/>
                <a:ea typeface="メイリオ"/>
                <a:cs typeface="メイリオ" pitchFamily="50" charset="-128"/>
              </a:rPr>
              <a:t>　クラウド環境に移行したシステム構成の想定は、図の通り。</a:t>
            </a:r>
            <a:endParaRPr lang="en-US" altLang="ja-JP" sz="2000" dirty="0">
              <a:solidFill>
                <a:srgbClr val="000000"/>
              </a:solidFill>
              <a:latin typeface="メイリオ"/>
              <a:ea typeface="メイリオ"/>
              <a:cs typeface="メイリオ" pitchFamily="50" charset="-128"/>
            </a:endParaRPr>
          </a:p>
          <a:p>
            <a:pPr marL="0" indent="0">
              <a:spcBef>
                <a:spcPct val="10000"/>
              </a:spcBef>
              <a:buNone/>
            </a:pPr>
            <a:endParaRPr kumimoji="0" lang="en-US" altLang="ja-JP" sz="2000" b="1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endParaRPr kumimoji="1" lang="ja-JP" altLang="en-US" sz="2000" dirty="0"/>
          </a:p>
        </p:txBody>
      </p:sp>
      <p:sp>
        <p:nvSpPr>
          <p:cNvPr id="45" name="テキスト ボックス 29">
            <a:extLst>
              <a:ext uri="{FF2B5EF4-FFF2-40B4-BE49-F238E27FC236}">
                <a16:creationId xmlns:a16="http://schemas.microsoft.com/office/drawing/2014/main" id="{E9F9E5CA-F36A-4EF6-A520-96DDD5C2394E}"/>
              </a:ext>
            </a:extLst>
          </p:cNvPr>
          <p:cNvSpPr txBox="1"/>
          <p:nvPr/>
        </p:nvSpPr>
        <p:spPr>
          <a:xfrm>
            <a:off x="113586" y="2008231"/>
            <a:ext cx="3410893" cy="444510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Windows 11</a:t>
            </a:r>
            <a:endParaRPr kumimoji="0" lang="ja-JP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2467D52-3C0A-959C-8555-009ED7A8DCA0}"/>
              </a:ext>
            </a:extLst>
          </p:cNvPr>
          <p:cNvGrpSpPr/>
          <p:nvPr/>
        </p:nvGrpSpPr>
        <p:grpSpPr>
          <a:xfrm>
            <a:off x="3641619" y="1580349"/>
            <a:ext cx="5448826" cy="5020858"/>
            <a:chOff x="3641619" y="1580349"/>
            <a:chExt cx="5448826" cy="502085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5B569E65-1159-D0A4-F7A7-19ECCC6D7624}"/>
                </a:ext>
              </a:extLst>
            </p:cNvPr>
            <p:cNvGrpSpPr/>
            <p:nvPr/>
          </p:nvGrpSpPr>
          <p:grpSpPr>
            <a:xfrm>
              <a:off x="3641619" y="1580349"/>
              <a:ext cx="5448826" cy="5020858"/>
              <a:chOff x="3641619" y="1580349"/>
              <a:chExt cx="5448826" cy="5020858"/>
            </a:xfrm>
          </p:grpSpPr>
          <p:sp>
            <p:nvSpPr>
              <p:cNvPr id="10" name="テキスト ボックス 30">
                <a:extLst>
                  <a:ext uri="{FF2B5EF4-FFF2-40B4-BE49-F238E27FC236}">
                    <a16:creationId xmlns:a16="http://schemas.microsoft.com/office/drawing/2014/main" id="{36538651-CA95-2150-024B-0B32150A0447}"/>
                  </a:ext>
                </a:extLst>
              </p:cNvPr>
              <p:cNvSpPr txBox="1"/>
              <p:nvPr/>
            </p:nvSpPr>
            <p:spPr>
              <a:xfrm>
                <a:off x="3641619" y="1580349"/>
                <a:ext cx="3166506" cy="5020858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1"/>
                </a:solidFill>
                <a:prstDash val="dash"/>
              </a:ln>
              <a:effectLst/>
            </p:spPr>
            <p:txBody>
              <a:bodyPr wrap="square" rtlCol="0" anchor="t"/>
              <a:lstStyle>
                <a:defPPr>
                  <a:defRPr lang="ja-JP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kern="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itchFamily="50" charset="-128"/>
                    <a:ea typeface="メイリオ" pitchFamily="50" charset="-128"/>
                    <a:cs typeface="メイリオ" pitchFamily="50" charset="-128"/>
                  </a:defRPr>
                </a:lvl1pPr>
                <a:lvl2pPr indent="0">
                  <a:defRPr sz="1100">
                    <a:solidFill>
                      <a:schemeClr val="dk1"/>
                    </a:solidFill>
                  </a:defRPr>
                </a:lvl2pPr>
                <a:lvl3pPr indent="0">
                  <a:defRPr sz="1100">
                    <a:solidFill>
                      <a:schemeClr val="dk1"/>
                    </a:solidFill>
                  </a:defRPr>
                </a:lvl3pPr>
                <a:lvl4pPr indent="0">
                  <a:defRPr sz="1100">
                    <a:solidFill>
                      <a:schemeClr val="dk1"/>
                    </a:solidFill>
                  </a:defRPr>
                </a:lvl4pPr>
                <a:lvl5pPr indent="0">
                  <a:defRPr sz="1100">
                    <a:solidFill>
                      <a:schemeClr val="dk1"/>
                    </a:solidFill>
                  </a:defRPr>
                </a:lvl5pPr>
                <a:lvl6pPr indent="0">
                  <a:defRPr sz="1100">
                    <a:solidFill>
                      <a:schemeClr val="dk1"/>
                    </a:solidFill>
                  </a:defRPr>
                </a:lvl6pPr>
                <a:lvl7pPr indent="0">
                  <a:defRPr sz="1100">
                    <a:solidFill>
                      <a:schemeClr val="dk1"/>
                    </a:solidFill>
                  </a:defRPr>
                </a:lvl7pPr>
                <a:lvl8pPr indent="0">
                  <a:defRPr sz="1100">
                    <a:solidFill>
                      <a:schemeClr val="dk1"/>
                    </a:solidFill>
                  </a:defRPr>
                </a:lvl8pPr>
                <a:lvl9pPr indent="0">
                  <a:defRPr sz="1100">
                    <a:solidFill>
                      <a:schemeClr val="dk1"/>
                    </a:solidFill>
                  </a:defRPr>
                </a:lvl9pPr>
              </a:lstStyle>
              <a:p>
                <a:r>
                  <a:rPr lang="en-US" altLang="ja-JP" dirty="0"/>
                  <a:t>Azure</a:t>
                </a:r>
                <a:endParaRPr lang="ja-JP" altLang="en-US" dirty="0"/>
              </a:p>
            </p:txBody>
          </p:sp>
          <p:sp>
            <p:nvSpPr>
              <p:cNvPr id="11" name="テキスト ボックス 30">
                <a:extLst>
                  <a:ext uri="{FF2B5EF4-FFF2-40B4-BE49-F238E27FC236}">
                    <a16:creationId xmlns:a16="http://schemas.microsoft.com/office/drawing/2014/main" id="{2720BBBB-E0B2-6B5A-7B0D-A7FE5EB4DC7D}"/>
                  </a:ext>
                </a:extLst>
              </p:cNvPr>
              <p:cNvSpPr txBox="1"/>
              <p:nvPr/>
            </p:nvSpPr>
            <p:spPr>
              <a:xfrm>
                <a:off x="6817422" y="1580349"/>
                <a:ext cx="2273023" cy="2931398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1"/>
                </a:solidFill>
                <a:prstDash val="dash"/>
              </a:ln>
              <a:effectLst/>
            </p:spPr>
            <p:txBody>
              <a:bodyPr wrap="square" rtlCol="0" anchor="t"/>
              <a:lstStyle>
                <a:defPPr>
                  <a:defRPr lang="ja-JP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kern="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itchFamily="50" charset="-128"/>
                    <a:ea typeface="メイリオ" pitchFamily="50" charset="-128"/>
                    <a:cs typeface="メイリオ" pitchFamily="50" charset="-128"/>
                  </a:defRPr>
                </a:lvl1pPr>
                <a:lvl2pPr indent="0">
                  <a:defRPr sz="1100">
                    <a:solidFill>
                      <a:schemeClr val="dk1"/>
                    </a:solidFill>
                  </a:defRPr>
                </a:lvl2pPr>
                <a:lvl3pPr indent="0">
                  <a:defRPr sz="1100">
                    <a:solidFill>
                      <a:schemeClr val="dk1"/>
                    </a:solidFill>
                  </a:defRPr>
                </a:lvl3pPr>
                <a:lvl4pPr indent="0">
                  <a:defRPr sz="1100">
                    <a:solidFill>
                      <a:schemeClr val="dk1"/>
                    </a:solidFill>
                  </a:defRPr>
                </a:lvl4pPr>
                <a:lvl5pPr indent="0">
                  <a:defRPr sz="1100">
                    <a:solidFill>
                      <a:schemeClr val="dk1"/>
                    </a:solidFill>
                  </a:defRPr>
                </a:lvl5pPr>
                <a:lvl6pPr indent="0">
                  <a:defRPr sz="1100">
                    <a:solidFill>
                      <a:schemeClr val="dk1"/>
                    </a:solidFill>
                  </a:defRPr>
                </a:lvl6pPr>
                <a:lvl7pPr indent="0">
                  <a:defRPr sz="1100">
                    <a:solidFill>
                      <a:schemeClr val="dk1"/>
                    </a:solidFill>
                  </a:defRPr>
                </a:lvl7pPr>
                <a:lvl8pPr indent="0">
                  <a:defRPr sz="1100">
                    <a:solidFill>
                      <a:schemeClr val="dk1"/>
                    </a:solidFill>
                  </a:defRPr>
                </a:lvl8pPr>
                <a:lvl9pPr indent="0">
                  <a:defRPr sz="1100">
                    <a:solidFill>
                      <a:schemeClr val="dk1"/>
                    </a:solidFill>
                  </a:defRPr>
                </a:lvl9pPr>
              </a:lstStyle>
              <a:p>
                <a:endParaRPr lang="ja-JP" altLang="en-US" dirty="0"/>
              </a:p>
            </p:txBody>
          </p:sp>
        </p:grpSp>
        <p:sp>
          <p:nvSpPr>
            <p:cNvPr id="9" name="テキスト ボックス 30">
              <a:extLst>
                <a:ext uri="{FF2B5EF4-FFF2-40B4-BE49-F238E27FC236}">
                  <a16:creationId xmlns:a16="http://schemas.microsoft.com/office/drawing/2014/main" id="{30AD5672-62AC-9A35-B08A-93B0EE627C1C}"/>
                </a:ext>
              </a:extLst>
            </p:cNvPr>
            <p:cNvSpPr txBox="1"/>
            <p:nvPr/>
          </p:nvSpPr>
          <p:spPr>
            <a:xfrm>
              <a:off x="6636368" y="1604354"/>
              <a:ext cx="381350" cy="290739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dash"/>
            </a:ln>
            <a:effectLst/>
          </p:spPr>
          <p:txBody>
            <a:bodyPr wrap="square" rtlCol="0" anchor="t"/>
            <a:lstStyle>
              <a:defPPr>
                <a:defRPr lang="ja-JP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endParaRPr lang="ja-JP" altLang="en-US" dirty="0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２．千葉本番環境サーバクラウド移行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Copyright© </a:t>
            </a:r>
            <a:r>
              <a:rPr lang="en-US" altLang="ja-JP" dirty="0" err="1"/>
              <a:t>SystemEXE,Inc</a:t>
            </a:r>
            <a:r>
              <a:rPr lang="en-US" altLang="ja-JP" dirty="0"/>
              <a:t>. all rights reserved.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kumimoji="1" lang="ja-JP" altLang="en-US" smtClean="0"/>
              <a:t>2</a:t>
            </a:fld>
            <a:endParaRPr kumimoji="1" lang="ja-JP" altLang="en-US"/>
          </a:p>
        </p:txBody>
      </p:sp>
      <p:grpSp>
        <p:nvGrpSpPr>
          <p:cNvPr id="40" name="グループ化 39"/>
          <p:cNvGrpSpPr/>
          <p:nvPr/>
        </p:nvGrpSpPr>
        <p:grpSpPr>
          <a:xfrm>
            <a:off x="6925265" y="2008231"/>
            <a:ext cx="2074735" cy="4422805"/>
            <a:chOff x="9371646" y="-311694"/>
            <a:chExt cx="2862792" cy="6381496"/>
          </a:xfrm>
        </p:grpSpPr>
        <p:sp>
          <p:nvSpPr>
            <p:cNvPr id="75" name="テキスト ボックス 34"/>
            <p:cNvSpPr txBox="1"/>
            <p:nvPr/>
          </p:nvSpPr>
          <p:spPr>
            <a:xfrm>
              <a:off x="9371646" y="3387470"/>
              <a:ext cx="2862792" cy="2682332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wrap="square" rtlCol="0" anchor="b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新オフラス</a:t>
              </a:r>
              <a:endParaRPr kumimoji="0" lang="en-US" altLang="ja-JP" sz="1600" kern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en-US" altLang="ja-JP" sz="1600" kern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r>
                <a:rPr kumimoji="0" lang="ja-JP" altLang="en-US" sz="1600" kern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サーバ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（</a:t>
              </a:r>
              <a:r>
                <a:rPr kumimoji="0" lang="en-US" altLang="ja-JP" sz="1600" kern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DMZ</a:t>
              </a:r>
              <a:r>
                <a:rPr kumimoji="0" lang="ja-JP" altLang="en-US" sz="1600" kern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）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（本番機）</a:t>
              </a:r>
            </a:p>
          </p:txBody>
        </p:sp>
        <p:sp>
          <p:nvSpPr>
            <p:cNvPr id="43" name="テキスト ボックス 34"/>
            <p:cNvSpPr txBox="1"/>
            <p:nvPr/>
          </p:nvSpPr>
          <p:spPr>
            <a:xfrm>
              <a:off x="9371646" y="-311694"/>
              <a:ext cx="2862792" cy="353666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 cap="flat" cmpd="sng" algn="ctr">
              <a:solidFill>
                <a:schemeClr val="accent2"/>
              </a:solidFill>
              <a:prstDash val="solid"/>
            </a:ln>
            <a:effectLst/>
          </p:spPr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（新規</a:t>
              </a:r>
              <a:r>
                <a:rPr kumimoji="0" lang="en-US" altLang="ja-JP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サーバ）</a:t>
              </a:r>
              <a:r>
                <a:rPr kumimoji="0" lang="en-US" altLang="ja-JP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Windows Server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　</a:t>
              </a:r>
              <a:r>
                <a:rPr kumimoji="0" lang="en-US" altLang="ja-JP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2019</a:t>
              </a:r>
              <a:r>
                <a:rPr kumimoji="0" lang="ja-JP" altLang="en-US" sz="16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 </a:t>
              </a:r>
              <a:r>
                <a:rPr kumimoji="0" lang="ja-JP" altLang="en-US" sz="1400" kern="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千葉用本番機</a:t>
              </a: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50" name="フローチャート : 磁気ディスク 33"/>
            <p:cNvSpPr/>
            <p:nvPr/>
          </p:nvSpPr>
          <p:spPr>
            <a:xfrm>
              <a:off x="9955824" y="1472610"/>
              <a:ext cx="1902827" cy="1324159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BRSS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スキーマ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61" name="フローチャート : 磁気ディスク 67"/>
            <p:cNvSpPr/>
            <p:nvPr/>
          </p:nvSpPr>
          <p:spPr>
            <a:xfrm>
              <a:off x="9955824" y="3532578"/>
              <a:ext cx="1902827" cy="1324159"/>
            </a:xfrm>
            <a:prstGeom prst="flowChartMagneticDisk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既存</a:t>
              </a:r>
              <a:r>
                <a:rPr kumimoji="0" lang="en-US" altLang="ja-JP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DB</a:t>
              </a:r>
              <a:endParaRPr kumimoji="0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80" name="下矢印 79"/>
            <p:cNvSpPr/>
            <p:nvPr/>
          </p:nvSpPr>
          <p:spPr>
            <a:xfrm flipV="1">
              <a:off x="10718803" y="2941876"/>
              <a:ext cx="360612" cy="505520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grpSp>
        <p:nvGrpSpPr>
          <p:cNvPr id="35" name="グループ化 34"/>
          <p:cNvGrpSpPr/>
          <p:nvPr/>
        </p:nvGrpSpPr>
        <p:grpSpPr>
          <a:xfrm>
            <a:off x="7579884" y="91257"/>
            <a:ext cx="1420116" cy="745210"/>
            <a:chOff x="5430644" y="207494"/>
            <a:chExt cx="1420116" cy="745210"/>
          </a:xfrm>
        </p:grpSpPr>
        <p:sp>
          <p:nvSpPr>
            <p:cNvPr id="36" name="テキスト ボックス 35"/>
            <p:cNvSpPr txBox="1"/>
            <p:nvPr/>
          </p:nvSpPr>
          <p:spPr>
            <a:xfrm>
              <a:off x="5430644" y="207494"/>
              <a:ext cx="1420116" cy="7452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kumimoji="1" lang="ja-JP" altLang="en-US" sz="16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7" name="下矢印 36"/>
            <p:cNvSpPr/>
            <p:nvPr/>
          </p:nvSpPr>
          <p:spPr>
            <a:xfrm rot="5400000" flipH="1">
              <a:off x="6041433" y="45680"/>
              <a:ext cx="198538" cy="769812"/>
            </a:xfrm>
            <a:prstGeom prst="downArrow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38" name="テキスト ボックス 37"/>
            <p:cNvSpPr txBox="1"/>
            <p:nvPr/>
          </p:nvSpPr>
          <p:spPr>
            <a:xfrm>
              <a:off x="5590193" y="619283"/>
              <a:ext cx="11010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データの流れ</a:t>
              </a:r>
            </a:p>
          </p:txBody>
        </p:sp>
      </p:grpSp>
      <p:sp>
        <p:nvSpPr>
          <p:cNvPr id="39" name="テキスト ボックス 35">
            <a:extLst>
              <a:ext uri="{FF2B5EF4-FFF2-40B4-BE49-F238E27FC236}">
                <a16:creationId xmlns:a16="http://schemas.microsoft.com/office/drawing/2014/main" id="{73B2DDBE-4680-427A-AF09-8275FFD6373A}"/>
              </a:ext>
            </a:extLst>
          </p:cNvPr>
          <p:cNvSpPr txBox="1"/>
          <p:nvPr/>
        </p:nvSpPr>
        <p:spPr>
          <a:xfrm>
            <a:off x="1829273" y="3337001"/>
            <a:ext cx="1338473" cy="733492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ブラウザ</a:t>
            </a:r>
            <a:endParaRPr kumimoji="0" lang="en-US" altLang="ja-JP" sz="1800" b="1" kern="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Edge</a:t>
            </a:r>
            <a:endParaRPr kumimoji="0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6" name="テキスト ボックス 30">
            <a:extLst>
              <a:ext uri="{FF2B5EF4-FFF2-40B4-BE49-F238E27FC236}">
                <a16:creationId xmlns:a16="http://schemas.microsoft.com/office/drawing/2014/main" id="{76F3B3A9-FCBC-431C-B116-037274DF6AC0}"/>
              </a:ext>
            </a:extLst>
          </p:cNvPr>
          <p:cNvSpPr txBox="1"/>
          <p:nvPr/>
        </p:nvSpPr>
        <p:spPr>
          <a:xfrm>
            <a:off x="3787666" y="2008231"/>
            <a:ext cx="2939311" cy="4440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accent2"/>
            </a:solidFill>
            <a:prstDash val="solid"/>
          </a:ln>
          <a:effectLst/>
        </p:spPr>
        <p:txBody>
          <a:bodyPr wrap="square" rtlCol="0" anchor="t"/>
          <a:lstStyle>
            <a:defPPr>
              <a:defRPr lang="ja-JP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indent="0">
              <a:defRPr sz="1100">
                <a:solidFill>
                  <a:schemeClr val="dk1"/>
                </a:solidFill>
              </a:defRPr>
            </a:lvl2pPr>
            <a:lvl3pPr indent="0">
              <a:defRPr sz="1100">
                <a:solidFill>
                  <a:schemeClr val="dk1"/>
                </a:solidFill>
              </a:defRPr>
            </a:lvl3pPr>
            <a:lvl4pPr indent="0">
              <a:defRPr sz="1100">
                <a:solidFill>
                  <a:schemeClr val="dk1"/>
                </a:solidFill>
              </a:defRPr>
            </a:lvl4pPr>
            <a:lvl5pPr indent="0">
              <a:defRPr sz="1100">
                <a:solidFill>
                  <a:schemeClr val="dk1"/>
                </a:solidFill>
              </a:defRPr>
            </a:lvl5pPr>
            <a:lvl6pPr indent="0">
              <a:defRPr sz="1100">
                <a:solidFill>
                  <a:schemeClr val="dk1"/>
                </a:solidFill>
              </a:defRPr>
            </a:lvl6pPr>
            <a:lvl7pPr indent="0">
              <a:defRPr sz="1100">
                <a:solidFill>
                  <a:schemeClr val="dk1"/>
                </a:solidFill>
              </a:defRPr>
            </a:lvl7pPr>
            <a:lvl8pPr indent="0">
              <a:defRPr sz="1100">
                <a:solidFill>
                  <a:schemeClr val="dk1"/>
                </a:solidFill>
              </a:defRPr>
            </a:lvl8pPr>
            <a:lvl9pPr indent="0">
              <a:defRPr sz="1100">
                <a:solidFill>
                  <a:schemeClr val="dk1"/>
                </a:solidFill>
              </a:defRPr>
            </a:lvl9pPr>
          </a:lstStyle>
          <a:p>
            <a:r>
              <a:rPr lang="ja-JP" altLang="en-US" dirty="0"/>
              <a:t>（新規</a:t>
            </a:r>
            <a:r>
              <a:rPr lang="en-US" altLang="ja-JP" dirty="0"/>
              <a:t>AP</a:t>
            </a:r>
            <a:r>
              <a:rPr lang="ja-JP" altLang="en-US" dirty="0"/>
              <a:t>サーバ）</a:t>
            </a:r>
            <a:r>
              <a:rPr lang="en-US" altLang="ja-JP" dirty="0"/>
              <a:t>Windows Server 2019 </a:t>
            </a:r>
            <a:r>
              <a:rPr lang="ja-JP" altLang="en-US" sz="1400" dirty="0"/>
              <a:t>千葉用本番機</a:t>
            </a:r>
            <a:endParaRPr lang="ja-JP" altLang="ja-JP" sz="1400" dirty="0"/>
          </a:p>
          <a:p>
            <a:endParaRPr lang="ja-JP" altLang="en-US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CC014D7-B3FF-442C-8D5A-99813053BA6A}"/>
              </a:ext>
            </a:extLst>
          </p:cNvPr>
          <p:cNvSpPr/>
          <p:nvPr/>
        </p:nvSpPr>
        <p:spPr>
          <a:xfrm>
            <a:off x="3960000" y="2890208"/>
            <a:ext cx="2645955" cy="1757355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IIS10</a:t>
            </a:r>
            <a:endParaRPr kumimoji="0" lang="ja-JP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02256-677D-4CE9-A3A6-1D7426A59A5D}"/>
              </a:ext>
            </a:extLst>
          </p:cNvPr>
          <p:cNvSpPr/>
          <p:nvPr/>
        </p:nvSpPr>
        <p:spPr>
          <a:xfrm>
            <a:off x="3960000" y="4704438"/>
            <a:ext cx="2645955" cy="1563095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MATLB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32bit</a:t>
            </a:r>
            <a:endParaRPr kumimoji="0" lang="ja-JP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35">
            <a:extLst>
              <a:ext uri="{FF2B5EF4-FFF2-40B4-BE49-F238E27FC236}">
                <a16:creationId xmlns:a16="http://schemas.microsoft.com/office/drawing/2014/main" id="{00CC1FB0-FE49-4D6E-B67E-FD57D5CF4AF0}"/>
              </a:ext>
            </a:extLst>
          </p:cNvPr>
          <p:cNvSpPr txBox="1"/>
          <p:nvPr/>
        </p:nvSpPr>
        <p:spPr>
          <a:xfrm>
            <a:off x="4433238" y="3450394"/>
            <a:ext cx="1799635" cy="733492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アプリ</a:t>
            </a:r>
            <a:endParaRPr kumimoji="0" lang="en-US" altLang="ja-JP" sz="1800" b="1" kern="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kern="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ケーション</a:t>
            </a:r>
            <a:endParaRPr kumimoji="0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3" name="テキスト ボックス 77">
            <a:extLst>
              <a:ext uri="{FF2B5EF4-FFF2-40B4-BE49-F238E27FC236}">
                <a16:creationId xmlns:a16="http://schemas.microsoft.com/office/drawing/2014/main" id="{AEBFF070-51FC-4E66-8D23-DA257424EBFB}"/>
              </a:ext>
            </a:extLst>
          </p:cNvPr>
          <p:cNvSpPr txBox="1"/>
          <p:nvPr/>
        </p:nvSpPr>
        <p:spPr>
          <a:xfrm>
            <a:off x="4433238" y="5430323"/>
            <a:ext cx="1796037" cy="644519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最適化</a:t>
            </a:r>
            <a:endParaRPr kumimoji="0" lang="en-US" altLang="ja-JP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エンジン</a:t>
            </a:r>
            <a:endParaRPr kumimoji="0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8" name="下矢印 55">
            <a:extLst>
              <a:ext uri="{FF2B5EF4-FFF2-40B4-BE49-F238E27FC236}">
                <a16:creationId xmlns:a16="http://schemas.microsoft.com/office/drawing/2014/main" id="{1AC7A779-FC82-4F54-AE2E-670BD89D4F4A}"/>
              </a:ext>
            </a:extLst>
          </p:cNvPr>
          <p:cNvSpPr/>
          <p:nvPr/>
        </p:nvSpPr>
        <p:spPr>
          <a:xfrm rot="16200000">
            <a:off x="3640588" y="3173976"/>
            <a:ext cx="252592" cy="921120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7F7F4724-600C-480B-ABB0-7866FCBB85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60" y="2683512"/>
            <a:ext cx="1507126" cy="1514699"/>
          </a:xfrm>
          <a:prstGeom prst="rect">
            <a:avLst/>
          </a:prstGeom>
        </p:spPr>
      </p:pic>
      <p:sp>
        <p:nvSpPr>
          <p:cNvPr id="63" name="下矢印 56">
            <a:extLst>
              <a:ext uri="{FF2B5EF4-FFF2-40B4-BE49-F238E27FC236}">
                <a16:creationId xmlns:a16="http://schemas.microsoft.com/office/drawing/2014/main" id="{174BD197-308F-4E9B-A4B0-A1365B358F9C}"/>
              </a:ext>
            </a:extLst>
          </p:cNvPr>
          <p:cNvSpPr/>
          <p:nvPr/>
        </p:nvSpPr>
        <p:spPr>
          <a:xfrm rot="5400000" flipH="1">
            <a:off x="3653184" y="3413966"/>
            <a:ext cx="227392" cy="921123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4" name="下矢印 58">
            <a:extLst>
              <a:ext uri="{FF2B5EF4-FFF2-40B4-BE49-F238E27FC236}">
                <a16:creationId xmlns:a16="http://schemas.microsoft.com/office/drawing/2014/main" id="{9B15CEE7-48F9-4F59-90CF-6E00E739444D}"/>
              </a:ext>
            </a:extLst>
          </p:cNvPr>
          <p:cNvSpPr/>
          <p:nvPr/>
        </p:nvSpPr>
        <p:spPr>
          <a:xfrm flipV="1">
            <a:off x="5024179" y="4413510"/>
            <a:ext cx="276306" cy="877593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5" name="下矢印 59">
            <a:extLst>
              <a:ext uri="{FF2B5EF4-FFF2-40B4-BE49-F238E27FC236}">
                <a16:creationId xmlns:a16="http://schemas.microsoft.com/office/drawing/2014/main" id="{0D31AD5F-EB65-4BD6-95FD-D4A4D2EE784E}"/>
              </a:ext>
            </a:extLst>
          </p:cNvPr>
          <p:cNvSpPr/>
          <p:nvPr/>
        </p:nvSpPr>
        <p:spPr>
          <a:xfrm>
            <a:off x="5430644" y="4425966"/>
            <a:ext cx="258467" cy="902552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6" name="下矢印 53">
            <a:extLst>
              <a:ext uri="{FF2B5EF4-FFF2-40B4-BE49-F238E27FC236}">
                <a16:creationId xmlns:a16="http://schemas.microsoft.com/office/drawing/2014/main" id="{49E139AE-D1C8-4509-8EE3-EB3181F41309}"/>
              </a:ext>
            </a:extLst>
          </p:cNvPr>
          <p:cNvSpPr/>
          <p:nvPr/>
        </p:nvSpPr>
        <p:spPr>
          <a:xfrm rot="16200000">
            <a:off x="6657589" y="3093177"/>
            <a:ext cx="220051" cy="707700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7" name="下矢印 54">
            <a:extLst>
              <a:ext uri="{FF2B5EF4-FFF2-40B4-BE49-F238E27FC236}">
                <a16:creationId xmlns:a16="http://schemas.microsoft.com/office/drawing/2014/main" id="{8B6A6CC3-B47F-48E4-8280-D0C52303BB3A}"/>
              </a:ext>
            </a:extLst>
          </p:cNvPr>
          <p:cNvSpPr/>
          <p:nvPr/>
        </p:nvSpPr>
        <p:spPr>
          <a:xfrm rot="5400000" flipH="1">
            <a:off x="6671041" y="3334023"/>
            <a:ext cx="193145" cy="707699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427FEF39-48AA-9360-F6E2-4CCAC58984F3}"/>
              </a:ext>
            </a:extLst>
          </p:cNvPr>
          <p:cNvSpPr/>
          <p:nvPr/>
        </p:nvSpPr>
        <p:spPr>
          <a:xfrm>
            <a:off x="3787666" y="1145113"/>
            <a:ext cx="3020459" cy="735050"/>
          </a:xfrm>
          <a:prstGeom prst="wedgeRoundRectCallout">
            <a:avLst>
              <a:gd name="adj1" fmla="val -20126"/>
              <a:gd name="adj2" fmla="val 60716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北海道構築時にサーバ作成済</a:t>
            </a:r>
            <a:endParaRPr kumimoji="1" lang="en-US" altLang="ja-JP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千葉用に入れ替えが必要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02453CEB-FA96-F48D-BC86-31012461DC88}"/>
              </a:ext>
            </a:extLst>
          </p:cNvPr>
          <p:cNvSpPr/>
          <p:nvPr/>
        </p:nvSpPr>
        <p:spPr>
          <a:xfrm>
            <a:off x="7258715" y="1126972"/>
            <a:ext cx="1581736" cy="667318"/>
          </a:xfrm>
          <a:prstGeom prst="wedgeRoundRectCallout">
            <a:avLst>
              <a:gd name="adj1" fmla="val -21061"/>
              <a:gd name="adj2" fmla="val 80661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新規にサーバ作成が必要</a:t>
            </a:r>
          </a:p>
        </p:txBody>
      </p:sp>
    </p:spTree>
    <p:extLst>
      <p:ext uri="{BB962C8B-B14F-4D97-AF65-F5344CB8AC3E}">
        <p14:creationId xmlns:p14="http://schemas.microsoft.com/office/powerpoint/2010/main" val="337754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010780-893A-1840-D453-1DC30419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Azure</a:t>
            </a:r>
            <a:r>
              <a:rPr kumimoji="1" lang="ja-JP" altLang="en-US" dirty="0"/>
              <a:t>移行対応方針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DA71A0-896D-E081-0C8C-54E7C5919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１．</a:t>
            </a:r>
            <a:r>
              <a:rPr lang="en-US" altLang="ja-JP" dirty="0"/>
              <a:t>Azure</a:t>
            </a:r>
            <a:r>
              <a:rPr lang="ja-JP" altLang="en-US" dirty="0"/>
              <a:t>への単純移行の対応内容（</a:t>
            </a:r>
            <a:r>
              <a:rPr lang="en-US" altLang="ja-JP" dirty="0"/>
              <a:t>AP</a:t>
            </a:r>
            <a:r>
              <a:rPr lang="ja-JP" altLang="en-US" dirty="0"/>
              <a:t>サーバ）</a:t>
            </a:r>
          </a:p>
          <a:p>
            <a:pPr marL="0" indent="0">
              <a:buNone/>
            </a:pPr>
            <a:r>
              <a:rPr lang="ja-JP" altLang="en-US" dirty="0"/>
              <a:t>　　現在の千葉本番環境資源を移行する</a:t>
            </a:r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MATLAB</a:t>
            </a:r>
            <a:r>
              <a:rPr lang="ja-JP" altLang="en-US" dirty="0"/>
              <a:t>は</a:t>
            </a:r>
            <a:r>
              <a:rPr lang="en-US" altLang="ja-JP" dirty="0"/>
              <a:t>32bit</a:t>
            </a:r>
            <a:r>
              <a:rPr lang="ja-JP" altLang="en-US" dirty="0"/>
              <a:t>版で構築する</a:t>
            </a:r>
          </a:p>
          <a:p>
            <a:pPr marL="0" indent="0">
              <a:buNone/>
            </a:pPr>
            <a:r>
              <a:rPr lang="ja-JP" altLang="en-US" dirty="0"/>
              <a:t>２．</a:t>
            </a:r>
            <a:r>
              <a:rPr lang="en-US" altLang="ja-JP" dirty="0"/>
              <a:t>Azure</a:t>
            </a:r>
            <a:r>
              <a:rPr lang="ja-JP" altLang="en-US" dirty="0"/>
              <a:t>への単純移行の対応内容（</a:t>
            </a:r>
            <a:r>
              <a:rPr lang="en-US" altLang="ja-JP" dirty="0"/>
              <a:t>DB</a:t>
            </a:r>
            <a:r>
              <a:rPr lang="ja-JP" altLang="en-US" dirty="0"/>
              <a:t>サーバ）</a:t>
            </a:r>
          </a:p>
          <a:p>
            <a:pPr marL="0" indent="0">
              <a:buNone/>
            </a:pPr>
            <a:r>
              <a:rPr lang="ja-JP" altLang="en-US" dirty="0"/>
              <a:t>　　現在の千葉本番環境資源を移行する</a:t>
            </a:r>
          </a:p>
          <a:p>
            <a:pPr marL="0" indent="0">
              <a:buNone/>
            </a:pPr>
            <a:r>
              <a:rPr lang="ja-JP" altLang="en-US" dirty="0"/>
              <a:t>　　リリースタイミングで最新のデータを再度移行する</a:t>
            </a:r>
          </a:p>
          <a:p>
            <a:pPr marL="0" indent="0">
              <a:buNone/>
            </a:pPr>
            <a:r>
              <a:rPr lang="ja-JP" altLang="en-US" dirty="0"/>
              <a:t>３．サーバの構成・移行</a:t>
            </a:r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DB</a:t>
            </a:r>
            <a:r>
              <a:rPr lang="ja-JP" altLang="en-US" dirty="0"/>
              <a:t>サーバは新規構築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AP</a:t>
            </a:r>
            <a:r>
              <a:rPr lang="ja-JP" altLang="en-US" dirty="0"/>
              <a:t>サーバは北海道版の検証環境を削除しこれを千葉用に変更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⇒サーバをなるべく増やさないため</a:t>
            </a:r>
          </a:p>
          <a:p>
            <a:pPr marL="0" indent="0">
              <a:buNone/>
            </a:pPr>
            <a:r>
              <a:rPr lang="ja-JP" altLang="en-US" dirty="0"/>
              <a:t>４．移行のスケジュール</a:t>
            </a:r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kumimoji="1" lang="en-US" altLang="ja-JP" dirty="0">
                <a:solidFill>
                  <a:srgbClr val="FF0000"/>
                </a:solidFill>
              </a:rPr>
              <a:t>10/1</a:t>
            </a:r>
            <a:r>
              <a:rPr kumimoji="1" lang="ja-JP" altLang="en-US" dirty="0">
                <a:solidFill>
                  <a:srgbClr val="FF0000"/>
                </a:solidFill>
              </a:rPr>
              <a:t>から開始、リリース</a:t>
            </a:r>
            <a:r>
              <a:rPr kumimoji="1" lang="en-US" altLang="ja-JP" dirty="0">
                <a:solidFill>
                  <a:srgbClr val="FF0000"/>
                </a:solidFill>
              </a:rPr>
              <a:t>12</a:t>
            </a:r>
            <a:r>
              <a:rPr kumimoji="1" lang="ja-JP" altLang="en-US" dirty="0">
                <a:solidFill>
                  <a:srgbClr val="FF0000"/>
                </a:solidFill>
              </a:rPr>
              <a:t>月</a:t>
            </a:r>
            <a:r>
              <a:rPr lang="ja-JP" altLang="en-US" dirty="0">
                <a:solidFill>
                  <a:srgbClr val="FF0000"/>
                </a:solidFill>
              </a:rPr>
              <a:t>予定で進める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D23D60F-77BC-E33E-60D0-1BBCA61E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Copyright© 2025 </a:t>
            </a:r>
            <a:r>
              <a:rPr lang="en-US" altLang="ja-JP" dirty="0" err="1"/>
              <a:t>SystemEXE,Inc</a:t>
            </a:r>
            <a:r>
              <a:rPr lang="en-US" altLang="ja-JP" dirty="0"/>
              <a:t>. all rights reserved.</a:t>
            </a:r>
            <a:endParaRPr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8A59A0-0D66-5D53-D0D8-3313DC7B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5F4E-A786-454B-9285-EF3DEA272B3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259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sz="1600" b="1" dirty="0" smtClean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207C222D4A704392DD812ABE7F848A" ma:contentTypeVersion="10" ma:contentTypeDescription="新しいドキュメントを作成します。" ma:contentTypeScope="" ma:versionID="69aef985f427d6df22868eedf41448bf">
  <xsd:schema xmlns:xsd="http://www.w3.org/2001/XMLSchema" xmlns:xs="http://www.w3.org/2001/XMLSchema" xmlns:p="http://schemas.microsoft.com/office/2006/metadata/properties" xmlns:ns2="2fd442da-66a9-4fa6-ba31-eb0d54ad1381" targetNamespace="http://schemas.microsoft.com/office/2006/metadata/properties" ma:root="true" ma:fieldsID="5ea8d7fed5e91ecceba9cbd3c6ab47c3" ns2:_="">
    <xsd:import namespace="2fd442da-66a9-4fa6-ba31-eb0d54ad13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442da-66a9-4fa6-ba31-eb0d54ad1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a5fcdd6f-42ce-4fb7-9ce2-d9614ea932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d442da-66a9-4fa6-ba31-eb0d54ad13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B8CFB2E-99E7-4816-BD70-760A1CCFE956}"/>
</file>

<file path=customXml/itemProps2.xml><?xml version="1.0" encoding="utf-8"?>
<ds:datastoreItem xmlns:ds="http://schemas.openxmlformats.org/officeDocument/2006/customXml" ds:itemID="{13E9065A-6181-46A3-A2D7-7468212C11B5}"/>
</file>

<file path=customXml/itemProps3.xml><?xml version="1.0" encoding="utf-8"?>
<ds:datastoreItem xmlns:ds="http://schemas.openxmlformats.org/officeDocument/2006/customXml" ds:itemID="{E33A9410-45D5-4C31-8838-936877CCB470}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58941</TotalTime>
  <Words>771</Words>
  <Application>Microsoft Office PowerPoint</Application>
  <PresentationFormat>画面に合わせる (4:3)</PresentationFormat>
  <Paragraphs>115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HG丸ｺﾞｼｯｸM-PRO</vt:lpstr>
      <vt:lpstr>メイリオ</vt:lpstr>
      <vt:lpstr>游ゴシック</vt:lpstr>
      <vt:lpstr>Arial</vt:lpstr>
      <vt:lpstr>Calibri</vt:lpstr>
      <vt:lpstr>Verdana</vt:lpstr>
      <vt:lpstr>Office テーマ</vt:lpstr>
      <vt:lpstr>１．スケジュール案（千葉AP・DB Azure移行）</vt:lpstr>
      <vt:lpstr>２．千葉本番環境サーバクラウド移行</vt:lpstr>
      <vt:lpstr>２．千葉本番環境サーバクラウド移行</vt:lpstr>
      <vt:lpstr>Azure移行対応方針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株式会社システムエグゼ</dc:creator>
  <cp:lastModifiedBy>髙木義尚</cp:lastModifiedBy>
  <cp:revision>6672</cp:revision>
  <cp:lastPrinted>2020-04-20T04:29:26Z</cp:lastPrinted>
  <dcterms:created xsi:type="dcterms:W3CDTF">2017-12-05T05:18:47Z</dcterms:created>
  <dcterms:modified xsi:type="dcterms:W3CDTF">2025-09-03T01:09:45Z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0x0101008B207C222D4A704392DD812ABE7F848A</vt:lpwstr>
  </property>
</Properties>
</file>