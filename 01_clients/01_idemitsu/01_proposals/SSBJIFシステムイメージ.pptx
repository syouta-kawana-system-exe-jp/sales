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3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726" autoAdjust="0"/>
  </p:normalViewPr>
  <p:slideViewPr>
    <p:cSldViewPr snapToGrid="0">
      <p:cViewPr varScale="1">
        <p:scale>
          <a:sx n="62" d="100"/>
          <a:sy n="62" d="100"/>
        </p:scale>
        <p:origin x="242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BA3E6-506F-46E9-8B2C-1A92CC27AA40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EA53F-D811-4522-8C32-9883E5CD1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41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【UI</a:t>
            </a:r>
            <a:r>
              <a:rPr kumimoji="1" lang="ja-JP" altLang="en-US" dirty="0"/>
              <a:t>要求</a:t>
            </a:r>
            <a:r>
              <a:rPr kumimoji="1" lang="en-US" altLang="ja-JP" dirty="0"/>
              <a:t>】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CDF</a:t>
            </a:r>
            <a:r>
              <a:rPr kumimoji="1" lang="ja-JP" altLang="en-US" dirty="0"/>
              <a:t>から必要なタグデータを選択して取得出来ること。</a:t>
            </a:r>
            <a:br>
              <a:rPr kumimoji="1" lang="en-US" altLang="ja-JP" dirty="0"/>
            </a:br>
            <a:r>
              <a:rPr kumimoji="1" lang="ja-JP" altLang="en-US" dirty="0"/>
              <a:t>・取得するタグの設定変更ができること。</a:t>
            </a:r>
            <a:endParaRPr kumimoji="1" lang="en-US" altLang="ja-JP" dirty="0"/>
          </a:p>
          <a:p>
            <a:r>
              <a:rPr kumimoji="1" lang="ja-JP" altLang="en-US" dirty="0"/>
              <a:t>・一か月単位でのデータ取得し送信すること、</a:t>
            </a:r>
            <a:endParaRPr kumimoji="1" lang="en-US" altLang="ja-JP" dirty="0"/>
          </a:p>
          <a:p>
            <a:r>
              <a:rPr kumimoji="1" lang="ja-JP" altLang="en-US" dirty="0"/>
              <a:t>・月次で上がる確定値の確認ができる</a:t>
            </a:r>
            <a:endParaRPr kumimoji="1" lang="en-US" altLang="ja-JP" dirty="0"/>
          </a:p>
          <a:p>
            <a:r>
              <a:rPr kumimoji="1" lang="ja-JP" altLang="en-US" dirty="0"/>
              <a:t>・手入力での異常値書き換えができる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・タグ間での四則演算をし、データ投入できること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・計器リセット対応？があるかないか</a:t>
            </a:r>
            <a:endParaRPr kumimoji="1" lang="en-US" altLang="ja-JP" dirty="0"/>
          </a:p>
          <a:p>
            <a:r>
              <a:rPr kumimoji="1" lang="ja-JP" altLang="en-US" dirty="0"/>
              <a:t>・アクセスコントロールができること（</a:t>
            </a:r>
            <a:r>
              <a:rPr kumimoji="1" lang="en-US" altLang="ja-JP" dirty="0"/>
              <a:t>IDM</a:t>
            </a:r>
            <a:r>
              <a:rPr kumimoji="1" lang="ja-JP" altLang="en-US" dirty="0"/>
              <a:t>使って</a:t>
            </a:r>
            <a:r>
              <a:rPr kumimoji="1" lang="en-US" altLang="ja-JP" dirty="0"/>
              <a:t>SAML</a:t>
            </a:r>
            <a:r>
              <a:rPr kumimoji="1" lang="ja-JP" altLang="en-US" dirty="0"/>
              <a:t>認証かな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EA53F-D811-4522-8C32-9883E5CD119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056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5D5682-1B29-D005-FFE9-1F75B4F19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68E182-592E-F103-6705-AA9914AF9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0E468D-3904-E097-2C24-6A6B4E10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36B8DC-950A-92CF-80AD-13904D01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AEBE9D-A181-F76B-F7A7-C9DF24BA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1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F87C0D-0E31-C615-2680-4D491BB1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636809-8BCC-32CF-8409-9547A929F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E3215B-C1F9-4D90-3B0C-CB67193D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6D91E6-EB58-525E-CFFD-CCD5AE5E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05B381-007A-4455-D07D-23A99E60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40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EDE30F-D860-7586-ACB1-910678CF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CEA5D3-C4C0-7FCD-882B-2BCFF3CD0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A1F71-F96E-0BD4-BAF8-A1BC613F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A983F1-B485-1EFC-FE2E-D4DE2D1F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AD962B-56F4-AD4D-4921-1224E781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17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06C756-14BC-D700-EF10-966E3CCB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9D8260-689A-4279-1298-1993B6583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49955D-A404-C8BE-5A61-FAB4852D8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F0D487-8414-06A4-36AA-D960D362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609B33-679A-F974-469D-889A7826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BC0187-B475-B956-5109-74E664AB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79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7D630E-9681-AF63-7472-AA3BEF8A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4880FE-48CD-BAEE-69E1-F8E0474C1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B117B0-B38D-79AB-EF34-27B9EBC0A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DD856E-9CB9-BE5B-B3EA-14341D2C1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181F8A-A52F-CF58-0596-FB7F8C3B6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01A201-E5CC-3F4E-006F-8ADBA35E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9037B6-5D13-B6E1-DFF9-FA991CA6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6E972A-B30D-55CB-69C3-34056485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216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9EF95A-2EC6-C32E-23F8-D0972499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D57CED-2864-F11C-49C9-DF59F211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610438-96FE-16E6-9F26-B9F1A5E80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CD10DD-73D1-4EF8-3FF6-370652A6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3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C8AE0B-FEFC-2C12-AA04-745034A4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C0AF3D-F92D-3A3A-A3DE-D749867E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4E6A29-994D-E7B5-9562-D2AC5514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86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B24EF-B6F3-1EC4-6677-03C7224B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F5DE2D-13D0-1D30-6EB2-F0F9B5B6A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DDF906-B1C4-C1C1-8551-9A9B10DD3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E1F88B-7FAE-9331-3509-D5818647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AE4DD5-CE3F-FA09-41B2-B608D9E3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ABD8B5-77C0-6474-9AAC-57BA5B2D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714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8F6435-B018-86E9-E9C7-FF2658B5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F5CB179-F28A-BF67-14E2-8E1F233B0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E16C08-AC29-6565-FF2E-7E96F3954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EA256D-4B6D-0EE0-2DB8-4F5D5694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045A72-F78B-A220-6F6F-E37907CA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634114-9F06-CE35-90A2-75915A20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5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0FE0B-8EEA-FB7A-F182-528B7D8D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2CD04F-4225-621A-FB0A-332B6C813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E6CBA3-4D53-66C2-E2D3-0A73E2D9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D460CA-297A-2A72-6DF9-7F252BED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2481AF-F51B-D8CD-3976-691409CE7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63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77FA89-1250-0755-BAB3-EDFA01A1D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49A885-47EE-928B-AF72-1BCB35EF9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C85351-984C-763A-E09C-4AC8B136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4424FD-5118-3CBA-677A-932AB0FB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E6660-D04E-2F9D-64A9-39D03104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11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AFD1DF4-CED8-B939-31F1-83477A87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32D942-F59F-D4DB-E2CE-B2679C364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35F9B1-9C97-F87E-F99C-5D9CDC48E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088FA-D491-4E20-9C35-52D0795A69B6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36736-9A48-0CBF-A3BE-DDEE87D55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3C9A11-E0DB-DFA1-B45B-FECA55534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EB4A9-1FDA-430C-8D1F-3E40FCFEB0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38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A7447574-4183-5DB2-5ACB-924A1AF88264}"/>
              </a:ext>
            </a:extLst>
          </p:cNvPr>
          <p:cNvSpPr/>
          <p:nvPr/>
        </p:nvSpPr>
        <p:spPr>
          <a:xfrm>
            <a:off x="609600" y="0"/>
            <a:ext cx="10972800" cy="6858000"/>
          </a:xfrm>
          <a:custGeom>
            <a:avLst/>
            <a:gdLst>
              <a:gd name="connsiteX0" fmla="*/ 0 w 10972800"/>
              <a:gd name="connsiteY0" fmla="*/ 0 h 6858000"/>
              <a:gd name="connsiteX1" fmla="*/ 10972800 w 10972800"/>
              <a:gd name="connsiteY1" fmla="*/ 0 h 6858000"/>
              <a:gd name="connsiteX2" fmla="*/ 10972800 w 10972800"/>
              <a:gd name="connsiteY2" fmla="*/ 6858000 h 6858000"/>
              <a:gd name="connsiteX3" fmla="*/ 0 w 10972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72800" h="6858000">
                <a:moveTo>
                  <a:pt x="0" y="0"/>
                </a:moveTo>
                <a:lnTo>
                  <a:pt x="10972800" y="0"/>
                </a:lnTo>
                <a:lnTo>
                  <a:pt x="10972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B0F14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2E7834CD-95D8-83B4-6516-DB9AC1A3E12B}"/>
              </a:ext>
            </a:extLst>
          </p:cNvPr>
          <p:cNvSpPr/>
          <p:nvPr/>
        </p:nvSpPr>
        <p:spPr>
          <a:xfrm>
            <a:off x="792480" y="182880"/>
            <a:ext cx="10607040" cy="6492240"/>
          </a:xfrm>
          <a:custGeom>
            <a:avLst/>
            <a:gdLst>
              <a:gd name="connsiteX0" fmla="*/ 0 w 10607040"/>
              <a:gd name="connsiteY0" fmla="*/ 0 h 6492240"/>
              <a:gd name="connsiteX1" fmla="*/ 10607040 w 10607040"/>
              <a:gd name="connsiteY1" fmla="*/ 0 h 6492240"/>
              <a:gd name="connsiteX2" fmla="*/ 10607040 w 10607040"/>
              <a:gd name="connsiteY2" fmla="*/ 6492240 h 6492240"/>
              <a:gd name="connsiteX3" fmla="*/ 0 w 10607040"/>
              <a:gd name="connsiteY3" fmla="*/ 6492240 h 649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07040" h="6492240">
                <a:moveTo>
                  <a:pt x="0" y="0"/>
                </a:moveTo>
                <a:lnTo>
                  <a:pt x="10607040" y="0"/>
                </a:lnTo>
                <a:lnTo>
                  <a:pt x="10607040" y="6492240"/>
                </a:lnTo>
                <a:lnTo>
                  <a:pt x="0" y="6492240"/>
                </a:lnTo>
                <a:close/>
              </a:path>
            </a:pathLst>
          </a:custGeom>
          <a:solidFill>
            <a:srgbClr val="F6F8FB"/>
          </a:solidFill>
          <a:ln w="10668" cap="flat">
            <a:solidFill>
              <a:srgbClr val="CFD7E3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FBF02287-021D-AE73-EA08-1BDCBEA0CEA8}"/>
              </a:ext>
            </a:extLst>
          </p:cNvPr>
          <p:cNvSpPr/>
          <p:nvPr/>
        </p:nvSpPr>
        <p:spPr>
          <a:xfrm>
            <a:off x="914400" y="304800"/>
            <a:ext cx="1676400" cy="6248400"/>
          </a:xfrm>
          <a:custGeom>
            <a:avLst/>
            <a:gdLst>
              <a:gd name="connsiteX0" fmla="*/ 0 w 1676400"/>
              <a:gd name="connsiteY0" fmla="*/ 0 h 6248400"/>
              <a:gd name="connsiteX1" fmla="*/ 1676400 w 1676400"/>
              <a:gd name="connsiteY1" fmla="*/ 0 h 6248400"/>
              <a:gd name="connsiteX2" fmla="*/ 1676400 w 1676400"/>
              <a:gd name="connsiteY2" fmla="*/ 6248400 h 6248400"/>
              <a:gd name="connsiteX3" fmla="*/ 0 w 1676400"/>
              <a:gd name="connsiteY3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6400" h="6248400">
                <a:moveTo>
                  <a:pt x="0" y="0"/>
                </a:moveTo>
                <a:lnTo>
                  <a:pt x="1676400" y="0"/>
                </a:lnTo>
                <a:lnTo>
                  <a:pt x="1676400" y="6248400"/>
                </a:lnTo>
                <a:lnTo>
                  <a:pt x="0" y="6248400"/>
                </a:lnTo>
                <a:close/>
              </a:path>
            </a:pathLst>
          </a:custGeom>
          <a:solidFill>
            <a:srgbClr val="0F172A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BB20C2B-2BC1-8B4D-3772-F2F294370CCE}"/>
              </a:ext>
            </a:extLst>
          </p:cNvPr>
          <p:cNvSpPr txBox="1"/>
          <p:nvPr/>
        </p:nvSpPr>
        <p:spPr>
          <a:xfrm>
            <a:off x="1036320" y="37742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pc="0" baseline="0" dirty="0">
                <a:ln/>
                <a:solidFill>
                  <a:srgbClr val="CBD5E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Arial"/>
                <a:rtl val="0"/>
              </a:rPr>
              <a:t>Envizi </a:t>
            </a:r>
            <a:r>
              <a:rPr lang="ja-JP" altLang="en-US" spc="0" baseline="0" dirty="0">
                <a:ln/>
                <a:solidFill>
                  <a:srgbClr val="CBD5E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ＭＳ ゴシック"/>
                <a:rtl val="0"/>
              </a:rPr>
              <a:t>連携</a:t>
            </a:r>
            <a:endParaRPr lang="ja-JP" altLang="en-US" spc="0" baseline="0" dirty="0">
              <a:ln/>
              <a:solidFill>
                <a:srgbClr val="CBD5E1"/>
              </a:solidFill>
              <a:latin typeface="BIZ UDゴシック" panose="020B0400000000000000" pitchFamily="49" charset="-128"/>
              <a:ea typeface="BIZ UDゴシック" panose="020B0400000000000000" pitchFamily="49" charset="-128"/>
              <a:cs typeface="Arial"/>
              <a:sym typeface="Arial"/>
              <a:rtl val="0"/>
            </a:endParaRPr>
          </a:p>
        </p:txBody>
      </p:sp>
      <p:grpSp>
        <p:nvGrpSpPr>
          <p:cNvPr id="11" name="グラフィックス 4">
            <a:extLst>
              <a:ext uri="{FF2B5EF4-FFF2-40B4-BE49-F238E27FC236}">
                <a16:creationId xmlns:a16="http://schemas.microsoft.com/office/drawing/2014/main" id="{58E6B2B9-0889-2DCB-6324-91537EDE9B29}"/>
              </a:ext>
            </a:extLst>
          </p:cNvPr>
          <p:cNvGrpSpPr/>
          <p:nvPr/>
        </p:nvGrpSpPr>
        <p:grpSpPr>
          <a:xfrm>
            <a:off x="1036320" y="792480"/>
            <a:ext cx="1432560" cy="1404312"/>
            <a:chOff x="1036320" y="792480"/>
            <a:chExt cx="1432560" cy="1404312"/>
          </a:xfrm>
        </p:grpSpPr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41DE654A-9AB3-DB4E-68FC-AC81C9BCEBED}"/>
                </a:ext>
              </a:extLst>
            </p:cNvPr>
            <p:cNvSpPr/>
            <p:nvPr/>
          </p:nvSpPr>
          <p:spPr>
            <a:xfrm>
              <a:off x="1036320" y="792480"/>
              <a:ext cx="1432560" cy="213360"/>
            </a:xfrm>
            <a:custGeom>
              <a:avLst/>
              <a:gdLst>
                <a:gd name="connsiteX0" fmla="*/ 56 w 1432560"/>
                <a:gd name="connsiteY0" fmla="*/ 120 h 213360"/>
                <a:gd name="connsiteX1" fmla="*/ 1432616 w 1432560"/>
                <a:gd name="connsiteY1" fmla="*/ 120 h 213360"/>
                <a:gd name="connsiteX2" fmla="*/ 1432616 w 1432560"/>
                <a:gd name="connsiteY2" fmla="*/ 213480 h 213360"/>
                <a:gd name="connsiteX3" fmla="*/ 56 w 1432560"/>
                <a:gd name="connsiteY3" fmla="*/ 21348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2560" h="213360">
                  <a:moveTo>
                    <a:pt x="56" y="120"/>
                  </a:moveTo>
                  <a:lnTo>
                    <a:pt x="1432616" y="120"/>
                  </a:lnTo>
                  <a:lnTo>
                    <a:pt x="1432616" y="213480"/>
                  </a:lnTo>
                  <a:lnTo>
                    <a:pt x="56" y="213480"/>
                  </a:lnTo>
                  <a:close/>
                </a:path>
              </a:pathLst>
            </a:custGeom>
            <a:solidFill>
              <a:srgbClr val="1F2937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C300405-7AC1-4992-B569-7A5F77783A4B}"/>
                </a:ext>
              </a:extLst>
            </p:cNvPr>
            <p:cNvSpPr txBox="1"/>
            <p:nvPr/>
          </p:nvSpPr>
          <p:spPr>
            <a:xfrm>
              <a:off x="1036320" y="822960"/>
              <a:ext cx="8771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北海道事業所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48F2524-4237-7A5C-05C7-4A432C584499}"/>
                </a:ext>
              </a:extLst>
            </p:cNvPr>
            <p:cNvSpPr txBox="1"/>
            <p:nvPr/>
          </p:nvSpPr>
          <p:spPr>
            <a:xfrm>
              <a:off x="1036320" y="1051560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千葉事業所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A0A8887-405D-41CC-3C81-2378EAAB5A12}"/>
                </a:ext>
              </a:extLst>
            </p:cNvPr>
            <p:cNvSpPr txBox="1"/>
            <p:nvPr/>
          </p:nvSpPr>
          <p:spPr>
            <a:xfrm>
              <a:off x="1036320" y="1280160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spc="0" baseline="0" dirty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愛知事業所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1B88087-9AA6-B1CF-7ACD-CA42005652C5}"/>
                </a:ext>
              </a:extLst>
            </p:cNvPr>
            <p:cNvSpPr txBox="1"/>
            <p:nvPr/>
          </p:nvSpPr>
          <p:spPr>
            <a:xfrm>
              <a:off x="1036320" y="1508760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徳山事業所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F400B68-EC54-C70E-C8DD-0FE164FBDB9D}"/>
                </a:ext>
              </a:extLst>
            </p:cNvPr>
            <p:cNvSpPr txBox="1"/>
            <p:nvPr/>
          </p:nvSpPr>
          <p:spPr>
            <a:xfrm>
              <a:off x="1036320" y="1737360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東亜石油</a:t>
              </a: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92A3411E-818A-9B57-07D0-05F8D83CD457}"/>
                </a:ext>
              </a:extLst>
            </p:cNvPr>
            <p:cNvSpPr txBox="1"/>
            <p:nvPr/>
          </p:nvSpPr>
          <p:spPr>
            <a:xfrm>
              <a:off x="1036320" y="1965960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四日市石油</a:t>
              </a: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015385-C2D7-F795-645C-C3E91C317AF9}"/>
              </a:ext>
            </a:extLst>
          </p:cNvPr>
          <p:cNvSpPr txBox="1"/>
          <p:nvPr/>
        </p:nvSpPr>
        <p:spPr>
          <a:xfrm>
            <a:off x="2727960" y="541020"/>
            <a:ext cx="15119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sym typeface="ＭＳ ゴシック"/>
                <a:rtl val="0"/>
              </a:rPr>
              <a:t>北海道事業所</a:t>
            </a:r>
            <a:r>
              <a:rPr lang="ja-JP" altLang="en-US" sz="9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Arial"/>
                <a:rtl val="0"/>
              </a:rPr>
              <a:t> — </a:t>
            </a:r>
            <a:r>
              <a:rPr lang="ja-JP" altLang="en-US" sz="9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ＭＳ ゴシック"/>
                <a:rtl val="0"/>
              </a:rPr>
              <a:t>集計単位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4C9AAEC-A9C5-D2B6-A3BE-A4E0DC471B7A}"/>
              </a:ext>
            </a:extLst>
          </p:cNvPr>
          <p:cNvSpPr txBox="1"/>
          <p:nvPr/>
        </p:nvSpPr>
        <p:spPr>
          <a:xfrm>
            <a:off x="2727960" y="708660"/>
            <a:ext cx="27815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4748B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sym typeface="ＭＳ ゴシック"/>
                <a:rtl val="0"/>
              </a:rPr>
              <a:t>クリックで集計単位の明細（画面</a:t>
            </a:r>
            <a:r>
              <a:rPr lang="ja-JP" altLang="en-US" sz="900" spc="0" baseline="0">
                <a:ln/>
                <a:solidFill>
                  <a:srgbClr val="64748B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Arial"/>
                <a:rtl val="0"/>
              </a:rPr>
              <a:t>2</a:t>
            </a:r>
            <a:r>
              <a:rPr lang="ja-JP" altLang="en-US" sz="900" spc="0" baseline="0">
                <a:ln/>
                <a:solidFill>
                  <a:srgbClr val="64748B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ＭＳ ゴシック"/>
                <a:rtl val="0"/>
              </a:rPr>
              <a:t>）へ移動します</a:t>
            </a:r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30642350-DD71-2C86-73D8-DD2AD8AFCA11}"/>
              </a:ext>
            </a:extLst>
          </p:cNvPr>
          <p:cNvSpPr/>
          <p:nvPr/>
        </p:nvSpPr>
        <p:spPr>
          <a:xfrm>
            <a:off x="2819400" y="1005840"/>
            <a:ext cx="5181600" cy="259080"/>
          </a:xfrm>
          <a:custGeom>
            <a:avLst/>
            <a:gdLst>
              <a:gd name="connsiteX0" fmla="*/ 0 w 5181600"/>
              <a:gd name="connsiteY0" fmla="*/ 0 h 259080"/>
              <a:gd name="connsiteX1" fmla="*/ 5181600 w 5181600"/>
              <a:gd name="connsiteY1" fmla="*/ 0 h 259080"/>
              <a:gd name="connsiteX2" fmla="*/ 5181600 w 5181600"/>
              <a:gd name="connsiteY2" fmla="*/ 259080 h 259080"/>
              <a:gd name="connsiteX3" fmla="*/ 0 w 5181600"/>
              <a:gd name="connsiteY3" fmla="*/ 25908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1600" h="259080">
                <a:moveTo>
                  <a:pt x="0" y="0"/>
                </a:moveTo>
                <a:lnTo>
                  <a:pt x="5181600" y="0"/>
                </a:lnTo>
                <a:lnTo>
                  <a:pt x="5181600" y="259080"/>
                </a:lnTo>
                <a:lnTo>
                  <a:pt x="0" y="259080"/>
                </a:lnTo>
                <a:close/>
              </a:path>
            </a:pathLst>
          </a:custGeom>
          <a:solidFill>
            <a:srgbClr val="FFFFFF"/>
          </a:solidFill>
          <a:ln w="7620" cap="flat">
            <a:solidFill>
              <a:srgbClr val="CBD5E1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CAD8B21-1850-2FBB-03D1-05D6D084DC6B}"/>
              </a:ext>
            </a:extLst>
          </p:cNvPr>
          <p:cNvSpPr txBox="1"/>
          <p:nvPr/>
        </p:nvSpPr>
        <p:spPr>
          <a:xfrm>
            <a:off x="2804160" y="1051560"/>
            <a:ext cx="16850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4748B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sym typeface="ＭＳ ゴシック"/>
                <a:rtl val="0"/>
              </a:rPr>
              <a:t>検索（名称・コード・タグ）</a:t>
            </a:r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986BF9EE-EC48-69BC-2EA9-59D225E9C66B}"/>
              </a:ext>
            </a:extLst>
          </p:cNvPr>
          <p:cNvSpPr/>
          <p:nvPr/>
        </p:nvSpPr>
        <p:spPr>
          <a:xfrm>
            <a:off x="9829800" y="1005840"/>
            <a:ext cx="1219200" cy="259080"/>
          </a:xfrm>
          <a:custGeom>
            <a:avLst/>
            <a:gdLst>
              <a:gd name="connsiteX0" fmla="*/ 0 w 1219200"/>
              <a:gd name="connsiteY0" fmla="*/ 0 h 259080"/>
              <a:gd name="connsiteX1" fmla="*/ 1219200 w 1219200"/>
              <a:gd name="connsiteY1" fmla="*/ 0 h 259080"/>
              <a:gd name="connsiteX2" fmla="*/ 1219200 w 1219200"/>
              <a:gd name="connsiteY2" fmla="*/ 259080 h 259080"/>
              <a:gd name="connsiteX3" fmla="*/ 0 w 1219200"/>
              <a:gd name="connsiteY3" fmla="*/ 25908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" h="259080">
                <a:moveTo>
                  <a:pt x="0" y="0"/>
                </a:moveTo>
                <a:lnTo>
                  <a:pt x="1219200" y="0"/>
                </a:lnTo>
                <a:lnTo>
                  <a:pt x="1219200" y="259080"/>
                </a:lnTo>
                <a:lnTo>
                  <a:pt x="0" y="259080"/>
                </a:lnTo>
                <a:close/>
              </a:path>
            </a:pathLst>
          </a:custGeom>
          <a:solidFill>
            <a:srgbClr val="2563EB"/>
          </a:solidFill>
          <a:ln w="762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31EF58C-C2AE-BC00-F18C-94D9CC15F8C9}"/>
              </a:ext>
            </a:extLst>
          </p:cNvPr>
          <p:cNvSpPr txBox="1"/>
          <p:nvPr/>
        </p:nvSpPr>
        <p:spPr>
          <a:xfrm>
            <a:off x="10165080" y="101346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FFFFFF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sym typeface="ＭＳ ゴシック"/>
                <a:rtl val="0"/>
              </a:rPr>
              <a:t>新規作成</a:t>
            </a:r>
          </a:p>
        </p:txBody>
      </p:sp>
      <p:grpSp>
        <p:nvGrpSpPr>
          <p:cNvPr id="25" name="グラフィックス 4">
            <a:extLst>
              <a:ext uri="{FF2B5EF4-FFF2-40B4-BE49-F238E27FC236}">
                <a16:creationId xmlns:a16="http://schemas.microsoft.com/office/drawing/2014/main" id="{0846891A-44B6-5F14-96F7-F40A9A8D83F6}"/>
              </a:ext>
            </a:extLst>
          </p:cNvPr>
          <p:cNvGrpSpPr/>
          <p:nvPr/>
        </p:nvGrpSpPr>
        <p:grpSpPr>
          <a:xfrm>
            <a:off x="2819400" y="1432560"/>
            <a:ext cx="8001000" cy="1828800"/>
            <a:chOff x="2819400" y="1432560"/>
            <a:chExt cx="8001000" cy="1828800"/>
          </a:xfrm>
        </p:grpSpPr>
        <p:grpSp>
          <p:nvGrpSpPr>
            <p:cNvPr id="26" name="グラフィックス 4">
              <a:extLst>
                <a:ext uri="{FF2B5EF4-FFF2-40B4-BE49-F238E27FC236}">
                  <a16:creationId xmlns:a16="http://schemas.microsoft.com/office/drawing/2014/main" id="{DCFE055A-F911-A3E2-132F-B8774EE33D13}"/>
                </a:ext>
              </a:extLst>
            </p:cNvPr>
            <p:cNvGrpSpPr/>
            <p:nvPr/>
          </p:nvGrpSpPr>
          <p:grpSpPr>
            <a:xfrm>
              <a:off x="2819400" y="1432560"/>
              <a:ext cx="3886200" cy="838200"/>
              <a:chOff x="2819400" y="1432560"/>
              <a:chExt cx="3886200" cy="838200"/>
            </a:xfrm>
          </p:grpSpPr>
          <p:sp>
            <p:nvSpPr>
              <p:cNvPr id="27" name="フリーフォーム: 図形 26">
                <a:extLst>
                  <a:ext uri="{FF2B5EF4-FFF2-40B4-BE49-F238E27FC236}">
                    <a16:creationId xmlns:a16="http://schemas.microsoft.com/office/drawing/2014/main" id="{D256E4A5-4FFE-3761-E079-CAA089DF398F}"/>
                  </a:ext>
                </a:extLst>
              </p:cNvPr>
              <p:cNvSpPr/>
              <p:nvPr/>
            </p:nvSpPr>
            <p:spPr>
              <a:xfrm>
                <a:off x="2819400" y="1432560"/>
                <a:ext cx="3886200" cy="838200"/>
              </a:xfrm>
              <a:custGeom>
                <a:avLst/>
                <a:gdLst>
                  <a:gd name="connsiteX0" fmla="*/ 290 w 3886200"/>
                  <a:gd name="connsiteY0" fmla="*/ 188 h 838200"/>
                  <a:gd name="connsiteX1" fmla="*/ 3886490 w 3886200"/>
                  <a:gd name="connsiteY1" fmla="*/ 188 h 838200"/>
                  <a:gd name="connsiteX2" fmla="*/ 3886490 w 3886200"/>
                  <a:gd name="connsiteY2" fmla="*/ 838388 h 838200"/>
                  <a:gd name="connsiteX3" fmla="*/ 290 w 3886200"/>
                  <a:gd name="connsiteY3" fmla="*/ 838388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6200" h="838200">
                    <a:moveTo>
                      <a:pt x="290" y="188"/>
                    </a:moveTo>
                    <a:lnTo>
                      <a:pt x="3886490" y="188"/>
                    </a:lnTo>
                    <a:lnTo>
                      <a:pt x="3886490" y="838388"/>
                    </a:lnTo>
                    <a:lnTo>
                      <a:pt x="290" y="838388"/>
                    </a:lnTo>
                    <a:close/>
                  </a:path>
                </a:pathLst>
              </a:custGeom>
              <a:solidFill>
                <a:srgbClr val="F8FAFC"/>
              </a:solidFill>
              <a:ln w="7620" cap="flat">
                <a:solidFill>
                  <a:srgbClr val="E2E8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EB342F73-B5B8-27B6-5FCB-ABD3F3EA3562}"/>
                  </a:ext>
                </a:extLst>
              </p:cNvPr>
              <p:cNvSpPr txBox="1"/>
              <p:nvPr/>
            </p:nvSpPr>
            <p:spPr>
              <a:xfrm>
                <a:off x="2880360" y="1531620"/>
                <a:ext cx="110799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FL-01 </a:t>
                </a:r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給気電力量</a:t>
                </a: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8710A708-3FC8-9D8F-2999-7D2B21539466}"/>
                  </a:ext>
                </a:extLst>
              </p:cNvPr>
              <p:cNvSpPr txBox="1"/>
              <p:nvPr/>
            </p:nvSpPr>
            <p:spPr>
              <a:xfrm>
                <a:off x="2880360" y="1714500"/>
                <a:ext cx="19159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最近送信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: 2025-08 / 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合計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 7,420</a:t>
                </a:r>
              </a:p>
            </p:txBody>
          </p:sp>
          <p:sp>
            <p:nvSpPr>
              <p:cNvPr id="30" name="フリーフォーム: 図形 29">
                <a:extLst>
                  <a:ext uri="{FF2B5EF4-FFF2-40B4-BE49-F238E27FC236}">
                    <a16:creationId xmlns:a16="http://schemas.microsoft.com/office/drawing/2014/main" id="{54A4BA33-7C38-C85C-0D17-6FBEA7678188}"/>
                  </a:ext>
                </a:extLst>
              </p:cNvPr>
              <p:cNvSpPr/>
              <p:nvPr/>
            </p:nvSpPr>
            <p:spPr>
              <a:xfrm>
                <a:off x="2971800" y="1965960"/>
                <a:ext cx="838200" cy="182880"/>
              </a:xfrm>
              <a:custGeom>
                <a:avLst/>
                <a:gdLst>
                  <a:gd name="connsiteX0" fmla="*/ 290 w 838200"/>
                  <a:gd name="connsiteY0" fmla="*/ 188 h 182880"/>
                  <a:gd name="connsiteX1" fmla="*/ 838490 w 838200"/>
                  <a:gd name="connsiteY1" fmla="*/ 188 h 182880"/>
                  <a:gd name="connsiteX2" fmla="*/ 838490 w 838200"/>
                  <a:gd name="connsiteY2" fmla="*/ 183068 h 182880"/>
                  <a:gd name="connsiteX3" fmla="*/ 290 w 838200"/>
                  <a:gd name="connsiteY3" fmla="*/ 183068 h 182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8200" h="182880">
                    <a:moveTo>
                      <a:pt x="290" y="188"/>
                    </a:moveTo>
                    <a:lnTo>
                      <a:pt x="838490" y="188"/>
                    </a:lnTo>
                    <a:lnTo>
                      <a:pt x="838490" y="183068"/>
                    </a:lnTo>
                    <a:lnTo>
                      <a:pt x="290" y="183068"/>
                    </a:lnTo>
                    <a:close/>
                  </a:path>
                </a:pathLst>
              </a:custGeom>
              <a:solidFill>
                <a:srgbClr val="E8F0FF"/>
              </a:solidFill>
              <a:ln w="7620" cap="flat">
                <a:solidFill>
                  <a:srgbClr val="94B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A033280E-9EDD-D583-DCA4-FD7E6F15CCB0}"/>
                  </a:ext>
                </a:extLst>
              </p:cNvPr>
              <p:cNvSpPr txBox="1"/>
              <p:nvPr/>
            </p:nvSpPr>
            <p:spPr>
              <a:xfrm>
                <a:off x="3048000" y="1958340"/>
                <a:ext cx="7617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tag_FL01_A</a:t>
                </a:r>
              </a:p>
            </p:txBody>
          </p:sp>
          <p:sp>
            <p:nvSpPr>
              <p:cNvPr id="32" name="フリーフォーム: 図形 31">
                <a:extLst>
                  <a:ext uri="{FF2B5EF4-FFF2-40B4-BE49-F238E27FC236}">
                    <a16:creationId xmlns:a16="http://schemas.microsoft.com/office/drawing/2014/main" id="{9006B8E2-0978-2D9B-4268-51C821EF05AA}"/>
                  </a:ext>
                </a:extLst>
              </p:cNvPr>
              <p:cNvSpPr/>
              <p:nvPr/>
            </p:nvSpPr>
            <p:spPr>
              <a:xfrm>
                <a:off x="3886200" y="1965960"/>
                <a:ext cx="838200" cy="182880"/>
              </a:xfrm>
              <a:custGeom>
                <a:avLst/>
                <a:gdLst>
                  <a:gd name="connsiteX0" fmla="*/ 290 w 838200"/>
                  <a:gd name="connsiteY0" fmla="*/ 188 h 182880"/>
                  <a:gd name="connsiteX1" fmla="*/ 838490 w 838200"/>
                  <a:gd name="connsiteY1" fmla="*/ 188 h 182880"/>
                  <a:gd name="connsiteX2" fmla="*/ 838490 w 838200"/>
                  <a:gd name="connsiteY2" fmla="*/ 183068 h 182880"/>
                  <a:gd name="connsiteX3" fmla="*/ 290 w 838200"/>
                  <a:gd name="connsiteY3" fmla="*/ 183068 h 182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8200" h="182880">
                    <a:moveTo>
                      <a:pt x="290" y="188"/>
                    </a:moveTo>
                    <a:lnTo>
                      <a:pt x="838490" y="188"/>
                    </a:lnTo>
                    <a:lnTo>
                      <a:pt x="838490" y="183068"/>
                    </a:lnTo>
                    <a:lnTo>
                      <a:pt x="290" y="183068"/>
                    </a:lnTo>
                    <a:close/>
                  </a:path>
                </a:pathLst>
              </a:custGeom>
              <a:solidFill>
                <a:srgbClr val="E8F0FF"/>
              </a:solidFill>
              <a:ln w="7620" cap="flat">
                <a:solidFill>
                  <a:srgbClr val="94B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169F27CC-42A9-8D89-0305-4689329BFC06}"/>
                  </a:ext>
                </a:extLst>
              </p:cNvPr>
              <p:cNvSpPr txBox="1"/>
              <p:nvPr/>
            </p:nvSpPr>
            <p:spPr>
              <a:xfrm>
                <a:off x="3958590" y="1958340"/>
                <a:ext cx="7617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tag_FL01_B</a:t>
                </a:r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835CF13-E59D-3CCF-0B3C-5FF8407937C3}"/>
                  </a:ext>
                </a:extLst>
              </p:cNvPr>
              <p:cNvSpPr txBox="1"/>
              <p:nvPr/>
            </p:nvSpPr>
            <p:spPr>
              <a:xfrm>
                <a:off x="6309360" y="1988820"/>
                <a:ext cx="237566" cy="219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25" spc="0" baseline="0">
                    <a:ln/>
                    <a:solidFill>
                      <a:srgbClr val="64748B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Cambria Math"/>
                    <a:rtl val="0"/>
                  </a:rPr>
                  <a:t>▶</a:t>
                </a:r>
              </a:p>
            </p:txBody>
          </p:sp>
        </p:grpSp>
        <p:grpSp>
          <p:nvGrpSpPr>
            <p:cNvPr id="35" name="グラフィックス 4">
              <a:extLst>
                <a:ext uri="{FF2B5EF4-FFF2-40B4-BE49-F238E27FC236}">
                  <a16:creationId xmlns:a16="http://schemas.microsoft.com/office/drawing/2014/main" id="{7A34E676-4F4A-88CA-8D19-6B8DD02D5941}"/>
                </a:ext>
              </a:extLst>
            </p:cNvPr>
            <p:cNvGrpSpPr/>
            <p:nvPr/>
          </p:nvGrpSpPr>
          <p:grpSpPr>
            <a:xfrm>
              <a:off x="6934200" y="1432560"/>
              <a:ext cx="3886200" cy="838200"/>
              <a:chOff x="6934200" y="1432560"/>
              <a:chExt cx="3886200" cy="838200"/>
            </a:xfrm>
          </p:grpSpPr>
          <p:sp>
            <p:nvSpPr>
              <p:cNvPr id="36" name="フリーフォーム: 図形 35">
                <a:extLst>
                  <a:ext uri="{FF2B5EF4-FFF2-40B4-BE49-F238E27FC236}">
                    <a16:creationId xmlns:a16="http://schemas.microsoft.com/office/drawing/2014/main" id="{96EB76CB-3073-3622-DDB6-B47022D8D088}"/>
                  </a:ext>
                </a:extLst>
              </p:cNvPr>
              <p:cNvSpPr/>
              <p:nvPr/>
            </p:nvSpPr>
            <p:spPr>
              <a:xfrm>
                <a:off x="6934200" y="1432560"/>
                <a:ext cx="3886200" cy="838200"/>
              </a:xfrm>
              <a:custGeom>
                <a:avLst/>
                <a:gdLst>
                  <a:gd name="connsiteX0" fmla="*/ 830 w 3886200"/>
                  <a:gd name="connsiteY0" fmla="*/ 188 h 838200"/>
                  <a:gd name="connsiteX1" fmla="*/ 3887030 w 3886200"/>
                  <a:gd name="connsiteY1" fmla="*/ 188 h 838200"/>
                  <a:gd name="connsiteX2" fmla="*/ 3887030 w 3886200"/>
                  <a:gd name="connsiteY2" fmla="*/ 838388 h 838200"/>
                  <a:gd name="connsiteX3" fmla="*/ 830 w 3886200"/>
                  <a:gd name="connsiteY3" fmla="*/ 838388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6200" h="838200">
                    <a:moveTo>
                      <a:pt x="830" y="188"/>
                    </a:moveTo>
                    <a:lnTo>
                      <a:pt x="3887030" y="188"/>
                    </a:lnTo>
                    <a:lnTo>
                      <a:pt x="3887030" y="838388"/>
                    </a:lnTo>
                    <a:lnTo>
                      <a:pt x="830" y="838388"/>
                    </a:lnTo>
                    <a:close/>
                  </a:path>
                </a:pathLst>
              </a:custGeom>
              <a:solidFill>
                <a:srgbClr val="F8FAFC"/>
              </a:solidFill>
              <a:ln w="7620" cap="flat">
                <a:solidFill>
                  <a:srgbClr val="E2E8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39EF343B-A91C-9F0E-4E91-8DEE0DCE0CAC}"/>
                  </a:ext>
                </a:extLst>
              </p:cNvPr>
              <p:cNvSpPr txBox="1"/>
              <p:nvPr/>
            </p:nvSpPr>
            <p:spPr>
              <a:xfrm>
                <a:off x="6995160" y="1531620"/>
                <a:ext cx="110799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CH-02 </a:t>
                </a:r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冷却水流量</a:t>
                </a: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00322D3B-D95F-8E67-2B44-2F45161109C7}"/>
                  </a:ext>
                </a:extLst>
              </p:cNvPr>
              <p:cNvSpPr txBox="1"/>
              <p:nvPr/>
            </p:nvSpPr>
            <p:spPr>
              <a:xfrm>
                <a:off x="6995160" y="1714500"/>
                <a:ext cx="19159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最近送信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: 2025-08 / 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合計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 1,205</a:t>
                </a:r>
              </a:p>
            </p:txBody>
          </p:sp>
          <p:sp>
            <p:nvSpPr>
              <p:cNvPr id="39" name="フリーフォーム: 図形 38">
                <a:extLst>
                  <a:ext uri="{FF2B5EF4-FFF2-40B4-BE49-F238E27FC236}">
                    <a16:creationId xmlns:a16="http://schemas.microsoft.com/office/drawing/2014/main" id="{C95CBF5D-D32D-9A25-986A-75FAD68C0A9E}"/>
                  </a:ext>
                </a:extLst>
              </p:cNvPr>
              <p:cNvSpPr/>
              <p:nvPr/>
            </p:nvSpPr>
            <p:spPr>
              <a:xfrm>
                <a:off x="7086600" y="1965960"/>
                <a:ext cx="914400" cy="182880"/>
              </a:xfrm>
              <a:custGeom>
                <a:avLst/>
                <a:gdLst>
                  <a:gd name="connsiteX0" fmla="*/ 830 w 914400"/>
                  <a:gd name="connsiteY0" fmla="*/ 188 h 182880"/>
                  <a:gd name="connsiteX1" fmla="*/ 915230 w 914400"/>
                  <a:gd name="connsiteY1" fmla="*/ 188 h 182880"/>
                  <a:gd name="connsiteX2" fmla="*/ 915230 w 914400"/>
                  <a:gd name="connsiteY2" fmla="*/ 183068 h 182880"/>
                  <a:gd name="connsiteX3" fmla="*/ 830 w 914400"/>
                  <a:gd name="connsiteY3" fmla="*/ 183068 h 182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4400" h="182880">
                    <a:moveTo>
                      <a:pt x="830" y="188"/>
                    </a:moveTo>
                    <a:lnTo>
                      <a:pt x="915230" y="188"/>
                    </a:lnTo>
                    <a:lnTo>
                      <a:pt x="915230" y="183068"/>
                    </a:lnTo>
                    <a:lnTo>
                      <a:pt x="830" y="183068"/>
                    </a:lnTo>
                    <a:close/>
                  </a:path>
                </a:pathLst>
              </a:custGeom>
              <a:solidFill>
                <a:srgbClr val="E8F0FF"/>
              </a:solidFill>
              <a:ln w="7620" cap="flat">
                <a:solidFill>
                  <a:srgbClr val="94B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06A4351E-DF62-2AC9-B31A-D98B83397E12}"/>
                  </a:ext>
                </a:extLst>
              </p:cNvPr>
              <p:cNvSpPr txBox="1"/>
              <p:nvPr/>
            </p:nvSpPr>
            <p:spPr>
              <a:xfrm>
                <a:off x="7158990" y="1958340"/>
                <a:ext cx="81945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tag_CH02_F1</a:t>
                </a:r>
              </a:p>
            </p:txBody>
          </p:sp>
          <p:sp>
            <p:nvSpPr>
              <p:cNvPr id="41" name="フリーフォーム: 図形 40">
                <a:extLst>
                  <a:ext uri="{FF2B5EF4-FFF2-40B4-BE49-F238E27FC236}">
                    <a16:creationId xmlns:a16="http://schemas.microsoft.com/office/drawing/2014/main" id="{111403CC-064D-D0ED-02F4-172667BB2124}"/>
                  </a:ext>
                </a:extLst>
              </p:cNvPr>
              <p:cNvSpPr/>
              <p:nvPr/>
            </p:nvSpPr>
            <p:spPr>
              <a:xfrm>
                <a:off x="8077200" y="1965960"/>
                <a:ext cx="914400" cy="182880"/>
              </a:xfrm>
              <a:custGeom>
                <a:avLst/>
                <a:gdLst>
                  <a:gd name="connsiteX0" fmla="*/ 830 w 914400"/>
                  <a:gd name="connsiteY0" fmla="*/ 188 h 182880"/>
                  <a:gd name="connsiteX1" fmla="*/ 915230 w 914400"/>
                  <a:gd name="connsiteY1" fmla="*/ 188 h 182880"/>
                  <a:gd name="connsiteX2" fmla="*/ 915230 w 914400"/>
                  <a:gd name="connsiteY2" fmla="*/ 183068 h 182880"/>
                  <a:gd name="connsiteX3" fmla="*/ 830 w 914400"/>
                  <a:gd name="connsiteY3" fmla="*/ 183068 h 182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4400" h="182880">
                    <a:moveTo>
                      <a:pt x="830" y="188"/>
                    </a:moveTo>
                    <a:lnTo>
                      <a:pt x="915230" y="188"/>
                    </a:lnTo>
                    <a:lnTo>
                      <a:pt x="915230" y="183068"/>
                    </a:lnTo>
                    <a:lnTo>
                      <a:pt x="830" y="183068"/>
                    </a:lnTo>
                    <a:close/>
                  </a:path>
                </a:pathLst>
              </a:custGeom>
              <a:solidFill>
                <a:srgbClr val="E8F0FF"/>
              </a:solidFill>
              <a:ln w="7620" cap="flat">
                <a:solidFill>
                  <a:srgbClr val="94B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BE1198B6-0A8B-4D05-E03C-E0DFA6A2945A}"/>
                  </a:ext>
                </a:extLst>
              </p:cNvPr>
              <p:cNvSpPr txBox="1"/>
              <p:nvPr/>
            </p:nvSpPr>
            <p:spPr>
              <a:xfrm>
                <a:off x="8149590" y="1958340"/>
                <a:ext cx="81945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tag_CH02_F2</a:t>
                </a:r>
              </a:p>
            </p:txBody>
          </p:sp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0F1E0B86-C2D7-DC3C-1635-48E11D0729A9}"/>
                  </a:ext>
                </a:extLst>
              </p:cNvPr>
              <p:cNvSpPr txBox="1"/>
              <p:nvPr/>
            </p:nvSpPr>
            <p:spPr>
              <a:xfrm>
                <a:off x="10424160" y="1988820"/>
                <a:ext cx="237566" cy="219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25" spc="0" baseline="0">
                    <a:ln/>
                    <a:solidFill>
                      <a:srgbClr val="64748B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Cambria Math"/>
                    <a:rtl val="0"/>
                  </a:rPr>
                  <a:t>▶</a:t>
                </a:r>
              </a:p>
            </p:txBody>
          </p:sp>
        </p:grpSp>
        <p:grpSp>
          <p:nvGrpSpPr>
            <p:cNvPr id="44" name="グラフィックス 4">
              <a:extLst>
                <a:ext uri="{FF2B5EF4-FFF2-40B4-BE49-F238E27FC236}">
                  <a16:creationId xmlns:a16="http://schemas.microsoft.com/office/drawing/2014/main" id="{F5D8E80B-CACE-9B21-4911-EE4776C7B644}"/>
                </a:ext>
              </a:extLst>
            </p:cNvPr>
            <p:cNvGrpSpPr/>
            <p:nvPr/>
          </p:nvGrpSpPr>
          <p:grpSpPr>
            <a:xfrm>
              <a:off x="2819400" y="2423160"/>
              <a:ext cx="3886200" cy="838200"/>
              <a:chOff x="2819400" y="2423160"/>
              <a:chExt cx="3886200" cy="838200"/>
            </a:xfrm>
          </p:grpSpPr>
          <p:sp>
            <p:nvSpPr>
              <p:cNvPr id="45" name="フリーフォーム: 図形 44">
                <a:extLst>
                  <a:ext uri="{FF2B5EF4-FFF2-40B4-BE49-F238E27FC236}">
                    <a16:creationId xmlns:a16="http://schemas.microsoft.com/office/drawing/2014/main" id="{E95B0CE7-6779-2F02-07C7-5068D866EF29}"/>
                  </a:ext>
                </a:extLst>
              </p:cNvPr>
              <p:cNvSpPr/>
              <p:nvPr/>
            </p:nvSpPr>
            <p:spPr>
              <a:xfrm>
                <a:off x="2819400" y="2423160"/>
                <a:ext cx="3886200" cy="838200"/>
              </a:xfrm>
              <a:custGeom>
                <a:avLst/>
                <a:gdLst>
                  <a:gd name="connsiteX0" fmla="*/ 290 w 3886200"/>
                  <a:gd name="connsiteY0" fmla="*/ 318 h 838200"/>
                  <a:gd name="connsiteX1" fmla="*/ 3886490 w 3886200"/>
                  <a:gd name="connsiteY1" fmla="*/ 318 h 838200"/>
                  <a:gd name="connsiteX2" fmla="*/ 3886490 w 3886200"/>
                  <a:gd name="connsiteY2" fmla="*/ 838518 h 838200"/>
                  <a:gd name="connsiteX3" fmla="*/ 290 w 3886200"/>
                  <a:gd name="connsiteY3" fmla="*/ 838518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6200" h="838200">
                    <a:moveTo>
                      <a:pt x="290" y="318"/>
                    </a:moveTo>
                    <a:lnTo>
                      <a:pt x="3886490" y="318"/>
                    </a:lnTo>
                    <a:lnTo>
                      <a:pt x="3886490" y="838518"/>
                    </a:lnTo>
                    <a:lnTo>
                      <a:pt x="290" y="838518"/>
                    </a:lnTo>
                    <a:close/>
                  </a:path>
                </a:pathLst>
              </a:custGeom>
              <a:solidFill>
                <a:srgbClr val="F8FAFC"/>
              </a:solidFill>
              <a:ln w="7620" cap="flat">
                <a:solidFill>
                  <a:srgbClr val="E2E8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2A3967E7-F3EF-241D-08A6-ACD8FB6DCA57}"/>
                  </a:ext>
                </a:extLst>
              </p:cNvPr>
              <p:cNvSpPr txBox="1"/>
              <p:nvPr/>
            </p:nvSpPr>
            <p:spPr>
              <a:xfrm>
                <a:off x="2880360" y="2522220"/>
                <a:ext cx="110799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HW-03 </a:t>
                </a:r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給湯使用量</a:t>
                </a:r>
              </a:p>
            </p:txBody>
          </p:sp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065459B5-9075-B538-CD70-456B108B4CC9}"/>
                  </a:ext>
                </a:extLst>
              </p:cNvPr>
              <p:cNvSpPr txBox="1"/>
              <p:nvPr/>
            </p:nvSpPr>
            <p:spPr>
              <a:xfrm>
                <a:off x="2880360" y="2705100"/>
                <a:ext cx="180049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最近送信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: 2025-08 / 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合計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 315</a:t>
                </a:r>
              </a:p>
            </p:txBody>
          </p:sp>
          <p:sp>
            <p:nvSpPr>
              <p:cNvPr id="48" name="フリーフォーム: 図形 47">
                <a:extLst>
                  <a:ext uri="{FF2B5EF4-FFF2-40B4-BE49-F238E27FC236}">
                    <a16:creationId xmlns:a16="http://schemas.microsoft.com/office/drawing/2014/main" id="{2DFCDEC0-FBA4-1E91-6878-160ADF895090}"/>
                  </a:ext>
                </a:extLst>
              </p:cNvPr>
              <p:cNvSpPr/>
              <p:nvPr/>
            </p:nvSpPr>
            <p:spPr>
              <a:xfrm>
                <a:off x="2971800" y="2956560"/>
                <a:ext cx="990600" cy="182880"/>
              </a:xfrm>
              <a:custGeom>
                <a:avLst/>
                <a:gdLst>
                  <a:gd name="connsiteX0" fmla="*/ 290 w 990600"/>
                  <a:gd name="connsiteY0" fmla="*/ 318 h 182880"/>
                  <a:gd name="connsiteX1" fmla="*/ 990890 w 990600"/>
                  <a:gd name="connsiteY1" fmla="*/ 318 h 182880"/>
                  <a:gd name="connsiteX2" fmla="*/ 990890 w 990600"/>
                  <a:gd name="connsiteY2" fmla="*/ 183198 h 182880"/>
                  <a:gd name="connsiteX3" fmla="*/ 290 w 990600"/>
                  <a:gd name="connsiteY3" fmla="*/ 183198 h 182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0600" h="182880">
                    <a:moveTo>
                      <a:pt x="290" y="318"/>
                    </a:moveTo>
                    <a:lnTo>
                      <a:pt x="990890" y="318"/>
                    </a:lnTo>
                    <a:lnTo>
                      <a:pt x="990890" y="183198"/>
                    </a:lnTo>
                    <a:lnTo>
                      <a:pt x="290" y="183198"/>
                    </a:lnTo>
                    <a:close/>
                  </a:path>
                </a:pathLst>
              </a:custGeom>
              <a:solidFill>
                <a:srgbClr val="E8F0FF"/>
              </a:solidFill>
              <a:ln w="7620" cap="flat">
                <a:solidFill>
                  <a:srgbClr val="94B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F471B3DB-188A-114A-59C0-0C64B03969D4}"/>
                  </a:ext>
                </a:extLst>
              </p:cNvPr>
              <p:cNvSpPr txBox="1"/>
              <p:nvPr/>
            </p:nvSpPr>
            <p:spPr>
              <a:xfrm>
                <a:off x="3074670" y="2948940"/>
                <a:ext cx="81945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tag_HW03_V1</a:t>
                </a:r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6EA2935B-F43A-6680-ABCC-BBD52E994160}"/>
                  </a:ext>
                </a:extLst>
              </p:cNvPr>
              <p:cNvSpPr txBox="1"/>
              <p:nvPr/>
            </p:nvSpPr>
            <p:spPr>
              <a:xfrm>
                <a:off x="6309360" y="2979420"/>
                <a:ext cx="237566" cy="219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25" spc="0" baseline="0">
                    <a:ln/>
                    <a:solidFill>
                      <a:srgbClr val="64748B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Cambria Math"/>
                    <a:rtl val="0"/>
                  </a:rPr>
                  <a:t>▶</a:t>
                </a:r>
              </a:p>
            </p:txBody>
          </p:sp>
        </p:grpSp>
        <p:grpSp>
          <p:nvGrpSpPr>
            <p:cNvPr id="51" name="グラフィックス 4">
              <a:extLst>
                <a:ext uri="{FF2B5EF4-FFF2-40B4-BE49-F238E27FC236}">
                  <a16:creationId xmlns:a16="http://schemas.microsoft.com/office/drawing/2014/main" id="{CA21F9C9-D4F5-9674-4D75-492CEA0813E9}"/>
                </a:ext>
              </a:extLst>
            </p:cNvPr>
            <p:cNvGrpSpPr/>
            <p:nvPr/>
          </p:nvGrpSpPr>
          <p:grpSpPr>
            <a:xfrm>
              <a:off x="6934200" y="2423160"/>
              <a:ext cx="3886200" cy="838200"/>
              <a:chOff x="6934200" y="2423160"/>
              <a:chExt cx="3886200" cy="838200"/>
            </a:xfrm>
          </p:grpSpPr>
          <p:sp>
            <p:nvSpPr>
              <p:cNvPr id="52" name="フリーフォーム: 図形 51">
                <a:extLst>
                  <a:ext uri="{FF2B5EF4-FFF2-40B4-BE49-F238E27FC236}">
                    <a16:creationId xmlns:a16="http://schemas.microsoft.com/office/drawing/2014/main" id="{ECC3D9EB-81E8-FDA9-39A8-FB304A43EEF5}"/>
                  </a:ext>
                </a:extLst>
              </p:cNvPr>
              <p:cNvSpPr/>
              <p:nvPr/>
            </p:nvSpPr>
            <p:spPr>
              <a:xfrm>
                <a:off x="6934200" y="2423160"/>
                <a:ext cx="3886200" cy="838200"/>
              </a:xfrm>
              <a:custGeom>
                <a:avLst/>
                <a:gdLst>
                  <a:gd name="connsiteX0" fmla="*/ 830 w 3886200"/>
                  <a:gd name="connsiteY0" fmla="*/ 318 h 838200"/>
                  <a:gd name="connsiteX1" fmla="*/ 3887030 w 3886200"/>
                  <a:gd name="connsiteY1" fmla="*/ 318 h 838200"/>
                  <a:gd name="connsiteX2" fmla="*/ 3887030 w 3886200"/>
                  <a:gd name="connsiteY2" fmla="*/ 838518 h 838200"/>
                  <a:gd name="connsiteX3" fmla="*/ 830 w 3886200"/>
                  <a:gd name="connsiteY3" fmla="*/ 838518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6200" h="838200">
                    <a:moveTo>
                      <a:pt x="830" y="318"/>
                    </a:moveTo>
                    <a:lnTo>
                      <a:pt x="3887030" y="318"/>
                    </a:lnTo>
                    <a:lnTo>
                      <a:pt x="3887030" y="838518"/>
                    </a:lnTo>
                    <a:lnTo>
                      <a:pt x="830" y="838518"/>
                    </a:lnTo>
                    <a:close/>
                  </a:path>
                </a:pathLst>
              </a:custGeom>
              <a:solidFill>
                <a:srgbClr val="F8FAFC"/>
              </a:solidFill>
              <a:ln w="7620" cap="flat">
                <a:solidFill>
                  <a:srgbClr val="E2E8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18DB53FA-97AD-96CA-FF46-39AD8F0A0E35}"/>
                  </a:ext>
                </a:extLst>
              </p:cNvPr>
              <p:cNvSpPr txBox="1"/>
              <p:nvPr/>
            </p:nvSpPr>
            <p:spPr>
              <a:xfrm>
                <a:off x="6995160" y="2522220"/>
                <a:ext cx="110799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GA-04 </a:t>
                </a:r>
                <a:r>
                  <a:rPr lang="ja-JP" altLang="en-US" sz="900" spc="0" baseline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ガス消費量</a:t>
                </a:r>
              </a:p>
            </p:txBody>
          </p:sp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943278DA-8844-FA5E-AF52-D5299FD7AE1F}"/>
                  </a:ext>
                </a:extLst>
              </p:cNvPr>
              <p:cNvSpPr txBox="1"/>
              <p:nvPr/>
            </p:nvSpPr>
            <p:spPr>
              <a:xfrm>
                <a:off x="6995160" y="2705100"/>
                <a:ext cx="19159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最近送信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: 2025-08 / 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ＭＳ ゴシック"/>
                    <a:rtl val="0"/>
                  </a:rPr>
                  <a:t>合計</a:t>
                </a:r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 5,012</a:t>
                </a:r>
              </a:p>
            </p:txBody>
          </p:sp>
          <p:sp>
            <p:nvSpPr>
              <p:cNvPr id="55" name="フリーフォーム: 図形 54">
                <a:extLst>
                  <a:ext uri="{FF2B5EF4-FFF2-40B4-BE49-F238E27FC236}">
                    <a16:creationId xmlns:a16="http://schemas.microsoft.com/office/drawing/2014/main" id="{83E987BE-8E8A-F885-49AF-0216E35CAC46}"/>
                  </a:ext>
                </a:extLst>
              </p:cNvPr>
              <p:cNvSpPr/>
              <p:nvPr/>
            </p:nvSpPr>
            <p:spPr>
              <a:xfrm>
                <a:off x="7086600" y="2956560"/>
                <a:ext cx="990600" cy="182880"/>
              </a:xfrm>
              <a:custGeom>
                <a:avLst/>
                <a:gdLst>
                  <a:gd name="connsiteX0" fmla="*/ 830 w 990600"/>
                  <a:gd name="connsiteY0" fmla="*/ 318 h 182880"/>
                  <a:gd name="connsiteX1" fmla="*/ 991430 w 990600"/>
                  <a:gd name="connsiteY1" fmla="*/ 318 h 182880"/>
                  <a:gd name="connsiteX2" fmla="*/ 991430 w 990600"/>
                  <a:gd name="connsiteY2" fmla="*/ 183198 h 182880"/>
                  <a:gd name="connsiteX3" fmla="*/ 830 w 990600"/>
                  <a:gd name="connsiteY3" fmla="*/ 183198 h 182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0600" h="182880">
                    <a:moveTo>
                      <a:pt x="830" y="318"/>
                    </a:moveTo>
                    <a:lnTo>
                      <a:pt x="991430" y="318"/>
                    </a:lnTo>
                    <a:lnTo>
                      <a:pt x="991430" y="183198"/>
                    </a:lnTo>
                    <a:lnTo>
                      <a:pt x="830" y="183198"/>
                    </a:lnTo>
                    <a:close/>
                  </a:path>
                </a:pathLst>
              </a:custGeom>
              <a:solidFill>
                <a:srgbClr val="E8F0FF"/>
              </a:solidFill>
              <a:ln w="7620" cap="flat">
                <a:solidFill>
                  <a:srgbClr val="94B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D3FD85FA-E8B0-000F-6819-9CD845DD262B}"/>
                  </a:ext>
                </a:extLst>
              </p:cNvPr>
              <p:cNvSpPr txBox="1"/>
              <p:nvPr/>
            </p:nvSpPr>
            <p:spPr>
              <a:xfrm>
                <a:off x="7204710" y="2948940"/>
                <a:ext cx="81945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900" spc="0" baseline="0">
                    <a:ln/>
                    <a:solidFill>
                      <a:srgbClr val="475569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cs typeface="Arial"/>
                    <a:sym typeface="Arial"/>
                    <a:rtl val="0"/>
                  </a:rPr>
                  <a:t>tag_GA04_V1</a:t>
                </a:r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6898B5A2-69D3-66D7-C081-ACE732ED96C5}"/>
                  </a:ext>
                </a:extLst>
              </p:cNvPr>
              <p:cNvSpPr txBox="1"/>
              <p:nvPr/>
            </p:nvSpPr>
            <p:spPr>
              <a:xfrm>
                <a:off x="10424160" y="2979420"/>
                <a:ext cx="237566" cy="2192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25" spc="0" baseline="0">
                    <a:ln/>
                    <a:solidFill>
                      <a:srgbClr val="64748B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Cambria Math"/>
                    <a:rtl val="0"/>
                  </a:rPr>
                  <a:t>▶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101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CF86C385-3ADB-D88C-7839-9C9F766A4830}"/>
              </a:ext>
            </a:extLst>
          </p:cNvPr>
          <p:cNvSpPr/>
          <p:nvPr/>
        </p:nvSpPr>
        <p:spPr>
          <a:xfrm>
            <a:off x="1057469" y="0"/>
            <a:ext cx="10077061" cy="6858000"/>
          </a:xfrm>
          <a:custGeom>
            <a:avLst/>
            <a:gdLst>
              <a:gd name="connsiteX0" fmla="*/ 0 w 10077061"/>
              <a:gd name="connsiteY0" fmla="*/ 0 h 6858000"/>
              <a:gd name="connsiteX1" fmla="*/ 10077061 w 10077061"/>
              <a:gd name="connsiteY1" fmla="*/ 0 h 6858000"/>
              <a:gd name="connsiteX2" fmla="*/ 10077061 w 10077061"/>
              <a:gd name="connsiteY2" fmla="*/ 6858000 h 6858000"/>
              <a:gd name="connsiteX3" fmla="*/ 0 w 100770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7061" h="6858000">
                <a:moveTo>
                  <a:pt x="0" y="0"/>
                </a:moveTo>
                <a:lnTo>
                  <a:pt x="10077061" y="0"/>
                </a:lnTo>
                <a:lnTo>
                  <a:pt x="1007706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B0F14"/>
          </a:solidFill>
          <a:ln w="6992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16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95E0D69C-18BA-6371-E95C-86F17B73EC48}"/>
              </a:ext>
            </a:extLst>
          </p:cNvPr>
          <p:cNvSpPr/>
          <p:nvPr/>
        </p:nvSpPr>
        <p:spPr>
          <a:xfrm>
            <a:off x="1225420" y="167951"/>
            <a:ext cx="9741158" cy="6522097"/>
          </a:xfrm>
          <a:custGeom>
            <a:avLst/>
            <a:gdLst>
              <a:gd name="connsiteX0" fmla="*/ 0 w 9741158"/>
              <a:gd name="connsiteY0" fmla="*/ 0 h 6522097"/>
              <a:gd name="connsiteX1" fmla="*/ 9741159 w 9741158"/>
              <a:gd name="connsiteY1" fmla="*/ 0 h 6522097"/>
              <a:gd name="connsiteX2" fmla="*/ 9741159 w 9741158"/>
              <a:gd name="connsiteY2" fmla="*/ 6522098 h 6522097"/>
              <a:gd name="connsiteX3" fmla="*/ 0 w 9741158"/>
              <a:gd name="connsiteY3" fmla="*/ 6522098 h 6522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1158" h="6522097">
                <a:moveTo>
                  <a:pt x="0" y="0"/>
                </a:moveTo>
                <a:lnTo>
                  <a:pt x="9741159" y="0"/>
                </a:lnTo>
                <a:lnTo>
                  <a:pt x="9741159" y="6522098"/>
                </a:lnTo>
                <a:lnTo>
                  <a:pt x="0" y="6522098"/>
                </a:lnTo>
                <a:close/>
              </a:path>
            </a:pathLst>
          </a:custGeom>
          <a:solidFill>
            <a:srgbClr val="F6F8FB"/>
          </a:solidFill>
          <a:ln w="9788" cap="flat">
            <a:solidFill>
              <a:srgbClr val="CFD7E3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16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B4C9B93A-B337-2EB0-3E7A-EFA0E9F20566}"/>
              </a:ext>
            </a:extLst>
          </p:cNvPr>
          <p:cNvSpPr/>
          <p:nvPr/>
        </p:nvSpPr>
        <p:spPr>
          <a:xfrm>
            <a:off x="1337387" y="279918"/>
            <a:ext cx="1539550" cy="6298163"/>
          </a:xfrm>
          <a:custGeom>
            <a:avLst/>
            <a:gdLst>
              <a:gd name="connsiteX0" fmla="*/ 0 w 1539550"/>
              <a:gd name="connsiteY0" fmla="*/ 0 h 6298163"/>
              <a:gd name="connsiteX1" fmla="*/ 1539551 w 1539550"/>
              <a:gd name="connsiteY1" fmla="*/ 0 h 6298163"/>
              <a:gd name="connsiteX2" fmla="*/ 1539551 w 1539550"/>
              <a:gd name="connsiteY2" fmla="*/ 6298164 h 6298163"/>
              <a:gd name="connsiteX3" fmla="*/ 0 w 1539550"/>
              <a:gd name="connsiteY3" fmla="*/ 6298164 h 629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9550" h="6298163">
                <a:moveTo>
                  <a:pt x="0" y="0"/>
                </a:moveTo>
                <a:lnTo>
                  <a:pt x="1539551" y="0"/>
                </a:lnTo>
                <a:lnTo>
                  <a:pt x="1539551" y="6298164"/>
                </a:lnTo>
                <a:lnTo>
                  <a:pt x="0" y="6298164"/>
                </a:lnTo>
                <a:close/>
              </a:path>
            </a:pathLst>
          </a:custGeom>
          <a:solidFill>
            <a:srgbClr val="0F172A"/>
          </a:solidFill>
          <a:ln w="6992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16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10C4E5D-A0A7-DC0E-ADA2-02A266028E17}"/>
              </a:ext>
            </a:extLst>
          </p:cNvPr>
          <p:cNvSpPr txBox="1"/>
          <p:nvPr/>
        </p:nvSpPr>
        <p:spPr>
          <a:xfrm>
            <a:off x="1511869" y="472128"/>
            <a:ext cx="978153" cy="265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CBD5E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Arial"/>
                <a:rtl val="0"/>
              </a:rPr>
              <a:t>Envizi </a:t>
            </a:r>
            <a:r>
              <a:rPr lang="ja-JP" altLang="en-US" sz="1100" spc="0" baseline="0" dirty="0">
                <a:ln/>
                <a:solidFill>
                  <a:srgbClr val="CBD5E1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ＭＳ ゴシック"/>
                <a:rtl val="0"/>
              </a:rPr>
              <a:t>連携</a:t>
            </a:r>
            <a:endParaRPr lang="ja-JP" altLang="en-US" sz="1100" spc="0" baseline="0" dirty="0">
              <a:ln/>
              <a:solidFill>
                <a:srgbClr val="CBD5E1"/>
              </a:solidFill>
              <a:latin typeface="BIZ UDゴシック" panose="020B0400000000000000" pitchFamily="49" charset="-128"/>
              <a:ea typeface="BIZ UDゴシック" panose="020B0400000000000000" pitchFamily="49" charset="-128"/>
              <a:cs typeface="Arial"/>
              <a:sym typeface="Arial"/>
              <a:rtl val="0"/>
            </a:endParaRPr>
          </a:p>
        </p:txBody>
      </p:sp>
      <p:grpSp>
        <p:nvGrpSpPr>
          <p:cNvPr id="11" name="グラフィックス 4">
            <a:extLst>
              <a:ext uri="{FF2B5EF4-FFF2-40B4-BE49-F238E27FC236}">
                <a16:creationId xmlns:a16="http://schemas.microsoft.com/office/drawing/2014/main" id="{FD9F8010-1ED1-738A-6C18-11E8EDEFC14A}"/>
              </a:ext>
            </a:extLst>
          </p:cNvPr>
          <p:cNvGrpSpPr/>
          <p:nvPr/>
        </p:nvGrpSpPr>
        <p:grpSpPr>
          <a:xfrm>
            <a:off x="1441890" y="727787"/>
            <a:ext cx="1323080" cy="1289398"/>
            <a:chOff x="1441890" y="727787"/>
            <a:chExt cx="1323080" cy="1289398"/>
          </a:xfrm>
        </p:grpSpPr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E80A3B32-2C66-164B-235C-85592217BCBA}"/>
                </a:ext>
              </a:extLst>
            </p:cNvPr>
            <p:cNvSpPr/>
            <p:nvPr/>
          </p:nvSpPr>
          <p:spPr>
            <a:xfrm>
              <a:off x="1449354" y="727787"/>
              <a:ext cx="1315616" cy="195942"/>
            </a:xfrm>
            <a:custGeom>
              <a:avLst/>
              <a:gdLst>
                <a:gd name="connsiteX0" fmla="*/ 56 w 1315616"/>
                <a:gd name="connsiteY0" fmla="*/ 120 h 195942"/>
                <a:gd name="connsiteX1" fmla="*/ 1315672 w 1315616"/>
                <a:gd name="connsiteY1" fmla="*/ 120 h 195942"/>
                <a:gd name="connsiteX2" fmla="*/ 1315672 w 1315616"/>
                <a:gd name="connsiteY2" fmla="*/ 196063 h 195942"/>
                <a:gd name="connsiteX3" fmla="*/ 56 w 1315616"/>
                <a:gd name="connsiteY3" fmla="*/ 196063 h 19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616" h="195942">
                  <a:moveTo>
                    <a:pt x="56" y="120"/>
                  </a:moveTo>
                  <a:lnTo>
                    <a:pt x="1315672" y="120"/>
                  </a:lnTo>
                  <a:lnTo>
                    <a:pt x="1315672" y="196063"/>
                  </a:lnTo>
                  <a:lnTo>
                    <a:pt x="56" y="196063"/>
                  </a:lnTo>
                  <a:close/>
                </a:path>
              </a:pathLst>
            </a:custGeom>
            <a:solidFill>
              <a:srgbClr val="1F2937"/>
            </a:solidFill>
            <a:ln w="6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90A7950C-D9B7-809C-4D48-71D6A971381A}"/>
                </a:ext>
              </a:extLst>
            </p:cNvPr>
            <p:cNvSpPr txBox="1"/>
            <p:nvPr/>
          </p:nvSpPr>
          <p:spPr>
            <a:xfrm>
              <a:off x="1441890" y="752047"/>
              <a:ext cx="80021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北海道事業所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7BFBF49-652B-1D9F-90DF-3F80454A7DAB}"/>
                </a:ext>
              </a:extLst>
            </p:cNvPr>
            <p:cNvSpPr txBox="1"/>
            <p:nvPr/>
          </p:nvSpPr>
          <p:spPr>
            <a:xfrm>
              <a:off x="1441890" y="96198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千葉事業所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2C5CEE2-44AD-E912-92AD-BE948E591A99}"/>
                </a:ext>
              </a:extLst>
            </p:cNvPr>
            <p:cNvSpPr txBox="1"/>
            <p:nvPr/>
          </p:nvSpPr>
          <p:spPr>
            <a:xfrm>
              <a:off x="1441890" y="1171924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愛知事業所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CE4D414C-5C42-DF69-F661-324510960CC9}"/>
                </a:ext>
              </a:extLst>
            </p:cNvPr>
            <p:cNvSpPr txBox="1"/>
            <p:nvPr/>
          </p:nvSpPr>
          <p:spPr>
            <a:xfrm>
              <a:off x="1441890" y="1381863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徳山事業所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EA05C8D-7691-CCD1-5DEA-A534B5E1D388}"/>
                </a:ext>
              </a:extLst>
            </p:cNvPr>
            <p:cNvSpPr txBox="1"/>
            <p:nvPr/>
          </p:nvSpPr>
          <p:spPr>
            <a:xfrm>
              <a:off x="1441890" y="1591802"/>
              <a:ext cx="5950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東亜石油</a:t>
              </a: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751E73B-B16B-C3DF-0A4B-B33AB0571D80}"/>
                </a:ext>
              </a:extLst>
            </p:cNvPr>
            <p:cNvSpPr txBox="1"/>
            <p:nvPr/>
          </p:nvSpPr>
          <p:spPr>
            <a:xfrm>
              <a:off x="1441890" y="1801741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CBD5E1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四日市石油</a:t>
              </a: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E350A78-ECCB-E1E7-F74F-C56430C73C99}"/>
              </a:ext>
            </a:extLst>
          </p:cNvPr>
          <p:cNvSpPr txBox="1"/>
          <p:nvPr/>
        </p:nvSpPr>
        <p:spPr>
          <a:xfrm>
            <a:off x="2995437" y="493122"/>
            <a:ext cx="2082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8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sym typeface="ＭＳ ゴシック"/>
                <a:rtl val="0"/>
              </a:rPr>
              <a:t>明細：</a:t>
            </a:r>
            <a:r>
              <a:rPr lang="ja-JP" altLang="en-US" sz="8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Arial"/>
                <a:rtl val="0"/>
              </a:rPr>
              <a:t>FL-01 </a:t>
            </a:r>
            <a:r>
              <a:rPr lang="ja-JP" altLang="en-US" sz="8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ＭＳ ゴシック"/>
                <a:rtl val="0"/>
              </a:rPr>
              <a:t>給気電力量</a:t>
            </a:r>
            <a:r>
              <a:rPr lang="ja-JP" altLang="en-US" sz="8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Arial"/>
                <a:rtl val="0"/>
              </a:rPr>
              <a:t> — </a:t>
            </a:r>
            <a:r>
              <a:rPr lang="ja-JP" altLang="en-US" sz="800" spc="0" baseline="0">
                <a:ln/>
                <a:solidFill>
                  <a:srgbClr val="0F172A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ＭＳ ゴシック"/>
                <a:rtl val="0"/>
              </a:rPr>
              <a:t>北海道事業所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3D3B46E-683B-5E4C-F16D-D0A3280B3571}"/>
              </a:ext>
            </a:extLst>
          </p:cNvPr>
          <p:cNvSpPr txBox="1"/>
          <p:nvPr/>
        </p:nvSpPr>
        <p:spPr>
          <a:xfrm>
            <a:off x="2995437" y="661073"/>
            <a:ext cx="38266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800" spc="0" baseline="0">
                <a:ln/>
                <a:solidFill>
                  <a:srgbClr val="64748B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sym typeface="ＭＳ ゴシック"/>
                <a:rtl val="0"/>
              </a:rPr>
              <a:t>タグ選択、集計ロジック（四則演算）、過去</a:t>
            </a:r>
            <a:r>
              <a:rPr lang="ja-JP" altLang="en-US" sz="800" spc="0" baseline="0">
                <a:ln/>
                <a:solidFill>
                  <a:srgbClr val="64748B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Arial"/>
                <a:rtl val="0"/>
              </a:rPr>
              <a:t>6</a:t>
            </a:r>
            <a:r>
              <a:rPr lang="ja-JP" altLang="en-US" sz="800" spc="0" baseline="0">
                <a:ln/>
                <a:solidFill>
                  <a:srgbClr val="64748B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  <a:cs typeface="Arial"/>
                <a:sym typeface="ＭＳ ゴシック"/>
                <a:rtl val="0"/>
              </a:rPr>
              <a:t>か月（月次固定・直近のみ編集）</a:t>
            </a:r>
          </a:p>
        </p:txBody>
      </p:sp>
      <p:grpSp>
        <p:nvGrpSpPr>
          <p:cNvPr id="21" name="グラフィックス 4">
            <a:extLst>
              <a:ext uri="{FF2B5EF4-FFF2-40B4-BE49-F238E27FC236}">
                <a16:creationId xmlns:a16="http://schemas.microsoft.com/office/drawing/2014/main" id="{760BDE4D-33FA-DFC4-BBA4-8F746D84B61C}"/>
              </a:ext>
            </a:extLst>
          </p:cNvPr>
          <p:cNvGrpSpPr/>
          <p:nvPr/>
        </p:nvGrpSpPr>
        <p:grpSpPr>
          <a:xfrm>
            <a:off x="3086877" y="979714"/>
            <a:ext cx="3638938" cy="1119673"/>
            <a:chOff x="3086877" y="979714"/>
            <a:chExt cx="3638938" cy="1119673"/>
          </a:xfrm>
        </p:grpSpPr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A74B50F7-7841-26EF-FC29-59FDE73A791F}"/>
                </a:ext>
              </a:extLst>
            </p:cNvPr>
            <p:cNvSpPr/>
            <p:nvPr/>
          </p:nvSpPr>
          <p:spPr>
            <a:xfrm>
              <a:off x="3086877" y="979714"/>
              <a:ext cx="3638938" cy="1119673"/>
            </a:xfrm>
            <a:custGeom>
              <a:avLst/>
              <a:gdLst>
                <a:gd name="connsiteX0" fmla="*/ 0 w 3638938"/>
                <a:gd name="connsiteY0" fmla="*/ 0 h 1119673"/>
                <a:gd name="connsiteX1" fmla="*/ 3638939 w 3638938"/>
                <a:gd name="connsiteY1" fmla="*/ 0 h 1119673"/>
                <a:gd name="connsiteX2" fmla="*/ 3638939 w 3638938"/>
                <a:gd name="connsiteY2" fmla="*/ 1119674 h 1119673"/>
                <a:gd name="connsiteX3" fmla="*/ 0 w 3638938"/>
                <a:gd name="connsiteY3" fmla="*/ 1119674 h 111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8938" h="1119673">
                  <a:moveTo>
                    <a:pt x="0" y="0"/>
                  </a:moveTo>
                  <a:lnTo>
                    <a:pt x="3638939" y="0"/>
                  </a:lnTo>
                  <a:lnTo>
                    <a:pt x="3638939" y="1119674"/>
                  </a:lnTo>
                  <a:lnTo>
                    <a:pt x="0" y="1119674"/>
                  </a:lnTo>
                  <a:close/>
                </a:path>
              </a:pathLst>
            </a:custGeom>
            <a:solidFill>
              <a:srgbClr val="FFFFFF"/>
            </a:solidFill>
            <a:ln w="8390" cap="flat">
              <a:solidFill>
                <a:srgbClr val="D9E1E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390B62CB-D619-07F9-B8E2-C4D780C84320}"/>
                </a:ext>
              </a:extLst>
            </p:cNvPr>
            <p:cNvSpPr txBox="1"/>
            <p:nvPr/>
          </p:nvSpPr>
          <p:spPr>
            <a:xfrm>
              <a:off x="3135396" y="1059957"/>
              <a:ext cx="90281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111827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タグデータ選択</a:t>
              </a:r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711A0E13-545F-248D-DD73-756AC225765C}"/>
                </a:ext>
              </a:extLst>
            </p:cNvPr>
            <p:cNvSpPr/>
            <p:nvPr/>
          </p:nvSpPr>
          <p:spPr>
            <a:xfrm>
              <a:off x="3156856" y="1301620"/>
              <a:ext cx="3498979" cy="195942"/>
            </a:xfrm>
            <a:custGeom>
              <a:avLst/>
              <a:gdLst>
                <a:gd name="connsiteX0" fmla="*/ 0 w 3498979"/>
                <a:gd name="connsiteY0" fmla="*/ 0 h 195942"/>
                <a:gd name="connsiteX1" fmla="*/ 3498980 w 3498979"/>
                <a:gd name="connsiteY1" fmla="*/ 0 h 195942"/>
                <a:gd name="connsiteX2" fmla="*/ 3498980 w 3498979"/>
                <a:gd name="connsiteY2" fmla="*/ 195943 h 195942"/>
                <a:gd name="connsiteX3" fmla="*/ 0 w 3498979"/>
                <a:gd name="connsiteY3" fmla="*/ 195943 h 19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8979" h="195942">
                  <a:moveTo>
                    <a:pt x="0" y="0"/>
                  </a:moveTo>
                  <a:lnTo>
                    <a:pt x="3498980" y="0"/>
                  </a:lnTo>
                  <a:lnTo>
                    <a:pt x="3498980" y="195943"/>
                  </a:lnTo>
                  <a:lnTo>
                    <a:pt x="0" y="195943"/>
                  </a:lnTo>
                  <a:close/>
                </a:path>
              </a:pathLst>
            </a:custGeom>
            <a:solidFill>
              <a:srgbClr val="FFFFFF"/>
            </a:solidFill>
            <a:ln w="6992" cap="flat">
              <a:solidFill>
                <a:srgbClr val="CBD5E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A5761BA2-167A-A79C-75F6-38DF08961E7D}"/>
                </a:ext>
              </a:extLst>
            </p:cNvPr>
            <p:cNvSpPr txBox="1"/>
            <p:nvPr/>
          </p:nvSpPr>
          <p:spPr>
            <a:xfrm>
              <a:off x="3135396" y="1304886"/>
              <a:ext cx="95410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64748B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タグ検索</a:t>
              </a:r>
              <a:r>
                <a:rPr lang="ja-JP" altLang="en-US" sz="800" spc="0" baseline="0">
                  <a:ln/>
                  <a:solidFill>
                    <a:srgbClr val="64748B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 / </a:t>
              </a:r>
              <a:r>
                <a:rPr lang="ja-JP" altLang="en-US" sz="800" spc="0" baseline="0">
                  <a:ln/>
                  <a:solidFill>
                    <a:srgbClr val="64748B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ＭＳ ゴシック"/>
                  <a:rtl val="0"/>
                </a:rPr>
                <a:t>追加</a:t>
              </a:r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855949F3-8571-38CC-F7F6-E7EF688A6B85}"/>
                </a:ext>
              </a:extLst>
            </p:cNvPr>
            <p:cNvSpPr/>
            <p:nvPr/>
          </p:nvSpPr>
          <p:spPr>
            <a:xfrm>
              <a:off x="3156856" y="1553546"/>
              <a:ext cx="909734" cy="181946"/>
            </a:xfrm>
            <a:custGeom>
              <a:avLst/>
              <a:gdLst>
                <a:gd name="connsiteX0" fmla="*/ 0 w 909734"/>
                <a:gd name="connsiteY0" fmla="*/ 0 h 181946"/>
                <a:gd name="connsiteX1" fmla="*/ 909735 w 909734"/>
                <a:gd name="connsiteY1" fmla="*/ 0 h 181946"/>
                <a:gd name="connsiteX2" fmla="*/ 909735 w 909734"/>
                <a:gd name="connsiteY2" fmla="*/ 181947 h 181946"/>
                <a:gd name="connsiteX3" fmla="*/ 0 w 909734"/>
                <a:gd name="connsiteY3" fmla="*/ 181947 h 18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734" h="181946">
                  <a:moveTo>
                    <a:pt x="0" y="0"/>
                  </a:moveTo>
                  <a:lnTo>
                    <a:pt x="909735" y="0"/>
                  </a:lnTo>
                  <a:lnTo>
                    <a:pt x="909735" y="181947"/>
                  </a:lnTo>
                  <a:lnTo>
                    <a:pt x="0" y="181947"/>
                  </a:lnTo>
                  <a:close/>
                </a:path>
              </a:pathLst>
            </a:custGeom>
            <a:solidFill>
              <a:srgbClr val="E8F0FF"/>
            </a:solidFill>
            <a:ln w="6992" cap="flat">
              <a:solidFill>
                <a:srgbClr val="94B3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ACD20EFE-60CC-28F6-2BD9-1A650FB6D16E}"/>
                </a:ext>
              </a:extLst>
            </p:cNvPr>
            <p:cNvSpPr txBox="1"/>
            <p:nvPr/>
          </p:nvSpPr>
          <p:spPr>
            <a:xfrm>
              <a:off x="3289351" y="154281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334155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tag_FL01_A</a:t>
              </a:r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8924D886-59E4-0F78-E564-5CBAC31D43FF}"/>
                </a:ext>
              </a:extLst>
            </p:cNvPr>
            <p:cNvSpPr/>
            <p:nvPr/>
          </p:nvSpPr>
          <p:spPr>
            <a:xfrm>
              <a:off x="4108579" y="1553546"/>
              <a:ext cx="909734" cy="181946"/>
            </a:xfrm>
            <a:custGeom>
              <a:avLst/>
              <a:gdLst>
                <a:gd name="connsiteX0" fmla="*/ 0 w 909734"/>
                <a:gd name="connsiteY0" fmla="*/ 0 h 181946"/>
                <a:gd name="connsiteX1" fmla="*/ 909735 w 909734"/>
                <a:gd name="connsiteY1" fmla="*/ 0 h 181946"/>
                <a:gd name="connsiteX2" fmla="*/ 909735 w 909734"/>
                <a:gd name="connsiteY2" fmla="*/ 181947 h 181946"/>
                <a:gd name="connsiteX3" fmla="*/ 0 w 909734"/>
                <a:gd name="connsiteY3" fmla="*/ 181947 h 18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734" h="181946">
                  <a:moveTo>
                    <a:pt x="0" y="0"/>
                  </a:moveTo>
                  <a:lnTo>
                    <a:pt x="909735" y="0"/>
                  </a:lnTo>
                  <a:lnTo>
                    <a:pt x="909735" y="181947"/>
                  </a:lnTo>
                  <a:lnTo>
                    <a:pt x="0" y="181947"/>
                  </a:lnTo>
                  <a:close/>
                </a:path>
              </a:pathLst>
            </a:custGeom>
            <a:solidFill>
              <a:srgbClr val="E8F0FF"/>
            </a:solidFill>
            <a:ln w="6992" cap="flat">
              <a:solidFill>
                <a:srgbClr val="94B3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14DF7E70-2E23-7BCD-0A47-9B1764F2021E}"/>
                </a:ext>
              </a:extLst>
            </p:cNvPr>
            <p:cNvSpPr txBox="1"/>
            <p:nvPr/>
          </p:nvSpPr>
          <p:spPr>
            <a:xfrm>
              <a:off x="4237574" y="154281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334155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tag_FL01_B</a:t>
              </a:r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93AF8665-8238-CAF4-084C-08F86E0990F6}"/>
                </a:ext>
              </a:extLst>
            </p:cNvPr>
            <p:cNvSpPr/>
            <p:nvPr/>
          </p:nvSpPr>
          <p:spPr>
            <a:xfrm>
              <a:off x="5060301" y="1553546"/>
              <a:ext cx="909734" cy="181946"/>
            </a:xfrm>
            <a:custGeom>
              <a:avLst/>
              <a:gdLst>
                <a:gd name="connsiteX0" fmla="*/ 0 w 909734"/>
                <a:gd name="connsiteY0" fmla="*/ 0 h 181946"/>
                <a:gd name="connsiteX1" fmla="*/ 909735 w 909734"/>
                <a:gd name="connsiteY1" fmla="*/ 0 h 181946"/>
                <a:gd name="connsiteX2" fmla="*/ 909735 w 909734"/>
                <a:gd name="connsiteY2" fmla="*/ 181947 h 181946"/>
                <a:gd name="connsiteX3" fmla="*/ 0 w 909734"/>
                <a:gd name="connsiteY3" fmla="*/ 181947 h 18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734" h="181946">
                  <a:moveTo>
                    <a:pt x="0" y="0"/>
                  </a:moveTo>
                  <a:lnTo>
                    <a:pt x="909735" y="0"/>
                  </a:lnTo>
                  <a:lnTo>
                    <a:pt x="909735" y="181947"/>
                  </a:lnTo>
                  <a:lnTo>
                    <a:pt x="0" y="181947"/>
                  </a:lnTo>
                  <a:close/>
                </a:path>
              </a:pathLst>
            </a:custGeom>
            <a:solidFill>
              <a:srgbClr val="E8F0FF"/>
            </a:solidFill>
            <a:ln w="6992" cap="flat">
              <a:solidFill>
                <a:srgbClr val="94B3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775A3A38-83AF-7B71-65DC-3FBB64B8F9C2}"/>
                </a:ext>
              </a:extLst>
            </p:cNvPr>
            <p:cNvSpPr txBox="1"/>
            <p:nvPr/>
          </p:nvSpPr>
          <p:spPr>
            <a:xfrm>
              <a:off x="5185798" y="1542816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334155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tag_FL01_C</a:t>
              </a:r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7C0FFD74-35E2-3223-EE18-A06BF9820379}"/>
                </a:ext>
              </a:extLst>
            </p:cNvPr>
            <p:cNvSpPr/>
            <p:nvPr/>
          </p:nvSpPr>
          <p:spPr>
            <a:xfrm>
              <a:off x="6012023" y="1553546"/>
              <a:ext cx="181946" cy="181946"/>
            </a:xfrm>
            <a:custGeom>
              <a:avLst/>
              <a:gdLst>
                <a:gd name="connsiteX0" fmla="*/ 0 w 181946"/>
                <a:gd name="connsiteY0" fmla="*/ 0 h 181946"/>
                <a:gd name="connsiteX1" fmla="*/ 181947 w 181946"/>
                <a:gd name="connsiteY1" fmla="*/ 0 h 181946"/>
                <a:gd name="connsiteX2" fmla="*/ 181947 w 181946"/>
                <a:gd name="connsiteY2" fmla="*/ 181947 h 181946"/>
                <a:gd name="connsiteX3" fmla="*/ 0 w 181946"/>
                <a:gd name="connsiteY3" fmla="*/ 181947 h 18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46" h="181946">
                  <a:moveTo>
                    <a:pt x="0" y="0"/>
                  </a:moveTo>
                  <a:lnTo>
                    <a:pt x="181947" y="0"/>
                  </a:lnTo>
                  <a:lnTo>
                    <a:pt x="181947" y="181947"/>
                  </a:lnTo>
                  <a:lnTo>
                    <a:pt x="0" y="181947"/>
                  </a:lnTo>
                  <a:close/>
                </a:path>
              </a:pathLst>
            </a:custGeom>
            <a:solidFill>
              <a:srgbClr val="2563EB"/>
            </a:solidFill>
            <a:ln w="6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297F1ED2-89FA-2980-5838-83748A4DB53A}"/>
                </a:ext>
              </a:extLst>
            </p:cNvPr>
            <p:cNvSpPr txBox="1"/>
            <p:nvPr/>
          </p:nvSpPr>
          <p:spPr>
            <a:xfrm>
              <a:off x="5955573" y="1507826"/>
              <a:ext cx="3257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>
                  <a:ln/>
                  <a:solidFill>
                    <a:srgbClr val="FFFFFF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＋</a:t>
              </a:r>
            </a:p>
          </p:txBody>
        </p:sp>
      </p:grpSp>
      <p:grpSp>
        <p:nvGrpSpPr>
          <p:cNvPr id="34" name="グラフィックス 4">
            <a:extLst>
              <a:ext uri="{FF2B5EF4-FFF2-40B4-BE49-F238E27FC236}">
                <a16:creationId xmlns:a16="http://schemas.microsoft.com/office/drawing/2014/main" id="{CF2EB3A9-1850-0725-F707-A08CDC2C1276}"/>
              </a:ext>
            </a:extLst>
          </p:cNvPr>
          <p:cNvGrpSpPr/>
          <p:nvPr/>
        </p:nvGrpSpPr>
        <p:grpSpPr>
          <a:xfrm>
            <a:off x="6851312" y="979714"/>
            <a:ext cx="3653400" cy="1119673"/>
            <a:chOff x="6851312" y="979714"/>
            <a:chExt cx="3653400" cy="1119673"/>
          </a:xfrm>
        </p:grpSpPr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4B2F4A25-686C-4EC8-9112-99662417386C}"/>
                </a:ext>
              </a:extLst>
            </p:cNvPr>
            <p:cNvSpPr/>
            <p:nvPr/>
          </p:nvSpPr>
          <p:spPr>
            <a:xfrm>
              <a:off x="6865774" y="979714"/>
              <a:ext cx="3638938" cy="1119673"/>
            </a:xfrm>
            <a:custGeom>
              <a:avLst/>
              <a:gdLst>
                <a:gd name="connsiteX0" fmla="*/ 0 w 3638938"/>
                <a:gd name="connsiteY0" fmla="*/ 0 h 1119673"/>
                <a:gd name="connsiteX1" fmla="*/ 3638939 w 3638938"/>
                <a:gd name="connsiteY1" fmla="*/ 0 h 1119673"/>
                <a:gd name="connsiteX2" fmla="*/ 3638939 w 3638938"/>
                <a:gd name="connsiteY2" fmla="*/ 1119674 h 1119673"/>
                <a:gd name="connsiteX3" fmla="*/ 0 w 3638938"/>
                <a:gd name="connsiteY3" fmla="*/ 1119674 h 111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8938" h="1119673">
                  <a:moveTo>
                    <a:pt x="0" y="0"/>
                  </a:moveTo>
                  <a:lnTo>
                    <a:pt x="3638939" y="0"/>
                  </a:lnTo>
                  <a:lnTo>
                    <a:pt x="3638939" y="1119674"/>
                  </a:lnTo>
                  <a:lnTo>
                    <a:pt x="0" y="1119674"/>
                  </a:lnTo>
                  <a:close/>
                </a:path>
              </a:pathLst>
            </a:custGeom>
            <a:solidFill>
              <a:srgbClr val="FFFFFF"/>
            </a:solidFill>
            <a:ln w="8390" cap="flat">
              <a:solidFill>
                <a:srgbClr val="D9E1E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ADA4FFDA-2494-AA2B-580B-438657E9A398}"/>
                </a:ext>
              </a:extLst>
            </p:cNvPr>
            <p:cNvSpPr txBox="1"/>
            <p:nvPr/>
          </p:nvSpPr>
          <p:spPr>
            <a:xfrm>
              <a:off x="6851312" y="1059957"/>
              <a:ext cx="14157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111827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集計ロジック（四則演算）</a:t>
              </a: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E482B50C-90CC-612D-68E7-CCE6DBCEBD02}"/>
                </a:ext>
              </a:extLst>
            </p:cNvPr>
            <p:cNvSpPr txBox="1"/>
            <p:nvPr/>
          </p:nvSpPr>
          <p:spPr>
            <a:xfrm>
              <a:off x="6851312" y="1381863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334155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集計式</a:t>
              </a:r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462147C3-3196-9A8A-48A0-183FADD6170A}"/>
                </a:ext>
              </a:extLst>
            </p:cNvPr>
            <p:cNvSpPr/>
            <p:nvPr/>
          </p:nvSpPr>
          <p:spPr>
            <a:xfrm>
              <a:off x="7542022" y="1400337"/>
              <a:ext cx="2939142" cy="181946"/>
            </a:xfrm>
            <a:custGeom>
              <a:avLst/>
              <a:gdLst>
                <a:gd name="connsiteX0" fmla="*/ 0 w 2939142"/>
                <a:gd name="connsiteY0" fmla="*/ 0 h 181946"/>
                <a:gd name="connsiteX1" fmla="*/ 2939143 w 2939142"/>
                <a:gd name="connsiteY1" fmla="*/ 0 h 181946"/>
                <a:gd name="connsiteX2" fmla="*/ 2939143 w 2939142"/>
                <a:gd name="connsiteY2" fmla="*/ 181947 h 181946"/>
                <a:gd name="connsiteX3" fmla="*/ 0 w 2939142"/>
                <a:gd name="connsiteY3" fmla="*/ 181947 h 18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39142" h="181946">
                  <a:moveTo>
                    <a:pt x="0" y="0"/>
                  </a:moveTo>
                  <a:lnTo>
                    <a:pt x="2939143" y="0"/>
                  </a:lnTo>
                  <a:lnTo>
                    <a:pt x="2939143" y="181947"/>
                  </a:lnTo>
                  <a:lnTo>
                    <a:pt x="0" y="181947"/>
                  </a:lnTo>
                  <a:close/>
                </a:path>
              </a:pathLst>
            </a:custGeom>
            <a:solidFill>
              <a:srgbClr val="FFFFFF"/>
            </a:solidFill>
            <a:ln w="6992" cap="flat">
              <a:solidFill>
                <a:srgbClr val="CBD5E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60E063A3-531D-4620-4E4F-2C790255ABB3}"/>
                </a:ext>
              </a:extLst>
            </p:cNvPr>
            <p:cNvSpPr txBox="1"/>
            <p:nvPr/>
          </p:nvSpPr>
          <p:spPr>
            <a:xfrm>
              <a:off x="7520562" y="1403603"/>
              <a:ext cx="198002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 dirty="0">
                  <a:ln/>
                  <a:solidFill>
                    <a:srgbClr val="0F172A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(tag_FL01_A + tag_FL01_B * 1.2) / 2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E813ADCA-23E8-0449-CDD6-33BDDB04DEE1}"/>
                </a:ext>
              </a:extLst>
            </p:cNvPr>
            <p:cNvSpPr txBox="1"/>
            <p:nvPr/>
          </p:nvSpPr>
          <p:spPr>
            <a:xfrm>
              <a:off x="6851312" y="1605798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 dirty="0">
                  <a:ln/>
                  <a:solidFill>
                    <a:srgbClr val="334155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プレビュー</a:t>
              </a:r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5BB17A43-6655-142A-D1C9-BBF05282C8AA}"/>
                </a:ext>
              </a:extLst>
            </p:cNvPr>
            <p:cNvSpPr/>
            <p:nvPr/>
          </p:nvSpPr>
          <p:spPr>
            <a:xfrm>
              <a:off x="7542022" y="1642562"/>
              <a:ext cx="2939142" cy="181946"/>
            </a:xfrm>
            <a:custGeom>
              <a:avLst/>
              <a:gdLst>
                <a:gd name="connsiteX0" fmla="*/ 2883159 w 2939142"/>
                <a:gd name="connsiteY0" fmla="*/ 0 h 181946"/>
                <a:gd name="connsiteX1" fmla="*/ 2939143 w 2939142"/>
                <a:gd name="connsiteY1" fmla="*/ 0 h 181946"/>
                <a:gd name="connsiteX2" fmla="*/ 2939143 w 2939142"/>
                <a:gd name="connsiteY2" fmla="*/ 181947 h 181946"/>
                <a:gd name="connsiteX3" fmla="*/ 2883159 w 2939142"/>
                <a:gd name="connsiteY3" fmla="*/ 181947 h 181946"/>
                <a:gd name="connsiteX4" fmla="*/ 55984 w 2939142"/>
                <a:gd name="connsiteY4" fmla="*/ 181947 h 181946"/>
                <a:gd name="connsiteX5" fmla="*/ 0 w 2939142"/>
                <a:gd name="connsiteY5" fmla="*/ 181947 h 181946"/>
                <a:gd name="connsiteX6" fmla="*/ 0 w 2939142"/>
                <a:gd name="connsiteY6" fmla="*/ 0 h 181946"/>
                <a:gd name="connsiteX7" fmla="*/ 55984 w 2939142"/>
                <a:gd name="connsiteY7" fmla="*/ 0 h 18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39142" h="181946">
                  <a:moveTo>
                    <a:pt x="2883159" y="0"/>
                  </a:moveTo>
                  <a:cubicBezTo>
                    <a:pt x="2914079" y="0"/>
                    <a:pt x="2939143" y="0"/>
                    <a:pt x="2939143" y="0"/>
                  </a:cubicBezTo>
                  <a:lnTo>
                    <a:pt x="2939143" y="181947"/>
                  </a:lnTo>
                  <a:cubicBezTo>
                    <a:pt x="2939143" y="181947"/>
                    <a:pt x="2914079" y="181947"/>
                    <a:pt x="2883159" y="181947"/>
                  </a:cubicBezTo>
                  <a:lnTo>
                    <a:pt x="55984" y="181947"/>
                  </a:lnTo>
                  <a:cubicBezTo>
                    <a:pt x="25065" y="181947"/>
                    <a:pt x="0" y="181947"/>
                    <a:pt x="0" y="181947"/>
                  </a:cubicBezTo>
                  <a:lnTo>
                    <a:pt x="0" y="0"/>
                  </a:lnTo>
                  <a:cubicBezTo>
                    <a:pt x="0" y="0"/>
                    <a:pt x="25065" y="0"/>
                    <a:pt x="55984" y="0"/>
                  </a:cubicBezTo>
                  <a:close/>
                </a:path>
              </a:pathLst>
            </a:custGeom>
            <a:solidFill>
              <a:srgbClr val="F1F5F9"/>
            </a:solidFill>
            <a:ln w="6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1F27969-D0D4-435E-3D74-A09534CEA192}"/>
                </a:ext>
              </a:extLst>
            </p:cNvPr>
            <p:cNvSpPr txBox="1"/>
            <p:nvPr/>
          </p:nvSpPr>
          <p:spPr>
            <a:xfrm>
              <a:off x="7511557" y="1632016"/>
              <a:ext cx="26468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 dirty="0">
                  <a:ln/>
                  <a:solidFill>
                    <a:srgbClr val="0F172A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tag_FL01_A=123.4, tag_FL01_B=98.7 → </a:t>
              </a:r>
              <a:r>
                <a:rPr lang="ja-JP" altLang="en-US" sz="800" spc="0" baseline="0" dirty="0">
                  <a:ln/>
                  <a:solidFill>
                    <a:srgbClr val="0F172A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ＭＳ ゴシック"/>
                  <a:rtl val="0"/>
                </a:rPr>
                <a:t>結果</a:t>
              </a:r>
              <a:r>
                <a:rPr lang="ja-JP" altLang="en-US" sz="800" spc="0" baseline="0" dirty="0">
                  <a:ln/>
                  <a:solidFill>
                    <a:srgbClr val="0F172A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=160.85</a:t>
              </a:r>
            </a:p>
          </p:txBody>
        </p:sp>
      </p:grpSp>
      <p:grpSp>
        <p:nvGrpSpPr>
          <p:cNvPr id="44" name="グラフィックス 4">
            <a:extLst>
              <a:ext uri="{FF2B5EF4-FFF2-40B4-BE49-F238E27FC236}">
                <a16:creationId xmlns:a16="http://schemas.microsoft.com/office/drawing/2014/main" id="{F86E81FC-2313-F01C-2FDD-9C0641B59947}"/>
              </a:ext>
            </a:extLst>
          </p:cNvPr>
          <p:cNvGrpSpPr/>
          <p:nvPr/>
        </p:nvGrpSpPr>
        <p:grpSpPr>
          <a:xfrm>
            <a:off x="3086877" y="2239346"/>
            <a:ext cx="7417836" cy="3638938"/>
            <a:chOff x="3086877" y="2239346"/>
            <a:chExt cx="7417836" cy="3638938"/>
          </a:xfrm>
        </p:grpSpPr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FCB3BCB4-C163-8F1B-7053-558B23F32957}"/>
                </a:ext>
              </a:extLst>
            </p:cNvPr>
            <p:cNvSpPr/>
            <p:nvPr/>
          </p:nvSpPr>
          <p:spPr>
            <a:xfrm>
              <a:off x="3086877" y="2239346"/>
              <a:ext cx="7417836" cy="3638938"/>
            </a:xfrm>
            <a:custGeom>
              <a:avLst/>
              <a:gdLst>
                <a:gd name="connsiteX0" fmla="*/ 0 w 7417836"/>
                <a:gd name="connsiteY0" fmla="*/ 0 h 3638938"/>
                <a:gd name="connsiteX1" fmla="*/ 7417837 w 7417836"/>
                <a:gd name="connsiteY1" fmla="*/ 0 h 3638938"/>
                <a:gd name="connsiteX2" fmla="*/ 7417837 w 7417836"/>
                <a:gd name="connsiteY2" fmla="*/ 3638939 h 3638938"/>
                <a:gd name="connsiteX3" fmla="*/ 0 w 7417836"/>
                <a:gd name="connsiteY3" fmla="*/ 3638939 h 36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17836" h="3638938">
                  <a:moveTo>
                    <a:pt x="0" y="0"/>
                  </a:moveTo>
                  <a:lnTo>
                    <a:pt x="7417837" y="0"/>
                  </a:lnTo>
                  <a:lnTo>
                    <a:pt x="7417837" y="3638939"/>
                  </a:lnTo>
                  <a:lnTo>
                    <a:pt x="0" y="3638939"/>
                  </a:lnTo>
                  <a:close/>
                </a:path>
              </a:pathLst>
            </a:custGeom>
            <a:solidFill>
              <a:srgbClr val="FFFFFF"/>
            </a:solidFill>
            <a:ln w="8390" cap="flat">
              <a:solidFill>
                <a:srgbClr val="D9E1E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741D985F-5203-D364-7D26-F5EA1669E149}"/>
                </a:ext>
              </a:extLst>
            </p:cNvPr>
            <p:cNvSpPr txBox="1"/>
            <p:nvPr/>
          </p:nvSpPr>
          <p:spPr>
            <a:xfrm>
              <a:off x="3135396" y="2312592"/>
              <a:ext cx="249299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111827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過去値の確認・書き換え（過去</a:t>
              </a:r>
              <a:r>
                <a:rPr lang="ja-JP" altLang="en-US" sz="800" spc="0" baseline="0">
                  <a:ln/>
                  <a:solidFill>
                    <a:srgbClr val="111827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Arial"/>
                  <a:rtl val="0"/>
                </a:rPr>
                <a:t>6</a:t>
              </a:r>
              <a:r>
                <a:rPr lang="ja-JP" altLang="en-US" sz="800" spc="0" baseline="0">
                  <a:ln/>
                  <a:solidFill>
                    <a:srgbClr val="111827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cs typeface="Arial"/>
                  <a:sym typeface="ＭＳ ゴシック"/>
                  <a:rtl val="0"/>
                </a:rPr>
                <a:t>か月／月次固定）</a:t>
              </a:r>
            </a:p>
          </p:txBody>
        </p:sp>
        <p:grpSp>
          <p:nvGrpSpPr>
            <p:cNvPr id="48" name="グラフィックス 4">
              <a:extLst>
                <a:ext uri="{FF2B5EF4-FFF2-40B4-BE49-F238E27FC236}">
                  <a16:creationId xmlns:a16="http://schemas.microsoft.com/office/drawing/2014/main" id="{5B20E42D-BB0C-A6AE-B2E5-2AAD912A037C}"/>
                </a:ext>
              </a:extLst>
            </p:cNvPr>
            <p:cNvGrpSpPr/>
            <p:nvPr/>
          </p:nvGrpSpPr>
          <p:grpSpPr>
            <a:xfrm>
              <a:off x="3205375" y="2743200"/>
              <a:ext cx="7159379" cy="225707"/>
              <a:chOff x="3205375" y="2743200"/>
              <a:chExt cx="7159379" cy="225707"/>
            </a:xfrm>
          </p:grpSpPr>
          <p:sp>
            <p:nvSpPr>
              <p:cNvPr id="49" name="フリーフォーム: 図形 48">
                <a:extLst>
                  <a:ext uri="{FF2B5EF4-FFF2-40B4-BE49-F238E27FC236}">
                    <a16:creationId xmlns:a16="http://schemas.microsoft.com/office/drawing/2014/main" id="{4CAD5503-2729-F06B-6745-0A3DB86F2B3E}"/>
                  </a:ext>
                </a:extLst>
              </p:cNvPr>
              <p:cNvSpPr/>
              <p:nvPr/>
            </p:nvSpPr>
            <p:spPr>
              <a:xfrm>
                <a:off x="3226836" y="2743200"/>
                <a:ext cx="7137918" cy="195942"/>
              </a:xfrm>
              <a:custGeom>
                <a:avLst/>
                <a:gdLst>
                  <a:gd name="connsiteX0" fmla="*/ 7082245 w 7137918"/>
                  <a:gd name="connsiteY0" fmla="*/ 392 h 195942"/>
                  <a:gd name="connsiteX1" fmla="*/ 7138228 w 7137918"/>
                  <a:gd name="connsiteY1" fmla="*/ 392 h 195942"/>
                  <a:gd name="connsiteX2" fmla="*/ 7138228 w 7137918"/>
                  <a:gd name="connsiteY2" fmla="*/ 196335 h 195942"/>
                  <a:gd name="connsiteX3" fmla="*/ 7082245 w 7137918"/>
                  <a:gd name="connsiteY3" fmla="*/ 196335 h 195942"/>
                  <a:gd name="connsiteX4" fmla="*/ 56294 w 7137918"/>
                  <a:gd name="connsiteY4" fmla="*/ 196335 h 195942"/>
                  <a:gd name="connsiteX5" fmla="*/ 310 w 7137918"/>
                  <a:gd name="connsiteY5" fmla="*/ 196335 h 195942"/>
                  <a:gd name="connsiteX6" fmla="*/ 310 w 7137918"/>
                  <a:gd name="connsiteY6" fmla="*/ 392 h 195942"/>
                  <a:gd name="connsiteX7" fmla="*/ 56294 w 7137918"/>
                  <a:gd name="connsiteY7" fmla="*/ 392 h 19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37918" h="195942">
                    <a:moveTo>
                      <a:pt x="7082245" y="392"/>
                    </a:moveTo>
                    <a:cubicBezTo>
                      <a:pt x="7113164" y="392"/>
                      <a:pt x="7138228" y="392"/>
                      <a:pt x="7138228" y="392"/>
                    </a:cubicBezTo>
                    <a:lnTo>
                      <a:pt x="7138228" y="196335"/>
                    </a:lnTo>
                    <a:cubicBezTo>
                      <a:pt x="7138228" y="196335"/>
                      <a:pt x="7113164" y="196335"/>
                      <a:pt x="7082245" y="196335"/>
                    </a:cubicBezTo>
                    <a:lnTo>
                      <a:pt x="56294" y="196335"/>
                    </a:lnTo>
                    <a:cubicBezTo>
                      <a:pt x="25375" y="196335"/>
                      <a:pt x="310" y="196335"/>
                      <a:pt x="310" y="196335"/>
                    </a:cubicBezTo>
                    <a:lnTo>
                      <a:pt x="310" y="392"/>
                    </a:lnTo>
                    <a:cubicBezTo>
                      <a:pt x="310" y="392"/>
                      <a:pt x="25375" y="392"/>
                      <a:pt x="56294" y="392"/>
                    </a:cubicBezTo>
                    <a:close/>
                  </a:path>
                </a:pathLst>
              </a:custGeom>
              <a:solidFill>
                <a:srgbClr val="F1F5F9"/>
              </a:solidFill>
              <a:ln w="69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1600">
                  <a:latin typeface="BIZ UDゴシック" panose="020B0400000000000000" pitchFamily="49" charset="-128"/>
                  <a:ea typeface="BIZ UDゴシック" panose="020B0400000000000000" pitchFamily="49" charset="-128"/>
                </a:endParaRPr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40827976-3CBB-1408-0904-226F1A49E0D4}"/>
                  </a:ext>
                </a:extLst>
              </p:cNvPr>
              <p:cNvSpPr txBox="1"/>
              <p:nvPr/>
            </p:nvSpPr>
            <p:spPr>
              <a:xfrm>
                <a:off x="3205375" y="2753463"/>
                <a:ext cx="4924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00" spc="0" baseline="0">
                    <a:ln/>
                    <a:solidFill>
                      <a:srgbClr val="334155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対象月</a:t>
                </a:r>
              </a:p>
            </p:txBody>
          </p:sp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FE9991D3-B2F4-FA36-5367-7BD183B09A92}"/>
                  </a:ext>
                </a:extLst>
              </p:cNvPr>
              <p:cNvSpPr txBox="1"/>
              <p:nvPr/>
            </p:nvSpPr>
            <p:spPr>
              <a:xfrm>
                <a:off x="4534988" y="2753463"/>
                <a:ext cx="90281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00" spc="0" baseline="0">
                    <a:ln/>
                    <a:solidFill>
                      <a:srgbClr val="334155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取得値（月次）</a:t>
                </a:r>
              </a:p>
            </p:txBody>
          </p: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851FCE2D-9C35-F12E-858A-254108DB5B71}"/>
                  </a:ext>
                </a:extLst>
              </p:cNvPr>
              <p:cNvSpPr txBox="1"/>
              <p:nvPr/>
            </p:nvSpPr>
            <p:spPr>
              <a:xfrm>
                <a:off x="5794620" y="2753463"/>
                <a:ext cx="141577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00" spc="0" baseline="0">
                    <a:ln/>
                    <a:solidFill>
                      <a:srgbClr val="334155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新値（編集可：直近のみ）</a:t>
                </a: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9E556DAA-2694-1E6E-1D98-546FB1C5B7AD}"/>
                  </a:ext>
                </a:extLst>
              </p:cNvPr>
              <p:cNvSpPr txBox="1"/>
              <p:nvPr/>
            </p:nvSpPr>
            <p:spPr>
              <a:xfrm>
                <a:off x="7474130" y="2753463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00" spc="0" baseline="0">
                    <a:ln/>
                    <a:solidFill>
                      <a:srgbClr val="334155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理由</a:t>
                </a:r>
              </a:p>
            </p:txBody>
          </p:sp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75605B05-B0AF-8267-6B14-21C696D32071}"/>
                  </a:ext>
                </a:extLst>
              </p:cNvPr>
              <p:cNvSpPr txBox="1"/>
              <p:nvPr/>
            </p:nvSpPr>
            <p:spPr>
              <a:xfrm>
                <a:off x="9433559" y="2753463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ja-JP" altLang="en-US" sz="800" spc="0" baseline="0">
                    <a:ln/>
                    <a:solidFill>
                      <a:srgbClr val="334155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rPr>
                  <a:t>操作</a:t>
                </a:r>
              </a:p>
            </p:txBody>
          </p:sp>
        </p:grpSp>
        <p:grpSp>
          <p:nvGrpSpPr>
            <p:cNvPr id="55" name="グラフィックス 4">
              <a:extLst>
                <a:ext uri="{FF2B5EF4-FFF2-40B4-BE49-F238E27FC236}">
                  <a16:creationId xmlns:a16="http://schemas.microsoft.com/office/drawing/2014/main" id="{1717FDF8-6D1C-AC89-7123-15C22198ABB6}"/>
                </a:ext>
              </a:extLst>
            </p:cNvPr>
            <p:cNvGrpSpPr/>
            <p:nvPr/>
          </p:nvGrpSpPr>
          <p:grpSpPr>
            <a:xfrm>
              <a:off x="3205375" y="2984396"/>
              <a:ext cx="7100760" cy="1650025"/>
              <a:chOff x="3205375" y="2984396"/>
              <a:chExt cx="7100760" cy="1650025"/>
            </a:xfrm>
          </p:grpSpPr>
          <p:grpSp>
            <p:nvGrpSpPr>
              <p:cNvPr id="56" name="グラフィックス 4">
                <a:extLst>
                  <a:ext uri="{FF2B5EF4-FFF2-40B4-BE49-F238E27FC236}">
                    <a16:creationId xmlns:a16="http://schemas.microsoft.com/office/drawing/2014/main" id="{E538AF75-6F86-DC50-F83A-A0878B7A5B91}"/>
                  </a:ext>
                </a:extLst>
              </p:cNvPr>
              <p:cNvGrpSpPr/>
              <p:nvPr/>
            </p:nvGrpSpPr>
            <p:grpSpPr>
              <a:xfrm>
                <a:off x="3205375" y="2984396"/>
                <a:ext cx="7089399" cy="243436"/>
                <a:chOff x="3205375" y="2984396"/>
                <a:chExt cx="7089399" cy="243436"/>
              </a:xfrm>
            </p:grpSpPr>
            <p:sp>
              <p:nvSpPr>
                <p:cNvPr id="57" name="テキスト ボックス 56">
                  <a:extLst>
                    <a:ext uri="{FF2B5EF4-FFF2-40B4-BE49-F238E27FC236}">
                      <a16:creationId xmlns:a16="http://schemas.microsoft.com/office/drawing/2014/main" id="{EDE2BA74-62FF-26B3-A8D5-4E6AD65003C8}"/>
                    </a:ext>
                  </a:extLst>
                </p:cNvPr>
                <p:cNvSpPr txBox="1"/>
                <p:nvPr/>
              </p:nvSpPr>
              <p:spPr>
                <a:xfrm>
                  <a:off x="3205375" y="2984396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2025-03</a:t>
                  </a:r>
                </a:p>
              </p:txBody>
            </p:sp>
            <p:sp>
              <p:nvSpPr>
                <p:cNvPr id="58" name="フリーフォーム: 図形 57">
                  <a:extLst>
                    <a:ext uri="{FF2B5EF4-FFF2-40B4-BE49-F238E27FC236}">
                      <a16:creationId xmlns:a16="http://schemas.microsoft.com/office/drawing/2014/main" id="{FBE827F3-132F-23D9-969A-67614AFB0B39}"/>
                    </a:ext>
                  </a:extLst>
                </p:cNvPr>
                <p:cNvSpPr/>
                <p:nvPr/>
              </p:nvSpPr>
              <p:spPr>
                <a:xfrm>
                  <a:off x="4556448" y="3023118"/>
                  <a:ext cx="979714" cy="153955"/>
                </a:xfrm>
                <a:custGeom>
                  <a:avLst/>
                  <a:gdLst>
                    <a:gd name="connsiteX0" fmla="*/ 310 w 979714"/>
                    <a:gd name="connsiteY0" fmla="*/ 424 h 153955"/>
                    <a:gd name="connsiteX1" fmla="*/ 980024 w 979714"/>
                    <a:gd name="connsiteY1" fmla="*/ 424 h 153955"/>
                    <a:gd name="connsiteX2" fmla="*/ 980024 w 979714"/>
                    <a:gd name="connsiteY2" fmla="*/ 154379 h 153955"/>
                    <a:gd name="connsiteX3" fmla="*/ 310 w 979714"/>
                    <a:gd name="connsiteY3" fmla="*/ 1543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9714" h="153955">
                      <a:moveTo>
                        <a:pt x="310" y="424"/>
                      </a:moveTo>
                      <a:lnTo>
                        <a:pt x="980024" y="424"/>
                      </a:lnTo>
                      <a:lnTo>
                        <a:pt x="980024" y="154379"/>
                      </a:lnTo>
                      <a:lnTo>
                        <a:pt x="310" y="1543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59" name="テキスト ボックス 58">
                  <a:extLst>
                    <a:ext uri="{FF2B5EF4-FFF2-40B4-BE49-F238E27FC236}">
                      <a16:creationId xmlns:a16="http://schemas.microsoft.com/office/drawing/2014/main" id="{8136719D-B15D-AFC5-6111-8F5DCDBAB3F2}"/>
                    </a:ext>
                  </a:extLst>
                </p:cNvPr>
                <p:cNvSpPr txBox="1"/>
                <p:nvPr/>
              </p:nvSpPr>
              <p:spPr>
                <a:xfrm>
                  <a:off x="4534988" y="3012388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6,980.0</a:t>
                  </a:r>
                </a:p>
              </p:txBody>
            </p:sp>
            <p:sp>
              <p:nvSpPr>
                <p:cNvPr id="60" name="フリーフォーム: 図形 59">
                  <a:extLst>
                    <a:ext uri="{FF2B5EF4-FFF2-40B4-BE49-F238E27FC236}">
                      <a16:creationId xmlns:a16="http://schemas.microsoft.com/office/drawing/2014/main" id="{0D0B211F-B664-CF81-6778-D8D95EEE2BEC}"/>
                    </a:ext>
                  </a:extLst>
                </p:cNvPr>
                <p:cNvSpPr/>
                <p:nvPr/>
              </p:nvSpPr>
              <p:spPr>
                <a:xfrm>
                  <a:off x="5816081" y="3023118"/>
                  <a:ext cx="1119673" cy="153955"/>
                </a:xfrm>
                <a:custGeom>
                  <a:avLst/>
                  <a:gdLst>
                    <a:gd name="connsiteX0" fmla="*/ 310 w 1119673"/>
                    <a:gd name="connsiteY0" fmla="*/ 424 h 153955"/>
                    <a:gd name="connsiteX1" fmla="*/ 1119984 w 1119673"/>
                    <a:gd name="connsiteY1" fmla="*/ 424 h 153955"/>
                    <a:gd name="connsiteX2" fmla="*/ 1119984 w 1119673"/>
                    <a:gd name="connsiteY2" fmla="*/ 154379 h 153955"/>
                    <a:gd name="connsiteX3" fmla="*/ 310 w 1119673"/>
                    <a:gd name="connsiteY3" fmla="*/ 1543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9673" h="153955">
                      <a:moveTo>
                        <a:pt x="310" y="424"/>
                      </a:moveTo>
                      <a:lnTo>
                        <a:pt x="1119984" y="424"/>
                      </a:lnTo>
                      <a:lnTo>
                        <a:pt x="1119984" y="154379"/>
                      </a:lnTo>
                      <a:lnTo>
                        <a:pt x="310" y="1543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61" name="フリーフォーム: 図形 60">
                  <a:extLst>
                    <a:ext uri="{FF2B5EF4-FFF2-40B4-BE49-F238E27FC236}">
                      <a16:creationId xmlns:a16="http://schemas.microsoft.com/office/drawing/2014/main" id="{9A6BBF6D-F38C-10FE-7AD6-2EC9A279AEB7}"/>
                    </a:ext>
                  </a:extLst>
                </p:cNvPr>
                <p:cNvSpPr/>
                <p:nvPr/>
              </p:nvSpPr>
              <p:spPr>
                <a:xfrm>
                  <a:off x="7425611" y="3023118"/>
                  <a:ext cx="1539550" cy="153955"/>
                </a:xfrm>
                <a:custGeom>
                  <a:avLst/>
                  <a:gdLst>
                    <a:gd name="connsiteX0" fmla="*/ 310 w 1539550"/>
                    <a:gd name="connsiteY0" fmla="*/ 424 h 153955"/>
                    <a:gd name="connsiteX1" fmla="*/ 1539861 w 1539550"/>
                    <a:gd name="connsiteY1" fmla="*/ 424 h 153955"/>
                    <a:gd name="connsiteX2" fmla="*/ 1539861 w 1539550"/>
                    <a:gd name="connsiteY2" fmla="*/ 154379 h 153955"/>
                    <a:gd name="connsiteX3" fmla="*/ 310 w 1539550"/>
                    <a:gd name="connsiteY3" fmla="*/ 1543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550" h="153955">
                      <a:moveTo>
                        <a:pt x="310" y="424"/>
                      </a:moveTo>
                      <a:lnTo>
                        <a:pt x="1539861" y="424"/>
                      </a:lnTo>
                      <a:lnTo>
                        <a:pt x="1539861" y="154379"/>
                      </a:lnTo>
                      <a:lnTo>
                        <a:pt x="310" y="1543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62" name="フリーフォーム: 図形 61">
                  <a:extLst>
                    <a:ext uri="{FF2B5EF4-FFF2-40B4-BE49-F238E27FC236}">
                      <a16:creationId xmlns:a16="http://schemas.microsoft.com/office/drawing/2014/main" id="{8D29F5A5-56BE-0ECF-A288-4BFE3F2DD311}"/>
                    </a:ext>
                  </a:extLst>
                </p:cNvPr>
                <p:cNvSpPr/>
                <p:nvPr/>
              </p:nvSpPr>
              <p:spPr>
                <a:xfrm>
                  <a:off x="9524999" y="3023118"/>
                  <a:ext cx="769775" cy="153955"/>
                </a:xfrm>
                <a:custGeom>
                  <a:avLst/>
                  <a:gdLst>
                    <a:gd name="connsiteX0" fmla="*/ 310 w 769775"/>
                    <a:gd name="connsiteY0" fmla="*/ 424 h 153955"/>
                    <a:gd name="connsiteX1" fmla="*/ 770086 w 769775"/>
                    <a:gd name="connsiteY1" fmla="*/ 424 h 153955"/>
                    <a:gd name="connsiteX2" fmla="*/ 770086 w 769775"/>
                    <a:gd name="connsiteY2" fmla="*/ 154379 h 153955"/>
                    <a:gd name="connsiteX3" fmla="*/ 310 w 769775"/>
                    <a:gd name="connsiteY3" fmla="*/ 1543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9775" h="153955">
                      <a:moveTo>
                        <a:pt x="310" y="424"/>
                      </a:moveTo>
                      <a:lnTo>
                        <a:pt x="770086" y="424"/>
                      </a:lnTo>
                      <a:lnTo>
                        <a:pt x="770086" y="154379"/>
                      </a:lnTo>
                      <a:lnTo>
                        <a:pt x="310" y="154379"/>
                      </a:lnTo>
                      <a:close/>
                    </a:path>
                  </a:pathLst>
                </a:custGeom>
                <a:solidFill>
                  <a:srgbClr val="E2E8F0"/>
                </a:solidFill>
                <a:ln w="69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F065945-E184-CBAE-A122-B19E913721C1}"/>
                    </a:ext>
                  </a:extLst>
                </p:cNvPr>
                <p:cNvSpPr txBox="1"/>
                <p:nvPr/>
              </p:nvSpPr>
              <p:spPr>
                <a:xfrm>
                  <a:off x="9776459" y="3012388"/>
                  <a:ext cx="235962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334155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—</a:t>
                  </a:r>
                </a:p>
              </p:txBody>
            </p:sp>
          </p:grpSp>
          <p:grpSp>
            <p:nvGrpSpPr>
              <p:cNvPr id="64" name="グラフィックス 4">
                <a:extLst>
                  <a:ext uri="{FF2B5EF4-FFF2-40B4-BE49-F238E27FC236}">
                    <a16:creationId xmlns:a16="http://schemas.microsoft.com/office/drawing/2014/main" id="{F7D96646-35D3-B755-058C-208973C476FA}"/>
                  </a:ext>
                </a:extLst>
              </p:cNvPr>
              <p:cNvGrpSpPr/>
              <p:nvPr/>
            </p:nvGrpSpPr>
            <p:grpSpPr>
              <a:xfrm>
                <a:off x="3205375" y="3264314"/>
                <a:ext cx="7089399" cy="243436"/>
                <a:chOff x="3205375" y="3264314"/>
                <a:chExt cx="7089399" cy="243436"/>
              </a:xfrm>
            </p:grpSpPr>
            <p:sp>
              <p:nvSpPr>
                <p:cNvPr id="65" name="テキスト ボックス 64">
                  <a:extLst>
                    <a:ext uri="{FF2B5EF4-FFF2-40B4-BE49-F238E27FC236}">
                      <a16:creationId xmlns:a16="http://schemas.microsoft.com/office/drawing/2014/main" id="{07E60BFB-311B-9BB4-05B6-481249C6C960}"/>
                    </a:ext>
                  </a:extLst>
                </p:cNvPr>
                <p:cNvSpPr txBox="1"/>
                <p:nvPr/>
              </p:nvSpPr>
              <p:spPr>
                <a:xfrm>
                  <a:off x="3205375" y="3264314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2025-04</a:t>
                  </a:r>
                </a:p>
              </p:txBody>
            </p:sp>
            <p:sp>
              <p:nvSpPr>
                <p:cNvPr id="66" name="フリーフォーム: 図形 65">
                  <a:extLst>
                    <a:ext uri="{FF2B5EF4-FFF2-40B4-BE49-F238E27FC236}">
                      <a16:creationId xmlns:a16="http://schemas.microsoft.com/office/drawing/2014/main" id="{DF0B8483-5D0F-AAA3-347E-92D36FADC282}"/>
                    </a:ext>
                  </a:extLst>
                </p:cNvPr>
                <p:cNvSpPr/>
                <p:nvPr/>
              </p:nvSpPr>
              <p:spPr>
                <a:xfrm>
                  <a:off x="4556448" y="3303036"/>
                  <a:ext cx="979714" cy="153955"/>
                </a:xfrm>
                <a:custGeom>
                  <a:avLst/>
                  <a:gdLst>
                    <a:gd name="connsiteX0" fmla="*/ 310 w 979714"/>
                    <a:gd name="connsiteY0" fmla="*/ 464 h 153955"/>
                    <a:gd name="connsiteX1" fmla="*/ 980024 w 979714"/>
                    <a:gd name="connsiteY1" fmla="*/ 464 h 153955"/>
                    <a:gd name="connsiteX2" fmla="*/ 980024 w 979714"/>
                    <a:gd name="connsiteY2" fmla="*/ 154419 h 153955"/>
                    <a:gd name="connsiteX3" fmla="*/ 310 w 979714"/>
                    <a:gd name="connsiteY3" fmla="*/ 15441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9714" h="153955">
                      <a:moveTo>
                        <a:pt x="310" y="464"/>
                      </a:moveTo>
                      <a:lnTo>
                        <a:pt x="980024" y="464"/>
                      </a:lnTo>
                      <a:lnTo>
                        <a:pt x="980024" y="154419"/>
                      </a:lnTo>
                      <a:lnTo>
                        <a:pt x="310" y="1544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9585BC43-D167-CE20-97D7-9C3B7A051468}"/>
                    </a:ext>
                  </a:extLst>
                </p:cNvPr>
                <p:cNvSpPr txBox="1"/>
                <p:nvPr/>
              </p:nvSpPr>
              <p:spPr>
                <a:xfrm>
                  <a:off x="4534988" y="3292306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7,050.0</a:t>
                  </a:r>
                </a:p>
              </p:txBody>
            </p:sp>
            <p:sp>
              <p:nvSpPr>
                <p:cNvPr id="68" name="フリーフォーム: 図形 67">
                  <a:extLst>
                    <a:ext uri="{FF2B5EF4-FFF2-40B4-BE49-F238E27FC236}">
                      <a16:creationId xmlns:a16="http://schemas.microsoft.com/office/drawing/2014/main" id="{74B5765E-F0CA-F4FB-4B1F-C4FC45B0C01C}"/>
                    </a:ext>
                  </a:extLst>
                </p:cNvPr>
                <p:cNvSpPr/>
                <p:nvPr/>
              </p:nvSpPr>
              <p:spPr>
                <a:xfrm>
                  <a:off x="5816081" y="3303036"/>
                  <a:ext cx="1119673" cy="153955"/>
                </a:xfrm>
                <a:custGeom>
                  <a:avLst/>
                  <a:gdLst>
                    <a:gd name="connsiteX0" fmla="*/ 310 w 1119673"/>
                    <a:gd name="connsiteY0" fmla="*/ 464 h 153955"/>
                    <a:gd name="connsiteX1" fmla="*/ 1119984 w 1119673"/>
                    <a:gd name="connsiteY1" fmla="*/ 464 h 153955"/>
                    <a:gd name="connsiteX2" fmla="*/ 1119984 w 1119673"/>
                    <a:gd name="connsiteY2" fmla="*/ 154419 h 153955"/>
                    <a:gd name="connsiteX3" fmla="*/ 310 w 1119673"/>
                    <a:gd name="connsiteY3" fmla="*/ 15441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9673" h="153955">
                      <a:moveTo>
                        <a:pt x="310" y="464"/>
                      </a:moveTo>
                      <a:lnTo>
                        <a:pt x="1119984" y="464"/>
                      </a:lnTo>
                      <a:lnTo>
                        <a:pt x="1119984" y="154419"/>
                      </a:lnTo>
                      <a:lnTo>
                        <a:pt x="310" y="1544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69" name="フリーフォーム: 図形 68">
                  <a:extLst>
                    <a:ext uri="{FF2B5EF4-FFF2-40B4-BE49-F238E27FC236}">
                      <a16:creationId xmlns:a16="http://schemas.microsoft.com/office/drawing/2014/main" id="{C0FDF52F-8C4A-0E14-4F21-67419095142D}"/>
                    </a:ext>
                  </a:extLst>
                </p:cNvPr>
                <p:cNvSpPr/>
                <p:nvPr/>
              </p:nvSpPr>
              <p:spPr>
                <a:xfrm>
                  <a:off x="7425611" y="3303036"/>
                  <a:ext cx="1539550" cy="153955"/>
                </a:xfrm>
                <a:custGeom>
                  <a:avLst/>
                  <a:gdLst>
                    <a:gd name="connsiteX0" fmla="*/ 310 w 1539550"/>
                    <a:gd name="connsiteY0" fmla="*/ 464 h 153955"/>
                    <a:gd name="connsiteX1" fmla="*/ 1539861 w 1539550"/>
                    <a:gd name="connsiteY1" fmla="*/ 464 h 153955"/>
                    <a:gd name="connsiteX2" fmla="*/ 1539861 w 1539550"/>
                    <a:gd name="connsiteY2" fmla="*/ 154419 h 153955"/>
                    <a:gd name="connsiteX3" fmla="*/ 310 w 1539550"/>
                    <a:gd name="connsiteY3" fmla="*/ 15441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550" h="153955">
                      <a:moveTo>
                        <a:pt x="310" y="464"/>
                      </a:moveTo>
                      <a:lnTo>
                        <a:pt x="1539861" y="464"/>
                      </a:lnTo>
                      <a:lnTo>
                        <a:pt x="1539861" y="154419"/>
                      </a:lnTo>
                      <a:lnTo>
                        <a:pt x="310" y="1544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70" name="フリーフォーム: 図形 69">
                  <a:extLst>
                    <a:ext uri="{FF2B5EF4-FFF2-40B4-BE49-F238E27FC236}">
                      <a16:creationId xmlns:a16="http://schemas.microsoft.com/office/drawing/2014/main" id="{E09089D0-92C7-FED8-B993-A47EDEF056FC}"/>
                    </a:ext>
                  </a:extLst>
                </p:cNvPr>
                <p:cNvSpPr/>
                <p:nvPr/>
              </p:nvSpPr>
              <p:spPr>
                <a:xfrm>
                  <a:off x="9524999" y="3303036"/>
                  <a:ext cx="769775" cy="153955"/>
                </a:xfrm>
                <a:custGeom>
                  <a:avLst/>
                  <a:gdLst>
                    <a:gd name="connsiteX0" fmla="*/ 310 w 769775"/>
                    <a:gd name="connsiteY0" fmla="*/ 464 h 153955"/>
                    <a:gd name="connsiteX1" fmla="*/ 770086 w 769775"/>
                    <a:gd name="connsiteY1" fmla="*/ 464 h 153955"/>
                    <a:gd name="connsiteX2" fmla="*/ 770086 w 769775"/>
                    <a:gd name="connsiteY2" fmla="*/ 154419 h 153955"/>
                    <a:gd name="connsiteX3" fmla="*/ 310 w 769775"/>
                    <a:gd name="connsiteY3" fmla="*/ 15441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9775" h="153955">
                      <a:moveTo>
                        <a:pt x="310" y="464"/>
                      </a:moveTo>
                      <a:lnTo>
                        <a:pt x="770086" y="464"/>
                      </a:lnTo>
                      <a:lnTo>
                        <a:pt x="770086" y="154419"/>
                      </a:lnTo>
                      <a:lnTo>
                        <a:pt x="310" y="154419"/>
                      </a:lnTo>
                      <a:close/>
                    </a:path>
                  </a:pathLst>
                </a:custGeom>
                <a:solidFill>
                  <a:srgbClr val="E2E8F0"/>
                </a:solidFill>
                <a:ln w="69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011F2CB-3F4D-E137-9B2B-D4F9B877AE36}"/>
                    </a:ext>
                  </a:extLst>
                </p:cNvPr>
                <p:cNvSpPr txBox="1"/>
                <p:nvPr/>
              </p:nvSpPr>
              <p:spPr>
                <a:xfrm>
                  <a:off x="9776459" y="3292306"/>
                  <a:ext cx="235962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334155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—</a:t>
                  </a:r>
                </a:p>
              </p:txBody>
            </p:sp>
          </p:grpSp>
          <p:grpSp>
            <p:nvGrpSpPr>
              <p:cNvPr id="72" name="グラフィックス 4">
                <a:extLst>
                  <a:ext uri="{FF2B5EF4-FFF2-40B4-BE49-F238E27FC236}">
                    <a16:creationId xmlns:a16="http://schemas.microsoft.com/office/drawing/2014/main" id="{06B6D153-14A3-1E20-C76D-3D07FA5A6219}"/>
                  </a:ext>
                </a:extLst>
              </p:cNvPr>
              <p:cNvGrpSpPr/>
              <p:nvPr/>
            </p:nvGrpSpPr>
            <p:grpSpPr>
              <a:xfrm>
                <a:off x="3205375" y="3544233"/>
                <a:ext cx="7089399" cy="243435"/>
                <a:chOff x="3205375" y="3544233"/>
                <a:chExt cx="7089399" cy="243435"/>
              </a:xfrm>
            </p:grpSpPr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60EEDB75-7D26-AC60-DA2A-E289AC74F102}"/>
                    </a:ext>
                  </a:extLst>
                </p:cNvPr>
                <p:cNvSpPr txBox="1"/>
                <p:nvPr/>
              </p:nvSpPr>
              <p:spPr>
                <a:xfrm>
                  <a:off x="3205375" y="3544233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2025-05</a:t>
                  </a:r>
                </a:p>
              </p:txBody>
            </p:sp>
            <p:sp>
              <p:nvSpPr>
                <p:cNvPr id="74" name="フリーフォーム: 図形 73">
                  <a:extLst>
                    <a:ext uri="{FF2B5EF4-FFF2-40B4-BE49-F238E27FC236}">
                      <a16:creationId xmlns:a16="http://schemas.microsoft.com/office/drawing/2014/main" id="{306CE96C-EC1D-D941-1381-46B98FDC6D62}"/>
                    </a:ext>
                  </a:extLst>
                </p:cNvPr>
                <p:cNvSpPr/>
                <p:nvPr/>
              </p:nvSpPr>
              <p:spPr>
                <a:xfrm>
                  <a:off x="4556448" y="3582955"/>
                  <a:ext cx="979714" cy="153955"/>
                </a:xfrm>
                <a:custGeom>
                  <a:avLst/>
                  <a:gdLst>
                    <a:gd name="connsiteX0" fmla="*/ 310 w 979714"/>
                    <a:gd name="connsiteY0" fmla="*/ 504 h 153955"/>
                    <a:gd name="connsiteX1" fmla="*/ 980024 w 979714"/>
                    <a:gd name="connsiteY1" fmla="*/ 504 h 153955"/>
                    <a:gd name="connsiteX2" fmla="*/ 980024 w 979714"/>
                    <a:gd name="connsiteY2" fmla="*/ 154459 h 153955"/>
                    <a:gd name="connsiteX3" fmla="*/ 310 w 979714"/>
                    <a:gd name="connsiteY3" fmla="*/ 15445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9714" h="153955">
                      <a:moveTo>
                        <a:pt x="310" y="504"/>
                      </a:moveTo>
                      <a:lnTo>
                        <a:pt x="980024" y="504"/>
                      </a:lnTo>
                      <a:lnTo>
                        <a:pt x="980024" y="154459"/>
                      </a:lnTo>
                      <a:lnTo>
                        <a:pt x="310" y="1544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3D799A84-BE1C-84C4-AE66-A8A73512C4D8}"/>
                    </a:ext>
                  </a:extLst>
                </p:cNvPr>
                <p:cNvSpPr txBox="1"/>
                <p:nvPr/>
              </p:nvSpPr>
              <p:spPr>
                <a:xfrm>
                  <a:off x="4534988" y="3572224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7,110.0</a:t>
                  </a:r>
                </a:p>
              </p:txBody>
            </p:sp>
            <p:sp>
              <p:nvSpPr>
                <p:cNvPr id="76" name="フリーフォーム: 図形 75">
                  <a:extLst>
                    <a:ext uri="{FF2B5EF4-FFF2-40B4-BE49-F238E27FC236}">
                      <a16:creationId xmlns:a16="http://schemas.microsoft.com/office/drawing/2014/main" id="{FEA96A65-91A8-B63C-C273-B9EB748606D5}"/>
                    </a:ext>
                  </a:extLst>
                </p:cNvPr>
                <p:cNvSpPr/>
                <p:nvPr/>
              </p:nvSpPr>
              <p:spPr>
                <a:xfrm>
                  <a:off x="5816081" y="3582955"/>
                  <a:ext cx="1119673" cy="153955"/>
                </a:xfrm>
                <a:custGeom>
                  <a:avLst/>
                  <a:gdLst>
                    <a:gd name="connsiteX0" fmla="*/ 310 w 1119673"/>
                    <a:gd name="connsiteY0" fmla="*/ 504 h 153955"/>
                    <a:gd name="connsiteX1" fmla="*/ 1119984 w 1119673"/>
                    <a:gd name="connsiteY1" fmla="*/ 504 h 153955"/>
                    <a:gd name="connsiteX2" fmla="*/ 1119984 w 1119673"/>
                    <a:gd name="connsiteY2" fmla="*/ 154459 h 153955"/>
                    <a:gd name="connsiteX3" fmla="*/ 310 w 1119673"/>
                    <a:gd name="connsiteY3" fmla="*/ 15445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9673" h="153955">
                      <a:moveTo>
                        <a:pt x="310" y="504"/>
                      </a:moveTo>
                      <a:lnTo>
                        <a:pt x="1119984" y="504"/>
                      </a:lnTo>
                      <a:lnTo>
                        <a:pt x="1119984" y="154459"/>
                      </a:lnTo>
                      <a:lnTo>
                        <a:pt x="310" y="1544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77" name="フリーフォーム: 図形 76">
                  <a:extLst>
                    <a:ext uri="{FF2B5EF4-FFF2-40B4-BE49-F238E27FC236}">
                      <a16:creationId xmlns:a16="http://schemas.microsoft.com/office/drawing/2014/main" id="{E7808BFF-A726-4527-1894-A726C346DC8B}"/>
                    </a:ext>
                  </a:extLst>
                </p:cNvPr>
                <p:cNvSpPr/>
                <p:nvPr/>
              </p:nvSpPr>
              <p:spPr>
                <a:xfrm>
                  <a:off x="7425611" y="3582955"/>
                  <a:ext cx="1539550" cy="153955"/>
                </a:xfrm>
                <a:custGeom>
                  <a:avLst/>
                  <a:gdLst>
                    <a:gd name="connsiteX0" fmla="*/ 310 w 1539550"/>
                    <a:gd name="connsiteY0" fmla="*/ 504 h 153955"/>
                    <a:gd name="connsiteX1" fmla="*/ 1539861 w 1539550"/>
                    <a:gd name="connsiteY1" fmla="*/ 504 h 153955"/>
                    <a:gd name="connsiteX2" fmla="*/ 1539861 w 1539550"/>
                    <a:gd name="connsiteY2" fmla="*/ 154459 h 153955"/>
                    <a:gd name="connsiteX3" fmla="*/ 310 w 1539550"/>
                    <a:gd name="connsiteY3" fmla="*/ 15445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550" h="153955">
                      <a:moveTo>
                        <a:pt x="310" y="504"/>
                      </a:moveTo>
                      <a:lnTo>
                        <a:pt x="1539861" y="504"/>
                      </a:lnTo>
                      <a:lnTo>
                        <a:pt x="1539861" y="154459"/>
                      </a:lnTo>
                      <a:lnTo>
                        <a:pt x="310" y="1544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78" name="フリーフォーム: 図形 77">
                  <a:extLst>
                    <a:ext uri="{FF2B5EF4-FFF2-40B4-BE49-F238E27FC236}">
                      <a16:creationId xmlns:a16="http://schemas.microsoft.com/office/drawing/2014/main" id="{8383841A-7A49-B816-625C-D0F9EB4DED36}"/>
                    </a:ext>
                  </a:extLst>
                </p:cNvPr>
                <p:cNvSpPr/>
                <p:nvPr/>
              </p:nvSpPr>
              <p:spPr>
                <a:xfrm>
                  <a:off x="9524999" y="3582955"/>
                  <a:ext cx="769775" cy="153955"/>
                </a:xfrm>
                <a:custGeom>
                  <a:avLst/>
                  <a:gdLst>
                    <a:gd name="connsiteX0" fmla="*/ 310 w 769775"/>
                    <a:gd name="connsiteY0" fmla="*/ 504 h 153955"/>
                    <a:gd name="connsiteX1" fmla="*/ 770086 w 769775"/>
                    <a:gd name="connsiteY1" fmla="*/ 504 h 153955"/>
                    <a:gd name="connsiteX2" fmla="*/ 770086 w 769775"/>
                    <a:gd name="connsiteY2" fmla="*/ 154459 h 153955"/>
                    <a:gd name="connsiteX3" fmla="*/ 310 w 769775"/>
                    <a:gd name="connsiteY3" fmla="*/ 15445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9775" h="153955">
                      <a:moveTo>
                        <a:pt x="310" y="504"/>
                      </a:moveTo>
                      <a:lnTo>
                        <a:pt x="770086" y="504"/>
                      </a:lnTo>
                      <a:lnTo>
                        <a:pt x="770086" y="154459"/>
                      </a:lnTo>
                      <a:lnTo>
                        <a:pt x="310" y="154459"/>
                      </a:lnTo>
                      <a:close/>
                    </a:path>
                  </a:pathLst>
                </a:custGeom>
                <a:solidFill>
                  <a:srgbClr val="E2E8F0"/>
                </a:solidFill>
                <a:ln w="69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79" name="テキスト ボックス 78">
                  <a:extLst>
                    <a:ext uri="{FF2B5EF4-FFF2-40B4-BE49-F238E27FC236}">
                      <a16:creationId xmlns:a16="http://schemas.microsoft.com/office/drawing/2014/main" id="{DAA9BB2D-4F8E-D162-4D43-5048E1DDDE03}"/>
                    </a:ext>
                  </a:extLst>
                </p:cNvPr>
                <p:cNvSpPr txBox="1"/>
                <p:nvPr/>
              </p:nvSpPr>
              <p:spPr>
                <a:xfrm>
                  <a:off x="9776459" y="3572224"/>
                  <a:ext cx="235962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334155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—</a:t>
                  </a:r>
                </a:p>
              </p:txBody>
            </p:sp>
          </p:grpSp>
          <p:grpSp>
            <p:nvGrpSpPr>
              <p:cNvPr id="80" name="グラフィックス 4">
                <a:extLst>
                  <a:ext uri="{FF2B5EF4-FFF2-40B4-BE49-F238E27FC236}">
                    <a16:creationId xmlns:a16="http://schemas.microsoft.com/office/drawing/2014/main" id="{9D745D8D-74C1-6D64-0704-B29C5A95632E}"/>
                  </a:ext>
                </a:extLst>
              </p:cNvPr>
              <p:cNvGrpSpPr/>
              <p:nvPr/>
            </p:nvGrpSpPr>
            <p:grpSpPr>
              <a:xfrm>
                <a:off x="3205375" y="3824151"/>
                <a:ext cx="7089399" cy="243436"/>
                <a:chOff x="3205375" y="3824151"/>
                <a:chExt cx="7089399" cy="243436"/>
              </a:xfrm>
            </p:grpSpPr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35667AED-5DFC-DCC2-5B24-02523D4DBC55}"/>
                    </a:ext>
                  </a:extLst>
                </p:cNvPr>
                <p:cNvSpPr txBox="1"/>
                <p:nvPr/>
              </p:nvSpPr>
              <p:spPr>
                <a:xfrm>
                  <a:off x="3205375" y="3824151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2025-06</a:t>
                  </a:r>
                </a:p>
              </p:txBody>
            </p:sp>
            <p:sp>
              <p:nvSpPr>
                <p:cNvPr id="82" name="フリーフォーム: 図形 81">
                  <a:extLst>
                    <a:ext uri="{FF2B5EF4-FFF2-40B4-BE49-F238E27FC236}">
                      <a16:creationId xmlns:a16="http://schemas.microsoft.com/office/drawing/2014/main" id="{652F4F32-C5DD-262B-25C7-9EDAE0C9D537}"/>
                    </a:ext>
                  </a:extLst>
                </p:cNvPr>
                <p:cNvSpPr/>
                <p:nvPr/>
              </p:nvSpPr>
              <p:spPr>
                <a:xfrm>
                  <a:off x="4556448" y="3862873"/>
                  <a:ext cx="979714" cy="153955"/>
                </a:xfrm>
                <a:custGeom>
                  <a:avLst/>
                  <a:gdLst>
                    <a:gd name="connsiteX0" fmla="*/ 310 w 979714"/>
                    <a:gd name="connsiteY0" fmla="*/ 544 h 153955"/>
                    <a:gd name="connsiteX1" fmla="*/ 980024 w 979714"/>
                    <a:gd name="connsiteY1" fmla="*/ 544 h 153955"/>
                    <a:gd name="connsiteX2" fmla="*/ 980024 w 979714"/>
                    <a:gd name="connsiteY2" fmla="*/ 154499 h 153955"/>
                    <a:gd name="connsiteX3" fmla="*/ 310 w 979714"/>
                    <a:gd name="connsiteY3" fmla="*/ 15449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9714" h="153955">
                      <a:moveTo>
                        <a:pt x="310" y="544"/>
                      </a:moveTo>
                      <a:lnTo>
                        <a:pt x="980024" y="544"/>
                      </a:lnTo>
                      <a:lnTo>
                        <a:pt x="980024" y="154499"/>
                      </a:lnTo>
                      <a:lnTo>
                        <a:pt x="310" y="1544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6641C074-9354-D950-C15A-6266CB7E247D}"/>
                    </a:ext>
                  </a:extLst>
                </p:cNvPr>
                <p:cNvSpPr txBox="1"/>
                <p:nvPr/>
              </p:nvSpPr>
              <p:spPr>
                <a:xfrm>
                  <a:off x="4534988" y="3852143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7,300.0</a:t>
                  </a:r>
                </a:p>
              </p:txBody>
            </p:sp>
            <p:sp>
              <p:nvSpPr>
                <p:cNvPr id="84" name="フリーフォーム: 図形 83">
                  <a:extLst>
                    <a:ext uri="{FF2B5EF4-FFF2-40B4-BE49-F238E27FC236}">
                      <a16:creationId xmlns:a16="http://schemas.microsoft.com/office/drawing/2014/main" id="{827D92A2-11A7-4434-A0C1-D2E7B1FE55A1}"/>
                    </a:ext>
                  </a:extLst>
                </p:cNvPr>
                <p:cNvSpPr/>
                <p:nvPr/>
              </p:nvSpPr>
              <p:spPr>
                <a:xfrm>
                  <a:off x="5816081" y="3862873"/>
                  <a:ext cx="1119673" cy="153955"/>
                </a:xfrm>
                <a:custGeom>
                  <a:avLst/>
                  <a:gdLst>
                    <a:gd name="connsiteX0" fmla="*/ 310 w 1119673"/>
                    <a:gd name="connsiteY0" fmla="*/ 544 h 153955"/>
                    <a:gd name="connsiteX1" fmla="*/ 1119984 w 1119673"/>
                    <a:gd name="connsiteY1" fmla="*/ 544 h 153955"/>
                    <a:gd name="connsiteX2" fmla="*/ 1119984 w 1119673"/>
                    <a:gd name="connsiteY2" fmla="*/ 154499 h 153955"/>
                    <a:gd name="connsiteX3" fmla="*/ 310 w 1119673"/>
                    <a:gd name="connsiteY3" fmla="*/ 15449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9673" h="153955">
                      <a:moveTo>
                        <a:pt x="310" y="544"/>
                      </a:moveTo>
                      <a:lnTo>
                        <a:pt x="1119984" y="544"/>
                      </a:lnTo>
                      <a:lnTo>
                        <a:pt x="1119984" y="154499"/>
                      </a:lnTo>
                      <a:lnTo>
                        <a:pt x="310" y="1544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85" name="フリーフォーム: 図形 84">
                  <a:extLst>
                    <a:ext uri="{FF2B5EF4-FFF2-40B4-BE49-F238E27FC236}">
                      <a16:creationId xmlns:a16="http://schemas.microsoft.com/office/drawing/2014/main" id="{E90FF9FF-E94D-5527-F5EF-77D92398FAB3}"/>
                    </a:ext>
                  </a:extLst>
                </p:cNvPr>
                <p:cNvSpPr/>
                <p:nvPr/>
              </p:nvSpPr>
              <p:spPr>
                <a:xfrm>
                  <a:off x="7425611" y="3862873"/>
                  <a:ext cx="1539550" cy="153955"/>
                </a:xfrm>
                <a:custGeom>
                  <a:avLst/>
                  <a:gdLst>
                    <a:gd name="connsiteX0" fmla="*/ 310 w 1539550"/>
                    <a:gd name="connsiteY0" fmla="*/ 544 h 153955"/>
                    <a:gd name="connsiteX1" fmla="*/ 1539861 w 1539550"/>
                    <a:gd name="connsiteY1" fmla="*/ 544 h 153955"/>
                    <a:gd name="connsiteX2" fmla="*/ 1539861 w 1539550"/>
                    <a:gd name="connsiteY2" fmla="*/ 154499 h 153955"/>
                    <a:gd name="connsiteX3" fmla="*/ 310 w 1539550"/>
                    <a:gd name="connsiteY3" fmla="*/ 15449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550" h="153955">
                      <a:moveTo>
                        <a:pt x="310" y="544"/>
                      </a:moveTo>
                      <a:lnTo>
                        <a:pt x="1539861" y="544"/>
                      </a:lnTo>
                      <a:lnTo>
                        <a:pt x="1539861" y="154499"/>
                      </a:lnTo>
                      <a:lnTo>
                        <a:pt x="310" y="1544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86" name="フリーフォーム: 図形 85">
                  <a:extLst>
                    <a:ext uri="{FF2B5EF4-FFF2-40B4-BE49-F238E27FC236}">
                      <a16:creationId xmlns:a16="http://schemas.microsoft.com/office/drawing/2014/main" id="{915F82CA-FF20-144F-C54D-D705A78A01A6}"/>
                    </a:ext>
                  </a:extLst>
                </p:cNvPr>
                <p:cNvSpPr/>
                <p:nvPr/>
              </p:nvSpPr>
              <p:spPr>
                <a:xfrm>
                  <a:off x="9524999" y="3862873"/>
                  <a:ext cx="769775" cy="153955"/>
                </a:xfrm>
                <a:custGeom>
                  <a:avLst/>
                  <a:gdLst>
                    <a:gd name="connsiteX0" fmla="*/ 310 w 769775"/>
                    <a:gd name="connsiteY0" fmla="*/ 544 h 153955"/>
                    <a:gd name="connsiteX1" fmla="*/ 770086 w 769775"/>
                    <a:gd name="connsiteY1" fmla="*/ 544 h 153955"/>
                    <a:gd name="connsiteX2" fmla="*/ 770086 w 769775"/>
                    <a:gd name="connsiteY2" fmla="*/ 154499 h 153955"/>
                    <a:gd name="connsiteX3" fmla="*/ 310 w 769775"/>
                    <a:gd name="connsiteY3" fmla="*/ 15449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9775" h="153955">
                      <a:moveTo>
                        <a:pt x="310" y="544"/>
                      </a:moveTo>
                      <a:lnTo>
                        <a:pt x="770086" y="544"/>
                      </a:lnTo>
                      <a:lnTo>
                        <a:pt x="770086" y="154499"/>
                      </a:lnTo>
                      <a:lnTo>
                        <a:pt x="310" y="154499"/>
                      </a:lnTo>
                      <a:close/>
                    </a:path>
                  </a:pathLst>
                </a:custGeom>
                <a:solidFill>
                  <a:srgbClr val="E2E8F0"/>
                </a:solidFill>
                <a:ln w="69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87" name="テキスト ボックス 86">
                  <a:extLst>
                    <a:ext uri="{FF2B5EF4-FFF2-40B4-BE49-F238E27FC236}">
                      <a16:creationId xmlns:a16="http://schemas.microsoft.com/office/drawing/2014/main" id="{5F6BCF4F-0E1D-9358-BE6E-856DA912E0BD}"/>
                    </a:ext>
                  </a:extLst>
                </p:cNvPr>
                <p:cNvSpPr txBox="1"/>
                <p:nvPr/>
              </p:nvSpPr>
              <p:spPr>
                <a:xfrm>
                  <a:off x="9776459" y="3852143"/>
                  <a:ext cx="235962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334155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—</a:t>
                  </a:r>
                </a:p>
              </p:txBody>
            </p:sp>
          </p:grpSp>
          <p:grpSp>
            <p:nvGrpSpPr>
              <p:cNvPr id="88" name="グラフィックス 4">
                <a:extLst>
                  <a:ext uri="{FF2B5EF4-FFF2-40B4-BE49-F238E27FC236}">
                    <a16:creationId xmlns:a16="http://schemas.microsoft.com/office/drawing/2014/main" id="{23A66D32-76D2-72BE-80E4-61E98377C22A}"/>
                  </a:ext>
                </a:extLst>
              </p:cNvPr>
              <p:cNvGrpSpPr/>
              <p:nvPr/>
            </p:nvGrpSpPr>
            <p:grpSpPr>
              <a:xfrm>
                <a:off x="3205375" y="4104069"/>
                <a:ext cx="7089399" cy="243436"/>
                <a:chOff x="3205375" y="4104069"/>
                <a:chExt cx="7089399" cy="243436"/>
              </a:xfrm>
            </p:grpSpPr>
            <p:sp>
              <p:nvSpPr>
                <p:cNvPr id="89" name="テキスト ボックス 88">
                  <a:extLst>
                    <a:ext uri="{FF2B5EF4-FFF2-40B4-BE49-F238E27FC236}">
                      <a16:creationId xmlns:a16="http://schemas.microsoft.com/office/drawing/2014/main" id="{EACB819B-FE5F-258D-0B4C-09BA5C1B93C3}"/>
                    </a:ext>
                  </a:extLst>
                </p:cNvPr>
                <p:cNvSpPr txBox="1"/>
                <p:nvPr/>
              </p:nvSpPr>
              <p:spPr>
                <a:xfrm>
                  <a:off x="3205375" y="4104069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2025-07</a:t>
                  </a:r>
                </a:p>
              </p:txBody>
            </p:sp>
            <p:sp>
              <p:nvSpPr>
                <p:cNvPr id="90" name="フリーフォーム: 図形 89">
                  <a:extLst>
                    <a:ext uri="{FF2B5EF4-FFF2-40B4-BE49-F238E27FC236}">
                      <a16:creationId xmlns:a16="http://schemas.microsoft.com/office/drawing/2014/main" id="{9AC09552-268D-B420-7C1F-FB9DADFA7B2A}"/>
                    </a:ext>
                  </a:extLst>
                </p:cNvPr>
                <p:cNvSpPr/>
                <p:nvPr/>
              </p:nvSpPr>
              <p:spPr>
                <a:xfrm>
                  <a:off x="4556448" y="4142791"/>
                  <a:ext cx="979714" cy="153955"/>
                </a:xfrm>
                <a:custGeom>
                  <a:avLst/>
                  <a:gdLst>
                    <a:gd name="connsiteX0" fmla="*/ 310 w 979714"/>
                    <a:gd name="connsiteY0" fmla="*/ 584 h 153955"/>
                    <a:gd name="connsiteX1" fmla="*/ 980024 w 979714"/>
                    <a:gd name="connsiteY1" fmla="*/ 584 h 153955"/>
                    <a:gd name="connsiteX2" fmla="*/ 980024 w 979714"/>
                    <a:gd name="connsiteY2" fmla="*/ 154539 h 153955"/>
                    <a:gd name="connsiteX3" fmla="*/ 310 w 979714"/>
                    <a:gd name="connsiteY3" fmla="*/ 15453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9714" h="153955">
                      <a:moveTo>
                        <a:pt x="310" y="584"/>
                      </a:moveTo>
                      <a:lnTo>
                        <a:pt x="980024" y="584"/>
                      </a:lnTo>
                      <a:lnTo>
                        <a:pt x="980024" y="154539"/>
                      </a:lnTo>
                      <a:lnTo>
                        <a:pt x="310" y="1545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91" name="テキスト ボックス 90">
                  <a:extLst>
                    <a:ext uri="{FF2B5EF4-FFF2-40B4-BE49-F238E27FC236}">
                      <a16:creationId xmlns:a16="http://schemas.microsoft.com/office/drawing/2014/main" id="{B9C8042B-5C82-D1C3-52FB-5C6E070F4BF1}"/>
                    </a:ext>
                  </a:extLst>
                </p:cNvPr>
                <p:cNvSpPr txBox="1"/>
                <p:nvPr/>
              </p:nvSpPr>
              <p:spPr>
                <a:xfrm>
                  <a:off x="4534988" y="4132061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7,400.0</a:t>
                  </a:r>
                </a:p>
              </p:txBody>
            </p:sp>
            <p:sp>
              <p:nvSpPr>
                <p:cNvPr id="92" name="フリーフォーム: 図形 91">
                  <a:extLst>
                    <a:ext uri="{FF2B5EF4-FFF2-40B4-BE49-F238E27FC236}">
                      <a16:creationId xmlns:a16="http://schemas.microsoft.com/office/drawing/2014/main" id="{3141582B-B693-8AE5-407B-5BF3463B08FB}"/>
                    </a:ext>
                  </a:extLst>
                </p:cNvPr>
                <p:cNvSpPr/>
                <p:nvPr/>
              </p:nvSpPr>
              <p:spPr>
                <a:xfrm>
                  <a:off x="5816081" y="4142791"/>
                  <a:ext cx="1119673" cy="153955"/>
                </a:xfrm>
                <a:custGeom>
                  <a:avLst/>
                  <a:gdLst>
                    <a:gd name="connsiteX0" fmla="*/ 310 w 1119673"/>
                    <a:gd name="connsiteY0" fmla="*/ 584 h 153955"/>
                    <a:gd name="connsiteX1" fmla="*/ 1119984 w 1119673"/>
                    <a:gd name="connsiteY1" fmla="*/ 584 h 153955"/>
                    <a:gd name="connsiteX2" fmla="*/ 1119984 w 1119673"/>
                    <a:gd name="connsiteY2" fmla="*/ 154539 h 153955"/>
                    <a:gd name="connsiteX3" fmla="*/ 310 w 1119673"/>
                    <a:gd name="connsiteY3" fmla="*/ 15453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9673" h="153955">
                      <a:moveTo>
                        <a:pt x="310" y="584"/>
                      </a:moveTo>
                      <a:lnTo>
                        <a:pt x="1119984" y="584"/>
                      </a:lnTo>
                      <a:lnTo>
                        <a:pt x="1119984" y="154539"/>
                      </a:lnTo>
                      <a:lnTo>
                        <a:pt x="310" y="1545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93" name="フリーフォーム: 図形 92">
                  <a:extLst>
                    <a:ext uri="{FF2B5EF4-FFF2-40B4-BE49-F238E27FC236}">
                      <a16:creationId xmlns:a16="http://schemas.microsoft.com/office/drawing/2014/main" id="{4D4C6418-0F73-3DCE-177E-6A0F331C7DDA}"/>
                    </a:ext>
                  </a:extLst>
                </p:cNvPr>
                <p:cNvSpPr/>
                <p:nvPr/>
              </p:nvSpPr>
              <p:spPr>
                <a:xfrm>
                  <a:off x="7425611" y="4142791"/>
                  <a:ext cx="1539550" cy="153955"/>
                </a:xfrm>
                <a:custGeom>
                  <a:avLst/>
                  <a:gdLst>
                    <a:gd name="connsiteX0" fmla="*/ 310 w 1539550"/>
                    <a:gd name="connsiteY0" fmla="*/ 584 h 153955"/>
                    <a:gd name="connsiteX1" fmla="*/ 1539861 w 1539550"/>
                    <a:gd name="connsiteY1" fmla="*/ 584 h 153955"/>
                    <a:gd name="connsiteX2" fmla="*/ 1539861 w 1539550"/>
                    <a:gd name="connsiteY2" fmla="*/ 154539 h 153955"/>
                    <a:gd name="connsiteX3" fmla="*/ 310 w 1539550"/>
                    <a:gd name="connsiteY3" fmla="*/ 15453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550" h="153955">
                      <a:moveTo>
                        <a:pt x="310" y="584"/>
                      </a:moveTo>
                      <a:lnTo>
                        <a:pt x="1539861" y="584"/>
                      </a:lnTo>
                      <a:lnTo>
                        <a:pt x="1539861" y="154539"/>
                      </a:lnTo>
                      <a:lnTo>
                        <a:pt x="310" y="1545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94" name="フリーフォーム: 図形 93">
                  <a:extLst>
                    <a:ext uri="{FF2B5EF4-FFF2-40B4-BE49-F238E27FC236}">
                      <a16:creationId xmlns:a16="http://schemas.microsoft.com/office/drawing/2014/main" id="{48D36676-E45F-6FA4-937E-9E067AED3D4C}"/>
                    </a:ext>
                  </a:extLst>
                </p:cNvPr>
                <p:cNvSpPr/>
                <p:nvPr/>
              </p:nvSpPr>
              <p:spPr>
                <a:xfrm>
                  <a:off x="9524999" y="4142791"/>
                  <a:ext cx="769775" cy="153955"/>
                </a:xfrm>
                <a:custGeom>
                  <a:avLst/>
                  <a:gdLst>
                    <a:gd name="connsiteX0" fmla="*/ 310 w 769775"/>
                    <a:gd name="connsiteY0" fmla="*/ 584 h 153955"/>
                    <a:gd name="connsiteX1" fmla="*/ 770086 w 769775"/>
                    <a:gd name="connsiteY1" fmla="*/ 584 h 153955"/>
                    <a:gd name="connsiteX2" fmla="*/ 770086 w 769775"/>
                    <a:gd name="connsiteY2" fmla="*/ 154539 h 153955"/>
                    <a:gd name="connsiteX3" fmla="*/ 310 w 769775"/>
                    <a:gd name="connsiteY3" fmla="*/ 15453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9775" h="153955">
                      <a:moveTo>
                        <a:pt x="310" y="584"/>
                      </a:moveTo>
                      <a:lnTo>
                        <a:pt x="770086" y="584"/>
                      </a:lnTo>
                      <a:lnTo>
                        <a:pt x="770086" y="154539"/>
                      </a:lnTo>
                      <a:lnTo>
                        <a:pt x="310" y="154539"/>
                      </a:lnTo>
                      <a:close/>
                    </a:path>
                  </a:pathLst>
                </a:custGeom>
                <a:solidFill>
                  <a:srgbClr val="E2E8F0"/>
                </a:solidFill>
                <a:ln w="69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95" name="テキスト ボックス 94">
                  <a:extLst>
                    <a:ext uri="{FF2B5EF4-FFF2-40B4-BE49-F238E27FC236}">
                      <a16:creationId xmlns:a16="http://schemas.microsoft.com/office/drawing/2014/main" id="{B460F7E7-7E59-B5A3-BCF7-58568A5B88BA}"/>
                    </a:ext>
                  </a:extLst>
                </p:cNvPr>
                <p:cNvSpPr txBox="1"/>
                <p:nvPr/>
              </p:nvSpPr>
              <p:spPr>
                <a:xfrm>
                  <a:off x="9776459" y="4132061"/>
                  <a:ext cx="235962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334155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—</a:t>
                  </a:r>
                </a:p>
              </p:txBody>
            </p:sp>
          </p:grpSp>
          <p:grpSp>
            <p:nvGrpSpPr>
              <p:cNvPr id="96" name="グラフィックス 4">
                <a:extLst>
                  <a:ext uri="{FF2B5EF4-FFF2-40B4-BE49-F238E27FC236}">
                    <a16:creationId xmlns:a16="http://schemas.microsoft.com/office/drawing/2014/main" id="{3D826074-538E-307F-96C2-DF3C05D52E7A}"/>
                  </a:ext>
                </a:extLst>
              </p:cNvPr>
              <p:cNvGrpSpPr/>
              <p:nvPr/>
            </p:nvGrpSpPr>
            <p:grpSpPr>
              <a:xfrm>
                <a:off x="3205375" y="4376556"/>
                <a:ext cx="7100760" cy="257865"/>
                <a:chOff x="3205375" y="4376556"/>
                <a:chExt cx="7100760" cy="257865"/>
              </a:xfrm>
            </p:grpSpPr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C9D8B14C-9E9D-3C57-6024-F93BAEAE5D82}"/>
                    </a:ext>
                  </a:extLst>
                </p:cNvPr>
                <p:cNvSpPr txBox="1"/>
                <p:nvPr/>
              </p:nvSpPr>
              <p:spPr>
                <a:xfrm>
                  <a:off x="3205375" y="4383988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2025-08</a:t>
                  </a:r>
                </a:p>
              </p:txBody>
            </p:sp>
            <p:sp>
              <p:nvSpPr>
                <p:cNvPr id="98" name="フリーフォーム: 図形 97">
                  <a:extLst>
                    <a:ext uri="{FF2B5EF4-FFF2-40B4-BE49-F238E27FC236}">
                      <a16:creationId xmlns:a16="http://schemas.microsoft.com/office/drawing/2014/main" id="{31D2BF94-C183-68F6-CE6A-20E97BC75690}"/>
                    </a:ext>
                  </a:extLst>
                </p:cNvPr>
                <p:cNvSpPr/>
                <p:nvPr/>
              </p:nvSpPr>
              <p:spPr>
                <a:xfrm>
                  <a:off x="4556448" y="4422710"/>
                  <a:ext cx="979714" cy="153955"/>
                </a:xfrm>
                <a:custGeom>
                  <a:avLst/>
                  <a:gdLst>
                    <a:gd name="connsiteX0" fmla="*/ 310 w 979714"/>
                    <a:gd name="connsiteY0" fmla="*/ 624 h 153955"/>
                    <a:gd name="connsiteX1" fmla="*/ 980024 w 979714"/>
                    <a:gd name="connsiteY1" fmla="*/ 624 h 153955"/>
                    <a:gd name="connsiteX2" fmla="*/ 980024 w 979714"/>
                    <a:gd name="connsiteY2" fmla="*/ 154579 h 153955"/>
                    <a:gd name="connsiteX3" fmla="*/ 310 w 979714"/>
                    <a:gd name="connsiteY3" fmla="*/ 1545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9714" h="153955">
                      <a:moveTo>
                        <a:pt x="310" y="624"/>
                      </a:moveTo>
                      <a:lnTo>
                        <a:pt x="980024" y="624"/>
                      </a:lnTo>
                      <a:lnTo>
                        <a:pt x="980024" y="154579"/>
                      </a:lnTo>
                      <a:lnTo>
                        <a:pt x="310" y="154579"/>
                      </a:lnTo>
                      <a:close/>
                    </a:path>
                  </a:pathLst>
                </a:custGeom>
                <a:solidFill>
                  <a:srgbClr val="F0FDF4"/>
                </a:solidFill>
                <a:ln w="6992" cap="flat">
                  <a:solidFill>
                    <a:srgbClr val="86EFAC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99" name="テキスト ボックス 98">
                  <a:extLst>
                    <a:ext uri="{FF2B5EF4-FFF2-40B4-BE49-F238E27FC236}">
                      <a16:creationId xmlns:a16="http://schemas.microsoft.com/office/drawing/2014/main" id="{FFBC3790-6D17-779A-72EC-6A300733F7E1}"/>
                    </a:ext>
                  </a:extLst>
                </p:cNvPr>
                <p:cNvSpPr txBox="1"/>
                <p:nvPr/>
              </p:nvSpPr>
              <p:spPr>
                <a:xfrm>
                  <a:off x="4534988" y="4411980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7,420.0</a:t>
                  </a:r>
                </a:p>
              </p:txBody>
            </p:sp>
            <p:sp>
              <p:nvSpPr>
                <p:cNvPr id="100" name="フリーフォーム: 図形 99">
                  <a:extLst>
                    <a:ext uri="{FF2B5EF4-FFF2-40B4-BE49-F238E27FC236}">
                      <a16:creationId xmlns:a16="http://schemas.microsoft.com/office/drawing/2014/main" id="{D4C69582-B0A9-73A2-97C6-0538FC617083}"/>
                    </a:ext>
                  </a:extLst>
                </p:cNvPr>
                <p:cNvSpPr/>
                <p:nvPr/>
              </p:nvSpPr>
              <p:spPr>
                <a:xfrm>
                  <a:off x="5816081" y="4422710"/>
                  <a:ext cx="1119673" cy="153955"/>
                </a:xfrm>
                <a:custGeom>
                  <a:avLst/>
                  <a:gdLst>
                    <a:gd name="connsiteX0" fmla="*/ 310 w 1119673"/>
                    <a:gd name="connsiteY0" fmla="*/ 624 h 153955"/>
                    <a:gd name="connsiteX1" fmla="*/ 1119984 w 1119673"/>
                    <a:gd name="connsiteY1" fmla="*/ 624 h 153955"/>
                    <a:gd name="connsiteX2" fmla="*/ 1119984 w 1119673"/>
                    <a:gd name="connsiteY2" fmla="*/ 154579 h 153955"/>
                    <a:gd name="connsiteX3" fmla="*/ 310 w 1119673"/>
                    <a:gd name="connsiteY3" fmla="*/ 1545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9673" h="153955">
                      <a:moveTo>
                        <a:pt x="310" y="624"/>
                      </a:moveTo>
                      <a:lnTo>
                        <a:pt x="1119984" y="624"/>
                      </a:lnTo>
                      <a:lnTo>
                        <a:pt x="1119984" y="154579"/>
                      </a:lnTo>
                      <a:lnTo>
                        <a:pt x="310" y="154579"/>
                      </a:lnTo>
                      <a:close/>
                    </a:path>
                  </a:pathLst>
                </a:custGeom>
                <a:solidFill>
                  <a:srgbClr val="FFF7ED"/>
                </a:solidFill>
                <a:ln w="6992" cap="flat">
                  <a:solidFill>
                    <a:srgbClr val="FDBA7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101" name="テキスト ボックス 100">
                  <a:extLst>
                    <a:ext uri="{FF2B5EF4-FFF2-40B4-BE49-F238E27FC236}">
                      <a16:creationId xmlns:a16="http://schemas.microsoft.com/office/drawing/2014/main" id="{275C5EBC-1A30-FD0A-7E03-0F6C84275EDC}"/>
                    </a:ext>
                  </a:extLst>
                </p:cNvPr>
                <p:cNvSpPr txBox="1"/>
                <p:nvPr/>
              </p:nvSpPr>
              <p:spPr>
                <a:xfrm>
                  <a:off x="5794620" y="4411980"/>
                  <a:ext cx="54373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cs typeface="Arial"/>
                      <a:sym typeface="Arial"/>
                      <a:rtl val="0"/>
                    </a:rPr>
                    <a:t>7,418.0</a:t>
                  </a:r>
                </a:p>
              </p:txBody>
            </p:sp>
            <p:sp>
              <p:nvSpPr>
                <p:cNvPr id="102" name="フリーフォーム: 図形 101">
                  <a:extLst>
                    <a:ext uri="{FF2B5EF4-FFF2-40B4-BE49-F238E27FC236}">
                      <a16:creationId xmlns:a16="http://schemas.microsoft.com/office/drawing/2014/main" id="{C849E6F5-3E03-728C-E719-A0A53C08698E}"/>
                    </a:ext>
                  </a:extLst>
                </p:cNvPr>
                <p:cNvSpPr/>
                <p:nvPr/>
              </p:nvSpPr>
              <p:spPr>
                <a:xfrm>
                  <a:off x="7425611" y="4422710"/>
                  <a:ext cx="1539550" cy="153955"/>
                </a:xfrm>
                <a:custGeom>
                  <a:avLst/>
                  <a:gdLst>
                    <a:gd name="connsiteX0" fmla="*/ 310 w 1539550"/>
                    <a:gd name="connsiteY0" fmla="*/ 624 h 153955"/>
                    <a:gd name="connsiteX1" fmla="*/ 1539861 w 1539550"/>
                    <a:gd name="connsiteY1" fmla="*/ 624 h 153955"/>
                    <a:gd name="connsiteX2" fmla="*/ 1539861 w 1539550"/>
                    <a:gd name="connsiteY2" fmla="*/ 154579 h 153955"/>
                    <a:gd name="connsiteX3" fmla="*/ 310 w 1539550"/>
                    <a:gd name="connsiteY3" fmla="*/ 1545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9550" h="153955">
                      <a:moveTo>
                        <a:pt x="310" y="624"/>
                      </a:moveTo>
                      <a:lnTo>
                        <a:pt x="1539861" y="624"/>
                      </a:lnTo>
                      <a:lnTo>
                        <a:pt x="1539861" y="154579"/>
                      </a:lnTo>
                      <a:lnTo>
                        <a:pt x="310" y="154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992" cap="flat">
                  <a:solidFill>
                    <a:srgbClr val="CBD5E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103" name="テキスト ボックス 102">
                  <a:extLst>
                    <a:ext uri="{FF2B5EF4-FFF2-40B4-BE49-F238E27FC236}">
                      <a16:creationId xmlns:a16="http://schemas.microsoft.com/office/drawing/2014/main" id="{A9D4C3F1-24CF-5484-A2C6-459C869EDE2C}"/>
                    </a:ext>
                  </a:extLst>
                </p:cNvPr>
                <p:cNvSpPr txBox="1"/>
                <p:nvPr/>
              </p:nvSpPr>
              <p:spPr>
                <a:xfrm>
                  <a:off x="7474130" y="4376556"/>
                  <a:ext cx="697627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dirty="0">
                      <a:ln/>
                      <a:solidFill>
                        <a:srgbClr val="0F172A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sym typeface="ＭＳ ゴシック"/>
                      <a:rtl val="0"/>
                    </a:rPr>
                    <a:t>○○のため</a:t>
                  </a:r>
                  <a:endParaRPr lang="ja-JP" altLang="en-US" sz="800" spc="0" baseline="0" dirty="0">
                    <a:ln/>
                    <a:solidFill>
                      <a:srgbClr val="0F172A"/>
                    </a:solidFill>
                    <a:latin typeface="BIZ UDゴシック" panose="020B0400000000000000" pitchFamily="49" charset="-128"/>
                    <a:ea typeface="BIZ UDゴシック" panose="020B0400000000000000" pitchFamily="49" charset="-128"/>
                    <a:sym typeface="ＭＳ ゴシック"/>
                    <a:rtl val="0"/>
                  </a:endParaRPr>
                </a:p>
              </p:txBody>
            </p:sp>
            <p:sp>
              <p:nvSpPr>
                <p:cNvPr id="104" name="フリーフォーム: 図形 103">
                  <a:extLst>
                    <a:ext uri="{FF2B5EF4-FFF2-40B4-BE49-F238E27FC236}">
                      <a16:creationId xmlns:a16="http://schemas.microsoft.com/office/drawing/2014/main" id="{718DCF77-18F0-8DD7-18F7-7D624E480BA5}"/>
                    </a:ext>
                  </a:extLst>
                </p:cNvPr>
                <p:cNvSpPr/>
                <p:nvPr/>
              </p:nvSpPr>
              <p:spPr>
                <a:xfrm>
                  <a:off x="9524999" y="4422710"/>
                  <a:ext cx="769775" cy="153955"/>
                </a:xfrm>
                <a:custGeom>
                  <a:avLst/>
                  <a:gdLst>
                    <a:gd name="connsiteX0" fmla="*/ 310 w 769775"/>
                    <a:gd name="connsiteY0" fmla="*/ 624 h 153955"/>
                    <a:gd name="connsiteX1" fmla="*/ 770086 w 769775"/>
                    <a:gd name="connsiteY1" fmla="*/ 624 h 153955"/>
                    <a:gd name="connsiteX2" fmla="*/ 770086 w 769775"/>
                    <a:gd name="connsiteY2" fmla="*/ 154579 h 153955"/>
                    <a:gd name="connsiteX3" fmla="*/ 310 w 769775"/>
                    <a:gd name="connsiteY3" fmla="*/ 154579 h 153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9775" h="153955">
                      <a:moveTo>
                        <a:pt x="310" y="624"/>
                      </a:moveTo>
                      <a:lnTo>
                        <a:pt x="770086" y="624"/>
                      </a:lnTo>
                      <a:lnTo>
                        <a:pt x="770086" y="154579"/>
                      </a:lnTo>
                      <a:lnTo>
                        <a:pt x="310" y="154579"/>
                      </a:lnTo>
                      <a:close/>
                    </a:path>
                  </a:pathLst>
                </a:custGeom>
                <a:solidFill>
                  <a:srgbClr val="E2E8F0"/>
                </a:solidFill>
                <a:ln w="69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600">
                    <a:latin typeface="BIZ UDゴシック" panose="020B0400000000000000" pitchFamily="49" charset="-128"/>
                    <a:ea typeface="BIZ UDゴシック" panose="020B0400000000000000" pitchFamily="49" charset="-128"/>
                  </a:endParaRPr>
                </a:p>
              </p:txBody>
            </p:sp>
            <p:sp>
              <p:nvSpPr>
                <p:cNvPr id="105" name="テキスト ボックス 104">
                  <a:extLst>
                    <a:ext uri="{FF2B5EF4-FFF2-40B4-BE49-F238E27FC236}">
                      <a16:creationId xmlns:a16="http://schemas.microsoft.com/office/drawing/2014/main" id="{D8730E17-C6ED-D433-ADA9-FC0A7C02F9BE}"/>
                    </a:ext>
                  </a:extLst>
                </p:cNvPr>
                <p:cNvSpPr txBox="1"/>
                <p:nvPr/>
              </p:nvSpPr>
              <p:spPr>
                <a:xfrm>
                  <a:off x="9608508" y="4418977"/>
                  <a:ext cx="697627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ja-JP" altLang="en-US" sz="800" spc="0" baseline="0">
                      <a:ln/>
                      <a:solidFill>
                        <a:srgbClr val="334155"/>
                      </a:solidFill>
                      <a:latin typeface="BIZ UDゴシック" panose="020B0400000000000000" pitchFamily="49" charset="-128"/>
                      <a:ea typeface="BIZ UDゴシック" panose="020B0400000000000000" pitchFamily="49" charset="-128"/>
                      <a:sym typeface="ＭＳ ゴシック"/>
                      <a:rtl val="0"/>
                    </a:rPr>
                    <a:t>変更を保存</a:t>
                  </a:r>
                </a:p>
              </p:txBody>
            </p:sp>
          </p:grpSp>
        </p:grpSp>
        <p:sp>
          <p:nvSpPr>
            <p:cNvPr id="106" name="フリーフォーム: 図形 105">
              <a:extLst>
                <a:ext uri="{FF2B5EF4-FFF2-40B4-BE49-F238E27FC236}">
                  <a16:creationId xmlns:a16="http://schemas.microsoft.com/office/drawing/2014/main" id="{71C5789E-FB47-D4EF-22B6-2F0AF5848EC8}"/>
                </a:ext>
              </a:extLst>
            </p:cNvPr>
            <p:cNvSpPr/>
            <p:nvPr/>
          </p:nvSpPr>
          <p:spPr>
            <a:xfrm>
              <a:off x="9315060" y="5598367"/>
              <a:ext cx="1049693" cy="195942"/>
            </a:xfrm>
            <a:custGeom>
              <a:avLst/>
              <a:gdLst>
                <a:gd name="connsiteX0" fmla="*/ 0 w 1049693"/>
                <a:gd name="connsiteY0" fmla="*/ 0 h 195942"/>
                <a:gd name="connsiteX1" fmla="*/ 1049694 w 1049693"/>
                <a:gd name="connsiteY1" fmla="*/ 0 h 195942"/>
                <a:gd name="connsiteX2" fmla="*/ 1049694 w 1049693"/>
                <a:gd name="connsiteY2" fmla="*/ 195943 h 195942"/>
                <a:gd name="connsiteX3" fmla="*/ 0 w 1049693"/>
                <a:gd name="connsiteY3" fmla="*/ 195943 h 19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693" h="195942">
                  <a:moveTo>
                    <a:pt x="0" y="0"/>
                  </a:moveTo>
                  <a:lnTo>
                    <a:pt x="1049694" y="0"/>
                  </a:lnTo>
                  <a:lnTo>
                    <a:pt x="1049694" y="195943"/>
                  </a:lnTo>
                  <a:lnTo>
                    <a:pt x="0" y="195943"/>
                  </a:lnTo>
                  <a:close/>
                </a:path>
              </a:pathLst>
            </a:custGeom>
            <a:solidFill>
              <a:srgbClr val="2563EB"/>
            </a:solidFill>
            <a:ln w="69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600">
                <a:latin typeface="BIZ UDゴシック" panose="020B0400000000000000" pitchFamily="49" charset="-128"/>
                <a:ea typeface="BIZ UDゴシック" panose="020B0400000000000000" pitchFamily="49" charset="-128"/>
              </a:endParaRPr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A0F16DA8-B634-BC2B-C418-34D658CA6955}"/>
                </a:ext>
              </a:extLst>
            </p:cNvPr>
            <p:cNvSpPr txBox="1"/>
            <p:nvPr/>
          </p:nvSpPr>
          <p:spPr>
            <a:xfrm>
              <a:off x="9538528" y="5594635"/>
              <a:ext cx="6976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800" spc="0" baseline="0">
                  <a:ln/>
                  <a:solidFill>
                    <a:srgbClr val="FFFFFF"/>
                  </a:solidFill>
                  <a:latin typeface="BIZ UDゴシック" panose="020B0400000000000000" pitchFamily="49" charset="-128"/>
                  <a:ea typeface="BIZ UDゴシック" panose="020B0400000000000000" pitchFamily="49" charset="-128"/>
                  <a:sym typeface="ＭＳ ゴシック"/>
                  <a:rtl val="0"/>
                </a:rPr>
                <a:t>全体を保存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522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3A4188E5-7388-F562-DC22-A395681E0320}"/>
              </a:ext>
            </a:extLst>
          </p:cNvPr>
          <p:cNvSpPr/>
          <p:nvPr/>
        </p:nvSpPr>
        <p:spPr>
          <a:xfrm>
            <a:off x="282804" y="548640"/>
            <a:ext cx="6216718" cy="5985918"/>
          </a:xfrm>
          <a:custGeom>
            <a:avLst/>
            <a:gdLst>
              <a:gd name="connsiteX0" fmla="*/ 0 w 4389120"/>
              <a:gd name="connsiteY0" fmla="*/ 0 h 1783080"/>
              <a:gd name="connsiteX1" fmla="*/ 4389120 w 4389120"/>
              <a:gd name="connsiteY1" fmla="*/ 0 h 1783080"/>
              <a:gd name="connsiteX2" fmla="*/ 4389120 w 4389120"/>
              <a:gd name="connsiteY2" fmla="*/ 1783080 h 1783080"/>
              <a:gd name="connsiteX3" fmla="*/ 0 w 4389120"/>
              <a:gd name="connsiteY3" fmla="*/ 178308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1783080">
                <a:moveTo>
                  <a:pt x="0" y="0"/>
                </a:moveTo>
                <a:lnTo>
                  <a:pt x="4389120" y="0"/>
                </a:lnTo>
                <a:lnTo>
                  <a:pt x="4389120" y="1783080"/>
                </a:lnTo>
                <a:lnTo>
                  <a:pt x="0" y="1783080"/>
                </a:lnTo>
                <a:close/>
              </a:path>
            </a:pathLst>
          </a:custGeom>
          <a:solidFill>
            <a:srgbClr val="EEF4FB"/>
          </a:solidFill>
          <a:ln w="13716" cap="flat">
            <a:solidFill>
              <a:srgbClr val="6A9DD9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F0F0D2-71EC-406B-FBE1-968AE6B8782E}"/>
              </a:ext>
            </a:extLst>
          </p:cNvPr>
          <p:cNvSpPr txBox="1"/>
          <p:nvPr/>
        </p:nvSpPr>
        <p:spPr>
          <a:xfrm>
            <a:off x="723900" y="160020"/>
            <a:ext cx="16113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ＭＳ ゴシック"/>
                <a:rtl val="0"/>
              </a:rPr>
              <a:t>システム構成図</a:t>
            </a:r>
            <a:r>
              <a:rPr lang="en-US" altLang="ja-JP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ＭＳ ゴシック"/>
                <a:rtl val="0"/>
              </a:rPr>
              <a:t>(</a:t>
            </a:r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ＭＳ ゴシック"/>
                <a:rtl val="0"/>
              </a:rPr>
              <a:t>イメージ</a:t>
            </a:r>
            <a:r>
              <a:rPr lang="en-US" altLang="ja-JP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ＭＳ ゴシック"/>
                <a:rtl val="0"/>
              </a:rPr>
              <a:t>)</a:t>
            </a:r>
            <a:endParaRPr lang="ja-JP" altLang="en-US" sz="1100" spc="0" baseline="0" dirty="0">
              <a:ln/>
              <a:solidFill>
                <a:srgbClr val="111111"/>
              </a:solidFill>
              <a:latin typeface="Meiryo UI" panose="020B0604030504040204" pitchFamily="50" charset="-128"/>
              <a:ea typeface="Meiryo UI" panose="020B0604030504040204" pitchFamily="50" charset="-128"/>
              <a:sym typeface="ＭＳ ゴシック"/>
              <a:rtl val="0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B3D2ABC0-8C50-62D9-63B5-47232FE2F65C}"/>
              </a:ext>
            </a:extLst>
          </p:cNvPr>
          <p:cNvSpPr/>
          <p:nvPr/>
        </p:nvSpPr>
        <p:spPr>
          <a:xfrm>
            <a:off x="7617333" y="548640"/>
            <a:ext cx="4389120" cy="1824174"/>
          </a:xfrm>
          <a:custGeom>
            <a:avLst/>
            <a:gdLst>
              <a:gd name="connsiteX0" fmla="*/ 0 w 5897880"/>
              <a:gd name="connsiteY0" fmla="*/ 0 h 6035040"/>
              <a:gd name="connsiteX1" fmla="*/ 5897880 w 5897880"/>
              <a:gd name="connsiteY1" fmla="*/ 0 h 6035040"/>
              <a:gd name="connsiteX2" fmla="*/ 5897880 w 5897880"/>
              <a:gd name="connsiteY2" fmla="*/ 6035040 h 6035040"/>
              <a:gd name="connsiteX3" fmla="*/ 0 w 5897880"/>
              <a:gd name="connsiteY3" fmla="*/ 6035040 h 603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7880" h="6035040">
                <a:moveTo>
                  <a:pt x="0" y="0"/>
                </a:moveTo>
                <a:lnTo>
                  <a:pt x="5897880" y="0"/>
                </a:lnTo>
                <a:lnTo>
                  <a:pt x="5897880" y="6035040"/>
                </a:lnTo>
                <a:lnTo>
                  <a:pt x="0" y="6035040"/>
                </a:lnTo>
                <a:close/>
              </a:path>
            </a:pathLst>
          </a:custGeom>
          <a:solidFill>
            <a:srgbClr val="EEF9F1"/>
          </a:solidFill>
          <a:ln w="13716" cap="flat">
            <a:solidFill>
              <a:srgbClr val="87C38F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4C1303-AA70-0E52-6936-68B9EE9255AC}"/>
              </a:ext>
            </a:extLst>
          </p:cNvPr>
          <p:cNvSpPr txBox="1"/>
          <p:nvPr/>
        </p:nvSpPr>
        <p:spPr>
          <a:xfrm>
            <a:off x="3404841" y="652680"/>
            <a:ext cx="1143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出光</a:t>
            </a:r>
            <a:r>
              <a:rPr lang="en-US" altLang="ja-JP" sz="110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Azure</a:t>
            </a:r>
            <a:r>
              <a:rPr lang="ja-JP" altLang="en-US" sz="110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環境</a:t>
            </a:r>
            <a:endParaRPr lang="ja-JP" altLang="en-US" sz="1100" spc="0" baseline="0" dirty="0">
              <a:ln/>
              <a:solidFill>
                <a:srgbClr val="111111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  <a:sym typeface="ＭＳ ゴシック"/>
              <a:rtl val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20E38AE-B98A-BA72-DDDE-3E2724689BCD}"/>
              </a:ext>
            </a:extLst>
          </p:cNvPr>
          <p:cNvSpPr txBox="1"/>
          <p:nvPr/>
        </p:nvSpPr>
        <p:spPr>
          <a:xfrm>
            <a:off x="9312402" y="633222"/>
            <a:ext cx="15969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Cognite </a:t>
            </a:r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領域（</a:t>
            </a:r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CDF</a:t>
            </a:r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）</a:t>
            </a: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CE964DCA-F8BC-0481-5767-C5248FEE40ED}"/>
              </a:ext>
            </a:extLst>
          </p:cNvPr>
          <p:cNvSpPr/>
          <p:nvPr/>
        </p:nvSpPr>
        <p:spPr>
          <a:xfrm>
            <a:off x="7617333" y="2606040"/>
            <a:ext cx="4389120" cy="3977640"/>
          </a:xfrm>
          <a:custGeom>
            <a:avLst/>
            <a:gdLst>
              <a:gd name="connsiteX0" fmla="*/ 0 w 4389120"/>
              <a:gd name="connsiteY0" fmla="*/ 0 h 3977640"/>
              <a:gd name="connsiteX1" fmla="*/ 4389120 w 4389120"/>
              <a:gd name="connsiteY1" fmla="*/ 0 h 3977640"/>
              <a:gd name="connsiteX2" fmla="*/ 4389120 w 4389120"/>
              <a:gd name="connsiteY2" fmla="*/ 3977640 h 3977640"/>
              <a:gd name="connsiteX3" fmla="*/ 0 w 4389120"/>
              <a:gd name="connsiteY3" fmla="*/ 3977640 h 397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3977640">
                <a:moveTo>
                  <a:pt x="0" y="0"/>
                </a:moveTo>
                <a:lnTo>
                  <a:pt x="4389120" y="0"/>
                </a:lnTo>
                <a:lnTo>
                  <a:pt x="4389120" y="3977640"/>
                </a:lnTo>
                <a:lnTo>
                  <a:pt x="0" y="3977640"/>
                </a:lnTo>
                <a:close/>
              </a:path>
            </a:pathLst>
          </a:custGeom>
          <a:solidFill>
            <a:srgbClr val="FFF2EF"/>
          </a:solidFill>
          <a:ln w="13716" cap="flat">
            <a:solidFill>
              <a:srgbClr val="F39A86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D580E21-8107-C69B-810A-B5843A5EBA1B}"/>
              </a:ext>
            </a:extLst>
          </p:cNvPr>
          <p:cNvSpPr txBox="1"/>
          <p:nvPr/>
        </p:nvSpPr>
        <p:spPr>
          <a:xfrm>
            <a:off x="9370695" y="2690622"/>
            <a:ext cx="14606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IBM </a:t>
            </a:r>
            <a:r>
              <a:rPr lang="ja-JP" altLang="en-US" sz="1100" spc="0" baseline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領域（</a:t>
            </a:r>
            <a:r>
              <a:rPr lang="ja-JP" altLang="en-US" sz="1100" spc="0" baseline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Envizi</a:t>
            </a:r>
            <a:r>
              <a:rPr lang="ja-JP" altLang="en-US" sz="1100" spc="0" baseline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）</a:t>
            </a:r>
          </a:p>
        </p:txBody>
      </p:sp>
      <p:grpSp>
        <p:nvGrpSpPr>
          <p:cNvPr id="14" name="グラフィックス 4">
            <a:extLst>
              <a:ext uri="{FF2B5EF4-FFF2-40B4-BE49-F238E27FC236}">
                <a16:creationId xmlns:a16="http://schemas.microsoft.com/office/drawing/2014/main" id="{4223B160-6480-90A9-2A5E-2A15E54B99D4}"/>
              </a:ext>
            </a:extLst>
          </p:cNvPr>
          <p:cNvGrpSpPr/>
          <p:nvPr/>
        </p:nvGrpSpPr>
        <p:grpSpPr>
          <a:xfrm>
            <a:off x="1335626" y="2718639"/>
            <a:ext cx="1371600" cy="822960"/>
            <a:chOff x="1021080" y="1097280"/>
            <a:chExt cx="1371600" cy="822960"/>
          </a:xfrm>
        </p:grpSpPr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927E4BDF-A30A-186B-739E-51412CD661B0}"/>
                </a:ext>
              </a:extLst>
            </p:cNvPr>
            <p:cNvSpPr/>
            <p:nvPr/>
          </p:nvSpPr>
          <p:spPr>
            <a:xfrm>
              <a:off x="1021080" y="1097280"/>
              <a:ext cx="1371600" cy="822960"/>
            </a:xfrm>
            <a:custGeom>
              <a:avLst/>
              <a:gdLst>
                <a:gd name="connsiteX0" fmla="*/ 0 w 1371600"/>
                <a:gd name="connsiteY0" fmla="*/ 0 h 822960"/>
                <a:gd name="connsiteX1" fmla="*/ 1371600 w 1371600"/>
                <a:gd name="connsiteY1" fmla="*/ 0 h 822960"/>
                <a:gd name="connsiteX2" fmla="*/ 1371600 w 1371600"/>
                <a:gd name="connsiteY2" fmla="*/ 822960 h 822960"/>
                <a:gd name="connsiteX3" fmla="*/ 0 w 137160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1600" h="822960">
                  <a:moveTo>
                    <a:pt x="0" y="0"/>
                  </a:moveTo>
                  <a:lnTo>
                    <a:pt x="1371600" y="0"/>
                  </a:lnTo>
                  <a:lnTo>
                    <a:pt x="137160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8C7A735-3B05-5244-855B-AA4B97A4A6AD}"/>
                </a:ext>
              </a:extLst>
            </p:cNvPr>
            <p:cNvSpPr txBox="1"/>
            <p:nvPr/>
          </p:nvSpPr>
          <p:spPr>
            <a:xfrm>
              <a:off x="1217505" y="1373886"/>
              <a:ext cx="9813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🖥️</a:t>
              </a:r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A-AUTO</a:t>
              </a:r>
            </a:p>
          </p:txBody>
        </p:sp>
      </p:grpSp>
      <p:grpSp>
        <p:nvGrpSpPr>
          <p:cNvPr id="17" name="グラフィックス 4">
            <a:extLst>
              <a:ext uri="{FF2B5EF4-FFF2-40B4-BE49-F238E27FC236}">
                <a16:creationId xmlns:a16="http://schemas.microsoft.com/office/drawing/2014/main" id="{017F3CCB-604B-6022-5215-B7BA9BAFB11C}"/>
              </a:ext>
            </a:extLst>
          </p:cNvPr>
          <p:cNvGrpSpPr/>
          <p:nvPr/>
        </p:nvGrpSpPr>
        <p:grpSpPr>
          <a:xfrm>
            <a:off x="3997136" y="4117086"/>
            <a:ext cx="1694695" cy="822960"/>
            <a:chOff x="2773146" y="1097280"/>
            <a:chExt cx="1694695" cy="822960"/>
          </a:xfrm>
        </p:grpSpPr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63D1A6A4-0198-B454-79E4-BA5DFC09B219}"/>
                </a:ext>
              </a:extLst>
            </p:cNvPr>
            <p:cNvSpPr/>
            <p:nvPr/>
          </p:nvSpPr>
          <p:spPr>
            <a:xfrm>
              <a:off x="2804160" y="1097280"/>
              <a:ext cx="1645920" cy="822960"/>
            </a:xfrm>
            <a:custGeom>
              <a:avLst/>
              <a:gdLst>
                <a:gd name="connsiteX0" fmla="*/ 0 w 1645920"/>
                <a:gd name="connsiteY0" fmla="*/ 0 h 822960"/>
                <a:gd name="connsiteX1" fmla="*/ 1645920 w 1645920"/>
                <a:gd name="connsiteY1" fmla="*/ 0 h 822960"/>
                <a:gd name="connsiteX2" fmla="*/ 1645920 w 1645920"/>
                <a:gd name="connsiteY2" fmla="*/ 822960 h 822960"/>
                <a:gd name="connsiteX3" fmla="*/ 0 w 164592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920" h="82296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8E2E3740-AB04-D2A1-6703-72AB190ED1C0}"/>
                </a:ext>
              </a:extLst>
            </p:cNvPr>
            <p:cNvSpPr txBox="1"/>
            <p:nvPr/>
          </p:nvSpPr>
          <p:spPr>
            <a:xfrm>
              <a:off x="2773146" y="1354428"/>
              <a:ext cx="169469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☁️</a:t>
              </a:r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Azure Data Factory</a:t>
              </a:r>
            </a:p>
          </p:txBody>
        </p:sp>
      </p:grpSp>
      <p:grpSp>
        <p:nvGrpSpPr>
          <p:cNvPr id="20" name="グラフィックス 4">
            <a:extLst>
              <a:ext uri="{FF2B5EF4-FFF2-40B4-BE49-F238E27FC236}">
                <a16:creationId xmlns:a16="http://schemas.microsoft.com/office/drawing/2014/main" id="{BDB2F297-F5AB-D906-3AE2-C8D9C1AA71D1}"/>
              </a:ext>
            </a:extLst>
          </p:cNvPr>
          <p:cNvGrpSpPr/>
          <p:nvPr/>
        </p:nvGrpSpPr>
        <p:grpSpPr>
          <a:xfrm>
            <a:off x="4002238" y="1087201"/>
            <a:ext cx="1645920" cy="822960"/>
            <a:chOff x="4724400" y="1097280"/>
            <a:chExt cx="1645920" cy="822960"/>
          </a:xfrm>
        </p:grpSpPr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BF5E3BDC-40E4-EF5B-3690-D2F7CFDCB10B}"/>
                </a:ext>
              </a:extLst>
            </p:cNvPr>
            <p:cNvSpPr/>
            <p:nvPr/>
          </p:nvSpPr>
          <p:spPr>
            <a:xfrm>
              <a:off x="4724400" y="1097280"/>
              <a:ext cx="1645920" cy="822960"/>
            </a:xfrm>
            <a:custGeom>
              <a:avLst/>
              <a:gdLst>
                <a:gd name="connsiteX0" fmla="*/ 0 w 1645920"/>
                <a:gd name="connsiteY0" fmla="*/ 0 h 822960"/>
                <a:gd name="connsiteX1" fmla="*/ 1645920 w 1645920"/>
                <a:gd name="connsiteY1" fmla="*/ 0 h 822960"/>
                <a:gd name="connsiteX2" fmla="*/ 1645920 w 1645920"/>
                <a:gd name="connsiteY2" fmla="*/ 822960 h 822960"/>
                <a:gd name="connsiteX3" fmla="*/ 0 w 164592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920" h="82296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0DB76C8-369E-406F-0EF8-C86429DD0754}"/>
                </a:ext>
              </a:extLst>
            </p:cNvPr>
            <p:cNvSpPr txBox="1"/>
            <p:nvPr/>
          </p:nvSpPr>
          <p:spPr>
            <a:xfrm>
              <a:off x="4926036" y="1379365"/>
              <a:ext cx="12426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⚙️</a:t>
              </a:r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App Service</a:t>
              </a:r>
            </a:p>
          </p:txBody>
        </p:sp>
      </p:grpSp>
      <p:grpSp>
        <p:nvGrpSpPr>
          <p:cNvPr id="23" name="グラフィックス 4">
            <a:extLst>
              <a:ext uri="{FF2B5EF4-FFF2-40B4-BE49-F238E27FC236}">
                <a16:creationId xmlns:a16="http://schemas.microsoft.com/office/drawing/2014/main" id="{1A7CB968-D53D-CC68-D4AC-77370E6B7E04}"/>
              </a:ext>
            </a:extLst>
          </p:cNvPr>
          <p:cNvGrpSpPr/>
          <p:nvPr/>
        </p:nvGrpSpPr>
        <p:grpSpPr>
          <a:xfrm>
            <a:off x="4028149" y="2718639"/>
            <a:ext cx="1645920" cy="822960"/>
            <a:chOff x="2804160" y="2331720"/>
            <a:chExt cx="1645920" cy="822960"/>
          </a:xfrm>
        </p:grpSpPr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57D7DB24-E99C-709B-CB2F-6972A34DCC4F}"/>
                </a:ext>
              </a:extLst>
            </p:cNvPr>
            <p:cNvSpPr/>
            <p:nvPr/>
          </p:nvSpPr>
          <p:spPr>
            <a:xfrm>
              <a:off x="2804160" y="2331720"/>
              <a:ext cx="1645920" cy="822960"/>
            </a:xfrm>
            <a:custGeom>
              <a:avLst/>
              <a:gdLst>
                <a:gd name="connsiteX0" fmla="*/ 0 w 1645920"/>
                <a:gd name="connsiteY0" fmla="*/ 0 h 822960"/>
                <a:gd name="connsiteX1" fmla="*/ 1645920 w 1645920"/>
                <a:gd name="connsiteY1" fmla="*/ 0 h 822960"/>
                <a:gd name="connsiteX2" fmla="*/ 1645920 w 1645920"/>
                <a:gd name="connsiteY2" fmla="*/ 822960 h 822960"/>
                <a:gd name="connsiteX3" fmla="*/ 0 w 164592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920" h="82296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0F9D1EE-96EE-8028-2018-B47BD9946A54}"/>
                </a:ext>
              </a:extLst>
            </p:cNvPr>
            <p:cNvSpPr txBox="1"/>
            <p:nvPr/>
          </p:nvSpPr>
          <p:spPr>
            <a:xfrm>
              <a:off x="2953858" y="2598996"/>
              <a:ext cx="13067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📦</a:t>
              </a:r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Blob Storage</a:t>
              </a:r>
            </a:p>
          </p:txBody>
        </p:sp>
      </p:grpSp>
      <p:grpSp>
        <p:nvGrpSpPr>
          <p:cNvPr id="29" name="グラフィックス 4">
            <a:extLst>
              <a:ext uri="{FF2B5EF4-FFF2-40B4-BE49-F238E27FC236}">
                <a16:creationId xmlns:a16="http://schemas.microsoft.com/office/drawing/2014/main" id="{8F18F57C-82C7-78E8-D067-54F38DA93522}"/>
              </a:ext>
            </a:extLst>
          </p:cNvPr>
          <p:cNvGrpSpPr/>
          <p:nvPr/>
        </p:nvGrpSpPr>
        <p:grpSpPr>
          <a:xfrm>
            <a:off x="8028812" y="1097280"/>
            <a:ext cx="3566161" cy="822960"/>
            <a:chOff x="7330440" y="1097280"/>
            <a:chExt cx="3566160" cy="822960"/>
          </a:xfrm>
        </p:grpSpPr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77FD06D7-4494-1A32-E206-3D17AF6C6A26}"/>
                </a:ext>
              </a:extLst>
            </p:cNvPr>
            <p:cNvSpPr/>
            <p:nvPr/>
          </p:nvSpPr>
          <p:spPr>
            <a:xfrm>
              <a:off x="7330440" y="1097280"/>
              <a:ext cx="3566160" cy="822960"/>
            </a:xfrm>
            <a:custGeom>
              <a:avLst/>
              <a:gdLst>
                <a:gd name="connsiteX0" fmla="*/ 0 w 3566160"/>
                <a:gd name="connsiteY0" fmla="*/ 0 h 822960"/>
                <a:gd name="connsiteX1" fmla="*/ 3566160 w 3566160"/>
                <a:gd name="connsiteY1" fmla="*/ 0 h 822960"/>
                <a:gd name="connsiteX2" fmla="*/ 3566160 w 3566160"/>
                <a:gd name="connsiteY2" fmla="*/ 822960 h 822960"/>
                <a:gd name="connsiteX3" fmla="*/ 0 w 356616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6160" h="8229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A00A435B-57F6-4B0E-A911-85960A122D77}"/>
                </a:ext>
              </a:extLst>
            </p:cNvPr>
            <p:cNvSpPr txBox="1"/>
            <p:nvPr/>
          </p:nvSpPr>
          <p:spPr>
            <a:xfrm>
              <a:off x="8569452" y="1373886"/>
              <a:ext cx="18069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🔷</a:t>
              </a:r>
              <a:r>
                <a:rPr lang="ja-JP" altLang="en-US" sz="1100" spc="0" baseline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Cognite Data Fusion</a:t>
              </a:r>
            </a:p>
          </p:txBody>
        </p:sp>
      </p:grpSp>
      <p:grpSp>
        <p:nvGrpSpPr>
          <p:cNvPr id="32" name="グラフィックス 4">
            <a:extLst>
              <a:ext uri="{FF2B5EF4-FFF2-40B4-BE49-F238E27FC236}">
                <a16:creationId xmlns:a16="http://schemas.microsoft.com/office/drawing/2014/main" id="{F3F946AF-A598-42FF-3B7E-C90D54D35711}"/>
              </a:ext>
            </a:extLst>
          </p:cNvPr>
          <p:cNvGrpSpPr/>
          <p:nvPr/>
        </p:nvGrpSpPr>
        <p:grpSpPr>
          <a:xfrm>
            <a:off x="8028813" y="3154680"/>
            <a:ext cx="3566160" cy="822960"/>
            <a:chOff x="7330440" y="3154680"/>
            <a:chExt cx="3566160" cy="822960"/>
          </a:xfrm>
        </p:grpSpPr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AACE1C75-9F91-A265-2D4A-E9042D9A511F}"/>
                </a:ext>
              </a:extLst>
            </p:cNvPr>
            <p:cNvSpPr/>
            <p:nvPr/>
          </p:nvSpPr>
          <p:spPr>
            <a:xfrm>
              <a:off x="7330440" y="3154680"/>
              <a:ext cx="3566160" cy="822960"/>
            </a:xfrm>
            <a:custGeom>
              <a:avLst/>
              <a:gdLst>
                <a:gd name="connsiteX0" fmla="*/ 0 w 3566160"/>
                <a:gd name="connsiteY0" fmla="*/ 0 h 822960"/>
                <a:gd name="connsiteX1" fmla="*/ 3566160 w 3566160"/>
                <a:gd name="connsiteY1" fmla="*/ 0 h 822960"/>
                <a:gd name="connsiteX2" fmla="*/ 3566160 w 3566160"/>
                <a:gd name="connsiteY2" fmla="*/ 822960 h 822960"/>
                <a:gd name="connsiteX3" fmla="*/ 0 w 356616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6160" h="8229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F193EF31-38CB-F50A-5DAB-A686D1522FB5}"/>
                </a:ext>
              </a:extLst>
            </p:cNvPr>
            <p:cNvSpPr txBox="1"/>
            <p:nvPr/>
          </p:nvSpPr>
          <p:spPr>
            <a:xfrm>
              <a:off x="8675751" y="3431286"/>
              <a:ext cx="14029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☁️</a:t>
              </a:r>
              <a:r>
                <a:rPr lang="ja-JP" altLang="en-US" sz="1100" spc="0" baseline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Envizi S3/SFTP</a:t>
              </a:r>
            </a:p>
          </p:txBody>
        </p:sp>
      </p:grpSp>
      <p:grpSp>
        <p:nvGrpSpPr>
          <p:cNvPr id="35" name="グラフィックス 4">
            <a:extLst>
              <a:ext uri="{FF2B5EF4-FFF2-40B4-BE49-F238E27FC236}">
                <a16:creationId xmlns:a16="http://schemas.microsoft.com/office/drawing/2014/main" id="{66454E54-6501-BC55-5A40-68135FBD216C}"/>
              </a:ext>
            </a:extLst>
          </p:cNvPr>
          <p:cNvGrpSpPr/>
          <p:nvPr/>
        </p:nvGrpSpPr>
        <p:grpSpPr>
          <a:xfrm>
            <a:off x="8028813" y="4251960"/>
            <a:ext cx="3566160" cy="822960"/>
            <a:chOff x="7330440" y="4251960"/>
            <a:chExt cx="3566160" cy="822960"/>
          </a:xfrm>
        </p:grpSpPr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702C1D61-8F27-CBB0-B8AB-75DB95A10F6D}"/>
                </a:ext>
              </a:extLst>
            </p:cNvPr>
            <p:cNvSpPr/>
            <p:nvPr/>
          </p:nvSpPr>
          <p:spPr>
            <a:xfrm>
              <a:off x="7330440" y="4251960"/>
              <a:ext cx="3566160" cy="822960"/>
            </a:xfrm>
            <a:custGeom>
              <a:avLst/>
              <a:gdLst>
                <a:gd name="connsiteX0" fmla="*/ 0 w 3566160"/>
                <a:gd name="connsiteY0" fmla="*/ 0 h 822960"/>
                <a:gd name="connsiteX1" fmla="*/ 3566160 w 3566160"/>
                <a:gd name="connsiteY1" fmla="*/ 0 h 822960"/>
                <a:gd name="connsiteX2" fmla="*/ 3566160 w 3566160"/>
                <a:gd name="connsiteY2" fmla="*/ 822960 h 822960"/>
                <a:gd name="connsiteX3" fmla="*/ 0 w 356616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6160" h="8229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2F3DD485-83BA-98E7-B981-CD036DA3C2A2}"/>
                </a:ext>
              </a:extLst>
            </p:cNvPr>
            <p:cNvSpPr txBox="1"/>
            <p:nvPr/>
          </p:nvSpPr>
          <p:spPr>
            <a:xfrm>
              <a:off x="8598807" y="4528566"/>
              <a:ext cx="15568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📂</a:t>
              </a:r>
              <a:r>
                <a:rPr lang="ja-JP" altLang="en-US" sz="1100" spc="0" baseline="0" dirty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Envizi Data Flow</a:t>
              </a:r>
            </a:p>
          </p:txBody>
        </p:sp>
      </p:grpSp>
      <p:grpSp>
        <p:nvGrpSpPr>
          <p:cNvPr id="38" name="グラフィックス 4">
            <a:extLst>
              <a:ext uri="{FF2B5EF4-FFF2-40B4-BE49-F238E27FC236}">
                <a16:creationId xmlns:a16="http://schemas.microsoft.com/office/drawing/2014/main" id="{BD4A84BF-B67D-7122-2EAE-B274C5BE94FE}"/>
              </a:ext>
            </a:extLst>
          </p:cNvPr>
          <p:cNvGrpSpPr/>
          <p:nvPr/>
        </p:nvGrpSpPr>
        <p:grpSpPr>
          <a:xfrm>
            <a:off x="8028813" y="5349240"/>
            <a:ext cx="3566160" cy="822960"/>
            <a:chOff x="7330440" y="5349240"/>
            <a:chExt cx="3566160" cy="822960"/>
          </a:xfrm>
        </p:grpSpPr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9D5F9BFD-892E-4757-4C3F-304AA4A8F8DD}"/>
                </a:ext>
              </a:extLst>
            </p:cNvPr>
            <p:cNvSpPr/>
            <p:nvPr/>
          </p:nvSpPr>
          <p:spPr>
            <a:xfrm>
              <a:off x="7330440" y="5349240"/>
              <a:ext cx="3566160" cy="822960"/>
            </a:xfrm>
            <a:custGeom>
              <a:avLst/>
              <a:gdLst>
                <a:gd name="connsiteX0" fmla="*/ 0 w 3566160"/>
                <a:gd name="connsiteY0" fmla="*/ 0 h 822960"/>
                <a:gd name="connsiteX1" fmla="*/ 3566160 w 3566160"/>
                <a:gd name="connsiteY1" fmla="*/ 0 h 822960"/>
                <a:gd name="connsiteX2" fmla="*/ 3566160 w 3566160"/>
                <a:gd name="connsiteY2" fmla="*/ 822960 h 822960"/>
                <a:gd name="connsiteX3" fmla="*/ 0 w 3566160"/>
                <a:gd name="connsiteY3" fmla="*/ 8229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6160" h="822960">
                  <a:moveTo>
                    <a:pt x="0" y="0"/>
                  </a:moveTo>
                  <a:lnTo>
                    <a:pt x="3566160" y="0"/>
                  </a:lnTo>
                  <a:lnTo>
                    <a:pt x="356616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FFFFFF"/>
            </a:solidFill>
            <a:ln w="10973" cap="flat">
              <a:solidFill>
                <a:srgbClr val="97A6B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67A7751C-B8F0-521F-1960-5ACAE049EFE6}"/>
                </a:ext>
              </a:extLst>
            </p:cNvPr>
            <p:cNvSpPr txBox="1"/>
            <p:nvPr/>
          </p:nvSpPr>
          <p:spPr>
            <a:xfrm>
              <a:off x="8689467" y="5625846"/>
              <a:ext cx="13997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1100" spc="0" baseline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sym typeface="Segoe UI Emoji"/>
                  <a:rtl val="0"/>
                </a:rPr>
                <a:t>📊</a:t>
              </a:r>
              <a:r>
                <a:rPr lang="ja-JP" altLang="en-US" sz="1100" spc="0" baseline="0">
                  <a:ln/>
                  <a:solidFill>
                    <a:srgbClr val="222222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  <a:sym typeface="Arial"/>
                  <a:rtl val="0"/>
                </a:rPr>
                <a:t> Envizi Reports</a:t>
              </a:r>
            </a:p>
          </p:txBody>
        </p:sp>
      </p:grp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5A2D15D6-863C-4522-3AEB-A88C91CDFC0A}"/>
              </a:ext>
            </a:extLst>
          </p:cNvPr>
          <p:cNvCxnSpPr>
            <a:stCxn id="16" idx="3"/>
            <a:endCxn id="19" idx="1"/>
          </p:cNvCxnSpPr>
          <p:nvPr/>
        </p:nvCxnSpPr>
        <p:spPr>
          <a:xfrm>
            <a:off x="2513410" y="3126050"/>
            <a:ext cx="1483726" cy="1378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FDD90B72-AD40-13B9-80C1-0BF20034A4F7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 flipV="1">
            <a:off x="2513410" y="1500091"/>
            <a:ext cx="1690464" cy="1625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3F2ECE04-DDDE-BEF8-56D4-A9FCDD6660D9}"/>
              </a:ext>
            </a:extLst>
          </p:cNvPr>
          <p:cNvCxnSpPr>
            <a:cxnSpLocks/>
          </p:cNvCxnSpPr>
          <p:nvPr/>
        </p:nvCxnSpPr>
        <p:spPr>
          <a:xfrm>
            <a:off x="5674069" y="1341865"/>
            <a:ext cx="2277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4455037-0C98-E2C9-81F8-840412064CEE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4825198" y="1630896"/>
            <a:ext cx="6033" cy="1355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3A464133-C702-89E7-DFDC-B893219F9A20}"/>
              </a:ext>
            </a:extLst>
          </p:cNvPr>
          <p:cNvCxnSpPr>
            <a:cxnSpLocks/>
            <a:stCxn id="25" idx="2"/>
            <a:endCxn id="19" idx="0"/>
          </p:cNvCxnSpPr>
          <p:nvPr/>
        </p:nvCxnSpPr>
        <p:spPr>
          <a:xfrm>
            <a:off x="4831231" y="3247525"/>
            <a:ext cx="13253" cy="1126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1B7FC399-BC02-93E0-1F4A-10E74C0EF09C}"/>
              </a:ext>
            </a:extLst>
          </p:cNvPr>
          <p:cNvCxnSpPr>
            <a:cxnSpLocks/>
            <a:stCxn id="19" idx="3"/>
            <a:endCxn id="34" idx="1"/>
          </p:cNvCxnSpPr>
          <p:nvPr/>
        </p:nvCxnSpPr>
        <p:spPr>
          <a:xfrm flipV="1">
            <a:off x="5691831" y="3562091"/>
            <a:ext cx="3682293" cy="94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A25D59D5-4917-58D2-F4F8-B6547661A701}"/>
              </a:ext>
            </a:extLst>
          </p:cNvPr>
          <p:cNvCxnSpPr>
            <a:cxnSpLocks/>
          </p:cNvCxnSpPr>
          <p:nvPr/>
        </p:nvCxnSpPr>
        <p:spPr>
          <a:xfrm flipH="1">
            <a:off x="5648158" y="1645078"/>
            <a:ext cx="23031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F877163C-EB67-6EC4-7FFA-481D190C4FFF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>
            <a:off x="10075598" y="3692896"/>
            <a:ext cx="0" cy="835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88D3A6B2-CA1F-5A0A-80F9-BD09178C7EAA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>
            <a:off x="10075598" y="4790176"/>
            <a:ext cx="12113" cy="835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F9B2DB5-B110-9929-7222-0A4683B095A9}"/>
              </a:ext>
            </a:extLst>
          </p:cNvPr>
          <p:cNvSpPr txBox="1"/>
          <p:nvPr/>
        </p:nvSpPr>
        <p:spPr>
          <a:xfrm>
            <a:off x="6443938" y="1075197"/>
            <a:ext cx="12073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Timeseries</a:t>
            </a:r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 </a:t>
            </a:r>
            <a:r>
              <a:rPr lang="en-US" altLang="ja-JP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API</a:t>
            </a:r>
            <a:endParaRPr lang="ja-JP" altLang="en-US" sz="1100" spc="0" baseline="0" dirty="0">
              <a:ln/>
              <a:solidFill>
                <a:srgbClr val="111111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  <a:sym typeface="ＭＳ ゴシック"/>
              <a:rtl val="0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72469DC-587F-BAB9-91CD-7D3C349609CB}"/>
              </a:ext>
            </a:extLst>
          </p:cNvPr>
          <p:cNvSpPr txBox="1"/>
          <p:nvPr/>
        </p:nvSpPr>
        <p:spPr>
          <a:xfrm>
            <a:off x="6434972" y="1628102"/>
            <a:ext cx="13035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集計済みタグデータ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B1A816B-047A-28D7-1A7F-E6486B7673D7}"/>
              </a:ext>
            </a:extLst>
          </p:cNvPr>
          <p:cNvSpPr txBox="1"/>
          <p:nvPr/>
        </p:nvSpPr>
        <p:spPr>
          <a:xfrm>
            <a:off x="4852177" y="3530033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集計済みタグデータ</a:t>
            </a:r>
            <a:endParaRPr lang="en-US" altLang="ja-JP" sz="1100" spc="0" baseline="0" dirty="0">
              <a:ln/>
              <a:solidFill>
                <a:srgbClr val="111111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  <a:sym typeface="ＭＳ ゴシック"/>
              <a:rtl val="0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1B8638F3-34D7-6236-CEF6-D4AD1ADEDEAB}"/>
              </a:ext>
            </a:extLst>
          </p:cNvPr>
          <p:cNvSpPr txBox="1"/>
          <p:nvPr/>
        </p:nvSpPr>
        <p:spPr>
          <a:xfrm>
            <a:off x="6431009" y="4263263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11111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ＭＳ ゴシック"/>
                <a:rtl val="0"/>
              </a:rPr>
              <a:t>集計済みタグデータ</a:t>
            </a:r>
            <a:endParaRPr lang="en-US" altLang="ja-JP" sz="1100" spc="0" baseline="0" dirty="0">
              <a:ln/>
              <a:solidFill>
                <a:srgbClr val="111111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  <a:sym typeface="ＭＳ ゴシック"/>
              <a:rtl val="0"/>
            </a:endParaRPr>
          </a:p>
        </p:txBody>
      </p:sp>
      <p:sp>
        <p:nvSpPr>
          <p:cNvPr id="83" name="フリーフォーム: 図形 82">
            <a:extLst>
              <a:ext uri="{FF2B5EF4-FFF2-40B4-BE49-F238E27FC236}">
                <a16:creationId xmlns:a16="http://schemas.microsoft.com/office/drawing/2014/main" id="{B6511D5C-BA88-13BE-3C69-493D19F42BE6}"/>
              </a:ext>
            </a:extLst>
          </p:cNvPr>
          <p:cNvSpPr/>
          <p:nvPr/>
        </p:nvSpPr>
        <p:spPr>
          <a:xfrm>
            <a:off x="2420794" y="1087201"/>
            <a:ext cx="1371600" cy="822960"/>
          </a:xfrm>
          <a:custGeom>
            <a:avLst/>
            <a:gdLst>
              <a:gd name="connsiteX0" fmla="*/ 0 w 1371600"/>
              <a:gd name="connsiteY0" fmla="*/ 0 h 822960"/>
              <a:gd name="connsiteX1" fmla="*/ 1371600 w 1371600"/>
              <a:gd name="connsiteY1" fmla="*/ 0 h 822960"/>
              <a:gd name="connsiteX2" fmla="*/ 1371600 w 1371600"/>
              <a:gd name="connsiteY2" fmla="*/ 822960 h 822960"/>
              <a:gd name="connsiteX3" fmla="*/ 0 w 1371600"/>
              <a:gd name="connsiteY3" fmla="*/ 822960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1600" h="822960">
                <a:moveTo>
                  <a:pt x="0" y="0"/>
                </a:moveTo>
                <a:lnTo>
                  <a:pt x="1371600" y="0"/>
                </a:lnTo>
                <a:lnTo>
                  <a:pt x="13716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FFFFF"/>
          </a:solidFill>
          <a:ln w="10973" cap="flat">
            <a:solidFill>
              <a:srgbClr val="97A6B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C299E02B-19FA-B650-3B74-C7ADADE3D9DE}"/>
              </a:ext>
            </a:extLst>
          </p:cNvPr>
          <p:cNvSpPr txBox="1"/>
          <p:nvPr/>
        </p:nvSpPr>
        <p:spPr>
          <a:xfrm>
            <a:off x="2536715" y="1386262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22222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🔓 </a:t>
            </a:r>
            <a:r>
              <a:rPr lang="en-US" altLang="ja-JP" sz="1100" spc="0" baseline="0" dirty="0" err="1">
                <a:ln/>
                <a:solidFill>
                  <a:srgbClr val="22222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EntraID</a:t>
            </a:r>
            <a:endParaRPr lang="ja-JP" altLang="en-US" sz="1100" spc="0" baseline="0" dirty="0">
              <a:ln/>
              <a:solidFill>
                <a:srgbClr val="222222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  <a:sym typeface="Arial"/>
              <a:rtl val="0"/>
            </a:endParaRPr>
          </a:p>
        </p:txBody>
      </p: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092A6D7D-BE85-875C-EC5F-976D16E1AB40}"/>
              </a:ext>
            </a:extLst>
          </p:cNvPr>
          <p:cNvCxnSpPr>
            <a:cxnSpLocks/>
            <a:stCxn id="84" idx="3"/>
            <a:endCxn id="22" idx="1"/>
          </p:cNvCxnSpPr>
          <p:nvPr/>
        </p:nvCxnSpPr>
        <p:spPr>
          <a:xfrm flipV="1">
            <a:off x="3490822" y="1500091"/>
            <a:ext cx="713052" cy="16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2F7109EA-7117-A3F7-D809-8F46F3A20AA1}"/>
              </a:ext>
            </a:extLst>
          </p:cNvPr>
          <p:cNvSpPr/>
          <p:nvPr/>
        </p:nvSpPr>
        <p:spPr>
          <a:xfrm>
            <a:off x="518236" y="1075197"/>
            <a:ext cx="1371600" cy="822960"/>
          </a:xfrm>
          <a:custGeom>
            <a:avLst/>
            <a:gdLst>
              <a:gd name="connsiteX0" fmla="*/ 0 w 1371600"/>
              <a:gd name="connsiteY0" fmla="*/ 0 h 822960"/>
              <a:gd name="connsiteX1" fmla="*/ 1371600 w 1371600"/>
              <a:gd name="connsiteY1" fmla="*/ 0 h 822960"/>
              <a:gd name="connsiteX2" fmla="*/ 1371600 w 1371600"/>
              <a:gd name="connsiteY2" fmla="*/ 822960 h 822960"/>
              <a:gd name="connsiteX3" fmla="*/ 0 w 1371600"/>
              <a:gd name="connsiteY3" fmla="*/ 822960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71600" h="822960">
                <a:moveTo>
                  <a:pt x="0" y="0"/>
                </a:moveTo>
                <a:lnTo>
                  <a:pt x="1371600" y="0"/>
                </a:lnTo>
                <a:lnTo>
                  <a:pt x="13716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FFFFF"/>
          </a:solidFill>
          <a:ln w="10973" cap="flat">
            <a:solidFill>
              <a:srgbClr val="97A6B7"/>
            </a:solidFill>
            <a:prstDash val="solid"/>
            <a:miter/>
          </a:ln>
        </p:spPr>
        <p:txBody>
          <a:bodyPr rtlCol="0" anchor="ctr"/>
          <a:lstStyle/>
          <a:p>
            <a:endParaRPr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1DC7843-E6CB-D3CC-1D29-5345C2EBD9ED}"/>
              </a:ext>
            </a:extLst>
          </p:cNvPr>
          <p:cNvSpPr txBox="1"/>
          <p:nvPr/>
        </p:nvSpPr>
        <p:spPr>
          <a:xfrm>
            <a:off x="634157" y="1374258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spc="0" baseline="0" dirty="0">
                <a:ln/>
                <a:solidFill>
                  <a:srgbClr val="22222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 </a:t>
            </a:r>
            <a:r>
              <a:rPr lang="en-US" altLang="ja-JP" sz="1100" spc="0" baseline="0" dirty="0">
                <a:ln/>
                <a:solidFill>
                  <a:srgbClr val="22222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  <a:sym typeface="Arial"/>
                <a:rtl val="0"/>
              </a:rPr>
              <a:t>IDM</a:t>
            </a:r>
            <a:endParaRPr lang="ja-JP" altLang="en-US" sz="1100" spc="0" baseline="0" dirty="0">
              <a:ln/>
              <a:solidFill>
                <a:srgbClr val="222222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426886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69aef985f427d6df22868eedf41448bf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5ea8d7fed5e91ecceba9cbd3c6ab47c3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91742FF-3F51-4CB1-AA51-C724E930EF9A}"/>
</file>

<file path=customXml/itemProps2.xml><?xml version="1.0" encoding="utf-8"?>
<ds:datastoreItem xmlns:ds="http://schemas.openxmlformats.org/officeDocument/2006/customXml" ds:itemID="{F11F3CEF-0CE2-4089-906B-BCF3BC7A26AB}"/>
</file>

<file path=customXml/itemProps3.xml><?xml version="1.0" encoding="utf-8"?>
<ds:datastoreItem xmlns:ds="http://schemas.openxmlformats.org/officeDocument/2006/customXml" ds:itemID="{0ECA83A2-3F2F-4808-9B77-83FE4BB12DBC}"/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388</Words>
  <Application>Microsoft Office PowerPoint</Application>
  <PresentationFormat>ワイド画面</PresentationFormat>
  <Paragraphs>104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BIZ UDゴシック</vt:lpstr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>IdemitsuKosan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Okuda, Keita</dc:creator>
  <cp:lastModifiedBy>Okuda, Keita</cp:lastModifiedBy>
  <cp:revision>4</cp:revision>
  <dcterms:created xsi:type="dcterms:W3CDTF">2025-09-01T23:54:31Z</dcterms:created>
  <dcterms:modified xsi:type="dcterms:W3CDTF">2025-09-03T05:09:59Z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</Properties>
</file>