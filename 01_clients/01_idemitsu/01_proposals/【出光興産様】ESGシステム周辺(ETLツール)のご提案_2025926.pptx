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54"/>
  </p:notesMasterIdLst>
  <p:handoutMasterIdLst>
    <p:handoutMasterId r:id="rId55"/>
  </p:handoutMasterIdLst>
  <p:sldIdLst>
    <p:sldId id="714" r:id="rId5"/>
    <p:sldId id="828" r:id="rId6"/>
    <p:sldId id="1303" r:id="rId7"/>
    <p:sldId id="1081" r:id="rId8"/>
    <p:sldId id="718" r:id="rId9"/>
    <p:sldId id="748" r:id="rId10"/>
    <p:sldId id="1270" r:id="rId11"/>
    <p:sldId id="1271" r:id="rId12"/>
    <p:sldId id="799" r:id="rId13"/>
    <p:sldId id="1286" r:id="rId14"/>
    <p:sldId id="1254" r:id="rId15"/>
    <p:sldId id="1296" r:id="rId16"/>
    <p:sldId id="1259" r:id="rId17"/>
    <p:sldId id="1262" r:id="rId18"/>
    <p:sldId id="1278" r:id="rId19"/>
    <p:sldId id="1279" r:id="rId20"/>
    <p:sldId id="1280" r:id="rId21"/>
    <p:sldId id="1300" r:id="rId22"/>
    <p:sldId id="1302" r:id="rId23"/>
    <p:sldId id="1102" r:id="rId24"/>
    <p:sldId id="1260" r:id="rId25"/>
    <p:sldId id="1288" r:id="rId26"/>
    <p:sldId id="1297" r:id="rId27"/>
    <p:sldId id="1291" r:id="rId28"/>
    <p:sldId id="1292" r:id="rId29"/>
    <p:sldId id="1284" r:id="rId30"/>
    <p:sldId id="1293" r:id="rId31"/>
    <p:sldId id="1289" r:id="rId32"/>
    <p:sldId id="1285" r:id="rId33"/>
    <p:sldId id="1305" r:id="rId34"/>
    <p:sldId id="1306" r:id="rId35"/>
    <p:sldId id="1298" r:id="rId36"/>
    <p:sldId id="1099" r:id="rId37"/>
    <p:sldId id="1295" r:id="rId38"/>
    <p:sldId id="1258" r:id="rId39"/>
    <p:sldId id="1301" r:id="rId40"/>
    <p:sldId id="1304" r:id="rId41"/>
    <p:sldId id="1277" r:id="rId42"/>
    <p:sldId id="1267" r:id="rId43"/>
    <p:sldId id="806" r:id="rId44"/>
    <p:sldId id="1096" r:id="rId45"/>
    <p:sldId id="1287" r:id="rId46"/>
    <p:sldId id="807" r:id="rId47"/>
    <p:sldId id="1268" r:id="rId48"/>
    <p:sldId id="1282" r:id="rId49"/>
    <p:sldId id="851" r:id="rId50"/>
    <p:sldId id="843" r:id="rId51"/>
    <p:sldId id="853" r:id="rId52"/>
    <p:sldId id="656"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FF"/>
    <a:srgbClr val="FBE3C8"/>
    <a:srgbClr val="F3A447"/>
    <a:srgbClr val="787878"/>
    <a:srgbClr val="FFFFFF"/>
    <a:srgbClr val="FDEDDA"/>
    <a:srgbClr val="FAF2D4"/>
    <a:srgbClr val="9A3B5D"/>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76B380-5ECB-15A5-FE3F-EECE719A040D}" v="2" dt="2025-11-25T12:15:59.72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池野貴明" userId="S::takaaki.ikeno@system-exe.jp::a7547554-625e-4eae-aa46-47111854e3d8" providerId="AD" clId="Web-{B076B380-5ECB-15A5-FE3F-EECE719A040D}"/>
    <pc:docChg chg="modSld">
      <pc:chgData name="池野貴明" userId="S::takaaki.ikeno@system-exe.jp::a7547554-625e-4eae-aa46-47111854e3d8" providerId="AD" clId="Web-{B076B380-5ECB-15A5-FE3F-EECE719A040D}" dt="2025-11-25T12:15:59.728" v="1" actId="1076"/>
      <pc:docMkLst>
        <pc:docMk/>
      </pc:docMkLst>
      <pc:sldChg chg="modSp">
        <pc:chgData name="池野貴明" userId="S::takaaki.ikeno@system-exe.jp::a7547554-625e-4eae-aa46-47111854e3d8" providerId="AD" clId="Web-{B076B380-5ECB-15A5-FE3F-EECE719A040D}" dt="2025-11-25T12:15:59.728" v="1" actId="1076"/>
        <pc:sldMkLst>
          <pc:docMk/>
          <pc:sldMk cId="3652970849" sldId="748"/>
        </pc:sldMkLst>
        <pc:picChg chg="mod">
          <ac:chgData name="池野貴明" userId="S::takaaki.ikeno@system-exe.jp::a7547554-625e-4eae-aa46-47111854e3d8" providerId="AD" clId="Web-{B076B380-5ECB-15A5-FE3F-EECE719A040D}" dt="2025-11-25T12:15:59.728" v="1" actId="1076"/>
          <ac:picMkLst>
            <pc:docMk/>
            <pc:sldMk cId="3652970849" sldId="748"/>
            <ac:picMk id="8" creationId="{69EC7EDF-F862-1028-4786-C987EBF40AEF}"/>
          </ac:picMkLst>
        </pc:picChg>
      </pc:sldChg>
    </pc:docChg>
  </pc:docChgLst>
  <pc:docChgLst>
    <pc:chgData name="川名翔太" userId="902a1c22-1104-4fc2-ba41-1ee47f89ed5e" providerId="ADAL" clId="{6867D7A5-5D1E-496A-A323-39A84F6ED60A}"/>
    <pc:docChg chg="undo redo custSel addSld delSld modSld sldOrd">
      <pc:chgData name="川名翔太" userId="902a1c22-1104-4fc2-ba41-1ee47f89ed5e" providerId="ADAL" clId="{6867D7A5-5D1E-496A-A323-39A84F6ED60A}" dt="2025-11-18T05:28:22.827" v="1045" actId="14100"/>
      <pc:docMkLst>
        <pc:docMk/>
      </pc:docMkLst>
      <pc:sldChg chg="modSp mod">
        <pc:chgData name="川名翔太" userId="902a1c22-1104-4fc2-ba41-1ee47f89ed5e" providerId="ADAL" clId="{6867D7A5-5D1E-496A-A323-39A84F6ED60A}" dt="2025-11-18T05:28:22.827" v="1045" actId="14100"/>
        <pc:sldMkLst>
          <pc:docMk/>
          <pc:sldMk cId="800476108" sldId="1286"/>
        </pc:sldMkLst>
        <pc:cxnChg chg="mod">
          <ac:chgData name="川名翔太" userId="902a1c22-1104-4fc2-ba41-1ee47f89ed5e" providerId="ADAL" clId="{6867D7A5-5D1E-496A-A323-39A84F6ED60A}" dt="2025-11-18T05:28:22.827" v="1045" actId="14100"/>
          <ac:cxnSpMkLst>
            <pc:docMk/>
            <pc:sldMk cId="800476108" sldId="1286"/>
            <ac:cxnSpMk id="88" creationId="{DB9A58B6-FFAB-CDA2-72FE-29C8798F020A}"/>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2025/11/25</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2025/11/25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1261743">
              <a:defRPr/>
            </a:pPr>
            <a:endParaRPr lang="ja-JP" altLang="en-US" sz="1700">
              <a:cs typeface="Meiryo UI" panose="020B0604030504040204" pitchFamily="50" charset="-128"/>
            </a:endParaRPr>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2271090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7B43A-DF08-C939-1DBC-962EF999FE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AD310B-2919-2557-3075-432E609A1D1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E81CB1F-0C5D-FDED-3CD5-1128D5DF217F}"/>
              </a:ext>
            </a:extLst>
          </p:cNvPr>
          <p:cNvSpPr>
            <a:spLocks noGrp="1"/>
          </p:cNvSpPr>
          <p:nvPr>
            <p:ph type="body" idx="1"/>
          </p:nvPr>
        </p:nvSpPr>
        <p:spPr/>
        <p:txBody>
          <a:bodyPr/>
          <a:lstStyle/>
          <a:p>
            <a:pPr defTabSz="1261743">
              <a:defRPr/>
            </a:pPr>
            <a:endParaRPr lang="ja-JP" altLang="en-US" sz="1700">
              <a:cs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BC386D76-5F2F-FBBD-8EF5-1182D5B8ACF3}"/>
              </a:ext>
            </a:extLst>
          </p:cNvPr>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353609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0A11-4B00-B180-C4D4-AF5706F2B3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F8E7FF-1895-FDA4-F76E-F639757125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1BABAB-0959-C12F-C9C8-F6D24B401C1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6EC510B-82B0-406A-C22D-9D5991140952}"/>
              </a:ext>
            </a:extLst>
          </p:cNvPr>
          <p:cNvSpPr>
            <a:spLocks noGrp="1"/>
          </p:cNvSpPr>
          <p:nvPr>
            <p:ph type="sldNum" sz="quarter" idx="10"/>
          </p:nvPr>
        </p:nvSpPr>
        <p:spPr/>
        <p:txBody>
          <a:bodyPr/>
          <a:lstStyle/>
          <a:p>
            <a:fld id="{BC57080C-E8FE-C146-B769-6100616B65A7}" type="slidenum">
              <a:rPr kumimoji="1" lang="ja-JP" altLang="en-US" smtClean="0"/>
              <a:t>13</a:t>
            </a:fld>
            <a:endParaRPr kumimoji="1" lang="ja-JP" altLang="en-US"/>
          </a:p>
        </p:txBody>
      </p:sp>
    </p:spTree>
    <p:extLst>
      <p:ext uri="{BB962C8B-B14F-4D97-AF65-F5344CB8AC3E}">
        <p14:creationId xmlns:p14="http://schemas.microsoft.com/office/powerpoint/2010/main" val="1493189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B8B9-4F96-C3CF-8D55-58ACE5F28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97BF1A-FA4D-7134-CD01-1082F2D8BE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C135AB-4F5A-9CA6-9123-DC408A3AB0E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6F0D38-84B0-9EBB-822A-593E496BF917}"/>
              </a:ext>
            </a:extLst>
          </p:cNvPr>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3763185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3E9C-A1F8-E8E3-8F77-04914748DF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8D0A09-9C09-256A-C10E-0764053A83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FB68F2E-4C7E-6D50-357D-A5BC12EDE34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DB83EB-CC40-957E-A549-54767B5D20FD}"/>
              </a:ext>
            </a:extLst>
          </p:cNvPr>
          <p:cNvSpPr>
            <a:spLocks noGrp="1"/>
          </p:cNvSpPr>
          <p:nvPr>
            <p:ph type="sldNum" sz="quarter" idx="10"/>
          </p:nvPr>
        </p:nvSpPr>
        <p:spPr/>
        <p:txBody>
          <a:bodyPr/>
          <a:lstStyle/>
          <a:p>
            <a:fld id="{BC57080C-E8FE-C146-B769-6100616B65A7}" type="slidenum">
              <a:rPr kumimoji="1" lang="ja-JP" altLang="en-US" smtClean="0"/>
              <a:t>15</a:t>
            </a:fld>
            <a:endParaRPr kumimoji="1" lang="ja-JP" altLang="en-US"/>
          </a:p>
        </p:txBody>
      </p:sp>
    </p:spTree>
    <p:extLst>
      <p:ext uri="{BB962C8B-B14F-4D97-AF65-F5344CB8AC3E}">
        <p14:creationId xmlns:p14="http://schemas.microsoft.com/office/powerpoint/2010/main" val="3713499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35CC-2589-E386-3EAA-0BA4017752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FD728-2660-4C59-4FB4-2684748F0A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413325-01D7-4ED9-EEAD-7ADDDC5F87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91FB5EA-0D20-F6A5-4644-FB70E59F65A8}"/>
              </a:ext>
            </a:extLst>
          </p:cNvPr>
          <p:cNvSpPr>
            <a:spLocks noGrp="1"/>
          </p:cNvSpPr>
          <p:nvPr>
            <p:ph type="sldNum" sz="quarter" idx="10"/>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3800163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699A-F823-451B-398F-F6A7E284E0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DB3F60-8A0C-B063-871E-0CCBCAD0B8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1F0327-518C-AABB-4DCD-1CDC6E66332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DBD151C-06CC-D810-70AD-67AC842EAC4F}"/>
              </a:ext>
            </a:extLst>
          </p:cNvPr>
          <p:cNvSpPr>
            <a:spLocks noGrp="1"/>
          </p:cNvSpPr>
          <p:nvPr>
            <p:ph type="sldNum" sz="quarter" idx="10"/>
          </p:nvPr>
        </p:nvSpPr>
        <p:spPr/>
        <p:txBody>
          <a:bodyPr/>
          <a:lstStyle/>
          <a:p>
            <a:fld id="{BC57080C-E8FE-C146-B769-6100616B65A7}" type="slidenum">
              <a:rPr kumimoji="1" lang="ja-JP" altLang="en-US" smtClean="0"/>
              <a:t>17</a:t>
            </a:fld>
            <a:endParaRPr kumimoji="1" lang="ja-JP" altLang="en-US"/>
          </a:p>
        </p:txBody>
      </p:sp>
    </p:spTree>
    <p:extLst>
      <p:ext uri="{BB962C8B-B14F-4D97-AF65-F5344CB8AC3E}">
        <p14:creationId xmlns:p14="http://schemas.microsoft.com/office/powerpoint/2010/main" val="166949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6306F-7F3E-5315-7A43-135EE73D31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228EF8-CB16-8BB1-740F-7C018794ED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2102404-61CF-7F97-8E96-24900986FFF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8D64705-B143-DBE2-8642-BBFB8F7386A1}"/>
              </a:ext>
            </a:extLst>
          </p:cNvPr>
          <p:cNvSpPr>
            <a:spLocks noGrp="1"/>
          </p:cNvSpPr>
          <p:nvPr>
            <p:ph type="sldNum" sz="quarter" idx="10"/>
          </p:nvPr>
        </p:nvSpPr>
        <p:spPr/>
        <p:txBody>
          <a:bodyPr/>
          <a:lstStyle/>
          <a:p>
            <a:fld id="{BC57080C-E8FE-C146-B769-6100616B65A7}" type="slidenum">
              <a:rPr kumimoji="1" lang="ja-JP" altLang="en-US" smtClean="0"/>
              <a:t>18</a:t>
            </a:fld>
            <a:endParaRPr kumimoji="1" lang="ja-JP" altLang="en-US"/>
          </a:p>
        </p:txBody>
      </p:sp>
    </p:spTree>
    <p:extLst>
      <p:ext uri="{BB962C8B-B14F-4D97-AF65-F5344CB8AC3E}">
        <p14:creationId xmlns:p14="http://schemas.microsoft.com/office/powerpoint/2010/main" val="839444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A12C-89BA-BDBC-3C72-1995993B5B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878E446-7F3A-64D1-4470-FC931D77C7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4324B0-713B-5564-1181-1A4B7D1E8E5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D6DF83D-0081-8743-66EC-245C0683D60B}"/>
              </a:ext>
            </a:extLst>
          </p:cNvPr>
          <p:cNvSpPr>
            <a:spLocks noGrp="1"/>
          </p:cNvSpPr>
          <p:nvPr>
            <p:ph type="sldNum" sz="quarter" idx="10"/>
          </p:nvPr>
        </p:nvSpPr>
        <p:spPr/>
        <p:txBody>
          <a:bodyPr/>
          <a:lstStyle/>
          <a:p>
            <a:fld id="{BC57080C-E8FE-C146-B769-6100616B65A7}" type="slidenum">
              <a:rPr kumimoji="1" lang="ja-JP" altLang="en-US" smtClean="0"/>
              <a:t>23</a:t>
            </a:fld>
            <a:endParaRPr kumimoji="1" lang="ja-JP" altLang="en-US"/>
          </a:p>
        </p:txBody>
      </p:sp>
    </p:spTree>
    <p:extLst>
      <p:ext uri="{BB962C8B-B14F-4D97-AF65-F5344CB8AC3E}">
        <p14:creationId xmlns:p14="http://schemas.microsoft.com/office/powerpoint/2010/main" val="3491575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D1337-4678-65E4-EB12-753AA3580E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6BFCEC-FA3C-6E50-6061-1E78832E7D9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F22332E-78AB-3035-5F1B-4906052E534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CA2B2E0-4855-38BE-DCCA-7A6346E110F8}"/>
              </a:ext>
            </a:extLst>
          </p:cNvPr>
          <p:cNvSpPr>
            <a:spLocks noGrp="1"/>
          </p:cNvSpPr>
          <p:nvPr>
            <p:ph type="sldNum" sz="quarter" idx="10"/>
          </p:nvPr>
        </p:nvSpPr>
        <p:spPr/>
        <p:txBody>
          <a:bodyPr/>
          <a:lstStyle/>
          <a:p>
            <a:fld id="{BC57080C-E8FE-C146-B769-6100616B65A7}" type="slidenum">
              <a:rPr kumimoji="1" lang="ja-JP" altLang="en-US" smtClean="0"/>
              <a:t>24</a:t>
            </a:fld>
            <a:endParaRPr kumimoji="1" lang="ja-JP" altLang="en-US"/>
          </a:p>
        </p:txBody>
      </p:sp>
    </p:spTree>
    <p:extLst>
      <p:ext uri="{BB962C8B-B14F-4D97-AF65-F5344CB8AC3E}">
        <p14:creationId xmlns:p14="http://schemas.microsoft.com/office/powerpoint/2010/main" val="3260718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E1B-346E-C49F-6EE7-28EAE6F7A9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0F7BE41-7162-9922-D807-AC2A363810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D0EFE2-C890-C228-5B26-1EE4AC5C241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44B1298-8664-4E26-E1BB-0CE370C6EED0}"/>
              </a:ext>
            </a:extLst>
          </p:cNvPr>
          <p:cNvSpPr>
            <a:spLocks noGrp="1"/>
          </p:cNvSpPr>
          <p:nvPr>
            <p:ph type="sldNum" sz="quarter" idx="10"/>
          </p:nvPr>
        </p:nvSpPr>
        <p:spPr/>
        <p:txBody>
          <a:bodyPr/>
          <a:lstStyle/>
          <a:p>
            <a:fld id="{BC57080C-E8FE-C146-B769-6100616B65A7}" type="slidenum">
              <a:rPr kumimoji="1" lang="ja-JP" altLang="en-US" smtClean="0"/>
              <a:t>25</a:t>
            </a:fld>
            <a:endParaRPr kumimoji="1" lang="ja-JP" altLang="en-US"/>
          </a:p>
        </p:txBody>
      </p:sp>
    </p:spTree>
    <p:extLst>
      <p:ext uri="{BB962C8B-B14F-4D97-AF65-F5344CB8AC3E}">
        <p14:creationId xmlns:p14="http://schemas.microsoft.com/office/powerpoint/2010/main" val="1815133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0733F-BD8D-134B-95C1-EBF655C4C28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4935F1-86DD-5B3D-09A0-C85674F8E0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16CE4-406E-4F15-12F1-9F99C8071A2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A935DE0-A8CB-B506-CD01-FB128710E3C6}"/>
              </a:ext>
            </a:extLst>
          </p:cNvPr>
          <p:cNvSpPr>
            <a:spLocks noGrp="1"/>
          </p:cNvSpPr>
          <p:nvPr>
            <p:ph type="sldNum" sz="quarter" idx="10"/>
          </p:nvPr>
        </p:nvSpPr>
        <p:spPr/>
        <p:txBody>
          <a:bodyPr/>
          <a:lstStyle/>
          <a:p>
            <a:fld id="{BC57080C-E8FE-C146-B769-6100616B65A7}" type="slidenum">
              <a:rPr kumimoji="1" lang="ja-JP" altLang="en-US" smtClean="0"/>
              <a:t>26</a:t>
            </a:fld>
            <a:endParaRPr kumimoji="1" lang="ja-JP" altLang="en-US"/>
          </a:p>
        </p:txBody>
      </p:sp>
    </p:spTree>
    <p:extLst>
      <p:ext uri="{BB962C8B-B14F-4D97-AF65-F5344CB8AC3E}">
        <p14:creationId xmlns:p14="http://schemas.microsoft.com/office/powerpoint/2010/main" val="2047010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4CB7B-9512-373B-E570-275C8F8067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94E4EE-0377-30B1-2CE8-0AED3BA4E7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3CB8F8-A6E7-DFD5-BD02-6494D0DCA16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7BD6795-ED67-B0A5-D835-B4C9C816868E}"/>
              </a:ext>
            </a:extLst>
          </p:cNvPr>
          <p:cNvSpPr>
            <a:spLocks noGrp="1"/>
          </p:cNvSpPr>
          <p:nvPr>
            <p:ph type="sldNum" sz="quarter" idx="10"/>
          </p:nvPr>
        </p:nvSpPr>
        <p:spPr/>
        <p:txBody>
          <a:bodyPr/>
          <a:lstStyle/>
          <a:p>
            <a:fld id="{BC57080C-E8FE-C146-B769-6100616B65A7}" type="slidenum">
              <a:rPr kumimoji="1" lang="ja-JP" altLang="en-US" smtClean="0"/>
              <a:t>27</a:t>
            </a:fld>
            <a:endParaRPr kumimoji="1" lang="ja-JP" altLang="en-US"/>
          </a:p>
        </p:txBody>
      </p:sp>
    </p:spTree>
    <p:extLst>
      <p:ext uri="{BB962C8B-B14F-4D97-AF65-F5344CB8AC3E}">
        <p14:creationId xmlns:p14="http://schemas.microsoft.com/office/powerpoint/2010/main" val="4199440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B186B-E3C8-2CCB-01B3-DDD7A2D5589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83648C-BC74-16A8-B528-DC1A55FA45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0FDD05-E7BC-CA6D-B822-0C11999DCF5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B3FDCF-D3F8-5835-904B-0224F566FDD1}"/>
              </a:ext>
            </a:extLst>
          </p:cNvPr>
          <p:cNvSpPr>
            <a:spLocks noGrp="1"/>
          </p:cNvSpPr>
          <p:nvPr>
            <p:ph type="sldNum" sz="quarter" idx="10"/>
          </p:nvPr>
        </p:nvSpPr>
        <p:spPr/>
        <p:txBody>
          <a:bodyPr/>
          <a:lstStyle/>
          <a:p>
            <a:fld id="{BC57080C-E8FE-C146-B769-6100616B65A7}" type="slidenum">
              <a:rPr kumimoji="1" lang="ja-JP" altLang="en-US" smtClean="0"/>
              <a:t>32</a:t>
            </a:fld>
            <a:endParaRPr kumimoji="1" lang="ja-JP" altLang="en-US"/>
          </a:p>
        </p:txBody>
      </p:sp>
    </p:spTree>
    <p:extLst>
      <p:ext uri="{BB962C8B-B14F-4D97-AF65-F5344CB8AC3E}">
        <p14:creationId xmlns:p14="http://schemas.microsoft.com/office/powerpoint/2010/main" val="2719467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47</a:t>
            </a:fld>
            <a:endParaRPr kumimoji="1" lang="ja-JP" altLang="en-US"/>
          </a:p>
        </p:txBody>
      </p:sp>
    </p:spTree>
    <p:extLst>
      <p:ext uri="{BB962C8B-B14F-4D97-AF65-F5344CB8AC3E}">
        <p14:creationId xmlns:p14="http://schemas.microsoft.com/office/powerpoint/2010/main" val="1875883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7654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9"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 id="2147483806" r:id="rId27"/>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9.png"/><Relationship Id="rId18" Type="http://schemas.openxmlformats.org/officeDocument/2006/relationships/image" Target="../media/image53.png"/><Relationship Id="rId3" Type="http://schemas.openxmlformats.org/officeDocument/2006/relationships/image" Target="../media/image40.png"/><Relationship Id="rId21" Type="http://schemas.openxmlformats.org/officeDocument/2006/relationships/image" Target="../media/image55.png"/><Relationship Id="rId7" Type="http://schemas.openxmlformats.org/officeDocument/2006/relationships/image" Target="../media/image44.png"/><Relationship Id="rId12" Type="http://schemas.microsoft.com/office/2007/relationships/hdphoto" Target="../media/hdphoto2.wdp"/><Relationship Id="rId17" Type="http://schemas.microsoft.com/office/2007/relationships/hdphoto" Target="../media/hdphoto3.wdp"/><Relationship Id="rId2" Type="http://schemas.openxmlformats.org/officeDocument/2006/relationships/notesSlide" Target="../notesSlides/notesSlide9.xml"/><Relationship Id="rId16" Type="http://schemas.openxmlformats.org/officeDocument/2006/relationships/image" Target="../media/image52.png"/><Relationship Id="rId20" Type="http://schemas.openxmlformats.org/officeDocument/2006/relationships/image" Target="../media/image54.png"/><Relationship Id="rId1" Type="http://schemas.openxmlformats.org/officeDocument/2006/relationships/slideLayout" Target="../slideLayouts/slideLayout4.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1.png"/><Relationship Id="rId10" Type="http://schemas.openxmlformats.org/officeDocument/2006/relationships/image" Target="../media/image47.png"/><Relationship Id="rId19" Type="http://schemas.microsoft.com/office/2007/relationships/hdphoto" Target="../media/hdphoto4.wdp"/><Relationship Id="rId4" Type="http://schemas.openxmlformats.org/officeDocument/2006/relationships/image" Target="../media/image41.svg"/><Relationship Id="rId9" Type="http://schemas.openxmlformats.org/officeDocument/2006/relationships/image" Target="../media/image46.png"/><Relationship Id="rId1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57.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サブタイトル 3"/>
          <p:cNvSpPr>
            <a:spLocks noGrp="1"/>
          </p:cNvSpPr>
          <p:nvPr>
            <p:ph type="subTitle" idx="1"/>
          </p:nvPr>
        </p:nvSpPr>
        <p:spPr>
          <a:xfrm>
            <a:off x="480001" y="2660492"/>
            <a:ext cx="9245890" cy="1563508"/>
          </a:xfrm>
        </p:spPr>
        <p:txBody>
          <a:bodyPr>
            <a:normAutofit lnSpcReduction="10000"/>
          </a:bodyPr>
          <a:lstStyle/>
          <a:p>
            <a:r>
              <a:rPr lang="en-US" altLang="ja-JP" sz="3200"/>
              <a:t>ESG</a:t>
            </a:r>
            <a:r>
              <a:rPr lang="ja-JP" altLang="en-US" sz="3200"/>
              <a:t>システム　データ連携構築</a:t>
            </a:r>
            <a:endParaRPr lang="en-US" altLang="ja-JP" sz="3200"/>
          </a:p>
          <a:p>
            <a:endParaRPr lang="en-US" altLang="ja-JP" sz="3200"/>
          </a:p>
          <a:p>
            <a:r>
              <a:rPr lang="ja-JP" altLang="en-US" sz="3600"/>
              <a:t>ご提案</a:t>
            </a:r>
            <a:r>
              <a:rPr lang="en-US" altLang="ja-JP" sz="3600"/>
              <a:t>(</a:t>
            </a:r>
            <a:r>
              <a:rPr lang="ja-JP" altLang="en-US" sz="3600"/>
              <a:t>第</a:t>
            </a:r>
            <a:r>
              <a:rPr lang="en-US" altLang="ja-JP" sz="3600"/>
              <a:t>1.0</a:t>
            </a:r>
            <a:r>
              <a:rPr lang="ja-JP" altLang="en-US" sz="3600"/>
              <a:t>版）</a:t>
            </a:r>
            <a:endParaRPr kumimoji="1" lang="ja-JP" altLang="en-US" sz="3600"/>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2025/9/26</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a:extLst>
              <a:ext uri="{FF2B5EF4-FFF2-40B4-BE49-F238E27FC236}">
                <a16:creationId xmlns:a16="http://schemas.microsoft.com/office/drawing/2014/main" id="{2E1CE15F-6188-D4DE-439B-CEAF8146E0C0}"/>
              </a:ext>
            </a:extLst>
          </p:cNvPr>
          <p:cNvSpPr txBox="1">
            <a:spLocks/>
          </p:cNvSpPr>
          <p:nvPr/>
        </p:nvSpPr>
        <p:spPr>
          <a:xfrm>
            <a:off x="336000" y="353451"/>
            <a:ext cx="11856000" cy="40392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l"/>
            </a:pPr>
            <a:r>
              <a:rPr lang="ja-JP" altLang="en-US"/>
              <a:t>本書は、貴社よりご提供をいただきました下記の資料の内容を基にしたご提案書となります。</a:t>
            </a:r>
          </a:p>
          <a:p>
            <a:pPr marL="720000" lvl="1" indent="-342900">
              <a:lnSpc>
                <a:spcPct val="100000"/>
              </a:lnSpc>
            </a:pPr>
            <a:r>
              <a:rPr lang="en-US" altLang="ja-JP" sz="1600">
                <a:latin typeface="+mn-ea"/>
              </a:rPr>
              <a:t>SSBJ_</a:t>
            </a:r>
            <a:r>
              <a:rPr lang="ja-JP" altLang="en-US" sz="1600">
                <a:latin typeface="+mn-ea"/>
              </a:rPr>
              <a:t>システム導入構想書</a:t>
            </a:r>
            <a:r>
              <a:rPr lang="en-US" altLang="ja-JP" sz="1600">
                <a:latin typeface="+mn-ea"/>
              </a:rPr>
              <a:t>_v1.0.pptx</a:t>
            </a:r>
          </a:p>
          <a:p>
            <a:pPr marL="720000" lvl="1" indent="-342900">
              <a:lnSpc>
                <a:spcPct val="100000"/>
              </a:lnSpc>
            </a:pPr>
            <a:r>
              <a:rPr lang="en-US" altLang="ja-JP" sz="1600">
                <a:latin typeface="+mn-ea"/>
              </a:rPr>
              <a:t>SSBJIF</a:t>
            </a:r>
            <a:r>
              <a:rPr lang="ja-JP" altLang="en-US" sz="1600">
                <a:latin typeface="+mn-ea"/>
              </a:rPr>
              <a:t>システムイメージ</a:t>
            </a:r>
            <a:r>
              <a:rPr lang="en-US" altLang="ja-JP" sz="1600">
                <a:latin typeface="+mn-ea"/>
              </a:rPr>
              <a:t>.pptx</a:t>
            </a:r>
          </a:p>
          <a:p>
            <a:pPr marL="720000" lvl="1" indent="-342900">
              <a:lnSpc>
                <a:spcPct val="100000"/>
              </a:lnSpc>
            </a:pPr>
            <a:r>
              <a:rPr lang="zh-TW" altLang="en-US" sz="1600">
                <a:latin typeface="+mn-ea"/>
              </a:rPr>
              <a:t>★千葉事業所（石油精製）</a:t>
            </a:r>
            <a:r>
              <a:rPr lang="en-US" altLang="zh-TW" sz="1600">
                <a:latin typeface="+mn-ea"/>
              </a:rPr>
              <a:t>_FY2023 (003).xlsx</a:t>
            </a:r>
            <a:endParaRPr lang="en-US" altLang="ja-JP" sz="1600">
              <a:latin typeface="+mn-ea"/>
            </a:endParaRPr>
          </a:p>
        </p:txBody>
      </p:sp>
      <p:sp>
        <p:nvSpPr>
          <p:cNvPr id="2" name="フッター プレースホルダー 1">
            <a:extLst>
              <a:ext uri="{FF2B5EF4-FFF2-40B4-BE49-F238E27FC236}">
                <a16:creationId xmlns:a16="http://schemas.microsoft.com/office/drawing/2014/main" id="{2D2AEE21-AA83-075A-3CD6-7EDAC406B400}"/>
              </a:ext>
            </a:extLst>
          </p:cNvPr>
          <p:cNvSpPr>
            <a:spLocks noGrp="1"/>
          </p:cNvSpPr>
          <p:nvPr>
            <p:ph type="ftr" sz="quarter" idx="11"/>
          </p:nvPr>
        </p:nvSpPr>
        <p:spPr/>
        <p:txBody>
          <a:bodyPr/>
          <a:lstStyle/>
          <a:p>
            <a:r>
              <a:rPr lang="en-US"/>
              <a:t>Copyright © SystemEXE,Inc All Rights Reserved.</a:t>
            </a:r>
          </a:p>
        </p:txBody>
      </p:sp>
      <p:sp>
        <p:nvSpPr>
          <p:cNvPr id="3" name="スライド番号プレースホルダー 3">
            <a:extLst>
              <a:ext uri="{FF2B5EF4-FFF2-40B4-BE49-F238E27FC236}">
                <a16:creationId xmlns:a16="http://schemas.microsoft.com/office/drawing/2014/main" id="{55F151F7-AB07-3B47-A78C-6238199A735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2851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0DDB73-3DAE-E585-CFA4-6B4062515D26}"/>
              </a:ext>
            </a:extLst>
          </p:cNvPr>
          <p:cNvSpPr>
            <a:spLocks noGrp="1"/>
          </p:cNvSpPr>
          <p:nvPr>
            <p:ph type="title"/>
          </p:nvPr>
        </p:nvSpPr>
        <p:spPr/>
        <p:txBody>
          <a:bodyPr/>
          <a:lstStyle/>
          <a:p>
            <a:r>
              <a:rPr kumimoji="1" lang="ja-JP" altLang="en-US"/>
              <a:t>目次</a:t>
            </a:r>
          </a:p>
        </p:txBody>
      </p:sp>
      <p:sp>
        <p:nvSpPr>
          <p:cNvPr id="3" name="フッター プレースホルダー 2">
            <a:extLst>
              <a:ext uri="{FF2B5EF4-FFF2-40B4-BE49-F238E27FC236}">
                <a16:creationId xmlns:a16="http://schemas.microsoft.com/office/drawing/2014/main" id="{AD4D7248-8B01-1DE1-9E89-7ED14B040AE1}"/>
              </a:ext>
            </a:extLst>
          </p:cNvPr>
          <p:cNvSpPr>
            <a:spLocks noGrp="1"/>
          </p:cNvSpPr>
          <p:nvPr>
            <p:ph type="ftr" sz="quarter" idx="11"/>
          </p:nvPr>
        </p:nvSpPr>
        <p:spPr/>
        <p:txBody>
          <a:bodyPr/>
          <a:lstStyle/>
          <a:p>
            <a:r>
              <a:rPr lang="en-US"/>
              <a:t>Copyright © SystemEXE,Inc All Rights Reserved.</a:t>
            </a:r>
          </a:p>
        </p:txBody>
      </p:sp>
      <p:sp>
        <p:nvSpPr>
          <p:cNvPr id="5" name="正方形/長方形 4">
            <a:extLst>
              <a:ext uri="{FF2B5EF4-FFF2-40B4-BE49-F238E27FC236}">
                <a16:creationId xmlns:a16="http://schemas.microsoft.com/office/drawing/2014/main" id="{043C9EFD-7E09-676C-ED8A-56BBFFC3B482}"/>
              </a:ext>
            </a:extLst>
          </p:cNvPr>
          <p:cNvSpPr/>
          <p:nvPr/>
        </p:nvSpPr>
        <p:spPr>
          <a:xfrm>
            <a:off x="412414" y="98507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 name="テキスト ボックス 5">
            <a:extLst>
              <a:ext uri="{FF2B5EF4-FFF2-40B4-BE49-F238E27FC236}">
                <a16:creationId xmlns:a16="http://schemas.microsoft.com/office/drawing/2014/main" id="{FDFF2349-1A0B-D040-2FC3-C26EE8F00B02}"/>
              </a:ext>
            </a:extLst>
          </p:cNvPr>
          <p:cNvSpPr txBox="1"/>
          <p:nvPr/>
        </p:nvSpPr>
        <p:spPr>
          <a:xfrm>
            <a:off x="668566" y="97741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1</a:t>
            </a:r>
            <a:endParaRPr kumimoji="1" lang="ja-JP" altLang="en-US" sz="2400" b="1">
              <a:solidFill>
                <a:schemeClr val="accent4">
                  <a:lumMod val="75000"/>
                </a:schemeClr>
              </a:solidFill>
              <a:latin typeface="+mn-ea"/>
            </a:endParaRPr>
          </a:p>
        </p:txBody>
      </p:sp>
      <p:sp>
        <p:nvSpPr>
          <p:cNvPr id="7" name="テキスト ボックス 6">
            <a:extLst>
              <a:ext uri="{FF2B5EF4-FFF2-40B4-BE49-F238E27FC236}">
                <a16:creationId xmlns:a16="http://schemas.microsoft.com/office/drawing/2014/main" id="{CA5E1339-5F0A-4B55-CB4B-A83C30B1BBAD}"/>
              </a:ext>
            </a:extLst>
          </p:cNvPr>
          <p:cNvSpPr txBox="1"/>
          <p:nvPr/>
        </p:nvSpPr>
        <p:spPr>
          <a:xfrm>
            <a:off x="1093112" y="1033401"/>
            <a:ext cx="1800493" cy="369333"/>
          </a:xfrm>
          <a:prstGeom prst="rect">
            <a:avLst/>
          </a:prstGeom>
          <a:noFill/>
        </p:spPr>
        <p:txBody>
          <a:bodyPr wrap="none" rtlCol="0">
            <a:noAutofit/>
          </a:bodyPr>
          <a:lstStyle/>
          <a:p>
            <a:r>
              <a:rPr kumimoji="1" lang="ja-JP" altLang="en-US" b="1">
                <a:solidFill>
                  <a:schemeClr val="tx1">
                    <a:lumMod val="75000"/>
                    <a:lumOff val="25000"/>
                  </a:schemeClr>
                </a:solidFill>
                <a:latin typeface="+mn-ea"/>
              </a:rPr>
              <a:t>ご提案のポイント</a:t>
            </a:r>
          </a:p>
        </p:txBody>
      </p:sp>
      <p:sp>
        <p:nvSpPr>
          <p:cNvPr id="8" name="正方形/長方形 7">
            <a:extLst>
              <a:ext uri="{FF2B5EF4-FFF2-40B4-BE49-F238E27FC236}">
                <a16:creationId xmlns:a16="http://schemas.microsoft.com/office/drawing/2014/main" id="{B7AE61BE-9BE9-19AB-28DD-22C5F80A4CB4}"/>
              </a:ext>
            </a:extLst>
          </p:cNvPr>
          <p:cNvSpPr/>
          <p:nvPr/>
        </p:nvSpPr>
        <p:spPr>
          <a:xfrm rot="10800000">
            <a:off x="616274" y="141968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0" name="テキスト ボックス 9">
            <a:extLst>
              <a:ext uri="{FF2B5EF4-FFF2-40B4-BE49-F238E27FC236}">
                <a16:creationId xmlns:a16="http://schemas.microsoft.com/office/drawing/2014/main" id="{26CACF70-8747-A2B0-4FDF-69B98B5E637E}"/>
              </a:ext>
            </a:extLst>
          </p:cNvPr>
          <p:cNvSpPr txBox="1"/>
          <p:nvPr/>
        </p:nvSpPr>
        <p:spPr>
          <a:xfrm>
            <a:off x="5381737" y="93786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P.3</a:t>
            </a:r>
            <a:endParaRPr kumimoji="1" lang="ja-JP" altLang="en-US" sz="1600">
              <a:solidFill>
                <a:schemeClr val="bg1">
                  <a:lumMod val="50000"/>
                </a:schemeClr>
              </a:solidFill>
              <a:latin typeface="+mn-ea"/>
            </a:endParaRPr>
          </a:p>
        </p:txBody>
      </p:sp>
      <p:sp>
        <p:nvSpPr>
          <p:cNvPr id="12" name="正方形/長方形 11">
            <a:extLst>
              <a:ext uri="{FF2B5EF4-FFF2-40B4-BE49-F238E27FC236}">
                <a16:creationId xmlns:a16="http://schemas.microsoft.com/office/drawing/2014/main" id="{99DAD8ED-26DA-D31A-5A5D-39B444404431}"/>
              </a:ext>
            </a:extLst>
          </p:cNvPr>
          <p:cNvSpPr/>
          <p:nvPr/>
        </p:nvSpPr>
        <p:spPr>
          <a:xfrm>
            <a:off x="6165157" y="983547"/>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13" name="テキスト ボックス 12">
            <a:extLst>
              <a:ext uri="{FF2B5EF4-FFF2-40B4-BE49-F238E27FC236}">
                <a16:creationId xmlns:a16="http://schemas.microsoft.com/office/drawing/2014/main" id="{5BF77E43-68D8-BD64-0589-490BD977EBC9}"/>
              </a:ext>
            </a:extLst>
          </p:cNvPr>
          <p:cNvSpPr txBox="1"/>
          <p:nvPr/>
        </p:nvSpPr>
        <p:spPr>
          <a:xfrm>
            <a:off x="6421312" y="980516"/>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6</a:t>
            </a:r>
            <a:endParaRPr kumimoji="1" lang="ja-JP" altLang="en-US" sz="2400" b="1">
              <a:solidFill>
                <a:schemeClr val="accent4">
                  <a:lumMod val="75000"/>
                </a:schemeClr>
              </a:solidFill>
              <a:latin typeface="+mn-ea"/>
            </a:endParaRPr>
          </a:p>
        </p:txBody>
      </p:sp>
      <p:sp>
        <p:nvSpPr>
          <p:cNvPr id="14" name="テキスト ボックス 13">
            <a:extLst>
              <a:ext uri="{FF2B5EF4-FFF2-40B4-BE49-F238E27FC236}">
                <a16:creationId xmlns:a16="http://schemas.microsoft.com/office/drawing/2014/main" id="{9C4AEF55-EFC3-802E-41D2-940414539A11}"/>
              </a:ext>
            </a:extLst>
          </p:cNvPr>
          <p:cNvSpPr txBox="1"/>
          <p:nvPr/>
        </p:nvSpPr>
        <p:spPr>
          <a:xfrm>
            <a:off x="6845857" y="1031878"/>
            <a:ext cx="1800493"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お見積り</a:t>
            </a:r>
            <a:endParaRPr kumimoji="1" lang="ja-JP" altLang="en-US" b="1">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59C9FDB0-6D91-9EFE-F923-E7A2F031B727}"/>
              </a:ext>
            </a:extLst>
          </p:cNvPr>
          <p:cNvSpPr/>
          <p:nvPr/>
        </p:nvSpPr>
        <p:spPr>
          <a:xfrm rot="10800000">
            <a:off x="6369019" y="1427409"/>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7" name="テキスト ボックス 16">
            <a:extLst>
              <a:ext uri="{FF2B5EF4-FFF2-40B4-BE49-F238E27FC236}">
                <a16:creationId xmlns:a16="http://schemas.microsoft.com/office/drawing/2014/main" id="{667DF944-4F98-10D6-169B-38734919D9C4}"/>
              </a:ext>
            </a:extLst>
          </p:cNvPr>
          <p:cNvSpPr txBox="1"/>
          <p:nvPr/>
        </p:nvSpPr>
        <p:spPr>
          <a:xfrm>
            <a:off x="11134482" y="936342"/>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P.25</a:t>
            </a:r>
            <a:endParaRPr kumimoji="1" lang="ja-JP" altLang="en-US" sz="1600">
              <a:solidFill>
                <a:schemeClr val="bg1">
                  <a:lumMod val="50000"/>
                </a:schemeClr>
              </a:solidFill>
              <a:latin typeface="+mn-ea"/>
            </a:endParaRPr>
          </a:p>
        </p:txBody>
      </p:sp>
      <p:sp>
        <p:nvSpPr>
          <p:cNvPr id="19" name="正方形/長方形 18">
            <a:extLst>
              <a:ext uri="{FF2B5EF4-FFF2-40B4-BE49-F238E27FC236}">
                <a16:creationId xmlns:a16="http://schemas.microsoft.com/office/drawing/2014/main" id="{30E543EE-8041-E8D6-001E-E19F06D6061F}"/>
              </a:ext>
            </a:extLst>
          </p:cNvPr>
          <p:cNvSpPr/>
          <p:nvPr/>
        </p:nvSpPr>
        <p:spPr>
          <a:xfrm>
            <a:off x="412414" y="1958659"/>
            <a:ext cx="211232" cy="426599"/>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0" name="テキスト ボックス 19">
            <a:extLst>
              <a:ext uri="{FF2B5EF4-FFF2-40B4-BE49-F238E27FC236}">
                <a16:creationId xmlns:a16="http://schemas.microsoft.com/office/drawing/2014/main" id="{66A18E5F-EEDC-E4DF-64DC-1DA2DA2AB721}"/>
              </a:ext>
            </a:extLst>
          </p:cNvPr>
          <p:cNvSpPr txBox="1"/>
          <p:nvPr/>
        </p:nvSpPr>
        <p:spPr>
          <a:xfrm>
            <a:off x="680935" y="1954787"/>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2</a:t>
            </a:r>
            <a:endParaRPr kumimoji="1" lang="ja-JP" altLang="en-US" sz="2400" b="1">
              <a:solidFill>
                <a:schemeClr val="accent4">
                  <a:lumMod val="75000"/>
                </a:schemeClr>
              </a:solidFill>
              <a:latin typeface="+mn-ea"/>
            </a:endParaRPr>
          </a:p>
        </p:txBody>
      </p:sp>
      <p:sp>
        <p:nvSpPr>
          <p:cNvPr id="21" name="テキスト ボックス 20">
            <a:extLst>
              <a:ext uri="{FF2B5EF4-FFF2-40B4-BE49-F238E27FC236}">
                <a16:creationId xmlns:a16="http://schemas.microsoft.com/office/drawing/2014/main" id="{7299EA5C-B1AB-3A37-2CE7-07C5C055AF7E}"/>
              </a:ext>
            </a:extLst>
          </p:cNvPr>
          <p:cNvSpPr txBox="1"/>
          <p:nvPr/>
        </p:nvSpPr>
        <p:spPr>
          <a:xfrm>
            <a:off x="1093112" y="2006990"/>
            <a:ext cx="1800494" cy="369332"/>
          </a:xfrm>
          <a:prstGeom prst="rect">
            <a:avLst/>
          </a:prstGeom>
          <a:noFill/>
        </p:spPr>
        <p:txBody>
          <a:bodyPr wrap="none" rtlCol="0">
            <a:noAutofit/>
          </a:bodyPr>
          <a:lstStyle/>
          <a:p>
            <a:r>
              <a:rPr kumimoji="1" lang="ja-JP" altLang="en-US" b="1">
                <a:solidFill>
                  <a:schemeClr val="tx1">
                    <a:lumMod val="75000"/>
                    <a:lumOff val="25000"/>
                  </a:schemeClr>
                </a:solidFill>
                <a:latin typeface="+mn-ea"/>
              </a:rPr>
              <a:t>開発範囲</a:t>
            </a:r>
          </a:p>
        </p:txBody>
      </p:sp>
      <p:sp>
        <p:nvSpPr>
          <p:cNvPr id="22" name="正方形/長方形 21">
            <a:extLst>
              <a:ext uri="{FF2B5EF4-FFF2-40B4-BE49-F238E27FC236}">
                <a16:creationId xmlns:a16="http://schemas.microsoft.com/office/drawing/2014/main" id="{55B13FC8-8A4D-5D8D-73CF-41A9139E4443}"/>
              </a:ext>
            </a:extLst>
          </p:cNvPr>
          <p:cNvSpPr/>
          <p:nvPr/>
        </p:nvSpPr>
        <p:spPr>
          <a:xfrm rot="10800000">
            <a:off x="616274" y="240252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24" name="テキスト ボックス 23">
            <a:extLst>
              <a:ext uri="{FF2B5EF4-FFF2-40B4-BE49-F238E27FC236}">
                <a16:creationId xmlns:a16="http://schemas.microsoft.com/office/drawing/2014/main" id="{B88A2F33-69AA-2252-4123-BFDA17D93CC6}"/>
              </a:ext>
            </a:extLst>
          </p:cNvPr>
          <p:cNvSpPr txBox="1"/>
          <p:nvPr/>
        </p:nvSpPr>
        <p:spPr>
          <a:xfrm>
            <a:off x="5381737" y="1911454"/>
            <a:ext cx="645104" cy="461665"/>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P.8</a:t>
            </a:r>
            <a:endParaRPr kumimoji="1" lang="ja-JP" altLang="en-US" sz="1600">
              <a:solidFill>
                <a:schemeClr val="bg1">
                  <a:lumMod val="50000"/>
                </a:schemeClr>
              </a:solidFill>
              <a:latin typeface="+mn-ea"/>
            </a:endParaRPr>
          </a:p>
        </p:txBody>
      </p:sp>
      <p:sp>
        <p:nvSpPr>
          <p:cNvPr id="26" name="正方形/長方形 25">
            <a:extLst>
              <a:ext uri="{FF2B5EF4-FFF2-40B4-BE49-F238E27FC236}">
                <a16:creationId xmlns:a16="http://schemas.microsoft.com/office/drawing/2014/main" id="{A1938D9C-120D-B36B-FFB5-2FD993B190A7}"/>
              </a:ext>
            </a:extLst>
          </p:cNvPr>
          <p:cNvSpPr/>
          <p:nvPr/>
        </p:nvSpPr>
        <p:spPr>
          <a:xfrm>
            <a:off x="412413" y="2923895"/>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7" name="テキスト ボックス 26">
            <a:extLst>
              <a:ext uri="{FF2B5EF4-FFF2-40B4-BE49-F238E27FC236}">
                <a16:creationId xmlns:a16="http://schemas.microsoft.com/office/drawing/2014/main" id="{8049C816-8C8C-BAC4-4B94-5B05B14ADA8B}"/>
              </a:ext>
            </a:extLst>
          </p:cNvPr>
          <p:cNvSpPr txBox="1"/>
          <p:nvPr/>
        </p:nvSpPr>
        <p:spPr>
          <a:xfrm>
            <a:off x="668566" y="292837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3</a:t>
            </a:r>
            <a:endParaRPr kumimoji="1" lang="ja-JP" altLang="en-US" sz="2400" b="1">
              <a:solidFill>
                <a:schemeClr val="accent4">
                  <a:lumMod val="75000"/>
                </a:schemeClr>
              </a:solidFill>
              <a:latin typeface="+mn-ea"/>
            </a:endParaRPr>
          </a:p>
        </p:txBody>
      </p:sp>
      <p:sp>
        <p:nvSpPr>
          <p:cNvPr id="28" name="テキスト ボックス 27">
            <a:extLst>
              <a:ext uri="{FF2B5EF4-FFF2-40B4-BE49-F238E27FC236}">
                <a16:creationId xmlns:a16="http://schemas.microsoft.com/office/drawing/2014/main" id="{D7A9ABD8-2BB2-0A24-38B1-84B221EB77E7}"/>
              </a:ext>
            </a:extLst>
          </p:cNvPr>
          <p:cNvSpPr txBox="1"/>
          <p:nvPr/>
        </p:nvSpPr>
        <p:spPr>
          <a:xfrm>
            <a:off x="1093112" y="2972226"/>
            <a:ext cx="1800494"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ウォーターフォール開発の場合の進め方</a:t>
            </a:r>
            <a:endParaRPr kumimoji="1" lang="en-US" altLang="ja-JP" b="1">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12F7FA4F-6E8D-0864-4C84-F7C1BDCC3A67}"/>
              </a:ext>
            </a:extLst>
          </p:cNvPr>
          <p:cNvSpPr/>
          <p:nvPr/>
        </p:nvSpPr>
        <p:spPr>
          <a:xfrm rot="10800000">
            <a:off x="616274" y="3367757"/>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1" name="テキスト ボックス 30">
            <a:extLst>
              <a:ext uri="{FF2B5EF4-FFF2-40B4-BE49-F238E27FC236}">
                <a16:creationId xmlns:a16="http://schemas.microsoft.com/office/drawing/2014/main" id="{A0B9F257-F778-25E0-C071-F01868D442AA}"/>
              </a:ext>
            </a:extLst>
          </p:cNvPr>
          <p:cNvSpPr txBox="1"/>
          <p:nvPr/>
        </p:nvSpPr>
        <p:spPr>
          <a:xfrm>
            <a:off x="5381737" y="2876690"/>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P.11</a:t>
            </a:r>
            <a:endParaRPr kumimoji="1" lang="ja-JP" altLang="en-US" sz="1600">
              <a:solidFill>
                <a:schemeClr val="bg1">
                  <a:lumMod val="50000"/>
                </a:schemeClr>
              </a:solidFill>
              <a:latin typeface="+mn-ea"/>
            </a:endParaRPr>
          </a:p>
        </p:txBody>
      </p:sp>
      <p:sp>
        <p:nvSpPr>
          <p:cNvPr id="33" name="正方形/長方形 32">
            <a:extLst>
              <a:ext uri="{FF2B5EF4-FFF2-40B4-BE49-F238E27FC236}">
                <a16:creationId xmlns:a16="http://schemas.microsoft.com/office/drawing/2014/main" id="{B3D5C74D-8DB6-BF2F-0E1B-086C80C89144}"/>
              </a:ext>
            </a:extLst>
          </p:cNvPr>
          <p:cNvSpPr/>
          <p:nvPr/>
        </p:nvSpPr>
        <p:spPr>
          <a:xfrm>
            <a:off x="412412" y="3895126"/>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34" name="テキスト ボックス 33">
            <a:extLst>
              <a:ext uri="{FF2B5EF4-FFF2-40B4-BE49-F238E27FC236}">
                <a16:creationId xmlns:a16="http://schemas.microsoft.com/office/drawing/2014/main" id="{DB9277F4-648F-4042-D969-187BF1452859}"/>
              </a:ext>
            </a:extLst>
          </p:cNvPr>
          <p:cNvSpPr txBox="1"/>
          <p:nvPr/>
        </p:nvSpPr>
        <p:spPr>
          <a:xfrm>
            <a:off x="668567" y="389360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4</a:t>
            </a:r>
            <a:endParaRPr kumimoji="1" lang="ja-JP" altLang="en-US" sz="2400" b="1">
              <a:solidFill>
                <a:schemeClr val="accent4">
                  <a:lumMod val="75000"/>
                </a:schemeClr>
              </a:solidFill>
              <a:latin typeface="+mn-ea"/>
            </a:endParaRPr>
          </a:p>
        </p:txBody>
      </p:sp>
      <p:sp>
        <p:nvSpPr>
          <p:cNvPr id="35" name="テキスト ボックス 34">
            <a:extLst>
              <a:ext uri="{FF2B5EF4-FFF2-40B4-BE49-F238E27FC236}">
                <a16:creationId xmlns:a16="http://schemas.microsoft.com/office/drawing/2014/main" id="{C03B52EB-09C1-5EAE-0C3A-06C831742DEF}"/>
              </a:ext>
            </a:extLst>
          </p:cNvPr>
          <p:cNvSpPr txBox="1"/>
          <p:nvPr/>
        </p:nvSpPr>
        <p:spPr>
          <a:xfrm>
            <a:off x="1093112" y="3943457"/>
            <a:ext cx="1800493"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アジャイル開発の場合の進め方</a:t>
            </a:r>
            <a:endParaRPr kumimoji="1" lang="en-US" altLang="ja-JP" b="1">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981D3A9D-6A3D-C19B-7195-1C811B3C74DE}"/>
              </a:ext>
            </a:extLst>
          </p:cNvPr>
          <p:cNvSpPr/>
          <p:nvPr/>
        </p:nvSpPr>
        <p:spPr>
          <a:xfrm rot="10800000">
            <a:off x="616274" y="4338988"/>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8" name="テキスト ボックス 37">
            <a:extLst>
              <a:ext uri="{FF2B5EF4-FFF2-40B4-BE49-F238E27FC236}">
                <a16:creationId xmlns:a16="http://schemas.microsoft.com/office/drawing/2014/main" id="{E24790BC-B7D5-7EDA-D6A3-41F4712BBA4E}"/>
              </a:ext>
            </a:extLst>
          </p:cNvPr>
          <p:cNvSpPr txBox="1"/>
          <p:nvPr/>
        </p:nvSpPr>
        <p:spPr>
          <a:xfrm>
            <a:off x="5381737" y="3847921"/>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P.17</a:t>
            </a:r>
            <a:endParaRPr kumimoji="1" lang="ja-JP" altLang="en-US" sz="1600">
              <a:solidFill>
                <a:schemeClr val="bg1">
                  <a:lumMod val="50000"/>
                </a:schemeClr>
              </a:solidFill>
              <a:latin typeface="+mn-ea"/>
            </a:endParaRPr>
          </a:p>
        </p:txBody>
      </p:sp>
      <p:sp>
        <p:nvSpPr>
          <p:cNvPr id="61" name="正方形/長方形 60">
            <a:extLst>
              <a:ext uri="{FF2B5EF4-FFF2-40B4-BE49-F238E27FC236}">
                <a16:creationId xmlns:a16="http://schemas.microsoft.com/office/drawing/2014/main" id="{E22435B7-D5A0-2383-8FB1-E1059C96D0D2}"/>
              </a:ext>
            </a:extLst>
          </p:cNvPr>
          <p:cNvSpPr/>
          <p:nvPr/>
        </p:nvSpPr>
        <p:spPr>
          <a:xfrm>
            <a:off x="412412" y="4867870"/>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2" name="テキスト ボックス 61">
            <a:extLst>
              <a:ext uri="{FF2B5EF4-FFF2-40B4-BE49-F238E27FC236}">
                <a16:creationId xmlns:a16="http://schemas.microsoft.com/office/drawing/2014/main" id="{6855EA3A-1185-3134-B44A-F993D58158D4}"/>
              </a:ext>
            </a:extLst>
          </p:cNvPr>
          <p:cNvSpPr txBox="1"/>
          <p:nvPr/>
        </p:nvSpPr>
        <p:spPr>
          <a:xfrm>
            <a:off x="668567" y="4864839"/>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5</a:t>
            </a:r>
            <a:endParaRPr kumimoji="1" lang="ja-JP" altLang="en-US" sz="2400" b="1">
              <a:solidFill>
                <a:schemeClr val="accent4">
                  <a:lumMod val="75000"/>
                </a:schemeClr>
              </a:solidFill>
              <a:latin typeface="+mn-ea"/>
            </a:endParaRPr>
          </a:p>
        </p:txBody>
      </p:sp>
      <p:sp>
        <p:nvSpPr>
          <p:cNvPr id="63" name="テキスト ボックス 62">
            <a:extLst>
              <a:ext uri="{FF2B5EF4-FFF2-40B4-BE49-F238E27FC236}">
                <a16:creationId xmlns:a16="http://schemas.microsoft.com/office/drawing/2014/main" id="{2126B177-1873-1829-DBF4-3E89A9AB774A}"/>
              </a:ext>
            </a:extLst>
          </p:cNvPr>
          <p:cNvSpPr txBox="1"/>
          <p:nvPr/>
        </p:nvSpPr>
        <p:spPr>
          <a:xfrm>
            <a:off x="1093112" y="4916201"/>
            <a:ext cx="2299071"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全体</a:t>
            </a:r>
            <a:r>
              <a:rPr kumimoji="1" lang="ja-JP" altLang="en-US" b="1">
                <a:solidFill>
                  <a:schemeClr val="tx1">
                    <a:lumMod val="75000"/>
                    <a:lumOff val="25000"/>
                  </a:schemeClr>
                </a:solidFill>
                <a:latin typeface="+mn-ea"/>
              </a:rPr>
              <a:t>スケジュール</a:t>
            </a:r>
          </a:p>
        </p:txBody>
      </p:sp>
      <p:sp>
        <p:nvSpPr>
          <p:cNvPr id="64" name="正方形/長方形 63">
            <a:extLst>
              <a:ext uri="{FF2B5EF4-FFF2-40B4-BE49-F238E27FC236}">
                <a16:creationId xmlns:a16="http://schemas.microsoft.com/office/drawing/2014/main" id="{511B9F28-E4DC-9466-23E0-854D197B0725}"/>
              </a:ext>
            </a:extLst>
          </p:cNvPr>
          <p:cNvSpPr/>
          <p:nvPr/>
        </p:nvSpPr>
        <p:spPr>
          <a:xfrm rot="10800000">
            <a:off x="616274" y="531173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66" name="テキスト ボックス 65">
            <a:extLst>
              <a:ext uri="{FF2B5EF4-FFF2-40B4-BE49-F238E27FC236}">
                <a16:creationId xmlns:a16="http://schemas.microsoft.com/office/drawing/2014/main" id="{2E4DC1A5-9C86-0800-C9E1-D6F8328A7304}"/>
              </a:ext>
            </a:extLst>
          </p:cNvPr>
          <p:cNvSpPr txBox="1"/>
          <p:nvPr/>
        </p:nvSpPr>
        <p:spPr>
          <a:xfrm>
            <a:off x="5381737" y="4820665"/>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P.21</a:t>
            </a:r>
            <a:endParaRPr kumimoji="1" lang="ja-JP" altLang="en-US" sz="1600">
              <a:solidFill>
                <a:schemeClr val="bg1">
                  <a:lumMod val="50000"/>
                </a:schemeClr>
              </a:solidFill>
              <a:latin typeface="+mn-ea"/>
            </a:endParaRPr>
          </a:p>
        </p:txBody>
      </p:sp>
      <p:sp>
        <p:nvSpPr>
          <p:cNvPr id="67" name="正方形/長方形 66">
            <a:extLst>
              <a:ext uri="{FF2B5EF4-FFF2-40B4-BE49-F238E27FC236}">
                <a16:creationId xmlns:a16="http://schemas.microsoft.com/office/drawing/2014/main" id="{4C424D9A-C3B7-9CDC-0033-4BD945E27474}"/>
              </a:ext>
            </a:extLst>
          </p:cNvPr>
          <p:cNvSpPr/>
          <p:nvPr/>
        </p:nvSpPr>
        <p:spPr>
          <a:xfrm>
            <a:off x="6165159" y="195808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8" name="テキスト ボックス 67">
            <a:extLst>
              <a:ext uri="{FF2B5EF4-FFF2-40B4-BE49-F238E27FC236}">
                <a16:creationId xmlns:a16="http://schemas.microsoft.com/office/drawing/2014/main" id="{EE86464E-6C97-4D8B-DD3A-B78D53E075D1}"/>
              </a:ext>
            </a:extLst>
          </p:cNvPr>
          <p:cNvSpPr txBox="1"/>
          <p:nvPr/>
        </p:nvSpPr>
        <p:spPr>
          <a:xfrm>
            <a:off x="6421311" y="195938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7</a:t>
            </a:r>
            <a:endParaRPr kumimoji="1" lang="ja-JP" altLang="en-US" sz="2400" b="1">
              <a:solidFill>
                <a:schemeClr val="accent4">
                  <a:lumMod val="75000"/>
                </a:schemeClr>
              </a:solidFill>
              <a:latin typeface="+mn-ea"/>
            </a:endParaRPr>
          </a:p>
        </p:txBody>
      </p:sp>
      <p:sp>
        <p:nvSpPr>
          <p:cNvPr id="69" name="テキスト ボックス 68">
            <a:extLst>
              <a:ext uri="{FF2B5EF4-FFF2-40B4-BE49-F238E27FC236}">
                <a16:creationId xmlns:a16="http://schemas.microsoft.com/office/drawing/2014/main" id="{C7315778-772B-30A6-DEFA-831EF4E5E757}"/>
              </a:ext>
            </a:extLst>
          </p:cNvPr>
          <p:cNvSpPr txBox="1"/>
          <p:nvPr/>
        </p:nvSpPr>
        <p:spPr>
          <a:xfrm>
            <a:off x="6971369" y="2006411"/>
            <a:ext cx="1800493" cy="369333"/>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お見積り</a:t>
            </a:r>
            <a:r>
              <a:rPr kumimoji="1" lang="en-US" altLang="ja-JP" b="1" dirty="0">
                <a:solidFill>
                  <a:schemeClr val="tx1">
                    <a:lumMod val="75000"/>
                    <a:lumOff val="25000"/>
                  </a:schemeClr>
                </a:solidFill>
                <a:latin typeface="+mn-ea"/>
              </a:rPr>
              <a:t>(</a:t>
            </a:r>
            <a:r>
              <a:rPr kumimoji="1" lang="ja-JP" altLang="en-US" b="1" dirty="0">
                <a:solidFill>
                  <a:schemeClr val="tx1">
                    <a:lumMod val="75000"/>
                    <a:lumOff val="25000"/>
                  </a:schemeClr>
                </a:solidFill>
                <a:latin typeface="+mn-ea"/>
              </a:rPr>
              <a:t>運用・保守</a:t>
            </a:r>
            <a:r>
              <a:rPr kumimoji="1" lang="en-US" altLang="ja-JP" b="1" dirty="0">
                <a:solidFill>
                  <a:schemeClr val="tx1">
                    <a:lumMod val="75000"/>
                    <a:lumOff val="25000"/>
                  </a:schemeClr>
                </a:solidFill>
                <a:latin typeface="+mn-ea"/>
              </a:rPr>
              <a:t>)</a:t>
            </a:r>
            <a:endParaRPr kumimoji="1" lang="ja-JP" altLang="en-US" b="1">
              <a:solidFill>
                <a:schemeClr val="tx1">
                  <a:lumMod val="75000"/>
                  <a:lumOff val="25000"/>
                </a:schemeClr>
              </a:solidFill>
              <a:latin typeface="+mn-ea"/>
            </a:endParaRPr>
          </a:p>
        </p:txBody>
      </p:sp>
      <p:sp>
        <p:nvSpPr>
          <p:cNvPr id="70" name="正方形/長方形 69">
            <a:extLst>
              <a:ext uri="{FF2B5EF4-FFF2-40B4-BE49-F238E27FC236}">
                <a16:creationId xmlns:a16="http://schemas.microsoft.com/office/drawing/2014/main" id="{534AC7E8-AF7C-9560-C50B-E575473A96B3}"/>
              </a:ext>
            </a:extLst>
          </p:cNvPr>
          <p:cNvSpPr/>
          <p:nvPr/>
        </p:nvSpPr>
        <p:spPr>
          <a:xfrm rot="10800000">
            <a:off x="6369019" y="239269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71" name="テキスト ボックス 70">
            <a:extLst>
              <a:ext uri="{FF2B5EF4-FFF2-40B4-BE49-F238E27FC236}">
                <a16:creationId xmlns:a16="http://schemas.microsoft.com/office/drawing/2014/main" id="{66E9119A-37CB-4A25-B56D-FF959C08549C}"/>
              </a:ext>
            </a:extLst>
          </p:cNvPr>
          <p:cNvSpPr txBox="1"/>
          <p:nvPr/>
        </p:nvSpPr>
        <p:spPr>
          <a:xfrm>
            <a:off x="11134482" y="191087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P.29</a:t>
            </a:r>
            <a:endParaRPr kumimoji="1" lang="ja-JP" altLang="en-US" sz="1600">
              <a:solidFill>
                <a:schemeClr val="bg1">
                  <a:lumMod val="50000"/>
                </a:schemeClr>
              </a:solidFill>
              <a:latin typeface="+mn-ea"/>
            </a:endParaRPr>
          </a:p>
        </p:txBody>
      </p:sp>
      <p:sp>
        <p:nvSpPr>
          <p:cNvPr id="77" name="正方形/長方形 76">
            <a:extLst>
              <a:ext uri="{FF2B5EF4-FFF2-40B4-BE49-F238E27FC236}">
                <a16:creationId xmlns:a16="http://schemas.microsoft.com/office/drawing/2014/main" id="{72825824-EFCC-FA32-FA1A-999E78C8AC17}"/>
              </a:ext>
            </a:extLst>
          </p:cNvPr>
          <p:cNvSpPr/>
          <p:nvPr/>
        </p:nvSpPr>
        <p:spPr>
          <a:xfrm>
            <a:off x="6165159" y="2931669"/>
            <a:ext cx="211232" cy="426599"/>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78" name="テキスト ボックス 77">
            <a:extLst>
              <a:ext uri="{FF2B5EF4-FFF2-40B4-BE49-F238E27FC236}">
                <a16:creationId xmlns:a16="http://schemas.microsoft.com/office/drawing/2014/main" id="{BE626C34-5F54-DA7B-F2E5-EF04157901D7}"/>
              </a:ext>
            </a:extLst>
          </p:cNvPr>
          <p:cNvSpPr txBox="1"/>
          <p:nvPr/>
        </p:nvSpPr>
        <p:spPr>
          <a:xfrm>
            <a:off x="6433680" y="2927797"/>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8</a:t>
            </a:r>
            <a:endParaRPr kumimoji="1" lang="ja-JP" altLang="en-US" sz="2400" b="1">
              <a:solidFill>
                <a:schemeClr val="accent4">
                  <a:lumMod val="75000"/>
                </a:schemeClr>
              </a:solidFill>
              <a:latin typeface="+mn-ea"/>
            </a:endParaRPr>
          </a:p>
        </p:txBody>
      </p:sp>
      <p:sp>
        <p:nvSpPr>
          <p:cNvPr id="79" name="テキスト ボックス 78">
            <a:extLst>
              <a:ext uri="{FF2B5EF4-FFF2-40B4-BE49-F238E27FC236}">
                <a16:creationId xmlns:a16="http://schemas.microsoft.com/office/drawing/2014/main" id="{0966EF92-A5E9-AAAA-5286-1EA40DE87814}"/>
              </a:ext>
            </a:extLst>
          </p:cNvPr>
          <p:cNvSpPr txBox="1"/>
          <p:nvPr/>
        </p:nvSpPr>
        <p:spPr>
          <a:xfrm>
            <a:off x="6971369" y="2980000"/>
            <a:ext cx="1800494" cy="369332"/>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お見積り前提条件</a:t>
            </a:r>
            <a:endParaRPr kumimoji="1" lang="ja-JP" altLang="en-US" b="1">
              <a:solidFill>
                <a:schemeClr val="tx1">
                  <a:lumMod val="75000"/>
                  <a:lumOff val="25000"/>
                </a:schemeClr>
              </a:solidFill>
              <a:latin typeface="+mn-ea"/>
            </a:endParaRPr>
          </a:p>
        </p:txBody>
      </p:sp>
      <p:sp>
        <p:nvSpPr>
          <p:cNvPr id="80" name="正方形/長方形 79">
            <a:extLst>
              <a:ext uri="{FF2B5EF4-FFF2-40B4-BE49-F238E27FC236}">
                <a16:creationId xmlns:a16="http://schemas.microsoft.com/office/drawing/2014/main" id="{2D206980-E81C-A89C-3FDD-773ED1AAB2E7}"/>
              </a:ext>
            </a:extLst>
          </p:cNvPr>
          <p:cNvSpPr/>
          <p:nvPr/>
        </p:nvSpPr>
        <p:spPr>
          <a:xfrm rot="10800000">
            <a:off x="6369019" y="337553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81" name="テキスト ボックス 80">
            <a:extLst>
              <a:ext uri="{FF2B5EF4-FFF2-40B4-BE49-F238E27FC236}">
                <a16:creationId xmlns:a16="http://schemas.microsoft.com/office/drawing/2014/main" id="{EAAEDEA8-34B1-0622-3E79-DEEF01A5B917}"/>
              </a:ext>
            </a:extLst>
          </p:cNvPr>
          <p:cNvSpPr txBox="1"/>
          <p:nvPr/>
        </p:nvSpPr>
        <p:spPr>
          <a:xfrm>
            <a:off x="11134482" y="2884464"/>
            <a:ext cx="645104" cy="461665"/>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P.32</a:t>
            </a:r>
            <a:endParaRPr kumimoji="1" lang="ja-JP" altLang="en-US" sz="160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CFF0D82E-44C9-0363-FF2E-648EB70BDCB2}"/>
              </a:ext>
            </a:extLst>
          </p:cNvPr>
          <p:cNvSpPr/>
          <p:nvPr/>
        </p:nvSpPr>
        <p:spPr>
          <a:xfrm>
            <a:off x="6165158" y="3896905"/>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83" name="テキスト ボックス 82">
            <a:extLst>
              <a:ext uri="{FF2B5EF4-FFF2-40B4-BE49-F238E27FC236}">
                <a16:creationId xmlns:a16="http://schemas.microsoft.com/office/drawing/2014/main" id="{10E7CA95-F14C-54C4-6489-1452A0AD0A6A}"/>
              </a:ext>
            </a:extLst>
          </p:cNvPr>
          <p:cNvSpPr txBox="1"/>
          <p:nvPr/>
        </p:nvSpPr>
        <p:spPr>
          <a:xfrm>
            <a:off x="6421311" y="390138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9</a:t>
            </a:r>
            <a:endParaRPr kumimoji="1" lang="ja-JP" altLang="en-US" sz="2400" b="1">
              <a:solidFill>
                <a:schemeClr val="accent4">
                  <a:lumMod val="75000"/>
                </a:schemeClr>
              </a:solidFill>
              <a:latin typeface="+mn-ea"/>
            </a:endParaRPr>
          </a:p>
        </p:txBody>
      </p:sp>
      <p:sp>
        <p:nvSpPr>
          <p:cNvPr id="84" name="テキスト ボックス 83">
            <a:extLst>
              <a:ext uri="{FF2B5EF4-FFF2-40B4-BE49-F238E27FC236}">
                <a16:creationId xmlns:a16="http://schemas.microsoft.com/office/drawing/2014/main" id="{72DB0F53-879A-C62A-782B-E76EBACC78D7}"/>
              </a:ext>
            </a:extLst>
          </p:cNvPr>
          <p:cNvSpPr txBox="1"/>
          <p:nvPr/>
        </p:nvSpPr>
        <p:spPr>
          <a:xfrm>
            <a:off x="6971369" y="3945236"/>
            <a:ext cx="1800494" cy="369331"/>
          </a:xfrm>
          <a:prstGeom prst="rect">
            <a:avLst/>
          </a:prstGeom>
          <a:noFill/>
        </p:spPr>
        <p:txBody>
          <a:bodyPr wrap="none" rtlCol="0">
            <a:noAutofit/>
          </a:bodyPr>
          <a:lstStyle/>
          <a:p>
            <a:r>
              <a:rPr kumimoji="1" lang="ja-JP" altLang="en-US" b="1" dirty="0">
                <a:solidFill>
                  <a:schemeClr val="tx1">
                    <a:lumMod val="75000"/>
                    <a:lumOff val="25000"/>
                  </a:schemeClr>
                </a:solidFill>
                <a:latin typeface="+mn-ea"/>
              </a:rPr>
              <a:t>弊社情報</a:t>
            </a:r>
            <a:endParaRPr kumimoji="1" lang="en-US" altLang="ja-JP" b="1">
              <a:solidFill>
                <a:schemeClr val="tx1">
                  <a:lumMod val="75000"/>
                  <a:lumOff val="25000"/>
                </a:schemeClr>
              </a:solidFill>
              <a:latin typeface="+mn-ea"/>
            </a:endParaRPr>
          </a:p>
        </p:txBody>
      </p:sp>
      <p:sp>
        <p:nvSpPr>
          <p:cNvPr id="85" name="正方形/長方形 84">
            <a:extLst>
              <a:ext uri="{FF2B5EF4-FFF2-40B4-BE49-F238E27FC236}">
                <a16:creationId xmlns:a16="http://schemas.microsoft.com/office/drawing/2014/main" id="{18D0EE3B-F0B4-4702-BA3C-9159DBAFDE27}"/>
              </a:ext>
            </a:extLst>
          </p:cNvPr>
          <p:cNvSpPr/>
          <p:nvPr/>
        </p:nvSpPr>
        <p:spPr>
          <a:xfrm rot="10800000">
            <a:off x="6369019" y="4340767"/>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86" name="テキスト ボックス 85">
            <a:extLst>
              <a:ext uri="{FF2B5EF4-FFF2-40B4-BE49-F238E27FC236}">
                <a16:creationId xmlns:a16="http://schemas.microsoft.com/office/drawing/2014/main" id="{E7B1C3FD-A7EC-95D0-1440-777AB599C9C6}"/>
              </a:ext>
            </a:extLst>
          </p:cNvPr>
          <p:cNvSpPr txBox="1"/>
          <p:nvPr/>
        </p:nvSpPr>
        <p:spPr>
          <a:xfrm>
            <a:off x="11134482" y="3849700"/>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P.34</a:t>
            </a:r>
            <a:endParaRPr kumimoji="1" lang="ja-JP" altLang="en-US" sz="1600">
              <a:solidFill>
                <a:schemeClr val="bg1">
                  <a:lumMod val="50000"/>
                </a:schemeClr>
              </a:solidFill>
              <a:latin typeface="+mn-ea"/>
            </a:endParaRPr>
          </a:p>
        </p:txBody>
      </p:sp>
    </p:spTree>
    <p:extLst>
      <p:ext uri="{BB962C8B-B14F-4D97-AF65-F5344CB8AC3E}">
        <p14:creationId xmlns:p14="http://schemas.microsoft.com/office/powerpoint/2010/main" val="489501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E6C36938-64FB-F691-2504-6209F1AE50DE}"/>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344DB5F2-73BB-E9CA-B3CC-208D354F5281}"/>
              </a:ext>
            </a:extLst>
          </p:cNvPr>
          <p:cNvSpPr>
            <a:spLocks noGrp="1"/>
          </p:cNvSpPr>
          <p:nvPr>
            <p:ph type="title"/>
          </p:nvPr>
        </p:nvSpPr>
        <p:spPr/>
        <p:txBody>
          <a:bodyPr/>
          <a:lstStyle/>
          <a:p>
            <a:r>
              <a:rPr kumimoji="1" lang="ja-JP" altLang="en-US"/>
              <a:t>ご提案のポイント</a:t>
            </a:r>
          </a:p>
        </p:txBody>
      </p:sp>
      <p:sp>
        <p:nvSpPr>
          <p:cNvPr id="2" name="スライド番号プレースホルダー 3">
            <a:extLst>
              <a:ext uri="{FF2B5EF4-FFF2-40B4-BE49-F238E27FC236}">
                <a16:creationId xmlns:a16="http://schemas.microsoft.com/office/drawing/2014/main" id="{D44A1CFC-B1BF-500C-5AE3-9429D0926C7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960321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a:t>1-1</a:t>
            </a:r>
            <a:r>
              <a:rPr lang="ja-JP" altLang="en-US"/>
              <a:t>．</a:t>
            </a:r>
            <a:r>
              <a:rPr kumimoji="1" lang="ja-JP" altLang="en-US"/>
              <a:t>現状の課題と実現したい姿</a:t>
            </a:r>
            <a:r>
              <a:rPr kumimoji="1" lang="en-US" altLang="ja-JP"/>
              <a:t>(EXE</a:t>
            </a:r>
            <a:r>
              <a:rPr lang="ja-JP" altLang="en-US"/>
              <a:t>の理解</a:t>
            </a:r>
            <a:r>
              <a:rPr kumimoji="1" lang="en-US" altLang="ja-JP"/>
              <a:t>)</a:t>
            </a:r>
            <a:endParaRPr kumimoji="1" lang="ja-JP" altLang="en-US"/>
          </a:p>
        </p:txBody>
      </p:sp>
      <p:sp>
        <p:nvSpPr>
          <p:cNvPr id="4" name="スライド番号プレースホルダー 3">
            <a:extLst>
              <a:ext uri="{FF2B5EF4-FFF2-40B4-BE49-F238E27FC236}">
                <a16:creationId xmlns:a16="http://schemas.microsoft.com/office/drawing/2014/main" id="{A92D1508-448C-F2E8-8AFC-266D7CA67A22}"/>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pic>
        <p:nvPicPr>
          <p:cNvPr id="25" name="図 24">
            <a:extLst>
              <a:ext uri="{FF2B5EF4-FFF2-40B4-BE49-F238E27FC236}">
                <a16:creationId xmlns:a16="http://schemas.microsoft.com/office/drawing/2014/main" id="{CE057A3F-768A-162D-56CA-645B764BCE59}"/>
              </a:ext>
            </a:extLst>
          </p:cNvPr>
          <p:cNvPicPr>
            <a:picLocks noChangeAspect="1"/>
          </p:cNvPicPr>
          <p:nvPr/>
        </p:nvPicPr>
        <p:blipFill>
          <a:blip r:embed="rId3"/>
          <a:stretch>
            <a:fillRect/>
          </a:stretch>
        </p:blipFill>
        <p:spPr>
          <a:xfrm>
            <a:off x="2312437" y="788367"/>
            <a:ext cx="7089452" cy="3788543"/>
          </a:xfrm>
          <a:prstGeom prst="rect">
            <a:avLst/>
          </a:prstGeom>
          <a:ln>
            <a:solidFill>
              <a:schemeClr val="tx1"/>
            </a:solidFill>
          </a:ln>
        </p:spPr>
      </p:pic>
      <p:sp>
        <p:nvSpPr>
          <p:cNvPr id="28" name="正方形/長方形 27">
            <a:extLst>
              <a:ext uri="{FF2B5EF4-FFF2-40B4-BE49-F238E27FC236}">
                <a16:creationId xmlns:a16="http://schemas.microsoft.com/office/drawing/2014/main" id="{3580303D-5EEB-0A3F-F0E4-549E0F446B03}"/>
              </a:ext>
            </a:extLst>
          </p:cNvPr>
          <p:cNvSpPr/>
          <p:nvPr/>
        </p:nvSpPr>
        <p:spPr>
          <a:xfrm>
            <a:off x="640656" y="4671457"/>
            <a:ext cx="5400000" cy="164621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en-US" altLang="ja-JP" b="1">
                <a:latin typeface="+mn-ea"/>
              </a:rPr>
              <a:t>CDF(L4)</a:t>
            </a:r>
            <a:r>
              <a:rPr kumimoji="1" lang="ja-JP" altLang="en-US" b="1">
                <a:latin typeface="+mn-ea"/>
              </a:rPr>
              <a:t>上のタグデータ</a:t>
            </a:r>
            <a:r>
              <a:rPr kumimoji="1" lang="en-US" altLang="ja-JP" b="1">
                <a:latin typeface="+mn-ea"/>
              </a:rPr>
              <a:t>(GX</a:t>
            </a:r>
            <a:r>
              <a:rPr kumimoji="1" lang="ja-JP" altLang="en-US" b="1">
                <a:latin typeface="+mn-ea"/>
              </a:rPr>
              <a:t>リーグのモニタリングポイントの単位である</a:t>
            </a:r>
            <a:r>
              <a:rPr kumimoji="1" lang="en-US" altLang="ja-JP" b="1">
                <a:latin typeface="+mn-ea"/>
              </a:rPr>
              <a:t>)</a:t>
            </a:r>
            <a:r>
              <a:rPr kumimoji="1" lang="ja-JP" altLang="en-US" b="1">
                <a:latin typeface="+mn-ea"/>
              </a:rPr>
              <a:t>を取得し、</a:t>
            </a:r>
            <a:endParaRPr kumimoji="1" lang="en-US" altLang="ja-JP" b="1">
              <a:latin typeface="+mn-ea"/>
            </a:endParaRPr>
          </a:p>
          <a:p>
            <a:pPr algn="ctr"/>
            <a:r>
              <a:rPr kumimoji="1" lang="ja-JP" altLang="en-US" b="1">
                <a:latin typeface="+mn-ea"/>
              </a:rPr>
              <a:t>新システムへ連携する機能を構築する</a:t>
            </a:r>
            <a:endParaRPr kumimoji="1" lang="en-US" altLang="ja-JP" b="1">
              <a:latin typeface="+mn-ea"/>
            </a:endParaRPr>
          </a:p>
          <a:p>
            <a:pPr algn="ctr"/>
            <a:endParaRPr kumimoji="1" lang="en-US" altLang="ja-JP" b="1">
              <a:latin typeface="+mn-ea"/>
            </a:endParaRPr>
          </a:p>
          <a:p>
            <a:pPr algn="ctr"/>
            <a:r>
              <a:rPr kumimoji="1" lang="en-US" altLang="ja-JP" sz="1200" b="1">
                <a:latin typeface="+mn-ea"/>
              </a:rPr>
              <a:t>※CDF</a:t>
            </a:r>
            <a:r>
              <a:rPr kumimoji="1" lang="ja-JP" altLang="en-US" sz="1200" b="1">
                <a:latin typeface="+mn-ea"/>
              </a:rPr>
              <a:t>対応していない事業所も考慮し手入力による運用も構築する</a:t>
            </a:r>
            <a:endParaRPr kumimoji="1" lang="en-US" altLang="ja-JP" sz="1200" b="1">
              <a:latin typeface="+mn-ea"/>
            </a:endParaRPr>
          </a:p>
        </p:txBody>
      </p:sp>
      <p:sp>
        <p:nvSpPr>
          <p:cNvPr id="29" name="正方形/長方形 28">
            <a:extLst>
              <a:ext uri="{FF2B5EF4-FFF2-40B4-BE49-F238E27FC236}">
                <a16:creationId xmlns:a16="http://schemas.microsoft.com/office/drawing/2014/main" id="{80A39338-17F0-A080-EB22-C4AB6B06DA1E}"/>
              </a:ext>
            </a:extLst>
          </p:cNvPr>
          <p:cNvSpPr/>
          <p:nvPr/>
        </p:nvSpPr>
        <p:spPr>
          <a:xfrm>
            <a:off x="6472545" y="4671456"/>
            <a:ext cx="5400000" cy="164621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b="1">
                <a:latin typeface="+mn-ea"/>
              </a:rPr>
              <a:t>温対法の開示要求への変換ロジックの整理を行い、</a:t>
            </a:r>
            <a:r>
              <a:rPr kumimoji="1" lang="en-US" altLang="ja-JP" b="1">
                <a:latin typeface="+mn-ea"/>
              </a:rPr>
              <a:t>Web</a:t>
            </a:r>
            <a:r>
              <a:rPr kumimoji="1" lang="ja-JP" altLang="en-US" b="1">
                <a:latin typeface="+mn-ea"/>
              </a:rPr>
              <a:t>アプリ上でユーザーが管理できるようにする</a:t>
            </a:r>
            <a:endParaRPr kumimoji="1" lang="en-US" altLang="ja-JP" b="1">
              <a:latin typeface="+mn-ea"/>
            </a:endParaRPr>
          </a:p>
        </p:txBody>
      </p:sp>
      <p:sp>
        <p:nvSpPr>
          <p:cNvPr id="30" name="矢印: 右カーブ 29">
            <a:extLst>
              <a:ext uri="{FF2B5EF4-FFF2-40B4-BE49-F238E27FC236}">
                <a16:creationId xmlns:a16="http://schemas.microsoft.com/office/drawing/2014/main" id="{FE51C36A-AFD2-0B33-F3C2-750669C27124}"/>
              </a:ext>
            </a:extLst>
          </p:cNvPr>
          <p:cNvSpPr/>
          <p:nvPr/>
        </p:nvSpPr>
        <p:spPr>
          <a:xfrm>
            <a:off x="4790772" y="1895764"/>
            <a:ext cx="858982" cy="3066472"/>
          </a:xfrm>
          <a:prstGeom prst="curved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
        <p:nvSpPr>
          <p:cNvPr id="32" name="矢印: 左カーブ 31">
            <a:extLst>
              <a:ext uri="{FF2B5EF4-FFF2-40B4-BE49-F238E27FC236}">
                <a16:creationId xmlns:a16="http://schemas.microsoft.com/office/drawing/2014/main" id="{EF02EBAD-263B-93FB-A6BD-A18B95F4A3C7}"/>
              </a:ext>
            </a:extLst>
          </p:cNvPr>
          <p:cNvSpPr/>
          <p:nvPr/>
        </p:nvSpPr>
        <p:spPr>
          <a:xfrm>
            <a:off x="9459852" y="2787489"/>
            <a:ext cx="674255" cy="2022472"/>
          </a:xfrm>
          <a:prstGeom prst="curvedLef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
        <p:nvSpPr>
          <p:cNvPr id="33" name="矢印: 右カーブ 32">
            <a:extLst>
              <a:ext uri="{FF2B5EF4-FFF2-40B4-BE49-F238E27FC236}">
                <a16:creationId xmlns:a16="http://schemas.microsoft.com/office/drawing/2014/main" id="{2C284EB8-5360-FEB3-C577-D191D2FD39D5}"/>
              </a:ext>
            </a:extLst>
          </p:cNvPr>
          <p:cNvSpPr/>
          <p:nvPr/>
        </p:nvSpPr>
        <p:spPr>
          <a:xfrm>
            <a:off x="5888109" y="4338907"/>
            <a:ext cx="526473" cy="942109"/>
          </a:xfrm>
          <a:prstGeom prst="curved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14168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69EC7EDF-F862-1028-4786-C987EBF40AEF}"/>
              </a:ext>
            </a:extLst>
          </p:cNvPr>
          <p:cNvPicPr>
            <a:picLocks noChangeAspect="1"/>
          </p:cNvPicPr>
          <p:nvPr/>
        </p:nvPicPr>
        <p:blipFill>
          <a:blip r:embed="rId2"/>
          <a:stretch>
            <a:fillRect/>
          </a:stretch>
        </p:blipFill>
        <p:spPr>
          <a:xfrm>
            <a:off x="1375704" y="813442"/>
            <a:ext cx="9440592" cy="5268060"/>
          </a:xfrm>
          <a:prstGeom prst="rect">
            <a:avLst/>
          </a:prstGeom>
          <a:ln>
            <a:solidFill>
              <a:schemeClr val="tx1"/>
            </a:solidFill>
          </a:ln>
        </p:spPr>
      </p:pic>
      <p:sp>
        <p:nvSpPr>
          <p:cNvPr id="2" name="タイトル 1"/>
          <p:cNvSpPr>
            <a:spLocks noGrp="1"/>
          </p:cNvSpPr>
          <p:nvPr>
            <p:ph type="title"/>
          </p:nvPr>
        </p:nvSpPr>
        <p:spPr/>
        <p:txBody>
          <a:bodyPr/>
          <a:lstStyle/>
          <a:p>
            <a:r>
              <a:rPr kumimoji="1" lang="en-US" altLang="ja-JP"/>
              <a:t>1-2</a:t>
            </a:r>
            <a:r>
              <a:rPr kumimoji="1" lang="ja-JP" altLang="en-US"/>
              <a:t>．システム化の範囲</a:t>
            </a:r>
          </a:p>
        </p:txBody>
      </p:sp>
      <p:sp>
        <p:nvSpPr>
          <p:cNvPr id="4" name="フッター プレースホルダー 3"/>
          <p:cNvSpPr>
            <a:spLocks noGrp="1"/>
          </p:cNvSpPr>
          <p:nvPr>
            <p:ph type="ftr" sz="quarter" idx="11"/>
          </p:nvPr>
        </p:nvSpPr>
        <p:spPr/>
        <p:txBody>
          <a:bodyPr/>
          <a:lstStyle/>
          <a:p>
            <a:r>
              <a:rPr lang="en-US"/>
              <a:t>Copyright © </a:t>
            </a:r>
            <a:r>
              <a:rPr lang="en-US" err="1"/>
              <a:t>SystemEXE,Inc</a:t>
            </a:r>
            <a:r>
              <a:rPr lang="en-US"/>
              <a:t> All Rights Reserved.</a:t>
            </a:r>
          </a:p>
        </p:txBody>
      </p:sp>
      <p:sp>
        <p:nvSpPr>
          <p:cNvPr id="58" name="四角形: 角を丸くする 57">
            <a:extLst>
              <a:ext uri="{FF2B5EF4-FFF2-40B4-BE49-F238E27FC236}">
                <a16:creationId xmlns:a16="http://schemas.microsoft.com/office/drawing/2014/main" id="{6F6D5229-6EE8-D99C-DD54-30F2C3FCACF4}"/>
              </a:ext>
            </a:extLst>
          </p:cNvPr>
          <p:cNvSpPr/>
          <p:nvPr/>
        </p:nvSpPr>
        <p:spPr>
          <a:xfrm>
            <a:off x="4289018" y="1472481"/>
            <a:ext cx="3515709" cy="3191883"/>
          </a:xfrm>
          <a:prstGeom prst="roundRect">
            <a:avLst>
              <a:gd name="adj" fmla="val 4342"/>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7404C3C7-8865-3AD4-91F4-DF9D24C7562D}"/>
              </a:ext>
            </a:extLst>
          </p:cNvPr>
          <p:cNvSpPr txBox="1"/>
          <p:nvPr/>
        </p:nvSpPr>
        <p:spPr>
          <a:xfrm>
            <a:off x="9809018" y="258458"/>
            <a:ext cx="1806982" cy="347084"/>
          </a:xfrm>
          <a:prstGeom prst="rect">
            <a:avLst/>
          </a:prstGeom>
          <a:noFill/>
        </p:spPr>
        <p:txBody>
          <a:bodyPr wrap="square" lIns="108000" tIns="72000" rIns="108000" bIns="72000" rtlCol="0" anchor="t">
            <a:noAutofit/>
          </a:bodyPr>
          <a:lstStyle/>
          <a:p>
            <a:pPr>
              <a:spcBef>
                <a:spcPts val="600"/>
              </a:spcBef>
            </a:pPr>
            <a:r>
              <a:rPr kumimoji="1" lang="ja-JP" altLang="en-US" sz="1600" b="1">
                <a:solidFill>
                  <a:srgbClr val="FF0000"/>
                </a:solidFill>
                <a:latin typeface="游ゴシック"/>
                <a:ea typeface="游ゴシック"/>
              </a:rPr>
              <a:t>赤枠が開発範囲</a:t>
            </a:r>
            <a:endParaRPr kumimoji="1" lang="en-US" altLang="ja-JP" sz="1600" b="1">
              <a:solidFill>
                <a:srgbClr val="FF0000"/>
              </a:solidFill>
              <a:latin typeface="游ゴシック"/>
              <a:ea typeface="游ゴシック"/>
            </a:endParaRPr>
          </a:p>
        </p:txBody>
      </p:sp>
      <p:sp>
        <p:nvSpPr>
          <p:cNvPr id="3" name="スライド番号プレースホルダー 3">
            <a:extLst>
              <a:ext uri="{FF2B5EF4-FFF2-40B4-BE49-F238E27FC236}">
                <a16:creationId xmlns:a16="http://schemas.microsoft.com/office/drawing/2014/main" id="{FE67D899-15BA-6FDF-A0D1-75D0A8D1B3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Tree>
    <p:extLst>
      <p:ext uri="{BB962C8B-B14F-4D97-AF65-F5344CB8AC3E}">
        <p14:creationId xmlns:p14="http://schemas.microsoft.com/office/powerpoint/2010/main" val="3652970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43376-93BB-37EA-FE29-5A6A700F8AB4}"/>
            </a:ext>
          </a:extLst>
        </p:cNvPr>
        <p:cNvGrpSpPr/>
        <p:nvPr/>
      </p:nvGrpSpPr>
      <p:grpSpPr>
        <a:xfrm>
          <a:off x="0" y="0"/>
          <a:ext cx="0" cy="0"/>
          <a:chOff x="0" y="0"/>
          <a:chExt cx="0" cy="0"/>
        </a:xfrm>
      </p:grpSpPr>
      <p:sp>
        <p:nvSpPr>
          <p:cNvPr id="14" name="テキスト ボックス 13">
            <a:extLst>
              <a:ext uri="{FF2B5EF4-FFF2-40B4-BE49-F238E27FC236}">
                <a16:creationId xmlns:a16="http://schemas.microsoft.com/office/drawing/2014/main" id="{12A2411C-93B7-3825-8A45-D2AD43A24EC7}"/>
              </a:ext>
            </a:extLst>
          </p:cNvPr>
          <p:cNvSpPr txBox="1"/>
          <p:nvPr/>
        </p:nvSpPr>
        <p:spPr>
          <a:xfrm rot="20089233">
            <a:off x="406387" y="4440995"/>
            <a:ext cx="785919" cy="369332"/>
          </a:xfrm>
          <a:prstGeom prst="roundRect">
            <a:avLst/>
          </a:prstGeom>
          <a:solidFill>
            <a:schemeClr val="bg2">
              <a:lumMod val="75000"/>
            </a:schemeClr>
          </a:solidFill>
        </p:spPr>
        <p:txBody>
          <a:bodyPr wrap="none" rtlCol="0" anchor="ctr">
            <a:noAutofit/>
          </a:bodyPr>
          <a:lstStyle/>
          <a:p>
            <a:pPr algn="ctr"/>
            <a:r>
              <a:rPr kumimoji="1" lang="ja-JP" altLang="en-US" sz="1600" b="1">
                <a:latin typeface="+mn-ea"/>
              </a:rPr>
              <a:t>案②</a:t>
            </a:r>
            <a:endParaRPr kumimoji="1" lang="en-US" altLang="ja-JP" sz="1600" b="1">
              <a:latin typeface="+mn-ea"/>
            </a:endParaRPr>
          </a:p>
        </p:txBody>
      </p:sp>
      <p:sp>
        <p:nvSpPr>
          <p:cNvPr id="13" name="テキスト ボックス 12">
            <a:extLst>
              <a:ext uri="{FF2B5EF4-FFF2-40B4-BE49-F238E27FC236}">
                <a16:creationId xmlns:a16="http://schemas.microsoft.com/office/drawing/2014/main" id="{295AE5E0-60D9-73FF-8AA4-2688DB4B9E5D}"/>
              </a:ext>
            </a:extLst>
          </p:cNvPr>
          <p:cNvSpPr txBox="1"/>
          <p:nvPr/>
        </p:nvSpPr>
        <p:spPr>
          <a:xfrm rot="20089233">
            <a:off x="406387" y="2336321"/>
            <a:ext cx="785919" cy="369332"/>
          </a:xfrm>
          <a:prstGeom prst="roundRect">
            <a:avLst/>
          </a:prstGeom>
          <a:solidFill>
            <a:schemeClr val="bg2">
              <a:lumMod val="75000"/>
            </a:schemeClr>
          </a:solidFill>
        </p:spPr>
        <p:txBody>
          <a:bodyPr wrap="none" rtlCol="0" anchor="ctr">
            <a:noAutofit/>
          </a:bodyPr>
          <a:lstStyle/>
          <a:p>
            <a:pPr algn="ctr"/>
            <a:r>
              <a:rPr kumimoji="1" lang="ja-JP" altLang="en-US" sz="1600" b="1">
                <a:latin typeface="+mn-ea"/>
              </a:rPr>
              <a:t>案①</a:t>
            </a:r>
            <a:endParaRPr kumimoji="1" lang="en-US" altLang="ja-JP" sz="1600" b="1">
              <a:latin typeface="+mn-ea"/>
            </a:endParaRPr>
          </a:p>
        </p:txBody>
      </p:sp>
      <p:sp>
        <p:nvSpPr>
          <p:cNvPr id="2" name="タイトル 1">
            <a:extLst>
              <a:ext uri="{FF2B5EF4-FFF2-40B4-BE49-F238E27FC236}">
                <a16:creationId xmlns:a16="http://schemas.microsoft.com/office/drawing/2014/main" id="{C556D6F1-F820-D59C-0A5E-DC6CF03C3B8F}"/>
              </a:ext>
            </a:extLst>
          </p:cNvPr>
          <p:cNvSpPr>
            <a:spLocks noGrp="1"/>
          </p:cNvSpPr>
          <p:nvPr>
            <p:ph type="title"/>
          </p:nvPr>
        </p:nvSpPr>
        <p:spPr/>
        <p:txBody>
          <a:bodyPr/>
          <a:lstStyle/>
          <a:p>
            <a:r>
              <a:rPr kumimoji="1" lang="en-US" altLang="ja-JP"/>
              <a:t>1-3</a:t>
            </a:r>
            <a:r>
              <a:rPr lang="ja-JP" altLang="en-US"/>
              <a:t>．</a:t>
            </a:r>
            <a:r>
              <a:rPr kumimoji="1" lang="ja-JP" altLang="en-US"/>
              <a:t>ご提案方針</a:t>
            </a:r>
          </a:p>
        </p:txBody>
      </p:sp>
      <p:sp>
        <p:nvSpPr>
          <p:cNvPr id="4" name="スライド番号プレースホルダー 3">
            <a:extLst>
              <a:ext uri="{FF2B5EF4-FFF2-40B4-BE49-F238E27FC236}">
                <a16:creationId xmlns:a16="http://schemas.microsoft.com/office/drawing/2014/main" id="{0CD288EB-E110-6676-91A2-F9C139E203EA}"/>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
        <p:nvSpPr>
          <p:cNvPr id="7" name="角丸四角形 10">
            <a:extLst>
              <a:ext uri="{FF2B5EF4-FFF2-40B4-BE49-F238E27FC236}">
                <a16:creationId xmlns:a16="http://schemas.microsoft.com/office/drawing/2014/main" id="{007D06FD-FDC7-86E5-FCE6-04D23E9249AA}"/>
              </a:ext>
            </a:extLst>
          </p:cNvPr>
          <p:cNvSpPr/>
          <p:nvPr/>
        </p:nvSpPr>
        <p:spPr>
          <a:xfrm>
            <a:off x="1440000" y="984260"/>
            <a:ext cx="8989592" cy="984886"/>
          </a:xfrm>
          <a:prstGeom prst="rect">
            <a:avLst/>
          </a:prstGeom>
          <a:solidFill>
            <a:schemeClr val="accent6">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68580" tIns="34291" rIns="68580" bIns="34291" numCol="1" spcCol="0" rtlCol="0" fromWordArt="0" anchor="ctr" anchorCtr="0" forceAA="0" compatLnSpc="1">
            <a:prstTxWarp prst="textNoShape">
              <a:avLst/>
            </a:prstTxWarp>
            <a:noAutofit/>
          </a:bodyPr>
          <a:lstStyle/>
          <a:p>
            <a:pPr algn="ctr">
              <a:lnSpc>
                <a:spcPct val="120000"/>
              </a:lnSpc>
            </a:pPr>
            <a:r>
              <a:rPr kumimoji="1" lang="ja-JP" altLang="en-US" sz="2800" b="1">
                <a:latin typeface="+mn-ea"/>
              </a:rPr>
              <a:t>ウォーターフォール開発</a:t>
            </a:r>
            <a:endParaRPr kumimoji="1" lang="en-US" altLang="ja-JP" sz="2800" b="1">
              <a:latin typeface="+mn-ea"/>
            </a:endParaRPr>
          </a:p>
          <a:p>
            <a:pPr algn="ctr">
              <a:lnSpc>
                <a:spcPct val="120000"/>
              </a:lnSpc>
            </a:pPr>
            <a:r>
              <a:rPr kumimoji="1" lang="ja-JP" altLang="en-US" sz="2800" b="1">
                <a:latin typeface="+mn-ea"/>
              </a:rPr>
              <a:t>　または　　アジャイル開発</a:t>
            </a:r>
            <a:endParaRPr kumimoji="1" lang="en-US" altLang="ja-JP" sz="2800" b="1">
              <a:latin typeface="+mn-ea"/>
            </a:endParaRPr>
          </a:p>
        </p:txBody>
      </p:sp>
      <p:sp>
        <p:nvSpPr>
          <p:cNvPr id="8" name="テキスト ボックス 153">
            <a:extLst>
              <a:ext uri="{FF2B5EF4-FFF2-40B4-BE49-F238E27FC236}">
                <a16:creationId xmlns:a16="http://schemas.microsoft.com/office/drawing/2014/main" id="{868F9927-688B-F08A-523D-93CF8BF1D878}"/>
              </a:ext>
            </a:extLst>
          </p:cNvPr>
          <p:cNvSpPr txBox="1"/>
          <p:nvPr/>
        </p:nvSpPr>
        <p:spPr>
          <a:xfrm>
            <a:off x="4477299" y="2022934"/>
            <a:ext cx="6120001"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lang="ja-JP" altLang="en-US" sz="1600" b="1">
                <a:solidFill>
                  <a:schemeClr val="tx1">
                    <a:lumMod val="75000"/>
                    <a:lumOff val="25000"/>
                  </a:schemeClr>
                </a:solidFill>
                <a:latin typeface="+mn-ea"/>
                <a:cs typeface="Meiryo UI" panose="020B0604030504040204" pitchFamily="50" charset="-128"/>
              </a:rPr>
              <a:t>二通りの開発手法によるご提案いたします。</a:t>
            </a:r>
          </a:p>
        </p:txBody>
      </p:sp>
      <p:sp>
        <p:nvSpPr>
          <p:cNvPr id="9" name="テキスト ボックス 8">
            <a:extLst>
              <a:ext uri="{FF2B5EF4-FFF2-40B4-BE49-F238E27FC236}">
                <a16:creationId xmlns:a16="http://schemas.microsoft.com/office/drawing/2014/main" id="{9B62513C-A052-6DFE-0899-34A09DF57A93}"/>
              </a:ext>
            </a:extLst>
          </p:cNvPr>
          <p:cNvSpPr txBox="1"/>
          <p:nvPr/>
        </p:nvSpPr>
        <p:spPr>
          <a:xfrm>
            <a:off x="515982" y="4850526"/>
            <a:ext cx="2772001" cy="360000"/>
          </a:xfrm>
          <a:prstGeom prst="roundRect">
            <a:avLst/>
          </a:prstGeom>
          <a:solidFill>
            <a:schemeClr val="accent1"/>
          </a:solidFill>
        </p:spPr>
        <p:txBody>
          <a:bodyPr wrap="none" rtlCol="0" anchor="ctr">
            <a:noAutofit/>
          </a:bodyPr>
          <a:lstStyle/>
          <a:p>
            <a:pPr algn="ctr"/>
            <a:r>
              <a:rPr kumimoji="1" lang="ja-JP" altLang="en-US" sz="1600" b="1">
                <a:solidFill>
                  <a:schemeClr val="bg1"/>
                </a:solidFill>
                <a:latin typeface="+mn-ea"/>
              </a:rPr>
              <a:t>アジャイル開発</a:t>
            </a:r>
            <a:endParaRPr kumimoji="1" lang="en-US" altLang="ja-JP" sz="1600" b="1">
              <a:solidFill>
                <a:schemeClr val="bg1"/>
              </a:solidFill>
              <a:latin typeface="+mn-ea"/>
            </a:endParaRPr>
          </a:p>
        </p:txBody>
      </p:sp>
      <p:sp>
        <p:nvSpPr>
          <p:cNvPr id="10" name="テキスト ボックス 9">
            <a:extLst>
              <a:ext uri="{FF2B5EF4-FFF2-40B4-BE49-F238E27FC236}">
                <a16:creationId xmlns:a16="http://schemas.microsoft.com/office/drawing/2014/main" id="{2BE248F6-6D52-28A2-1453-E312F4A5D773}"/>
              </a:ext>
            </a:extLst>
          </p:cNvPr>
          <p:cNvSpPr txBox="1"/>
          <p:nvPr/>
        </p:nvSpPr>
        <p:spPr>
          <a:xfrm>
            <a:off x="515984" y="5337368"/>
            <a:ext cx="6513466" cy="984885"/>
          </a:xfrm>
          <a:prstGeom prst="rect">
            <a:avLst/>
          </a:prstGeom>
          <a:noFill/>
        </p:spPr>
        <p:txBody>
          <a:bodyPr wrap="square" lIns="108000" rIns="108000" rtlCol="0" anchor="t">
            <a:spAutoFit/>
          </a:bodyPr>
          <a:lstStyle/>
          <a:p>
            <a:pPr marL="180970" indent="-180970">
              <a:spcBef>
                <a:spcPts val="600"/>
              </a:spcBef>
              <a:buFont typeface="Wingdings" panose="05000000000000000000" pitchFamily="2" charset="2"/>
              <a:buChar char="ü"/>
            </a:pPr>
            <a:r>
              <a:rPr lang="ja-JP" altLang="en-US" sz="1600">
                <a:latin typeface="+mn-ea"/>
              </a:rPr>
              <a:t>スコープを柔軟に調整でき、期限や予算内で価値を最適化しやすい</a:t>
            </a:r>
            <a:endParaRPr lang="en-US" altLang="ja-JP" sz="1600">
              <a:latin typeface="+mn-ea"/>
            </a:endParaRPr>
          </a:p>
          <a:p>
            <a:pPr marL="180970" indent="-180970">
              <a:spcBef>
                <a:spcPts val="600"/>
              </a:spcBef>
              <a:buFont typeface="Wingdings" panose="05000000000000000000" pitchFamily="2" charset="2"/>
              <a:buChar char="ü"/>
            </a:pPr>
            <a:r>
              <a:rPr lang="ja-JP" altLang="en-US" sz="1600">
                <a:latin typeface="+mn-ea"/>
              </a:rPr>
              <a:t>各拠点からの要件をスプリントごとに取り込み、適応力が高い</a:t>
            </a:r>
            <a:endParaRPr lang="en-US" altLang="ja-JP" sz="1600">
              <a:latin typeface="+mn-ea"/>
            </a:endParaRPr>
          </a:p>
          <a:p>
            <a:pPr marL="180970" indent="-180970">
              <a:spcBef>
                <a:spcPts val="600"/>
              </a:spcBef>
              <a:buFont typeface="Wingdings" panose="05000000000000000000" pitchFamily="2" charset="2"/>
              <a:buChar char="ü"/>
            </a:pPr>
            <a:r>
              <a:rPr lang="ja-JP" altLang="en-US" sz="1600">
                <a:latin typeface="+mn-ea"/>
              </a:rPr>
              <a:t>リスクを小さな反復で分散し、失敗コストを最小化できる</a:t>
            </a:r>
            <a:endParaRPr lang="en-US" altLang="ja-JP" sz="1600">
              <a:latin typeface="+mn-ea"/>
            </a:endParaRPr>
          </a:p>
        </p:txBody>
      </p:sp>
      <p:sp>
        <p:nvSpPr>
          <p:cNvPr id="11" name="テキスト ボックス 10">
            <a:extLst>
              <a:ext uri="{FF2B5EF4-FFF2-40B4-BE49-F238E27FC236}">
                <a16:creationId xmlns:a16="http://schemas.microsoft.com/office/drawing/2014/main" id="{90DE3270-6D09-809D-F345-8CEC25D67E87}"/>
              </a:ext>
            </a:extLst>
          </p:cNvPr>
          <p:cNvSpPr txBox="1"/>
          <p:nvPr/>
        </p:nvSpPr>
        <p:spPr>
          <a:xfrm>
            <a:off x="515982" y="2721697"/>
            <a:ext cx="2772001" cy="369332"/>
          </a:xfrm>
          <a:prstGeom prst="roundRect">
            <a:avLst/>
          </a:prstGeom>
          <a:solidFill>
            <a:schemeClr val="accent1"/>
          </a:solidFill>
        </p:spPr>
        <p:txBody>
          <a:bodyPr wrap="none" rtlCol="0" anchor="ctr">
            <a:noAutofit/>
          </a:bodyPr>
          <a:lstStyle/>
          <a:p>
            <a:pPr algn="ctr"/>
            <a:r>
              <a:rPr kumimoji="1" lang="ja-JP" altLang="en-US" sz="1600" b="1">
                <a:solidFill>
                  <a:schemeClr val="bg1"/>
                </a:solidFill>
                <a:latin typeface="+mn-ea"/>
              </a:rPr>
              <a:t>ウォーターフォール開発</a:t>
            </a:r>
            <a:endParaRPr kumimoji="1" lang="en-US" altLang="ja-JP" sz="1600" b="1">
              <a:solidFill>
                <a:schemeClr val="bg1"/>
              </a:solidFill>
              <a:latin typeface="+mn-ea"/>
            </a:endParaRPr>
          </a:p>
        </p:txBody>
      </p:sp>
      <p:sp>
        <p:nvSpPr>
          <p:cNvPr id="12" name="テキスト ボックス 11">
            <a:extLst>
              <a:ext uri="{FF2B5EF4-FFF2-40B4-BE49-F238E27FC236}">
                <a16:creationId xmlns:a16="http://schemas.microsoft.com/office/drawing/2014/main" id="{2BCB160D-6735-2D94-AE75-E4EDE2E83EF3}"/>
              </a:ext>
            </a:extLst>
          </p:cNvPr>
          <p:cNvSpPr txBox="1"/>
          <p:nvPr/>
        </p:nvSpPr>
        <p:spPr>
          <a:xfrm>
            <a:off x="515983" y="3217869"/>
            <a:ext cx="10101092" cy="984885"/>
          </a:xfrm>
          <a:prstGeom prst="rect">
            <a:avLst/>
          </a:prstGeom>
          <a:noFill/>
        </p:spPr>
        <p:txBody>
          <a:bodyPr wrap="square" lIns="108000" rIns="108000" rtlCol="0" anchor="t">
            <a:spAutoFit/>
          </a:bodyPr>
          <a:lstStyle/>
          <a:p>
            <a:pPr marL="180970" indent="-180970">
              <a:spcBef>
                <a:spcPts val="600"/>
              </a:spcBef>
              <a:buFont typeface="Wingdings" panose="05000000000000000000" pitchFamily="2" charset="2"/>
              <a:buChar char="ü"/>
            </a:pPr>
            <a:r>
              <a:rPr lang="ja-JP" altLang="en-US" sz="1600">
                <a:latin typeface="+mn-ea"/>
              </a:rPr>
              <a:t>要件・範囲を前倒しで固定しやすく、予算と納期を確定しやすい</a:t>
            </a:r>
            <a:endParaRPr lang="en-US" altLang="ja-JP" sz="1600">
              <a:latin typeface="+mn-ea"/>
            </a:endParaRPr>
          </a:p>
          <a:p>
            <a:pPr marL="180970" indent="-180970">
              <a:spcBef>
                <a:spcPts val="600"/>
              </a:spcBef>
              <a:buFont typeface="Wingdings" panose="05000000000000000000" pitchFamily="2" charset="2"/>
              <a:buChar char="ü"/>
            </a:pPr>
            <a:r>
              <a:rPr lang="ja-JP" altLang="en-US" sz="1600">
                <a:latin typeface="+mn-ea"/>
              </a:rPr>
              <a:t>品質ゲート（レビュー、テスト工程）が段階的で、検収基準が明瞭</a:t>
            </a:r>
            <a:endParaRPr lang="en-US" altLang="ja-JP" sz="1600">
              <a:latin typeface="+mn-ea"/>
            </a:endParaRPr>
          </a:p>
          <a:p>
            <a:pPr marL="180970" indent="-180970">
              <a:spcBef>
                <a:spcPts val="600"/>
              </a:spcBef>
              <a:buFont typeface="Wingdings" panose="05000000000000000000" pitchFamily="2" charset="2"/>
              <a:buChar char="ü"/>
            </a:pPr>
            <a:r>
              <a:rPr lang="ja-JP" altLang="en-US" sz="1600">
                <a:latin typeface="+mn-ea"/>
              </a:rPr>
              <a:t>文書・設計資産が残り、長期保守や人員入替に強い</a:t>
            </a:r>
            <a:endParaRPr lang="en-US" altLang="ja-JP" sz="1600">
              <a:latin typeface="+mn-ea"/>
            </a:endParaRPr>
          </a:p>
        </p:txBody>
      </p:sp>
      <p:sp>
        <p:nvSpPr>
          <p:cNvPr id="3" name="正方形/長方形 2">
            <a:extLst>
              <a:ext uri="{FF2B5EF4-FFF2-40B4-BE49-F238E27FC236}">
                <a16:creationId xmlns:a16="http://schemas.microsoft.com/office/drawing/2014/main" id="{953A1FCB-2F2D-F561-7278-F4D098446325}"/>
              </a:ext>
            </a:extLst>
          </p:cNvPr>
          <p:cNvSpPr/>
          <p:nvPr/>
        </p:nvSpPr>
        <p:spPr>
          <a:xfrm>
            <a:off x="438150" y="4785545"/>
            <a:ext cx="6591300" cy="1536708"/>
          </a:xfrm>
          <a:prstGeom prst="rect">
            <a:avLst/>
          </a:prstGeom>
          <a:noFill/>
          <a:ln w="38100">
            <a:solidFill>
              <a:schemeClr val="accent4">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5" name="吹き出し: 四角形 4">
            <a:extLst>
              <a:ext uri="{FF2B5EF4-FFF2-40B4-BE49-F238E27FC236}">
                <a16:creationId xmlns:a16="http://schemas.microsoft.com/office/drawing/2014/main" id="{EC7DF557-32AE-D182-4B64-73440FFF1DD0}"/>
              </a:ext>
            </a:extLst>
          </p:cNvPr>
          <p:cNvSpPr/>
          <p:nvPr/>
        </p:nvSpPr>
        <p:spPr>
          <a:xfrm>
            <a:off x="6210300" y="4785545"/>
            <a:ext cx="819150" cy="465630"/>
          </a:xfrm>
          <a:prstGeom prst="wedgeRectCallout">
            <a:avLst>
              <a:gd name="adj1" fmla="val 5911"/>
              <a:gd name="adj2" fmla="val 7268"/>
            </a:avLst>
          </a:prstGeom>
          <a:solidFill>
            <a:schemeClr val="accent4">
              <a:lumMod val="60000"/>
              <a:lumOff val="40000"/>
            </a:schemeClr>
          </a:solidFill>
          <a:ln w="28575">
            <a:solidFill>
              <a:schemeClr val="accent4">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200" b="1">
                <a:solidFill>
                  <a:srgbClr val="FF0000"/>
                </a:solidFill>
              </a:rPr>
              <a:t>EXE</a:t>
            </a:r>
            <a:r>
              <a:rPr kumimoji="1" lang="ja-JP" altLang="en-US" sz="1200" b="1">
                <a:solidFill>
                  <a:srgbClr val="FF0000"/>
                </a:solidFill>
              </a:rPr>
              <a:t>推奨</a:t>
            </a:r>
          </a:p>
        </p:txBody>
      </p:sp>
      <p:sp>
        <p:nvSpPr>
          <p:cNvPr id="6" name="吹き出し: 四角形 5">
            <a:extLst>
              <a:ext uri="{FF2B5EF4-FFF2-40B4-BE49-F238E27FC236}">
                <a16:creationId xmlns:a16="http://schemas.microsoft.com/office/drawing/2014/main" id="{2D84C638-0D5F-4653-3665-53F25F0F6CE4}"/>
              </a:ext>
            </a:extLst>
          </p:cNvPr>
          <p:cNvSpPr/>
          <p:nvPr/>
        </p:nvSpPr>
        <p:spPr>
          <a:xfrm>
            <a:off x="7253171" y="4793461"/>
            <a:ext cx="4757854" cy="1528792"/>
          </a:xfrm>
          <a:prstGeom prst="wedgeRectCallout">
            <a:avLst>
              <a:gd name="adj1" fmla="val -52773"/>
              <a:gd name="adj2" fmla="val -32313"/>
            </a:avLst>
          </a:prstGeom>
          <a:noFill/>
          <a:ln w="28575">
            <a:solidFill>
              <a:schemeClr val="accent4">
                <a:lumMod val="60000"/>
                <a:lumOff val="4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285750" indent="-285750">
              <a:buFont typeface="Arial" panose="020B0604020202020204" pitchFamily="34" charset="0"/>
              <a:buChar char="•"/>
            </a:pPr>
            <a:r>
              <a:rPr kumimoji="1" lang="ja-JP" altLang="en-US" sz="1600">
                <a:solidFill>
                  <a:schemeClr val="tx1"/>
                </a:solidFill>
                <a:latin typeface="+mn-ea"/>
              </a:rPr>
              <a:t>拠点ごとの要望が発生することが予想される</a:t>
            </a:r>
            <a:endParaRPr kumimoji="1" lang="en-US" altLang="ja-JP" sz="1600">
              <a:solidFill>
                <a:schemeClr val="tx1"/>
              </a:solidFill>
              <a:latin typeface="+mn-ea"/>
            </a:endParaRPr>
          </a:p>
          <a:p>
            <a:pPr marL="285750" indent="-285750">
              <a:buFont typeface="Arial" panose="020B0604020202020204" pitchFamily="34" charset="0"/>
              <a:buChar char="•"/>
            </a:pPr>
            <a:r>
              <a:rPr kumimoji="1" lang="en-US" altLang="ja-JP" sz="1600" err="1">
                <a:solidFill>
                  <a:schemeClr val="tx1"/>
                </a:solidFill>
                <a:latin typeface="+mn-ea"/>
              </a:rPr>
              <a:t>Cognite</a:t>
            </a:r>
            <a:r>
              <a:rPr kumimoji="1" lang="en-US" altLang="ja-JP" sz="1600">
                <a:solidFill>
                  <a:schemeClr val="tx1"/>
                </a:solidFill>
                <a:latin typeface="+mn-ea"/>
              </a:rPr>
              <a:t>/ESG</a:t>
            </a:r>
            <a:r>
              <a:rPr kumimoji="1" lang="ja-JP" altLang="en-US" sz="1600">
                <a:solidFill>
                  <a:schemeClr val="tx1"/>
                </a:solidFill>
                <a:latin typeface="+mn-ea"/>
              </a:rPr>
              <a:t>システムの</a:t>
            </a:r>
            <a:r>
              <a:rPr kumimoji="1" lang="en-US" altLang="ja-JP" sz="1600">
                <a:solidFill>
                  <a:schemeClr val="tx1"/>
                </a:solidFill>
                <a:latin typeface="+mn-ea"/>
              </a:rPr>
              <a:t>IF</a:t>
            </a:r>
            <a:r>
              <a:rPr kumimoji="1" lang="ja-JP" altLang="en-US" sz="1600">
                <a:solidFill>
                  <a:schemeClr val="tx1"/>
                </a:solidFill>
                <a:latin typeface="+mn-ea"/>
              </a:rPr>
              <a:t>要件の変更に柔軟に対応可能</a:t>
            </a:r>
            <a:endParaRPr kumimoji="1" lang="en-US" altLang="ja-JP" sz="1600">
              <a:solidFill>
                <a:schemeClr val="tx1"/>
              </a:solidFill>
              <a:latin typeface="+mn-ea"/>
            </a:endParaRPr>
          </a:p>
          <a:p>
            <a:pPr marL="285750" indent="-285750">
              <a:buFont typeface="Arial" panose="020B0604020202020204" pitchFamily="34" charset="0"/>
              <a:buChar char="•"/>
            </a:pPr>
            <a:r>
              <a:rPr kumimoji="1" lang="ja-JP" altLang="en-US" sz="1600">
                <a:solidFill>
                  <a:schemeClr val="tx1"/>
                </a:solidFill>
                <a:latin typeface="+mn-ea"/>
              </a:rPr>
              <a:t>ユーザーが早い段階でシステムを体験できる</a:t>
            </a:r>
            <a:endParaRPr kumimoji="1" lang="en-US" altLang="ja-JP" sz="1600">
              <a:solidFill>
                <a:schemeClr val="tx1"/>
              </a:solidFill>
              <a:latin typeface="+mn-ea"/>
            </a:endParaRPr>
          </a:p>
          <a:p>
            <a:pPr marL="285750" indent="-285750">
              <a:buFont typeface="Arial" panose="020B0604020202020204" pitchFamily="34" charset="0"/>
              <a:buChar char="•"/>
            </a:pPr>
            <a:endParaRPr kumimoji="1" lang="ja-JP" altLang="en-US" sz="1600">
              <a:solidFill>
                <a:schemeClr val="tx1"/>
              </a:solidFill>
              <a:latin typeface="+mn-ea"/>
            </a:endParaRPr>
          </a:p>
        </p:txBody>
      </p:sp>
    </p:spTree>
    <p:extLst>
      <p:ext uri="{BB962C8B-B14F-4D97-AF65-F5344CB8AC3E}">
        <p14:creationId xmlns:p14="http://schemas.microsoft.com/office/powerpoint/2010/main" val="2179318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7D94-4379-AA7F-7ACA-D5DD8CC3F8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FB33A-61FC-E7A5-2731-26104C1C5873}"/>
              </a:ext>
            </a:extLst>
          </p:cNvPr>
          <p:cNvSpPr>
            <a:spLocks noGrp="1"/>
          </p:cNvSpPr>
          <p:nvPr>
            <p:ph type="title"/>
          </p:nvPr>
        </p:nvSpPr>
        <p:spPr/>
        <p:txBody>
          <a:bodyPr/>
          <a:lstStyle/>
          <a:p>
            <a:r>
              <a:rPr lang="en-US" altLang="ja-JP"/>
              <a:t>1-4</a:t>
            </a:r>
            <a:r>
              <a:rPr lang="ja-JP" altLang="en-US"/>
              <a:t>．弊社の強み</a:t>
            </a:r>
            <a:endParaRPr kumimoji="1" lang="ja-JP" altLang="en-US"/>
          </a:p>
        </p:txBody>
      </p:sp>
      <p:sp>
        <p:nvSpPr>
          <p:cNvPr id="5" name="フッター プレースホルダー 4">
            <a:extLst>
              <a:ext uri="{FF2B5EF4-FFF2-40B4-BE49-F238E27FC236}">
                <a16:creationId xmlns:a16="http://schemas.microsoft.com/office/drawing/2014/main" id="{ECBC8900-0DEF-3F0E-F806-40AC3CF5A6FD}"/>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B2BC63CA-4930-0779-57D8-F55CB5515E2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sp>
        <p:nvSpPr>
          <p:cNvPr id="155" name="テキスト ボックス 154">
            <a:extLst>
              <a:ext uri="{FF2B5EF4-FFF2-40B4-BE49-F238E27FC236}">
                <a16:creationId xmlns:a16="http://schemas.microsoft.com/office/drawing/2014/main" id="{27E49E27-E0FC-DCDA-C62C-2A5E3B3C09B0}"/>
              </a:ext>
            </a:extLst>
          </p:cNvPr>
          <p:cNvSpPr txBox="1"/>
          <p:nvPr/>
        </p:nvSpPr>
        <p:spPr>
          <a:xfrm>
            <a:off x="720000" y="863563"/>
            <a:ext cx="10897200" cy="646331"/>
          </a:xfrm>
          <a:prstGeom prst="rect">
            <a:avLst/>
          </a:prstGeom>
          <a:noFill/>
        </p:spPr>
        <p:txBody>
          <a:bodyPr wrap="square" lIns="108000" rIns="108000" rtlCol="0" anchor="t">
            <a:spAutoFit/>
          </a:bodyPr>
          <a:lstStyle/>
          <a:p>
            <a:pPr algn="ctr">
              <a:spcBef>
                <a:spcPts val="600"/>
              </a:spcBef>
            </a:pPr>
            <a:r>
              <a:rPr lang="ja-JP" altLang="en-US" b="1">
                <a:latin typeface="+mn-ea"/>
              </a:rPr>
              <a:t>弊社は以下を強みとし、本システム構築ではこれまでに培った</a:t>
            </a:r>
            <a:br>
              <a:rPr lang="en-US" altLang="ja-JP" b="1">
                <a:latin typeface="+mn-ea"/>
              </a:rPr>
            </a:br>
            <a:r>
              <a:rPr lang="ja-JP" altLang="en-US" b="1">
                <a:solidFill>
                  <a:srgbClr val="C00000"/>
                </a:solidFill>
                <a:latin typeface="+mn-ea"/>
              </a:rPr>
              <a:t>“出光興産様案件プロジェクト成功のノウハウ”</a:t>
            </a:r>
            <a:r>
              <a:rPr lang="ja-JP" altLang="en-US" b="1">
                <a:latin typeface="+mn-ea"/>
              </a:rPr>
              <a:t>を存分に活用できると考えております。</a:t>
            </a:r>
            <a:endParaRPr lang="en-US" altLang="ja-JP" b="1">
              <a:latin typeface="+mn-ea"/>
            </a:endParaRPr>
          </a:p>
        </p:txBody>
      </p:sp>
      <p:grpSp>
        <p:nvGrpSpPr>
          <p:cNvPr id="156" name="グループ化 155">
            <a:extLst>
              <a:ext uri="{FF2B5EF4-FFF2-40B4-BE49-F238E27FC236}">
                <a16:creationId xmlns:a16="http://schemas.microsoft.com/office/drawing/2014/main" id="{26EA07DF-E8AA-5370-0A3E-732F872CAD6D}"/>
              </a:ext>
            </a:extLst>
          </p:cNvPr>
          <p:cNvGrpSpPr/>
          <p:nvPr/>
        </p:nvGrpSpPr>
        <p:grpSpPr>
          <a:xfrm>
            <a:off x="1015038" y="4966930"/>
            <a:ext cx="10040699" cy="1140068"/>
            <a:chOff x="1015039" y="1861216"/>
            <a:chExt cx="10040699" cy="1140068"/>
          </a:xfrm>
        </p:grpSpPr>
        <p:sp>
          <p:nvSpPr>
            <p:cNvPr id="157" name="正方形/長方形 156">
              <a:extLst>
                <a:ext uri="{FF2B5EF4-FFF2-40B4-BE49-F238E27FC236}">
                  <a16:creationId xmlns:a16="http://schemas.microsoft.com/office/drawing/2014/main" id="{9CFF2A2D-202C-20D5-FBBD-00E364425127}"/>
                </a:ext>
              </a:extLst>
            </p:cNvPr>
            <p:cNvSpPr/>
            <p:nvPr/>
          </p:nvSpPr>
          <p:spPr>
            <a:xfrm>
              <a:off x="1015039" y="186121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8" name="テキスト ボックス 157">
              <a:extLst>
                <a:ext uri="{FF2B5EF4-FFF2-40B4-BE49-F238E27FC236}">
                  <a16:creationId xmlns:a16="http://schemas.microsoft.com/office/drawing/2014/main" id="{896FD994-A8D9-69DB-EF94-4C65545F2FBC}"/>
                </a:ext>
              </a:extLst>
            </p:cNvPr>
            <p:cNvSpPr txBox="1"/>
            <p:nvPr/>
          </p:nvSpPr>
          <p:spPr>
            <a:xfrm>
              <a:off x="1271194" y="1861216"/>
              <a:ext cx="360996" cy="461665"/>
            </a:xfrm>
            <a:prstGeom prst="rect">
              <a:avLst/>
            </a:prstGeom>
            <a:noFill/>
          </p:spPr>
          <p:txBody>
            <a:bodyPr wrap="none" rtlCol="0">
              <a:spAutoFit/>
            </a:bodyPr>
            <a:lstStyle/>
            <a:p>
              <a:r>
                <a:rPr kumimoji="1" lang="en-US" altLang="ja-JP" sz="2400" b="1">
                  <a:latin typeface="+mn-ea"/>
                </a:rPr>
                <a:t>3</a:t>
              </a:r>
              <a:endParaRPr kumimoji="1" lang="ja-JP" altLang="en-US" sz="2400" b="1">
                <a:latin typeface="+mn-ea"/>
              </a:endParaRPr>
            </a:p>
          </p:txBody>
        </p:sp>
        <p:sp>
          <p:nvSpPr>
            <p:cNvPr id="159" name="テキスト ボックス 158">
              <a:extLst>
                <a:ext uri="{FF2B5EF4-FFF2-40B4-BE49-F238E27FC236}">
                  <a16:creationId xmlns:a16="http://schemas.microsoft.com/office/drawing/2014/main" id="{045923F4-059E-989F-C450-CF980D018D4D}"/>
                </a:ext>
              </a:extLst>
            </p:cNvPr>
            <p:cNvSpPr txBox="1"/>
            <p:nvPr/>
          </p:nvSpPr>
          <p:spPr>
            <a:xfrm>
              <a:off x="1695739" y="1909547"/>
              <a:ext cx="1800493" cy="369332"/>
            </a:xfrm>
            <a:prstGeom prst="rect">
              <a:avLst/>
            </a:prstGeom>
            <a:noFill/>
          </p:spPr>
          <p:txBody>
            <a:bodyPr wrap="none" rtlCol="0">
              <a:noAutofit/>
            </a:bodyPr>
            <a:lstStyle/>
            <a:p>
              <a:r>
                <a:rPr kumimoji="1" lang="ja-JP" altLang="en-US" b="1">
                  <a:latin typeface="+mn-ea"/>
                </a:rPr>
                <a:t>オフショア</a:t>
              </a:r>
              <a:r>
                <a:rPr kumimoji="1" lang="en-US" altLang="ja-JP" b="1">
                  <a:latin typeface="+mn-ea"/>
                </a:rPr>
                <a:t>(</a:t>
              </a:r>
              <a:r>
                <a:rPr kumimoji="1" lang="en-US" altLang="ja-JP" b="1" err="1">
                  <a:latin typeface="+mn-ea"/>
                </a:rPr>
                <a:t>BotDev</a:t>
              </a:r>
              <a:r>
                <a:rPr kumimoji="1" lang="en-US" altLang="ja-JP" b="1">
                  <a:latin typeface="+mn-ea"/>
                </a:rPr>
                <a:t>)</a:t>
              </a:r>
              <a:r>
                <a:rPr kumimoji="1" lang="ja-JP" altLang="en-US" b="1">
                  <a:latin typeface="+mn-ea"/>
                </a:rPr>
                <a:t>活用</a:t>
              </a:r>
            </a:p>
          </p:txBody>
        </p:sp>
        <p:sp>
          <p:nvSpPr>
            <p:cNvPr id="160" name="正方形/長方形 159">
              <a:extLst>
                <a:ext uri="{FF2B5EF4-FFF2-40B4-BE49-F238E27FC236}">
                  <a16:creationId xmlns:a16="http://schemas.microsoft.com/office/drawing/2014/main" id="{014A3E58-295A-1F95-6F28-F4BFF73EB02B}"/>
                </a:ext>
              </a:extLst>
            </p:cNvPr>
            <p:cNvSpPr/>
            <p:nvPr/>
          </p:nvSpPr>
          <p:spPr>
            <a:xfrm rot="10800000">
              <a:off x="1015039" y="230507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61" name="テキスト ボックス 160">
              <a:extLst>
                <a:ext uri="{FF2B5EF4-FFF2-40B4-BE49-F238E27FC236}">
                  <a16:creationId xmlns:a16="http://schemas.microsoft.com/office/drawing/2014/main" id="{2A77212E-20AD-4C2F-CB43-84CC046639DA}"/>
                </a:ext>
              </a:extLst>
            </p:cNvPr>
            <p:cNvSpPr txBox="1"/>
            <p:nvPr/>
          </p:nvSpPr>
          <p:spPr>
            <a:xfrm>
              <a:off x="1695738" y="2416509"/>
              <a:ext cx="9360000" cy="584775"/>
            </a:xfrm>
            <a:prstGeom prst="rect">
              <a:avLst/>
            </a:prstGeom>
            <a:noFill/>
          </p:spPr>
          <p:txBody>
            <a:bodyPr wrap="square" lIns="108000" rIns="108000" rtlCol="0" anchor="t">
              <a:spAutoFit/>
            </a:bodyPr>
            <a:lstStyle/>
            <a:p>
              <a:pPr>
                <a:spcBef>
                  <a:spcPts val="600"/>
                </a:spcBef>
              </a:pPr>
              <a:r>
                <a:rPr lang="ja-JP" altLang="en-US" sz="1600">
                  <a:latin typeface="+mn-ea"/>
                </a:rPr>
                <a:t>日本在住のブリッジ</a:t>
              </a:r>
              <a:r>
                <a:rPr lang="en-US" altLang="ja-JP" sz="1600">
                  <a:latin typeface="+mn-ea"/>
                </a:rPr>
                <a:t>SE</a:t>
              </a:r>
              <a:r>
                <a:rPr lang="ja-JP" altLang="en-US" sz="1600">
                  <a:latin typeface="+mn-ea"/>
                </a:rPr>
                <a:t>を中核に据え、日本側の要件とベトナム側の開発力をシームレスに連携させることで、コミュニケーションの課題を解消し、プロジェクトの効率的な推進を実現します。</a:t>
              </a:r>
              <a:endParaRPr lang="en-US" altLang="ja-JP" sz="1600">
                <a:latin typeface="+mn-ea"/>
              </a:endParaRPr>
            </a:p>
          </p:txBody>
        </p:sp>
      </p:grpSp>
      <p:grpSp>
        <p:nvGrpSpPr>
          <p:cNvPr id="162" name="グループ化 161">
            <a:extLst>
              <a:ext uri="{FF2B5EF4-FFF2-40B4-BE49-F238E27FC236}">
                <a16:creationId xmlns:a16="http://schemas.microsoft.com/office/drawing/2014/main" id="{31808FAF-EEA5-2161-F83D-20BF30A53994}"/>
              </a:ext>
            </a:extLst>
          </p:cNvPr>
          <p:cNvGrpSpPr/>
          <p:nvPr/>
        </p:nvGrpSpPr>
        <p:grpSpPr>
          <a:xfrm>
            <a:off x="1015038" y="3427101"/>
            <a:ext cx="10040699" cy="1140068"/>
            <a:chOff x="1015039" y="3428992"/>
            <a:chExt cx="10040699" cy="1140068"/>
          </a:xfrm>
        </p:grpSpPr>
        <p:sp>
          <p:nvSpPr>
            <p:cNvPr id="163" name="正方形/長方形 162">
              <a:extLst>
                <a:ext uri="{FF2B5EF4-FFF2-40B4-BE49-F238E27FC236}">
                  <a16:creationId xmlns:a16="http://schemas.microsoft.com/office/drawing/2014/main" id="{F8DD5349-1F13-3392-274D-8A63D72AB365}"/>
                </a:ext>
              </a:extLst>
            </p:cNvPr>
            <p:cNvSpPr/>
            <p:nvPr/>
          </p:nvSpPr>
          <p:spPr>
            <a:xfrm>
              <a:off x="1015039" y="3428992"/>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64" name="テキスト ボックス 163">
              <a:extLst>
                <a:ext uri="{FF2B5EF4-FFF2-40B4-BE49-F238E27FC236}">
                  <a16:creationId xmlns:a16="http://schemas.microsoft.com/office/drawing/2014/main" id="{8CF50243-F566-F174-D695-D709708F6561}"/>
                </a:ext>
              </a:extLst>
            </p:cNvPr>
            <p:cNvSpPr txBox="1"/>
            <p:nvPr/>
          </p:nvSpPr>
          <p:spPr>
            <a:xfrm>
              <a:off x="1271194" y="3428992"/>
              <a:ext cx="360996" cy="461665"/>
            </a:xfrm>
            <a:prstGeom prst="rect">
              <a:avLst/>
            </a:prstGeom>
            <a:noFill/>
          </p:spPr>
          <p:txBody>
            <a:bodyPr wrap="none" rtlCol="0">
              <a:spAutoFit/>
            </a:bodyPr>
            <a:lstStyle/>
            <a:p>
              <a:r>
                <a:rPr kumimoji="1" lang="en-US" altLang="ja-JP" sz="2400" b="1">
                  <a:latin typeface="+mn-ea"/>
                </a:rPr>
                <a:t>2</a:t>
              </a:r>
              <a:endParaRPr kumimoji="1" lang="ja-JP" altLang="en-US" sz="2400" b="1">
                <a:latin typeface="+mn-ea"/>
              </a:endParaRPr>
            </a:p>
          </p:txBody>
        </p:sp>
        <p:sp>
          <p:nvSpPr>
            <p:cNvPr id="165" name="テキスト ボックス 164">
              <a:extLst>
                <a:ext uri="{FF2B5EF4-FFF2-40B4-BE49-F238E27FC236}">
                  <a16:creationId xmlns:a16="http://schemas.microsoft.com/office/drawing/2014/main" id="{8EC8FBA7-410B-8B2D-CC88-6377253129F6}"/>
                </a:ext>
              </a:extLst>
            </p:cNvPr>
            <p:cNvSpPr txBox="1"/>
            <p:nvPr/>
          </p:nvSpPr>
          <p:spPr>
            <a:xfrm>
              <a:off x="1695739" y="3477323"/>
              <a:ext cx="1800493" cy="369332"/>
            </a:xfrm>
            <a:prstGeom prst="rect">
              <a:avLst/>
            </a:prstGeom>
            <a:noFill/>
          </p:spPr>
          <p:txBody>
            <a:bodyPr wrap="none" rtlCol="0">
              <a:noAutofit/>
            </a:bodyPr>
            <a:lstStyle/>
            <a:p>
              <a:r>
                <a:rPr kumimoji="1" lang="en-US" altLang="ja-JP" b="1">
                  <a:latin typeface="+mn-ea"/>
                </a:rPr>
                <a:t>SDM</a:t>
              </a:r>
              <a:r>
                <a:rPr kumimoji="1" lang="ja-JP" altLang="en-US" b="1">
                  <a:latin typeface="+mn-ea"/>
                </a:rPr>
                <a:t>案件でのアジャイル開発の実績</a:t>
              </a:r>
            </a:p>
          </p:txBody>
        </p:sp>
        <p:sp>
          <p:nvSpPr>
            <p:cNvPr id="166" name="正方形/長方形 165">
              <a:extLst>
                <a:ext uri="{FF2B5EF4-FFF2-40B4-BE49-F238E27FC236}">
                  <a16:creationId xmlns:a16="http://schemas.microsoft.com/office/drawing/2014/main" id="{5E4E53A2-63A6-9BDF-70FB-1E5A9EC815F0}"/>
                </a:ext>
              </a:extLst>
            </p:cNvPr>
            <p:cNvSpPr/>
            <p:nvPr/>
          </p:nvSpPr>
          <p:spPr>
            <a:xfrm rot="10800000">
              <a:off x="1015039" y="3872855"/>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67" name="テキスト ボックス 166">
              <a:extLst>
                <a:ext uri="{FF2B5EF4-FFF2-40B4-BE49-F238E27FC236}">
                  <a16:creationId xmlns:a16="http://schemas.microsoft.com/office/drawing/2014/main" id="{0FBBDE85-35D2-6D56-286C-AE529209E7DE}"/>
                </a:ext>
              </a:extLst>
            </p:cNvPr>
            <p:cNvSpPr txBox="1"/>
            <p:nvPr/>
          </p:nvSpPr>
          <p:spPr>
            <a:xfrm>
              <a:off x="1695738" y="3984285"/>
              <a:ext cx="9360000" cy="584775"/>
            </a:xfrm>
            <a:prstGeom prst="rect">
              <a:avLst/>
            </a:prstGeom>
            <a:noFill/>
          </p:spPr>
          <p:txBody>
            <a:bodyPr wrap="square" lIns="108000" rIns="108000" rtlCol="0" anchor="t">
              <a:spAutoFit/>
            </a:bodyPr>
            <a:lstStyle/>
            <a:p>
              <a:pPr>
                <a:spcBef>
                  <a:spcPts val="600"/>
                </a:spcBef>
              </a:pPr>
              <a:r>
                <a:rPr lang="en-US" altLang="ja-JP" sz="1600">
                  <a:latin typeface="+mn-ea"/>
                </a:rPr>
                <a:t>SDM</a:t>
              </a:r>
              <a:r>
                <a:rPr lang="ja-JP" altLang="en-US" sz="1600">
                  <a:latin typeface="+mn-ea"/>
                </a:rPr>
                <a:t>案件におけるアジャイル開発での成功と、そこに至るまでの試行錯誤から得た知見を活かし、スクラムを効率的に推進し、迅速に成果を提供します。</a:t>
              </a:r>
              <a:endParaRPr lang="en-US" altLang="ja-JP">
                <a:latin typeface="+mn-ea"/>
              </a:endParaRPr>
            </a:p>
          </p:txBody>
        </p:sp>
      </p:grpSp>
      <p:grpSp>
        <p:nvGrpSpPr>
          <p:cNvPr id="168" name="グループ化 167">
            <a:extLst>
              <a:ext uri="{FF2B5EF4-FFF2-40B4-BE49-F238E27FC236}">
                <a16:creationId xmlns:a16="http://schemas.microsoft.com/office/drawing/2014/main" id="{A6BE0DC4-472C-1C6F-2FED-0852141C422A}"/>
              </a:ext>
            </a:extLst>
          </p:cNvPr>
          <p:cNvGrpSpPr/>
          <p:nvPr/>
        </p:nvGrpSpPr>
        <p:grpSpPr>
          <a:xfrm>
            <a:off x="1015039" y="1887272"/>
            <a:ext cx="10040699" cy="1140068"/>
            <a:chOff x="1015039" y="4903666"/>
            <a:chExt cx="10040699" cy="1140068"/>
          </a:xfrm>
        </p:grpSpPr>
        <p:sp>
          <p:nvSpPr>
            <p:cNvPr id="169" name="正方形/長方形 168">
              <a:extLst>
                <a:ext uri="{FF2B5EF4-FFF2-40B4-BE49-F238E27FC236}">
                  <a16:creationId xmlns:a16="http://schemas.microsoft.com/office/drawing/2014/main" id="{41A6EEFC-30D8-F8FD-C16E-B61382A594D5}"/>
                </a:ext>
              </a:extLst>
            </p:cNvPr>
            <p:cNvSpPr/>
            <p:nvPr/>
          </p:nvSpPr>
          <p:spPr>
            <a:xfrm>
              <a:off x="1015039" y="490366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70" name="テキスト ボックス 169">
              <a:extLst>
                <a:ext uri="{FF2B5EF4-FFF2-40B4-BE49-F238E27FC236}">
                  <a16:creationId xmlns:a16="http://schemas.microsoft.com/office/drawing/2014/main" id="{068EFC9F-DE00-E7C6-D7D1-985E5E1C1DD8}"/>
                </a:ext>
              </a:extLst>
            </p:cNvPr>
            <p:cNvSpPr txBox="1"/>
            <p:nvPr/>
          </p:nvSpPr>
          <p:spPr>
            <a:xfrm>
              <a:off x="1271194" y="4903666"/>
              <a:ext cx="360996" cy="461665"/>
            </a:xfrm>
            <a:prstGeom prst="rect">
              <a:avLst/>
            </a:prstGeom>
            <a:noFill/>
          </p:spPr>
          <p:txBody>
            <a:bodyPr wrap="none" rtlCol="0">
              <a:spAutoFit/>
            </a:bodyPr>
            <a:lstStyle/>
            <a:p>
              <a:r>
                <a:rPr kumimoji="1" lang="en-US" altLang="ja-JP" sz="2400" b="1">
                  <a:latin typeface="+mn-ea"/>
                </a:rPr>
                <a:t>1</a:t>
              </a:r>
              <a:endParaRPr kumimoji="1" lang="ja-JP" altLang="en-US" sz="2400" b="1">
                <a:latin typeface="+mn-ea"/>
              </a:endParaRPr>
            </a:p>
          </p:txBody>
        </p:sp>
        <p:sp>
          <p:nvSpPr>
            <p:cNvPr id="171" name="テキスト ボックス 170">
              <a:extLst>
                <a:ext uri="{FF2B5EF4-FFF2-40B4-BE49-F238E27FC236}">
                  <a16:creationId xmlns:a16="http://schemas.microsoft.com/office/drawing/2014/main" id="{5AA1C51B-130F-47C4-ADA2-363900B01B6E}"/>
                </a:ext>
              </a:extLst>
            </p:cNvPr>
            <p:cNvSpPr txBox="1"/>
            <p:nvPr/>
          </p:nvSpPr>
          <p:spPr>
            <a:xfrm>
              <a:off x="1695739" y="4951997"/>
              <a:ext cx="4828153" cy="369332"/>
            </a:xfrm>
            <a:prstGeom prst="rect">
              <a:avLst/>
            </a:prstGeom>
            <a:noFill/>
          </p:spPr>
          <p:txBody>
            <a:bodyPr wrap="none" rtlCol="0">
              <a:noAutofit/>
            </a:bodyPr>
            <a:lstStyle/>
            <a:p>
              <a:r>
                <a:rPr kumimoji="1" lang="ja-JP" altLang="en-US" b="1">
                  <a:latin typeface="+mn-ea"/>
                </a:rPr>
                <a:t>出光興産様プロジェクトでの成功実績</a:t>
              </a:r>
            </a:p>
          </p:txBody>
        </p:sp>
        <p:sp>
          <p:nvSpPr>
            <p:cNvPr id="172" name="正方形/長方形 171">
              <a:extLst>
                <a:ext uri="{FF2B5EF4-FFF2-40B4-BE49-F238E27FC236}">
                  <a16:creationId xmlns:a16="http://schemas.microsoft.com/office/drawing/2014/main" id="{F7FA9149-9491-2747-E578-BC8E1F683C15}"/>
                </a:ext>
              </a:extLst>
            </p:cNvPr>
            <p:cNvSpPr/>
            <p:nvPr/>
          </p:nvSpPr>
          <p:spPr>
            <a:xfrm rot="10800000">
              <a:off x="1015039" y="534752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73" name="テキスト ボックス 172">
              <a:extLst>
                <a:ext uri="{FF2B5EF4-FFF2-40B4-BE49-F238E27FC236}">
                  <a16:creationId xmlns:a16="http://schemas.microsoft.com/office/drawing/2014/main" id="{89366D62-965F-E652-425E-EB07F31D144A}"/>
                </a:ext>
              </a:extLst>
            </p:cNvPr>
            <p:cNvSpPr txBox="1"/>
            <p:nvPr/>
          </p:nvSpPr>
          <p:spPr>
            <a:xfrm>
              <a:off x="1695738" y="5458959"/>
              <a:ext cx="9360000" cy="584775"/>
            </a:xfrm>
            <a:prstGeom prst="rect">
              <a:avLst/>
            </a:prstGeom>
            <a:noFill/>
          </p:spPr>
          <p:txBody>
            <a:bodyPr wrap="square" lIns="108000" rIns="108000" rtlCol="0" anchor="t">
              <a:spAutoFit/>
            </a:bodyPr>
            <a:lstStyle/>
            <a:p>
              <a:pPr>
                <a:spcBef>
                  <a:spcPts val="600"/>
                </a:spcBef>
              </a:pPr>
              <a:r>
                <a:rPr lang="ja-JP" altLang="en-US" sz="1600">
                  <a:latin typeface="+mn-ea"/>
                </a:rPr>
                <a:t>千葉運転管理システム構築の大型プロジェクトや貴社案件の多数プロジェクトにおける管理ノウハウを活用することで円滑なプロジェクト遂行を行います。</a:t>
              </a:r>
            </a:p>
          </p:txBody>
        </p:sp>
      </p:grpSp>
    </p:spTree>
    <p:extLst>
      <p:ext uri="{BB962C8B-B14F-4D97-AF65-F5344CB8AC3E}">
        <p14:creationId xmlns:p14="http://schemas.microsoft.com/office/powerpoint/2010/main" val="3332083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80415E01-9431-A589-C9FD-E625C9B4E7BC}"/>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sp>
        <p:nvSpPr>
          <p:cNvPr id="4" name="タイトル 3">
            <a:extLst>
              <a:ext uri="{FF2B5EF4-FFF2-40B4-BE49-F238E27FC236}">
                <a16:creationId xmlns:a16="http://schemas.microsoft.com/office/drawing/2014/main" id="{50CBA8B7-7E3E-4E10-2E41-240BF4A7E426}"/>
              </a:ext>
            </a:extLst>
          </p:cNvPr>
          <p:cNvSpPr>
            <a:spLocks noGrp="1"/>
          </p:cNvSpPr>
          <p:nvPr>
            <p:ph type="title"/>
          </p:nvPr>
        </p:nvSpPr>
        <p:spPr/>
        <p:txBody>
          <a:bodyPr/>
          <a:lstStyle/>
          <a:p>
            <a:r>
              <a:rPr lang="ja-JP" altLang="en-US"/>
              <a:t>開発範囲</a:t>
            </a:r>
            <a:endParaRPr kumimoji="1" lang="ja-JP" altLang="en-US"/>
          </a:p>
        </p:txBody>
      </p:sp>
    </p:spTree>
    <p:extLst>
      <p:ext uri="{BB962C8B-B14F-4D97-AF65-F5344CB8AC3E}">
        <p14:creationId xmlns:p14="http://schemas.microsoft.com/office/powerpoint/2010/main" val="1774215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53415-7A83-DC2D-FF4F-58A408E161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2B7090-A40F-98FE-D6C7-44056FED94C8}"/>
              </a:ext>
            </a:extLst>
          </p:cNvPr>
          <p:cNvSpPr>
            <a:spLocks noGrp="1"/>
          </p:cNvSpPr>
          <p:nvPr>
            <p:ph type="title"/>
          </p:nvPr>
        </p:nvSpPr>
        <p:spPr/>
        <p:txBody>
          <a:bodyPr/>
          <a:lstStyle/>
          <a:p>
            <a:r>
              <a:rPr lang="en-US" altLang="ja-JP"/>
              <a:t>2</a:t>
            </a:r>
            <a:r>
              <a:rPr kumimoji="1" lang="en-US" altLang="ja-JP"/>
              <a:t>-1</a:t>
            </a:r>
            <a:r>
              <a:rPr kumimoji="1" lang="ja-JP" altLang="en-US"/>
              <a:t>．システム構成図</a:t>
            </a:r>
            <a:r>
              <a:rPr kumimoji="1" lang="en-US" altLang="ja-JP"/>
              <a:t>(</a:t>
            </a:r>
            <a:r>
              <a:rPr kumimoji="1" lang="ja-JP" altLang="en-US"/>
              <a:t>案</a:t>
            </a:r>
            <a:r>
              <a:rPr kumimoji="1" lang="en-US" altLang="ja-JP"/>
              <a:t>)</a:t>
            </a:r>
            <a:endParaRPr kumimoji="1" lang="ja-JP" altLang="en-US"/>
          </a:p>
        </p:txBody>
      </p:sp>
      <p:sp>
        <p:nvSpPr>
          <p:cNvPr id="4" name="フッター プレースホルダー 3">
            <a:extLst>
              <a:ext uri="{FF2B5EF4-FFF2-40B4-BE49-F238E27FC236}">
                <a16:creationId xmlns:a16="http://schemas.microsoft.com/office/drawing/2014/main" id="{7ED08099-A35E-4455-1955-544F780D392E}"/>
              </a:ext>
            </a:extLst>
          </p:cNvPr>
          <p:cNvSpPr>
            <a:spLocks noGrp="1"/>
          </p:cNvSpPr>
          <p:nvPr>
            <p:ph type="ftr" sz="quarter" idx="11"/>
          </p:nvPr>
        </p:nvSpPr>
        <p:spPr/>
        <p:txBody>
          <a:bodyPr/>
          <a:lstStyle/>
          <a:p>
            <a:r>
              <a:rPr lang="en-US"/>
              <a:t>Copyright © </a:t>
            </a:r>
            <a:r>
              <a:rPr lang="en-US" err="1"/>
              <a:t>SystemEXE,Inc</a:t>
            </a:r>
            <a:r>
              <a:rPr lang="en-US"/>
              <a:t> All Rights Reserved.</a:t>
            </a:r>
          </a:p>
        </p:txBody>
      </p:sp>
      <p:sp>
        <p:nvSpPr>
          <p:cNvPr id="3" name="スライド番号プレースホルダー 3">
            <a:extLst>
              <a:ext uri="{FF2B5EF4-FFF2-40B4-BE49-F238E27FC236}">
                <a16:creationId xmlns:a16="http://schemas.microsoft.com/office/drawing/2014/main" id="{76D9B5CE-D6BE-A56C-62AF-3CA8545F985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9</a:t>
            </a:fld>
            <a:endParaRPr kumimoji="1" lang="ja-JP" altLang="en-US" sz="700"/>
          </a:p>
        </p:txBody>
      </p:sp>
      <p:sp>
        <p:nvSpPr>
          <p:cNvPr id="8" name="フリーフォーム: 図形 7">
            <a:extLst>
              <a:ext uri="{FF2B5EF4-FFF2-40B4-BE49-F238E27FC236}">
                <a16:creationId xmlns:a16="http://schemas.microsoft.com/office/drawing/2014/main" id="{D75C2440-C8DD-B598-9C10-14EDF0C67D6B}"/>
              </a:ext>
            </a:extLst>
          </p:cNvPr>
          <p:cNvSpPr/>
          <p:nvPr/>
        </p:nvSpPr>
        <p:spPr>
          <a:xfrm>
            <a:off x="282803" y="1030682"/>
            <a:ext cx="6809021" cy="5174638"/>
          </a:xfrm>
          <a:custGeom>
            <a:avLst/>
            <a:gdLst>
              <a:gd name="connsiteX0" fmla="*/ 0 w 4389120"/>
              <a:gd name="connsiteY0" fmla="*/ 0 h 1783080"/>
              <a:gd name="connsiteX1" fmla="*/ 4389120 w 4389120"/>
              <a:gd name="connsiteY1" fmla="*/ 0 h 1783080"/>
              <a:gd name="connsiteX2" fmla="*/ 4389120 w 4389120"/>
              <a:gd name="connsiteY2" fmla="*/ 1783080 h 1783080"/>
              <a:gd name="connsiteX3" fmla="*/ 0 w 4389120"/>
              <a:gd name="connsiteY3" fmla="*/ 1783080 h 1783080"/>
            </a:gdLst>
            <a:ahLst/>
            <a:cxnLst>
              <a:cxn ang="0">
                <a:pos x="connsiteX0" y="connsiteY0"/>
              </a:cxn>
              <a:cxn ang="0">
                <a:pos x="connsiteX1" y="connsiteY1"/>
              </a:cxn>
              <a:cxn ang="0">
                <a:pos x="connsiteX2" y="connsiteY2"/>
              </a:cxn>
              <a:cxn ang="0">
                <a:pos x="connsiteX3" y="connsiteY3"/>
              </a:cxn>
            </a:cxnLst>
            <a:rect l="l" t="t" r="r" b="b"/>
            <a:pathLst>
              <a:path w="4389120" h="1783080">
                <a:moveTo>
                  <a:pt x="0" y="0"/>
                </a:moveTo>
                <a:lnTo>
                  <a:pt x="4389120" y="0"/>
                </a:lnTo>
                <a:lnTo>
                  <a:pt x="4389120" y="1783080"/>
                </a:lnTo>
                <a:lnTo>
                  <a:pt x="0" y="1783080"/>
                </a:lnTo>
                <a:close/>
              </a:path>
            </a:pathLst>
          </a:custGeom>
          <a:solidFill>
            <a:srgbClr val="EEF4FB"/>
          </a:solidFill>
          <a:ln w="13716" cap="flat">
            <a:solidFill>
              <a:srgbClr val="6A9DD9"/>
            </a:solidFill>
            <a:prstDash val="solid"/>
            <a:miter/>
          </a:ln>
        </p:spPr>
        <p:txBody>
          <a:bodyPr rtlCol="0" anchor="ctr"/>
          <a:lstStyle/>
          <a:p>
            <a:endParaRPr lang="ja-JP" altLang="en-US" sz="2800">
              <a:latin typeface="Meiryo UI" panose="020B0604030504040204" pitchFamily="50" charset="-128"/>
              <a:ea typeface="Meiryo UI" panose="020B0604030504040204" pitchFamily="50" charset="-128"/>
            </a:endParaRPr>
          </a:p>
        </p:txBody>
      </p:sp>
      <p:sp>
        <p:nvSpPr>
          <p:cNvPr id="38" name="フリーフォーム: 図形 37">
            <a:extLst>
              <a:ext uri="{FF2B5EF4-FFF2-40B4-BE49-F238E27FC236}">
                <a16:creationId xmlns:a16="http://schemas.microsoft.com/office/drawing/2014/main" id="{2DCBD899-8F7C-E181-7494-244BBBAC347B}"/>
              </a:ext>
            </a:extLst>
          </p:cNvPr>
          <p:cNvSpPr/>
          <p:nvPr/>
        </p:nvSpPr>
        <p:spPr>
          <a:xfrm>
            <a:off x="7289451" y="1021468"/>
            <a:ext cx="4389120" cy="1824174"/>
          </a:xfrm>
          <a:custGeom>
            <a:avLst/>
            <a:gdLst>
              <a:gd name="connsiteX0" fmla="*/ 0 w 5897880"/>
              <a:gd name="connsiteY0" fmla="*/ 0 h 6035040"/>
              <a:gd name="connsiteX1" fmla="*/ 5897880 w 5897880"/>
              <a:gd name="connsiteY1" fmla="*/ 0 h 6035040"/>
              <a:gd name="connsiteX2" fmla="*/ 5897880 w 5897880"/>
              <a:gd name="connsiteY2" fmla="*/ 6035040 h 6035040"/>
              <a:gd name="connsiteX3" fmla="*/ 0 w 5897880"/>
              <a:gd name="connsiteY3" fmla="*/ 6035040 h 6035040"/>
            </a:gdLst>
            <a:ahLst/>
            <a:cxnLst>
              <a:cxn ang="0">
                <a:pos x="connsiteX0" y="connsiteY0"/>
              </a:cxn>
              <a:cxn ang="0">
                <a:pos x="connsiteX1" y="connsiteY1"/>
              </a:cxn>
              <a:cxn ang="0">
                <a:pos x="connsiteX2" y="connsiteY2"/>
              </a:cxn>
              <a:cxn ang="0">
                <a:pos x="connsiteX3" y="connsiteY3"/>
              </a:cxn>
            </a:cxnLst>
            <a:rect l="l" t="t" r="r" b="b"/>
            <a:pathLst>
              <a:path w="5897880" h="6035040">
                <a:moveTo>
                  <a:pt x="0" y="0"/>
                </a:moveTo>
                <a:lnTo>
                  <a:pt x="5897880" y="0"/>
                </a:lnTo>
                <a:lnTo>
                  <a:pt x="5897880" y="6035040"/>
                </a:lnTo>
                <a:lnTo>
                  <a:pt x="0" y="6035040"/>
                </a:lnTo>
                <a:close/>
              </a:path>
            </a:pathLst>
          </a:custGeom>
          <a:solidFill>
            <a:srgbClr val="EEF9F1"/>
          </a:solidFill>
          <a:ln w="13716" cap="flat">
            <a:solidFill>
              <a:srgbClr val="87C38F"/>
            </a:solidFill>
            <a:prstDash val="solid"/>
            <a:miter/>
          </a:ln>
        </p:spPr>
        <p:txBody>
          <a:bodyPr rtlCol="0" anchor="ctr"/>
          <a:lstStyle/>
          <a:p>
            <a:endParaRPr lang="ja-JP" altLang="en-US" sz="2800">
              <a:latin typeface="Meiryo UI" panose="020B0604030504040204" pitchFamily="50" charset="-128"/>
              <a:ea typeface="Meiryo UI" panose="020B0604030504040204" pitchFamily="50" charset="-128"/>
            </a:endParaRPr>
          </a:p>
        </p:txBody>
      </p:sp>
      <p:sp>
        <p:nvSpPr>
          <p:cNvPr id="39" name="テキスト ボックス 38">
            <a:extLst>
              <a:ext uri="{FF2B5EF4-FFF2-40B4-BE49-F238E27FC236}">
                <a16:creationId xmlns:a16="http://schemas.microsoft.com/office/drawing/2014/main" id="{761722BB-789E-1253-0EEE-C8A93008D50F}"/>
              </a:ext>
            </a:extLst>
          </p:cNvPr>
          <p:cNvSpPr txBox="1"/>
          <p:nvPr/>
        </p:nvSpPr>
        <p:spPr>
          <a:xfrm>
            <a:off x="388789" y="1075197"/>
            <a:ext cx="1143262" cy="261610"/>
          </a:xfrm>
          <a:prstGeom prst="rect">
            <a:avLst/>
          </a:prstGeom>
          <a:noFill/>
        </p:spPr>
        <p:txBody>
          <a:bodyPr wrap="none" rtlCol="0">
            <a:spAutoFit/>
          </a:bodyPr>
          <a:lstStyle/>
          <a:p>
            <a:pPr algn="l"/>
            <a:r>
              <a:rPr lang="ja-JP" altLang="en-US" sz="1100">
                <a:ln/>
                <a:solidFill>
                  <a:srgbClr val="111111"/>
                </a:solidFill>
                <a:latin typeface="Meiryo UI" panose="020B0604030504040204" pitchFamily="50" charset="-128"/>
                <a:ea typeface="Meiryo UI" panose="020B0604030504040204" pitchFamily="50" charset="-128"/>
                <a:cs typeface="Arial"/>
                <a:sym typeface="ＭＳ ゴシック"/>
                <a:rtl val="0"/>
              </a:rPr>
              <a:t>出光</a:t>
            </a:r>
            <a:r>
              <a:rPr lang="en-US" altLang="ja-JP" sz="1100">
                <a:ln/>
                <a:solidFill>
                  <a:srgbClr val="111111"/>
                </a:solidFill>
                <a:latin typeface="Meiryo UI" panose="020B0604030504040204" pitchFamily="50" charset="-128"/>
                <a:ea typeface="Meiryo UI" panose="020B0604030504040204" pitchFamily="50" charset="-128"/>
                <a:cs typeface="Arial"/>
                <a:sym typeface="ＭＳ ゴシック"/>
                <a:rtl val="0"/>
              </a:rPr>
              <a:t>Azure</a:t>
            </a:r>
            <a:r>
              <a:rPr lang="ja-JP" altLang="en-US" sz="1100">
                <a:ln/>
                <a:solidFill>
                  <a:srgbClr val="111111"/>
                </a:solidFill>
                <a:latin typeface="Meiryo UI" panose="020B0604030504040204" pitchFamily="50" charset="-128"/>
                <a:ea typeface="Meiryo UI" panose="020B0604030504040204" pitchFamily="50" charset="-128"/>
                <a:cs typeface="Arial"/>
                <a:sym typeface="ＭＳ ゴシック"/>
                <a:rtl val="0"/>
              </a:rPr>
              <a:t>環境</a:t>
            </a:r>
            <a:endParaRPr lang="ja-JP" altLang="en-US"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endParaRPr>
          </a:p>
        </p:txBody>
      </p:sp>
      <p:sp>
        <p:nvSpPr>
          <p:cNvPr id="40" name="テキスト ボックス 39">
            <a:extLst>
              <a:ext uri="{FF2B5EF4-FFF2-40B4-BE49-F238E27FC236}">
                <a16:creationId xmlns:a16="http://schemas.microsoft.com/office/drawing/2014/main" id="{0F9E2F66-EFCF-2969-475B-080A6867492A}"/>
              </a:ext>
            </a:extLst>
          </p:cNvPr>
          <p:cNvSpPr txBox="1"/>
          <p:nvPr/>
        </p:nvSpPr>
        <p:spPr>
          <a:xfrm>
            <a:off x="7331752" y="1078436"/>
            <a:ext cx="1596912" cy="261610"/>
          </a:xfrm>
          <a:prstGeom prst="rect">
            <a:avLst/>
          </a:prstGeom>
          <a:noFill/>
        </p:spPr>
        <p:txBody>
          <a:bodyPr wrap="none" rtlCol="0">
            <a:spAutoFit/>
          </a:bodyPr>
          <a:lstStyle/>
          <a:p>
            <a:pPr algn="l"/>
            <a:r>
              <a:rPr lang="ja-JP" altLang="en-US" sz="1100" spc="0" baseline="0" dirty="0">
                <a:ln/>
                <a:solidFill>
                  <a:srgbClr val="111111"/>
                </a:solidFill>
                <a:latin typeface="Meiryo UI" panose="020B0604030504040204" pitchFamily="50" charset="-128"/>
                <a:ea typeface="Meiryo UI" panose="020B0604030504040204" pitchFamily="50" charset="-128"/>
                <a:cs typeface="Arial"/>
                <a:sym typeface="Arial"/>
                <a:rtl val="0"/>
              </a:rPr>
              <a:t>Cognite </a:t>
            </a:r>
            <a:r>
              <a:rPr lang="ja-JP" altLang="en-US" sz="1100" spc="0" baseline="0" dirty="0">
                <a:ln/>
                <a:solidFill>
                  <a:srgbClr val="111111"/>
                </a:solidFill>
                <a:latin typeface="Meiryo UI" panose="020B0604030504040204" pitchFamily="50" charset="-128"/>
                <a:ea typeface="Meiryo UI" panose="020B0604030504040204" pitchFamily="50" charset="-128"/>
                <a:cs typeface="Arial"/>
                <a:sym typeface="ＭＳ ゴシック"/>
                <a:rtl val="0"/>
              </a:rPr>
              <a:t>領域（</a:t>
            </a:r>
            <a:r>
              <a:rPr lang="ja-JP" altLang="en-US" sz="1100" spc="0" baseline="0" dirty="0">
                <a:ln/>
                <a:solidFill>
                  <a:srgbClr val="111111"/>
                </a:solidFill>
                <a:latin typeface="Meiryo UI" panose="020B0604030504040204" pitchFamily="50" charset="-128"/>
                <a:ea typeface="Meiryo UI" panose="020B0604030504040204" pitchFamily="50" charset="-128"/>
                <a:cs typeface="Arial"/>
                <a:sym typeface="Arial"/>
                <a:rtl val="0"/>
              </a:rPr>
              <a:t>CDF</a:t>
            </a:r>
            <a:r>
              <a:rPr lang="ja-JP" altLang="en-US" sz="1100" spc="0" baseline="0" dirty="0">
                <a:ln/>
                <a:solidFill>
                  <a:srgbClr val="111111"/>
                </a:solidFill>
                <a:latin typeface="Meiryo UI" panose="020B0604030504040204" pitchFamily="50" charset="-128"/>
                <a:ea typeface="Meiryo UI" panose="020B0604030504040204" pitchFamily="50" charset="-128"/>
                <a:cs typeface="Arial"/>
                <a:sym typeface="ＭＳ ゴシック"/>
                <a:rtl val="0"/>
              </a:rPr>
              <a:t>）</a:t>
            </a:r>
          </a:p>
        </p:txBody>
      </p:sp>
      <p:sp>
        <p:nvSpPr>
          <p:cNvPr id="41" name="フリーフォーム: 図形 40">
            <a:extLst>
              <a:ext uri="{FF2B5EF4-FFF2-40B4-BE49-F238E27FC236}">
                <a16:creationId xmlns:a16="http://schemas.microsoft.com/office/drawing/2014/main" id="{5EA2244C-9C41-AA14-9B1F-7BE630710B37}"/>
              </a:ext>
            </a:extLst>
          </p:cNvPr>
          <p:cNvSpPr/>
          <p:nvPr/>
        </p:nvSpPr>
        <p:spPr>
          <a:xfrm>
            <a:off x="7289451" y="3035504"/>
            <a:ext cx="4389120" cy="3169815"/>
          </a:xfrm>
          <a:custGeom>
            <a:avLst/>
            <a:gdLst>
              <a:gd name="connsiteX0" fmla="*/ 0 w 4389120"/>
              <a:gd name="connsiteY0" fmla="*/ 0 h 3977640"/>
              <a:gd name="connsiteX1" fmla="*/ 4389120 w 4389120"/>
              <a:gd name="connsiteY1" fmla="*/ 0 h 3977640"/>
              <a:gd name="connsiteX2" fmla="*/ 4389120 w 4389120"/>
              <a:gd name="connsiteY2" fmla="*/ 3977640 h 3977640"/>
              <a:gd name="connsiteX3" fmla="*/ 0 w 4389120"/>
              <a:gd name="connsiteY3" fmla="*/ 3977640 h 3977640"/>
            </a:gdLst>
            <a:ahLst/>
            <a:cxnLst>
              <a:cxn ang="0">
                <a:pos x="connsiteX0" y="connsiteY0"/>
              </a:cxn>
              <a:cxn ang="0">
                <a:pos x="connsiteX1" y="connsiteY1"/>
              </a:cxn>
              <a:cxn ang="0">
                <a:pos x="connsiteX2" y="connsiteY2"/>
              </a:cxn>
              <a:cxn ang="0">
                <a:pos x="connsiteX3" y="connsiteY3"/>
              </a:cxn>
            </a:cxnLst>
            <a:rect l="l" t="t" r="r" b="b"/>
            <a:pathLst>
              <a:path w="4389120" h="3977640">
                <a:moveTo>
                  <a:pt x="0" y="0"/>
                </a:moveTo>
                <a:lnTo>
                  <a:pt x="4389120" y="0"/>
                </a:lnTo>
                <a:lnTo>
                  <a:pt x="4389120" y="3977640"/>
                </a:lnTo>
                <a:lnTo>
                  <a:pt x="0" y="3977640"/>
                </a:lnTo>
                <a:close/>
              </a:path>
            </a:pathLst>
          </a:custGeom>
          <a:solidFill>
            <a:srgbClr val="FFF2EF"/>
          </a:solidFill>
          <a:ln w="13716" cap="flat">
            <a:solidFill>
              <a:srgbClr val="F39A86"/>
            </a:solidFill>
            <a:prstDash val="solid"/>
            <a:miter/>
          </a:ln>
        </p:spPr>
        <p:txBody>
          <a:bodyPr rtlCol="0" anchor="ctr"/>
          <a:lstStyle/>
          <a:p>
            <a:endParaRPr lang="ja-JP" altLang="en-US" sz="2800">
              <a:latin typeface="Meiryo UI" panose="020B0604030504040204" pitchFamily="50" charset="-128"/>
              <a:ea typeface="Meiryo UI" panose="020B0604030504040204" pitchFamily="50" charset="-128"/>
            </a:endParaRPr>
          </a:p>
        </p:txBody>
      </p:sp>
      <p:sp>
        <p:nvSpPr>
          <p:cNvPr id="43" name="テキスト ボックス 42">
            <a:extLst>
              <a:ext uri="{FF2B5EF4-FFF2-40B4-BE49-F238E27FC236}">
                <a16:creationId xmlns:a16="http://schemas.microsoft.com/office/drawing/2014/main" id="{7642CB18-7607-719C-9928-2720B3A30AF6}"/>
              </a:ext>
            </a:extLst>
          </p:cNvPr>
          <p:cNvSpPr txBox="1"/>
          <p:nvPr/>
        </p:nvSpPr>
        <p:spPr>
          <a:xfrm>
            <a:off x="7289451" y="3077972"/>
            <a:ext cx="1460656" cy="261610"/>
          </a:xfrm>
          <a:prstGeom prst="rect">
            <a:avLst/>
          </a:prstGeom>
          <a:noFill/>
        </p:spPr>
        <p:txBody>
          <a:bodyPr wrap="none" rtlCol="0">
            <a:spAutoFit/>
          </a:bodyPr>
          <a:lstStyle/>
          <a:p>
            <a:pPr algn="l"/>
            <a:r>
              <a:rPr lang="ja-JP" altLang="en-US" sz="1100" spc="0" baseline="0">
                <a:ln/>
                <a:solidFill>
                  <a:srgbClr val="111111"/>
                </a:solidFill>
                <a:latin typeface="Meiryo UI" panose="020B0604030504040204" pitchFamily="50" charset="-128"/>
                <a:ea typeface="Meiryo UI" panose="020B0604030504040204" pitchFamily="50" charset="-128"/>
                <a:cs typeface="Arial"/>
                <a:sym typeface="Arial"/>
                <a:rtl val="0"/>
              </a:rPr>
              <a:t>IBM </a:t>
            </a:r>
            <a:r>
              <a:rPr lang="ja-JP" altLang="en-US"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rPr>
              <a:t>領域（</a:t>
            </a:r>
            <a:r>
              <a:rPr lang="ja-JP" altLang="en-US" sz="1100" spc="0" baseline="0">
                <a:ln/>
                <a:solidFill>
                  <a:srgbClr val="111111"/>
                </a:solidFill>
                <a:latin typeface="Meiryo UI" panose="020B0604030504040204" pitchFamily="50" charset="-128"/>
                <a:ea typeface="Meiryo UI" panose="020B0604030504040204" pitchFamily="50" charset="-128"/>
                <a:cs typeface="Arial"/>
                <a:sym typeface="Arial"/>
                <a:rtl val="0"/>
              </a:rPr>
              <a:t>Envizi</a:t>
            </a:r>
            <a:r>
              <a:rPr lang="ja-JP" altLang="en-US"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rPr>
              <a:t>）</a:t>
            </a:r>
          </a:p>
        </p:txBody>
      </p:sp>
      <p:grpSp>
        <p:nvGrpSpPr>
          <p:cNvPr id="74" name="グラフィックス 4">
            <a:extLst>
              <a:ext uri="{FF2B5EF4-FFF2-40B4-BE49-F238E27FC236}">
                <a16:creationId xmlns:a16="http://schemas.microsoft.com/office/drawing/2014/main" id="{77DEA4D4-FDC4-2EC4-C028-AF3D252A5051}"/>
              </a:ext>
            </a:extLst>
          </p:cNvPr>
          <p:cNvGrpSpPr/>
          <p:nvPr/>
        </p:nvGrpSpPr>
        <p:grpSpPr>
          <a:xfrm>
            <a:off x="7738534" y="1446055"/>
            <a:ext cx="3566161" cy="822960"/>
            <a:chOff x="7330440" y="1097280"/>
            <a:chExt cx="3566160" cy="822960"/>
          </a:xfrm>
        </p:grpSpPr>
        <p:sp>
          <p:nvSpPr>
            <p:cNvPr id="75" name="フリーフォーム: 図形 74">
              <a:extLst>
                <a:ext uri="{FF2B5EF4-FFF2-40B4-BE49-F238E27FC236}">
                  <a16:creationId xmlns:a16="http://schemas.microsoft.com/office/drawing/2014/main" id="{71A5D835-976A-6A9B-C468-6E569C2BC84F}"/>
                </a:ext>
              </a:extLst>
            </p:cNvPr>
            <p:cNvSpPr/>
            <p:nvPr/>
          </p:nvSpPr>
          <p:spPr>
            <a:xfrm>
              <a:off x="7330440" y="1097280"/>
              <a:ext cx="3566160" cy="822960"/>
            </a:xfrm>
            <a:custGeom>
              <a:avLst/>
              <a:gdLst>
                <a:gd name="connsiteX0" fmla="*/ 0 w 3566160"/>
                <a:gd name="connsiteY0" fmla="*/ 0 h 822960"/>
                <a:gd name="connsiteX1" fmla="*/ 3566160 w 3566160"/>
                <a:gd name="connsiteY1" fmla="*/ 0 h 822960"/>
                <a:gd name="connsiteX2" fmla="*/ 3566160 w 3566160"/>
                <a:gd name="connsiteY2" fmla="*/ 822960 h 822960"/>
                <a:gd name="connsiteX3" fmla="*/ 0 w 3566160"/>
                <a:gd name="connsiteY3" fmla="*/ 822960 h 822960"/>
              </a:gdLst>
              <a:ahLst/>
              <a:cxnLst>
                <a:cxn ang="0">
                  <a:pos x="connsiteX0" y="connsiteY0"/>
                </a:cxn>
                <a:cxn ang="0">
                  <a:pos x="connsiteX1" y="connsiteY1"/>
                </a:cxn>
                <a:cxn ang="0">
                  <a:pos x="connsiteX2" y="connsiteY2"/>
                </a:cxn>
                <a:cxn ang="0">
                  <a:pos x="connsiteX3" y="connsiteY3"/>
                </a:cxn>
              </a:cxnLst>
              <a:rect l="l" t="t" r="r" b="b"/>
              <a:pathLst>
                <a:path w="3566160" h="822960">
                  <a:moveTo>
                    <a:pt x="0" y="0"/>
                  </a:moveTo>
                  <a:lnTo>
                    <a:pt x="3566160" y="0"/>
                  </a:lnTo>
                  <a:lnTo>
                    <a:pt x="3566160" y="822960"/>
                  </a:lnTo>
                  <a:lnTo>
                    <a:pt x="0" y="822960"/>
                  </a:lnTo>
                  <a:close/>
                </a:path>
              </a:pathLst>
            </a:custGeom>
            <a:solidFill>
              <a:srgbClr val="FFFFFF"/>
            </a:solidFill>
            <a:ln w="10973" cap="flat">
              <a:solidFill>
                <a:srgbClr val="97A6B7"/>
              </a:solidFill>
              <a:prstDash val="solid"/>
              <a:miter/>
            </a:ln>
          </p:spPr>
          <p:txBody>
            <a:bodyPr rtlCol="0" anchor="ctr"/>
            <a:lstStyle/>
            <a:p>
              <a:endParaRPr lang="ja-JP" altLang="en-US" sz="2800">
                <a:latin typeface="Meiryo UI" panose="020B0604030504040204" pitchFamily="50" charset="-128"/>
                <a:ea typeface="Meiryo UI" panose="020B0604030504040204" pitchFamily="50" charset="-128"/>
              </a:endParaRPr>
            </a:p>
          </p:txBody>
        </p:sp>
        <p:sp>
          <p:nvSpPr>
            <p:cNvPr id="76" name="テキスト ボックス 75">
              <a:extLst>
                <a:ext uri="{FF2B5EF4-FFF2-40B4-BE49-F238E27FC236}">
                  <a16:creationId xmlns:a16="http://schemas.microsoft.com/office/drawing/2014/main" id="{CA935C60-C50D-CA5B-E168-142898E0D004}"/>
                </a:ext>
              </a:extLst>
            </p:cNvPr>
            <p:cNvSpPr txBox="1"/>
            <p:nvPr/>
          </p:nvSpPr>
          <p:spPr>
            <a:xfrm>
              <a:off x="8569452" y="1373886"/>
              <a:ext cx="1806904" cy="261610"/>
            </a:xfrm>
            <a:prstGeom prst="rect">
              <a:avLst/>
            </a:prstGeom>
            <a:noFill/>
          </p:spPr>
          <p:txBody>
            <a:bodyPr wrap="none" rtlCol="0">
              <a:spAutoFit/>
            </a:bodyPr>
            <a:lstStyle/>
            <a:p>
              <a:pPr algn="l"/>
              <a:r>
                <a:rPr lang="ja-JP" altLang="en-US" sz="1100" spc="0" baseline="0">
                  <a:ln/>
                  <a:solidFill>
                    <a:srgbClr val="222222"/>
                  </a:solidFill>
                  <a:latin typeface="Meiryo UI" panose="020B0604030504040204" pitchFamily="50" charset="-128"/>
                  <a:ea typeface="Meiryo UI" panose="020B0604030504040204" pitchFamily="50" charset="-128"/>
                  <a:sym typeface="Segoe UI Emoji"/>
                  <a:rtl val="0"/>
                </a:rPr>
                <a:t>🔷</a:t>
              </a:r>
              <a:r>
                <a:rPr lang="ja-JP" altLang="en-US" sz="1100" spc="0" baseline="0">
                  <a:ln/>
                  <a:solidFill>
                    <a:srgbClr val="222222"/>
                  </a:solidFill>
                  <a:latin typeface="Meiryo UI" panose="020B0604030504040204" pitchFamily="50" charset="-128"/>
                  <a:ea typeface="Meiryo UI" panose="020B0604030504040204" pitchFamily="50" charset="-128"/>
                  <a:cs typeface="Arial"/>
                  <a:sym typeface="Arial"/>
                  <a:rtl val="0"/>
                </a:rPr>
                <a:t> Cognite Data Fusion</a:t>
              </a:r>
            </a:p>
          </p:txBody>
        </p:sp>
      </p:grpSp>
      <p:grpSp>
        <p:nvGrpSpPr>
          <p:cNvPr id="77" name="グラフィックス 4">
            <a:extLst>
              <a:ext uri="{FF2B5EF4-FFF2-40B4-BE49-F238E27FC236}">
                <a16:creationId xmlns:a16="http://schemas.microsoft.com/office/drawing/2014/main" id="{B81FC472-EE19-B2AD-4668-0A71A5ECF820}"/>
              </a:ext>
            </a:extLst>
          </p:cNvPr>
          <p:cNvGrpSpPr/>
          <p:nvPr/>
        </p:nvGrpSpPr>
        <p:grpSpPr>
          <a:xfrm>
            <a:off x="7733952" y="3403704"/>
            <a:ext cx="3566160" cy="822960"/>
            <a:chOff x="7330440" y="3154680"/>
            <a:chExt cx="3566160" cy="822960"/>
          </a:xfrm>
        </p:grpSpPr>
        <p:sp>
          <p:nvSpPr>
            <p:cNvPr id="78" name="フリーフォーム: 図形 77">
              <a:extLst>
                <a:ext uri="{FF2B5EF4-FFF2-40B4-BE49-F238E27FC236}">
                  <a16:creationId xmlns:a16="http://schemas.microsoft.com/office/drawing/2014/main" id="{C9733093-CF18-78BC-9C21-A5F94523BF27}"/>
                </a:ext>
              </a:extLst>
            </p:cNvPr>
            <p:cNvSpPr/>
            <p:nvPr/>
          </p:nvSpPr>
          <p:spPr>
            <a:xfrm>
              <a:off x="7330440" y="3154680"/>
              <a:ext cx="3566160" cy="822960"/>
            </a:xfrm>
            <a:custGeom>
              <a:avLst/>
              <a:gdLst>
                <a:gd name="connsiteX0" fmla="*/ 0 w 3566160"/>
                <a:gd name="connsiteY0" fmla="*/ 0 h 822960"/>
                <a:gd name="connsiteX1" fmla="*/ 3566160 w 3566160"/>
                <a:gd name="connsiteY1" fmla="*/ 0 h 822960"/>
                <a:gd name="connsiteX2" fmla="*/ 3566160 w 3566160"/>
                <a:gd name="connsiteY2" fmla="*/ 822960 h 822960"/>
                <a:gd name="connsiteX3" fmla="*/ 0 w 3566160"/>
                <a:gd name="connsiteY3" fmla="*/ 822960 h 822960"/>
              </a:gdLst>
              <a:ahLst/>
              <a:cxnLst>
                <a:cxn ang="0">
                  <a:pos x="connsiteX0" y="connsiteY0"/>
                </a:cxn>
                <a:cxn ang="0">
                  <a:pos x="connsiteX1" y="connsiteY1"/>
                </a:cxn>
                <a:cxn ang="0">
                  <a:pos x="connsiteX2" y="connsiteY2"/>
                </a:cxn>
                <a:cxn ang="0">
                  <a:pos x="connsiteX3" y="connsiteY3"/>
                </a:cxn>
              </a:cxnLst>
              <a:rect l="l" t="t" r="r" b="b"/>
              <a:pathLst>
                <a:path w="3566160" h="822960">
                  <a:moveTo>
                    <a:pt x="0" y="0"/>
                  </a:moveTo>
                  <a:lnTo>
                    <a:pt x="3566160" y="0"/>
                  </a:lnTo>
                  <a:lnTo>
                    <a:pt x="3566160" y="822960"/>
                  </a:lnTo>
                  <a:lnTo>
                    <a:pt x="0" y="822960"/>
                  </a:lnTo>
                  <a:close/>
                </a:path>
              </a:pathLst>
            </a:custGeom>
            <a:solidFill>
              <a:srgbClr val="FFFFFF"/>
            </a:solidFill>
            <a:ln w="10973" cap="flat">
              <a:solidFill>
                <a:srgbClr val="97A6B7"/>
              </a:solidFill>
              <a:prstDash val="solid"/>
              <a:miter/>
            </a:ln>
          </p:spPr>
          <p:txBody>
            <a:bodyPr rtlCol="0" anchor="ctr"/>
            <a:lstStyle/>
            <a:p>
              <a:endParaRPr lang="ja-JP" altLang="en-US" sz="2800">
                <a:latin typeface="Meiryo UI" panose="020B0604030504040204" pitchFamily="50" charset="-128"/>
                <a:ea typeface="Meiryo UI" panose="020B0604030504040204" pitchFamily="50" charset="-128"/>
              </a:endParaRPr>
            </a:p>
          </p:txBody>
        </p:sp>
        <p:sp>
          <p:nvSpPr>
            <p:cNvPr id="79" name="テキスト ボックス 78">
              <a:extLst>
                <a:ext uri="{FF2B5EF4-FFF2-40B4-BE49-F238E27FC236}">
                  <a16:creationId xmlns:a16="http://schemas.microsoft.com/office/drawing/2014/main" id="{ED5C572A-57C2-A11F-4356-8E8B0E7DE493}"/>
                </a:ext>
              </a:extLst>
            </p:cNvPr>
            <p:cNvSpPr txBox="1"/>
            <p:nvPr/>
          </p:nvSpPr>
          <p:spPr>
            <a:xfrm>
              <a:off x="8675751" y="3431286"/>
              <a:ext cx="1402948" cy="261610"/>
            </a:xfrm>
            <a:prstGeom prst="rect">
              <a:avLst/>
            </a:prstGeom>
            <a:noFill/>
          </p:spPr>
          <p:txBody>
            <a:bodyPr wrap="none" rtlCol="0">
              <a:spAutoFit/>
            </a:bodyPr>
            <a:lstStyle/>
            <a:p>
              <a:pPr algn="l"/>
              <a:r>
                <a:rPr lang="ja-JP" altLang="en-US" sz="1100" spc="0" baseline="0">
                  <a:ln/>
                  <a:solidFill>
                    <a:srgbClr val="222222"/>
                  </a:solidFill>
                  <a:latin typeface="Meiryo UI" panose="020B0604030504040204" pitchFamily="50" charset="-128"/>
                  <a:ea typeface="Meiryo UI" panose="020B0604030504040204" pitchFamily="50" charset="-128"/>
                  <a:sym typeface="Segoe UI Emoji"/>
                  <a:rtl val="0"/>
                </a:rPr>
                <a:t>☁️</a:t>
              </a:r>
              <a:r>
                <a:rPr lang="ja-JP" altLang="en-US" sz="1100" spc="0" baseline="0">
                  <a:ln/>
                  <a:solidFill>
                    <a:srgbClr val="222222"/>
                  </a:solidFill>
                  <a:latin typeface="Meiryo UI" panose="020B0604030504040204" pitchFamily="50" charset="-128"/>
                  <a:ea typeface="Meiryo UI" panose="020B0604030504040204" pitchFamily="50" charset="-128"/>
                  <a:cs typeface="Arial"/>
                  <a:sym typeface="Arial"/>
                  <a:rtl val="0"/>
                </a:rPr>
                <a:t> Envizi S3/SFTP</a:t>
              </a:r>
            </a:p>
          </p:txBody>
        </p:sp>
      </p:grpSp>
      <p:grpSp>
        <p:nvGrpSpPr>
          <p:cNvPr id="80" name="グラフィックス 4">
            <a:extLst>
              <a:ext uri="{FF2B5EF4-FFF2-40B4-BE49-F238E27FC236}">
                <a16:creationId xmlns:a16="http://schemas.microsoft.com/office/drawing/2014/main" id="{1CBE04E1-EB71-54E4-DA96-47D543666724}"/>
              </a:ext>
            </a:extLst>
          </p:cNvPr>
          <p:cNvGrpSpPr/>
          <p:nvPr/>
        </p:nvGrpSpPr>
        <p:grpSpPr>
          <a:xfrm>
            <a:off x="7733952" y="4367059"/>
            <a:ext cx="3566160" cy="822960"/>
            <a:chOff x="7330440" y="4251960"/>
            <a:chExt cx="3566160" cy="822960"/>
          </a:xfrm>
        </p:grpSpPr>
        <p:sp>
          <p:nvSpPr>
            <p:cNvPr id="81" name="フリーフォーム: 図形 80">
              <a:extLst>
                <a:ext uri="{FF2B5EF4-FFF2-40B4-BE49-F238E27FC236}">
                  <a16:creationId xmlns:a16="http://schemas.microsoft.com/office/drawing/2014/main" id="{550C2E7D-A8AE-EDBD-A024-B6002A6F8F39}"/>
                </a:ext>
              </a:extLst>
            </p:cNvPr>
            <p:cNvSpPr/>
            <p:nvPr/>
          </p:nvSpPr>
          <p:spPr>
            <a:xfrm>
              <a:off x="7330440" y="4251960"/>
              <a:ext cx="3566160" cy="822960"/>
            </a:xfrm>
            <a:custGeom>
              <a:avLst/>
              <a:gdLst>
                <a:gd name="connsiteX0" fmla="*/ 0 w 3566160"/>
                <a:gd name="connsiteY0" fmla="*/ 0 h 822960"/>
                <a:gd name="connsiteX1" fmla="*/ 3566160 w 3566160"/>
                <a:gd name="connsiteY1" fmla="*/ 0 h 822960"/>
                <a:gd name="connsiteX2" fmla="*/ 3566160 w 3566160"/>
                <a:gd name="connsiteY2" fmla="*/ 822960 h 822960"/>
                <a:gd name="connsiteX3" fmla="*/ 0 w 3566160"/>
                <a:gd name="connsiteY3" fmla="*/ 822960 h 822960"/>
              </a:gdLst>
              <a:ahLst/>
              <a:cxnLst>
                <a:cxn ang="0">
                  <a:pos x="connsiteX0" y="connsiteY0"/>
                </a:cxn>
                <a:cxn ang="0">
                  <a:pos x="connsiteX1" y="connsiteY1"/>
                </a:cxn>
                <a:cxn ang="0">
                  <a:pos x="connsiteX2" y="connsiteY2"/>
                </a:cxn>
                <a:cxn ang="0">
                  <a:pos x="connsiteX3" y="connsiteY3"/>
                </a:cxn>
              </a:cxnLst>
              <a:rect l="l" t="t" r="r" b="b"/>
              <a:pathLst>
                <a:path w="3566160" h="822960">
                  <a:moveTo>
                    <a:pt x="0" y="0"/>
                  </a:moveTo>
                  <a:lnTo>
                    <a:pt x="3566160" y="0"/>
                  </a:lnTo>
                  <a:lnTo>
                    <a:pt x="3566160" y="822960"/>
                  </a:lnTo>
                  <a:lnTo>
                    <a:pt x="0" y="822960"/>
                  </a:lnTo>
                  <a:close/>
                </a:path>
              </a:pathLst>
            </a:custGeom>
            <a:solidFill>
              <a:srgbClr val="FFFFFF"/>
            </a:solidFill>
            <a:ln w="10973" cap="flat">
              <a:solidFill>
                <a:srgbClr val="97A6B7"/>
              </a:solidFill>
              <a:prstDash val="solid"/>
              <a:miter/>
            </a:ln>
          </p:spPr>
          <p:txBody>
            <a:bodyPr rtlCol="0" anchor="ctr"/>
            <a:lstStyle/>
            <a:p>
              <a:endParaRPr lang="ja-JP" altLang="en-US" sz="2800">
                <a:latin typeface="Meiryo UI" panose="020B0604030504040204" pitchFamily="50" charset="-128"/>
                <a:ea typeface="Meiryo UI" panose="020B0604030504040204" pitchFamily="50" charset="-128"/>
              </a:endParaRPr>
            </a:p>
          </p:txBody>
        </p:sp>
        <p:sp>
          <p:nvSpPr>
            <p:cNvPr id="82" name="テキスト ボックス 81">
              <a:extLst>
                <a:ext uri="{FF2B5EF4-FFF2-40B4-BE49-F238E27FC236}">
                  <a16:creationId xmlns:a16="http://schemas.microsoft.com/office/drawing/2014/main" id="{6AF480C2-C87B-3DAE-8221-5DCD2ECE61CA}"/>
                </a:ext>
              </a:extLst>
            </p:cNvPr>
            <p:cNvSpPr txBox="1"/>
            <p:nvPr/>
          </p:nvSpPr>
          <p:spPr>
            <a:xfrm>
              <a:off x="8598807" y="4528566"/>
              <a:ext cx="1556836" cy="261610"/>
            </a:xfrm>
            <a:prstGeom prst="rect">
              <a:avLst/>
            </a:prstGeom>
            <a:noFill/>
          </p:spPr>
          <p:txBody>
            <a:bodyPr wrap="none" rtlCol="0">
              <a:spAutoFit/>
            </a:bodyPr>
            <a:lstStyle/>
            <a:p>
              <a:pPr algn="l"/>
              <a:r>
                <a:rPr lang="ja-JP" altLang="en-US" sz="1100" spc="0" baseline="0">
                  <a:ln/>
                  <a:solidFill>
                    <a:srgbClr val="222222"/>
                  </a:solidFill>
                  <a:latin typeface="Meiryo UI" panose="020B0604030504040204" pitchFamily="50" charset="-128"/>
                  <a:ea typeface="Meiryo UI" panose="020B0604030504040204" pitchFamily="50" charset="-128"/>
                  <a:sym typeface="Segoe UI Emoji"/>
                  <a:rtl val="0"/>
                </a:rPr>
                <a:t>📂</a:t>
              </a:r>
              <a:r>
                <a:rPr lang="ja-JP" altLang="en-US" sz="1100" spc="0" baseline="0">
                  <a:ln/>
                  <a:solidFill>
                    <a:srgbClr val="222222"/>
                  </a:solidFill>
                  <a:latin typeface="Meiryo UI" panose="020B0604030504040204" pitchFamily="50" charset="-128"/>
                  <a:ea typeface="Meiryo UI" panose="020B0604030504040204" pitchFamily="50" charset="-128"/>
                  <a:cs typeface="Arial"/>
                  <a:sym typeface="Arial"/>
                  <a:rtl val="0"/>
                </a:rPr>
                <a:t> Envizi Data Flow</a:t>
              </a:r>
            </a:p>
          </p:txBody>
        </p:sp>
      </p:grpSp>
      <p:grpSp>
        <p:nvGrpSpPr>
          <p:cNvPr id="83" name="グラフィックス 4">
            <a:extLst>
              <a:ext uri="{FF2B5EF4-FFF2-40B4-BE49-F238E27FC236}">
                <a16:creationId xmlns:a16="http://schemas.microsoft.com/office/drawing/2014/main" id="{BA581B92-BE49-5694-E622-20FD218C1F77}"/>
              </a:ext>
            </a:extLst>
          </p:cNvPr>
          <p:cNvGrpSpPr/>
          <p:nvPr/>
        </p:nvGrpSpPr>
        <p:grpSpPr>
          <a:xfrm>
            <a:off x="7733952" y="5330413"/>
            <a:ext cx="3566160" cy="822960"/>
            <a:chOff x="7330440" y="5349240"/>
            <a:chExt cx="3566160" cy="822960"/>
          </a:xfrm>
        </p:grpSpPr>
        <p:sp>
          <p:nvSpPr>
            <p:cNvPr id="84" name="フリーフォーム: 図形 83">
              <a:extLst>
                <a:ext uri="{FF2B5EF4-FFF2-40B4-BE49-F238E27FC236}">
                  <a16:creationId xmlns:a16="http://schemas.microsoft.com/office/drawing/2014/main" id="{BCE39967-8E96-D1FD-1539-D5AF6F0A897B}"/>
                </a:ext>
              </a:extLst>
            </p:cNvPr>
            <p:cNvSpPr/>
            <p:nvPr/>
          </p:nvSpPr>
          <p:spPr>
            <a:xfrm>
              <a:off x="7330440" y="5349240"/>
              <a:ext cx="3566160" cy="822960"/>
            </a:xfrm>
            <a:custGeom>
              <a:avLst/>
              <a:gdLst>
                <a:gd name="connsiteX0" fmla="*/ 0 w 3566160"/>
                <a:gd name="connsiteY0" fmla="*/ 0 h 822960"/>
                <a:gd name="connsiteX1" fmla="*/ 3566160 w 3566160"/>
                <a:gd name="connsiteY1" fmla="*/ 0 h 822960"/>
                <a:gd name="connsiteX2" fmla="*/ 3566160 w 3566160"/>
                <a:gd name="connsiteY2" fmla="*/ 822960 h 822960"/>
                <a:gd name="connsiteX3" fmla="*/ 0 w 3566160"/>
                <a:gd name="connsiteY3" fmla="*/ 822960 h 822960"/>
              </a:gdLst>
              <a:ahLst/>
              <a:cxnLst>
                <a:cxn ang="0">
                  <a:pos x="connsiteX0" y="connsiteY0"/>
                </a:cxn>
                <a:cxn ang="0">
                  <a:pos x="connsiteX1" y="connsiteY1"/>
                </a:cxn>
                <a:cxn ang="0">
                  <a:pos x="connsiteX2" y="connsiteY2"/>
                </a:cxn>
                <a:cxn ang="0">
                  <a:pos x="connsiteX3" y="connsiteY3"/>
                </a:cxn>
              </a:cxnLst>
              <a:rect l="l" t="t" r="r" b="b"/>
              <a:pathLst>
                <a:path w="3566160" h="822960">
                  <a:moveTo>
                    <a:pt x="0" y="0"/>
                  </a:moveTo>
                  <a:lnTo>
                    <a:pt x="3566160" y="0"/>
                  </a:lnTo>
                  <a:lnTo>
                    <a:pt x="3566160" y="822960"/>
                  </a:lnTo>
                  <a:lnTo>
                    <a:pt x="0" y="822960"/>
                  </a:lnTo>
                  <a:close/>
                </a:path>
              </a:pathLst>
            </a:custGeom>
            <a:solidFill>
              <a:srgbClr val="FFFFFF"/>
            </a:solidFill>
            <a:ln w="10973" cap="flat">
              <a:solidFill>
                <a:srgbClr val="97A6B7"/>
              </a:solidFill>
              <a:prstDash val="solid"/>
              <a:miter/>
            </a:ln>
          </p:spPr>
          <p:txBody>
            <a:bodyPr rtlCol="0" anchor="ctr"/>
            <a:lstStyle/>
            <a:p>
              <a:endParaRPr lang="ja-JP" altLang="en-US" sz="2800">
                <a:latin typeface="Meiryo UI" panose="020B0604030504040204" pitchFamily="50" charset="-128"/>
                <a:ea typeface="Meiryo UI" panose="020B0604030504040204" pitchFamily="50" charset="-128"/>
              </a:endParaRPr>
            </a:p>
          </p:txBody>
        </p:sp>
        <p:sp>
          <p:nvSpPr>
            <p:cNvPr id="85" name="テキスト ボックス 84">
              <a:extLst>
                <a:ext uri="{FF2B5EF4-FFF2-40B4-BE49-F238E27FC236}">
                  <a16:creationId xmlns:a16="http://schemas.microsoft.com/office/drawing/2014/main" id="{FA4AF3E0-959E-7F40-F764-762A975170B9}"/>
                </a:ext>
              </a:extLst>
            </p:cNvPr>
            <p:cNvSpPr txBox="1"/>
            <p:nvPr/>
          </p:nvSpPr>
          <p:spPr>
            <a:xfrm>
              <a:off x="8689467" y="5625846"/>
              <a:ext cx="1399742" cy="261610"/>
            </a:xfrm>
            <a:prstGeom prst="rect">
              <a:avLst/>
            </a:prstGeom>
            <a:noFill/>
          </p:spPr>
          <p:txBody>
            <a:bodyPr wrap="none" rtlCol="0">
              <a:spAutoFit/>
            </a:bodyPr>
            <a:lstStyle/>
            <a:p>
              <a:pPr algn="l"/>
              <a:r>
                <a:rPr lang="ja-JP" altLang="en-US" sz="1100" spc="0" baseline="0">
                  <a:ln/>
                  <a:solidFill>
                    <a:srgbClr val="222222"/>
                  </a:solidFill>
                  <a:latin typeface="Meiryo UI" panose="020B0604030504040204" pitchFamily="50" charset="-128"/>
                  <a:ea typeface="Meiryo UI" panose="020B0604030504040204" pitchFamily="50" charset="-128"/>
                  <a:sym typeface="Segoe UI Emoji"/>
                  <a:rtl val="0"/>
                </a:rPr>
                <a:t>📊</a:t>
              </a:r>
              <a:r>
                <a:rPr lang="ja-JP" altLang="en-US" sz="1100" spc="0" baseline="0">
                  <a:ln/>
                  <a:solidFill>
                    <a:srgbClr val="222222"/>
                  </a:solidFill>
                  <a:latin typeface="Meiryo UI" panose="020B0604030504040204" pitchFamily="50" charset="-128"/>
                  <a:ea typeface="Meiryo UI" panose="020B0604030504040204" pitchFamily="50" charset="-128"/>
                  <a:cs typeface="Arial"/>
                  <a:sym typeface="Arial"/>
                  <a:rtl val="0"/>
                </a:rPr>
                <a:t> Envizi Reports</a:t>
              </a:r>
            </a:p>
          </p:txBody>
        </p:sp>
      </p:grpSp>
      <p:cxnSp>
        <p:nvCxnSpPr>
          <p:cNvPr id="88" name="直線矢印コネクタ 87">
            <a:extLst>
              <a:ext uri="{FF2B5EF4-FFF2-40B4-BE49-F238E27FC236}">
                <a16:creationId xmlns:a16="http://schemas.microsoft.com/office/drawing/2014/main" id="{DB9A58B6-FFAB-CDA2-72FE-29C8798F020A}"/>
              </a:ext>
            </a:extLst>
          </p:cNvPr>
          <p:cNvCxnSpPr>
            <a:cxnSpLocks/>
          </p:cNvCxnSpPr>
          <p:nvPr/>
        </p:nvCxnSpPr>
        <p:spPr>
          <a:xfrm>
            <a:off x="6154314" y="1780137"/>
            <a:ext cx="1584220" cy="1703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直線矢印コネクタ 92">
            <a:extLst>
              <a:ext uri="{FF2B5EF4-FFF2-40B4-BE49-F238E27FC236}">
                <a16:creationId xmlns:a16="http://schemas.microsoft.com/office/drawing/2014/main" id="{E5AB4A9B-DC59-F7CF-C407-6CE213D57615}"/>
              </a:ext>
            </a:extLst>
          </p:cNvPr>
          <p:cNvCxnSpPr>
            <a:cxnSpLocks/>
            <a:stCxn id="79" idx="2"/>
            <a:endCxn id="82" idx="0"/>
          </p:cNvCxnSpPr>
          <p:nvPr/>
        </p:nvCxnSpPr>
        <p:spPr>
          <a:xfrm>
            <a:off x="9780737" y="3941920"/>
            <a:ext cx="0" cy="7017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直線矢印コネクタ 93">
            <a:extLst>
              <a:ext uri="{FF2B5EF4-FFF2-40B4-BE49-F238E27FC236}">
                <a16:creationId xmlns:a16="http://schemas.microsoft.com/office/drawing/2014/main" id="{37415043-2B7E-FFDA-AB1F-D6EDFBEDF584}"/>
              </a:ext>
            </a:extLst>
          </p:cNvPr>
          <p:cNvCxnSpPr>
            <a:cxnSpLocks/>
            <a:stCxn id="82" idx="2"/>
            <a:endCxn id="85" idx="0"/>
          </p:cNvCxnSpPr>
          <p:nvPr/>
        </p:nvCxnSpPr>
        <p:spPr>
          <a:xfrm>
            <a:off x="9780737" y="4905275"/>
            <a:ext cx="12113" cy="7017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5" name="テキスト ボックス 94">
            <a:extLst>
              <a:ext uri="{FF2B5EF4-FFF2-40B4-BE49-F238E27FC236}">
                <a16:creationId xmlns:a16="http://schemas.microsoft.com/office/drawing/2014/main" id="{589393E4-DFF5-586F-21A7-E0AC95272882}"/>
              </a:ext>
            </a:extLst>
          </p:cNvPr>
          <p:cNvSpPr txBox="1"/>
          <p:nvPr/>
        </p:nvSpPr>
        <p:spPr>
          <a:xfrm>
            <a:off x="5362491" y="2145707"/>
            <a:ext cx="1207382" cy="261610"/>
          </a:xfrm>
          <a:prstGeom prst="rect">
            <a:avLst/>
          </a:prstGeom>
          <a:noFill/>
        </p:spPr>
        <p:txBody>
          <a:bodyPr wrap="none" rtlCol="0">
            <a:spAutoFit/>
          </a:bodyPr>
          <a:lstStyle/>
          <a:p>
            <a:pPr algn="l"/>
            <a:r>
              <a:rPr lang="en-US" altLang="ja-JP"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rPr>
              <a:t>Timeseries</a:t>
            </a:r>
            <a:r>
              <a:rPr lang="ja-JP" altLang="en-US"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rPr>
              <a:t> </a:t>
            </a:r>
            <a:r>
              <a:rPr lang="en-US" altLang="ja-JP"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rPr>
              <a:t>API</a:t>
            </a:r>
          </a:p>
        </p:txBody>
      </p:sp>
      <p:sp>
        <p:nvSpPr>
          <p:cNvPr id="98" name="テキスト ボックス 97">
            <a:extLst>
              <a:ext uri="{FF2B5EF4-FFF2-40B4-BE49-F238E27FC236}">
                <a16:creationId xmlns:a16="http://schemas.microsoft.com/office/drawing/2014/main" id="{E2EC39B3-E124-ABCB-320E-55D2776DF39A}"/>
              </a:ext>
            </a:extLst>
          </p:cNvPr>
          <p:cNvSpPr txBox="1"/>
          <p:nvPr/>
        </p:nvSpPr>
        <p:spPr>
          <a:xfrm>
            <a:off x="6154314" y="4407570"/>
            <a:ext cx="1268296" cy="261610"/>
          </a:xfrm>
          <a:prstGeom prst="rect">
            <a:avLst/>
          </a:prstGeom>
          <a:noFill/>
        </p:spPr>
        <p:txBody>
          <a:bodyPr wrap="none" rtlCol="0">
            <a:spAutoFit/>
          </a:bodyPr>
          <a:lstStyle/>
          <a:p>
            <a:pPr algn="l"/>
            <a:r>
              <a:rPr lang="ja-JP" altLang="en-US"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rPr>
              <a:t>集計済みタグデータ</a:t>
            </a:r>
            <a:endParaRPr lang="en-US" altLang="ja-JP"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endParaRPr>
          </a:p>
        </p:txBody>
      </p:sp>
      <p:sp>
        <p:nvSpPr>
          <p:cNvPr id="119" name="四角形: 角を丸くする 118">
            <a:extLst>
              <a:ext uri="{FF2B5EF4-FFF2-40B4-BE49-F238E27FC236}">
                <a16:creationId xmlns:a16="http://schemas.microsoft.com/office/drawing/2014/main" id="{1C016D83-4DA8-90B6-E149-3F484AF817D7}"/>
              </a:ext>
            </a:extLst>
          </p:cNvPr>
          <p:cNvSpPr/>
          <p:nvPr/>
        </p:nvSpPr>
        <p:spPr>
          <a:xfrm>
            <a:off x="1028779" y="3237410"/>
            <a:ext cx="1717094" cy="1185160"/>
          </a:xfrm>
          <a:prstGeom prst="roundRect">
            <a:avLst>
              <a:gd name="adj" fmla="val 7479"/>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0" name="グループ化 119">
            <a:extLst>
              <a:ext uri="{FF2B5EF4-FFF2-40B4-BE49-F238E27FC236}">
                <a16:creationId xmlns:a16="http://schemas.microsoft.com/office/drawing/2014/main" id="{5F5BF0CD-3EE6-3747-34CD-6A9B8DD9A986}"/>
              </a:ext>
            </a:extLst>
          </p:cNvPr>
          <p:cNvGrpSpPr/>
          <p:nvPr/>
        </p:nvGrpSpPr>
        <p:grpSpPr>
          <a:xfrm>
            <a:off x="1312906" y="1618960"/>
            <a:ext cx="1106393" cy="873316"/>
            <a:chOff x="1580534" y="1123601"/>
            <a:chExt cx="1106393" cy="873316"/>
          </a:xfrm>
        </p:grpSpPr>
        <p:pic>
          <p:nvPicPr>
            <p:cNvPr id="121" name="Picture 20">
              <a:extLst>
                <a:ext uri="{FF2B5EF4-FFF2-40B4-BE49-F238E27FC236}">
                  <a16:creationId xmlns:a16="http://schemas.microsoft.com/office/drawing/2014/main" id="{A7ED2B5A-587F-769A-21D5-C2525D260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4769" y="1123601"/>
              <a:ext cx="592869" cy="553779"/>
            </a:xfrm>
            <a:prstGeom prst="rect">
              <a:avLst/>
            </a:prstGeom>
            <a:noFill/>
            <a:extLst>
              <a:ext uri="{909E8E84-426E-40DD-AFC4-6F175D3DCCD1}">
                <a14:hiddenFill xmlns:a14="http://schemas.microsoft.com/office/drawing/2010/main">
                  <a:solidFill>
                    <a:srgbClr val="FFFFFF"/>
                  </a:solidFill>
                </a14:hiddenFill>
              </a:ext>
            </a:extLst>
          </p:spPr>
        </p:pic>
        <p:sp>
          <p:nvSpPr>
            <p:cNvPr id="122" name="テキスト ボックス 121">
              <a:extLst>
                <a:ext uri="{FF2B5EF4-FFF2-40B4-BE49-F238E27FC236}">
                  <a16:creationId xmlns:a16="http://schemas.microsoft.com/office/drawing/2014/main" id="{E492B6E5-0C0C-2FA0-CB2D-400E19A47CC9}"/>
                </a:ext>
              </a:extLst>
            </p:cNvPr>
            <p:cNvSpPr txBox="1"/>
            <p:nvPr/>
          </p:nvSpPr>
          <p:spPr>
            <a:xfrm>
              <a:off x="1580534" y="1596807"/>
              <a:ext cx="1106393" cy="400110"/>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Azure Entra ID</a:t>
              </a:r>
            </a:p>
            <a:p>
              <a:pPr algn="ctr"/>
              <a:r>
                <a:rPr kumimoji="1" lang="en-US" altLang="ja-JP" sz="1000">
                  <a:latin typeface="Meiryo UI" panose="020B0604030504040204" pitchFamily="50" charset="-128"/>
                  <a:ea typeface="Meiryo UI" panose="020B0604030504040204" pitchFamily="50" charset="-128"/>
                </a:rPr>
                <a:t>(</a:t>
              </a:r>
              <a:r>
                <a:rPr kumimoji="1" lang="ja-JP" altLang="en-US" sz="1000">
                  <a:latin typeface="Meiryo UI" panose="020B0604030504040204" pitchFamily="50" charset="-128"/>
                  <a:ea typeface="Meiryo UI" panose="020B0604030504040204" pitchFamily="50" charset="-128"/>
                </a:rPr>
                <a:t>旧</a:t>
              </a:r>
              <a:r>
                <a:rPr kumimoji="1" lang="en-US" altLang="ja-JP" sz="1000">
                  <a:latin typeface="Meiryo UI" panose="020B0604030504040204" pitchFamily="50" charset="-128"/>
                  <a:ea typeface="Meiryo UI" panose="020B0604030504040204" pitchFamily="50" charset="-128"/>
                </a:rPr>
                <a:t>: Azure AD)</a:t>
              </a:r>
              <a:endParaRPr kumimoji="1" lang="ja-JP" altLang="en-US" sz="1000">
                <a:latin typeface="Meiryo UI" panose="020B0604030504040204" pitchFamily="50" charset="-128"/>
                <a:ea typeface="Meiryo UI" panose="020B0604030504040204" pitchFamily="50" charset="-128"/>
              </a:endParaRPr>
            </a:p>
          </p:txBody>
        </p:sp>
      </p:grpSp>
      <p:grpSp>
        <p:nvGrpSpPr>
          <p:cNvPr id="123" name="グループ化 122">
            <a:extLst>
              <a:ext uri="{FF2B5EF4-FFF2-40B4-BE49-F238E27FC236}">
                <a16:creationId xmlns:a16="http://schemas.microsoft.com/office/drawing/2014/main" id="{8371CBB2-C84D-72F2-5C62-517B81784273}"/>
              </a:ext>
            </a:extLst>
          </p:cNvPr>
          <p:cNvGrpSpPr/>
          <p:nvPr/>
        </p:nvGrpSpPr>
        <p:grpSpPr>
          <a:xfrm>
            <a:off x="1559479" y="5025421"/>
            <a:ext cx="657552" cy="832259"/>
            <a:chOff x="4915570" y="2147072"/>
            <a:chExt cx="657552" cy="832259"/>
          </a:xfrm>
        </p:grpSpPr>
        <p:pic>
          <p:nvPicPr>
            <p:cNvPr id="124" name="Picture 22">
              <a:extLst>
                <a:ext uri="{FF2B5EF4-FFF2-40B4-BE49-F238E27FC236}">
                  <a16:creationId xmlns:a16="http://schemas.microsoft.com/office/drawing/2014/main" id="{72FEFBBA-2B14-6909-682F-246D335CA6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898" y="2147072"/>
              <a:ext cx="560895" cy="690957"/>
            </a:xfrm>
            <a:prstGeom prst="rect">
              <a:avLst/>
            </a:prstGeom>
            <a:noFill/>
            <a:extLst>
              <a:ext uri="{909E8E84-426E-40DD-AFC4-6F175D3DCCD1}">
                <a14:hiddenFill xmlns:a14="http://schemas.microsoft.com/office/drawing/2010/main">
                  <a:solidFill>
                    <a:srgbClr val="FFFFFF"/>
                  </a:solidFill>
                </a14:hiddenFill>
              </a:ext>
            </a:extLst>
          </p:spPr>
        </p:pic>
        <p:sp>
          <p:nvSpPr>
            <p:cNvPr id="125" name="テキスト ボックス 124">
              <a:extLst>
                <a:ext uri="{FF2B5EF4-FFF2-40B4-BE49-F238E27FC236}">
                  <a16:creationId xmlns:a16="http://schemas.microsoft.com/office/drawing/2014/main" id="{1FDF408B-F308-C253-73D4-FF84C249A36F}"/>
                </a:ext>
              </a:extLst>
            </p:cNvPr>
            <p:cNvSpPr txBox="1"/>
            <p:nvPr/>
          </p:nvSpPr>
          <p:spPr>
            <a:xfrm>
              <a:off x="4915570" y="2733110"/>
              <a:ext cx="657552" cy="246221"/>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My SQL</a:t>
              </a:r>
            </a:p>
          </p:txBody>
        </p:sp>
      </p:grpSp>
      <p:grpSp>
        <p:nvGrpSpPr>
          <p:cNvPr id="126" name="グループ化 125">
            <a:extLst>
              <a:ext uri="{FF2B5EF4-FFF2-40B4-BE49-F238E27FC236}">
                <a16:creationId xmlns:a16="http://schemas.microsoft.com/office/drawing/2014/main" id="{EB3C985E-42B8-62A9-99B4-1F14B54EA3E1}"/>
              </a:ext>
            </a:extLst>
          </p:cNvPr>
          <p:cNvGrpSpPr/>
          <p:nvPr/>
        </p:nvGrpSpPr>
        <p:grpSpPr>
          <a:xfrm>
            <a:off x="1178248" y="4017584"/>
            <a:ext cx="1456958" cy="302361"/>
            <a:chOff x="3423814" y="3209498"/>
            <a:chExt cx="1456958" cy="302361"/>
          </a:xfrm>
        </p:grpSpPr>
        <p:sp>
          <p:nvSpPr>
            <p:cNvPr id="127" name="四角形: 角を丸くする 126">
              <a:extLst>
                <a:ext uri="{FF2B5EF4-FFF2-40B4-BE49-F238E27FC236}">
                  <a16:creationId xmlns:a16="http://schemas.microsoft.com/office/drawing/2014/main" id="{3C4D98CE-D658-2A71-BBAC-7A83653073AF}"/>
                </a:ext>
              </a:extLst>
            </p:cNvPr>
            <p:cNvSpPr/>
            <p:nvPr/>
          </p:nvSpPr>
          <p:spPr>
            <a:xfrm>
              <a:off x="3423814" y="3209498"/>
              <a:ext cx="1456958" cy="302361"/>
            </a:xfrm>
            <a:prstGeom prst="round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bg1"/>
                  </a:solidFill>
                  <a:latin typeface="Meiryo UI" panose="020B0604030504040204" pitchFamily="50" charset="-128"/>
                  <a:ea typeface="Meiryo UI" panose="020B0604030504040204" pitchFamily="50" charset="-128"/>
                </a:rPr>
                <a:t>　　　</a:t>
              </a:r>
              <a:r>
                <a:rPr kumimoji="1" lang="en-US" altLang="ja-JP" sz="1000">
                  <a:solidFill>
                    <a:schemeClr val="bg1"/>
                  </a:solidFill>
                  <a:latin typeface="Meiryo UI" panose="020B0604030504040204" pitchFamily="50" charset="-128"/>
                  <a:ea typeface="Meiryo UI" panose="020B0604030504040204" pitchFamily="50" charset="-128"/>
                </a:rPr>
                <a:t>Apache Tomcat</a:t>
              </a:r>
              <a:endParaRPr kumimoji="1" lang="ja-JP" altLang="en-US" sz="1000">
                <a:solidFill>
                  <a:schemeClr val="bg1"/>
                </a:solidFill>
                <a:latin typeface="Meiryo UI" panose="020B0604030504040204" pitchFamily="50" charset="-128"/>
                <a:ea typeface="Meiryo UI" panose="020B0604030504040204" pitchFamily="50" charset="-128"/>
              </a:endParaRPr>
            </a:p>
          </p:txBody>
        </p:sp>
        <p:pic>
          <p:nvPicPr>
            <p:cNvPr id="128" name="Picture 18">
              <a:extLst>
                <a:ext uri="{FF2B5EF4-FFF2-40B4-BE49-F238E27FC236}">
                  <a16:creationId xmlns:a16="http://schemas.microsoft.com/office/drawing/2014/main" id="{4B438682-0C4F-648F-818D-EE1D90548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6655" y="3242978"/>
              <a:ext cx="289372" cy="220110"/>
            </a:xfrm>
            <a:prstGeom prst="rect">
              <a:avLst/>
            </a:prstGeom>
            <a:noFill/>
            <a:extLst>
              <a:ext uri="{909E8E84-426E-40DD-AFC4-6F175D3DCCD1}">
                <a14:hiddenFill xmlns:a14="http://schemas.microsoft.com/office/drawing/2010/main">
                  <a:solidFill>
                    <a:srgbClr val="FFFFFF"/>
                  </a:solidFill>
                </a14:hiddenFill>
              </a:ext>
            </a:extLst>
          </p:spPr>
        </p:pic>
      </p:grpSp>
      <p:sp>
        <p:nvSpPr>
          <p:cNvPr id="129" name="四角形: 角を丸くする 128">
            <a:extLst>
              <a:ext uri="{FF2B5EF4-FFF2-40B4-BE49-F238E27FC236}">
                <a16:creationId xmlns:a16="http://schemas.microsoft.com/office/drawing/2014/main" id="{DFA479AF-BCCC-ECFC-2E6C-4D670C32330B}"/>
              </a:ext>
            </a:extLst>
          </p:cNvPr>
          <p:cNvSpPr/>
          <p:nvPr/>
        </p:nvSpPr>
        <p:spPr>
          <a:xfrm>
            <a:off x="1171640" y="3330383"/>
            <a:ext cx="1456957" cy="660112"/>
          </a:xfrm>
          <a:prstGeom prst="roundRect">
            <a:avLst>
              <a:gd name="adj" fmla="val 7343"/>
            </a:avLst>
          </a:prstGeom>
          <a:solidFill>
            <a:srgbClr val="0070C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000">
              <a:solidFill>
                <a:schemeClr val="bg1"/>
              </a:solidFill>
              <a:latin typeface="Meiryo UI" panose="020B0604030504040204" pitchFamily="50" charset="-128"/>
              <a:ea typeface="Meiryo UI" panose="020B0604030504040204" pitchFamily="50" charset="-128"/>
            </a:endParaRPr>
          </a:p>
          <a:p>
            <a:pPr algn="ctr"/>
            <a:r>
              <a:rPr kumimoji="1" lang="ja-JP" altLang="en-US" sz="1000">
                <a:solidFill>
                  <a:schemeClr val="bg1"/>
                </a:solidFill>
                <a:latin typeface="Meiryo UI" panose="020B0604030504040204" pitchFamily="50" charset="-128"/>
                <a:ea typeface="Meiryo UI" panose="020B0604030504040204" pitchFamily="50" charset="-128"/>
              </a:rPr>
              <a:t>画面系</a:t>
            </a:r>
            <a:r>
              <a:rPr kumimoji="1" lang="en-US" altLang="ja-JP" sz="1000">
                <a:solidFill>
                  <a:schemeClr val="bg1"/>
                </a:solidFill>
                <a:latin typeface="Meiryo UI" panose="020B0604030504040204" pitchFamily="50" charset="-128"/>
                <a:ea typeface="Meiryo UI" panose="020B0604030504040204" pitchFamily="50" charset="-128"/>
              </a:rPr>
              <a:t>Web</a:t>
            </a:r>
            <a:r>
              <a:rPr kumimoji="1" lang="ja-JP" altLang="en-US" sz="1000">
                <a:solidFill>
                  <a:schemeClr val="bg1"/>
                </a:solidFill>
                <a:latin typeface="Meiryo UI" panose="020B0604030504040204" pitchFamily="50" charset="-128"/>
                <a:ea typeface="Meiryo UI" panose="020B0604030504040204" pitchFamily="50" charset="-128"/>
              </a:rPr>
              <a:t>アプリ</a:t>
            </a:r>
            <a:endParaRPr kumimoji="1" lang="en-US" altLang="ja-JP" sz="1000">
              <a:solidFill>
                <a:schemeClr val="bg1"/>
              </a:solidFill>
              <a:latin typeface="Meiryo UI" panose="020B0604030504040204" pitchFamily="50" charset="-128"/>
              <a:ea typeface="Meiryo UI" panose="020B0604030504040204" pitchFamily="50" charset="-128"/>
            </a:endParaRPr>
          </a:p>
          <a:p>
            <a:pPr algn="ctr"/>
            <a:r>
              <a:rPr kumimoji="1" lang="en-US" altLang="ja-JP" sz="1000">
                <a:solidFill>
                  <a:schemeClr val="bg1"/>
                </a:solidFill>
                <a:latin typeface="Meiryo UI" panose="020B0604030504040204" pitchFamily="50" charset="-128"/>
                <a:ea typeface="Meiryo UI" panose="020B0604030504040204" pitchFamily="50" charset="-128"/>
              </a:rPr>
              <a:t>(war)</a:t>
            </a:r>
          </a:p>
        </p:txBody>
      </p:sp>
      <p:cxnSp>
        <p:nvCxnSpPr>
          <p:cNvPr id="130" name="直線矢印コネクタ 129">
            <a:extLst>
              <a:ext uri="{FF2B5EF4-FFF2-40B4-BE49-F238E27FC236}">
                <a16:creationId xmlns:a16="http://schemas.microsoft.com/office/drawing/2014/main" id="{29027CED-5B70-DD22-25B7-5069053E2A0D}"/>
              </a:ext>
            </a:extLst>
          </p:cNvPr>
          <p:cNvCxnSpPr>
            <a:cxnSpLocks/>
            <a:stCxn id="119" idx="2"/>
          </p:cNvCxnSpPr>
          <p:nvPr/>
        </p:nvCxnSpPr>
        <p:spPr>
          <a:xfrm>
            <a:off x="1887326" y="4422570"/>
            <a:ext cx="929" cy="602851"/>
          </a:xfrm>
          <a:prstGeom prst="straightConnector1">
            <a:avLst/>
          </a:prstGeom>
          <a:ln w="19050">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1" name="四角形: 角を丸くする 130">
            <a:extLst>
              <a:ext uri="{FF2B5EF4-FFF2-40B4-BE49-F238E27FC236}">
                <a16:creationId xmlns:a16="http://schemas.microsoft.com/office/drawing/2014/main" id="{7EFAF0D6-A179-6A27-4906-64FC58C92D9E}"/>
              </a:ext>
            </a:extLst>
          </p:cNvPr>
          <p:cNvSpPr/>
          <p:nvPr/>
        </p:nvSpPr>
        <p:spPr>
          <a:xfrm>
            <a:off x="1230726" y="3365487"/>
            <a:ext cx="1332000" cy="207738"/>
          </a:xfrm>
          <a:prstGeom prst="round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bg1"/>
                </a:solidFill>
                <a:latin typeface="Meiryo UI" panose="020B0604030504040204" pitchFamily="50" charset="-128"/>
                <a:ea typeface="Meiryo UI" panose="020B0604030504040204" pitchFamily="50" charset="-128"/>
              </a:rPr>
              <a:t>SAML library</a:t>
            </a:r>
            <a:endParaRPr kumimoji="1" lang="ja-JP" altLang="en-US" sz="1000">
              <a:solidFill>
                <a:schemeClr val="bg1"/>
              </a:solidFill>
              <a:latin typeface="Meiryo UI" panose="020B0604030504040204" pitchFamily="50" charset="-128"/>
              <a:ea typeface="Meiryo UI" panose="020B0604030504040204" pitchFamily="50" charset="-128"/>
            </a:endParaRPr>
          </a:p>
        </p:txBody>
      </p:sp>
      <p:sp>
        <p:nvSpPr>
          <p:cNvPr id="132" name="テキスト ボックス 131">
            <a:extLst>
              <a:ext uri="{FF2B5EF4-FFF2-40B4-BE49-F238E27FC236}">
                <a16:creationId xmlns:a16="http://schemas.microsoft.com/office/drawing/2014/main" id="{DE651720-FFDD-5686-C0A3-A2784F01BD86}"/>
              </a:ext>
            </a:extLst>
          </p:cNvPr>
          <p:cNvSpPr txBox="1"/>
          <p:nvPr/>
        </p:nvSpPr>
        <p:spPr>
          <a:xfrm>
            <a:off x="1809938" y="2650059"/>
            <a:ext cx="787395" cy="246221"/>
          </a:xfrm>
          <a:prstGeom prst="rect">
            <a:avLst/>
          </a:prstGeom>
          <a:noFill/>
        </p:spPr>
        <p:txBody>
          <a:bodyPr wrap="none" rtlCol="0">
            <a:spAutoFit/>
          </a:bodyPr>
          <a:lstStyle/>
          <a:p>
            <a:r>
              <a:rPr kumimoji="1" lang="en-US" altLang="ja-JP" sz="1000">
                <a:latin typeface="Meiryo UI" panose="020B0604030504040204" pitchFamily="50" charset="-128"/>
                <a:ea typeface="Meiryo UI" panose="020B0604030504040204" pitchFamily="50" charset="-128"/>
              </a:rPr>
              <a:t>SAML</a:t>
            </a:r>
            <a:r>
              <a:rPr kumimoji="1" lang="ja-JP" altLang="en-US" sz="1000">
                <a:latin typeface="Meiryo UI" panose="020B0604030504040204" pitchFamily="50" charset="-128"/>
                <a:ea typeface="Meiryo UI" panose="020B0604030504040204" pitchFamily="50" charset="-128"/>
              </a:rPr>
              <a:t>認証</a:t>
            </a:r>
            <a:endParaRPr kumimoji="1" lang="en-US" altLang="ja-JP" sz="1000">
              <a:latin typeface="Meiryo UI" panose="020B0604030504040204" pitchFamily="50" charset="-128"/>
              <a:ea typeface="Meiryo UI" panose="020B0604030504040204" pitchFamily="50" charset="-128"/>
            </a:endParaRPr>
          </a:p>
        </p:txBody>
      </p:sp>
      <p:sp>
        <p:nvSpPr>
          <p:cNvPr id="133" name="テキスト ボックス 132">
            <a:extLst>
              <a:ext uri="{FF2B5EF4-FFF2-40B4-BE49-F238E27FC236}">
                <a16:creationId xmlns:a16="http://schemas.microsoft.com/office/drawing/2014/main" id="{05AE9366-B7E8-B36D-D35E-8C639154CAB7}"/>
              </a:ext>
            </a:extLst>
          </p:cNvPr>
          <p:cNvSpPr txBox="1"/>
          <p:nvPr/>
        </p:nvSpPr>
        <p:spPr>
          <a:xfrm>
            <a:off x="4254801" y="4429335"/>
            <a:ext cx="708847" cy="246221"/>
          </a:xfrm>
          <a:prstGeom prst="rect">
            <a:avLst/>
          </a:prstGeom>
          <a:noFill/>
        </p:spPr>
        <p:txBody>
          <a:bodyPr wrap="none" rtlCol="0">
            <a:spAutoFit/>
          </a:bodyPr>
          <a:lstStyle/>
          <a:p>
            <a:pPr algn="ctr"/>
            <a:r>
              <a:rPr kumimoji="1" lang="ja-JP" altLang="en-US" sz="1000">
                <a:latin typeface="Meiryo UI" panose="020B0604030504040204" pitchFamily="50" charset="-128"/>
                <a:ea typeface="Meiryo UI" panose="020B0604030504040204" pitchFamily="50" charset="-128"/>
              </a:rPr>
              <a:t>ジョブ実行</a:t>
            </a:r>
          </a:p>
        </p:txBody>
      </p:sp>
      <p:sp>
        <p:nvSpPr>
          <p:cNvPr id="134" name="テキスト ボックス 133">
            <a:extLst>
              <a:ext uri="{FF2B5EF4-FFF2-40B4-BE49-F238E27FC236}">
                <a16:creationId xmlns:a16="http://schemas.microsoft.com/office/drawing/2014/main" id="{06B5186B-F221-E729-B39D-796C262F07B0}"/>
              </a:ext>
            </a:extLst>
          </p:cNvPr>
          <p:cNvSpPr txBox="1"/>
          <p:nvPr/>
        </p:nvSpPr>
        <p:spPr>
          <a:xfrm>
            <a:off x="2936951" y="3579104"/>
            <a:ext cx="511679" cy="246221"/>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JDBC</a:t>
            </a:r>
            <a:endParaRPr kumimoji="1" lang="ja-JP" altLang="en-US" sz="1000">
              <a:latin typeface="Meiryo UI" panose="020B0604030504040204" pitchFamily="50" charset="-128"/>
              <a:ea typeface="Meiryo UI" panose="020B0604030504040204" pitchFamily="50" charset="-128"/>
            </a:endParaRPr>
          </a:p>
        </p:txBody>
      </p:sp>
      <p:cxnSp>
        <p:nvCxnSpPr>
          <p:cNvPr id="140" name="直線矢印コネクタ 139">
            <a:extLst>
              <a:ext uri="{FF2B5EF4-FFF2-40B4-BE49-F238E27FC236}">
                <a16:creationId xmlns:a16="http://schemas.microsoft.com/office/drawing/2014/main" id="{ACD423CE-1E1C-6D1F-8BBE-2DBECED7E9BC}"/>
              </a:ext>
            </a:extLst>
          </p:cNvPr>
          <p:cNvCxnSpPr>
            <a:cxnSpLocks/>
            <a:stCxn id="131" idx="0"/>
            <a:endCxn id="122" idx="2"/>
          </p:cNvCxnSpPr>
          <p:nvPr/>
        </p:nvCxnSpPr>
        <p:spPr>
          <a:xfrm flipH="1" flipV="1">
            <a:off x="1866103" y="2492276"/>
            <a:ext cx="30623" cy="873211"/>
          </a:xfrm>
          <a:prstGeom prst="straightConnector1">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grpSp>
        <p:nvGrpSpPr>
          <p:cNvPr id="141" name="グループ化 140">
            <a:extLst>
              <a:ext uri="{FF2B5EF4-FFF2-40B4-BE49-F238E27FC236}">
                <a16:creationId xmlns:a16="http://schemas.microsoft.com/office/drawing/2014/main" id="{82E0DFA1-8E17-BA2E-71EA-1ECF37F20C3F}"/>
              </a:ext>
            </a:extLst>
          </p:cNvPr>
          <p:cNvGrpSpPr/>
          <p:nvPr/>
        </p:nvGrpSpPr>
        <p:grpSpPr>
          <a:xfrm>
            <a:off x="733537" y="2902624"/>
            <a:ext cx="1355506" cy="580002"/>
            <a:chOff x="2820314" y="2136822"/>
            <a:chExt cx="1355506" cy="580002"/>
          </a:xfrm>
        </p:grpSpPr>
        <p:pic>
          <p:nvPicPr>
            <p:cNvPr id="142" name="Picture 4">
              <a:extLst>
                <a:ext uri="{FF2B5EF4-FFF2-40B4-BE49-F238E27FC236}">
                  <a16:creationId xmlns:a16="http://schemas.microsoft.com/office/drawing/2014/main" id="{D3F8D193-AC6C-320C-0267-97F49FF172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314" y="2136822"/>
              <a:ext cx="580002" cy="580002"/>
            </a:xfrm>
            <a:prstGeom prst="rect">
              <a:avLst/>
            </a:prstGeom>
            <a:noFill/>
            <a:extLst>
              <a:ext uri="{909E8E84-426E-40DD-AFC4-6F175D3DCCD1}">
                <a14:hiddenFill xmlns:a14="http://schemas.microsoft.com/office/drawing/2010/main">
                  <a:solidFill>
                    <a:srgbClr val="FFFFFF"/>
                  </a:solidFill>
                </a14:hiddenFill>
              </a:ext>
            </a:extLst>
          </p:spPr>
        </p:pic>
        <p:sp>
          <p:nvSpPr>
            <p:cNvPr id="143" name="テキスト ボックス 142">
              <a:extLst>
                <a:ext uri="{FF2B5EF4-FFF2-40B4-BE49-F238E27FC236}">
                  <a16:creationId xmlns:a16="http://schemas.microsoft.com/office/drawing/2014/main" id="{A1D793C6-F270-B916-79CF-3607971EB8A8}"/>
                </a:ext>
              </a:extLst>
            </p:cNvPr>
            <p:cNvSpPr txBox="1"/>
            <p:nvPr/>
          </p:nvSpPr>
          <p:spPr>
            <a:xfrm>
              <a:off x="3252169" y="2231897"/>
              <a:ext cx="923651" cy="246221"/>
            </a:xfrm>
            <a:prstGeom prst="rect">
              <a:avLst/>
            </a:prstGeom>
            <a:noFill/>
          </p:spPr>
          <p:txBody>
            <a:bodyPr wrap="none" rtlCol="0">
              <a:spAutoFit/>
            </a:bodyPr>
            <a:lstStyle/>
            <a:p>
              <a:r>
                <a:rPr kumimoji="1" lang="en-US" altLang="ja-JP" sz="1000">
                  <a:latin typeface="Meiryo UI" panose="020B0604030504040204" pitchFamily="50" charset="-128"/>
                  <a:ea typeface="Meiryo UI" panose="020B0604030504040204" pitchFamily="50" charset="-128"/>
                </a:rPr>
                <a:t>App</a:t>
              </a:r>
              <a:r>
                <a:rPr kumimoji="1" lang="ja-JP" altLang="en-US" sz="1000">
                  <a:latin typeface="Meiryo UI" panose="020B0604030504040204" pitchFamily="50" charset="-128"/>
                  <a:ea typeface="Meiryo UI" panose="020B0604030504040204" pitchFamily="50" charset="-128"/>
                </a:rPr>
                <a:t> </a:t>
              </a:r>
              <a:r>
                <a:rPr kumimoji="1" lang="en-US" altLang="ja-JP" sz="1000">
                  <a:latin typeface="Meiryo UI" panose="020B0604030504040204" pitchFamily="50" charset="-128"/>
                  <a:ea typeface="Meiryo UI" panose="020B0604030504040204" pitchFamily="50" charset="-128"/>
                </a:rPr>
                <a:t>Service</a:t>
              </a:r>
              <a:endParaRPr kumimoji="1" lang="ja-JP" altLang="en-US" sz="1000">
                <a:latin typeface="Meiryo UI" panose="020B0604030504040204" pitchFamily="50" charset="-128"/>
                <a:ea typeface="Meiryo UI" panose="020B0604030504040204" pitchFamily="50" charset="-128"/>
              </a:endParaRPr>
            </a:p>
          </p:txBody>
        </p:sp>
      </p:grpSp>
      <p:cxnSp>
        <p:nvCxnSpPr>
          <p:cNvPr id="144" name="直線矢印コネクタ 143">
            <a:extLst>
              <a:ext uri="{FF2B5EF4-FFF2-40B4-BE49-F238E27FC236}">
                <a16:creationId xmlns:a16="http://schemas.microsoft.com/office/drawing/2014/main" id="{2B8371B0-85A4-87F3-E36D-FE2AF40A383B}"/>
              </a:ext>
            </a:extLst>
          </p:cNvPr>
          <p:cNvCxnSpPr>
            <a:cxnSpLocks/>
            <a:endCxn id="156" idx="2"/>
          </p:cNvCxnSpPr>
          <p:nvPr/>
        </p:nvCxnSpPr>
        <p:spPr>
          <a:xfrm flipV="1">
            <a:off x="4187103" y="3993079"/>
            <a:ext cx="16859" cy="1152324"/>
          </a:xfrm>
          <a:prstGeom prst="straightConnector1">
            <a:avLst/>
          </a:prstGeom>
          <a:ln w="19050">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5" name="直線矢印コネクタ 144">
            <a:extLst>
              <a:ext uri="{FF2B5EF4-FFF2-40B4-BE49-F238E27FC236}">
                <a16:creationId xmlns:a16="http://schemas.microsoft.com/office/drawing/2014/main" id="{5D92C3C0-D76D-05A3-B774-A55B6115872C}"/>
              </a:ext>
            </a:extLst>
          </p:cNvPr>
          <p:cNvCxnSpPr>
            <a:cxnSpLocks/>
            <a:stCxn id="155" idx="1"/>
          </p:cNvCxnSpPr>
          <p:nvPr/>
        </p:nvCxnSpPr>
        <p:spPr>
          <a:xfrm flipH="1">
            <a:off x="2168702" y="3421479"/>
            <a:ext cx="1757870" cy="1949421"/>
          </a:xfrm>
          <a:prstGeom prst="straightConnector1">
            <a:avLst/>
          </a:prstGeom>
          <a:ln w="19050">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6" name="テキスト ボックス 145">
            <a:extLst>
              <a:ext uri="{FF2B5EF4-FFF2-40B4-BE49-F238E27FC236}">
                <a16:creationId xmlns:a16="http://schemas.microsoft.com/office/drawing/2014/main" id="{58ED900C-BF05-A19A-BA46-992B3118652A}"/>
              </a:ext>
            </a:extLst>
          </p:cNvPr>
          <p:cNvSpPr txBox="1"/>
          <p:nvPr/>
        </p:nvSpPr>
        <p:spPr>
          <a:xfrm>
            <a:off x="1327235" y="4597751"/>
            <a:ext cx="511679" cy="246221"/>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JDBC</a:t>
            </a:r>
            <a:endParaRPr kumimoji="1" lang="ja-JP" altLang="en-US" sz="1000">
              <a:latin typeface="Meiryo UI" panose="020B0604030504040204" pitchFamily="50" charset="-128"/>
              <a:ea typeface="Meiryo UI" panose="020B0604030504040204" pitchFamily="50" charset="-128"/>
            </a:endParaRPr>
          </a:p>
        </p:txBody>
      </p:sp>
      <p:grpSp>
        <p:nvGrpSpPr>
          <p:cNvPr id="147" name="グループ化 146">
            <a:extLst>
              <a:ext uri="{FF2B5EF4-FFF2-40B4-BE49-F238E27FC236}">
                <a16:creationId xmlns:a16="http://schemas.microsoft.com/office/drawing/2014/main" id="{D541F3C7-6528-02FC-F8E6-DE5B78321449}"/>
              </a:ext>
            </a:extLst>
          </p:cNvPr>
          <p:cNvGrpSpPr/>
          <p:nvPr/>
        </p:nvGrpSpPr>
        <p:grpSpPr>
          <a:xfrm>
            <a:off x="3803852" y="4878220"/>
            <a:ext cx="800219" cy="1048220"/>
            <a:chOff x="7983268" y="1366681"/>
            <a:chExt cx="800219" cy="1048220"/>
          </a:xfrm>
        </p:grpSpPr>
        <p:grpSp>
          <p:nvGrpSpPr>
            <p:cNvPr id="148" name="グループ化 147">
              <a:extLst>
                <a:ext uri="{FF2B5EF4-FFF2-40B4-BE49-F238E27FC236}">
                  <a16:creationId xmlns:a16="http://schemas.microsoft.com/office/drawing/2014/main" id="{CC7A3B1E-FBC4-BB16-CD56-3DA5373801F8}"/>
                </a:ext>
              </a:extLst>
            </p:cNvPr>
            <p:cNvGrpSpPr/>
            <p:nvPr/>
          </p:nvGrpSpPr>
          <p:grpSpPr>
            <a:xfrm>
              <a:off x="7983268" y="1540853"/>
              <a:ext cx="800219" cy="874048"/>
              <a:chOff x="7888746" y="2300732"/>
              <a:chExt cx="800219" cy="874048"/>
            </a:xfrm>
          </p:grpSpPr>
          <p:pic>
            <p:nvPicPr>
              <p:cNvPr id="150" name="Picture 30">
                <a:extLst>
                  <a:ext uri="{FF2B5EF4-FFF2-40B4-BE49-F238E27FC236}">
                    <a16:creationId xmlns:a16="http://schemas.microsoft.com/office/drawing/2014/main" id="{1B0C5580-CF77-60D1-EB1D-D25AE890C1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87200" y="2300732"/>
                <a:ext cx="607568" cy="573814"/>
              </a:xfrm>
              <a:prstGeom prst="rect">
                <a:avLst/>
              </a:prstGeom>
              <a:noFill/>
              <a:extLst>
                <a:ext uri="{909E8E84-426E-40DD-AFC4-6F175D3DCCD1}">
                  <a14:hiddenFill xmlns:a14="http://schemas.microsoft.com/office/drawing/2010/main">
                    <a:solidFill>
                      <a:srgbClr val="FFFFFF"/>
                    </a:solidFill>
                  </a14:hiddenFill>
                </a:ext>
              </a:extLst>
            </p:spPr>
          </p:pic>
          <p:sp>
            <p:nvSpPr>
              <p:cNvPr id="151" name="テキスト ボックス 150">
                <a:extLst>
                  <a:ext uri="{FF2B5EF4-FFF2-40B4-BE49-F238E27FC236}">
                    <a16:creationId xmlns:a16="http://schemas.microsoft.com/office/drawing/2014/main" id="{11A9EB6D-E4E4-1F27-30F6-D0DCA67B93E6}"/>
                  </a:ext>
                </a:extLst>
              </p:cNvPr>
              <p:cNvSpPr txBox="1"/>
              <p:nvPr/>
            </p:nvSpPr>
            <p:spPr>
              <a:xfrm>
                <a:off x="7888746" y="2774670"/>
                <a:ext cx="800219" cy="400110"/>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A-AUTO</a:t>
                </a:r>
              </a:p>
              <a:p>
                <a:pPr algn="ctr"/>
                <a:r>
                  <a:rPr kumimoji="1" lang="en-US" altLang="ja-JP" sz="1000">
                    <a:latin typeface="Meiryo UI" panose="020B0604030504040204" pitchFamily="50" charset="-128"/>
                    <a:ea typeface="Meiryo UI" panose="020B0604030504040204" pitchFamily="50" charset="-128"/>
                  </a:rPr>
                  <a:t>Scheduler</a:t>
                </a:r>
                <a:endParaRPr kumimoji="1" lang="ja-JP" altLang="en-US" sz="1000">
                  <a:latin typeface="Meiryo UI" panose="020B0604030504040204" pitchFamily="50" charset="-128"/>
                  <a:ea typeface="Meiryo UI" panose="020B0604030504040204" pitchFamily="50" charset="-128"/>
                </a:endParaRPr>
              </a:p>
            </p:txBody>
          </p:sp>
        </p:grpSp>
        <p:pic>
          <p:nvPicPr>
            <p:cNvPr id="149" name="Picture 32" descr="ジョブ管理ツール | A-AUTO | Create Your Business Value ユニリタ">
              <a:extLst>
                <a:ext uri="{FF2B5EF4-FFF2-40B4-BE49-F238E27FC236}">
                  <a16:creationId xmlns:a16="http://schemas.microsoft.com/office/drawing/2014/main" id="{A62A930C-95EC-E3A2-340A-76B722C0554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0343" y="1366681"/>
              <a:ext cx="747657" cy="23364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2" name="グループ化 151">
            <a:extLst>
              <a:ext uri="{FF2B5EF4-FFF2-40B4-BE49-F238E27FC236}">
                <a16:creationId xmlns:a16="http://schemas.microsoft.com/office/drawing/2014/main" id="{91999BDD-6B66-6DBF-398F-E013F99D0BD2}"/>
              </a:ext>
            </a:extLst>
          </p:cNvPr>
          <p:cNvGrpSpPr/>
          <p:nvPr/>
        </p:nvGrpSpPr>
        <p:grpSpPr>
          <a:xfrm>
            <a:off x="3770189" y="2946422"/>
            <a:ext cx="867545" cy="1046657"/>
            <a:chOff x="6028971" y="1353710"/>
            <a:chExt cx="867545" cy="1046657"/>
          </a:xfrm>
        </p:grpSpPr>
        <p:grpSp>
          <p:nvGrpSpPr>
            <p:cNvPr id="153" name="グループ化 152">
              <a:extLst>
                <a:ext uri="{FF2B5EF4-FFF2-40B4-BE49-F238E27FC236}">
                  <a16:creationId xmlns:a16="http://schemas.microsoft.com/office/drawing/2014/main" id="{A956CBC8-8584-09AF-192F-75BAB526B0F4}"/>
                </a:ext>
              </a:extLst>
            </p:cNvPr>
            <p:cNvGrpSpPr/>
            <p:nvPr/>
          </p:nvGrpSpPr>
          <p:grpSpPr>
            <a:xfrm>
              <a:off x="6028971" y="1541860"/>
              <a:ext cx="867545" cy="858507"/>
              <a:chOff x="702546" y="4019027"/>
              <a:chExt cx="867545" cy="858507"/>
            </a:xfrm>
          </p:grpSpPr>
          <p:pic>
            <p:nvPicPr>
              <p:cNvPr id="155" name="Picture 30">
                <a:extLst>
                  <a:ext uri="{FF2B5EF4-FFF2-40B4-BE49-F238E27FC236}">
                    <a16:creationId xmlns:a16="http://schemas.microsoft.com/office/drawing/2014/main" id="{192893D6-49C4-3594-09AD-C07E5252CB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8929" y="4019027"/>
                <a:ext cx="607568" cy="573814"/>
              </a:xfrm>
              <a:prstGeom prst="rect">
                <a:avLst/>
              </a:prstGeom>
              <a:noFill/>
              <a:extLst>
                <a:ext uri="{909E8E84-426E-40DD-AFC4-6F175D3DCCD1}">
                  <a14:hiddenFill xmlns:a14="http://schemas.microsoft.com/office/drawing/2010/main">
                    <a:solidFill>
                      <a:srgbClr val="FFFFFF"/>
                    </a:solidFill>
                  </a14:hiddenFill>
                </a:ext>
              </a:extLst>
            </p:spPr>
          </p:pic>
          <p:sp>
            <p:nvSpPr>
              <p:cNvPr id="156" name="テキスト ボックス 155">
                <a:extLst>
                  <a:ext uri="{FF2B5EF4-FFF2-40B4-BE49-F238E27FC236}">
                    <a16:creationId xmlns:a16="http://schemas.microsoft.com/office/drawing/2014/main" id="{68F1EF56-1956-FD13-2F6B-39715C159497}"/>
                  </a:ext>
                </a:extLst>
              </p:cNvPr>
              <p:cNvSpPr txBox="1"/>
              <p:nvPr/>
            </p:nvSpPr>
            <p:spPr>
              <a:xfrm>
                <a:off x="702546" y="4477424"/>
                <a:ext cx="867545" cy="400110"/>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Batch</a:t>
                </a:r>
              </a:p>
              <a:p>
                <a:pPr algn="ctr"/>
                <a:r>
                  <a:rPr kumimoji="1" lang="en-US" altLang="ja-JP" sz="1000">
                    <a:latin typeface="Meiryo UI" panose="020B0604030504040204" pitchFamily="50" charset="-128"/>
                    <a:ea typeface="Meiryo UI" panose="020B0604030504040204" pitchFamily="50" charset="-128"/>
                  </a:rPr>
                  <a:t>Application</a:t>
                </a:r>
                <a:endParaRPr kumimoji="1" lang="ja-JP" altLang="en-US" sz="1000">
                  <a:latin typeface="Meiryo UI" panose="020B0604030504040204" pitchFamily="50" charset="-128"/>
                  <a:ea typeface="Meiryo UI" panose="020B0604030504040204" pitchFamily="50" charset="-128"/>
                </a:endParaRPr>
              </a:p>
            </p:txBody>
          </p:sp>
        </p:grpSp>
        <p:pic>
          <p:nvPicPr>
            <p:cNvPr id="154" name="Picture 32" descr="ジョブ管理ツール | A-AUTO | Create Your Business Value ユニリタ">
              <a:extLst>
                <a:ext uri="{FF2B5EF4-FFF2-40B4-BE49-F238E27FC236}">
                  <a16:creationId xmlns:a16="http://schemas.microsoft.com/office/drawing/2014/main" id="{9D5BDCD0-FA1D-97CB-5EBC-2D2609AA31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03627" y="1353710"/>
              <a:ext cx="747657" cy="23364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7" name="グループ化 156">
            <a:extLst>
              <a:ext uri="{FF2B5EF4-FFF2-40B4-BE49-F238E27FC236}">
                <a16:creationId xmlns:a16="http://schemas.microsoft.com/office/drawing/2014/main" id="{4A9AF9F7-5D0A-133D-1522-1EB0D83008AA}"/>
              </a:ext>
            </a:extLst>
          </p:cNvPr>
          <p:cNvGrpSpPr/>
          <p:nvPr/>
        </p:nvGrpSpPr>
        <p:grpSpPr>
          <a:xfrm>
            <a:off x="1957450" y="1537422"/>
            <a:ext cx="875584" cy="488936"/>
            <a:chOff x="4485683" y="1604122"/>
            <a:chExt cx="875584" cy="488936"/>
          </a:xfrm>
        </p:grpSpPr>
        <p:pic>
          <p:nvPicPr>
            <p:cNvPr id="158" name="Picture 34">
              <a:extLst>
                <a:ext uri="{FF2B5EF4-FFF2-40B4-BE49-F238E27FC236}">
                  <a16:creationId xmlns:a16="http://schemas.microsoft.com/office/drawing/2014/main" id="{8020AB0E-B21D-4ABF-6D7E-E2D28AA5540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5683" y="1604122"/>
              <a:ext cx="390526" cy="338138"/>
            </a:xfrm>
            <a:prstGeom prst="rect">
              <a:avLst/>
            </a:prstGeom>
            <a:noFill/>
            <a:extLst>
              <a:ext uri="{909E8E84-426E-40DD-AFC4-6F175D3DCCD1}">
                <a14:hiddenFill xmlns:a14="http://schemas.microsoft.com/office/drawing/2010/main">
                  <a:solidFill>
                    <a:srgbClr val="FFFFFF"/>
                  </a:solidFill>
                </a14:hiddenFill>
              </a:ext>
            </a:extLst>
          </p:spPr>
        </p:pic>
        <p:sp>
          <p:nvSpPr>
            <p:cNvPr id="159" name="テキスト ボックス 158">
              <a:extLst>
                <a:ext uri="{FF2B5EF4-FFF2-40B4-BE49-F238E27FC236}">
                  <a16:creationId xmlns:a16="http://schemas.microsoft.com/office/drawing/2014/main" id="{C441AE93-80C3-B52D-9809-E6CD6E0C753E}"/>
                </a:ext>
              </a:extLst>
            </p:cNvPr>
            <p:cNvSpPr txBox="1"/>
            <p:nvPr/>
          </p:nvSpPr>
          <p:spPr>
            <a:xfrm>
              <a:off x="4533796" y="1846837"/>
              <a:ext cx="827471" cy="246221"/>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User, Role</a:t>
              </a:r>
              <a:endParaRPr kumimoji="1" lang="ja-JP" altLang="en-US" sz="1000">
                <a:latin typeface="Meiryo UI" panose="020B0604030504040204" pitchFamily="50" charset="-128"/>
                <a:ea typeface="Meiryo UI" panose="020B0604030504040204" pitchFamily="50" charset="-128"/>
              </a:endParaRPr>
            </a:p>
          </p:txBody>
        </p:sp>
      </p:grpSp>
      <p:cxnSp>
        <p:nvCxnSpPr>
          <p:cNvPr id="178" name="直線矢印コネクタ 177">
            <a:extLst>
              <a:ext uri="{FF2B5EF4-FFF2-40B4-BE49-F238E27FC236}">
                <a16:creationId xmlns:a16="http://schemas.microsoft.com/office/drawing/2014/main" id="{1D5E0032-D5CF-890A-0D84-4F5E4E378B48}"/>
              </a:ext>
            </a:extLst>
          </p:cNvPr>
          <p:cNvCxnSpPr>
            <a:cxnSpLocks/>
            <a:stCxn id="184" idx="3"/>
          </p:cNvCxnSpPr>
          <p:nvPr/>
        </p:nvCxnSpPr>
        <p:spPr>
          <a:xfrm flipV="1">
            <a:off x="6338940" y="3861917"/>
            <a:ext cx="1419597" cy="1339304"/>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187" name="グループ化 186">
            <a:extLst>
              <a:ext uri="{FF2B5EF4-FFF2-40B4-BE49-F238E27FC236}">
                <a16:creationId xmlns:a16="http://schemas.microsoft.com/office/drawing/2014/main" id="{113A6B1F-FFAC-B34D-FED7-E79C3F434CDD}"/>
              </a:ext>
            </a:extLst>
          </p:cNvPr>
          <p:cNvGrpSpPr/>
          <p:nvPr/>
        </p:nvGrpSpPr>
        <p:grpSpPr>
          <a:xfrm>
            <a:off x="5606619" y="4977746"/>
            <a:ext cx="982961" cy="879204"/>
            <a:chOff x="5023342" y="3872912"/>
            <a:chExt cx="982961" cy="879204"/>
          </a:xfrm>
        </p:grpSpPr>
        <p:pic>
          <p:nvPicPr>
            <p:cNvPr id="184" name="図 183" descr="文字が書かれている&#10;&#10;AI によって生成されたコンテンツは間違っている可能性があります。">
              <a:extLst>
                <a:ext uri="{FF2B5EF4-FFF2-40B4-BE49-F238E27FC236}">
                  <a16:creationId xmlns:a16="http://schemas.microsoft.com/office/drawing/2014/main" id="{25EB29DA-F939-7284-AE6E-272B9681BE06}"/>
                </a:ext>
              </a:extLst>
            </p:cNvPr>
            <p:cNvPicPr>
              <a:picLocks noChangeAspect="1"/>
            </p:cNvPicPr>
            <p:nvPr/>
          </p:nvPicPr>
          <p:blipFill>
            <a:blip r:embed="rId9"/>
            <a:srcRect l="21377" r="21955"/>
            <a:stretch/>
          </p:blipFill>
          <p:spPr>
            <a:xfrm>
              <a:off x="5273976" y="3872912"/>
              <a:ext cx="481687" cy="446950"/>
            </a:xfrm>
            <a:prstGeom prst="rect">
              <a:avLst/>
            </a:prstGeom>
          </p:spPr>
        </p:pic>
        <p:sp>
          <p:nvSpPr>
            <p:cNvPr id="185" name="テキスト ボックス 184">
              <a:extLst>
                <a:ext uri="{FF2B5EF4-FFF2-40B4-BE49-F238E27FC236}">
                  <a16:creationId xmlns:a16="http://schemas.microsoft.com/office/drawing/2014/main" id="{2C2A1F81-A94A-AE42-E8D7-073A52C7503D}"/>
                </a:ext>
              </a:extLst>
            </p:cNvPr>
            <p:cNvSpPr txBox="1"/>
            <p:nvPr/>
          </p:nvSpPr>
          <p:spPr>
            <a:xfrm>
              <a:off x="5023342" y="4352006"/>
              <a:ext cx="982961" cy="400110"/>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Azure</a:t>
              </a:r>
            </a:p>
            <a:p>
              <a:pPr algn="ctr"/>
              <a:r>
                <a:rPr kumimoji="1" lang="en-US" altLang="ja-JP" sz="1000">
                  <a:latin typeface="Meiryo UI" panose="020B0604030504040204" pitchFamily="50" charset="-128"/>
                  <a:ea typeface="Meiryo UI" panose="020B0604030504040204" pitchFamily="50" charset="-128"/>
                </a:rPr>
                <a:t>Data</a:t>
              </a:r>
              <a:r>
                <a:rPr kumimoji="1" lang="ja-JP" altLang="en-US" sz="1000">
                  <a:latin typeface="Meiryo UI" panose="020B0604030504040204" pitchFamily="50" charset="-128"/>
                  <a:ea typeface="Meiryo UI" panose="020B0604030504040204" pitchFamily="50" charset="-128"/>
                </a:rPr>
                <a:t> </a:t>
              </a:r>
              <a:r>
                <a:rPr kumimoji="1" lang="en-US" altLang="ja-JP" sz="1000">
                  <a:latin typeface="Meiryo UI" panose="020B0604030504040204" pitchFamily="50" charset="-128"/>
                  <a:ea typeface="Meiryo UI" panose="020B0604030504040204" pitchFamily="50" charset="-128"/>
                </a:rPr>
                <a:t>Factory</a:t>
              </a:r>
              <a:endParaRPr kumimoji="1" lang="ja-JP" altLang="en-US" sz="1000">
                <a:latin typeface="Meiryo UI" panose="020B0604030504040204" pitchFamily="50" charset="-128"/>
                <a:ea typeface="Meiryo UI" panose="020B0604030504040204" pitchFamily="50" charset="-128"/>
              </a:endParaRPr>
            </a:p>
          </p:txBody>
        </p:sp>
      </p:grpSp>
      <p:cxnSp>
        <p:nvCxnSpPr>
          <p:cNvPr id="189" name="直線矢印コネクタ 188">
            <a:extLst>
              <a:ext uri="{FF2B5EF4-FFF2-40B4-BE49-F238E27FC236}">
                <a16:creationId xmlns:a16="http://schemas.microsoft.com/office/drawing/2014/main" id="{7C4041B2-A2AE-0CE7-7C78-5697F67A40D3}"/>
              </a:ext>
            </a:extLst>
          </p:cNvPr>
          <p:cNvCxnSpPr>
            <a:cxnSpLocks/>
            <a:stCxn id="155" idx="3"/>
            <a:endCxn id="214" idx="1"/>
          </p:cNvCxnSpPr>
          <p:nvPr/>
        </p:nvCxnSpPr>
        <p:spPr>
          <a:xfrm>
            <a:off x="4534140" y="3421479"/>
            <a:ext cx="1258956" cy="15508"/>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195" name="グループ化 194">
            <a:extLst>
              <a:ext uri="{FF2B5EF4-FFF2-40B4-BE49-F238E27FC236}">
                <a16:creationId xmlns:a16="http://schemas.microsoft.com/office/drawing/2014/main" id="{00011DD7-27CC-13B7-9823-422AD640E140}"/>
              </a:ext>
            </a:extLst>
          </p:cNvPr>
          <p:cNvGrpSpPr/>
          <p:nvPr/>
        </p:nvGrpSpPr>
        <p:grpSpPr>
          <a:xfrm>
            <a:off x="3907245" y="1274025"/>
            <a:ext cx="593432" cy="787256"/>
            <a:chOff x="3710109" y="1477108"/>
            <a:chExt cx="593432" cy="787256"/>
          </a:xfrm>
        </p:grpSpPr>
        <p:pic>
          <p:nvPicPr>
            <p:cNvPr id="193" name="図 192" descr="アイコン&#10;&#10;AI によって生成されたコンテンツは間違っている可能性があります。">
              <a:extLst>
                <a:ext uri="{FF2B5EF4-FFF2-40B4-BE49-F238E27FC236}">
                  <a16:creationId xmlns:a16="http://schemas.microsoft.com/office/drawing/2014/main" id="{67765A07-7F39-87D4-A307-B10CEE8A8EA4}"/>
                </a:ext>
              </a:extLst>
            </p:cNvPr>
            <p:cNvPicPr>
              <a:picLocks noChangeAspect="1"/>
            </p:cNvPicPr>
            <p:nvPr/>
          </p:nvPicPr>
          <p:blipFill>
            <a:blip r:embed="rId10"/>
            <a:srcRect l="14301" t="10965" r="9691" b="12309"/>
            <a:stretch/>
          </p:blipFill>
          <p:spPr>
            <a:xfrm>
              <a:off x="3735685" y="1477108"/>
              <a:ext cx="542279" cy="547393"/>
            </a:xfrm>
            <a:prstGeom prst="rect">
              <a:avLst/>
            </a:prstGeom>
          </p:spPr>
        </p:pic>
        <p:sp>
          <p:nvSpPr>
            <p:cNvPr id="194" name="テキスト ボックス 193">
              <a:extLst>
                <a:ext uri="{FF2B5EF4-FFF2-40B4-BE49-F238E27FC236}">
                  <a16:creationId xmlns:a16="http://schemas.microsoft.com/office/drawing/2014/main" id="{0ABD413B-7860-ED5B-10FA-AFB38207D15A}"/>
                </a:ext>
              </a:extLst>
            </p:cNvPr>
            <p:cNvSpPr txBox="1"/>
            <p:nvPr/>
          </p:nvSpPr>
          <p:spPr>
            <a:xfrm>
              <a:off x="3710109" y="2018143"/>
              <a:ext cx="593432" cy="246221"/>
            </a:xfrm>
            <a:prstGeom prst="rect">
              <a:avLst/>
            </a:prstGeom>
            <a:noFill/>
          </p:spPr>
          <p:txBody>
            <a:bodyPr wrap="none" rtlCol="0">
              <a:spAutoFit/>
            </a:bodyPr>
            <a:lstStyle/>
            <a:p>
              <a:pPr algn="ctr"/>
              <a:r>
                <a:rPr kumimoji="1" lang="en-US" altLang="ja-JP" sz="1000" err="1">
                  <a:latin typeface="Meiryo UI" panose="020B0604030504040204" pitchFamily="50" charset="-128"/>
                  <a:ea typeface="Meiryo UI" panose="020B0604030504040204" pitchFamily="50" charset="-128"/>
                </a:rPr>
                <a:t>Github</a:t>
              </a:r>
              <a:endParaRPr kumimoji="1" lang="ja-JP" altLang="en-US" sz="1000">
                <a:latin typeface="Meiryo UI" panose="020B0604030504040204" pitchFamily="50" charset="-128"/>
                <a:ea typeface="Meiryo UI" panose="020B0604030504040204" pitchFamily="50" charset="-128"/>
              </a:endParaRPr>
            </a:p>
          </p:txBody>
        </p:sp>
      </p:grpSp>
      <p:cxnSp>
        <p:nvCxnSpPr>
          <p:cNvPr id="198" name="直線矢印コネクタ 197">
            <a:extLst>
              <a:ext uri="{FF2B5EF4-FFF2-40B4-BE49-F238E27FC236}">
                <a16:creationId xmlns:a16="http://schemas.microsoft.com/office/drawing/2014/main" id="{106AD912-11CC-309B-8753-D18044468339}"/>
              </a:ext>
            </a:extLst>
          </p:cNvPr>
          <p:cNvCxnSpPr>
            <a:cxnSpLocks/>
            <a:stCxn id="194" idx="2"/>
            <a:endCxn id="131" idx="0"/>
          </p:cNvCxnSpPr>
          <p:nvPr/>
        </p:nvCxnSpPr>
        <p:spPr>
          <a:xfrm flipH="1">
            <a:off x="1896726" y="2061281"/>
            <a:ext cx="2307235" cy="1304206"/>
          </a:xfrm>
          <a:prstGeom prst="straightConnector1">
            <a:avLst/>
          </a:prstGeom>
          <a:ln w="19050">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2" name="直線矢印コネクタ 201">
            <a:extLst>
              <a:ext uri="{FF2B5EF4-FFF2-40B4-BE49-F238E27FC236}">
                <a16:creationId xmlns:a16="http://schemas.microsoft.com/office/drawing/2014/main" id="{62A2932D-DE50-4B9A-B22F-977E47619BA6}"/>
              </a:ext>
            </a:extLst>
          </p:cNvPr>
          <p:cNvCxnSpPr>
            <a:cxnSpLocks/>
            <a:stCxn id="194" idx="2"/>
            <a:endCxn id="154" idx="0"/>
          </p:cNvCxnSpPr>
          <p:nvPr/>
        </p:nvCxnSpPr>
        <p:spPr>
          <a:xfrm>
            <a:off x="4203961" y="2061281"/>
            <a:ext cx="14713" cy="885141"/>
          </a:xfrm>
          <a:prstGeom prst="straightConnector1">
            <a:avLst/>
          </a:prstGeom>
          <a:ln w="19050">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6" name="テキスト ボックス 205">
            <a:extLst>
              <a:ext uri="{FF2B5EF4-FFF2-40B4-BE49-F238E27FC236}">
                <a16:creationId xmlns:a16="http://schemas.microsoft.com/office/drawing/2014/main" id="{8015C708-0FB0-68BD-E661-86565646939C}"/>
              </a:ext>
            </a:extLst>
          </p:cNvPr>
          <p:cNvSpPr txBox="1"/>
          <p:nvPr/>
        </p:nvSpPr>
        <p:spPr>
          <a:xfrm>
            <a:off x="4192392" y="2484228"/>
            <a:ext cx="611065" cy="261610"/>
          </a:xfrm>
          <a:prstGeom prst="rect">
            <a:avLst/>
          </a:prstGeom>
          <a:noFill/>
        </p:spPr>
        <p:txBody>
          <a:bodyPr wrap="none" rtlCol="0">
            <a:spAutoFit/>
          </a:bodyPr>
          <a:lstStyle/>
          <a:p>
            <a:pPr algn="l"/>
            <a:r>
              <a:rPr lang="ja-JP" altLang="en-US"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rPr>
              <a:t>デプロイ</a:t>
            </a:r>
            <a:endParaRPr lang="en-US" altLang="ja-JP"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endParaRPr>
          </a:p>
        </p:txBody>
      </p:sp>
      <p:sp>
        <p:nvSpPr>
          <p:cNvPr id="207" name="テキスト ボックス 206">
            <a:extLst>
              <a:ext uri="{FF2B5EF4-FFF2-40B4-BE49-F238E27FC236}">
                <a16:creationId xmlns:a16="http://schemas.microsoft.com/office/drawing/2014/main" id="{91E6E971-337E-6905-AC80-DCB35FECDC8B}"/>
              </a:ext>
            </a:extLst>
          </p:cNvPr>
          <p:cNvSpPr txBox="1"/>
          <p:nvPr/>
        </p:nvSpPr>
        <p:spPr>
          <a:xfrm>
            <a:off x="3164090" y="2136680"/>
            <a:ext cx="611065" cy="261610"/>
          </a:xfrm>
          <a:prstGeom prst="rect">
            <a:avLst/>
          </a:prstGeom>
          <a:noFill/>
        </p:spPr>
        <p:txBody>
          <a:bodyPr wrap="none" rtlCol="0">
            <a:spAutoFit/>
          </a:bodyPr>
          <a:lstStyle/>
          <a:p>
            <a:pPr algn="l"/>
            <a:r>
              <a:rPr lang="ja-JP" altLang="en-US"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rPr>
              <a:t>デプロイ</a:t>
            </a:r>
            <a:endParaRPr lang="en-US" altLang="ja-JP" sz="1100" spc="0" baseline="0">
              <a:ln/>
              <a:solidFill>
                <a:srgbClr val="111111"/>
              </a:solidFill>
              <a:latin typeface="Meiryo UI" panose="020B0604030504040204" pitchFamily="50" charset="-128"/>
              <a:ea typeface="Meiryo UI" panose="020B0604030504040204" pitchFamily="50" charset="-128"/>
              <a:cs typeface="Arial"/>
              <a:sym typeface="ＭＳ ゴシック"/>
              <a:rtl val="0"/>
            </a:endParaRPr>
          </a:p>
        </p:txBody>
      </p:sp>
      <p:grpSp>
        <p:nvGrpSpPr>
          <p:cNvPr id="216" name="グループ化 215">
            <a:extLst>
              <a:ext uri="{FF2B5EF4-FFF2-40B4-BE49-F238E27FC236}">
                <a16:creationId xmlns:a16="http://schemas.microsoft.com/office/drawing/2014/main" id="{8803BE16-ED92-AD39-FFBF-B2183567564D}"/>
              </a:ext>
            </a:extLst>
          </p:cNvPr>
          <p:cNvGrpSpPr/>
          <p:nvPr/>
        </p:nvGrpSpPr>
        <p:grpSpPr>
          <a:xfrm>
            <a:off x="5643103" y="3213511"/>
            <a:ext cx="987771" cy="825041"/>
            <a:chOff x="5268909" y="3271426"/>
            <a:chExt cx="987771" cy="825041"/>
          </a:xfrm>
        </p:grpSpPr>
        <p:pic>
          <p:nvPicPr>
            <p:cNvPr id="214" name="図 213" descr="アイコン&#10;&#10;AI によって生成されたコンテンツは間違っている可能性があります。">
              <a:extLst>
                <a:ext uri="{FF2B5EF4-FFF2-40B4-BE49-F238E27FC236}">
                  <a16:creationId xmlns:a16="http://schemas.microsoft.com/office/drawing/2014/main" id="{DDBB34B3-48D8-E2B5-53D3-FFEAE1FD1C5E}"/>
                </a:ext>
              </a:extLst>
            </p:cNvPr>
            <p:cNvPicPr>
              <a:picLocks noChangeAspect="1"/>
            </p:cNvPicPr>
            <p:nvPr/>
          </p:nvPicPr>
          <p:blipFill>
            <a:blip r:embed="rId11"/>
            <a:srcRect l="19095" t="9215" r="17227" b="16891"/>
            <a:stretch/>
          </p:blipFill>
          <p:spPr>
            <a:xfrm>
              <a:off x="5418902" y="3271426"/>
              <a:ext cx="687784" cy="446951"/>
            </a:xfrm>
            <a:prstGeom prst="rect">
              <a:avLst/>
            </a:prstGeom>
          </p:spPr>
        </p:pic>
        <p:sp>
          <p:nvSpPr>
            <p:cNvPr id="215" name="テキスト ボックス 214">
              <a:extLst>
                <a:ext uri="{FF2B5EF4-FFF2-40B4-BE49-F238E27FC236}">
                  <a16:creationId xmlns:a16="http://schemas.microsoft.com/office/drawing/2014/main" id="{200870FB-CABF-99CA-E0F2-A5C33AB5E3E9}"/>
                </a:ext>
              </a:extLst>
            </p:cNvPr>
            <p:cNvSpPr txBox="1"/>
            <p:nvPr/>
          </p:nvSpPr>
          <p:spPr>
            <a:xfrm>
              <a:off x="5268909" y="3696357"/>
              <a:ext cx="987771" cy="400110"/>
            </a:xfrm>
            <a:prstGeom prst="rect">
              <a:avLst/>
            </a:prstGeom>
            <a:noFill/>
          </p:spPr>
          <p:txBody>
            <a:bodyPr wrap="none" rtlCol="0">
              <a:spAutoFit/>
            </a:bodyPr>
            <a:lstStyle/>
            <a:p>
              <a:pPr algn="ctr"/>
              <a:r>
                <a:rPr kumimoji="1" lang="en-US" altLang="ja-JP" sz="1000">
                  <a:latin typeface="Meiryo UI" panose="020B0604030504040204" pitchFamily="50" charset="-128"/>
                  <a:ea typeface="Meiryo UI" panose="020B0604030504040204" pitchFamily="50" charset="-128"/>
                </a:rPr>
                <a:t>Azure</a:t>
              </a:r>
            </a:p>
            <a:p>
              <a:pPr algn="ctr"/>
              <a:r>
                <a:rPr kumimoji="1" lang="en-US" altLang="ja-JP" sz="1000">
                  <a:latin typeface="Meiryo UI" panose="020B0604030504040204" pitchFamily="50" charset="-128"/>
                  <a:ea typeface="Meiryo UI" panose="020B0604030504040204" pitchFamily="50" charset="-128"/>
                </a:rPr>
                <a:t>Blob</a:t>
              </a:r>
              <a:r>
                <a:rPr kumimoji="1" lang="ja-JP" altLang="en-US" sz="1000">
                  <a:latin typeface="Meiryo UI" panose="020B0604030504040204" pitchFamily="50" charset="-128"/>
                  <a:ea typeface="Meiryo UI" panose="020B0604030504040204" pitchFamily="50" charset="-128"/>
                </a:rPr>
                <a:t> </a:t>
              </a:r>
              <a:r>
                <a:rPr kumimoji="1" lang="en-US" altLang="ja-JP" sz="1000">
                  <a:latin typeface="Meiryo UI" panose="020B0604030504040204" pitchFamily="50" charset="-128"/>
                  <a:ea typeface="Meiryo UI" panose="020B0604030504040204" pitchFamily="50" charset="-128"/>
                </a:rPr>
                <a:t>Storage</a:t>
              </a:r>
              <a:endParaRPr kumimoji="1" lang="ja-JP" altLang="en-US" sz="1000">
                <a:latin typeface="Meiryo UI" panose="020B0604030504040204" pitchFamily="50" charset="-128"/>
                <a:ea typeface="Meiryo UI" panose="020B0604030504040204" pitchFamily="50" charset="-128"/>
              </a:endParaRPr>
            </a:p>
          </p:txBody>
        </p:sp>
      </p:grpSp>
      <p:cxnSp>
        <p:nvCxnSpPr>
          <p:cNvPr id="218" name="直線矢印コネクタ 217">
            <a:extLst>
              <a:ext uri="{FF2B5EF4-FFF2-40B4-BE49-F238E27FC236}">
                <a16:creationId xmlns:a16="http://schemas.microsoft.com/office/drawing/2014/main" id="{7C4A0F4D-0840-80A7-0896-1C24C52B3A96}"/>
              </a:ext>
            </a:extLst>
          </p:cNvPr>
          <p:cNvCxnSpPr>
            <a:cxnSpLocks/>
            <a:stCxn id="184" idx="0"/>
            <a:endCxn id="215" idx="2"/>
          </p:cNvCxnSpPr>
          <p:nvPr/>
        </p:nvCxnSpPr>
        <p:spPr>
          <a:xfrm flipV="1">
            <a:off x="6098097" y="4038552"/>
            <a:ext cx="38892" cy="939194"/>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0476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a:latin typeface="游明朝"/>
                <a:ea typeface="游明朝"/>
              </a:rPr>
              <a:t>2-2</a:t>
            </a:r>
            <a:r>
              <a:rPr lang="ja-JP" altLang="en-US">
                <a:latin typeface="游明朝"/>
                <a:ea typeface="游明朝"/>
              </a:rPr>
              <a:t>．想定</a:t>
            </a:r>
            <a:r>
              <a:rPr kumimoji="1" lang="ja-JP" altLang="en-US">
                <a:latin typeface="游明朝"/>
                <a:ea typeface="游明朝"/>
              </a:rPr>
              <a:t>機能一覧</a:t>
            </a:r>
            <a:r>
              <a:rPr kumimoji="1" lang="en-US" altLang="ja-JP">
                <a:latin typeface="游明朝"/>
                <a:ea typeface="游明朝"/>
              </a:rPr>
              <a:t>(</a:t>
            </a:r>
            <a:r>
              <a:rPr kumimoji="1" lang="ja-JP" altLang="en-US">
                <a:latin typeface="游明朝"/>
                <a:ea typeface="游明朝"/>
              </a:rPr>
              <a:t>案</a:t>
            </a:r>
            <a:r>
              <a:rPr kumimoji="1" lang="en-US" altLang="ja-JP">
                <a:latin typeface="游明朝"/>
                <a:ea typeface="游明朝"/>
              </a:rPr>
              <a:t>)</a:t>
            </a:r>
            <a:endParaRPr kumimoji="1" lang="ja-JP" altLang="en-US"/>
          </a:p>
        </p:txBody>
      </p:sp>
      <p:graphicFrame>
        <p:nvGraphicFramePr>
          <p:cNvPr id="6" name="表 5">
            <a:extLst>
              <a:ext uri="{FF2B5EF4-FFF2-40B4-BE49-F238E27FC236}">
                <a16:creationId xmlns:a16="http://schemas.microsoft.com/office/drawing/2014/main" id="{AD3B78A0-1783-449D-845D-A46B0767A3FB}"/>
              </a:ext>
            </a:extLst>
          </p:cNvPr>
          <p:cNvGraphicFramePr>
            <a:graphicFrameLocks noGrp="1"/>
          </p:cNvGraphicFramePr>
          <p:nvPr>
            <p:extLst>
              <p:ext uri="{D42A27DB-BD31-4B8C-83A1-F6EECF244321}">
                <p14:modId xmlns:p14="http://schemas.microsoft.com/office/powerpoint/2010/main" val="775057189"/>
              </p:ext>
            </p:extLst>
          </p:nvPr>
        </p:nvGraphicFramePr>
        <p:xfrm>
          <a:off x="575400" y="936000"/>
          <a:ext cx="11041200" cy="5328240"/>
        </p:xfrm>
        <a:graphic>
          <a:graphicData uri="http://schemas.openxmlformats.org/drawingml/2006/table">
            <a:tbl>
              <a:tblPr firstRow="1" bandRow="1">
                <a:tableStyleId>{5940675A-B579-460E-94D1-54222C63F5DA}</a:tableStyleId>
              </a:tblPr>
              <a:tblGrid>
                <a:gridCol w="2250927">
                  <a:extLst>
                    <a:ext uri="{9D8B030D-6E8A-4147-A177-3AD203B41FA5}">
                      <a16:colId xmlns:a16="http://schemas.microsoft.com/office/drawing/2014/main" val="2191046775"/>
                    </a:ext>
                  </a:extLst>
                </a:gridCol>
                <a:gridCol w="873939">
                  <a:extLst>
                    <a:ext uri="{9D8B030D-6E8A-4147-A177-3AD203B41FA5}">
                      <a16:colId xmlns:a16="http://schemas.microsoft.com/office/drawing/2014/main" val="2791548711"/>
                    </a:ext>
                  </a:extLst>
                </a:gridCol>
                <a:gridCol w="7916334">
                  <a:extLst>
                    <a:ext uri="{9D8B030D-6E8A-4147-A177-3AD203B41FA5}">
                      <a16:colId xmlns:a16="http://schemas.microsoft.com/office/drawing/2014/main" val="1616917508"/>
                    </a:ext>
                  </a:extLst>
                </a:gridCol>
              </a:tblGrid>
              <a:tr h="360000">
                <a:tc>
                  <a:txBody>
                    <a:bodyPr/>
                    <a:lstStyle/>
                    <a:p>
                      <a:pPr algn="ctr"/>
                      <a:r>
                        <a:rPr kumimoji="1" lang="ja-JP" altLang="en-US" sz="1600" b="1">
                          <a:solidFill>
                            <a:schemeClr val="bg1"/>
                          </a:solidFill>
                          <a:latin typeface="+mn-ea"/>
                          <a:ea typeface="+mn-ea"/>
                        </a:rPr>
                        <a:t>機能名</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600" b="1">
                          <a:solidFill>
                            <a:schemeClr val="bg1"/>
                          </a:solidFill>
                          <a:latin typeface="+mn-ea"/>
                          <a:ea typeface="+mn-ea"/>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600" b="1">
                          <a:solidFill>
                            <a:schemeClr val="bg1"/>
                          </a:solidFill>
                          <a:latin typeface="+mn-ea"/>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a:txBody>
                    <a:bodyPr/>
                    <a:lstStyle/>
                    <a:p>
                      <a:pPr algn="l"/>
                      <a:r>
                        <a:rPr kumimoji="1" lang="ja-JP" altLang="en-US" sz="1400">
                          <a:latin typeface="+mn-ea"/>
                          <a:ea typeface="+mn-ea"/>
                        </a:rPr>
                        <a:t>共通</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a:latin typeface="+mn-ea"/>
                          <a:ea typeface="+mn-ea"/>
                        </a:rPr>
                        <a:t>共通</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システムアーキテクチャを構築</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a:txBody>
                    <a:bodyPr/>
                    <a:lstStyle/>
                    <a:p>
                      <a:pPr algn="l"/>
                      <a:r>
                        <a:rPr kumimoji="1" lang="ja-JP" altLang="en-US" sz="1400">
                          <a:latin typeface="+mn-ea"/>
                          <a:ea typeface="+mn-ea"/>
                        </a:rPr>
                        <a:t>ログイン</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baseline="0">
                          <a:solidFill>
                            <a:schemeClr val="tx1"/>
                          </a:solidFill>
                          <a:latin typeface="+mn-ea"/>
                          <a:ea typeface="+mn-ea"/>
                          <a:cs typeface="+mn-cs"/>
                        </a:rPr>
                        <a:t>Azure </a:t>
                      </a:r>
                      <a:r>
                        <a:rPr kumimoji="1" lang="en-US" altLang="ja-JP" sz="1400" b="0" i="0" u="none" strike="noStrike" kern="1200" baseline="0" err="1">
                          <a:solidFill>
                            <a:schemeClr val="tx1"/>
                          </a:solidFill>
                          <a:latin typeface="+mn-ea"/>
                          <a:ea typeface="+mn-ea"/>
                          <a:cs typeface="+mn-cs"/>
                        </a:rPr>
                        <a:t>EntraID</a:t>
                      </a:r>
                      <a:r>
                        <a:rPr kumimoji="1" lang="ja-JP" altLang="en-US" sz="1400" b="0" i="0" u="none" strike="noStrike" kern="1200" baseline="0">
                          <a:solidFill>
                            <a:schemeClr val="tx1"/>
                          </a:solidFill>
                          <a:latin typeface="+mn-ea"/>
                          <a:ea typeface="+mn-ea"/>
                          <a:cs typeface="+mn-cs"/>
                        </a:rPr>
                        <a:t>による認証</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baseline="0">
                          <a:solidFill>
                            <a:schemeClr val="tx1"/>
                          </a:solidFill>
                          <a:latin typeface="+mn-ea"/>
                          <a:ea typeface="+mn-ea"/>
                          <a:cs typeface="+mn-cs"/>
                        </a:rPr>
                        <a:t>IDM</a:t>
                      </a:r>
                      <a:r>
                        <a:rPr kumimoji="1" lang="ja-JP" altLang="en-US" sz="1400" b="0" i="0" u="none" strike="noStrike" kern="1200" baseline="0">
                          <a:solidFill>
                            <a:schemeClr val="tx1"/>
                          </a:solidFill>
                          <a:latin typeface="+mn-ea"/>
                          <a:ea typeface="+mn-ea"/>
                          <a:cs typeface="+mn-cs"/>
                        </a:rPr>
                        <a:t>による利用者制御</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152945">
                <a:tc>
                  <a:txBody>
                    <a:bodyPr/>
                    <a:lstStyle/>
                    <a:p>
                      <a:pPr algn="l"/>
                      <a:r>
                        <a:rPr kumimoji="1" lang="zh-TW" altLang="en-US" sz="1400">
                          <a:latin typeface="+mn-ea"/>
                          <a:ea typeface="+mn-ea"/>
                        </a:rPr>
                        <a:t>燃料種管理機能</a:t>
                      </a:r>
                      <a:endParaRPr kumimoji="1" lang="ja-JP" altLang="en-US" sz="140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燃料種の登録画面</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燃料種ごとの活動量出力機能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a:txBody>
                    <a:bodyPr/>
                    <a:lstStyle/>
                    <a:p>
                      <a:pPr algn="l"/>
                      <a:r>
                        <a:rPr kumimoji="1" lang="ja-JP" altLang="en-US" sz="1400">
                          <a:latin typeface="+mn-ea"/>
                          <a:ea typeface="+mn-ea"/>
                        </a:rPr>
                        <a:t>タグデータ紐づけ機能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40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燃料種に対してタグを紐づける機能</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紐づけたタグの活動量から単位発熱量などを計算する機能</a:t>
                      </a:r>
                      <a:r>
                        <a:rPr kumimoji="1" lang="en-US" altLang="ja-JP" sz="1400" b="0" i="0" u="none" strike="noStrike" kern="1200" baseline="0">
                          <a:solidFill>
                            <a:schemeClr val="tx1"/>
                          </a:solidFill>
                          <a:latin typeface="+mn-ea"/>
                          <a:ea typeface="+mn-ea"/>
                          <a:cs typeface="+mn-cs"/>
                        </a:rPr>
                        <a:t>(</a:t>
                      </a:r>
                      <a:r>
                        <a:rPr kumimoji="1" lang="ja-JP" altLang="en-US" sz="1400" b="0" i="0" u="none" strike="noStrike" kern="1200" baseline="0">
                          <a:solidFill>
                            <a:schemeClr val="tx1"/>
                          </a:solidFill>
                          <a:latin typeface="+mn-ea"/>
                          <a:ea typeface="+mn-ea"/>
                          <a:cs typeface="+mn-cs"/>
                        </a:rPr>
                        <a:t>四則演算を想定</a:t>
                      </a:r>
                      <a:r>
                        <a:rPr kumimoji="1" lang="en-US" altLang="ja-JP" sz="1400" b="0" i="0" u="none" strike="noStrike" kern="1200" baseline="0">
                          <a:solidFill>
                            <a:schemeClr val="tx1"/>
                          </a:solidFill>
                          <a:latin typeface="+mn-ea"/>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編集した情報は履歴管理を行い、リカバリも可能とする</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70730538"/>
                  </a:ext>
                </a:extLst>
              </a:tr>
              <a:tr h="152945">
                <a:tc>
                  <a:txBody>
                    <a:bodyPr/>
                    <a:lstStyle/>
                    <a:p>
                      <a:pPr algn="l"/>
                      <a:r>
                        <a:rPr kumimoji="1" lang="ja-JP" altLang="en-US" sz="1400">
                          <a:latin typeface="+mn-ea"/>
                          <a:ea typeface="+mn-ea"/>
                        </a:rPr>
                        <a:t>タグデータ入力機能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baseline="0" err="1">
                          <a:solidFill>
                            <a:schemeClr val="tx1"/>
                          </a:solidFill>
                          <a:latin typeface="+mn-ea"/>
                          <a:ea typeface="+mn-ea"/>
                          <a:cs typeface="+mn-cs"/>
                        </a:rPr>
                        <a:t>Cognite</a:t>
                      </a:r>
                      <a:r>
                        <a:rPr kumimoji="1" lang="ja-JP" altLang="en-US" sz="1400" b="0" i="0" u="none" strike="noStrike" kern="1200" baseline="0">
                          <a:solidFill>
                            <a:schemeClr val="tx1"/>
                          </a:solidFill>
                          <a:latin typeface="+mn-ea"/>
                          <a:ea typeface="+mn-ea"/>
                          <a:cs typeface="+mn-cs"/>
                        </a:rPr>
                        <a:t>から取得できない拠点のタグの活動量を入力する機能</a:t>
                      </a:r>
                      <a:r>
                        <a:rPr kumimoji="1" lang="en-US" altLang="ja-JP" sz="1400" b="0" i="0" u="none" strike="noStrike" kern="1200" baseline="0">
                          <a:solidFill>
                            <a:schemeClr val="tx1"/>
                          </a:solidFill>
                          <a:latin typeface="+mn-ea"/>
                          <a:ea typeface="+mn-ea"/>
                          <a:cs typeface="+mn-cs"/>
                        </a:rPr>
                        <a:t>(Excel(CSV)</a:t>
                      </a:r>
                      <a:r>
                        <a:rPr kumimoji="1" lang="ja-JP" altLang="en-US" sz="1400" b="0" i="0" u="none" strike="noStrike" kern="1200" baseline="0">
                          <a:solidFill>
                            <a:schemeClr val="tx1"/>
                          </a:solidFill>
                          <a:latin typeface="+mn-ea"/>
                          <a:ea typeface="+mn-ea"/>
                          <a:cs typeface="+mn-cs"/>
                        </a:rPr>
                        <a:t>アップロード </a:t>
                      </a:r>
                      <a:r>
                        <a:rPr kumimoji="1" lang="en-US" altLang="ja-JP" sz="1400" b="0" i="0" u="none" strike="noStrike" kern="1200" baseline="0">
                          <a:solidFill>
                            <a:schemeClr val="tx1"/>
                          </a:solidFill>
                          <a:latin typeface="+mn-ea"/>
                          <a:ea typeface="+mn-ea"/>
                          <a:cs typeface="+mn-cs"/>
                        </a:rPr>
                        <a:t>or </a:t>
                      </a:r>
                      <a:r>
                        <a:rPr kumimoji="1" lang="ja-JP" altLang="en-US" sz="1400" b="0" i="0" u="none" strike="noStrike" kern="1200" baseline="0">
                          <a:solidFill>
                            <a:schemeClr val="tx1"/>
                          </a:solidFill>
                          <a:latin typeface="+mn-ea"/>
                          <a:ea typeface="+mn-ea"/>
                          <a:cs typeface="+mn-cs"/>
                        </a:rPr>
                        <a:t>画面入力</a:t>
                      </a:r>
                      <a:r>
                        <a:rPr kumimoji="1" lang="en-US" altLang="ja-JP" sz="1400" b="0" i="0" u="none" strike="noStrike" kern="1200" baseline="0">
                          <a:solidFill>
                            <a:schemeClr val="tx1"/>
                          </a:solidFill>
                          <a:latin typeface="+mn-ea"/>
                          <a:ea typeface="+mn-ea"/>
                          <a:cs typeface="+mn-cs"/>
                        </a:rPr>
                        <a:t>)</a:t>
                      </a:r>
                      <a:endParaRPr kumimoji="1" lang="ja-JP" altLang="en-US" sz="1400" b="0" i="0" u="none" strike="noStrike" kern="1200" baseline="0">
                        <a:solidFill>
                          <a:schemeClr val="tx1"/>
                        </a:solidFill>
                        <a:latin typeface="+mn-ea"/>
                        <a:ea typeface="+mn-ea"/>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0008370"/>
                  </a:ext>
                </a:extLst>
              </a:tr>
              <a:tr h="152945">
                <a:tc>
                  <a:txBody>
                    <a:bodyPr/>
                    <a:lstStyle/>
                    <a:p>
                      <a:pPr algn="l"/>
                      <a:r>
                        <a:rPr kumimoji="1" lang="ja-JP" altLang="en-US" sz="1400">
                          <a:latin typeface="+mn-ea"/>
                          <a:ea typeface="+mn-ea"/>
                        </a:rPr>
                        <a:t>ワークフロー機能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燃料種管理機能及び、</a:t>
                      </a:r>
                      <a:r>
                        <a:rPr kumimoji="1" lang="ja-JP" altLang="en-US" sz="1400">
                          <a:latin typeface="+mn-ea"/>
                          <a:ea typeface="+mn-ea"/>
                        </a:rPr>
                        <a:t>タグデータ紐づけ機能に対してワークフロー機能を作成し、上長承認がないと変更を確定できないようにする機能</a:t>
                      </a:r>
                      <a:endParaRPr kumimoji="1" lang="en-US" altLang="ja-JP" sz="140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987722"/>
                  </a:ext>
                </a:extLst>
              </a:tr>
              <a:tr h="152945">
                <a:tc>
                  <a:txBody>
                    <a:bodyPr/>
                    <a:lstStyle/>
                    <a:p>
                      <a:pPr algn="l"/>
                      <a:r>
                        <a:rPr kumimoji="1" lang="ja-JP" altLang="en-US" sz="1400">
                          <a:latin typeface="+mn-ea"/>
                          <a:ea typeface="+mn-ea"/>
                        </a:rPr>
                        <a:t>新</a:t>
                      </a:r>
                      <a:r>
                        <a:rPr kumimoji="1" lang="en-US" altLang="ja-JP" sz="1400">
                          <a:latin typeface="+mn-ea"/>
                          <a:ea typeface="+mn-ea"/>
                        </a:rPr>
                        <a:t>ESG</a:t>
                      </a:r>
                      <a:r>
                        <a:rPr kumimoji="1" lang="ja-JP" altLang="en-US" sz="1400">
                          <a:latin typeface="+mn-ea"/>
                          <a:ea typeface="+mn-ea"/>
                        </a:rPr>
                        <a:t>システム連携機能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バッチ</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集計したタグデータを新</a:t>
                      </a:r>
                      <a:r>
                        <a:rPr kumimoji="1" lang="en-US" altLang="ja-JP" sz="1400" b="0" i="0" u="none" strike="noStrike" kern="1200" baseline="0">
                          <a:solidFill>
                            <a:schemeClr val="tx1"/>
                          </a:solidFill>
                          <a:latin typeface="+mn-ea"/>
                          <a:ea typeface="+mn-ea"/>
                          <a:cs typeface="+mn-cs"/>
                        </a:rPr>
                        <a:t>ESG</a:t>
                      </a:r>
                      <a:r>
                        <a:rPr kumimoji="1" lang="ja-JP" altLang="en-US" sz="1400" b="0" i="0" u="none" strike="noStrike" kern="1200" baseline="0">
                          <a:solidFill>
                            <a:schemeClr val="tx1"/>
                          </a:solidFill>
                          <a:latin typeface="+mn-ea"/>
                          <a:ea typeface="+mn-ea"/>
                          <a:cs typeface="+mn-cs"/>
                        </a:rPr>
                        <a:t>システムへ連携する機能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31134079"/>
                  </a:ext>
                </a:extLst>
              </a:tr>
              <a:tr h="152945">
                <a:tc>
                  <a:txBody>
                    <a:bodyPr/>
                    <a:lstStyle/>
                    <a:p>
                      <a:pPr algn="l"/>
                      <a:r>
                        <a:rPr kumimoji="1" lang="en-US" altLang="ja-JP" sz="1400" err="1">
                          <a:latin typeface="+mn-ea"/>
                          <a:ea typeface="+mn-ea"/>
                        </a:rPr>
                        <a:t>Cognite</a:t>
                      </a:r>
                      <a:r>
                        <a:rPr kumimoji="1" lang="ja-JP" altLang="en-US" sz="1400">
                          <a:latin typeface="+mn-ea"/>
                          <a:ea typeface="+mn-ea"/>
                        </a:rPr>
                        <a:t>データ取得機能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バッチ</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baseline="0">
                          <a:solidFill>
                            <a:schemeClr val="tx1"/>
                          </a:solidFill>
                          <a:latin typeface="+mn-ea"/>
                          <a:ea typeface="+mn-ea"/>
                          <a:cs typeface="+mn-cs"/>
                        </a:rPr>
                        <a:t>Cognite</a:t>
                      </a:r>
                      <a:r>
                        <a:rPr kumimoji="1" lang="ja-JP" altLang="en-US" sz="1400" b="0" i="0" u="none" strike="noStrike" kern="1200" baseline="0">
                          <a:solidFill>
                            <a:schemeClr val="tx1"/>
                          </a:solidFill>
                          <a:latin typeface="+mn-ea"/>
                          <a:ea typeface="+mn-ea"/>
                          <a:cs typeface="+mn-cs"/>
                        </a:rPr>
                        <a:t>からタグデータを取得する機能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44375728"/>
                  </a:ext>
                </a:extLst>
              </a:tr>
              <a:tr h="152945">
                <a:tc>
                  <a:txBody>
                    <a:bodyPr/>
                    <a:lstStyle/>
                    <a:p>
                      <a:pPr algn="l"/>
                      <a:r>
                        <a:rPr kumimoji="1" lang="ja-JP" altLang="en-US" sz="1400">
                          <a:latin typeface="+mn-ea"/>
                          <a:ea typeface="+mn-ea"/>
                        </a:rPr>
                        <a:t>環境構築</a:t>
                      </a:r>
                      <a:r>
                        <a:rPr kumimoji="1" lang="en-US" altLang="ja-JP" sz="1400">
                          <a:latin typeface="+mn-ea"/>
                          <a:ea typeface="+mn-ea"/>
                        </a:rPr>
                        <a:t>(</a:t>
                      </a:r>
                      <a:r>
                        <a:rPr kumimoji="1" lang="ja-JP" altLang="en-US" sz="1400">
                          <a:latin typeface="+mn-ea"/>
                          <a:ea typeface="+mn-ea"/>
                        </a:rPr>
                        <a:t>検証・本番</a:t>
                      </a:r>
                      <a:r>
                        <a:rPr kumimoji="1" lang="en-US" altLang="ja-JP" sz="1400">
                          <a:latin typeface="+mn-ea"/>
                          <a:ea typeface="+mn-ea"/>
                        </a:rPr>
                        <a:t>)</a:t>
                      </a:r>
                      <a:endParaRPr kumimoji="1" lang="ja-JP" altLang="en-US" sz="140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インフラ</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クラウドアーキ構成の設計・構築依頼</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ソフトウェアインストール</a:t>
                      </a:r>
                      <a:endParaRPr kumimoji="1" lang="en-US" altLang="ja-JP" sz="1400" b="0" i="0" u="none" strike="noStrike" kern="1200" baseline="0">
                        <a:solidFill>
                          <a:schemeClr val="tx1"/>
                        </a:solidFill>
                        <a:latin typeface="+mn-ea"/>
                        <a:ea typeface="+mn-ea"/>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90693248"/>
                  </a:ext>
                </a:extLst>
              </a:tr>
              <a:tr h="152945">
                <a:tc>
                  <a:txBody>
                    <a:bodyPr/>
                    <a:lstStyle/>
                    <a:p>
                      <a:pPr algn="l"/>
                      <a:r>
                        <a:rPr kumimoji="1" lang="ja-JP" altLang="en-US" sz="1400">
                          <a:latin typeface="+mn-ea"/>
                          <a:ea typeface="+mn-ea"/>
                        </a:rPr>
                        <a:t>その他</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リリース</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マニュアル作成</a:t>
                      </a:r>
                      <a:r>
                        <a:rPr kumimoji="1" lang="en-US" altLang="ja-JP" sz="1400" b="0" i="0" u="none" strike="noStrike" kern="1200" baseline="0">
                          <a:solidFill>
                            <a:schemeClr val="tx1"/>
                          </a:solidFill>
                          <a:latin typeface="+mn-ea"/>
                          <a:ea typeface="+mn-ea"/>
                          <a:cs typeface="+mn-cs"/>
                        </a:rPr>
                        <a:t>/</a:t>
                      </a:r>
                      <a:r>
                        <a:rPr kumimoji="1" lang="ja-JP" altLang="en-US" sz="1400" b="0" i="0" u="none" strike="noStrike" kern="1200" baseline="0">
                          <a:solidFill>
                            <a:schemeClr val="tx1"/>
                          </a:solidFill>
                          <a:latin typeface="+mn-ea"/>
                          <a:ea typeface="+mn-ea"/>
                          <a:cs typeface="+mn-cs"/>
                        </a:rPr>
                        <a:t>ユーザー教育サポート</a:t>
                      </a:r>
                      <a:endParaRPr kumimoji="1" lang="en-US" altLang="ja-JP" sz="1400" b="0" i="0" u="none" strike="noStrike" kern="1200" baseline="0">
                        <a:solidFill>
                          <a:schemeClr val="tx1"/>
                        </a:solidFill>
                        <a:latin typeface="+mn-ea"/>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リリース計画書</a:t>
                      </a:r>
                      <a:r>
                        <a:rPr kumimoji="1" lang="en-US" altLang="ja-JP" sz="1400" b="0" i="0" u="none" strike="noStrike" kern="1200" baseline="0">
                          <a:solidFill>
                            <a:schemeClr val="tx1"/>
                          </a:solidFill>
                          <a:latin typeface="+mn-ea"/>
                          <a:ea typeface="+mn-ea"/>
                          <a:cs typeface="+mn-cs"/>
                        </a:rPr>
                        <a:t>/</a:t>
                      </a:r>
                      <a:r>
                        <a:rPr kumimoji="1" lang="ja-JP" altLang="en-US" sz="1400" b="0" i="0" u="none" strike="noStrike" kern="1200" baseline="0">
                          <a:solidFill>
                            <a:schemeClr val="tx1"/>
                          </a:solidFill>
                          <a:latin typeface="+mn-ea"/>
                          <a:ea typeface="+mn-ea"/>
                          <a:cs typeface="+mn-cs"/>
                        </a:rPr>
                        <a:t>手順書作成</a:t>
                      </a:r>
                      <a:endParaRPr kumimoji="1" lang="en-US" altLang="ja-JP" sz="1400" b="0" i="0" u="none" strike="noStrike" kern="1200" baseline="0">
                        <a:solidFill>
                          <a:schemeClr val="tx1"/>
                        </a:solidFill>
                        <a:latin typeface="+mn-ea"/>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n-ea"/>
                          <a:ea typeface="+mn-ea"/>
                          <a:cs typeface="+mn-cs"/>
                        </a:rPr>
                        <a:t>リリース</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6960669"/>
                  </a:ext>
                </a:extLst>
              </a:tr>
            </a:tbl>
          </a:graphicData>
        </a:graphic>
      </p:graphicFrame>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スライド番号プレースホルダー 3">
            <a:extLst>
              <a:ext uri="{FF2B5EF4-FFF2-40B4-BE49-F238E27FC236}">
                <a16:creationId xmlns:a16="http://schemas.microsoft.com/office/drawing/2014/main" id="{95DA0B14-CB09-3B2C-CAC2-3F2B80C780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a:p>
        </p:txBody>
      </p:sp>
    </p:spTree>
    <p:extLst>
      <p:ext uri="{BB962C8B-B14F-4D97-AF65-F5344CB8AC3E}">
        <p14:creationId xmlns:p14="http://schemas.microsoft.com/office/powerpoint/2010/main" val="539254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12A48-A6B5-ED48-D874-75F806523A64}"/>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9028379-D6A8-7715-A483-040F5CED27ED}"/>
              </a:ext>
            </a:extLst>
          </p:cNvPr>
          <p:cNvSpPr>
            <a:spLocks noGrp="1"/>
          </p:cNvSpPr>
          <p:nvPr>
            <p:ph type="sldNum" sz="quarter" idx="12"/>
          </p:nvPr>
        </p:nvSpPr>
        <p:spPr/>
        <p:txBody>
          <a:bodyPr/>
          <a:lstStyle/>
          <a:p>
            <a:fld id="{26CA5134-5AAC-D342-B763-43605FECB385}" type="slidenum">
              <a:rPr kumimoji="1" lang="ja-JP" altLang="en-US" smtClean="0"/>
              <a:pPr/>
              <a:t>11</a:t>
            </a:fld>
            <a:endParaRPr kumimoji="1" lang="ja-JP" altLang="en-US" sz="700"/>
          </a:p>
        </p:txBody>
      </p:sp>
      <p:sp>
        <p:nvSpPr>
          <p:cNvPr id="4" name="タイトル 3">
            <a:extLst>
              <a:ext uri="{FF2B5EF4-FFF2-40B4-BE49-F238E27FC236}">
                <a16:creationId xmlns:a16="http://schemas.microsoft.com/office/drawing/2014/main" id="{59785EBD-830E-28C9-46C9-46701BA1828E}"/>
              </a:ext>
            </a:extLst>
          </p:cNvPr>
          <p:cNvSpPr>
            <a:spLocks noGrp="1"/>
          </p:cNvSpPr>
          <p:nvPr>
            <p:ph type="title"/>
          </p:nvPr>
        </p:nvSpPr>
        <p:spPr/>
        <p:txBody>
          <a:bodyPr/>
          <a:lstStyle/>
          <a:p>
            <a:r>
              <a:rPr lang="ja-JP" altLang="en-US"/>
              <a:t>ウォーターフォール開発の場合の進め方</a:t>
            </a:r>
            <a:endParaRPr kumimoji="1" lang="ja-JP" altLang="en-US"/>
          </a:p>
        </p:txBody>
      </p:sp>
    </p:spTree>
    <p:extLst>
      <p:ext uri="{BB962C8B-B14F-4D97-AF65-F5344CB8AC3E}">
        <p14:creationId xmlns:p14="http://schemas.microsoft.com/office/powerpoint/2010/main" val="3971372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4F3D2-3DBF-5621-87E8-24927754D8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C23065-9BB7-3350-BA5E-726A29FDBFDF}"/>
              </a:ext>
            </a:extLst>
          </p:cNvPr>
          <p:cNvSpPr>
            <a:spLocks noGrp="1"/>
          </p:cNvSpPr>
          <p:nvPr>
            <p:ph type="title"/>
          </p:nvPr>
        </p:nvSpPr>
        <p:spPr/>
        <p:txBody>
          <a:bodyPr/>
          <a:lstStyle/>
          <a:p>
            <a:r>
              <a:rPr lang="en-US" altLang="ja-JP"/>
              <a:t>3-1</a:t>
            </a:r>
            <a:r>
              <a:rPr lang="ja-JP" altLang="en-US"/>
              <a:t>．ウォーターフォール開発の作業概要</a:t>
            </a:r>
            <a:endParaRPr kumimoji="1" lang="ja-JP" altLang="en-US"/>
          </a:p>
        </p:txBody>
      </p:sp>
      <p:sp>
        <p:nvSpPr>
          <p:cNvPr id="5" name="フッター プレースホルダー 4">
            <a:extLst>
              <a:ext uri="{FF2B5EF4-FFF2-40B4-BE49-F238E27FC236}">
                <a16:creationId xmlns:a16="http://schemas.microsoft.com/office/drawing/2014/main" id="{8B9A1A40-00D9-6D1A-97B9-6990C6D8D1C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4" name="コンテンツ プレースホルダー 6">
            <a:extLst>
              <a:ext uri="{FF2B5EF4-FFF2-40B4-BE49-F238E27FC236}">
                <a16:creationId xmlns:a16="http://schemas.microsoft.com/office/drawing/2014/main" id="{B8BB1181-8D6C-4D50-4C38-3B95B22AA763}"/>
              </a:ext>
            </a:extLst>
          </p:cNvPr>
          <p:cNvGraphicFramePr>
            <a:graphicFrameLocks/>
          </p:cNvGraphicFramePr>
          <p:nvPr>
            <p:extLst>
              <p:ext uri="{D42A27DB-BD31-4B8C-83A1-F6EECF244321}">
                <p14:modId xmlns:p14="http://schemas.microsoft.com/office/powerpoint/2010/main" val="4232838740"/>
              </p:ext>
            </p:extLst>
          </p:nvPr>
        </p:nvGraphicFramePr>
        <p:xfrm>
          <a:off x="576000" y="936000"/>
          <a:ext cx="11016000" cy="5275176"/>
        </p:xfrm>
        <a:graphic>
          <a:graphicData uri="http://schemas.openxmlformats.org/drawingml/2006/table">
            <a:tbl>
              <a:tblPr firstRow="1">
                <a:tableStyleId>{5C22544A-7EE6-4342-B048-85BDC9FD1C3A}</a:tableStyleId>
              </a:tblPr>
              <a:tblGrid>
                <a:gridCol w="2350462">
                  <a:extLst>
                    <a:ext uri="{9D8B030D-6E8A-4147-A177-3AD203B41FA5}">
                      <a16:colId xmlns:a16="http://schemas.microsoft.com/office/drawing/2014/main" val="20000"/>
                    </a:ext>
                  </a:extLst>
                </a:gridCol>
                <a:gridCol w="8665538">
                  <a:extLst>
                    <a:ext uri="{9D8B030D-6E8A-4147-A177-3AD203B41FA5}">
                      <a16:colId xmlns:a16="http://schemas.microsoft.com/office/drawing/2014/main" val="20001"/>
                    </a:ext>
                  </a:extLst>
                </a:gridCol>
              </a:tblGrid>
              <a:tr h="360000">
                <a:tc>
                  <a:txBody>
                    <a:bodyPr/>
                    <a:lstStyle/>
                    <a:p>
                      <a:r>
                        <a:rPr kumimoji="1" lang="ja-JP" altLang="en-US" sz="160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14397">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利害関係者とのヒアリング、要件の</a:t>
                      </a:r>
                      <a:r>
                        <a:rPr lang="ja-JP" altLang="en-US" sz="1600">
                          <a:latin typeface="+mn-ea"/>
                          <a:ea typeface="+mn-ea"/>
                        </a:rPr>
                        <a:t>再</a:t>
                      </a:r>
                      <a:r>
                        <a:rPr kumimoji="1" lang="ja-JP" altLang="en-US" sz="1600">
                          <a:latin typeface="+mn-ea"/>
                          <a:ea typeface="+mn-ea"/>
                        </a:rPr>
                        <a:t>確認、</a:t>
                      </a:r>
                      <a:r>
                        <a:rPr lang="ja-JP" altLang="en-US" sz="1600">
                          <a:latin typeface="+mn-ea"/>
                          <a:ea typeface="+mn-ea"/>
                        </a:rPr>
                        <a:t>未確定部分の</a:t>
                      </a:r>
                      <a:r>
                        <a:rPr kumimoji="1" lang="ja-JP" altLang="en-US" sz="1600">
                          <a:latin typeface="+mn-ea"/>
                          <a:ea typeface="+mn-ea"/>
                        </a:rPr>
                        <a:t>検討・決定を行います。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要件定義書、業務フローの作成</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614397">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要件定義書の内容で基本設計書を作成します。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アーキテクチャ設計やデータベース設計、各画面の項目などの設計をします。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614397">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機能単位</a:t>
                      </a:r>
                      <a:r>
                        <a:rPr kumimoji="1" lang="en-US" altLang="ja-JP" sz="1600">
                          <a:latin typeface="+mn-ea"/>
                          <a:ea typeface="+mn-ea"/>
                        </a:rPr>
                        <a:t>(API)</a:t>
                      </a:r>
                      <a:r>
                        <a:rPr kumimoji="1" lang="ja-JP" altLang="en-US" sz="1600">
                          <a:latin typeface="+mn-ea"/>
                          <a:ea typeface="+mn-ea"/>
                        </a:rPr>
                        <a:t>に分割し、設計します。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4397">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latinLnBrk="1"/>
                      <a:r>
                        <a:rPr kumimoji="1" lang="ja-JP" altLang="en-US" sz="1600">
                          <a:latin typeface="+mn-ea"/>
                          <a:ea typeface="+mn-ea"/>
                        </a:rPr>
                        <a:t>プログラミングを実施します。また、実装したプログラムが設計通りかを検証します。</a:t>
                      </a:r>
                      <a:endParaRPr lang="en-US" altLang="ja-JP" sz="1600">
                        <a:latin typeface="+mn-ea"/>
                        <a:ea typeface="+mn-ea"/>
                      </a:endParaRPr>
                    </a:p>
                    <a:p>
                      <a:pPr lvl="0" algn="l">
                        <a:buNone/>
                      </a:pPr>
                      <a:r>
                        <a:rPr lang="ja-JP" altLang="en-US" sz="1600">
                          <a:latin typeface="+mn-ea"/>
                          <a:ea typeface="+mn-ea"/>
                        </a:rPr>
                        <a:t>※</a:t>
                      </a:r>
                      <a:r>
                        <a:rPr kumimoji="1" lang="ja-JP" altLang="en-US" sz="1600">
                          <a:latin typeface="+mn-ea"/>
                          <a:ea typeface="+mn-ea"/>
                        </a:rPr>
                        <a:t>プログラム設計としてのドキュメント作成は実施しません。</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4397">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検証環境にて、結合テストを実施し、品質を検証します。</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614397">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本番環境にて、システムテストを実施し、機能、性能、セキュリティ等の要件を充足するかを検証します。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614397">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受入テストでの問合せの管理・対応を行います。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9893235"/>
                  </a:ext>
                </a:extLst>
              </a:tr>
              <a:tr h="614397">
                <a:tc>
                  <a:txBody>
                    <a:bodyPr/>
                    <a:lstStyle/>
                    <a:p>
                      <a:r>
                        <a:rPr kumimoji="1" lang="ja-JP" altLang="en-US" sz="1600" b="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システム稼働後の問合せの管理・対応を行います。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27847548"/>
                  </a:ext>
                </a:extLst>
              </a:tr>
            </a:tbl>
          </a:graphicData>
        </a:graphic>
      </p:graphicFrame>
      <p:sp>
        <p:nvSpPr>
          <p:cNvPr id="6" name="スライド番号プレースホルダー 3">
            <a:extLst>
              <a:ext uri="{FF2B5EF4-FFF2-40B4-BE49-F238E27FC236}">
                <a16:creationId xmlns:a16="http://schemas.microsoft.com/office/drawing/2014/main" id="{964A5454-BBA0-6E57-C3B3-63B794605CC4}"/>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Tree>
    <p:extLst>
      <p:ext uri="{BB962C8B-B14F-4D97-AF65-F5344CB8AC3E}">
        <p14:creationId xmlns:p14="http://schemas.microsoft.com/office/powerpoint/2010/main" val="2968533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B26A8-7EF9-6E61-68E5-E3D8929F4F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F128C7-1744-1092-FCB7-340BFA8674B9}"/>
              </a:ext>
            </a:extLst>
          </p:cNvPr>
          <p:cNvSpPr>
            <a:spLocks noGrp="1"/>
          </p:cNvSpPr>
          <p:nvPr>
            <p:ph type="title"/>
          </p:nvPr>
        </p:nvSpPr>
        <p:spPr/>
        <p:txBody>
          <a:bodyPr/>
          <a:lstStyle/>
          <a:p>
            <a:r>
              <a:rPr lang="en-US" altLang="ja-JP"/>
              <a:t>3</a:t>
            </a:r>
            <a:r>
              <a:rPr kumimoji="1" lang="en-US" altLang="ja-JP"/>
              <a:t>-2</a:t>
            </a:r>
            <a:r>
              <a:rPr lang="ja-JP" altLang="en-US"/>
              <a:t>．</a:t>
            </a:r>
            <a:r>
              <a:rPr kumimoji="1" lang="ja-JP" altLang="en-US"/>
              <a:t>「出光開発標準」への理解</a:t>
            </a:r>
          </a:p>
        </p:txBody>
      </p:sp>
      <p:sp>
        <p:nvSpPr>
          <p:cNvPr id="4" name="フッター プレースホルダー 3">
            <a:extLst>
              <a:ext uri="{FF2B5EF4-FFF2-40B4-BE49-F238E27FC236}">
                <a16:creationId xmlns:a16="http://schemas.microsoft.com/office/drawing/2014/main" id="{598D718A-D137-0130-4161-0399D4040646}"/>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925F3607-FB6A-73A3-0EA0-FD6DEE1853D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sp>
        <p:nvSpPr>
          <p:cNvPr id="5" name="テキスト ボックス 4">
            <a:extLst>
              <a:ext uri="{FF2B5EF4-FFF2-40B4-BE49-F238E27FC236}">
                <a16:creationId xmlns:a16="http://schemas.microsoft.com/office/drawing/2014/main" id="{7D622E5B-89DC-35A1-58EE-F1C02E8F5E0F}"/>
              </a:ext>
            </a:extLst>
          </p:cNvPr>
          <p:cNvSpPr txBox="1"/>
          <p:nvPr/>
        </p:nvSpPr>
        <p:spPr>
          <a:xfrm>
            <a:off x="668867" y="837968"/>
            <a:ext cx="10948333" cy="830997"/>
          </a:xfrm>
          <a:prstGeom prst="rect">
            <a:avLst/>
          </a:prstGeom>
          <a:noFill/>
        </p:spPr>
        <p:txBody>
          <a:bodyPr wrap="square">
            <a:spAutoFit/>
          </a:bodyPr>
          <a:lstStyle/>
          <a:p>
            <a:r>
              <a:rPr lang="ja-JP" altLang="en-US" sz="1600">
                <a:latin typeface="+mn-ea"/>
              </a:rPr>
              <a:t>貴社業務に多数携わっておりますので、そこで培った貴社の「出光開発標準」に即した開発モデルにてシステムを構築いたします。</a:t>
            </a:r>
            <a:endParaRPr lang="en-US" altLang="ja-JP" sz="1600">
              <a:latin typeface="+mn-ea"/>
            </a:endParaRPr>
          </a:p>
          <a:p>
            <a:r>
              <a:rPr lang="ja-JP" altLang="en-US" sz="1600">
                <a:solidFill>
                  <a:srgbClr val="000000"/>
                </a:solidFill>
                <a:latin typeface="游ゴシック" panose="020B0400000000000000" pitchFamily="50" charset="-128"/>
                <a:ea typeface="游ゴシック" panose="020B0400000000000000" pitchFamily="50" charset="-128"/>
              </a:rPr>
              <a:t>貴社・弊社の両社において開発の最終目的とそこに至るまでの確認内容を明確にし、プロジェクトを進めます。</a:t>
            </a:r>
          </a:p>
        </p:txBody>
      </p:sp>
      <p:sp>
        <p:nvSpPr>
          <p:cNvPr id="7" name="角丸四角形 8">
            <a:extLst>
              <a:ext uri="{FF2B5EF4-FFF2-40B4-BE49-F238E27FC236}">
                <a16:creationId xmlns:a16="http://schemas.microsoft.com/office/drawing/2014/main" id="{05C33CA4-FA3D-49AB-D2AF-81E960F3C43C}"/>
              </a:ext>
            </a:extLst>
          </p:cNvPr>
          <p:cNvSpPr/>
          <p:nvPr/>
        </p:nvSpPr>
        <p:spPr>
          <a:xfrm>
            <a:off x="783798" y="1804266"/>
            <a:ext cx="2546156" cy="576000"/>
          </a:xfrm>
          <a:prstGeom prst="roundRect">
            <a:avLst>
              <a:gd name="adj" fmla="val 11024"/>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目的・成果物の明確化</a:t>
            </a:r>
            <a:endParaRPr kumimoji="1" lang="ja-JP" altLang="en-US" b="1">
              <a:latin typeface="游ゴシック" panose="020B0400000000000000" pitchFamily="50" charset="-128"/>
              <a:ea typeface="游ゴシック" panose="020B0400000000000000" pitchFamily="50" charset="-128"/>
            </a:endParaRPr>
          </a:p>
        </p:txBody>
      </p:sp>
      <p:sp>
        <p:nvSpPr>
          <p:cNvPr id="8" name="角丸四角形 9">
            <a:extLst>
              <a:ext uri="{FF2B5EF4-FFF2-40B4-BE49-F238E27FC236}">
                <a16:creationId xmlns:a16="http://schemas.microsoft.com/office/drawing/2014/main" id="{B6E7E130-71A4-243F-CDEF-4325FA41E596}"/>
              </a:ext>
            </a:extLst>
          </p:cNvPr>
          <p:cNvSpPr/>
          <p:nvPr/>
        </p:nvSpPr>
        <p:spPr>
          <a:xfrm>
            <a:off x="8861260" y="1804266"/>
            <a:ext cx="2546156" cy="576000"/>
          </a:xfrm>
          <a:prstGeom prst="roundRect">
            <a:avLst>
              <a:gd name="adj" fmla="val 11024"/>
            </a:avLst>
          </a:prstGeom>
          <a:solidFill>
            <a:schemeClr val="accent6"/>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工程完了基準の統一</a:t>
            </a:r>
            <a:endParaRPr kumimoji="1" lang="ja-JP" altLang="en-US" b="1">
              <a:latin typeface="游ゴシック" panose="020B0400000000000000" pitchFamily="50" charset="-128"/>
              <a:ea typeface="游ゴシック" panose="020B0400000000000000" pitchFamily="50" charset="-128"/>
            </a:endParaRPr>
          </a:p>
        </p:txBody>
      </p:sp>
      <p:sp>
        <p:nvSpPr>
          <p:cNvPr id="10" name="角丸四角形 10">
            <a:extLst>
              <a:ext uri="{FF2B5EF4-FFF2-40B4-BE49-F238E27FC236}">
                <a16:creationId xmlns:a16="http://schemas.microsoft.com/office/drawing/2014/main" id="{EBBC2442-6D5B-F5F8-64AB-6DA47E79FAC6}"/>
              </a:ext>
            </a:extLst>
          </p:cNvPr>
          <p:cNvSpPr/>
          <p:nvPr/>
        </p:nvSpPr>
        <p:spPr>
          <a:xfrm>
            <a:off x="3476286" y="1804266"/>
            <a:ext cx="2546156" cy="576000"/>
          </a:xfrm>
          <a:prstGeom prst="roundRect">
            <a:avLst>
              <a:gd name="adj" fmla="val 11024"/>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作業漏れの防止</a:t>
            </a:r>
            <a:endParaRPr kumimoji="1" lang="ja-JP" altLang="en-US" b="1">
              <a:latin typeface="游ゴシック" panose="020B0400000000000000" pitchFamily="50" charset="-128"/>
              <a:ea typeface="游ゴシック" panose="020B0400000000000000" pitchFamily="50" charset="-128"/>
            </a:endParaRPr>
          </a:p>
        </p:txBody>
      </p:sp>
      <p:sp>
        <p:nvSpPr>
          <p:cNvPr id="11" name="角丸四角形 11">
            <a:extLst>
              <a:ext uri="{FF2B5EF4-FFF2-40B4-BE49-F238E27FC236}">
                <a16:creationId xmlns:a16="http://schemas.microsoft.com/office/drawing/2014/main" id="{6FD8CDD2-5151-1FB9-CDF7-087128A69DAA}"/>
              </a:ext>
            </a:extLst>
          </p:cNvPr>
          <p:cNvSpPr/>
          <p:nvPr/>
        </p:nvSpPr>
        <p:spPr>
          <a:xfrm>
            <a:off x="6168773" y="1804266"/>
            <a:ext cx="2546156" cy="576000"/>
          </a:xfrm>
          <a:prstGeom prst="roundRect">
            <a:avLst>
              <a:gd name="adj" fmla="val 11024"/>
            </a:avLst>
          </a:prstGeom>
          <a:solidFill>
            <a:schemeClr val="accent4"/>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役割分担の明確化</a:t>
            </a:r>
            <a:endParaRPr kumimoji="1" lang="ja-JP" altLang="en-US" b="1">
              <a:latin typeface="游ゴシック" panose="020B0400000000000000" pitchFamily="50" charset="-128"/>
              <a:ea typeface="游ゴシック" panose="020B0400000000000000" pitchFamily="50" charset="-128"/>
            </a:endParaRPr>
          </a:p>
        </p:txBody>
      </p:sp>
      <p:grpSp>
        <p:nvGrpSpPr>
          <p:cNvPr id="12" name="グループ化 11">
            <a:extLst>
              <a:ext uri="{FF2B5EF4-FFF2-40B4-BE49-F238E27FC236}">
                <a16:creationId xmlns:a16="http://schemas.microsoft.com/office/drawing/2014/main" id="{C240ED77-6459-D900-BF57-375E2A970C26}"/>
              </a:ext>
            </a:extLst>
          </p:cNvPr>
          <p:cNvGrpSpPr/>
          <p:nvPr/>
        </p:nvGrpSpPr>
        <p:grpSpPr>
          <a:xfrm>
            <a:off x="783797" y="2488266"/>
            <a:ext cx="10623618" cy="2880000"/>
            <a:chOff x="215999" y="2700000"/>
            <a:chExt cx="8712000" cy="2880000"/>
          </a:xfrm>
        </p:grpSpPr>
        <p:sp>
          <p:nvSpPr>
            <p:cNvPr id="13" name="正方形/長方形 12">
              <a:extLst>
                <a:ext uri="{FF2B5EF4-FFF2-40B4-BE49-F238E27FC236}">
                  <a16:creationId xmlns:a16="http://schemas.microsoft.com/office/drawing/2014/main" id="{A38090F9-B794-F08D-DD1C-9AEABF463CCC}"/>
                </a:ext>
              </a:extLst>
            </p:cNvPr>
            <p:cNvSpPr/>
            <p:nvPr/>
          </p:nvSpPr>
          <p:spPr>
            <a:xfrm>
              <a:off x="215999" y="2700000"/>
              <a:ext cx="8712000" cy="288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a:latin typeface="游ゴシック" panose="020B0400000000000000" pitchFamily="50" charset="-128"/>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4F02B78F-8097-70F3-0B10-EDFC13A41B99}"/>
                </a:ext>
              </a:extLst>
            </p:cNvPr>
            <p:cNvCxnSpPr/>
            <p:nvPr/>
          </p:nvCxnSpPr>
          <p:spPr>
            <a:xfrm>
              <a:off x="2958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A9B293E6-7530-D44C-D647-7F54A009D68E}"/>
                </a:ext>
              </a:extLst>
            </p:cNvPr>
            <p:cNvCxnSpPr/>
            <p:nvPr/>
          </p:nvCxnSpPr>
          <p:spPr>
            <a:xfrm flipH="1">
              <a:off x="5334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7CFC5B8-F9DD-2AB3-8CF7-F1A6B975FFE6}"/>
                </a:ext>
              </a:extLst>
            </p:cNvPr>
            <p:cNvSpPr txBox="1"/>
            <p:nvPr/>
          </p:nvSpPr>
          <p:spPr>
            <a:xfrm>
              <a:off x="2520000" y="3600001"/>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基本設計</a:t>
              </a:r>
              <a:r>
                <a:rPr kumimoji="1" lang="en-US" altLang="ja-JP" sz="1600" b="1">
                  <a:latin typeface="游ゴシック" panose="020B0400000000000000" pitchFamily="50" charset="-128"/>
                  <a:ea typeface="游ゴシック" panose="020B0400000000000000" pitchFamily="50" charset="-128"/>
                </a:rPr>
                <a:t>(UI)</a:t>
              </a:r>
              <a:endParaRPr kumimoji="1" lang="ja-JP" altLang="en-US" sz="1600" b="1">
                <a:latin typeface="游ゴシック" panose="020B0400000000000000" pitchFamily="50" charset="-128"/>
                <a:ea typeface="游ゴシック" panose="020B0400000000000000" pitchFamily="50" charset="-128"/>
              </a:endParaRPr>
            </a:p>
          </p:txBody>
        </p:sp>
        <p:sp>
          <p:nvSpPr>
            <p:cNvPr id="17" name="テキスト ボックス 16">
              <a:extLst>
                <a:ext uri="{FF2B5EF4-FFF2-40B4-BE49-F238E27FC236}">
                  <a16:creationId xmlns:a16="http://schemas.microsoft.com/office/drawing/2014/main" id="{5665279F-BC32-73B3-D786-8AB08184B617}"/>
                </a:ext>
              </a:extLst>
            </p:cNvPr>
            <p:cNvSpPr txBox="1"/>
            <p:nvPr/>
          </p:nvSpPr>
          <p:spPr>
            <a:xfrm>
              <a:off x="3132000" y="4176000"/>
              <a:ext cx="1476000" cy="360000"/>
            </a:xfrm>
            <a:prstGeom prst="rect">
              <a:avLst/>
            </a:prstGeom>
            <a:noFill/>
          </p:spPr>
          <p:txBody>
            <a:bodyPr wrap="none" rtlCol="0" anchor="ctr">
              <a:noAutofit/>
            </a:bodyPr>
            <a:lstStyle/>
            <a:p>
              <a:pPr algn="r"/>
              <a:r>
                <a:rPr lang="ja-JP" altLang="en-US" sz="1600" b="1">
                  <a:latin typeface="游ゴシック" panose="020B0400000000000000" pitchFamily="50" charset="-128"/>
                  <a:ea typeface="游ゴシック" panose="020B0400000000000000" pitchFamily="50" charset="-128"/>
                </a:rPr>
                <a:t>詳細設計</a:t>
              </a:r>
              <a:r>
                <a:rPr lang="en-US" altLang="ja-JP" sz="1600" b="1">
                  <a:latin typeface="游ゴシック" panose="020B0400000000000000" pitchFamily="50" charset="-128"/>
                  <a:ea typeface="游ゴシック" panose="020B0400000000000000" pitchFamily="50" charset="-128"/>
                </a:rPr>
                <a:t>(SS)</a:t>
              </a:r>
              <a:endParaRPr kumimoji="1" lang="ja-JP" altLang="en-US" sz="1600" b="1">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EF260C18-EE9A-6006-7168-45709BD3F45C}"/>
                </a:ext>
              </a:extLst>
            </p:cNvPr>
            <p:cNvSpPr txBox="1"/>
            <p:nvPr/>
          </p:nvSpPr>
          <p:spPr>
            <a:xfrm>
              <a:off x="6084000" y="4176000"/>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機能単体テスト</a:t>
              </a:r>
              <a:r>
                <a:rPr lang="en-US" altLang="ja-JP" sz="1600" b="1">
                  <a:latin typeface="游ゴシック" panose="020B0400000000000000" pitchFamily="50" charset="-128"/>
                  <a:ea typeface="游ゴシック" panose="020B0400000000000000" pitchFamily="50" charset="-128"/>
                </a:rPr>
                <a:t>(UT)</a:t>
              </a:r>
              <a:endParaRPr kumimoji="1" lang="ja-JP" altLang="en-US" sz="1600" b="1">
                <a:latin typeface="游ゴシック" panose="020B0400000000000000" pitchFamily="50" charset="-128"/>
                <a:ea typeface="游ゴシック" panose="020B0400000000000000" pitchFamily="50" charset="-128"/>
              </a:endParaRPr>
            </a:p>
          </p:txBody>
        </p:sp>
        <p:sp>
          <p:nvSpPr>
            <p:cNvPr id="21" name="テキスト ボックス 20">
              <a:extLst>
                <a:ext uri="{FF2B5EF4-FFF2-40B4-BE49-F238E27FC236}">
                  <a16:creationId xmlns:a16="http://schemas.microsoft.com/office/drawing/2014/main" id="{8E29B9AA-6CFE-FE95-FE4F-90A410AE76B5}"/>
                </a:ext>
              </a:extLst>
            </p:cNvPr>
            <p:cNvSpPr txBox="1"/>
            <p:nvPr/>
          </p:nvSpPr>
          <p:spPr>
            <a:xfrm>
              <a:off x="6660000" y="3600001"/>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結合テスト</a:t>
              </a:r>
              <a:r>
                <a:rPr lang="en-US" altLang="ja-JP" sz="1600" b="1">
                  <a:latin typeface="游ゴシック" panose="020B0400000000000000" pitchFamily="50" charset="-128"/>
                  <a:ea typeface="游ゴシック" panose="020B0400000000000000" pitchFamily="50" charset="-128"/>
                </a:rPr>
                <a:t>(IT)</a:t>
              </a:r>
              <a:endParaRPr kumimoji="1" lang="ja-JP" altLang="en-US" sz="1600" b="1">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9E1D059F-22ED-A36A-D522-F0E475D07E74}"/>
                </a:ext>
              </a:extLst>
            </p:cNvPr>
            <p:cNvSpPr txBox="1"/>
            <p:nvPr/>
          </p:nvSpPr>
          <p:spPr>
            <a:xfrm>
              <a:off x="432000" y="2808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業務</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EE10FC91-30B2-3664-DCA3-9A6BA8B1597F}"/>
                </a:ext>
              </a:extLst>
            </p:cNvPr>
            <p:cNvSpPr txBox="1"/>
            <p:nvPr/>
          </p:nvSpPr>
          <p:spPr>
            <a:xfrm>
              <a:off x="432000" y="3384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システム</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4" name="テキスト ボックス 23">
              <a:extLst>
                <a:ext uri="{FF2B5EF4-FFF2-40B4-BE49-F238E27FC236}">
                  <a16:creationId xmlns:a16="http://schemas.microsoft.com/office/drawing/2014/main" id="{23E6F165-F299-2430-C422-2E67CA8DDC54}"/>
                </a:ext>
              </a:extLst>
            </p:cNvPr>
            <p:cNvSpPr txBox="1"/>
            <p:nvPr/>
          </p:nvSpPr>
          <p:spPr>
            <a:xfrm>
              <a:off x="432000" y="3960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プロセス</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25" name="直線コネクタ 24">
              <a:extLst>
                <a:ext uri="{FF2B5EF4-FFF2-40B4-BE49-F238E27FC236}">
                  <a16:creationId xmlns:a16="http://schemas.microsoft.com/office/drawing/2014/main" id="{97E73E66-5AFB-EB3B-C440-EBDB153C5749}"/>
                </a:ext>
              </a:extLst>
            </p:cNvPr>
            <p:cNvCxnSpPr/>
            <p:nvPr/>
          </p:nvCxnSpPr>
          <p:spPr>
            <a:xfrm>
              <a:off x="431999" y="3384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B3323EC1-1236-0B70-4394-4F58079C7CEE}"/>
                </a:ext>
              </a:extLst>
            </p:cNvPr>
            <p:cNvCxnSpPr/>
            <p:nvPr/>
          </p:nvCxnSpPr>
          <p:spPr>
            <a:xfrm>
              <a:off x="432000" y="3960001"/>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2FC0F5F-9AF3-F1DF-E9D7-3DF622EB8C64}"/>
                </a:ext>
              </a:extLst>
            </p:cNvPr>
            <p:cNvCxnSpPr/>
            <p:nvPr/>
          </p:nvCxnSpPr>
          <p:spPr>
            <a:xfrm>
              <a:off x="432000" y="4536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1C3F7B8-4DBE-CA8C-E47A-C639497DF160}"/>
                </a:ext>
              </a:extLst>
            </p:cNvPr>
            <p:cNvSpPr txBox="1"/>
            <p:nvPr/>
          </p:nvSpPr>
          <p:spPr>
            <a:xfrm>
              <a:off x="1944000" y="3024000"/>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要件定義</a:t>
              </a:r>
              <a:r>
                <a:rPr kumimoji="1" lang="en-US" altLang="ja-JP" sz="1600" b="1">
                  <a:latin typeface="游ゴシック" panose="020B0400000000000000" pitchFamily="50" charset="-128"/>
                  <a:ea typeface="游ゴシック" panose="020B0400000000000000" pitchFamily="50" charset="-128"/>
                </a:rPr>
                <a:t>(SA)</a:t>
              </a:r>
              <a:endParaRPr kumimoji="1" lang="ja-JP" altLang="en-US" sz="1600" b="1">
                <a:latin typeface="游ゴシック" panose="020B0400000000000000" pitchFamily="50" charset="-128"/>
                <a:ea typeface="游ゴシック" panose="020B0400000000000000" pitchFamily="50" charset="-128"/>
              </a:endParaRPr>
            </a:p>
          </p:txBody>
        </p:sp>
        <p:sp>
          <p:nvSpPr>
            <p:cNvPr id="29" name="テキスト ボックス 28">
              <a:extLst>
                <a:ext uri="{FF2B5EF4-FFF2-40B4-BE49-F238E27FC236}">
                  <a16:creationId xmlns:a16="http://schemas.microsoft.com/office/drawing/2014/main" id="{6730BDBD-A325-2889-D819-54E047AF54C3}"/>
                </a:ext>
              </a:extLst>
            </p:cNvPr>
            <p:cNvSpPr txBox="1"/>
            <p:nvPr/>
          </p:nvSpPr>
          <p:spPr>
            <a:xfrm>
              <a:off x="7236000" y="3024000"/>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システムテスト</a:t>
              </a:r>
              <a:r>
                <a:rPr lang="en-US" altLang="ja-JP" sz="1600" b="1">
                  <a:latin typeface="游ゴシック" panose="020B0400000000000000" pitchFamily="50" charset="-128"/>
                  <a:ea typeface="游ゴシック" panose="020B0400000000000000" pitchFamily="50" charset="-128"/>
                </a:rPr>
                <a:t>(ST)</a:t>
              </a:r>
              <a:endParaRPr kumimoji="1" lang="ja-JP" altLang="en-US" sz="1600" b="1">
                <a:latin typeface="游ゴシック" panose="020B0400000000000000" pitchFamily="50" charset="-128"/>
                <a:ea typeface="游ゴシック" panose="020B0400000000000000" pitchFamily="50" charset="-128"/>
              </a:endParaRPr>
            </a:p>
          </p:txBody>
        </p:sp>
        <p:sp>
          <p:nvSpPr>
            <p:cNvPr id="30" name="テキスト ボックス 29">
              <a:extLst>
                <a:ext uri="{FF2B5EF4-FFF2-40B4-BE49-F238E27FC236}">
                  <a16:creationId xmlns:a16="http://schemas.microsoft.com/office/drawing/2014/main" id="{FE2A819E-CDB8-9994-AD30-D2590880F60B}"/>
                </a:ext>
              </a:extLst>
            </p:cNvPr>
            <p:cNvSpPr txBox="1"/>
            <p:nvPr/>
          </p:nvSpPr>
          <p:spPr>
            <a:xfrm>
              <a:off x="4736873" y="4927524"/>
              <a:ext cx="1476000" cy="360000"/>
            </a:xfrm>
            <a:prstGeom prst="rect">
              <a:avLst/>
            </a:prstGeom>
            <a:noFill/>
          </p:spPr>
          <p:txBody>
            <a:bodyPr wrap="none" rtlCol="0" anchor="ctr">
              <a:noAutofit/>
            </a:bodyPr>
            <a:lstStyle/>
            <a:p>
              <a:pPr algn="ctr"/>
              <a:r>
                <a:rPr lang="ja-JP" altLang="en-US" sz="1600" b="1">
                  <a:latin typeface="游ゴシック" panose="020B0400000000000000" pitchFamily="50" charset="-128"/>
                  <a:ea typeface="游ゴシック" panose="020B0400000000000000" pitchFamily="50" charset="-128"/>
                </a:rPr>
                <a:t>製造</a:t>
              </a:r>
              <a:r>
                <a:rPr lang="en-US" altLang="ja-JP" sz="1600" b="1">
                  <a:latin typeface="游ゴシック" panose="020B0400000000000000" pitchFamily="50" charset="-128"/>
                  <a:ea typeface="游ゴシック" panose="020B0400000000000000" pitchFamily="50" charset="-128"/>
                </a:rPr>
                <a:t>(PG)</a:t>
              </a:r>
              <a:r>
                <a:rPr lang="ja-JP" altLang="en-US" sz="1600" b="1">
                  <a:latin typeface="游ゴシック" panose="020B0400000000000000" pitchFamily="50" charset="-128"/>
                  <a:ea typeface="游ゴシック" panose="020B0400000000000000" pitchFamily="50" charset="-128"/>
                </a:rPr>
                <a:t>＋ユニットテスト</a:t>
              </a:r>
              <a:endParaRPr kumimoji="1" lang="ja-JP" altLang="en-US" sz="1600" b="1">
                <a:latin typeface="游ゴシック" panose="020B0400000000000000" pitchFamily="50" charset="-128"/>
                <a:ea typeface="游ゴシック" panose="020B0400000000000000" pitchFamily="50" charset="-128"/>
              </a:endParaRPr>
            </a:p>
          </p:txBody>
        </p:sp>
        <p:cxnSp>
          <p:nvCxnSpPr>
            <p:cNvPr id="31" name="直線矢印コネクタ 30">
              <a:extLst>
                <a:ext uri="{FF2B5EF4-FFF2-40B4-BE49-F238E27FC236}">
                  <a16:creationId xmlns:a16="http://schemas.microsoft.com/office/drawing/2014/main" id="{253E9C6E-9A64-F46F-AD5E-8325997CA7D6}"/>
                </a:ext>
              </a:extLst>
            </p:cNvPr>
            <p:cNvCxnSpPr/>
            <p:nvPr/>
          </p:nvCxnSpPr>
          <p:spPr>
            <a:xfrm>
              <a:off x="3562885" y="3204000"/>
              <a:ext cx="352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55BACB8C-B877-E120-D2EA-89C4113511C8}"/>
                </a:ext>
              </a:extLst>
            </p:cNvPr>
            <p:cNvCxnSpPr/>
            <p:nvPr/>
          </p:nvCxnSpPr>
          <p:spPr>
            <a:xfrm>
              <a:off x="4176000" y="3780474"/>
              <a:ext cx="226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A9FCDF1C-DB3E-45CC-FDA9-6C5B2F4624F2}"/>
                </a:ext>
              </a:extLst>
            </p:cNvPr>
            <p:cNvCxnSpPr/>
            <p:nvPr/>
          </p:nvCxnSpPr>
          <p:spPr>
            <a:xfrm>
              <a:off x="4824000" y="4356000"/>
              <a:ext cx="100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B5D4E2E5-87B3-28D6-EFD4-18A2ED3501EE}"/>
                </a:ext>
              </a:extLst>
            </p:cNvPr>
            <p:cNvSpPr txBox="1"/>
            <p:nvPr/>
          </p:nvSpPr>
          <p:spPr>
            <a:xfrm>
              <a:off x="4333694" y="2880000"/>
              <a:ext cx="2002335" cy="324000"/>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利用者による妥当性確認</a:t>
              </a:r>
            </a:p>
          </p:txBody>
        </p:sp>
        <p:sp>
          <p:nvSpPr>
            <p:cNvPr id="35" name="テキスト ボックス 34">
              <a:extLst>
                <a:ext uri="{FF2B5EF4-FFF2-40B4-BE49-F238E27FC236}">
                  <a16:creationId xmlns:a16="http://schemas.microsoft.com/office/drawing/2014/main" id="{448A885B-2DE7-A7E8-1DD2-CD2DBDCEF47F}"/>
                </a:ext>
              </a:extLst>
            </p:cNvPr>
            <p:cNvSpPr txBox="1"/>
            <p:nvPr/>
          </p:nvSpPr>
          <p:spPr>
            <a:xfrm>
              <a:off x="4583430" y="3456000"/>
              <a:ext cx="1497544" cy="338554"/>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設計者による検証</a:t>
              </a:r>
            </a:p>
          </p:txBody>
        </p:sp>
        <p:sp>
          <p:nvSpPr>
            <p:cNvPr id="36" name="テキスト ボックス 35">
              <a:extLst>
                <a:ext uri="{FF2B5EF4-FFF2-40B4-BE49-F238E27FC236}">
                  <a16:creationId xmlns:a16="http://schemas.microsoft.com/office/drawing/2014/main" id="{92495317-29FB-7E18-4892-9D9E7774F614}"/>
                </a:ext>
              </a:extLst>
            </p:cNvPr>
            <p:cNvSpPr txBox="1"/>
            <p:nvPr/>
          </p:nvSpPr>
          <p:spPr>
            <a:xfrm>
              <a:off x="4578113" y="4032000"/>
              <a:ext cx="1497544" cy="338554"/>
            </a:xfrm>
            <a:prstGeom prst="rect">
              <a:avLst/>
            </a:prstGeom>
            <a:noFill/>
          </p:spPr>
          <p:txBody>
            <a:bodyPr wrap="none" rtlCol="0">
              <a:spAutoFit/>
            </a:bodyPr>
            <a:lstStyle/>
            <a:p>
              <a:pPr algn="ctr"/>
              <a:r>
                <a:rPr lang="ja-JP" altLang="en-US" sz="1600">
                  <a:solidFill>
                    <a:schemeClr val="accent3">
                      <a:lumMod val="50000"/>
                    </a:schemeClr>
                  </a:solidFill>
                  <a:latin typeface="游ゴシック" panose="020B0400000000000000" pitchFamily="50" charset="-128"/>
                  <a:ea typeface="游ゴシック" panose="020B0400000000000000" pitchFamily="50" charset="-128"/>
                </a:rPr>
                <a:t>開発</a:t>
              </a: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者による検証</a:t>
              </a:r>
            </a:p>
          </p:txBody>
        </p:sp>
        <p:sp>
          <p:nvSpPr>
            <p:cNvPr id="37" name="テキスト ボックス 36">
              <a:extLst>
                <a:ext uri="{FF2B5EF4-FFF2-40B4-BE49-F238E27FC236}">
                  <a16:creationId xmlns:a16="http://schemas.microsoft.com/office/drawing/2014/main" id="{0B4AAB43-D868-021E-AAE5-26ADABC1024E}"/>
                </a:ext>
              </a:extLst>
            </p:cNvPr>
            <p:cNvSpPr txBox="1"/>
            <p:nvPr/>
          </p:nvSpPr>
          <p:spPr>
            <a:xfrm>
              <a:off x="431999" y="4536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機能</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103985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CADD-9E6F-BA28-32DB-A30C2A93859E}"/>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E1705095-67A6-7C9E-47DF-5363A8C3E9F4}"/>
              </a:ext>
            </a:extLst>
          </p:cNvPr>
          <p:cNvSpPr txBox="1"/>
          <p:nvPr/>
        </p:nvSpPr>
        <p:spPr>
          <a:xfrm>
            <a:off x="576000" y="936000"/>
            <a:ext cx="11041200" cy="691128"/>
          </a:xfrm>
          <a:prstGeom prst="rect">
            <a:avLst/>
          </a:prstGeom>
          <a:noFill/>
        </p:spPr>
        <p:txBody>
          <a:bodyPr wrap="square" lIns="108000" tIns="72000" rIns="108000" bIns="72000" rtlCol="0" anchor="t">
            <a:noAutofit/>
          </a:bodyPr>
          <a:lstStyle/>
          <a:p>
            <a:r>
              <a:rPr kumimoji="1" lang="ja-JP" altLang="en-US" sz="1600">
                <a:latin typeface="+mn-ea"/>
              </a:rPr>
              <a:t>以下の品質指標に則り、品質の評価および分析を実施します。</a:t>
            </a:r>
            <a:endParaRPr kumimoji="1" lang="en-US" altLang="ja-JP" sz="1600">
              <a:latin typeface="+mn-ea"/>
            </a:endParaRPr>
          </a:p>
          <a:p>
            <a:r>
              <a:rPr kumimoji="1" lang="en-US" altLang="ja-JP" sz="1600">
                <a:latin typeface="+mn-ea"/>
              </a:rPr>
              <a:t>※IPA</a:t>
            </a:r>
            <a:r>
              <a:rPr kumimoji="1" lang="ja-JP" altLang="en-US" sz="1600">
                <a:latin typeface="+mn-ea"/>
              </a:rPr>
              <a:t>発行の「ソフトウェア開発分析データ集</a:t>
            </a:r>
            <a:r>
              <a:rPr kumimoji="1" lang="en-US" altLang="ja-JP" sz="1600">
                <a:latin typeface="+mn-ea"/>
              </a:rPr>
              <a:t>2022</a:t>
            </a:r>
            <a:r>
              <a:rPr kumimoji="1" lang="ja-JP" altLang="en-US" sz="1600">
                <a:latin typeface="+mn-ea"/>
              </a:rPr>
              <a:t>」による各統計値を参考といたします。</a:t>
            </a:r>
          </a:p>
        </p:txBody>
      </p:sp>
      <p:sp>
        <p:nvSpPr>
          <p:cNvPr id="2" name="タイトル 1">
            <a:extLst>
              <a:ext uri="{FF2B5EF4-FFF2-40B4-BE49-F238E27FC236}">
                <a16:creationId xmlns:a16="http://schemas.microsoft.com/office/drawing/2014/main" id="{FA3EA09D-8B92-4168-E6F2-666F5B640DCA}"/>
              </a:ext>
            </a:extLst>
          </p:cNvPr>
          <p:cNvSpPr>
            <a:spLocks noGrp="1"/>
          </p:cNvSpPr>
          <p:nvPr>
            <p:ph type="title"/>
          </p:nvPr>
        </p:nvSpPr>
        <p:spPr/>
        <p:txBody>
          <a:bodyPr/>
          <a:lstStyle/>
          <a:p>
            <a:r>
              <a:rPr kumimoji="1" lang="en-US" altLang="ja-JP"/>
              <a:t>3-3</a:t>
            </a:r>
            <a:r>
              <a:rPr kumimoji="1" lang="ja-JP" altLang="en-US"/>
              <a:t>．品質目標</a:t>
            </a:r>
          </a:p>
        </p:txBody>
      </p:sp>
      <p:sp>
        <p:nvSpPr>
          <p:cNvPr id="4" name="フッター プレースホルダー 3">
            <a:extLst>
              <a:ext uri="{FF2B5EF4-FFF2-40B4-BE49-F238E27FC236}">
                <a16:creationId xmlns:a16="http://schemas.microsoft.com/office/drawing/2014/main" id="{1E663E79-10A5-1BFD-902A-71393A245494}"/>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734652FB-A35D-4816-4891-09C5A8648B61}"/>
              </a:ext>
            </a:extLst>
          </p:cNvPr>
          <p:cNvGraphicFramePr>
            <a:graphicFrameLocks/>
          </p:cNvGraphicFramePr>
          <p:nvPr/>
        </p:nvGraphicFramePr>
        <p:xfrm>
          <a:off x="575400" y="1627128"/>
          <a:ext cx="11041199" cy="4135046"/>
        </p:xfrm>
        <a:graphic>
          <a:graphicData uri="http://schemas.openxmlformats.org/drawingml/2006/table">
            <a:tbl>
              <a:tblPr firstRow="1" bandRow="1">
                <a:tableStyleId>{3B4B98B0-60AC-42C2-AFA5-B58CD77FA1E5}</a:tableStyleId>
              </a:tblPr>
              <a:tblGrid>
                <a:gridCol w="700540">
                  <a:extLst>
                    <a:ext uri="{9D8B030D-6E8A-4147-A177-3AD203B41FA5}">
                      <a16:colId xmlns:a16="http://schemas.microsoft.com/office/drawing/2014/main" val="20000"/>
                    </a:ext>
                  </a:extLst>
                </a:gridCol>
                <a:gridCol w="1648329">
                  <a:extLst>
                    <a:ext uri="{9D8B030D-6E8A-4147-A177-3AD203B41FA5}">
                      <a16:colId xmlns:a16="http://schemas.microsoft.com/office/drawing/2014/main" val="20003"/>
                    </a:ext>
                  </a:extLst>
                </a:gridCol>
                <a:gridCol w="2553078">
                  <a:extLst>
                    <a:ext uri="{9D8B030D-6E8A-4147-A177-3AD203B41FA5}">
                      <a16:colId xmlns:a16="http://schemas.microsoft.com/office/drawing/2014/main" val="2022646445"/>
                    </a:ext>
                  </a:extLst>
                </a:gridCol>
                <a:gridCol w="2534970">
                  <a:extLst>
                    <a:ext uri="{9D8B030D-6E8A-4147-A177-3AD203B41FA5}">
                      <a16:colId xmlns:a16="http://schemas.microsoft.com/office/drawing/2014/main" val="1186915876"/>
                    </a:ext>
                  </a:extLst>
                </a:gridCol>
                <a:gridCol w="3604282">
                  <a:extLst>
                    <a:ext uri="{9D8B030D-6E8A-4147-A177-3AD203B41FA5}">
                      <a16:colId xmlns:a16="http://schemas.microsoft.com/office/drawing/2014/main" val="20001"/>
                    </a:ext>
                  </a:extLst>
                </a:gridCol>
              </a:tblGrid>
              <a:tr h="328891">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b="1" u="none" strike="noStrike" kern="1200" cap="none" normalizeH="0" baseline="0">
                          <a:ln>
                            <a:noFill/>
                          </a:ln>
                          <a:solidFill>
                            <a:schemeClr val="bg1"/>
                          </a:solidFill>
                          <a:effectLst/>
                          <a:latin typeface="+mn-ea"/>
                          <a:ea typeface="+mn-ea"/>
                          <a:cs typeface="Meiryo UI" pitchFamily="50" charset="-128"/>
                        </a:rPr>
                        <a:t>No</a:t>
                      </a:r>
                      <a:endParaRPr kumimoji="0" lang="ja-JP" altLang="en-US" sz="1600" b="1" u="none" strike="noStrike" kern="1200" cap="none" normalizeH="0" baseline="0">
                        <a:ln>
                          <a:noFill/>
                        </a:ln>
                        <a:solidFill>
                          <a:schemeClr val="bg1"/>
                        </a:solidFill>
                        <a:effectLst/>
                        <a:latin typeface="+mn-ea"/>
                        <a:ea typeface="+mn-ea"/>
                        <a:cs typeface="Meiryo UI" pitchFamily="50" charset="-128"/>
                      </a:endParaRPr>
                    </a:p>
                  </a:txBody>
                  <a:tcPr marL="90014" marR="90014" marT="46800" marB="46800" anchor="ctr" horzOverflow="overflow">
                    <a:solidFill>
                      <a:schemeClr val="accent1"/>
                    </a:solidFill>
                  </a:tcPr>
                </a:tc>
                <a:tc>
                  <a:txBody>
                    <a:bodyPr/>
                    <a:lstStyle/>
                    <a:p>
                      <a:r>
                        <a:rPr kumimoji="1" lang="ja-JP" altLang="en-US" sz="1600" b="1" kern="1200">
                          <a:solidFill>
                            <a:schemeClr val="bg1"/>
                          </a:solidFill>
                          <a:latin typeface="+mn-ea"/>
                          <a:ea typeface="+mn-ea"/>
                          <a:cs typeface="+mn-cs"/>
                        </a:rPr>
                        <a:t>工程</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測定値</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単位・測定方法</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目標値</a:t>
                      </a:r>
                    </a:p>
                  </a:txBody>
                  <a:tcPr marL="90014" marR="90014" marT="46800" marB="46800" anchor="ctr" horzOverflow="overflow">
                    <a:solidFill>
                      <a:schemeClr val="accent1"/>
                    </a:solidFill>
                  </a:tcPr>
                </a:tc>
                <a:extLst>
                  <a:ext uri="{0D108BD9-81ED-4DB2-BD59-A6C34878D82A}">
                    <a16:rowId xmlns:a16="http://schemas.microsoft.com/office/drawing/2014/main" val="10000"/>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1</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基本設計</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a:ln>
                            <a:noFill/>
                          </a:ln>
                          <a:solidFill>
                            <a:schemeClr val="tx1"/>
                          </a:solidFill>
                          <a:effectLst/>
                          <a:latin typeface="+mn-ea"/>
                          <a:ea typeface="+mn-ea"/>
                          <a:cs typeface="Meiryo UI" pitchFamily="50" charset="-128"/>
                        </a:rPr>
                        <a:t>/</a:t>
                      </a:r>
                      <a:r>
                        <a:rPr kumimoji="1" lang="ja-JP" altLang="en-US" sz="1600" b="0" i="0" u="none" strike="noStrike" kern="1200" cap="none" normalizeH="0" baseline="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0.139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0.982</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51281576"/>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2</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詳細設計</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a:ln>
                            <a:noFill/>
                          </a:ln>
                          <a:solidFill>
                            <a:schemeClr val="tx1"/>
                          </a:solidFill>
                          <a:effectLst/>
                          <a:latin typeface="+mn-ea"/>
                          <a:ea typeface="+mn-ea"/>
                          <a:cs typeface="Meiryo UI" pitchFamily="50" charset="-128"/>
                        </a:rPr>
                        <a:t>/</a:t>
                      </a:r>
                      <a:r>
                        <a:rPr kumimoji="1" lang="ja-JP" altLang="en-US" sz="1600" b="0" i="0" u="none" strike="noStrike" kern="1200" cap="none" normalizeH="0" baseline="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0.119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0.713</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2571163849"/>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3</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単体テスト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レビュー実施率</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a:t>
                      </a:r>
                      <a:r>
                        <a:rPr kumimoji="0" lang="ja-JP" altLang="en-US" sz="1600" u="none" strike="noStrike" kern="1200" cap="none" normalizeH="0" baseline="0">
                          <a:ln>
                            <a:noFill/>
                          </a:ln>
                          <a:solidFill>
                            <a:schemeClr val="tx1"/>
                          </a:solidFill>
                          <a:effectLst/>
                          <a:latin typeface="+mn-ea"/>
                          <a:ea typeface="+mn-ea"/>
                          <a:cs typeface="Meiryo UI" pitchFamily="50" charset="-128"/>
                        </a:rPr>
                        <a:t>タスク数</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1</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10001"/>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4</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17.84</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79.84</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598672516"/>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5</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0.650</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2.613</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929609212"/>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6</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4.69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21.57</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089545675"/>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7</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0.092</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0.829</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72493567"/>
                  </a:ext>
                </a:extLst>
              </a:tr>
            </a:tbl>
          </a:graphicData>
        </a:graphic>
      </p:graphicFrame>
      <p:sp>
        <p:nvSpPr>
          <p:cNvPr id="3" name="スライド番号プレースホルダー 3">
            <a:extLst>
              <a:ext uri="{FF2B5EF4-FFF2-40B4-BE49-F238E27FC236}">
                <a16:creationId xmlns:a16="http://schemas.microsoft.com/office/drawing/2014/main" id="{A049C7E2-21BF-C27F-EAB5-CE13DDC31FB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14</a:t>
            </a:fld>
            <a:endParaRPr kumimoji="1" lang="ja-JP" altLang="en-US" sz="700"/>
          </a:p>
        </p:txBody>
      </p:sp>
    </p:spTree>
    <p:extLst>
      <p:ext uri="{BB962C8B-B14F-4D97-AF65-F5344CB8AC3E}">
        <p14:creationId xmlns:p14="http://schemas.microsoft.com/office/powerpoint/2010/main" val="410533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F458-96C4-914B-3AD2-76D72D8ADC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A63786-D3E4-8CEC-D8C5-B8127CDA6ABA}"/>
              </a:ext>
            </a:extLst>
          </p:cNvPr>
          <p:cNvSpPr>
            <a:spLocks noGrp="1"/>
          </p:cNvSpPr>
          <p:nvPr>
            <p:ph type="title"/>
          </p:nvPr>
        </p:nvSpPr>
        <p:spPr/>
        <p:txBody>
          <a:bodyPr/>
          <a:lstStyle/>
          <a:p>
            <a:r>
              <a:rPr kumimoji="1" lang="en-US" altLang="ja-JP"/>
              <a:t>3-4</a:t>
            </a:r>
            <a:r>
              <a:rPr kumimoji="1" lang="ja-JP" altLang="en-US"/>
              <a:t>．品質管理①（レビュー）</a:t>
            </a:r>
          </a:p>
        </p:txBody>
      </p:sp>
      <p:sp>
        <p:nvSpPr>
          <p:cNvPr id="4" name="フッター プレースホルダー 3">
            <a:extLst>
              <a:ext uri="{FF2B5EF4-FFF2-40B4-BE49-F238E27FC236}">
                <a16:creationId xmlns:a16="http://schemas.microsoft.com/office/drawing/2014/main" id="{8D4A32C6-27F4-6279-203F-A17B44BAC783}"/>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6D81EDC2-FBAA-C609-8C43-E5AC84EB0E4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a:p>
        </p:txBody>
      </p:sp>
      <p:sp>
        <p:nvSpPr>
          <p:cNvPr id="7" name="テキスト ボックス 6">
            <a:extLst>
              <a:ext uri="{FF2B5EF4-FFF2-40B4-BE49-F238E27FC236}">
                <a16:creationId xmlns:a16="http://schemas.microsoft.com/office/drawing/2014/main" id="{9C6AFBDE-553B-580B-9865-4CFDB141B871}"/>
              </a:ext>
            </a:extLst>
          </p:cNvPr>
          <p:cNvSpPr txBox="1"/>
          <p:nvPr/>
        </p:nvSpPr>
        <p:spPr>
          <a:xfrm>
            <a:off x="1162800" y="1190797"/>
            <a:ext cx="10332000" cy="360000"/>
          </a:xfrm>
          <a:prstGeom prst="rect">
            <a:avLst/>
          </a:prstGeom>
          <a:noFill/>
        </p:spPr>
        <p:txBody>
          <a:bodyPr wrap="square" lIns="108000" rIns="108000" rtlCol="0" anchor="ctr">
            <a:noAutofit/>
          </a:bodyPr>
          <a:lstStyle/>
          <a:p>
            <a:r>
              <a:rPr kumimoji="1" lang="ja-JP" altLang="en-US" b="1">
                <a:solidFill>
                  <a:schemeClr val="tx1">
                    <a:lumMod val="75000"/>
                    <a:lumOff val="25000"/>
                  </a:schemeClr>
                </a:solidFill>
                <a:latin typeface="+mn-ea"/>
              </a:rPr>
              <a:t>弊社内局面レビューによる承認</a:t>
            </a:r>
          </a:p>
        </p:txBody>
      </p:sp>
      <p:sp>
        <p:nvSpPr>
          <p:cNvPr id="8" name="テキスト ボックス 7">
            <a:extLst>
              <a:ext uri="{FF2B5EF4-FFF2-40B4-BE49-F238E27FC236}">
                <a16:creationId xmlns:a16="http://schemas.microsoft.com/office/drawing/2014/main" id="{DF368951-E6BC-0D61-A592-9C22E9BFC1E0}"/>
              </a:ext>
            </a:extLst>
          </p:cNvPr>
          <p:cNvSpPr txBox="1"/>
          <p:nvPr/>
        </p:nvSpPr>
        <p:spPr>
          <a:xfrm>
            <a:off x="1162800" y="3198407"/>
            <a:ext cx="10332000" cy="360000"/>
          </a:xfrm>
          <a:prstGeom prst="rect">
            <a:avLst/>
          </a:prstGeom>
          <a:noFill/>
        </p:spPr>
        <p:txBody>
          <a:bodyPr wrap="square" lIns="108000" rIns="108000" rtlCol="0" anchor="ctr">
            <a:noAutofit/>
          </a:bodyPr>
          <a:lstStyle/>
          <a:p>
            <a:r>
              <a:rPr lang="ja-JP" altLang="en-US" b="1">
                <a:solidFill>
                  <a:schemeClr val="tx1">
                    <a:lumMod val="75000"/>
                    <a:lumOff val="25000"/>
                  </a:schemeClr>
                </a:solidFill>
                <a:latin typeface="+mn-ea"/>
              </a:rPr>
              <a:t>貴社レビューの定期的な実施</a:t>
            </a:r>
            <a:endParaRPr kumimoji="1" lang="ja-JP" altLang="en-US" b="1">
              <a:solidFill>
                <a:schemeClr val="tx1">
                  <a:lumMod val="75000"/>
                  <a:lumOff val="25000"/>
                </a:schemeClr>
              </a:solidFill>
              <a:latin typeface="+mn-ea"/>
            </a:endParaRPr>
          </a:p>
        </p:txBody>
      </p:sp>
      <p:sp>
        <p:nvSpPr>
          <p:cNvPr id="10" name="テキスト ボックス 9">
            <a:extLst>
              <a:ext uri="{FF2B5EF4-FFF2-40B4-BE49-F238E27FC236}">
                <a16:creationId xmlns:a16="http://schemas.microsoft.com/office/drawing/2014/main" id="{C5B716BB-1D91-3DEC-2B78-CB118A7BAC35}"/>
              </a:ext>
            </a:extLst>
          </p:cNvPr>
          <p:cNvSpPr txBox="1"/>
          <p:nvPr/>
        </p:nvSpPr>
        <p:spPr>
          <a:xfrm>
            <a:off x="694800" y="3702406"/>
            <a:ext cx="10800000" cy="1052389"/>
          </a:xfrm>
          <a:prstGeom prst="rect">
            <a:avLst/>
          </a:prstGeom>
          <a:noFill/>
        </p:spPr>
        <p:txBody>
          <a:bodyPr wrap="square" lIns="108000" tIns="45720" rIns="108000" bIns="45720" rtlCol="0" anchor="t">
            <a:noAutofit/>
          </a:bodyPr>
          <a:lstStyle/>
          <a:p>
            <a:r>
              <a:rPr lang="ja-JP" altLang="en-US" sz="1600" b="1">
                <a:solidFill>
                  <a:srgbClr val="0000FF"/>
                </a:solidFill>
                <a:latin typeface="游ゴシック"/>
                <a:ea typeface="游ゴシック"/>
              </a:rPr>
              <a:t>仕様認識の齟齬、手戻りを防止</a:t>
            </a:r>
            <a:r>
              <a:rPr lang="ja-JP" altLang="en-US" sz="1600">
                <a:latin typeface="游ゴシック"/>
                <a:ea typeface="游ゴシック"/>
              </a:rPr>
              <a:t>を目的として、各工程の終了時には、必ず貴社のレビューを定期的に実施いただき、両社間の認識合わせをさせていただいた上で作業を進めることといたします。特に上流工程（要件定義および設計）でのレビューにより検出した問題は、テスト工程以降で発覚する場合と比べ、対応工数が大きく削減されると考えますため、密にレビューの実施をさせていただければと考えております。</a:t>
            </a:r>
            <a:endParaRPr lang="en-US" altLang="ja-JP" sz="1600">
              <a:latin typeface="游ゴシック"/>
              <a:ea typeface="游ゴシック"/>
            </a:endParaRPr>
          </a:p>
        </p:txBody>
      </p:sp>
      <p:sp>
        <p:nvSpPr>
          <p:cNvPr id="11" name="楕円 10">
            <a:extLst>
              <a:ext uri="{FF2B5EF4-FFF2-40B4-BE49-F238E27FC236}">
                <a16:creationId xmlns:a16="http://schemas.microsoft.com/office/drawing/2014/main" id="{8DBE8A56-A456-943E-4CF6-25CAF35ED5BA}"/>
              </a:ext>
            </a:extLst>
          </p:cNvPr>
          <p:cNvSpPr>
            <a:spLocks/>
          </p:cNvSpPr>
          <p:nvPr/>
        </p:nvSpPr>
        <p:spPr>
          <a:xfrm>
            <a:off x="696000" y="1154797"/>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2" name="楕円 11">
            <a:extLst>
              <a:ext uri="{FF2B5EF4-FFF2-40B4-BE49-F238E27FC236}">
                <a16:creationId xmlns:a16="http://schemas.microsoft.com/office/drawing/2014/main" id="{5770467B-651C-7178-14C6-C9E865A4E927}"/>
              </a:ext>
            </a:extLst>
          </p:cNvPr>
          <p:cNvSpPr>
            <a:spLocks/>
          </p:cNvSpPr>
          <p:nvPr/>
        </p:nvSpPr>
        <p:spPr>
          <a:xfrm>
            <a:off x="696000" y="3162407"/>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
        <p:nvSpPr>
          <p:cNvPr id="13" name="テキスト ボックス 29">
            <a:extLst>
              <a:ext uri="{FF2B5EF4-FFF2-40B4-BE49-F238E27FC236}">
                <a16:creationId xmlns:a16="http://schemas.microsoft.com/office/drawing/2014/main" id="{DF54245D-293A-BD90-B1E8-9AA2FE49F19B}"/>
              </a:ext>
            </a:extLst>
          </p:cNvPr>
          <p:cNvSpPr txBox="1"/>
          <p:nvPr/>
        </p:nvSpPr>
        <p:spPr>
          <a:xfrm>
            <a:off x="672000" y="1689204"/>
            <a:ext cx="10800000" cy="792000"/>
          </a:xfrm>
          <a:prstGeom prst="rect">
            <a:avLst/>
          </a:prstGeom>
          <a:noFill/>
        </p:spPr>
        <p:txBody>
          <a:bodyPr wrap="square" lIns="108000" rIns="10800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ja-JP" altLang="en-US" sz="1600">
                <a:latin typeface="+mn-ea"/>
              </a:rPr>
              <a:t>弊社品質向上委員会で定めている「品質保証基本方針」に従い、弊社内での局面レビューを実施することで、</a:t>
            </a:r>
            <a:r>
              <a:rPr lang="ja-JP" altLang="en-US" sz="1600" b="1">
                <a:solidFill>
                  <a:srgbClr val="0000FF"/>
                </a:solidFill>
              </a:rPr>
              <a:t>システムエグゼとして品質の担保</a:t>
            </a:r>
            <a:r>
              <a:rPr lang="ja-JP" altLang="en-US" sz="1600"/>
              <a:t>を図ります。</a:t>
            </a:r>
            <a:r>
              <a:rPr lang="ja-JP" altLang="en-US" sz="1600">
                <a:latin typeface="+mn-ea"/>
              </a:rPr>
              <a:t>また、規定されたプロセスに則り、プロジェクトを進めることにより、</a:t>
            </a:r>
            <a:r>
              <a:rPr lang="en-US" altLang="zh-TW" sz="1600">
                <a:latin typeface="游ゴシック" panose="020B0400000000000000" pitchFamily="50" charset="-128"/>
                <a:ea typeface="游ゴシック" panose="020B0400000000000000" pitchFamily="50" charset="-128"/>
              </a:rPr>
              <a:t>P</a:t>
            </a:r>
            <a:r>
              <a:rPr lang="zh-TW" altLang="en-US" sz="1600">
                <a:latin typeface="游ゴシック" panose="020B0400000000000000" pitchFamily="50" charset="-128"/>
                <a:ea typeface="游ゴシック" panose="020B0400000000000000" pitchFamily="50" charset="-128"/>
              </a:rPr>
              <a:t>（計画）</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D</a:t>
            </a:r>
            <a:r>
              <a:rPr lang="zh-TW" altLang="en-US" sz="1600">
                <a:latin typeface="游ゴシック" panose="020B0400000000000000" pitchFamily="50" charset="-128"/>
                <a:ea typeface="游ゴシック" panose="020B0400000000000000" pitchFamily="50" charset="-128"/>
              </a:rPr>
              <a:t>（実行）</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C</a:t>
            </a:r>
            <a:r>
              <a:rPr lang="zh-TW" altLang="en-US"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検証</a:t>
            </a:r>
            <a:r>
              <a:rPr lang="zh-TW" altLang="en-US"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A</a:t>
            </a:r>
            <a:r>
              <a:rPr lang="zh-TW" altLang="en-US" sz="1600">
                <a:latin typeface="游ゴシック" panose="020B0400000000000000" pitchFamily="50" charset="-128"/>
                <a:ea typeface="游ゴシック" panose="020B0400000000000000" pitchFamily="50" charset="-128"/>
              </a:rPr>
              <a:t>（改善）</a:t>
            </a:r>
            <a:r>
              <a:rPr lang="ja-JP" altLang="en-US" sz="1600">
                <a:latin typeface="+mn-ea"/>
                <a:ea typeface="游ゴシック" panose="020B0400000000000000" pitchFamily="50" charset="-128"/>
              </a:rPr>
              <a:t>を</a:t>
            </a:r>
            <a:r>
              <a:rPr lang="ja-JP" altLang="en-US" sz="1600">
                <a:latin typeface="+mn-ea"/>
              </a:rPr>
              <a:t>徹底し、</a:t>
            </a:r>
            <a:r>
              <a:rPr lang="ja-JP" altLang="en-US" sz="1600" b="1">
                <a:solidFill>
                  <a:srgbClr val="0000FF"/>
                </a:solidFill>
                <a:latin typeface="+mn-ea"/>
              </a:rPr>
              <a:t>継続的な品質強化活動</a:t>
            </a:r>
            <a:r>
              <a:rPr lang="ja-JP" altLang="en-US" sz="1600">
                <a:latin typeface="+mn-ea"/>
              </a:rPr>
              <a:t>につなげてまいります。</a:t>
            </a:r>
          </a:p>
        </p:txBody>
      </p:sp>
    </p:spTree>
    <p:extLst>
      <p:ext uri="{BB962C8B-B14F-4D97-AF65-F5344CB8AC3E}">
        <p14:creationId xmlns:p14="http://schemas.microsoft.com/office/powerpoint/2010/main" val="574986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ECC7-446B-9AE7-17C0-64E88854BE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29830A-A6DA-E061-238F-A58898C4E264}"/>
              </a:ext>
            </a:extLst>
          </p:cNvPr>
          <p:cNvSpPr>
            <a:spLocks noGrp="1"/>
          </p:cNvSpPr>
          <p:nvPr>
            <p:ph type="title"/>
          </p:nvPr>
        </p:nvSpPr>
        <p:spPr/>
        <p:txBody>
          <a:bodyPr/>
          <a:lstStyle/>
          <a:p>
            <a:r>
              <a:rPr lang="en-US" altLang="ja-JP"/>
              <a:t>3</a:t>
            </a:r>
            <a:r>
              <a:rPr kumimoji="1" lang="en-US" altLang="ja-JP"/>
              <a:t>-5</a:t>
            </a:r>
            <a:r>
              <a:rPr kumimoji="1" lang="ja-JP" altLang="en-US"/>
              <a:t>．品質管理②（製造・テスト）</a:t>
            </a:r>
          </a:p>
        </p:txBody>
      </p:sp>
      <p:sp>
        <p:nvSpPr>
          <p:cNvPr id="4" name="フッター プレースホルダー 3">
            <a:extLst>
              <a:ext uri="{FF2B5EF4-FFF2-40B4-BE49-F238E27FC236}">
                <a16:creationId xmlns:a16="http://schemas.microsoft.com/office/drawing/2014/main" id="{45DB197C-E308-E2A0-CEC9-DF317715F5DA}"/>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7AB39FD5-9344-79B0-E3BE-7B234A2A46E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16</a:t>
            </a:fld>
            <a:endParaRPr kumimoji="1" lang="ja-JP" altLang="en-US" sz="700"/>
          </a:p>
        </p:txBody>
      </p:sp>
      <p:sp>
        <p:nvSpPr>
          <p:cNvPr id="7" name="テキスト ボックス 6">
            <a:extLst>
              <a:ext uri="{FF2B5EF4-FFF2-40B4-BE49-F238E27FC236}">
                <a16:creationId xmlns:a16="http://schemas.microsoft.com/office/drawing/2014/main" id="{30EA0A18-243F-E3F5-972F-48C6EF6D2965}"/>
              </a:ext>
            </a:extLst>
          </p:cNvPr>
          <p:cNvSpPr txBox="1"/>
          <p:nvPr/>
        </p:nvSpPr>
        <p:spPr>
          <a:xfrm>
            <a:off x="694800" y="1027302"/>
            <a:ext cx="10250840" cy="5298085"/>
          </a:xfrm>
          <a:prstGeom prst="rect">
            <a:avLst/>
          </a:prstGeom>
          <a:noFill/>
        </p:spPr>
        <p:txBody>
          <a:bodyPr wrap="square" lIns="108000" rIns="108000" rtlCol="0" anchor="t">
            <a:noAutofit/>
          </a:bodyPr>
          <a:lstStyle/>
          <a:p>
            <a:pPr marL="0" lvl="2">
              <a:tabLst>
                <a:tab pos="990600" algn="l"/>
              </a:tabLst>
            </a:pPr>
            <a:r>
              <a:rPr lang="ja-JP" altLang="en-US" b="1">
                <a:latin typeface="+mn-ea"/>
              </a:rPr>
              <a:t>　　製造の品質管理</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基本設計と並行して</a:t>
            </a:r>
            <a:r>
              <a:rPr lang="ja-JP" altLang="en-US" sz="1600" b="1">
                <a:solidFill>
                  <a:srgbClr val="0000FF"/>
                </a:solidFill>
                <a:latin typeface="+mn-ea"/>
              </a:rPr>
              <a:t>標準化分析</a:t>
            </a:r>
            <a:r>
              <a:rPr lang="ja-JP" altLang="en-US" sz="1600">
                <a:latin typeface="+mn-ea"/>
              </a:rPr>
              <a:t>を実施し、共通機能の設計・製造・テストを業務機能に先行して行います。 </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共通機能は</a:t>
            </a:r>
            <a:r>
              <a:rPr lang="ja-JP" altLang="en-US" sz="1600" b="1">
                <a:solidFill>
                  <a:srgbClr val="0000FF"/>
                </a:solidFill>
                <a:latin typeface="+mn-ea"/>
              </a:rPr>
              <a:t>フレームワーク</a:t>
            </a:r>
            <a:r>
              <a:rPr lang="ja-JP" altLang="en-US" sz="1600">
                <a:latin typeface="+mn-ea"/>
              </a:rPr>
              <a:t>や</a:t>
            </a:r>
            <a:r>
              <a:rPr lang="ja-JP" altLang="en-US" sz="1600" b="1">
                <a:solidFill>
                  <a:srgbClr val="0000FF"/>
                </a:solidFill>
                <a:latin typeface="+mn-ea"/>
              </a:rPr>
              <a:t>共通部品</a:t>
            </a:r>
            <a:r>
              <a:rPr lang="ja-JP" altLang="en-US" sz="1600">
                <a:latin typeface="+mn-ea"/>
              </a:rPr>
              <a:t>、</a:t>
            </a:r>
            <a:r>
              <a:rPr lang="ja-JP" altLang="en-US" sz="1600" b="1">
                <a:solidFill>
                  <a:srgbClr val="0000FF"/>
                </a:solidFill>
                <a:latin typeface="+mn-ea"/>
              </a:rPr>
              <a:t>共通サービス</a:t>
            </a:r>
            <a:r>
              <a:rPr lang="ja-JP" altLang="en-US" sz="1600">
                <a:latin typeface="+mn-ea"/>
              </a:rPr>
              <a:t>として提供することで、コーディング・テスト量を軽減し、一定の品質を担保します。</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a:t>
            </a:r>
            <a:r>
              <a:rPr lang="ja-JP" altLang="en-US" sz="1600" b="1">
                <a:solidFill>
                  <a:srgbClr val="0000FF"/>
                </a:solidFill>
                <a:latin typeface="+mn-ea"/>
              </a:rPr>
              <a:t>開発標準</a:t>
            </a:r>
            <a:r>
              <a:rPr lang="ja-JP" altLang="en-US" sz="1600">
                <a:latin typeface="+mn-ea"/>
              </a:rPr>
              <a:t>（実装規約、フレームワーク／共通部品を前提とした製造手順の定義など）を策定し、開発前に</a:t>
            </a:r>
            <a:br>
              <a:rPr lang="en-US" altLang="ja-JP" sz="1600">
                <a:latin typeface="+mn-ea"/>
              </a:rPr>
            </a:br>
            <a:r>
              <a:rPr lang="ja-JP" altLang="en-US" sz="1600">
                <a:latin typeface="+mn-ea"/>
              </a:rPr>
              <a:t> メンバーへの教育を実施します。</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a:t>
            </a:r>
            <a:r>
              <a:rPr lang="ja-JP" altLang="en-US" sz="1600" b="1">
                <a:solidFill>
                  <a:srgbClr val="0000FF"/>
                </a:solidFill>
                <a:latin typeface="+mn-ea"/>
              </a:rPr>
              <a:t>コーディング規約</a:t>
            </a:r>
            <a:r>
              <a:rPr lang="ja-JP" altLang="en-US" sz="1600">
                <a:latin typeface="+mn-ea"/>
              </a:rPr>
              <a:t>の定義と、</a:t>
            </a:r>
            <a:r>
              <a:rPr lang="ja-JP" altLang="en-US" sz="1600" b="1">
                <a:solidFill>
                  <a:srgbClr val="0000FF"/>
                </a:solidFill>
                <a:latin typeface="+mn-ea"/>
              </a:rPr>
              <a:t>サンプル提供</a:t>
            </a:r>
            <a:r>
              <a:rPr lang="ja-JP" altLang="en-US" sz="1600">
                <a:latin typeface="+mn-ea"/>
              </a:rPr>
              <a:t>により、品質のばらつきやシステム内の不統一を抑制します。</a:t>
            </a:r>
            <a:endParaRPr lang="en-US" altLang="ja-JP" sz="1600">
              <a:latin typeface="+mn-ea"/>
            </a:endParaRPr>
          </a:p>
          <a:p>
            <a:pPr marL="0" lvl="2">
              <a:spcBef>
                <a:spcPts val="1200"/>
              </a:spcBef>
              <a:tabLst>
                <a:tab pos="990600" algn="l"/>
              </a:tabLst>
            </a:pPr>
            <a:endParaRPr lang="en-US" altLang="ja-JP" sz="1600">
              <a:latin typeface="+mn-ea"/>
            </a:endParaRPr>
          </a:p>
          <a:p>
            <a:pPr marL="0" lvl="2">
              <a:spcBef>
                <a:spcPts val="1200"/>
              </a:spcBef>
              <a:tabLst>
                <a:tab pos="990600" algn="l"/>
              </a:tabLst>
            </a:pPr>
            <a:r>
              <a:rPr lang="ja-JP" altLang="en-US" sz="1600" b="1">
                <a:latin typeface="+mn-ea"/>
              </a:rPr>
              <a:t>　　</a:t>
            </a:r>
            <a:r>
              <a:rPr lang="ja-JP" altLang="en-US" b="1">
                <a:latin typeface="+mn-ea"/>
              </a:rPr>
              <a:t>テストの品質管理</a:t>
            </a:r>
            <a:endParaRPr lang="en-US" altLang="ja-JP" b="1">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基本設計工程にて、</a:t>
            </a:r>
            <a:r>
              <a:rPr lang="ja-JP" altLang="en-US" sz="1600" b="1">
                <a:solidFill>
                  <a:srgbClr val="0000FF"/>
                </a:solidFill>
                <a:latin typeface="+mn-ea"/>
              </a:rPr>
              <a:t>全体テスト計画</a:t>
            </a:r>
            <a:r>
              <a:rPr lang="ja-JP" altLang="en-US" sz="1600">
                <a:latin typeface="+mn-ea"/>
              </a:rPr>
              <a:t>を策定し、各テスト工程の方針・目的、範囲、環境等を決定します。</a:t>
            </a:r>
          </a:p>
          <a:p>
            <a:pPr marL="285750" lvl="2" indent="-285750">
              <a:spcBef>
                <a:spcPts val="1200"/>
              </a:spcBef>
              <a:buFont typeface="Wingdings" panose="05000000000000000000" pitchFamily="2" charset="2"/>
              <a:buChar char="ü"/>
              <a:tabLst>
                <a:tab pos="990600" algn="l"/>
              </a:tabLst>
            </a:pPr>
            <a:r>
              <a:rPr lang="ja-JP" altLang="en-US" sz="1600">
                <a:latin typeface="+mn-ea"/>
              </a:rPr>
              <a:t>全体テスト計画を元に、各テスト工程ごとに</a:t>
            </a:r>
            <a:r>
              <a:rPr lang="ja-JP" altLang="en-US" sz="1600" b="1">
                <a:solidFill>
                  <a:srgbClr val="0000FF"/>
                </a:solidFill>
                <a:latin typeface="+mn-ea"/>
              </a:rPr>
              <a:t>詳細テスト計画</a:t>
            </a:r>
            <a:r>
              <a:rPr lang="ja-JP" altLang="en-US" sz="1600">
                <a:latin typeface="+mn-ea"/>
              </a:rPr>
              <a:t>を策定します。</a:t>
            </a:r>
          </a:p>
          <a:p>
            <a:pPr marL="285750" lvl="2" indent="-285750">
              <a:spcBef>
                <a:spcPts val="1200"/>
              </a:spcBef>
              <a:buFont typeface="Wingdings" panose="05000000000000000000" pitchFamily="2" charset="2"/>
              <a:buChar char="ü"/>
              <a:tabLst>
                <a:tab pos="990600" algn="l"/>
              </a:tabLst>
            </a:pPr>
            <a:r>
              <a:rPr lang="ja-JP" altLang="en-US" sz="1600">
                <a:latin typeface="+mn-ea"/>
              </a:rPr>
              <a:t>テスト計画には主に下記を定義し、</a:t>
            </a:r>
            <a:r>
              <a:rPr lang="ja-JP" altLang="en-US" sz="1600" b="1">
                <a:solidFill>
                  <a:srgbClr val="0000FF"/>
                </a:solidFill>
                <a:latin typeface="+mn-ea"/>
              </a:rPr>
              <a:t>品質基準</a:t>
            </a:r>
            <a:r>
              <a:rPr lang="ja-JP" altLang="en-US" sz="1600">
                <a:latin typeface="+mn-ea"/>
              </a:rPr>
              <a:t>（テスト網羅度・不具合検出度</a:t>
            </a:r>
            <a:r>
              <a:rPr lang="en-US" altLang="ja-JP" sz="1600">
                <a:latin typeface="+mn-ea"/>
              </a:rPr>
              <a:t>/</a:t>
            </a:r>
            <a:r>
              <a:rPr lang="ja-JP" altLang="en-US" sz="1600">
                <a:latin typeface="+mn-ea"/>
              </a:rPr>
              <a:t>収束曲線）を満たすことで</a:t>
            </a:r>
            <a:br>
              <a:rPr lang="ja-JP" altLang="en-US" sz="1600">
                <a:latin typeface="+mn-ea"/>
              </a:rPr>
            </a:br>
            <a:r>
              <a:rPr lang="ja-JP" altLang="en-US" sz="1600">
                <a:latin typeface="+mn-ea"/>
              </a:rPr>
              <a:t>品質を保証します。</a:t>
            </a:r>
            <a:br>
              <a:rPr lang="en-US" altLang="ja-JP" sz="1600">
                <a:latin typeface="+mn-ea"/>
              </a:rPr>
            </a:br>
            <a:r>
              <a:rPr lang="ja-JP" altLang="en-US" sz="1600">
                <a:latin typeface="+mn-ea"/>
              </a:rPr>
              <a:t>テストケース・テストデータ作成基準、エビデンス取得基準、テスト着手・終了条件、テスト実施フロー、</a:t>
            </a:r>
            <a:br>
              <a:rPr lang="en-US" altLang="ja-JP" sz="1600">
                <a:latin typeface="+mn-ea"/>
              </a:rPr>
            </a:br>
            <a:r>
              <a:rPr lang="ja-JP" altLang="en-US" sz="1600">
                <a:latin typeface="+mn-ea"/>
              </a:rPr>
              <a:t>不具合発生の品質基準値、障害分析と対応方法</a:t>
            </a:r>
          </a:p>
        </p:txBody>
      </p:sp>
      <p:sp>
        <p:nvSpPr>
          <p:cNvPr id="8" name="楕円 7">
            <a:extLst>
              <a:ext uri="{FF2B5EF4-FFF2-40B4-BE49-F238E27FC236}">
                <a16:creationId xmlns:a16="http://schemas.microsoft.com/office/drawing/2014/main" id="{1545CD3B-B9B6-C339-4C31-1FC736A7F128}"/>
              </a:ext>
            </a:extLst>
          </p:cNvPr>
          <p:cNvSpPr>
            <a:spLocks/>
          </p:cNvSpPr>
          <p:nvPr/>
        </p:nvSpPr>
        <p:spPr>
          <a:xfrm>
            <a:off x="720000" y="970771"/>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0" name="楕円 9">
            <a:extLst>
              <a:ext uri="{FF2B5EF4-FFF2-40B4-BE49-F238E27FC236}">
                <a16:creationId xmlns:a16="http://schemas.microsoft.com/office/drawing/2014/main" id="{3C9612AC-DC82-A974-5708-864C6715D5BC}"/>
              </a:ext>
            </a:extLst>
          </p:cNvPr>
          <p:cNvSpPr>
            <a:spLocks/>
          </p:cNvSpPr>
          <p:nvPr/>
        </p:nvSpPr>
        <p:spPr>
          <a:xfrm>
            <a:off x="694800" y="3874496"/>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Tree>
    <p:extLst>
      <p:ext uri="{BB962C8B-B14F-4D97-AF65-F5344CB8AC3E}">
        <p14:creationId xmlns:p14="http://schemas.microsoft.com/office/powerpoint/2010/main" val="3649064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2252-3147-38F1-9A05-B8EEA1684F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7E1B7E-442E-6CAB-D18D-A13BD7AF3944}"/>
              </a:ext>
            </a:extLst>
          </p:cNvPr>
          <p:cNvSpPr>
            <a:spLocks noGrp="1"/>
          </p:cNvSpPr>
          <p:nvPr>
            <p:ph type="title"/>
          </p:nvPr>
        </p:nvSpPr>
        <p:spPr/>
        <p:txBody>
          <a:bodyPr/>
          <a:lstStyle/>
          <a:p>
            <a:r>
              <a:rPr lang="en-US" altLang="ja-JP" dirty="0"/>
              <a:t>3-6</a:t>
            </a:r>
            <a:r>
              <a:rPr kumimoji="1" lang="ja-JP" altLang="en-US"/>
              <a:t>．スケジュール</a:t>
            </a:r>
            <a:r>
              <a:rPr lang="ja-JP" altLang="en-US"/>
              <a:t>案</a:t>
            </a:r>
            <a:r>
              <a:rPr lang="en-US" altLang="ja-JP"/>
              <a:t>(</a:t>
            </a:r>
            <a:r>
              <a:rPr lang="ja-JP" altLang="en-US"/>
              <a:t>ウォーターフォール開発の場合</a:t>
            </a:r>
            <a:r>
              <a:rPr lang="en-US" altLang="ja-JP"/>
              <a:t>)</a:t>
            </a:r>
            <a:endParaRPr kumimoji="1" lang="ja-JP" altLang="en-US"/>
          </a:p>
        </p:txBody>
      </p:sp>
      <p:sp>
        <p:nvSpPr>
          <p:cNvPr id="4" name="フッター プレースホルダー 3">
            <a:extLst>
              <a:ext uri="{FF2B5EF4-FFF2-40B4-BE49-F238E27FC236}">
                <a16:creationId xmlns:a16="http://schemas.microsoft.com/office/drawing/2014/main" id="{3C9ECFEC-CFC9-54B1-36B1-15994A9B84CA}"/>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B14F378B-A52C-775F-611F-885B1AE3CA13}"/>
              </a:ext>
            </a:extLst>
          </p:cNvPr>
          <p:cNvGraphicFramePr>
            <a:graphicFrameLocks noGrp="1"/>
          </p:cNvGraphicFramePr>
          <p:nvPr/>
        </p:nvGraphicFramePr>
        <p:xfrm>
          <a:off x="576000" y="914403"/>
          <a:ext cx="11301962" cy="5328000"/>
        </p:xfrm>
        <a:graphic>
          <a:graphicData uri="http://schemas.openxmlformats.org/drawingml/2006/table">
            <a:tbl>
              <a:tblPr firstRow="1" bandRow="1">
                <a:tableStyleId>{2D5ABB26-0587-4C30-8999-92F81FD0307C}</a:tableStyleId>
              </a:tblPr>
              <a:tblGrid>
                <a:gridCol w="1059906">
                  <a:extLst>
                    <a:ext uri="{9D8B030D-6E8A-4147-A177-3AD203B41FA5}">
                      <a16:colId xmlns:a16="http://schemas.microsoft.com/office/drawing/2014/main" val="390000680"/>
                    </a:ext>
                  </a:extLst>
                </a:gridCol>
                <a:gridCol w="465548">
                  <a:extLst>
                    <a:ext uri="{9D8B030D-6E8A-4147-A177-3AD203B41FA5}">
                      <a16:colId xmlns:a16="http://schemas.microsoft.com/office/drawing/2014/main" val="2810377369"/>
                    </a:ext>
                  </a:extLst>
                </a:gridCol>
                <a:gridCol w="465548">
                  <a:extLst>
                    <a:ext uri="{9D8B030D-6E8A-4147-A177-3AD203B41FA5}">
                      <a16:colId xmlns:a16="http://schemas.microsoft.com/office/drawing/2014/main" val="1394774728"/>
                    </a:ext>
                  </a:extLst>
                </a:gridCol>
                <a:gridCol w="465548">
                  <a:extLst>
                    <a:ext uri="{9D8B030D-6E8A-4147-A177-3AD203B41FA5}">
                      <a16:colId xmlns:a16="http://schemas.microsoft.com/office/drawing/2014/main" val="534760887"/>
                    </a:ext>
                  </a:extLst>
                </a:gridCol>
                <a:gridCol w="465548">
                  <a:extLst>
                    <a:ext uri="{9D8B030D-6E8A-4147-A177-3AD203B41FA5}">
                      <a16:colId xmlns:a16="http://schemas.microsoft.com/office/drawing/2014/main" val="491088751"/>
                    </a:ext>
                  </a:extLst>
                </a:gridCol>
                <a:gridCol w="465548">
                  <a:extLst>
                    <a:ext uri="{9D8B030D-6E8A-4147-A177-3AD203B41FA5}">
                      <a16:colId xmlns:a16="http://schemas.microsoft.com/office/drawing/2014/main" val="814744698"/>
                    </a:ext>
                  </a:extLst>
                </a:gridCol>
                <a:gridCol w="465548">
                  <a:extLst>
                    <a:ext uri="{9D8B030D-6E8A-4147-A177-3AD203B41FA5}">
                      <a16:colId xmlns:a16="http://schemas.microsoft.com/office/drawing/2014/main" val="611941371"/>
                    </a:ext>
                  </a:extLst>
                </a:gridCol>
                <a:gridCol w="465548">
                  <a:extLst>
                    <a:ext uri="{9D8B030D-6E8A-4147-A177-3AD203B41FA5}">
                      <a16:colId xmlns:a16="http://schemas.microsoft.com/office/drawing/2014/main" val="1302714029"/>
                    </a:ext>
                  </a:extLst>
                </a:gridCol>
                <a:gridCol w="465548">
                  <a:extLst>
                    <a:ext uri="{9D8B030D-6E8A-4147-A177-3AD203B41FA5}">
                      <a16:colId xmlns:a16="http://schemas.microsoft.com/office/drawing/2014/main" val="4050933131"/>
                    </a:ext>
                  </a:extLst>
                </a:gridCol>
                <a:gridCol w="465548">
                  <a:extLst>
                    <a:ext uri="{9D8B030D-6E8A-4147-A177-3AD203B41FA5}">
                      <a16:colId xmlns:a16="http://schemas.microsoft.com/office/drawing/2014/main" val="4066967415"/>
                    </a:ext>
                  </a:extLst>
                </a:gridCol>
                <a:gridCol w="465548">
                  <a:extLst>
                    <a:ext uri="{9D8B030D-6E8A-4147-A177-3AD203B41FA5}">
                      <a16:colId xmlns:a16="http://schemas.microsoft.com/office/drawing/2014/main" val="2818331606"/>
                    </a:ext>
                  </a:extLst>
                </a:gridCol>
                <a:gridCol w="465548">
                  <a:extLst>
                    <a:ext uri="{9D8B030D-6E8A-4147-A177-3AD203B41FA5}">
                      <a16:colId xmlns:a16="http://schemas.microsoft.com/office/drawing/2014/main" val="4146179240"/>
                    </a:ext>
                  </a:extLst>
                </a:gridCol>
                <a:gridCol w="465548">
                  <a:extLst>
                    <a:ext uri="{9D8B030D-6E8A-4147-A177-3AD203B41FA5}">
                      <a16:colId xmlns:a16="http://schemas.microsoft.com/office/drawing/2014/main" val="728973432"/>
                    </a:ext>
                  </a:extLst>
                </a:gridCol>
                <a:gridCol w="465548">
                  <a:extLst>
                    <a:ext uri="{9D8B030D-6E8A-4147-A177-3AD203B41FA5}">
                      <a16:colId xmlns:a16="http://schemas.microsoft.com/office/drawing/2014/main" val="3881238287"/>
                    </a:ext>
                  </a:extLst>
                </a:gridCol>
                <a:gridCol w="465548">
                  <a:extLst>
                    <a:ext uri="{9D8B030D-6E8A-4147-A177-3AD203B41FA5}">
                      <a16:colId xmlns:a16="http://schemas.microsoft.com/office/drawing/2014/main" val="277738048"/>
                    </a:ext>
                  </a:extLst>
                </a:gridCol>
                <a:gridCol w="465548">
                  <a:extLst>
                    <a:ext uri="{9D8B030D-6E8A-4147-A177-3AD203B41FA5}">
                      <a16:colId xmlns:a16="http://schemas.microsoft.com/office/drawing/2014/main" val="2245800188"/>
                    </a:ext>
                  </a:extLst>
                </a:gridCol>
                <a:gridCol w="465548">
                  <a:extLst>
                    <a:ext uri="{9D8B030D-6E8A-4147-A177-3AD203B41FA5}">
                      <a16:colId xmlns:a16="http://schemas.microsoft.com/office/drawing/2014/main" val="3364924607"/>
                    </a:ext>
                  </a:extLst>
                </a:gridCol>
                <a:gridCol w="465548">
                  <a:extLst>
                    <a:ext uri="{9D8B030D-6E8A-4147-A177-3AD203B41FA5}">
                      <a16:colId xmlns:a16="http://schemas.microsoft.com/office/drawing/2014/main" val="1162656261"/>
                    </a:ext>
                  </a:extLst>
                </a:gridCol>
                <a:gridCol w="465548">
                  <a:extLst>
                    <a:ext uri="{9D8B030D-6E8A-4147-A177-3AD203B41FA5}">
                      <a16:colId xmlns:a16="http://schemas.microsoft.com/office/drawing/2014/main" val="4018854686"/>
                    </a:ext>
                  </a:extLst>
                </a:gridCol>
                <a:gridCol w="465548">
                  <a:extLst>
                    <a:ext uri="{9D8B030D-6E8A-4147-A177-3AD203B41FA5}">
                      <a16:colId xmlns:a16="http://schemas.microsoft.com/office/drawing/2014/main" val="884114068"/>
                    </a:ext>
                  </a:extLst>
                </a:gridCol>
                <a:gridCol w="465548">
                  <a:extLst>
                    <a:ext uri="{9D8B030D-6E8A-4147-A177-3AD203B41FA5}">
                      <a16:colId xmlns:a16="http://schemas.microsoft.com/office/drawing/2014/main" val="3069356078"/>
                    </a:ext>
                  </a:extLst>
                </a:gridCol>
                <a:gridCol w="465548">
                  <a:extLst>
                    <a:ext uri="{9D8B030D-6E8A-4147-A177-3AD203B41FA5}">
                      <a16:colId xmlns:a16="http://schemas.microsoft.com/office/drawing/2014/main" val="4199843941"/>
                    </a:ext>
                  </a:extLst>
                </a:gridCol>
                <a:gridCol w="465548">
                  <a:extLst>
                    <a:ext uri="{9D8B030D-6E8A-4147-A177-3AD203B41FA5}">
                      <a16:colId xmlns:a16="http://schemas.microsoft.com/office/drawing/2014/main" val="743787249"/>
                    </a:ext>
                  </a:extLst>
                </a:gridCol>
              </a:tblGrid>
              <a:tr h="360000">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2">
                  <a:txBody>
                    <a:bodyPr/>
                    <a:lstStyle/>
                    <a:p>
                      <a:pPr algn="ctr"/>
                      <a:r>
                        <a:rPr lang="en-US" altLang="ja-JP" sz="1600" b="1">
                          <a:solidFill>
                            <a:schemeClr val="bg1"/>
                          </a:solidFill>
                          <a:latin typeface="+mn-ea"/>
                          <a:ea typeface="+mn-ea"/>
                        </a:rPr>
                        <a:t>2025 - 2026</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0000">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11</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12</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1</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2</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3</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4</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5</a:t>
                      </a: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6</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7</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8</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9</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648000">
                <a:tc>
                  <a:txBody>
                    <a:bodyPr/>
                    <a:lstStyle/>
                    <a:p>
                      <a:r>
                        <a:rPr kumimoji="1" lang="ja-JP" altLang="en-US" sz="120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1080000">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80000">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900000">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pSp>
        <p:nvGrpSpPr>
          <p:cNvPr id="15" name="グループ化 14">
            <a:extLst>
              <a:ext uri="{FF2B5EF4-FFF2-40B4-BE49-F238E27FC236}">
                <a16:creationId xmlns:a16="http://schemas.microsoft.com/office/drawing/2014/main" id="{8E65E388-5065-E3BB-9589-025A6E8606C5}"/>
              </a:ext>
            </a:extLst>
          </p:cNvPr>
          <p:cNvGrpSpPr/>
          <p:nvPr/>
        </p:nvGrpSpPr>
        <p:grpSpPr>
          <a:xfrm>
            <a:off x="7901227" y="6384022"/>
            <a:ext cx="4221743" cy="372517"/>
            <a:chOff x="2744754" y="513955"/>
            <a:chExt cx="8514710" cy="360050"/>
          </a:xfrm>
        </p:grpSpPr>
        <p:sp>
          <p:nvSpPr>
            <p:cNvPr id="16" name="正方形/長方形 15">
              <a:extLst>
                <a:ext uri="{FF2B5EF4-FFF2-40B4-BE49-F238E27FC236}">
                  <a16:creationId xmlns:a16="http://schemas.microsoft.com/office/drawing/2014/main" id="{836CB94B-D248-FFE9-DA39-638F8966292D}"/>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F7D41A81-7C12-593E-A6C0-6C3295F6AB67}"/>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EC221F3C-3E5D-116E-B476-895060B88E19}"/>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B837D06-9977-50E0-1BCF-197C465FE2C6}"/>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6" name="表 5">
            <a:extLst>
              <a:ext uri="{FF2B5EF4-FFF2-40B4-BE49-F238E27FC236}">
                <a16:creationId xmlns:a16="http://schemas.microsoft.com/office/drawing/2014/main" id="{7AF8AA22-62A8-5BC0-7304-792C9E62C8EE}"/>
              </a:ext>
            </a:extLst>
          </p:cNvPr>
          <p:cNvGraphicFramePr>
            <a:graphicFrameLocks noGrp="1"/>
          </p:cNvGraphicFramePr>
          <p:nvPr/>
        </p:nvGraphicFramePr>
        <p:xfrm>
          <a:off x="2577259" y="4041514"/>
          <a:ext cx="922629" cy="720000"/>
        </p:xfrm>
        <a:graphic>
          <a:graphicData uri="http://schemas.openxmlformats.org/drawingml/2006/table">
            <a:tbl>
              <a:tblPr firstRow="1" bandRow="1">
                <a:tableStyleId>{2D5ABB26-0587-4C30-8999-92F81FD0307C}</a:tableStyleId>
              </a:tblPr>
              <a:tblGrid>
                <a:gridCol w="922629">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要件定義</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D3C83730-6F30-0CB3-4CF4-5B3B710D3F9F}"/>
              </a:ext>
            </a:extLst>
          </p:cNvPr>
          <p:cNvGraphicFramePr>
            <a:graphicFrameLocks noGrp="1"/>
          </p:cNvGraphicFramePr>
          <p:nvPr/>
        </p:nvGraphicFramePr>
        <p:xfrm>
          <a:off x="6304173" y="4041514"/>
          <a:ext cx="970461" cy="720000"/>
        </p:xfrm>
        <a:graphic>
          <a:graphicData uri="http://schemas.openxmlformats.org/drawingml/2006/table">
            <a:tbl>
              <a:tblPr firstRow="1" bandRow="1">
                <a:tableStyleId>{2D5ABB26-0587-4C30-8999-92F81FD0307C}</a:tableStyleId>
              </a:tblPr>
              <a:tblGrid>
                <a:gridCol w="970461">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結合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11" name="表 10">
            <a:extLst>
              <a:ext uri="{FF2B5EF4-FFF2-40B4-BE49-F238E27FC236}">
                <a16:creationId xmlns:a16="http://schemas.microsoft.com/office/drawing/2014/main" id="{66FB581D-A020-121C-E14C-151419D3B847}"/>
              </a:ext>
            </a:extLst>
          </p:cNvPr>
          <p:cNvGraphicFramePr>
            <a:graphicFrameLocks noGrp="1"/>
          </p:cNvGraphicFramePr>
          <p:nvPr/>
        </p:nvGraphicFramePr>
        <p:xfrm>
          <a:off x="7285050" y="4041514"/>
          <a:ext cx="873632" cy="720000"/>
        </p:xfrm>
        <a:graphic>
          <a:graphicData uri="http://schemas.openxmlformats.org/drawingml/2006/table">
            <a:tbl>
              <a:tblPr firstRow="1" bandRow="1">
                <a:tableStyleId>{2D5ABB26-0587-4C30-8999-92F81FD0307C}</a:tableStyleId>
              </a:tblPr>
              <a:tblGrid>
                <a:gridCol w="873632">
                  <a:extLst>
                    <a:ext uri="{9D8B030D-6E8A-4147-A177-3AD203B41FA5}">
                      <a16:colId xmlns:a16="http://schemas.microsoft.com/office/drawing/2014/main" val="2823374101"/>
                    </a:ext>
                  </a:extLst>
                </a:gridCol>
              </a:tblGrid>
              <a:tr h="720000">
                <a:tc>
                  <a:txBody>
                    <a:bodyPr/>
                    <a:lstStyle/>
                    <a:p>
                      <a:pPr algn="ctr"/>
                      <a:r>
                        <a:rPr kumimoji="1" lang="ja-JP" altLang="en-US" sz="1000" b="0">
                          <a:solidFill>
                            <a:schemeClr val="tx1"/>
                          </a:solidFill>
                          <a:latin typeface="+mn-ea"/>
                          <a:ea typeface="+mn-ea"/>
                        </a:rPr>
                        <a:t>システムテスト</a:t>
                      </a:r>
                      <a:endParaRPr kumimoji="1" lang="en-US" altLang="ja-JP" sz="10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AF327CBF-7E71-02A6-9C69-F61CFDB509AD}"/>
              </a:ext>
            </a:extLst>
          </p:cNvPr>
          <p:cNvGraphicFramePr>
            <a:graphicFrameLocks noGrp="1"/>
          </p:cNvGraphicFramePr>
          <p:nvPr/>
        </p:nvGraphicFramePr>
        <p:xfrm>
          <a:off x="4457302" y="4041514"/>
          <a:ext cx="407839" cy="720000"/>
        </p:xfrm>
        <a:graphic>
          <a:graphicData uri="http://schemas.openxmlformats.org/drawingml/2006/table">
            <a:tbl>
              <a:tblPr firstRow="1" bandRow="1">
                <a:tableStyleId>{2D5ABB26-0587-4C30-8999-92F81FD0307C}</a:tableStyleId>
              </a:tblPr>
              <a:tblGrid>
                <a:gridCol w="407839">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詳細設計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621B3B10-61C2-FB19-0917-8877017BD5A4}"/>
              </a:ext>
            </a:extLst>
          </p:cNvPr>
          <p:cNvGraphicFramePr>
            <a:graphicFrameLocks noGrp="1"/>
          </p:cNvGraphicFramePr>
          <p:nvPr/>
        </p:nvGraphicFramePr>
        <p:xfrm>
          <a:off x="4877246" y="4041514"/>
          <a:ext cx="1416511" cy="720000"/>
        </p:xfrm>
        <a:graphic>
          <a:graphicData uri="http://schemas.openxmlformats.org/drawingml/2006/table">
            <a:tbl>
              <a:tblPr firstRow="1" bandRow="1">
                <a:tableStyleId>{2D5ABB26-0587-4C30-8999-92F81FD0307C}</a:tableStyleId>
              </a:tblPr>
              <a:tblGrid>
                <a:gridCol w="1416511">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製造～単体テスト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52" name="表 51">
            <a:extLst>
              <a:ext uri="{FF2B5EF4-FFF2-40B4-BE49-F238E27FC236}">
                <a16:creationId xmlns:a16="http://schemas.microsoft.com/office/drawing/2014/main" id="{52B240DB-23BA-B13D-1DA5-136CD1029935}"/>
              </a:ext>
            </a:extLst>
          </p:cNvPr>
          <p:cNvGraphicFramePr>
            <a:graphicFrameLocks noGrp="1"/>
          </p:cNvGraphicFramePr>
          <p:nvPr/>
        </p:nvGraphicFramePr>
        <p:xfrm>
          <a:off x="8158682" y="4041514"/>
          <a:ext cx="1853417" cy="720000"/>
        </p:xfrm>
        <a:graphic>
          <a:graphicData uri="http://schemas.openxmlformats.org/drawingml/2006/table">
            <a:tbl>
              <a:tblPr firstRow="1" bandRow="1">
                <a:tableStyleId>{2D5ABB26-0587-4C30-8999-92F81FD0307C}</a:tableStyleId>
              </a:tblPr>
              <a:tblGrid>
                <a:gridCol w="1853417">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ユーザテスト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教育</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88790659-60CD-1D45-77AD-1BF5904152F4}"/>
              </a:ext>
            </a:extLst>
          </p:cNvPr>
          <p:cNvGraphicFramePr>
            <a:graphicFrameLocks noGrp="1"/>
          </p:cNvGraphicFramePr>
          <p:nvPr/>
        </p:nvGraphicFramePr>
        <p:xfrm>
          <a:off x="10022515" y="4041514"/>
          <a:ext cx="912276" cy="720000"/>
        </p:xfrm>
        <a:graphic>
          <a:graphicData uri="http://schemas.openxmlformats.org/drawingml/2006/table">
            <a:tbl>
              <a:tblPr firstRow="1" bandRow="1">
                <a:tableStyleId>{2D5ABB26-0587-4C30-8999-92F81FD0307C}</a:tableStyleId>
              </a:tblPr>
              <a:tblGrid>
                <a:gridCol w="91227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初期流動</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D11F4983-F3D5-4556-A4AF-EA3BE406526C}"/>
              </a:ext>
            </a:extLst>
          </p:cNvPr>
          <p:cNvSpPr txBox="1"/>
          <p:nvPr/>
        </p:nvSpPr>
        <p:spPr>
          <a:xfrm>
            <a:off x="2545055" y="1772587"/>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6ED9CDD7-0BA5-2290-1644-9BBE810C9F4A}"/>
              </a:ext>
            </a:extLst>
          </p:cNvPr>
          <p:cNvSpPr txBox="1"/>
          <p:nvPr/>
        </p:nvSpPr>
        <p:spPr>
          <a:xfrm>
            <a:off x="3675779" y="1778469"/>
            <a:ext cx="281788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1691A272-19A3-12A8-007D-6AA22F01FFBE}"/>
              </a:ext>
            </a:extLst>
          </p:cNvPr>
          <p:cNvCxnSpPr>
            <a:cxnSpLocks/>
          </p:cNvCxnSpPr>
          <p:nvPr/>
        </p:nvCxnSpPr>
        <p:spPr>
          <a:xfrm flipV="1">
            <a:off x="2671088" y="2111538"/>
            <a:ext cx="1665752" cy="180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F6EBA984-C4FD-94E2-79CA-1A6F09B3CF8A}"/>
              </a:ext>
            </a:extLst>
          </p:cNvPr>
          <p:cNvCxnSpPr>
            <a:cxnSpLocks/>
          </p:cNvCxnSpPr>
          <p:nvPr/>
        </p:nvCxnSpPr>
        <p:spPr>
          <a:xfrm>
            <a:off x="4447141" y="2113402"/>
            <a:ext cx="2729514"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43F69AF3-CF73-67CA-4FA9-10549A173981}"/>
              </a:ext>
            </a:extLst>
          </p:cNvPr>
          <p:cNvSpPr txBox="1"/>
          <p:nvPr/>
        </p:nvSpPr>
        <p:spPr>
          <a:xfrm>
            <a:off x="7383494" y="1775436"/>
            <a:ext cx="2166802"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契約③</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50" name="直線矢印コネクタ 49">
            <a:extLst>
              <a:ext uri="{FF2B5EF4-FFF2-40B4-BE49-F238E27FC236}">
                <a16:creationId xmlns:a16="http://schemas.microsoft.com/office/drawing/2014/main" id="{8BF0F46D-DF06-6999-760D-F6379FCEBB23}"/>
              </a:ext>
            </a:extLst>
          </p:cNvPr>
          <p:cNvCxnSpPr>
            <a:cxnSpLocks/>
          </p:cNvCxnSpPr>
          <p:nvPr/>
        </p:nvCxnSpPr>
        <p:spPr>
          <a:xfrm>
            <a:off x="7274634" y="2111538"/>
            <a:ext cx="2685621"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 name="矢印: 五方向 11">
            <a:extLst>
              <a:ext uri="{FF2B5EF4-FFF2-40B4-BE49-F238E27FC236}">
                <a16:creationId xmlns:a16="http://schemas.microsoft.com/office/drawing/2014/main" id="{E1F063FA-9EC8-AE1A-DA2F-3BB408AAB63D}"/>
              </a:ext>
            </a:extLst>
          </p:cNvPr>
          <p:cNvSpPr/>
          <p:nvPr/>
        </p:nvSpPr>
        <p:spPr>
          <a:xfrm>
            <a:off x="4466894" y="3471586"/>
            <a:ext cx="3666442"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開発フェーズ</a:t>
            </a:r>
          </a:p>
        </p:txBody>
      </p:sp>
      <p:sp>
        <p:nvSpPr>
          <p:cNvPr id="13" name="矢印: 五方向 12">
            <a:extLst>
              <a:ext uri="{FF2B5EF4-FFF2-40B4-BE49-F238E27FC236}">
                <a16:creationId xmlns:a16="http://schemas.microsoft.com/office/drawing/2014/main" id="{58371B8D-CFAD-6690-606F-D841F50F8550}"/>
              </a:ext>
            </a:extLst>
          </p:cNvPr>
          <p:cNvSpPr/>
          <p:nvPr/>
        </p:nvSpPr>
        <p:spPr>
          <a:xfrm>
            <a:off x="8133337" y="3479348"/>
            <a:ext cx="1920717"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導入フェーズ</a:t>
            </a:r>
          </a:p>
        </p:txBody>
      </p:sp>
      <p:sp>
        <p:nvSpPr>
          <p:cNvPr id="14" name="テキスト ボックス 13">
            <a:extLst>
              <a:ext uri="{FF2B5EF4-FFF2-40B4-BE49-F238E27FC236}">
                <a16:creationId xmlns:a16="http://schemas.microsoft.com/office/drawing/2014/main" id="{AD61E8D8-9039-C00C-6280-77CD3BA38BA8}"/>
              </a:ext>
            </a:extLst>
          </p:cNvPr>
          <p:cNvSpPr txBox="1"/>
          <p:nvPr/>
        </p:nvSpPr>
        <p:spPr>
          <a:xfrm>
            <a:off x="9932177" y="2230176"/>
            <a:ext cx="2045861" cy="503590"/>
          </a:xfrm>
          <a:prstGeom prst="rect">
            <a:avLst/>
          </a:prstGeom>
          <a:noFill/>
          <a:ln>
            <a:noFill/>
          </a:ln>
        </p:spPr>
        <p:txBody>
          <a:bodyPr wrap="square" lIns="54000" tIns="36000" rIns="54000" bIns="36000" rtlCol="0" anchor="ctr">
            <a:spAutoFit/>
          </a:bodyPr>
          <a:lstStyle/>
          <a:p>
            <a:r>
              <a:rPr kumimoji="1" lang="en-US" altLang="ja-JP" sz="1400" b="1">
                <a:solidFill>
                  <a:srgbClr val="FF0000"/>
                </a:solidFill>
                <a:latin typeface="游ゴシック" panose="020B0400000000000000" pitchFamily="50" charset="-128"/>
                <a:ea typeface="游ゴシック" panose="020B0400000000000000" pitchFamily="50" charset="-128"/>
                <a:cs typeface="メイリオ" pitchFamily="50" charset="-128"/>
              </a:rPr>
              <a:t>7</a:t>
            </a: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月末～</a:t>
            </a:r>
            <a:r>
              <a:rPr kumimoji="1" lang="en-US" altLang="ja-JP" sz="1400" b="1">
                <a:solidFill>
                  <a:srgbClr val="FF0000"/>
                </a:solidFill>
                <a:latin typeface="游ゴシック" panose="020B0400000000000000" pitchFamily="50" charset="-128"/>
                <a:ea typeface="游ゴシック" panose="020B0400000000000000" pitchFamily="50" charset="-128"/>
                <a:cs typeface="メイリオ" pitchFamily="50" charset="-128"/>
              </a:rPr>
              <a:t>SSBJ</a:t>
            </a: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システム環境分先行稼働</a:t>
            </a:r>
          </a:p>
        </p:txBody>
      </p:sp>
      <p:sp>
        <p:nvSpPr>
          <p:cNvPr id="20" name="矢印: 五方向 19">
            <a:extLst>
              <a:ext uri="{FF2B5EF4-FFF2-40B4-BE49-F238E27FC236}">
                <a16:creationId xmlns:a16="http://schemas.microsoft.com/office/drawing/2014/main" id="{7A15B279-76BE-3040-3B8C-99E828848335}"/>
              </a:ext>
            </a:extLst>
          </p:cNvPr>
          <p:cNvSpPr/>
          <p:nvPr/>
        </p:nvSpPr>
        <p:spPr>
          <a:xfrm>
            <a:off x="10022514" y="3479348"/>
            <a:ext cx="1855447"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運用・保守</a:t>
            </a:r>
          </a:p>
        </p:txBody>
      </p:sp>
      <p:graphicFrame>
        <p:nvGraphicFramePr>
          <p:cNvPr id="3" name="表 2">
            <a:extLst>
              <a:ext uri="{FF2B5EF4-FFF2-40B4-BE49-F238E27FC236}">
                <a16:creationId xmlns:a16="http://schemas.microsoft.com/office/drawing/2014/main" id="{76D85EE3-7263-DE9E-D82C-A232FA34F91F}"/>
              </a:ext>
            </a:extLst>
          </p:cNvPr>
          <p:cNvGraphicFramePr>
            <a:graphicFrameLocks noGrp="1"/>
          </p:cNvGraphicFramePr>
          <p:nvPr/>
        </p:nvGraphicFramePr>
        <p:xfrm>
          <a:off x="3511746" y="4041514"/>
          <a:ext cx="935396" cy="720000"/>
        </p:xfrm>
        <a:graphic>
          <a:graphicData uri="http://schemas.openxmlformats.org/drawingml/2006/table">
            <a:tbl>
              <a:tblPr firstRow="1" bandRow="1">
                <a:tableStyleId>{2D5ABB26-0587-4C30-8999-92F81FD0307C}</a:tableStyleId>
              </a:tblPr>
              <a:tblGrid>
                <a:gridCol w="93539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基本設計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22" name="スライド番号プレースホルダー 3">
            <a:extLst>
              <a:ext uri="{FF2B5EF4-FFF2-40B4-BE49-F238E27FC236}">
                <a16:creationId xmlns:a16="http://schemas.microsoft.com/office/drawing/2014/main" id="{681CD31E-52BB-61B7-EC7B-30E0B773CC5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17</a:t>
            </a:fld>
            <a:endParaRPr kumimoji="1" lang="ja-JP" altLang="en-US" sz="700"/>
          </a:p>
        </p:txBody>
      </p:sp>
      <p:sp>
        <p:nvSpPr>
          <p:cNvPr id="5" name="矢印: 五方向 4">
            <a:extLst>
              <a:ext uri="{FF2B5EF4-FFF2-40B4-BE49-F238E27FC236}">
                <a16:creationId xmlns:a16="http://schemas.microsoft.com/office/drawing/2014/main" id="{DB2A7DDC-0D88-21DD-FDCA-6A560DBD0CE9}"/>
              </a:ext>
            </a:extLst>
          </p:cNvPr>
          <p:cNvSpPr/>
          <p:nvPr/>
        </p:nvSpPr>
        <p:spPr>
          <a:xfrm>
            <a:off x="2577258" y="3469842"/>
            <a:ext cx="1869883" cy="586948"/>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tx1">
                    <a:lumMod val="75000"/>
                    <a:lumOff val="25000"/>
                  </a:schemeClr>
                </a:solidFill>
              </a:rPr>
              <a:t>要件定義・</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基本設計</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フェーズ</a:t>
            </a:r>
          </a:p>
        </p:txBody>
      </p:sp>
      <p:sp>
        <p:nvSpPr>
          <p:cNvPr id="24" name="テキスト ボックス 23">
            <a:extLst>
              <a:ext uri="{FF2B5EF4-FFF2-40B4-BE49-F238E27FC236}">
                <a16:creationId xmlns:a16="http://schemas.microsoft.com/office/drawing/2014/main" id="{5BB93F0C-6FA6-32A9-D039-6698C158A6D0}"/>
              </a:ext>
            </a:extLst>
          </p:cNvPr>
          <p:cNvSpPr txBox="1"/>
          <p:nvPr/>
        </p:nvSpPr>
        <p:spPr>
          <a:xfrm>
            <a:off x="9697003" y="1779828"/>
            <a:ext cx="2166802"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契約④</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30" name="直線矢印コネクタ 29">
            <a:extLst>
              <a:ext uri="{FF2B5EF4-FFF2-40B4-BE49-F238E27FC236}">
                <a16:creationId xmlns:a16="http://schemas.microsoft.com/office/drawing/2014/main" id="{5564499D-A006-507D-21E8-38827C47D49F}"/>
              </a:ext>
            </a:extLst>
          </p:cNvPr>
          <p:cNvCxnSpPr>
            <a:cxnSpLocks/>
          </p:cNvCxnSpPr>
          <p:nvPr/>
        </p:nvCxnSpPr>
        <p:spPr>
          <a:xfrm>
            <a:off x="10096853" y="2111538"/>
            <a:ext cx="1766952"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A1C86E13-9BE5-8865-80C2-EB4CF8CB7BAA}"/>
              </a:ext>
            </a:extLst>
          </p:cNvPr>
          <p:cNvSpPr txBox="1"/>
          <p:nvPr/>
        </p:nvSpPr>
        <p:spPr>
          <a:xfrm>
            <a:off x="2436050" y="2300168"/>
            <a:ext cx="1151277"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★キックオフ</a:t>
            </a:r>
            <a:endParaRPr kumimoji="1" lang="en-US" altLang="ja-JP" sz="1100">
              <a:latin typeface="游ゴシック" panose="020B0400000000000000" pitchFamily="50" charset="-128"/>
              <a:ea typeface="游ゴシック" panose="020B0400000000000000" pitchFamily="50" charset="-128"/>
            </a:endParaRPr>
          </a:p>
        </p:txBody>
      </p:sp>
      <p:sp>
        <p:nvSpPr>
          <p:cNvPr id="33" name="テキスト ボックス 32">
            <a:extLst>
              <a:ext uri="{FF2B5EF4-FFF2-40B4-BE49-F238E27FC236}">
                <a16:creationId xmlns:a16="http://schemas.microsoft.com/office/drawing/2014/main" id="{54171B8D-725E-7BB0-C608-5CD4D46954EE}"/>
              </a:ext>
            </a:extLst>
          </p:cNvPr>
          <p:cNvSpPr txBox="1"/>
          <p:nvPr/>
        </p:nvSpPr>
        <p:spPr>
          <a:xfrm>
            <a:off x="1879310" y="2879026"/>
            <a:ext cx="2997937"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▲要件定義・基本設計フェーズ契約締結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34" name="テキスト ボックス 33">
            <a:extLst>
              <a:ext uri="{FF2B5EF4-FFF2-40B4-BE49-F238E27FC236}">
                <a16:creationId xmlns:a16="http://schemas.microsoft.com/office/drawing/2014/main" id="{3628CBA1-D05A-0C59-B4A4-D314472F72B5}"/>
              </a:ext>
            </a:extLst>
          </p:cNvPr>
          <p:cNvSpPr txBox="1"/>
          <p:nvPr/>
        </p:nvSpPr>
        <p:spPr>
          <a:xfrm>
            <a:off x="3288810" y="2462397"/>
            <a:ext cx="997389"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★要件確定</a:t>
            </a:r>
            <a:endParaRPr kumimoji="1" lang="en-US" altLang="ja-JP" sz="1100">
              <a:latin typeface="游ゴシック" panose="020B0400000000000000" pitchFamily="50" charset="-128"/>
              <a:ea typeface="游ゴシック" panose="020B0400000000000000" pitchFamily="50" charset="-128"/>
            </a:endParaRPr>
          </a:p>
        </p:txBody>
      </p:sp>
      <p:sp>
        <p:nvSpPr>
          <p:cNvPr id="37" name="テキスト ボックス 36">
            <a:extLst>
              <a:ext uri="{FF2B5EF4-FFF2-40B4-BE49-F238E27FC236}">
                <a16:creationId xmlns:a16="http://schemas.microsoft.com/office/drawing/2014/main" id="{42FFFA64-904E-308B-45F4-606665532D24}"/>
              </a:ext>
            </a:extLst>
          </p:cNvPr>
          <p:cNvSpPr txBox="1"/>
          <p:nvPr/>
        </p:nvSpPr>
        <p:spPr>
          <a:xfrm>
            <a:off x="4240235" y="2703106"/>
            <a:ext cx="997388" cy="276999"/>
          </a:xfrm>
          <a:prstGeom prst="rect">
            <a:avLst/>
          </a:prstGeom>
          <a:noFill/>
        </p:spPr>
        <p:txBody>
          <a:bodyPr wrap="none" rtlCol="0" anchor="t">
            <a:spAutoFit/>
          </a:bodyPr>
          <a:lstStyle/>
          <a:p>
            <a:pPr algn="ctr"/>
            <a:r>
              <a:rPr kumimoji="1" lang="ja-JP" altLang="en-US" sz="1200">
                <a:latin typeface="游ゴシック" panose="020B0400000000000000" pitchFamily="50" charset="-128"/>
                <a:ea typeface="游ゴシック" panose="020B0400000000000000" pitchFamily="50" charset="-128"/>
              </a:rPr>
              <a:t> ★仕様確定</a:t>
            </a:r>
            <a:endParaRPr kumimoji="1" lang="en-US" altLang="ja-JP" sz="1100">
              <a:latin typeface="游ゴシック" panose="020B0400000000000000" pitchFamily="50" charset="-128"/>
              <a:ea typeface="游ゴシック" panose="020B0400000000000000" pitchFamily="50" charset="-128"/>
            </a:endParaRPr>
          </a:p>
        </p:txBody>
      </p:sp>
      <p:sp>
        <p:nvSpPr>
          <p:cNvPr id="38" name="テキスト ボックス 37">
            <a:extLst>
              <a:ext uri="{FF2B5EF4-FFF2-40B4-BE49-F238E27FC236}">
                <a16:creationId xmlns:a16="http://schemas.microsoft.com/office/drawing/2014/main" id="{419C4E09-BB0F-08DF-4E77-832099B1ED49}"/>
              </a:ext>
            </a:extLst>
          </p:cNvPr>
          <p:cNvSpPr txBox="1"/>
          <p:nvPr/>
        </p:nvSpPr>
        <p:spPr>
          <a:xfrm>
            <a:off x="9862339" y="3110381"/>
            <a:ext cx="1459054"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▲保守・運用開始</a:t>
            </a:r>
            <a:endParaRPr kumimoji="1" lang="en-US" altLang="ja-JP" sz="1100">
              <a:latin typeface="游ゴシック" panose="020B0400000000000000" pitchFamily="50" charset="-128"/>
              <a:ea typeface="游ゴシック" panose="020B0400000000000000" pitchFamily="50" charset="-128"/>
            </a:endParaRPr>
          </a:p>
        </p:txBody>
      </p:sp>
      <p:sp>
        <p:nvSpPr>
          <p:cNvPr id="43" name="テキスト ボックス 42">
            <a:extLst>
              <a:ext uri="{FF2B5EF4-FFF2-40B4-BE49-F238E27FC236}">
                <a16:creationId xmlns:a16="http://schemas.microsoft.com/office/drawing/2014/main" id="{75BCFBBE-C2C9-67F5-0F62-877DDFD8002D}"/>
              </a:ext>
            </a:extLst>
          </p:cNvPr>
          <p:cNvSpPr txBox="1"/>
          <p:nvPr/>
        </p:nvSpPr>
        <p:spPr>
          <a:xfrm>
            <a:off x="6257362" y="3101653"/>
            <a:ext cx="1920718"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▲導入フェーズ契約締結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5" name="テキスト ボックス 44">
            <a:extLst>
              <a:ext uri="{FF2B5EF4-FFF2-40B4-BE49-F238E27FC236}">
                <a16:creationId xmlns:a16="http://schemas.microsoft.com/office/drawing/2014/main" id="{8705FCA5-110A-54D3-C0D2-D1F8C13E0F86}"/>
              </a:ext>
            </a:extLst>
          </p:cNvPr>
          <p:cNvSpPr txBox="1"/>
          <p:nvPr/>
        </p:nvSpPr>
        <p:spPr>
          <a:xfrm>
            <a:off x="9444270" y="2941987"/>
            <a:ext cx="1305165"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▲保守契約締結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7" name="テキスト ボックス 46">
            <a:extLst>
              <a:ext uri="{FF2B5EF4-FFF2-40B4-BE49-F238E27FC236}">
                <a16:creationId xmlns:a16="http://schemas.microsoft.com/office/drawing/2014/main" id="{72E0FC0A-A746-9878-EAD4-DD638DF17BD8}"/>
              </a:ext>
            </a:extLst>
          </p:cNvPr>
          <p:cNvSpPr txBox="1"/>
          <p:nvPr/>
        </p:nvSpPr>
        <p:spPr>
          <a:xfrm>
            <a:off x="6605231" y="2462397"/>
            <a:ext cx="646331" cy="276999"/>
          </a:xfrm>
          <a:prstGeom prst="rect">
            <a:avLst/>
          </a:prstGeom>
          <a:noFill/>
        </p:spPr>
        <p:txBody>
          <a:bodyPr wrap="none" rtlCol="0" anchor="t">
            <a:spAutoFit/>
          </a:bodyPr>
          <a:lstStyle/>
          <a:p>
            <a:r>
              <a:rPr kumimoji="1" lang="ja-JP" altLang="en-US" sz="1200" b="1">
                <a:solidFill>
                  <a:srgbClr val="FF0000"/>
                </a:solidFill>
                <a:latin typeface="游ゴシック" panose="020B0400000000000000" pitchFamily="50" charset="-128"/>
                <a:ea typeface="游ゴシック" panose="020B0400000000000000" pitchFamily="50" charset="-128"/>
              </a:rPr>
              <a:t>▲検収</a:t>
            </a:r>
            <a:endParaRPr kumimoji="1" lang="en-US" altLang="ja-JP" sz="1100" b="1">
              <a:solidFill>
                <a:srgbClr val="FF0000"/>
              </a:solidFill>
              <a:latin typeface="游ゴシック" panose="020B0400000000000000" pitchFamily="50" charset="-128"/>
              <a:ea typeface="游ゴシック" panose="020B0400000000000000" pitchFamily="50" charset="-128"/>
            </a:endParaRPr>
          </a:p>
        </p:txBody>
      </p:sp>
      <p:graphicFrame>
        <p:nvGraphicFramePr>
          <p:cNvPr id="35" name="表 34">
            <a:extLst>
              <a:ext uri="{FF2B5EF4-FFF2-40B4-BE49-F238E27FC236}">
                <a16:creationId xmlns:a16="http://schemas.microsoft.com/office/drawing/2014/main" id="{29225C49-BD32-F4C6-C63A-186D5A26DCBF}"/>
              </a:ext>
            </a:extLst>
          </p:cNvPr>
          <p:cNvGraphicFramePr>
            <a:graphicFrameLocks noGrp="1"/>
          </p:cNvGraphicFramePr>
          <p:nvPr/>
        </p:nvGraphicFramePr>
        <p:xfrm>
          <a:off x="3511746" y="5444933"/>
          <a:ext cx="1365500" cy="648000"/>
        </p:xfrm>
        <a:graphic>
          <a:graphicData uri="http://schemas.openxmlformats.org/drawingml/2006/table">
            <a:tbl>
              <a:tblPr firstRow="1" bandRow="1">
                <a:tableStyleId>{2D5ABB26-0587-4C30-8999-92F81FD0307C}</a:tableStyleId>
              </a:tblPr>
              <a:tblGrid>
                <a:gridCol w="1365500">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Azure</a:t>
                      </a:r>
                    </a:p>
                    <a:p>
                      <a:pPr algn="ctr"/>
                      <a:r>
                        <a:rPr kumimoji="1" lang="ja-JP" altLang="en-US" sz="1100" b="0">
                          <a:solidFill>
                            <a:schemeClr val="tx1"/>
                          </a:solidFill>
                          <a:latin typeface="+mn-ea"/>
                          <a:ea typeface="+mn-ea"/>
                        </a:rPr>
                        <a:t>環境構築</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sp>
        <p:nvSpPr>
          <p:cNvPr id="36" name="テキスト ボックス 35">
            <a:extLst>
              <a:ext uri="{FF2B5EF4-FFF2-40B4-BE49-F238E27FC236}">
                <a16:creationId xmlns:a16="http://schemas.microsoft.com/office/drawing/2014/main" id="{C9125EAF-6A58-3960-27BB-A4FC8F0A7850}"/>
              </a:ext>
            </a:extLst>
          </p:cNvPr>
          <p:cNvSpPr txBox="1"/>
          <p:nvPr/>
        </p:nvSpPr>
        <p:spPr>
          <a:xfrm>
            <a:off x="3990727" y="3120897"/>
            <a:ext cx="1920719"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▲開発フェーズ契約締結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54" name="テキスト ボックス 53">
            <a:extLst>
              <a:ext uri="{FF2B5EF4-FFF2-40B4-BE49-F238E27FC236}">
                <a16:creationId xmlns:a16="http://schemas.microsoft.com/office/drawing/2014/main" id="{A5BF7F86-DEF7-3D23-5202-563A9D4D319E}"/>
              </a:ext>
            </a:extLst>
          </p:cNvPr>
          <p:cNvSpPr txBox="1"/>
          <p:nvPr/>
        </p:nvSpPr>
        <p:spPr>
          <a:xfrm>
            <a:off x="8805756" y="2705099"/>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a:t>
            </a:r>
            <a:endParaRPr kumimoji="1" lang="en-US" altLang="ja-JP" sz="1100">
              <a:latin typeface="游ゴシック" panose="020B0400000000000000" pitchFamily="50" charset="-128"/>
              <a:ea typeface="游ゴシック" panose="020B0400000000000000" pitchFamily="50" charset="-128"/>
            </a:endParaRPr>
          </a:p>
        </p:txBody>
      </p:sp>
      <p:sp>
        <p:nvSpPr>
          <p:cNvPr id="55" name="テキスト ボックス 54">
            <a:extLst>
              <a:ext uri="{FF2B5EF4-FFF2-40B4-BE49-F238E27FC236}">
                <a16:creationId xmlns:a16="http://schemas.microsoft.com/office/drawing/2014/main" id="{34B6C60F-B866-9C0A-16E2-513D201C0797}"/>
              </a:ext>
            </a:extLst>
          </p:cNvPr>
          <p:cNvSpPr txBox="1"/>
          <p:nvPr/>
        </p:nvSpPr>
        <p:spPr>
          <a:xfrm>
            <a:off x="8179166" y="2294013"/>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リリース判定</a:t>
            </a:r>
            <a:endParaRPr kumimoji="1" lang="en-US" altLang="ja-JP" sz="110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10341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61AC2-25E7-E787-333E-1B5F11F05599}"/>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D6A26857-4AF9-6C0F-3296-065EA97A8F3E}"/>
              </a:ext>
            </a:extLst>
          </p:cNvPr>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a:extLst>
              <a:ext uri="{FF2B5EF4-FFF2-40B4-BE49-F238E27FC236}">
                <a16:creationId xmlns:a16="http://schemas.microsoft.com/office/drawing/2014/main" id="{5E88FC77-3B7F-4FFF-ABEA-3891E016BB8A}"/>
              </a:ext>
            </a:extLst>
          </p:cNvPr>
          <p:cNvSpPr>
            <a:spLocks noGrp="1"/>
          </p:cNvSpPr>
          <p:nvPr>
            <p:ph type="title"/>
          </p:nvPr>
        </p:nvSpPr>
        <p:spPr/>
        <p:txBody>
          <a:bodyPr/>
          <a:lstStyle/>
          <a:p>
            <a:r>
              <a:rPr kumimoji="1" lang="en-US" altLang="ja-JP" dirty="0"/>
              <a:t>3-7</a:t>
            </a:r>
            <a:r>
              <a:rPr kumimoji="1" lang="ja-JP" altLang="en-US"/>
              <a:t>．会議体</a:t>
            </a:r>
            <a:r>
              <a:rPr lang="en-US" altLang="ja-JP" dirty="0"/>
              <a:t>(</a:t>
            </a:r>
            <a:r>
              <a:rPr lang="ja-JP" altLang="ja-JP" dirty="0"/>
              <a:t>ウォーターフォール開発の場合</a:t>
            </a:r>
            <a:r>
              <a:rPr lang="en-US" altLang="ja-JP" dirty="0"/>
              <a:t>)</a:t>
            </a:r>
            <a:endParaRPr kumimoji="1" lang="ja-JP" altLang="en-US"/>
          </a:p>
        </p:txBody>
      </p:sp>
      <p:sp>
        <p:nvSpPr>
          <p:cNvPr id="4" name="フッター プレースホルダー 3">
            <a:extLst>
              <a:ext uri="{FF2B5EF4-FFF2-40B4-BE49-F238E27FC236}">
                <a16:creationId xmlns:a16="http://schemas.microsoft.com/office/drawing/2014/main" id="{1DBD5E17-7E95-BDA5-2DED-3447C28C10AD}"/>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4F98FCB3-C730-C554-3FF9-F3B1F69497DB}"/>
              </a:ext>
            </a:extLst>
          </p:cNvPr>
          <p:cNvGraphicFramePr>
            <a:graphicFrameLocks/>
          </p:cNvGraphicFramePr>
          <p:nvPr>
            <p:extLst>
              <p:ext uri="{D42A27DB-BD31-4B8C-83A1-F6EECF244321}">
                <p14:modId xmlns:p14="http://schemas.microsoft.com/office/powerpoint/2010/main" val="610923628"/>
              </p:ext>
            </p:extLst>
          </p:nvPr>
        </p:nvGraphicFramePr>
        <p:xfrm>
          <a:off x="575999" y="1944000"/>
          <a:ext cx="11041199" cy="3459840"/>
        </p:xfrm>
        <a:graphic>
          <a:graphicData uri="http://schemas.openxmlformats.org/drawingml/2006/table">
            <a:tbl>
              <a:tblPr firstRow="1" bandRow="1">
                <a:tableStyleId>{3B4B98B0-60AC-42C2-AFA5-B58CD77FA1E5}</a:tableStyleId>
              </a:tblPr>
              <a:tblGrid>
                <a:gridCol w="2121019">
                  <a:extLst>
                    <a:ext uri="{9D8B030D-6E8A-4147-A177-3AD203B41FA5}">
                      <a16:colId xmlns:a16="http://schemas.microsoft.com/office/drawing/2014/main" val="20000"/>
                    </a:ext>
                  </a:extLst>
                </a:gridCol>
                <a:gridCol w="1333806">
                  <a:extLst>
                    <a:ext uri="{9D8B030D-6E8A-4147-A177-3AD203B41FA5}">
                      <a16:colId xmlns:a16="http://schemas.microsoft.com/office/drawing/2014/main" val="20003"/>
                    </a:ext>
                  </a:extLst>
                </a:gridCol>
                <a:gridCol w="1082352">
                  <a:extLst>
                    <a:ext uri="{9D8B030D-6E8A-4147-A177-3AD203B41FA5}">
                      <a16:colId xmlns:a16="http://schemas.microsoft.com/office/drawing/2014/main" val="2022646445"/>
                    </a:ext>
                  </a:extLst>
                </a:gridCol>
                <a:gridCol w="1112133">
                  <a:extLst>
                    <a:ext uri="{9D8B030D-6E8A-4147-A177-3AD203B41FA5}">
                      <a16:colId xmlns:a16="http://schemas.microsoft.com/office/drawing/2014/main" val="1186915876"/>
                    </a:ext>
                  </a:extLst>
                </a:gridCol>
                <a:gridCol w="5391889">
                  <a:extLst>
                    <a:ext uri="{9D8B030D-6E8A-4147-A177-3AD203B41FA5}">
                      <a16:colId xmlns:a16="http://schemas.microsoft.com/office/drawing/2014/main" val="20001"/>
                    </a:ext>
                  </a:extLst>
                </a:gridCol>
              </a:tblGrid>
              <a:tr h="417600">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会議名</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開催頻度</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会議形態</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主催</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内容</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extLst>
                  <a:ext uri="{0D108BD9-81ED-4DB2-BD59-A6C34878D82A}">
                    <a16:rowId xmlns:a16="http://schemas.microsoft.com/office/drawing/2014/main" val="10000"/>
                  </a:ext>
                </a:extLst>
              </a:tr>
              <a:tr h="752046">
                <a:tc>
                  <a:txBody>
                    <a:bodyPr/>
                    <a:lstStyle/>
                    <a:p>
                      <a:r>
                        <a:rPr kumimoji="1" lang="ja-JP" altLang="en-US" sz="1600">
                          <a:latin typeface="游ゴシック" panose="020B0400000000000000" pitchFamily="50" charset="-128"/>
                          <a:ea typeface="游ゴシック" panose="020B0400000000000000" pitchFamily="50" charset="-128"/>
                        </a:rPr>
                        <a:t>キックオフ会議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pPr algn="ctr"/>
                      <a:r>
                        <a:rPr kumimoji="1" lang="ja-JP" altLang="en-US" sz="1600">
                          <a:latin typeface="游ゴシック" panose="020B0400000000000000" pitchFamily="50" charset="-128"/>
                          <a:ea typeface="游ゴシック" panose="020B0400000000000000" pitchFamily="50" charset="-128"/>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mn-ea"/>
                        </a:rPr>
                        <a:t>WEB</a:t>
                      </a:r>
                      <a:r>
                        <a:rPr kumimoji="1" lang="ja-JP" altLang="en-US" sz="1600">
                          <a:latin typeface="游ゴシック" panose="020B0400000000000000" pitchFamily="50" charset="-128"/>
                          <a:ea typeface="+mn-ea"/>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貴社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プロジェクトの進め方、体制、成果物等の認識合わせおよび各種周知事項の共有</a:t>
                      </a:r>
                    </a:p>
                  </a:txBody>
                  <a:tcPr marL="72000" marR="72000" marT="36000" marB="36000" anchor="ctr"/>
                </a:tc>
                <a:extLst>
                  <a:ext uri="{0D108BD9-81ED-4DB2-BD59-A6C34878D82A}">
                    <a16:rowId xmlns:a16="http://schemas.microsoft.com/office/drawing/2014/main" val="51281576"/>
                  </a:ext>
                </a:extLst>
              </a:tr>
              <a:tr h="523827">
                <a:tc>
                  <a:txBody>
                    <a:bodyPr/>
                    <a:lstStyle/>
                    <a:p>
                      <a:r>
                        <a:rPr kumimoji="1" lang="ja-JP" altLang="en-US" sz="1600">
                          <a:latin typeface="游ゴシック" panose="020B0400000000000000" pitchFamily="50" charset="-128"/>
                          <a:ea typeface="游ゴシック" panose="020B0400000000000000" pitchFamily="50" charset="-128"/>
                        </a:rPr>
                        <a:t>進捗会議（定例）</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週次</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プロジェクトの進捗状況、遅延時のリカバリ方法検討、作業予定の確認、連絡事項の周知</a:t>
                      </a:r>
                    </a:p>
                  </a:txBody>
                  <a:tcPr marL="72000" marR="72000" marT="36000" marB="36000" anchor="ctr"/>
                </a:tc>
                <a:extLst>
                  <a:ext uri="{0D108BD9-81ED-4DB2-BD59-A6C34878D82A}">
                    <a16:rowId xmlns:a16="http://schemas.microsoft.com/office/drawing/2014/main" val="10001"/>
                  </a:ext>
                </a:extLst>
              </a:tr>
              <a:tr h="523827">
                <a:tc>
                  <a:txBody>
                    <a:bodyPr/>
                    <a:lstStyle/>
                    <a:p>
                      <a:r>
                        <a:rPr kumimoji="1" lang="ja-JP" altLang="en-US" sz="1600">
                          <a:latin typeface="游ゴシック" panose="020B0400000000000000" pitchFamily="50" charset="-128"/>
                          <a:ea typeface="游ゴシック" panose="020B0400000000000000" pitchFamily="50" charset="-128"/>
                        </a:rPr>
                        <a:t>課題検討会議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週次</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各種課題の検討</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解決、リスクの把握</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対応方法検討</a:t>
                      </a:r>
                      <a:endParaRPr kumimoji="1" lang="en-US" altLang="ja-JP" sz="1600">
                        <a:latin typeface="游ゴシック" panose="020B0400000000000000" pitchFamily="50" charset="-128"/>
                        <a:ea typeface="游ゴシック" panose="020B0400000000000000"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 進捗会議と同時開催</a:t>
                      </a:r>
                    </a:p>
                  </a:txBody>
                  <a:tcPr marL="72000" marR="72000" marT="36000" marB="36000" anchor="ctr"/>
                </a:tc>
                <a:extLst>
                  <a:ext uri="{0D108BD9-81ED-4DB2-BD59-A6C34878D82A}">
                    <a16:rowId xmlns:a16="http://schemas.microsoft.com/office/drawing/2014/main" val="1929609212"/>
                  </a:ext>
                </a:extLst>
              </a:tr>
              <a:tr h="523827">
                <a:tc>
                  <a:txBody>
                    <a:bodyPr/>
                    <a:lstStyle/>
                    <a:p>
                      <a:r>
                        <a:rPr kumimoji="1" lang="ja-JP" altLang="en-US" sz="1600">
                          <a:latin typeface="游ゴシック" panose="020B0400000000000000" pitchFamily="50" charset="-128"/>
                          <a:ea typeface="游ゴシック" panose="020B0400000000000000" pitchFamily="50" charset="-128"/>
                        </a:rPr>
                        <a:t>レビュー会議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各工程</a:t>
                      </a:r>
                      <a:endParaRPr kumimoji="1" lang="en-US" altLang="ja-JP" sz="160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完了時</a:t>
                      </a:r>
                    </a:p>
                  </a:txBody>
                  <a:tcPr marL="72000" marR="72000" marT="36000" marB="36000" anchor="ctr"/>
                </a:tc>
                <a:tc>
                  <a:txBody>
                    <a:bodyPr/>
                    <a:lstStyle/>
                    <a:p>
                      <a:pPr marL="0" marR="0" lvl="0" indent="0" algn="ctr" defTabSz="914400">
                        <a:lnSpc>
                          <a:spcPct val="100000"/>
                        </a:lnSpc>
                        <a:spcBef>
                          <a:spcPts val="0"/>
                        </a:spcBef>
                        <a:spcAft>
                          <a:spcPts val="0"/>
                        </a:spcAft>
                        <a:buNone/>
                        <a:tabLst/>
                        <a:defRPr/>
                      </a:pPr>
                      <a:r>
                        <a:rPr lang="en-US" altLang="ja-JP" sz="1600" b="0" i="0" u="none" strike="noStrike" noProof="0">
                          <a:solidFill>
                            <a:srgbClr val="000000"/>
                          </a:solidFill>
                          <a:latin typeface="游ゴシック"/>
                        </a:rPr>
                        <a:t>WEB</a:t>
                      </a:r>
                      <a:r>
                        <a:rPr lang="ja-JP" sz="1600" b="0" i="0" u="none" strike="noStrike" noProof="0">
                          <a:solidFill>
                            <a:srgbClr val="000000"/>
                          </a:solidFill>
                          <a:latin typeface="游ゴシック"/>
                          <a:ea typeface="游ゴシック"/>
                        </a:rPr>
                        <a:t>会議</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游ゴシック"/>
                          <a:ea typeface="游ゴシック"/>
                        </a:rPr>
                        <a:t>各</a:t>
                      </a:r>
                      <a:r>
                        <a:rPr kumimoji="1" lang="ja-JP" altLang="en-US" sz="1600">
                          <a:latin typeface="游ゴシック"/>
                          <a:ea typeface="游ゴシック"/>
                        </a:rPr>
                        <a:t>工程のレビューおよび工程完了判定</a:t>
                      </a:r>
                    </a:p>
                  </a:txBody>
                  <a:tcPr marL="72000" marR="72000" marT="36000" marB="36000" anchor="ctr"/>
                </a:tc>
                <a:extLst>
                  <a:ext uri="{0D108BD9-81ED-4DB2-BD59-A6C34878D82A}">
                    <a16:rowId xmlns:a16="http://schemas.microsoft.com/office/drawing/2014/main" val="4056392115"/>
                  </a:ext>
                </a:extLst>
              </a:tr>
              <a:tr h="523827">
                <a:tc>
                  <a:txBody>
                    <a:bodyPr/>
                    <a:lstStyle/>
                    <a:p>
                      <a:r>
                        <a:rPr kumimoji="1" lang="ja-JP" altLang="en-US" sz="1600">
                          <a:latin typeface="游ゴシック"/>
                          <a:ea typeface="游ゴシック"/>
                        </a:rPr>
                        <a:t>要件</a:t>
                      </a:r>
                      <a:r>
                        <a:rPr lang="ja-JP" altLang="en-US" sz="1600">
                          <a:latin typeface="游ゴシック"/>
                          <a:ea typeface="游ゴシック"/>
                        </a:rPr>
                        <a:t>検討</a:t>
                      </a:r>
                      <a:r>
                        <a:rPr kumimoji="1" lang="ja-JP" altLang="en-US" sz="1600">
                          <a:latin typeface="游ゴシック"/>
                          <a:ea typeface="游ゴシック"/>
                        </a:rPr>
                        <a:t>会議</a:t>
                      </a:r>
                      <a:endParaRPr kumimoji="1" lang="en-US" altLang="ja-JP" sz="1600" b="0">
                        <a:latin typeface="游ゴシック"/>
                        <a:ea typeface="游ゴシック"/>
                      </a:endParaRPr>
                    </a:p>
                  </a:txBody>
                  <a:tcPr marT="36000" marB="36000" anchor="ctr"/>
                </a:tc>
                <a:tc>
                  <a:txBody>
                    <a:bodyPr/>
                    <a:lstStyle/>
                    <a:p>
                      <a:pPr algn="ctr"/>
                      <a:r>
                        <a:rPr lang="ja-JP" altLang="en-US" sz="1600">
                          <a:latin typeface="游ゴシック"/>
                          <a:ea typeface="游ゴシック"/>
                        </a:rPr>
                        <a:t>週2回～</a:t>
                      </a:r>
                      <a:endParaRPr kumimoji="1" lang="en-US" altLang="ja-JP" sz="1600">
                        <a:latin typeface="游ゴシック"/>
                        <a:ea typeface="游ゴシック"/>
                      </a:endParaRP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弊社</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algn="l"/>
                      <a:r>
                        <a:rPr lang="ja-JP" altLang="en-US" sz="1600">
                          <a:latin typeface="游ゴシック"/>
                          <a:ea typeface="游ゴシック"/>
                        </a:rPr>
                        <a:t>不足事項の整理および確認</a:t>
                      </a:r>
                    </a:p>
                    <a:p>
                      <a:pPr lvl="0" algn="l">
                        <a:buNone/>
                      </a:pPr>
                      <a:r>
                        <a:rPr lang="ja-JP" altLang="en-US" sz="1600">
                          <a:latin typeface="游ゴシック"/>
                          <a:ea typeface="游ゴシック"/>
                        </a:rPr>
                        <a:t>業務ヒアリング・業務フロー確認</a:t>
                      </a:r>
                    </a:p>
                  </a:txBody>
                  <a:tcPr marL="72000" marR="72000" marT="36000" marB="36000" anchor="ctr"/>
                </a:tc>
                <a:extLst>
                  <a:ext uri="{0D108BD9-81ED-4DB2-BD59-A6C34878D82A}">
                    <a16:rowId xmlns:a16="http://schemas.microsoft.com/office/drawing/2014/main" val="3243259142"/>
                  </a:ext>
                </a:extLst>
              </a:tr>
            </a:tbl>
          </a:graphicData>
        </a:graphic>
      </p:graphicFrame>
      <p:sp>
        <p:nvSpPr>
          <p:cNvPr id="3" name="スライド番号プレースホルダー 3">
            <a:extLst>
              <a:ext uri="{FF2B5EF4-FFF2-40B4-BE49-F238E27FC236}">
                <a16:creationId xmlns:a16="http://schemas.microsoft.com/office/drawing/2014/main" id="{908A269C-96C2-23E1-8592-F94608BA50C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18</a:t>
            </a:fld>
            <a:endParaRPr kumimoji="1" lang="ja-JP" altLang="en-US" sz="700"/>
          </a:p>
        </p:txBody>
      </p:sp>
    </p:spTree>
    <p:extLst>
      <p:ext uri="{BB962C8B-B14F-4D97-AF65-F5344CB8AC3E}">
        <p14:creationId xmlns:p14="http://schemas.microsoft.com/office/powerpoint/2010/main" val="206295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lang="en-US" altLang="ja-JP" dirty="0"/>
              <a:t>3-8</a:t>
            </a:r>
            <a:r>
              <a:rPr kumimoji="1" lang="ja-JP" altLang="en-US"/>
              <a:t>．体制</a:t>
            </a:r>
            <a:r>
              <a:rPr lang="en-US" altLang="ja-JP"/>
              <a:t>(</a:t>
            </a:r>
            <a:r>
              <a:rPr lang="ja-JP" altLang="en-US"/>
              <a:t>ウォーターフォール開発の場合</a:t>
            </a:r>
            <a:r>
              <a:rPr lang="en-US" altLang="ja-JP"/>
              <a:t>)</a:t>
            </a:r>
            <a:endParaRPr kumimoji="1" lang="ja-JP" altLang="en-US"/>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a:t>Copyright © </a:t>
            </a:r>
            <a:r>
              <a:rPr lang="en-US" altLang="ja-JP" err="1"/>
              <a:t>SystemEXE,Inc</a:t>
            </a:r>
            <a:r>
              <a:rPr lang="en-US" altLang="ja-JP"/>
              <a:t>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8" y="1297411"/>
            <a:ext cx="5899422"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kumimoji="1" lang="ja-JP" altLang="en-US" sz="1400">
              <a:solidFill>
                <a:schemeClr val="tx1"/>
              </a:solidFill>
              <a:latin typeface="+mn-ea"/>
            </a:endParaRPr>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5999" y="937411"/>
            <a:ext cx="5899421"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a:stCxn id="12" idx="0"/>
          </p:cNvCxnSpPr>
          <p:nvPr/>
        </p:nvCxnSpPr>
        <p:spPr>
          <a:xfrm flipV="1">
            <a:off x="3597738" y="2066834"/>
            <a:ext cx="0" cy="50532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6744448" y="1297410"/>
            <a:ext cx="4875154"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mn-ea"/>
            </a:endParaRPr>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6744447" y="937411"/>
            <a:ext cx="4875155"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7048358" y="1513413"/>
            <a:ext cx="1814985" cy="55982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プロジェクト責任者</a:t>
              </a:r>
              <a:endParaRPr kumimoji="1" lang="ja-JP" altLang="en-US" sz="1400">
                <a:solidFill>
                  <a:schemeClr val="tx1"/>
                </a:solidFill>
                <a:latin typeface="+mn-ea"/>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prstClr val="black"/>
                  </a:solidFill>
                  <a:latin typeface="+mn-ea"/>
                </a:rPr>
                <a:t>福田 慎</a:t>
              </a:r>
              <a:endParaRPr kumimoji="1" lang="ja-JP" altLang="en-US" sz="1400" b="0" i="0" u="none" strike="noStrike" kern="0" cap="none" spc="0" normalizeH="0" baseline="0" noProof="0">
                <a:ln>
                  <a:noFill/>
                </a:ln>
                <a:solidFill>
                  <a:prstClr val="black"/>
                </a:solidFill>
                <a:effectLst/>
                <a:uLnTx/>
                <a:uFillTx/>
                <a:latin typeface="+mn-ea"/>
              </a:endParaRP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7048357" y="3747169"/>
            <a:ext cx="1814985" cy="55982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PM</a:t>
              </a:r>
              <a:endParaRPr kumimoji="1" lang="ja-JP" altLang="en-US" sz="1400">
                <a:solidFill>
                  <a:schemeClr val="tx1"/>
                </a:solidFill>
                <a:latin typeface="+mn-ea"/>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川名翔太</a:t>
              </a:r>
            </a:p>
          </p:txBody>
        </p:sp>
      </p:grpSp>
      <p:cxnSp>
        <p:nvCxnSpPr>
          <p:cNvPr id="48" name="直線コネクタ 47">
            <a:extLst>
              <a:ext uri="{FF2B5EF4-FFF2-40B4-BE49-F238E27FC236}">
                <a16:creationId xmlns:a16="http://schemas.microsoft.com/office/drawing/2014/main" id="{B02D2D4D-3924-332F-F7F5-F534F737B379}"/>
              </a:ext>
            </a:extLst>
          </p:cNvPr>
          <p:cNvCxnSpPr>
            <a:cxnSpLocks/>
            <a:endCxn id="44" idx="0"/>
          </p:cNvCxnSpPr>
          <p:nvPr/>
        </p:nvCxnSpPr>
        <p:spPr>
          <a:xfrm flipH="1">
            <a:off x="7955848" y="2073231"/>
            <a:ext cx="4" cy="167393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506939" y="2464489"/>
            <a:ext cx="1547336" cy="55982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営業</a:t>
              </a:r>
              <a:endParaRPr kumimoji="1" lang="ja-JP" altLang="en-US" sz="1400">
                <a:solidFill>
                  <a:schemeClr val="tx1"/>
                </a:solidFill>
                <a:latin typeface="+mn-ea"/>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mn-ea"/>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a:stCxn id="87" idx="0"/>
            <a:endCxn id="47" idx="2"/>
          </p:cNvCxnSpPr>
          <p:nvPr/>
        </p:nvCxnSpPr>
        <p:spPr>
          <a:xfrm flipH="1" flipV="1">
            <a:off x="7955851" y="4306989"/>
            <a:ext cx="4007" cy="36118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2579180" y="1507014"/>
            <a:ext cx="2037111" cy="559819"/>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n-ea"/>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n-ea"/>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mn-ea"/>
                </a:rPr>
                <a:t>澤井様</a:t>
              </a:r>
              <a:endParaRPr lang="en-US" altLang="ja-JP" sz="1400">
                <a:solidFill>
                  <a:schemeClr val="tx1"/>
                </a:solidFill>
                <a:latin typeface="+mn-ea"/>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a:endCxn id="58" idx="1"/>
          </p:cNvCxnSpPr>
          <p:nvPr/>
        </p:nvCxnSpPr>
        <p:spPr>
          <a:xfrm>
            <a:off x="7955848" y="2875352"/>
            <a:ext cx="155109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80" name="グループ化 79">
            <a:extLst>
              <a:ext uri="{FF2B5EF4-FFF2-40B4-BE49-F238E27FC236}">
                <a16:creationId xmlns:a16="http://schemas.microsoft.com/office/drawing/2014/main" id="{246F0BDE-F499-6864-1CEA-70DB2389728C}"/>
              </a:ext>
            </a:extLst>
          </p:cNvPr>
          <p:cNvGrpSpPr/>
          <p:nvPr/>
        </p:nvGrpSpPr>
        <p:grpSpPr>
          <a:xfrm>
            <a:off x="9506939" y="1507018"/>
            <a:ext cx="1547336" cy="559820"/>
            <a:chOff x="8544000" y="2232000"/>
            <a:chExt cx="2880000" cy="720000"/>
          </a:xfrm>
        </p:grpSpPr>
        <p:sp>
          <p:nvSpPr>
            <p:cNvPr id="81" name="正方形/長方形 80">
              <a:extLst>
                <a:ext uri="{FF2B5EF4-FFF2-40B4-BE49-F238E27FC236}">
                  <a16:creationId xmlns:a16="http://schemas.microsoft.com/office/drawing/2014/main" id="{D49D4550-B88E-9FBF-3574-39A081350AC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mn-ea"/>
                </a:rPr>
                <a:t>品質保証</a:t>
              </a:r>
            </a:p>
          </p:txBody>
        </p:sp>
        <p:sp>
          <p:nvSpPr>
            <p:cNvPr id="82" name="正方形/長方形 81">
              <a:extLst>
                <a:ext uri="{FF2B5EF4-FFF2-40B4-BE49-F238E27FC236}">
                  <a16:creationId xmlns:a16="http://schemas.microsoft.com/office/drawing/2014/main" id="{7011170F-99B2-45A0-5B70-3BA6915D24FC}"/>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ja-JP" altLang="en-US" sz="1400">
                  <a:solidFill>
                    <a:schemeClr val="tx1"/>
                  </a:solidFill>
                  <a:latin typeface="+mn-ea"/>
                </a:rPr>
                <a:t>品質向上委員会</a:t>
              </a:r>
              <a:endParaRPr lang="en-US" altLang="ja-JP" sz="1400">
                <a:solidFill>
                  <a:schemeClr val="tx1"/>
                </a:solidFill>
                <a:latin typeface="+mn-ea"/>
              </a:endParaRPr>
            </a:p>
          </p:txBody>
        </p:sp>
      </p:grpSp>
      <p:grpSp>
        <p:nvGrpSpPr>
          <p:cNvPr id="14" name="グループ化 13">
            <a:extLst>
              <a:ext uri="{FF2B5EF4-FFF2-40B4-BE49-F238E27FC236}">
                <a16:creationId xmlns:a16="http://schemas.microsoft.com/office/drawing/2014/main" id="{DDA90344-18AB-3A2A-E52C-87B67DFD8143}"/>
              </a:ext>
            </a:extLst>
          </p:cNvPr>
          <p:cNvGrpSpPr/>
          <p:nvPr/>
        </p:nvGrpSpPr>
        <p:grpSpPr>
          <a:xfrm>
            <a:off x="7048357" y="4668170"/>
            <a:ext cx="1818992" cy="1163566"/>
            <a:chOff x="6215483" y="4414071"/>
            <a:chExt cx="2597723" cy="2244744"/>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1"/>
              <a:ext cx="2591996" cy="539991"/>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kumimoji="1" lang="ja-JP" altLang="en-US" sz="1400">
                  <a:solidFill>
                    <a:schemeClr val="tx1"/>
                  </a:solidFill>
                  <a:latin typeface="+mn-ea"/>
                </a:rPr>
                <a:t>メンバー</a:t>
              </a: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15483" y="4871425"/>
              <a:ext cx="2591996" cy="178739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en-US" altLang="ja-JP" sz="1400">
                  <a:solidFill>
                    <a:schemeClr val="tx1"/>
                  </a:solidFill>
                  <a:latin typeface="+mn-ea"/>
                </a:rPr>
                <a:t>TBD</a:t>
              </a:r>
            </a:p>
            <a:p>
              <a:pPr algn="ctr">
                <a:spcAft>
                  <a:spcPts val="600"/>
                </a:spcAft>
              </a:pPr>
              <a:r>
                <a:rPr lang="ja-JP" altLang="en-US" sz="1400" kern="0">
                  <a:solidFill>
                    <a:prstClr val="black"/>
                  </a:solidFill>
                  <a:latin typeface="+mn-ea"/>
                </a:rPr>
                <a:t>ブリッジ</a:t>
              </a:r>
              <a:r>
                <a:rPr lang="en-US" altLang="ja-JP" sz="1400" kern="0">
                  <a:solidFill>
                    <a:schemeClr val="tx1"/>
                  </a:solidFill>
                  <a:latin typeface="+mn-ea"/>
                </a:rPr>
                <a:t>SE</a:t>
              </a:r>
            </a:p>
            <a:p>
              <a:pPr lvl="0" algn="ctr" defTabSz="914400">
                <a:defRPr/>
              </a:pPr>
              <a:r>
                <a:rPr lang="ja-JP" altLang="en-US" sz="1400" kern="0">
                  <a:solidFill>
                    <a:schemeClr val="tx1"/>
                  </a:solidFill>
                  <a:latin typeface="+mn-ea"/>
                </a:rPr>
                <a:t>オフショア</a:t>
              </a:r>
              <a:endParaRPr lang="en-US" altLang="ja-JP" sz="1400" kern="0">
                <a:solidFill>
                  <a:prstClr val="black"/>
                </a:solidFill>
                <a:latin typeface="+mn-ea"/>
              </a:endParaRPr>
            </a:p>
          </p:txBody>
        </p:sp>
      </p:grpSp>
      <p:grpSp>
        <p:nvGrpSpPr>
          <p:cNvPr id="11" name="グループ化 10">
            <a:extLst>
              <a:ext uri="{FF2B5EF4-FFF2-40B4-BE49-F238E27FC236}">
                <a16:creationId xmlns:a16="http://schemas.microsoft.com/office/drawing/2014/main" id="{B536A79C-A3DF-6768-AB93-5BFDB6C1782C}"/>
              </a:ext>
            </a:extLst>
          </p:cNvPr>
          <p:cNvGrpSpPr/>
          <p:nvPr/>
        </p:nvGrpSpPr>
        <p:grpSpPr>
          <a:xfrm>
            <a:off x="2579181" y="2572161"/>
            <a:ext cx="2037113" cy="534950"/>
            <a:chOff x="719999" y="2983984"/>
            <a:chExt cx="2304000" cy="688016"/>
          </a:xfrm>
        </p:grpSpPr>
        <p:sp>
          <p:nvSpPr>
            <p:cNvPr id="12" name="正方形/長方形 11">
              <a:extLst>
                <a:ext uri="{FF2B5EF4-FFF2-40B4-BE49-F238E27FC236}">
                  <a16:creationId xmlns:a16="http://schemas.microsoft.com/office/drawing/2014/main" id="{4BE8B883-A622-80E0-591D-30454989A35B}"/>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chemeClr val="tx1"/>
                  </a:solidFill>
                  <a:latin typeface="+mn-ea"/>
                </a:rPr>
                <a:t>PM</a:t>
              </a:r>
              <a:endParaRPr kumimoji="1" lang="ja-JP" altLang="en-US" sz="1400">
                <a:solidFill>
                  <a:schemeClr val="tx1"/>
                </a:solidFill>
                <a:latin typeface="+mn-ea"/>
              </a:endParaRPr>
            </a:p>
          </p:txBody>
        </p:sp>
        <p:sp>
          <p:nvSpPr>
            <p:cNvPr id="13" name="正方形/長方形 12">
              <a:extLst>
                <a:ext uri="{FF2B5EF4-FFF2-40B4-BE49-F238E27FC236}">
                  <a16:creationId xmlns:a16="http://schemas.microsoft.com/office/drawing/2014/main" id="{9EB40195-DEA1-9481-3CEA-B62FEA0BA4C3}"/>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lvl="0" algn="ctr" defTabSz="914400">
                <a:defRPr/>
              </a:pPr>
              <a:r>
                <a:rPr lang="ja-JP" altLang="en-US" sz="1400" kern="0">
                  <a:solidFill>
                    <a:prstClr val="black"/>
                  </a:solidFill>
                  <a:latin typeface="+mn-ea"/>
                </a:rPr>
                <a:t>吉田様</a:t>
              </a:r>
              <a:r>
                <a:rPr lang="en-US" altLang="ja-JP" sz="1400" kern="0">
                  <a:solidFill>
                    <a:prstClr val="black"/>
                  </a:solidFill>
                  <a:latin typeface="+mn-ea"/>
                </a:rPr>
                <a:t>/</a:t>
              </a:r>
              <a:r>
                <a:rPr lang="ja-JP" altLang="en-US" sz="1400" kern="0">
                  <a:solidFill>
                    <a:prstClr val="black"/>
                  </a:solidFill>
                  <a:latin typeface="+mn-ea"/>
                </a:rPr>
                <a:t>澤田様</a:t>
              </a:r>
              <a:endParaRPr lang="en-US" altLang="ja-JP" sz="1400">
                <a:solidFill>
                  <a:schemeClr val="tx1"/>
                </a:solidFill>
                <a:latin typeface="+mn-ea"/>
              </a:endParaRPr>
            </a:p>
          </p:txBody>
        </p:sp>
      </p:grpSp>
      <p:sp>
        <p:nvSpPr>
          <p:cNvPr id="109" name="スライド番号プレースホルダー 3">
            <a:extLst>
              <a:ext uri="{FF2B5EF4-FFF2-40B4-BE49-F238E27FC236}">
                <a16:creationId xmlns:a16="http://schemas.microsoft.com/office/drawing/2014/main" id="{BE0FAD37-1CEB-90BF-F8BC-9C686A13CB8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19</a:t>
            </a:fld>
            <a:endParaRPr kumimoji="1" lang="ja-JP" altLang="en-US" sz="700"/>
          </a:p>
        </p:txBody>
      </p:sp>
      <p:grpSp>
        <p:nvGrpSpPr>
          <p:cNvPr id="36" name="グループ化 35">
            <a:extLst>
              <a:ext uri="{FF2B5EF4-FFF2-40B4-BE49-F238E27FC236}">
                <a16:creationId xmlns:a16="http://schemas.microsoft.com/office/drawing/2014/main" id="{74BE4F1A-CB53-048B-FB84-5853BC955DAB}"/>
              </a:ext>
            </a:extLst>
          </p:cNvPr>
          <p:cNvGrpSpPr/>
          <p:nvPr/>
        </p:nvGrpSpPr>
        <p:grpSpPr>
          <a:xfrm>
            <a:off x="695243" y="3569049"/>
            <a:ext cx="1043640" cy="559820"/>
            <a:chOff x="719999" y="2952000"/>
            <a:chExt cx="2304000" cy="720000"/>
          </a:xfrm>
        </p:grpSpPr>
        <p:sp>
          <p:nvSpPr>
            <p:cNvPr id="37" name="正方形/長方形 36">
              <a:extLst>
                <a:ext uri="{FF2B5EF4-FFF2-40B4-BE49-F238E27FC236}">
                  <a16:creationId xmlns:a16="http://schemas.microsoft.com/office/drawing/2014/main" id="{6047EE92-E8BB-2DBA-0F69-181A834BA675}"/>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各拠点</a:t>
              </a:r>
            </a:p>
          </p:txBody>
        </p:sp>
        <p:sp>
          <p:nvSpPr>
            <p:cNvPr id="45" name="正方形/長方形 44">
              <a:extLst>
                <a:ext uri="{FF2B5EF4-FFF2-40B4-BE49-F238E27FC236}">
                  <a16:creationId xmlns:a16="http://schemas.microsoft.com/office/drawing/2014/main" id="{92676E90-1279-4030-7671-A3F47384D57B}"/>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担当者様</a:t>
              </a:r>
              <a:endParaRPr lang="en-US" altLang="ja-JP" sz="1400">
                <a:solidFill>
                  <a:schemeClr val="tx1"/>
                </a:solidFill>
                <a:latin typeface="+mn-ea"/>
              </a:endParaRPr>
            </a:p>
          </p:txBody>
        </p:sp>
      </p:grpSp>
      <p:grpSp>
        <p:nvGrpSpPr>
          <p:cNvPr id="46" name="グループ化 45">
            <a:extLst>
              <a:ext uri="{FF2B5EF4-FFF2-40B4-BE49-F238E27FC236}">
                <a16:creationId xmlns:a16="http://schemas.microsoft.com/office/drawing/2014/main" id="{FC5625AD-FCF9-3851-7F36-B8220E7D9832}"/>
              </a:ext>
            </a:extLst>
          </p:cNvPr>
          <p:cNvGrpSpPr/>
          <p:nvPr/>
        </p:nvGrpSpPr>
        <p:grpSpPr>
          <a:xfrm>
            <a:off x="2579180" y="3580644"/>
            <a:ext cx="2037113" cy="534950"/>
            <a:chOff x="719999" y="2983984"/>
            <a:chExt cx="2304000" cy="688016"/>
          </a:xfrm>
        </p:grpSpPr>
        <p:sp>
          <p:nvSpPr>
            <p:cNvPr id="50" name="正方形/長方形 49">
              <a:extLst>
                <a:ext uri="{FF2B5EF4-FFF2-40B4-BE49-F238E27FC236}">
                  <a16:creationId xmlns:a16="http://schemas.microsoft.com/office/drawing/2014/main" id="{426508EE-2ADE-384D-8539-61519118E192}"/>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担当者</a:t>
              </a:r>
            </a:p>
          </p:txBody>
        </p:sp>
        <p:sp>
          <p:nvSpPr>
            <p:cNvPr id="51" name="正方形/長方形 50">
              <a:extLst>
                <a:ext uri="{FF2B5EF4-FFF2-40B4-BE49-F238E27FC236}">
                  <a16:creationId xmlns:a16="http://schemas.microsoft.com/office/drawing/2014/main" id="{88B56B0E-1B47-5FFB-3B22-70DA9B000E65}"/>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lvl="0" algn="ctr" defTabSz="914400">
                <a:defRPr/>
              </a:pPr>
              <a:r>
                <a:rPr lang="ja-JP" altLang="en-US" sz="1400" kern="0">
                  <a:solidFill>
                    <a:prstClr val="black"/>
                  </a:solidFill>
                  <a:latin typeface="+mn-ea"/>
                </a:rPr>
                <a:t>奥田様</a:t>
              </a:r>
              <a:endParaRPr lang="en-US" altLang="ja-JP" sz="1400">
                <a:solidFill>
                  <a:schemeClr val="tx1"/>
                </a:solidFill>
                <a:latin typeface="+mn-ea"/>
              </a:endParaRPr>
            </a:p>
          </p:txBody>
        </p:sp>
      </p:grpSp>
      <p:cxnSp>
        <p:nvCxnSpPr>
          <p:cNvPr id="52" name="直線コネクタ 51">
            <a:extLst>
              <a:ext uri="{FF2B5EF4-FFF2-40B4-BE49-F238E27FC236}">
                <a16:creationId xmlns:a16="http://schemas.microsoft.com/office/drawing/2014/main" id="{53C5D386-012F-B920-5ECE-044F4C5EC6EF}"/>
              </a:ext>
            </a:extLst>
          </p:cNvPr>
          <p:cNvCxnSpPr>
            <a:cxnSpLocks/>
            <a:stCxn id="13" idx="2"/>
            <a:endCxn id="50" idx="0"/>
          </p:cNvCxnSpPr>
          <p:nvPr/>
        </p:nvCxnSpPr>
        <p:spPr>
          <a:xfrm flipH="1">
            <a:off x="3597737" y="3107111"/>
            <a:ext cx="1" cy="47353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5593296-E647-B47B-D1F7-01FC1089A4AE}"/>
              </a:ext>
            </a:extLst>
          </p:cNvPr>
          <p:cNvCxnSpPr>
            <a:cxnSpLocks/>
            <a:stCxn id="45" idx="3"/>
            <a:endCxn id="51" idx="1"/>
          </p:cNvCxnSpPr>
          <p:nvPr/>
        </p:nvCxnSpPr>
        <p:spPr>
          <a:xfrm flipV="1">
            <a:off x="1738883" y="3975640"/>
            <a:ext cx="84029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6" name="吹き出し: 四角形 85">
            <a:extLst>
              <a:ext uri="{FF2B5EF4-FFF2-40B4-BE49-F238E27FC236}">
                <a16:creationId xmlns:a16="http://schemas.microsoft.com/office/drawing/2014/main" id="{F129D030-5EBA-F2A3-2CC2-03974FEF7618}"/>
              </a:ext>
            </a:extLst>
          </p:cNvPr>
          <p:cNvSpPr/>
          <p:nvPr/>
        </p:nvSpPr>
        <p:spPr>
          <a:xfrm>
            <a:off x="9192538" y="3791071"/>
            <a:ext cx="1669188" cy="487343"/>
          </a:xfrm>
          <a:prstGeom prst="wedgeRectCallout">
            <a:avLst>
              <a:gd name="adj1" fmla="val -69908"/>
              <a:gd name="adj2" fmla="val -30228"/>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en-US" altLang="ja-JP" sz="1100">
                <a:latin typeface="+mn-ea"/>
              </a:rPr>
              <a:t>2026</a:t>
            </a:r>
            <a:r>
              <a:rPr kumimoji="1" lang="ja-JP" altLang="en-US" sz="1100">
                <a:latin typeface="+mn-ea"/>
              </a:rPr>
              <a:t>年</a:t>
            </a:r>
            <a:r>
              <a:rPr kumimoji="1" lang="en-US" altLang="ja-JP" sz="1100">
                <a:latin typeface="+mn-ea"/>
              </a:rPr>
              <a:t>1</a:t>
            </a:r>
            <a:r>
              <a:rPr kumimoji="1" lang="ja-JP" altLang="en-US" sz="1100">
                <a:latin typeface="+mn-ea"/>
              </a:rPr>
              <a:t>月以降は</a:t>
            </a:r>
            <a:endParaRPr kumimoji="1" lang="en-US" altLang="ja-JP" sz="1100">
              <a:latin typeface="+mn-ea"/>
            </a:endParaRPr>
          </a:p>
          <a:p>
            <a:pPr algn="ctr"/>
            <a:r>
              <a:rPr kumimoji="1" lang="ja-JP" altLang="en-US" sz="1100">
                <a:latin typeface="+mn-ea"/>
              </a:rPr>
              <a:t>変更の可能性有</a:t>
            </a:r>
          </a:p>
        </p:txBody>
      </p:sp>
    </p:spTree>
    <p:extLst>
      <p:ext uri="{BB962C8B-B14F-4D97-AF65-F5344CB8AC3E}">
        <p14:creationId xmlns:p14="http://schemas.microsoft.com/office/powerpoint/2010/main" val="3703131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1F3F8-B380-BFAB-A2FF-5F50DF959A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F81390-A44E-CCDA-DCDF-286F47E61DA2}"/>
              </a:ext>
            </a:extLst>
          </p:cNvPr>
          <p:cNvSpPr>
            <a:spLocks noGrp="1"/>
          </p:cNvSpPr>
          <p:nvPr>
            <p:ph type="title"/>
          </p:nvPr>
        </p:nvSpPr>
        <p:spPr/>
        <p:txBody>
          <a:bodyPr/>
          <a:lstStyle/>
          <a:p>
            <a:r>
              <a:rPr lang="en-US" altLang="ja-JP" dirty="0"/>
              <a:t>3-9</a:t>
            </a:r>
            <a:r>
              <a:rPr kumimoji="1" lang="ja-JP" altLang="en-US"/>
              <a:t>．役割および責任・権限</a:t>
            </a:r>
            <a:r>
              <a:rPr lang="en-US" altLang="ja-JP" dirty="0"/>
              <a:t>(</a:t>
            </a:r>
            <a:r>
              <a:rPr lang="ja-JP" altLang="en-US" dirty="0"/>
              <a:t>ウォーターフォール開発の場合</a:t>
            </a:r>
            <a:r>
              <a:rPr lang="en-US" altLang="ja-JP" dirty="0"/>
              <a:t>)</a:t>
            </a:r>
            <a:endParaRPr kumimoji="1" lang="ja-JP" altLang="en-US"/>
          </a:p>
        </p:txBody>
      </p:sp>
      <p:sp>
        <p:nvSpPr>
          <p:cNvPr id="4" name="フッター プレースホルダー 3">
            <a:extLst>
              <a:ext uri="{FF2B5EF4-FFF2-40B4-BE49-F238E27FC236}">
                <a16:creationId xmlns:a16="http://schemas.microsoft.com/office/drawing/2014/main" id="{BFE40D89-F5DE-857A-47F5-E2FAB8C655FC}"/>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76C0EF26-D9F9-3A93-96F1-E76E6816B62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20</a:t>
            </a:fld>
            <a:endParaRPr kumimoji="1" lang="ja-JP" altLang="en-US" sz="700"/>
          </a:p>
        </p:txBody>
      </p:sp>
      <p:graphicFrame>
        <p:nvGraphicFramePr>
          <p:cNvPr id="6" name="コンテンツ プレースホルダー 5">
            <a:extLst>
              <a:ext uri="{FF2B5EF4-FFF2-40B4-BE49-F238E27FC236}">
                <a16:creationId xmlns:a16="http://schemas.microsoft.com/office/drawing/2014/main" id="{7A3D85B5-5C12-D3E4-86FF-2A45B0260640}"/>
              </a:ext>
            </a:extLst>
          </p:cNvPr>
          <p:cNvGraphicFramePr>
            <a:graphicFrameLocks/>
          </p:cNvGraphicFramePr>
          <p:nvPr>
            <p:extLst>
              <p:ext uri="{D42A27DB-BD31-4B8C-83A1-F6EECF244321}">
                <p14:modId xmlns:p14="http://schemas.microsoft.com/office/powerpoint/2010/main" val="1303352419"/>
              </p:ext>
            </p:extLst>
          </p:nvPr>
        </p:nvGraphicFramePr>
        <p:xfrm>
          <a:off x="576000" y="1276181"/>
          <a:ext cx="11041199" cy="3474720"/>
        </p:xfrm>
        <a:graphic>
          <a:graphicData uri="http://schemas.openxmlformats.org/drawingml/2006/table">
            <a:tbl>
              <a:tblPr firstRow="1" bandRow="1">
                <a:tableStyleId>{3B4B98B0-60AC-42C2-AFA5-B58CD77FA1E5}</a:tableStyleId>
              </a:tblPr>
              <a:tblGrid>
                <a:gridCol w="2111216">
                  <a:extLst>
                    <a:ext uri="{9D8B030D-6E8A-4147-A177-3AD203B41FA5}">
                      <a16:colId xmlns:a16="http://schemas.microsoft.com/office/drawing/2014/main" val="3739787443"/>
                    </a:ext>
                  </a:extLst>
                </a:gridCol>
                <a:gridCol w="8929983">
                  <a:extLst>
                    <a:ext uri="{9D8B030D-6E8A-4147-A177-3AD203B41FA5}">
                      <a16:colId xmlns:a16="http://schemas.microsoft.com/office/drawing/2014/main" val="1167101293"/>
                    </a:ext>
                  </a:extLst>
                </a:gridCol>
              </a:tblGrid>
              <a:tr h="207092">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役割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作業範囲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extLst>
                  <a:ext uri="{0D108BD9-81ED-4DB2-BD59-A6C34878D82A}">
                    <a16:rowId xmlns:a16="http://schemas.microsoft.com/office/drawing/2014/main" val="3449912314"/>
                  </a:ext>
                </a:extLst>
              </a:tr>
              <a:tr h="357704">
                <a:tc>
                  <a:txBody>
                    <a:bodyPr/>
                    <a:lstStyle/>
                    <a:p>
                      <a:r>
                        <a:rPr kumimoji="1" lang="ja-JP" altLang="en-US" sz="1600">
                          <a:latin typeface="游ゴシック" panose="020B0400000000000000" pitchFamily="50" charset="-128"/>
                          <a:ea typeface="游ゴシック" panose="020B0400000000000000" pitchFamily="50" charset="-128"/>
                        </a:rPr>
                        <a:t>プロジェクト責任者</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全体方針と優先度を決定し承認する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予算・納期・体制の最終責任を負う</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重要意思決定とエスカレーションを裁定する</a:t>
                      </a:r>
                      <a:endParaRPr kumimoji="0" lang="ja-JP" altLang="en-US" sz="1600" b="0" i="1"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1960948427"/>
                  </a:ext>
                </a:extLst>
              </a:tr>
              <a:tr h="809541">
                <a:tc>
                  <a:txBody>
                    <a:bodyPr/>
                    <a:lstStyle/>
                    <a:p>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マネージャー</a:t>
                      </a:r>
                      <a:endParaRPr kumimoji="1" lang="en-US" altLang="ja-JP" sz="1600" dirty="0">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目標・範囲・予算・スケジュールを統制する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進行管理（品質・変更・課題・リスク・構成）を徹底する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決定事項の周知と関係者コミュニケーションを設計する</a:t>
                      </a:r>
                      <a:endParaRPr kumimoji="0" lang="en-US" altLang="ja-JP" sz="16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185347885"/>
                  </a:ext>
                </a:extLst>
              </a:tr>
              <a:tr h="207092">
                <a:tc>
                  <a:txBody>
                    <a:bodyPr/>
                    <a:lstStyle/>
                    <a:p>
                      <a:r>
                        <a:rPr kumimoji="1" lang="ja-JP" altLang="en-US" sz="1600">
                          <a:latin typeface="游ゴシック" panose="020B0400000000000000" pitchFamily="50" charset="-128"/>
                          <a:ea typeface="游ゴシック" panose="020B0400000000000000" pitchFamily="50" charset="-128"/>
                        </a:rPr>
                        <a:t>メンバー</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mn-ea"/>
                        </a:rPr>
                        <a:t>各リーダー指示に基づき設計・実装・テストを遂行する</a:t>
                      </a:r>
                      <a:endParaRPr kumimoji="0" lang="ja-JP" altLang="en-US" sz="16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54760582"/>
                  </a:ext>
                </a:extLst>
              </a:tr>
              <a:tr h="207092">
                <a:tc>
                  <a:txBody>
                    <a:bodyPr/>
                    <a:lstStyle/>
                    <a:p>
                      <a:r>
                        <a:rPr kumimoji="1" lang="ja-JP" altLang="en-US" sz="1600">
                          <a:solidFill>
                            <a:schemeClr val="tx1"/>
                          </a:solidFill>
                          <a:latin typeface="游ゴシック" panose="020B0400000000000000" pitchFamily="50" charset="-128"/>
                          <a:ea typeface="游ゴシック" panose="020B0400000000000000" pitchFamily="50" charset="-128"/>
                        </a:rPr>
                        <a:t>品質保証</a:t>
                      </a: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局面レビューの実施する</a:t>
                      </a:r>
                      <a:endParaRPr kumimoji="0" lang="en-US" altLang="ja-JP"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品質改善活動の支援する</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23428347"/>
                  </a:ext>
                </a:extLst>
              </a:tr>
              <a:tr h="207092">
                <a:tc>
                  <a:txBody>
                    <a:bodyPr/>
                    <a:lstStyle/>
                    <a:p>
                      <a:r>
                        <a:rPr kumimoji="1" lang="ja-JP" altLang="en-US" sz="1600">
                          <a:latin typeface="游ゴシック" panose="020B0400000000000000" pitchFamily="50" charset="-128"/>
                          <a:ea typeface="游ゴシック" panose="020B0400000000000000" pitchFamily="50" charset="-128"/>
                        </a:rPr>
                        <a:t>営業</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契約管理（条件調整、契約書締結、変更契約）を担当する</a:t>
                      </a:r>
                    </a:p>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顧客窓口としてクレーム対応を行う</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318722808"/>
                  </a:ext>
                </a:extLst>
              </a:tr>
            </a:tbl>
          </a:graphicData>
        </a:graphic>
      </p:graphicFrame>
      <p:sp>
        <p:nvSpPr>
          <p:cNvPr id="7" name="テキスト ボックス 6">
            <a:extLst>
              <a:ext uri="{FF2B5EF4-FFF2-40B4-BE49-F238E27FC236}">
                <a16:creationId xmlns:a16="http://schemas.microsoft.com/office/drawing/2014/main" id="{C74E8F55-EE8B-C620-463C-38E8741671E5}"/>
              </a:ext>
            </a:extLst>
          </p:cNvPr>
          <p:cNvSpPr txBox="1">
            <a:spLocks/>
          </p:cNvSpPr>
          <p:nvPr/>
        </p:nvSpPr>
        <p:spPr>
          <a:xfrm>
            <a:off x="575999" y="936000"/>
            <a:ext cx="11041199" cy="382481"/>
          </a:xfrm>
          <a:prstGeom prst="roundRect">
            <a:avLst>
              <a:gd name="adj" fmla="val 11024"/>
            </a:avLst>
          </a:prstGeom>
          <a:noFill/>
        </p:spPr>
        <p:txBody>
          <a:bodyPr wrap="square" rtlCol="0">
            <a:noAutofit/>
          </a:bodyPr>
          <a:lstStyle/>
          <a:p>
            <a:r>
              <a:rPr lang="ja-JP" altLang="en-US" sz="1600">
                <a:latin typeface="+mn-ea"/>
              </a:rPr>
              <a:t>体制について</a:t>
            </a:r>
            <a:r>
              <a:rPr kumimoji="1" lang="ja-JP" altLang="en-US" sz="1600">
                <a:latin typeface="+mn-ea"/>
              </a:rPr>
              <a:t>、</a:t>
            </a:r>
            <a:r>
              <a:rPr lang="ja-JP" altLang="en-US" sz="1600">
                <a:latin typeface="游ゴシック" panose="020B0400000000000000" pitchFamily="50" charset="-128"/>
              </a:rPr>
              <a:t>下記の通り役割と作業範囲を定めます。</a:t>
            </a:r>
          </a:p>
        </p:txBody>
      </p:sp>
    </p:spTree>
    <p:extLst>
      <p:ext uri="{BB962C8B-B14F-4D97-AF65-F5344CB8AC3E}">
        <p14:creationId xmlns:p14="http://schemas.microsoft.com/office/powerpoint/2010/main" val="3329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88734-AB75-0245-BBC1-D642780282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77C6D0-17BB-062A-8367-801CF8E25641}"/>
              </a:ext>
            </a:extLst>
          </p:cNvPr>
          <p:cNvSpPr>
            <a:spLocks noGrp="1"/>
          </p:cNvSpPr>
          <p:nvPr>
            <p:ph type="title"/>
          </p:nvPr>
        </p:nvSpPr>
        <p:spPr/>
        <p:txBody>
          <a:bodyPr/>
          <a:lstStyle/>
          <a:p>
            <a:r>
              <a:rPr lang="en-US" altLang="ja-JP" dirty="0"/>
              <a:t>3-10</a:t>
            </a:r>
            <a:r>
              <a:rPr lang="ja-JP" altLang="en-US"/>
              <a:t>．納品物</a:t>
            </a:r>
            <a:r>
              <a:rPr lang="en-US" altLang="ja-JP" dirty="0"/>
              <a:t>(</a:t>
            </a:r>
            <a:r>
              <a:rPr lang="ja-JP" altLang="ja-JP" dirty="0"/>
              <a:t>ウォーターフォール開発の場合</a:t>
            </a:r>
            <a:r>
              <a:rPr lang="en-US" altLang="ja-JP" dirty="0"/>
              <a:t>)</a:t>
            </a:r>
            <a:endParaRPr kumimoji="1" lang="ja-JP" altLang="en-US"/>
          </a:p>
        </p:txBody>
      </p:sp>
      <p:sp>
        <p:nvSpPr>
          <p:cNvPr id="5" name="フッター プレースホルダー 4">
            <a:extLst>
              <a:ext uri="{FF2B5EF4-FFF2-40B4-BE49-F238E27FC236}">
                <a16:creationId xmlns:a16="http://schemas.microsoft.com/office/drawing/2014/main" id="{4C1B3F2F-FE5D-A98E-47C7-7E3D5DA751F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8" name="コンテンツ プレースホルダー 6">
            <a:extLst>
              <a:ext uri="{FF2B5EF4-FFF2-40B4-BE49-F238E27FC236}">
                <a16:creationId xmlns:a16="http://schemas.microsoft.com/office/drawing/2014/main" id="{4567851D-75F9-E10E-54F6-2F4FAB9DAE2A}"/>
              </a:ext>
            </a:extLst>
          </p:cNvPr>
          <p:cNvGraphicFramePr>
            <a:graphicFrameLocks/>
          </p:cNvGraphicFramePr>
          <p:nvPr>
            <p:extLst>
              <p:ext uri="{D42A27DB-BD31-4B8C-83A1-F6EECF244321}">
                <p14:modId xmlns:p14="http://schemas.microsoft.com/office/powerpoint/2010/main" val="456328824"/>
              </p:ext>
            </p:extLst>
          </p:nvPr>
        </p:nvGraphicFramePr>
        <p:xfrm>
          <a:off x="576000" y="936000"/>
          <a:ext cx="11052000" cy="4583400"/>
        </p:xfrm>
        <a:graphic>
          <a:graphicData uri="http://schemas.openxmlformats.org/drawingml/2006/table">
            <a:tbl>
              <a:tblPr firstRow="1">
                <a:tableStyleId>{5C22544A-7EE6-4342-B048-85BDC9FD1C3A}</a:tableStyleId>
              </a:tblPr>
              <a:tblGrid>
                <a:gridCol w="3600000">
                  <a:extLst>
                    <a:ext uri="{9D8B030D-6E8A-4147-A177-3AD203B41FA5}">
                      <a16:colId xmlns:a16="http://schemas.microsoft.com/office/drawing/2014/main" val="20000"/>
                    </a:ext>
                  </a:extLst>
                </a:gridCol>
                <a:gridCol w="7452000">
                  <a:extLst>
                    <a:ext uri="{9D8B030D-6E8A-4147-A177-3AD203B41FA5}">
                      <a16:colId xmlns:a16="http://schemas.microsoft.com/office/drawing/2014/main" val="20001"/>
                    </a:ext>
                  </a:extLst>
                </a:gridCol>
              </a:tblGrid>
              <a:tr h="265439">
                <a:tc>
                  <a:txBody>
                    <a:bodyPr/>
                    <a:lstStyle/>
                    <a:p>
                      <a:r>
                        <a:rPr kumimoji="1" lang="ja-JP" altLang="en-US" sz="1600" b="1">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b="1">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28000">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mn-ea"/>
                          <a:ea typeface="+mn-ea"/>
                        </a:rPr>
                        <a:t>要件定義書（機能要件、非機能要件）</a:t>
                      </a:r>
                      <a:endParaRPr kumimoji="1" lang="en-US" altLang="ja-JP" sz="1600" b="0" i="0" u="none" strike="noStrike" baseline="0" noProof="0">
                        <a:solidFill>
                          <a:srgbClr val="000000"/>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mn-ea"/>
                          <a:ea typeface="+mn-ea"/>
                        </a:rPr>
                        <a:t>業務フロー</a:t>
                      </a:r>
                      <a:r>
                        <a:rPr kumimoji="1" lang="ja-JP" altLang="en-US" sz="1600" b="0">
                          <a:latin typeface="+mn-ea"/>
                          <a:ea typeface="+mn-ea"/>
                        </a:rPr>
                        <a:t>、</a:t>
                      </a:r>
                      <a:r>
                        <a:rPr lang="ja-JP" altLang="en-US" sz="1600" b="0">
                          <a:latin typeface="+mn-ea"/>
                          <a:ea typeface="+mn-ea"/>
                        </a:rPr>
                        <a:t>テスト計画書</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570020">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画面一覧、帳票一覧、バッチ一覧、メール一覧、テーブル定義書／</a:t>
                      </a:r>
                      <a:r>
                        <a:rPr kumimoji="1" lang="en-US" altLang="ja-JP" sz="1600" b="0">
                          <a:latin typeface="+mn-ea"/>
                          <a:ea typeface="+mn-ea"/>
                        </a:rPr>
                        <a:t>ER</a:t>
                      </a:r>
                      <a:r>
                        <a:rPr kumimoji="1" lang="ja-JP" altLang="en-US" sz="1600" b="0">
                          <a:latin typeface="+mn-ea"/>
                          <a:ea typeface="+mn-ea"/>
                        </a:rPr>
                        <a:t>図、</a:t>
                      </a:r>
                      <a:endParaRPr kumimoji="1" lang="en-US" altLang="ja-JP" sz="1600" b="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画面項目定義書、帳票項目定義書、アプリケーション処理方式</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5700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API</a:t>
                      </a:r>
                      <a:r>
                        <a:rPr kumimoji="1" lang="ja-JP" altLang="en-US" sz="1600" b="0" i="0" u="none" strike="noStrike" kern="1200" baseline="0">
                          <a:solidFill>
                            <a:schemeClr val="tx1"/>
                          </a:solidFill>
                          <a:latin typeface="+mn-ea"/>
                          <a:ea typeface="+mn-ea"/>
                          <a:cs typeface="+mn-cs"/>
                        </a:rPr>
                        <a:t>詳細設計書、バッチ詳細設計書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93713132"/>
                  </a:ext>
                </a:extLst>
              </a:tr>
              <a:tr h="570020">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b="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570020">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結合テスト仕様書兼成績書、ユーザー操作マニュアル（仮）</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570020">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システムテスト仕様書兼成績書、ユーザー操作マニュアル（最終版）</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570020">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受入テスト問合せ管理表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576139"/>
                  </a:ext>
                </a:extLst>
              </a:tr>
            </a:tbl>
          </a:graphicData>
        </a:graphic>
      </p:graphicFrame>
      <p:sp>
        <p:nvSpPr>
          <p:cNvPr id="3" name="スライド番号プレースホルダー 3">
            <a:extLst>
              <a:ext uri="{FF2B5EF4-FFF2-40B4-BE49-F238E27FC236}">
                <a16:creationId xmlns:a16="http://schemas.microsoft.com/office/drawing/2014/main" id="{5979CF7D-897E-066C-AB4E-C7B20BDED9E6}"/>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21</a:t>
            </a:fld>
            <a:endParaRPr kumimoji="1" lang="ja-JP" altLang="en-US" sz="700"/>
          </a:p>
        </p:txBody>
      </p:sp>
    </p:spTree>
    <p:extLst>
      <p:ext uri="{BB962C8B-B14F-4D97-AF65-F5344CB8AC3E}">
        <p14:creationId xmlns:p14="http://schemas.microsoft.com/office/powerpoint/2010/main" val="892140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76B9A-DEC5-B33A-CE25-603D11CB9465}"/>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2DBE38EE-8936-A71E-ADD7-3346BEC9DCFF}"/>
              </a:ext>
            </a:extLst>
          </p:cNvPr>
          <p:cNvSpPr>
            <a:spLocks noGrp="1"/>
          </p:cNvSpPr>
          <p:nvPr>
            <p:ph type="sldNum" sz="quarter" idx="12"/>
          </p:nvPr>
        </p:nvSpPr>
        <p:spPr/>
        <p:txBody>
          <a:bodyPr/>
          <a:lstStyle/>
          <a:p>
            <a:fld id="{26CA5134-5AAC-D342-B763-43605FECB385}" type="slidenum">
              <a:rPr kumimoji="1" lang="ja-JP" altLang="en-US" smtClean="0"/>
              <a:pPr/>
              <a:t>22</a:t>
            </a:fld>
            <a:endParaRPr kumimoji="1" lang="ja-JP" altLang="en-US" sz="700"/>
          </a:p>
        </p:txBody>
      </p:sp>
      <p:sp>
        <p:nvSpPr>
          <p:cNvPr id="4" name="タイトル 3">
            <a:extLst>
              <a:ext uri="{FF2B5EF4-FFF2-40B4-BE49-F238E27FC236}">
                <a16:creationId xmlns:a16="http://schemas.microsoft.com/office/drawing/2014/main" id="{691E282E-9E3C-6FD8-3C3D-FECF74E4D56A}"/>
              </a:ext>
            </a:extLst>
          </p:cNvPr>
          <p:cNvSpPr>
            <a:spLocks noGrp="1"/>
          </p:cNvSpPr>
          <p:nvPr>
            <p:ph type="title"/>
          </p:nvPr>
        </p:nvSpPr>
        <p:spPr/>
        <p:txBody>
          <a:bodyPr/>
          <a:lstStyle/>
          <a:p>
            <a:r>
              <a:rPr lang="ja-JP" altLang="en-US"/>
              <a:t>アジャイル開発の場合の進め方</a:t>
            </a:r>
            <a:endParaRPr kumimoji="1" lang="ja-JP" altLang="en-US"/>
          </a:p>
        </p:txBody>
      </p:sp>
    </p:spTree>
    <p:extLst>
      <p:ext uri="{BB962C8B-B14F-4D97-AF65-F5344CB8AC3E}">
        <p14:creationId xmlns:p14="http://schemas.microsoft.com/office/powerpoint/2010/main" val="2244087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98C1-9163-FDDD-0D89-12E0F9DB9F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615384-C20B-D6B7-BBD7-DD422D8E8A8B}"/>
              </a:ext>
            </a:extLst>
          </p:cNvPr>
          <p:cNvSpPr>
            <a:spLocks noGrp="1"/>
          </p:cNvSpPr>
          <p:nvPr>
            <p:ph type="title"/>
          </p:nvPr>
        </p:nvSpPr>
        <p:spPr/>
        <p:txBody>
          <a:bodyPr/>
          <a:lstStyle/>
          <a:p>
            <a:r>
              <a:rPr lang="en-US" altLang="ja-JP"/>
              <a:t>4</a:t>
            </a:r>
            <a:r>
              <a:rPr kumimoji="1" lang="en-US" altLang="ja-JP"/>
              <a:t>-1</a:t>
            </a:r>
            <a:r>
              <a:rPr lang="ja-JP" altLang="en-US"/>
              <a:t>．スクラム開発の進め方</a:t>
            </a:r>
            <a:endParaRPr kumimoji="1" lang="ja-JP" altLang="en-US"/>
          </a:p>
        </p:txBody>
      </p:sp>
      <p:sp>
        <p:nvSpPr>
          <p:cNvPr id="4" name="フッター プレースホルダー 3">
            <a:extLst>
              <a:ext uri="{FF2B5EF4-FFF2-40B4-BE49-F238E27FC236}">
                <a16:creationId xmlns:a16="http://schemas.microsoft.com/office/drawing/2014/main" id="{850CED53-90FA-97AD-3B72-CDB5A78B0737}"/>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22D4103B-39C3-3A38-BB1C-C9818C9FADB4}"/>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23</a:t>
            </a:fld>
            <a:endParaRPr kumimoji="1" lang="ja-JP" altLang="en-US" sz="700"/>
          </a:p>
        </p:txBody>
      </p:sp>
      <p:graphicFrame>
        <p:nvGraphicFramePr>
          <p:cNvPr id="6" name="表 5">
            <a:extLst>
              <a:ext uri="{FF2B5EF4-FFF2-40B4-BE49-F238E27FC236}">
                <a16:creationId xmlns:a16="http://schemas.microsoft.com/office/drawing/2014/main" id="{9DE85C08-B064-81CE-BF51-59A9C72670CD}"/>
              </a:ext>
            </a:extLst>
          </p:cNvPr>
          <p:cNvGraphicFramePr>
            <a:graphicFrameLocks noGrp="1"/>
          </p:cNvGraphicFramePr>
          <p:nvPr/>
        </p:nvGraphicFramePr>
        <p:xfrm>
          <a:off x="8207701" y="3998400"/>
          <a:ext cx="864000" cy="540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490394375"/>
                    </a:ext>
                  </a:extLst>
                </a:gridCol>
                <a:gridCol w="288000">
                  <a:extLst>
                    <a:ext uri="{9D8B030D-6E8A-4147-A177-3AD203B41FA5}">
                      <a16:colId xmlns:a16="http://schemas.microsoft.com/office/drawing/2014/main" val="2289899389"/>
                    </a:ext>
                  </a:extLst>
                </a:gridCol>
                <a:gridCol w="288000">
                  <a:extLst>
                    <a:ext uri="{9D8B030D-6E8A-4147-A177-3AD203B41FA5}">
                      <a16:colId xmlns:a16="http://schemas.microsoft.com/office/drawing/2014/main" val="653110159"/>
                    </a:ext>
                  </a:extLst>
                </a:gridCol>
              </a:tblGrid>
              <a:tr h="180000">
                <a:tc>
                  <a:txBody>
                    <a:bodyPr/>
                    <a:lstStyle/>
                    <a:p>
                      <a:pPr algn="ctr"/>
                      <a:r>
                        <a:rPr kumimoji="1" lang="en-US" altLang="ja-JP" sz="600" b="1">
                          <a:latin typeface="游ゴシック" panose="020B0400000000000000" pitchFamily="50" charset="-128"/>
                          <a:ea typeface="游ゴシック" panose="020B0400000000000000" pitchFamily="50" charset="-128"/>
                        </a:rPr>
                        <a:t>K</a:t>
                      </a:r>
                      <a:endParaRPr kumimoji="1" lang="ja-JP" altLang="en-US" sz="600" b="1">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600" b="1">
                          <a:latin typeface="游ゴシック" panose="020B0400000000000000" pitchFamily="50" charset="-128"/>
                          <a:ea typeface="游ゴシック" panose="020B0400000000000000" pitchFamily="50" charset="-128"/>
                        </a:rPr>
                        <a:t>P</a:t>
                      </a:r>
                      <a:endParaRPr kumimoji="1" lang="ja-JP" altLang="en-US" sz="600" b="1">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600" b="1">
                          <a:latin typeface="游ゴシック" panose="020B0400000000000000" pitchFamily="50" charset="-128"/>
                          <a:ea typeface="游ゴシック" panose="020B0400000000000000" pitchFamily="50" charset="-128"/>
                        </a:rPr>
                        <a:t>T</a:t>
                      </a:r>
                      <a:endParaRPr kumimoji="1" lang="ja-JP" altLang="en-US" sz="600" b="1">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77706019"/>
                  </a:ext>
                </a:extLst>
              </a:tr>
              <a:tr h="360000">
                <a:tc>
                  <a:txBody>
                    <a:bodyPr/>
                    <a:lstStyle/>
                    <a:p>
                      <a:pPr algn="ctr"/>
                      <a:endParaRPr kumimoji="1" lang="ja-JP" altLang="en-US" sz="600">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600">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600">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47515966"/>
                  </a:ext>
                </a:extLst>
              </a:tr>
            </a:tbl>
          </a:graphicData>
        </a:graphic>
      </p:graphicFrame>
      <p:sp>
        <p:nvSpPr>
          <p:cNvPr id="9" name="矢印: 右 8">
            <a:extLst>
              <a:ext uri="{FF2B5EF4-FFF2-40B4-BE49-F238E27FC236}">
                <a16:creationId xmlns:a16="http://schemas.microsoft.com/office/drawing/2014/main" id="{C458F817-C75C-9AEE-CA9C-02BC4A755E70}"/>
              </a:ext>
            </a:extLst>
          </p:cNvPr>
          <p:cNvSpPr/>
          <p:nvPr/>
        </p:nvSpPr>
        <p:spPr>
          <a:xfrm>
            <a:off x="5687701" y="3959140"/>
            <a:ext cx="2592000" cy="792000"/>
          </a:xfrm>
          <a:prstGeom prst="rightArrow">
            <a:avLst/>
          </a:prstGeom>
          <a:solidFill>
            <a:schemeClr val="bg1">
              <a:lumMod val="8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グラフィックス 17" descr="更新 単色塗りつぶし">
            <a:extLst>
              <a:ext uri="{FF2B5EF4-FFF2-40B4-BE49-F238E27FC236}">
                <a16:creationId xmlns:a16="http://schemas.microsoft.com/office/drawing/2014/main" id="{ABA347E9-8561-CB7B-E212-13C26033C3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000000" flipH="1" flipV="1">
            <a:off x="2015701" y="2954400"/>
            <a:ext cx="1512000" cy="1512000"/>
          </a:xfrm>
          <a:prstGeom prst="rect">
            <a:avLst/>
          </a:prstGeom>
        </p:spPr>
      </p:pic>
      <p:pic>
        <p:nvPicPr>
          <p:cNvPr id="19" name="グラフィックス 18" descr="更新 単色塗りつぶし">
            <a:extLst>
              <a:ext uri="{FF2B5EF4-FFF2-40B4-BE49-F238E27FC236}">
                <a16:creationId xmlns:a16="http://schemas.microsoft.com/office/drawing/2014/main" id="{62B54F12-054B-FC0C-8AB5-120E15D44B5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4100000" flipH="1" flipV="1">
            <a:off x="6623701" y="2772940"/>
            <a:ext cx="1512000" cy="1512000"/>
          </a:xfrm>
          <a:prstGeom prst="rect">
            <a:avLst/>
          </a:prstGeom>
        </p:spPr>
      </p:pic>
      <p:sp>
        <p:nvSpPr>
          <p:cNvPr id="38" name="テキスト ボックス 37">
            <a:extLst>
              <a:ext uri="{FF2B5EF4-FFF2-40B4-BE49-F238E27FC236}">
                <a16:creationId xmlns:a16="http://schemas.microsoft.com/office/drawing/2014/main" id="{D03109F8-3E91-C850-57D2-5DEB00FD784A}"/>
              </a:ext>
            </a:extLst>
          </p:cNvPr>
          <p:cNvSpPr txBox="1"/>
          <p:nvPr/>
        </p:nvSpPr>
        <p:spPr>
          <a:xfrm>
            <a:off x="576000" y="883200"/>
            <a:ext cx="11041199" cy="612000"/>
          </a:xfrm>
          <a:prstGeom prst="rect">
            <a:avLst/>
          </a:prstGeom>
          <a:noFill/>
        </p:spPr>
        <p:txBody>
          <a:bodyPr wrap="square" tIns="144000" rtlCol="0">
            <a:noAutofit/>
          </a:bodyPr>
          <a:lstStyle/>
          <a:p>
            <a:pPr latinLnBrk="1">
              <a:spcBef>
                <a:spcPts val="600"/>
              </a:spcBef>
            </a:pPr>
            <a:r>
              <a:rPr lang="ja-JP" altLang="en-US" sz="1600">
                <a:latin typeface="游ゴシック" panose="020B0400000000000000" pitchFamily="50" charset="-128"/>
                <a:ea typeface="游ゴシック" panose="020B0400000000000000" pitchFamily="50" charset="-128"/>
                <a:cs typeface="Times New Roman" panose="02020603050405020304" pitchFamily="18" charset="0"/>
              </a:rPr>
              <a:t>不確実性の高い作業に対応するため、短い周期での実現可能性を探求し、評価とフィードバックに基づいて迅速に適応するアジャイルの考え方を取り入れ、その代表的なフレームワークである</a:t>
            </a:r>
            <a:r>
              <a:rPr lang="ja-JP" altLang="en-US" sz="1600">
                <a:solidFill>
                  <a:srgbClr val="0000FF"/>
                </a:solidFill>
                <a:latin typeface="游ゴシック" panose="020B0400000000000000" pitchFamily="50" charset="-128"/>
                <a:ea typeface="游ゴシック" panose="020B0400000000000000" pitchFamily="50" charset="-128"/>
                <a:cs typeface="Times New Roman" panose="02020603050405020304" pitchFamily="18" charset="0"/>
              </a:rPr>
              <a:t>スクラム開発を採用</a:t>
            </a:r>
            <a:r>
              <a:rPr lang="ja-JP" altLang="en-US" sz="1600">
                <a:latin typeface="游ゴシック" panose="020B0400000000000000" pitchFamily="50" charset="-128"/>
                <a:ea typeface="游ゴシック" panose="020B0400000000000000" pitchFamily="50" charset="-128"/>
                <a:cs typeface="Times New Roman" panose="02020603050405020304" pitchFamily="18" charset="0"/>
              </a:rPr>
              <a:t>します。</a:t>
            </a:r>
            <a:endParaRPr lang="en-US" altLang="ja-JP" sz="1600">
              <a:latin typeface="游ゴシック" panose="020B0400000000000000" pitchFamily="50" charset="-128"/>
              <a:ea typeface="游ゴシック" panose="020B0400000000000000" pitchFamily="50" charset="-128"/>
              <a:cs typeface="Times New Roman" panose="02020603050405020304" pitchFamily="18" charset="0"/>
            </a:endParaRPr>
          </a:p>
        </p:txBody>
      </p:sp>
      <p:pic>
        <p:nvPicPr>
          <p:cNvPr id="39" name="グラフィックス 38" descr="更新 単色塗りつぶし">
            <a:extLst>
              <a:ext uri="{FF2B5EF4-FFF2-40B4-BE49-F238E27FC236}">
                <a16:creationId xmlns:a16="http://schemas.microsoft.com/office/drawing/2014/main" id="{EABA7C55-474E-3757-3FA4-FB4F0A53CE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020000">
            <a:off x="4247701" y="1622400"/>
            <a:ext cx="3200400" cy="3200400"/>
          </a:xfrm>
          <a:prstGeom prst="rect">
            <a:avLst/>
          </a:prstGeom>
        </p:spPr>
      </p:pic>
      <p:graphicFrame>
        <p:nvGraphicFramePr>
          <p:cNvPr id="40" name="表 39">
            <a:extLst>
              <a:ext uri="{FF2B5EF4-FFF2-40B4-BE49-F238E27FC236}">
                <a16:creationId xmlns:a16="http://schemas.microsoft.com/office/drawing/2014/main" id="{F8540EF5-B2FC-92EA-A667-A6C1B36072A9}"/>
              </a:ext>
            </a:extLst>
          </p:cNvPr>
          <p:cNvGraphicFramePr>
            <a:graphicFrameLocks noGrp="1"/>
          </p:cNvGraphicFramePr>
          <p:nvPr/>
        </p:nvGraphicFramePr>
        <p:xfrm>
          <a:off x="7631701" y="2558400"/>
          <a:ext cx="864000" cy="540000"/>
        </p:xfrm>
        <a:graphic>
          <a:graphicData uri="http://schemas.openxmlformats.org/drawingml/2006/table">
            <a:tbl>
              <a:tblPr firstRow="1" bandRow="1">
                <a:tableStyleId>{2D5ABB26-0587-4C30-8999-92F81FD0307C}</a:tableStyleId>
              </a:tblPr>
              <a:tblGrid>
                <a:gridCol w="288000">
                  <a:extLst>
                    <a:ext uri="{9D8B030D-6E8A-4147-A177-3AD203B41FA5}">
                      <a16:colId xmlns:a16="http://schemas.microsoft.com/office/drawing/2014/main" val="3490394375"/>
                    </a:ext>
                  </a:extLst>
                </a:gridCol>
                <a:gridCol w="288000">
                  <a:extLst>
                    <a:ext uri="{9D8B030D-6E8A-4147-A177-3AD203B41FA5}">
                      <a16:colId xmlns:a16="http://schemas.microsoft.com/office/drawing/2014/main" val="2289899389"/>
                    </a:ext>
                  </a:extLst>
                </a:gridCol>
                <a:gridCol w="288000">
                  <a:extLst>
                    <a:ext uri="{9D8B030D-6E8A-4147-A177-3AD203B41FA5}">
                      <a16:colId xmlns:a16="http://schemas.microsoft.com/office/drawing/2014/main" val="653110159"/>
                    </a:ext>
                  </a:extLst>
                </a:gridCol>
              </a:tblGrid>
              <a:tr h="180000">
                <a:tc>
                  <a:txBody>
                    <a:bodyPr/>
                    <a:lstStyle/>
                    <a:p>
                      <a:pPr algn="ctr"/>
                      <a:r>
                        <a:rPr kumimoji="1" lang="en-US" altLang="ja-JP" sz="600" b="1">
                          <a:latin typeface="游ゴシック" panose="020B0400000000000000" pitchFamily="50" charset="-128"/>
                          <a:ea typeface="游ゴシック" panose="020B0400000000000000" pitchFamily="50" charset="-128"/>
                        </a:rPr>
                        <a:t>TODO</a:t>
                      </a:r>
                      <a:endParaRPr kumimoji="1" lang="ja-JP" altLang="en-US" sz="600" b="1">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600" b="1">
                          <a:latin typeface="游ゴシック" panose="020B0400000000000000" pitchFamily="50" charset="-128"/>
                          <a:ea typeface="游ゴシック" panose="020B0400000000000000" pitchFamily="50" charset="-128"/>
                        </a:rPr>
                        <a:t>DOING</a:t>
                      </a:r>
                      <a:endParaRPr kumimoji="1" lang="ja-JP" altLang="en-US" sz="600" b="1">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600" b="1">
                          <a:latin typeface="游ゴシック" panose="020B0400000000000000" pitchFamily="50" charset="-128"/>
                          <a:ea typeface="游ゴシック" panose="020B0400000000000000" pitchFamily="50" charset="-128"/>
                        </a:rPr>
                        <a:t>DONE</a:t>
                      </a:r>
                      <a:endParaRPr kumimoji="1" lang="ja-JP" altLang="en-US" sz="600" b="1">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77706019"/>
                  </a:ext>
                </a:extLst>
              </a:tr>
              <a:tr h="360000">
                <a:tc>
                  <a:txBody>
                    <a:bodyPr/>
                    <a:lstStyle/>
                    <a:p>
                      <a:pPr algn="ctr"/>
                      <a:endParaRPr kumimoji="1" lang="ja-JP" altLang="en-US" sz="600">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600">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endParaRPr kumimoji="1" lang="ja-JP" altLang="en-US" sz="600">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47515966"/>
                  </a:ext>
                </a:extLst>
              </a:tr>
            </a:tbl>
          </a:graphicData>
        </a:graphic>
      </p:graphicFrame>
      <p:sp>
        <p:nvSpPr>
          <p:cNvPr id="41" name="矢印: 上向き折線 40">
            <a:extLst>
              <a:ext uri="{FF2B5EF4-FFF2-40B4-BE49-F238E27FC236}">
                <a16:creationId xmlns:a16="http://schemas.microsoft.com/office/drawing/2014/main" id="{F2D001E7-0E1C-C43E-7AEB-A08951B49A34}"/>
              </a:ext>
            </a:extLst>
          </p:cNvPr>
          <p:cNvSpPr/>
          <p:nvPr/>
        </p:nvSpPr>
        <p:spPr>
          <a:xfrm flipH="1">
            <a:off x="3491701" y="5508940"/>
            <a:ext cx="4248000" cy="432000"/>
          </a:xfrm>
          <a:prstGeom prst="bentUpArrow">
            <a:avLst>
              <a:gd name="adj1" fmla="val 45152"/>
              <a:gd name="adj2" fmla="val 50000"/>
              <a:gd name="adj3" fmla="val 40673"/>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2" name="図 41" descr="図形&#10;&#10;AI によって生成されたコンテンツは間違っている可能性があります。">
            <a:extLst>
              <a:ext uri="{FF2B5EF4-FFF2-40B4-BE49-F238E27FC236}">
                <a16:creationId xmlns:a16="http://schemas.microsoft.com/office/drawing/2014/main" id="{821EC7B7-B258-C2AE-4813-C93F24D61198}"/>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8381099" y="4428940"/>
            <a:ext cx="1021204" cy="648000"/>
          </a:xfrm>
          <a:prstGeom prst="rect">
            <a:avLst/>
          </a:prstGeom>
        </p:spPr>
      </p:pic>
      <p:grpSp>
        <p:nvGrpSpPr>
          <p:cNvPr id="43" name="グループ化 42">
            <a:extLst>
              <a:ext uri="{FF2B5EF4-FFF2-40B4-BE49-F238E27FC236}">
                <a16:creationId xmlns:a16="http://schemas.microsoft.com/office/drawing/2014/main" id="{070DF1B6-6312-1C6F-C4F1-0C4C861EA67C}"/>
              </a:ext>
            </a:extLst>
          </p:cNvPr>
          <p:cNvGrpSpPr/>
          <p:nvPr/>
        </p:nvGrpSpPr>
        <p:grpSpPr>
          <a:xfrm>
            <a:off x="6119701" y="4428940"/>
            <a:ext cx="1584000" cy="1181665"/>
            <a:chOff x="4924871" y="4968000"/>
            <a:chExt cx="1584000" cy="1181665"/>
          </a:xfrm>
        </p:grpSpPr>
        <p:pic>
          <p:nvPicPr>
            <p:cNvPr id="44" name="図 43" descr="図形&#10;&#10;AI によって生成されたコンテンツは間違っている可能性があります。">
              <a:extLst>
                <a:ext uri="{FF2B5EF4-FFF2-40B4-BE49-F238E27FC236}">
                  <a16:creationId xmlns:a16="http://schemas.microsoft.com/office/drawing/2014/main" id="{E6CAB0BC-9A74-7C1F-FF02-F1373920624F}"/>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5330689" y="4968000"/>
              <a:ext cx="772365" cy="648000"/>
            </a:xfrm>
            <a:prstGeom prst="rect">
              <a:avLst/>
            </a:prstGeom>
          </p:spPr>
        </p:pic>
        <p:sp>
          <p:nvSpPr>
            <p:cNvPr id="45" name="テキスト ボックス 44">
              <a:extLst>
                <a:ext uri="{FF2B5EF4-FFF2-40B4-BE49-F238E27FC236}">
                  <a16:creationId xmlns:a16="http://schemas.microsoft.com/office/drawing/2014/main" id="{F098C977-E2C6-CFC9-9185-699D4D67AF07}"/>
                </a:ext>
              </a:extLst>
            </p:cNvPr>
            <p:cNvSpPr txBox="1"/>
            <p:nvPr/>
          </p:nvSpPr>
          <p:spPr>
            <a:xfrm>
              <a:off x="4924871" y="5688000"/>
              <a:ext cx="1584000" cy="461665"/>
            </a:xfrm>
            <a:prstGeom prst="rect">
              <a:avLst/>
            </a:prstGeom>
            <a:noFill/>
          </p:spPr>
          <p:txBody>
            <a:bodyPr wrap="none" rtlCol="0">
              <a:noAutofit/>
            </a:bodyPr>
            <a:lstStyle/>
            <a:p>
              <a:r>
                <a:rPr lang="ja-JP" altLang="en-US" sz="1200" b="1">
                  <a:latin typeface="游ゴシック" panose="020B0400000000000000" pitchFamily="50" charset="-128"/>
                  <a:ea typeface="游ゴシック" panose="020B0400000000000000" pitchFamily="50" charset="-128"/>
                </a:rPr>
                <a:t>スプリントレビュー</a:t>
              </a:r>
              <a:endParaRPr lang="en-US" altLang="ja-JP" sz="1200" b="1">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成果物のレビュー</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フィードバックを得る</a:t>
              </a:r>
            </a:p>
          </p:txBody>
        </p:sp>
      </p:grpSp>
      <p:grpSp>
        <p:nvGrpSpPr>
          <p:cNvPr id="46" name="グループ化 45">
            <a:extLst>
              <a:ext uri="{FF2B5EF4-FFF2-40B4-BE49-F238E27FC236}">
                <a16:creationId xmlns:a16="http://schemas.microsoft.com/office/drawing/2014/main" id="{10CF4A35-461A-0608-ADBB-D49B7B47452D}"/>
              </a:ext>
            </a:extLst>
          </p:cNvPr>
          <p:cNvGrpSpPr/>
          <p:nvPr/>
        </p:nvGrpSpPr>
        <p:grpSpPr>
          <a:xfrm>
            <a:off x="7415701" y="2990400"/>
            <a:ext cx="2232000" cy="648000"/>
            <a:chOff x="6552000" y="2878540"/>
            <a:chExt cx="2232000" cy="648000"/>
          </a:xfrm>
        </p:grpSpPr>
        <p:sp>
          <p:nvSpPr>
            <p:cNvPr id="47" name="テキスト ボックス 46">
              <a:extLst>
                <a:ext uri="{FF2B5EF4-FFF2-40B4-BE49-F238E27FC236}">
                  <a16:creationId xmlns:a16="http://schemas.microsoft.com/office/drawing/2014/main" id="{06BE914C-1E8A-8908-0520-1D96803F7F85}"/>
                </a:ext>
              </a:extLst>
            </p:cNvPr>
            <p:cNvSpPr txBox="1"/>
            <p:nvPr/>
          </p:nvSpPr>
          <p:spPr>
            <a:xfrm>
              <a:off x="7344000" y="2878540"/>
              <a:ext cx="1440000" cy="648000"/>
            </a:xfrm>
            <a:prstGeom prst="rect">
              <a:avLst/>
            </a:prstGeom>
            <a:noFill/>
          </p:spPr>
          <p:txBody>
            <a:bodyPr wrap="none" rtlCol="0">
              <a:noAutofit/>
            </a:bodyPr>
            <a:lstStyle/>
            <a:p>
              <a:r>
                <a:rPr lang="ja-JP" altLang="en-US" sz="1200" b="1">
                  <a:latin typeface="游ゴシック" panose="020B0400000000000000" pitchFamily="50" charset="-128"/>
                  <a:ea typeface="游ゴシック" panose="020B0400000000000000" pitchFamily="50" charset="-128"/>
                </a:rPr>
                <a:t>デイリースクラム</a:t>
              </a:r>
              <a:endParaRPr lang="en-US" altLang="ja-JP" sz="1200" b="1">
                <a:latin typeface="游ゴシック" panose="020B0400000000000000" pitchFamily="50" charset="-128"/>
                <a:ea typeface="游ゴシック" panose="020B0400000000000000" pitchFamily="50" charset="-128"/>
              </a:endParaRPr>
            </a:p>
            <a:p>
              <a:r>
                <a:rPr lang="ja-JP" altLang="en-US" sz="1200">
                  <a:latin typeface="游ゴシック" panose="020B0400000000000000" pitchFamily="50" charset="-128"/>
                  <a:ea typeface="游ゴシック" panose="020B0400000000000000" pitchFamily="50" charset="-128"/>
                </a:rPr>
                <a:t>毎日の短い会議</a:t>
              </a:r>
              <a:endParaRPr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進捗や課題を共有し</a:t>
              </a:r>
              <a:endParaRPr kumimoji="1" lang="en-US" altLang="ja-JP" sz="1200">
                <a:latin typeface="游ゴシック" panose="020B0400000000000000" pitchFamily="50" charset="-128"/>
                <a:ea typeface="游ゴシック" panose="020B0400000000000000" pitchFamily="50" charset="-128"/>
              </a:endParaRPr>
            </a:p>
            <a:p>
              <a:r>
                <a:rPr lang="en-US" altLang="ja-JP" sz="1200">
                  <a:latin typeface="游ゴシック" panose="020B0400000000000000" pitchFamily="50" charset="-128"/>
                  <a:ea typeface="游ゴシック" panose="020B0400000000000000" pitchFamily="50" charset="-128"/>
                </a:rPr>
                <a:t>1</a:t>
              </a:r>
              <a:r>
                <a:rPr lang="ja-JP" altLang="en-US" sz="1200">
                  <a:latin typeface="游ゴシック" panose="020B0400000000000000" pitchFamily="50" charset="-128"/>
                  <a:ea typeface="游ゴシック" panose="020B0400000000000000" pitchFamily="50" charset="-128"/>
                </a:rPr>
                <a:t>日の計画を調整</a:t>
              </a:r>
              <a:endParaRPr kumimoji="1" lang="ja-JP" altLang="en-US" sz="1200">
                <a:latin typeface="游ゴシック" panose="020B0400000000000000" pitchFamily="50" charset="-128"/>
                <a:ea typeface="游ゴシック" panose="020B0400000000000000" pitchFamily="50" charset="-128"/>
              </a:endParaRPr>
            </a:p>
          </p:txBody>
        </p:sp>
        <p:grpSp>
          <p:nvGrpSpPr>
            <p:cNvPr id="48" name="グループ化 47">
              <a:extLst>
                <a:ext uri="{FF2B5EF4-FFF2-40B4-BE49-F238E27FC236}">
                  <a16:creationId xmlns:a16="http://schemas.microsoft.com/office/drawing/2014/main" id="{52FD17BF-638A-FE20-C0C4-9E2345134C07}"/>
                </a:ext>
              </a:extLst>
            </p:cNvPr>
            <p:cNvGrpSpPr>
              <a:grpSpLocks noChangeAspect="1"/>
            </p:cNvGrpSpPr>
            <p:nvPr/>
          </p:nvGrpSpPr>
          <p:grpSpPr>
            <a:xfrm>
              <a:off x="6552000" y="2878540"/>
              <a:ext cx="750176" cy="648000"/>
              <a:chOff x="656978" y="3193556"/>
              <a:chExt cx="673285" cy="581581"/>
            </a:xfrm>
          </p:grpSpPr>
          <p:pic>
            <p:nvPicPr>
              <p:cNvPr id="49" name="図 48" descr="図形 が含まれている画像&#10;&#10;AI によって生成されたコンテンツは間違っている可能性があります。">
                <a:extLst>
                  <a:ext uri="{FF2B5EF4-FFF2-40B4-BE49-F238E27FC236}">
                    <a16:creationId xmlns:a16="http://schemas.microsoft.com/office/drawing/2014/main" id="{1734FE15-A123-5D26-B27D-04AD92BC86BB}"/>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656978" y="3193556"/>
                <a:ext cx="673285" cy="581581"/>
              </a:xfrm>
              <a:prstGeom prst="rect">
                <a:avLst/>
              </a:prstGeom>
            </p:spPr>
          </p:pic>
          <p:pic>
            <p:nvPicPr>
              <p:cNvPr id="50" name="図 49" descr="図形 が含まれている画像&#10;&#10;AI によって生成されたコンテンツは間違っている可能性があります。">
                <a:extLst>
                  <a:ext uri="{FF2B5EF4-FFF2-40B4-BE49-F238E27FC236}">
                    <a16:creationId xmlns:a16="http://schemas.microsoft.com/office/drawing/2014/main" id="{863D0A2D-DE4B-F945-0C36-648EFB7B07DD}"/>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850352" y="3531967"/>
                <a:ext cx="286537" cy="243170"/>
              </a:xfrm>
              <a:prstGeom prst="rect">
                <a:avLst/>
              </a:prstGeom>
            </p:spPr>
          </p:pic>
        </p:grpSp>
      </p:grpSp>
      <p:grpSp>
        <p:nvGrpSpPr>
          <p:cNvPr id="51" name="グループ化 50">
            <a:extLst>
              <a:ext uri="{FF2B5EF4-FFF2-40B4-BE49-F238E27FC236}">
                <a16:creationId xmlns:a16="http://schemas.microsoft.com/office/drawing/2014/main" id="{827BE6C1-F199-F7BA-B1C3-B50F675D37E2}"/>
              </a:ext>
            </a:extLst>
          </p:cNvPr>
          <p:cNvGrpSpPr/>
          <p:nvPr/>
        </p:nvGrpSpPr>
        <p:grpSpPr>
          <a:xfrm>
            <a:off x="4931701" y="3924940"/>
            <a:ext cx="936000" cy="1152000"/>
            <a:chOff x="3682889" y="4536000"/>
            <a:chExt cx="936000" cy="1152000"/>
          </a:xfrm>
        </p:grpSpPr>
        <p:grpSp>
          <p:nvGrpSpPr>
            <p:cNvPr id="52" name="グループ化 51">
              <a:extLst>
                <a:ext uri="{FF2B5EF4-FFF2-40B4-BE49-F238E27FC236}">
                  <a16:creationId xmlns:a16="http://schemas.microsoft.com/office/drawing/2014/main" id="{4B34DAAB-07C2-8EF1-2E7D-35C37179468D}"/>
                </a:ext>
              </a:extLst>
            </p:cNvPr>
            <p:cNvGrpSpPr/>
            <p:nvPr/>
          </p:nvGrpSpPr>
          <p:grpSpPr>
            <a:xfrm>
              <a:off x="3718889" y="4536000"/>
              <a:ext cx="864000" cy="864000"/>
              <a:chOff x="961736" y="2871163"/>
              <a:chExt cx="864000" cy="864000"/>
            </a:xfrm>
          </p:grpSpPr>
          <p:sp>
            <p:nvSpPr>
              <p:cNvPr id="54" name="楕円 53">
                <a:extLst>
                  <a:ext uri="{FF2B5EF4-FFF2-40B4-BE49-F238E27FC236}">
                    <a16:creationId xmlns:a16="http://schemas.microsoft.com/office/drawing/2014/main" id="{C28E8AC3-E48E-1099-54F3-431BF3251F41}"/>
                  </a:ext>
                </a:extLst>
              </p:cNvPr>
              <p:cNvSpPr/>
              <p:nvPr/>
            </p:nvSpPr>
            <p:spPr>
              <a:xfrm>
                <a:off x="961736" y="2871163"/>
                <a:ext cx="864000" cy="864000"/>
              </a:xfrm>
              <a:prstGeom prst="ellipse">
                <a:avLst/>
              </a:prstGeom>
              <a:solidFill>
                <a:schemeClr val="accent3"/>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5" name="図 54" descr="図形&#10;&#10;AI によって生成されたコンテンツは間違っている可能性があります。">
                <a:extLst>
                  <a:ext uri="{FF2B5EF4-FFF2-40B4-BE49-F238E27FC236}">
                    <a16:creationId xmlns:a16="http://schemas.microsoft.com/office/drawing/2014/main" id="{58B70ACF-9452-1A75-C877-DAD504DA6DA7}"/>
                  </a:ext>
                </a:extLst>
              </p:cNvPr>
              <p:cNvPicPr>
                <a:picLocks noChangeAspect="1"/>
              </p:cNvPicPr>
              <p:nvPr/>
            </p:nvPicPr>
            <p:blipFill>
              <a:blip r:embed="rId11" cstate="hqprint">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a:ext>
                </a:extLst>
              </a:blip>
              <a:stretch>
                <a:fillRect/>
              </a:stretch>
            </p:blipFill>
            <p:spPr>
              <a:xfrm>
                <a:off x="1177815" y="3114594"/>
                <a:ext cx="431843" cy="377138"/>
              </a:xfrm>
              <a:prstGeom prst="rect">
                <a:avLst/>
              </a:prstGeom>
            </p:spPr>
          </p:pic>
        </p:grpSp>
        <p:sp>
          <p:nvSpPr>
            <p:cNvPr id="53" name="テキスト ボックス 52">
              <a:extLst>
                <a:ext uri="{FF2B5EF4-FFF2-40B4-BE49-F238E27FC236}">
                  <a16:creationId xmlns:a16="http://schemas.microsoft.com/office/drawing/2014/main" id="{2C627E14-8573-8BE2-485C-FCCBDCD7219C}"/>
                </a:ext>
              </a:extLst>
            </p:cNvPr>
            <p:cNvSpPr txBox="1"/>
            <p:nvPr/>
          </p:nvSpPr>
          <p:spPr>
            <a:xfrm>
              <a:off x="3682889" y="5400000"/>
              <a:ext cx="936000" cy="288000"/>
            </a:xfrm>
            <a:prstGeom prst="rect">
              <a:avLst/>
            </a:prstGeom>
            <a:noFill/>
          </p:spPr>
          <p:txBody>
            <a:bodyPr wrap="none" rtlCol="0">
              <a:noAutofit/>
            </a:bodyPr>
            <a:lstStyle/>
            <a:p>
              <a:pPr algn="ctr">
                <a:spcBef>
                  <a:spcPts val="0"/>
                </a:spcBef>
              </a:pPr>
              <a:r>
                <a:rPr kumimoji="1" lang="ja-JP" altLang="en-US" sz="1200" b="1" kern="1200">
                  <a:effectLst/>
                  <a:latin typeface="游ゴシック" panose="020B0400000000000000" pitchFamily="50" charset="-128"/>
                  <a:ea typeface="游ゴシック" panose="020B0400000000000000" pitchFamily="50" charset="-128"/>
                  <a:cs typeface="Times New Roman" panose="02020603050405020304" pitchFamily="18" charset="0"/>
                </a:rPr>
                <a:t>スプリントバックログ</a:t>
              </a:r>
              <a:endParaRPr kumimoji="1" lang="en-US" altLang="ja-JP" sz="1200" b="1" kern="1200">
                <a:effectLst/>
                <a:latin typeface="游ゴシック" panose="020B0400000000000000" pitchFamily="50" charset="-128"/>
                <a:ea typeface="游ゴシック" panose="020B0400000000000000" pitchFamily="50" charset="-128"/>
                <a:cs typeface="Times New Roman" panose="02020603050405020304" pitchFamily="18" charset="0"/>
              </a:endParaRPr>
            </a:p>
            <a:p>
              <a:pPr algn="ctr">
                <a:spcBef>
                  <a:spcPts val="0"/>
                </a:spcBef>
              </a:pPr>
              <a:r>
                <a:rPr lang="en-US" altLang="ja-JP" sz="1200">
                  <a:latin typeface="游ゴシック" panose="020B0400000000000000" pitchFamily="50" charset="-128"/>
                  <a:ea typeface="游ゴシック" panose="020B0400000000000000" pitchFamily="50" charset="-128"/>
                  <a:cs typeface="Times New Roman" panose="02020603050405020304" pitchFamily="18" charset="0"/>
                </a:rPr>
                <a:t>1</a:t>
              </a:r>
              <a:r>
                <a:rPr lang="ja-JP" altLang="en-US" sz="1200">
                  <a:latin typeface="游ゴシック" panose="020B0400000000000000" pitchFamily="50" charset="-128"/>
                  <a:ea typeface="游ゴシック" panose="020B0400000000000000" pitchFamily="50" charset="-128"/>
                  <a:cs typeface="Times New Roman" panose="02020603050405020304" pitchFamily="18" charset="0"/>
                </a:rPr>
                <a:t>サイクルの課題リスト</a:t>
              </a:r>
              <a:endParaRPr kumimoji="1" lang="en-US" altLang="ja-JP" sz="1200" kern="12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grpSp>
      <p:sp>
        <p:nvSpPr>
          <p:cNvPr id="56" name="テキスト ボックス 55">
            <a:extLst>
              <a:ext uri="{FF2B5EF4-FFF2-40B4-BE49-F238E27FC236}">
                <a16:creationId xmlns:a16="http://schemas.microsoft.com/office/drawing/2014/main" id="{4D35F416-A884-1DE5-EF01-63D333A6FCBA}"/>
              </a:ext>
            </a:extLst>
          </p:cNvPr>
          <p:cNvSpPr txBox="1"/>
          <p:nvPr/>
        </p:nvSpPr>
        <p:spPr>
          <a:xfrm>
            <a:off x="7703701" y="5148940"/>
            <a:ext cx="2376000" cy="461665"/>
          </a:xfrm>
          <a:prstGeom prst="rect">
            <a:avLst/>
          </a:prstGeom>
          <a:noFill/>
        </p:spPr>
        <p:txBody>
          <a:bodyPr wrap="none" rtlCol="0">
            <a:noAutofit/>
          </a:bodyPr>
          <a:lstStyle/>
          <a:p>
            <a:r>
              <a:rPr lang="ja-JP" altLang="en-US" sz="1200" b="1">
                <a:latin typeface="游ゴシック" panose="020B0400000000000000" pitchFamily="50" charset="-128"/>
                <a:ea typeface="游ゴシック" panose="020B0400000000000000" pitchFamily="50" charset="-128"/>
              </a:rPr>
              <a:t>スプリントレトロスペクティブ</a:t>
            </a:r>
            <a:endParaRPr lang="en-US" altLang="ja-JP" sz="1200" b="1">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スプリントの振り返り</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スプリントの改善点を見つけて</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次のスプリントに活かす会議</a:t>
            </a:r>
          </a:p>
        </p:txBody>
      </p:sp>
      <p:grpSp>
        <p:nvGrpSpPr>
          <p:cNvPr id="57" name="グループ化 56">
            <a:extLst>
              <a:ext uri="{FF2B5EF4-FFF2-40B4-BE49-F238E27FC236}">
                <a16:creationId xmlns:a16="http://schemas.microsoft.com/office/drawing/2014/main" id="{99909803-DDAB-8715-B953-330389B206D5}"/>
              </a:ext>
            </a:extLst>
          </p:cNvPr>
          <p:cNvGrpSpPr/>
          <p:nvPr/>
        </p:nvGrpSpPr>
        <p:grpSpPr>
          <a:xfrm>
            <a:off x="1367701" y="2990400"/>
            <a:ext cx="2520000" cy="489719"/>
            <a:chOff x="360000" y="3240000"/>
            <a:chExt cx="2520000" cy="489719"/>
          </a:xfrm>
        </p:grpSpPr>
        <p:pic>
          <p:nvPicPr>
            <p:cNvPr id="58" name="図 57" descr="図形&#10;&#10;AI によって生成されたコンテンツは間違っている可能性があります。">
              <a:extLst>
                <a:ext uri="{FF2B5EF4-FFF2-40B4-BE49-F238E27FC236}">
                  <a16:creationId xmlns:a16="http://schemas.microsoft.com/office/drawing/2014/main" id="{1B3E1955-2FCE-B29F-8763-94ABE8A87C00}"/>
                </a:ext>
              </a:extLst>
            </p:cNvPr>
            <p:cNvPicPr>
              <a:picLocks noChangeAspect="1"/>
            </p:cNvPicPr>
            <p:nvPr/>
          </p:nvPicPr>
          <p:blipFill>
            <a:blip r:embed="rId13" cstate="hqprint">
              <a:extLst>
                <a:ext uri="{28A0092B-C50C-407E-A947-70E740481C1C}">
                  <a14:useLocalDpi xmlns:a14="http://schemas.microsoft.com/office/drawing/2010/main"/>
                </a:ext>
              </a:extLst>
            </a:blip>
            <a:stretch>
              <a:fillRect/>
            </a:stretch>
          </p:blipFill>
          <p:spPr>
            <a:xfrm>
              <a:off x="360000" y="3240000"/>
              <a:ext cx="562038" cy="489719"/>
            </a:xfrm>
            <a:prstGeom prst="rect">
              <a:avLst/>
            </a:prstGeom>
          </p:spPr>
        </p:pic>
        <p:sp>
          <p:nvSpPr>
            <p:cNvPr id="59" name="テキスト ボックス 58">
              <a:extLst>
                <a:ext uri="{FF2B5EF4-FFF2-40B4-BE49-F238E27FC236}">
                  <a16:creationId xmlns:a16="http://schemas.microsoft.com/office/drawing/2014/main" id="{7C06E342-3A2C-B8F3-3F1E-1EDD3E2F3444}"/>
                </a:ext>
              </a:extLst>
            </p:cNvPr>
            <p:cNvSpPr txBox="1"/>
            <p:nvPr/>
          </p:nvSpPr>
          <p:spPr>
            <a:xfrm>
              <a:off x="936000" y="3240000"/>
              <a:ext cx="1944000" cy="461665"/>
            </a:xfrm>
            <a:prstGeom prst="rect">
              <a:avLst/>
            </a:prstGeom>
            <a:noFill/>
          </p:spPr>
          <p:txBody>
            <a:bodyPr wrap="none" rtlCol="0">
              <a:noAutofit/>
            </a:bodyPr>
            <a:lstStyle/>
            <a:p>
              <a:r>
                <a:rPr lang="ja-JP" altLang="en-US" sz="1200" b="1">
                  <a:latin typeface="游ゴシック" panose="020B0400000000000000" pitchFamily="50" charset="-128"/>
                  <a:ea typeface="游ゴシック" panose="020B0400000000000000" pitchFamily="50" charset="-128"/>
                </a:rPr>
                <a:t>バックログリファイメント</a:t>
              </a:r>
              <a:endParaRPr lang="en-US" altLang="ja-JP" sz="1200" b="1">
                <a:latin typeface="游ゴシック" panose="020B0400000000000000" pitchFamily="50" charset="-128"/>
                <a:ea typeface="游ゴシック" panose="020B0400000000000000" pitchFamily="50" charset="-128"/>
              </a:endParaRPr>
            </a:p>
            <a:p>
              <a:r>
                <a:rPr lang="ja-JP" altLang="en-US" sz="1200">
                  <a:latin typeface="游ゴシック" panose="020B0400000000000000" pitchFamily="50" charset="-128"/>
                  <a:ea typeface="游ゴシック" panose="020B0400000000000000" pitchFamily="50" charset="-128"/>
                </a:rPr>
                <a:t>プロダクトバックログの</a:t>
              </a:r>
              <a:endParaRPr lang="en-US" altLang="ja-JP" sz="1200">
                <a:latin typeface="游ゴシック" panose="020B0400000000000000" pitchFamily="50" charset="-128"/>
                <a:ea typeface="游ゴシック" panose="020B0400000000000000" pitchFamily="50" charset="-128"/>
              </a:endParaRPr>
            </a:p>
            <a:p>
              <a:r>
                <a:rPr lang="ja-JP" altLang="en-US" sz="1200">
                  <a:latin typeface="游ゴシック" panose="020B0400000000000000" pitchFamily="50" charset="-128"/>
                  <a:ea typeface="游ゴシック" panose="020B0400000000000000" pitchFamily="50" charset="-128"/>
                </a:rPr>
                <a:t>アイテムを整理し、次の</a:t>
              </a:r>
              <a:endParaRPr lang="en-US" altLang="ja-JP" sz="1200">
                <a:latin typeface="游ゴシック" panose="020B0400000000000000" pitchFamily="50" charset="-128"/>
                <a:ea typeface="游ゴシック" panose="020B0400000000000000" pitchFamily="50" charset="-128"/>
              </a:endParaRPr>
            </a:p>
            <a:p>
              <a:r>
                <a:rPr lang="ja-JP" altLang="en-US" sz="1200">
                  <a:latin typeface="游ゴシック" panose="020B0400000000000000" pitchFamily="50" charset="-128"/>
                  <a:ea typeface="游ゴシック" panose="020B0400000000000000" pitchFamily="50" charset="-128"/>
                </a:rPr>
                <a:t>スプリントの準備</a:t>
              </a:r>
              <a:endParaRPr lang="en-US" altLang="ja-JP" sz="1200">
                <a:latin typeface="游ゴシック" panose="020B0400000000000000" pitchFamily="50" charset="-128"/>
                <a:ea typeface="游ゴシック" panose="020B0400000000000000" pitchFamily="50" charset="-128"/>
              </a:endParaRPr>
            </a:p>
          </p:txBody>
        </p:sp>
      </p:grpSp>
      <p:sp>
        <p:nvSpPr>
          <p:cNvPr id="60" name="テキスト ボックス 59">
            <a:extLst>
              <a:ext uri="{FF2B5EF4-FFF2-40B4-BE49-F238E27FC236}">
                <a16:creationId xmlns:a16="http://schemas.microsoft.com/office/drawing/2014/main" id="{54D61B2E-84F6-5484-27A0-6636D148B89B}"/>
              </a:ext>
            </a:extLst>
          </p:cNvPr>
          <p:cNvSpPr txBox="1"/>
          <p:nvPr/>
        </p:nvSpPr>
        <p:spPr>
          <a:xfrm>
            <a:off x="4607701" y="1694400"/>
            <a:ext cx="1944000" cy="646331"/>
          </a:xfrm>
          <a:prstGeom prst="rect">
            <a:avLst/>
          </a:prstGeom>
          <a:noFill/>
        </p:spPr>
        <p:txBody>
          <a:bodyPr wrap="none" rtlCol="0">
            <a:noAutofit/>
          </a:bodyPr>
          <a:lstStyle/>
          <a:p>
            <a:r>
              <a:rPr lang="en-US" altLang="ja-JP" sz="3600" b="1"/>
              <a:t>SCRUM</a:t>
            </a:r>
            <a:endParaRPr kumimoji="1" lang="ja-JP" altLang="en-US" sz="3600" b="1"/>
          </a:p>
        </p:txBody>
      </p:sp>
      <p:grpSp>
        <p:nvGrpSpPr>
          <p:cNvPr id="61" name="グループ化 60">
            <a:extLst>
              <a:ext uri="{FF2B5EF4-FFF2-40B4-BE49-F238E27FC236}">
                <a16:creationId xmlns:a16="http://schemas.microsoft.com/office/drawing/2014/main" id="{CCAE34FD-22F8-E025-2050-4E11F00A0F16}"/>
              </a:ext>
            </a:extLst>
          </p:cNvPr>
          <p:cNvGrpSpPr/>
          <p:nvPr/>
        </p:nvGrpSpPr>
        <p:grpSpPr>
          <a:xfrm>
            <a:off x="2015701" y="1910400"/>
            <a:ext cx="1728000" cy="1008000"/>
            <a:chOff x="864000" y="2016000"/>
            <a:chExt cx="1728000" cy="1008000"/>
          </a:xfrm>
        </p:grpSpPr>
        <p:sp>
          <p:nvSpPr>
            <p:cNvPr id="62" name="四角形: 角を丸くする 61">
              <a:extLst>
                <a:ext uri="{FF2B5EF4-FFF2-40B4-BE49-F238E27FC236}">
                  <a16:creationId xmlns:a16="http://schemas.microsoft.com/office/drawing/2014/main" id="{56160FA2-71F2-31BD-286C-1793D5DD45EC}"/>
                </a:ext>
              </a:extLst>
            </p:cNvPr>
            <p:cNvSpPr/>
            <p:nvPr/>
          </p:nvSpPr>
          <p:spPr>
            <a:xfrm>
              <a:off x="864000" y="2016000"/>
              <a:ext cx="1728000" cy="1008000"/>
            </a:xfrm>
            <a:prstGeom prst="roundRect">
              <a:avLst>
                <a:gd name="adj" fmla="val 5880"/>
              </a:avLst>
            </a:prstGeom>
            <a:pattFill prst="ltHorz">
              <a:fgClr>
                <a:schemeClr val="bg1">
                  <a:lumMod val="95000"/>
                </a:schemeClr>
              </a:fgClr>
              <a:bgClr>
                <a:schemeClr val="bg1"/>
              </a:bgClr>
            </a:patt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44000" tIns="72000" rIns="144000" bIns="72000" rtlCol="0" anchor="t"/>
            <a:lstStyle/>
            <a:p>
              <a:pPr>
                <a:spcBef>
                  <a:spcPts val="600"/>
                </a:spcBef>
              </a:pPr>
              <a:r>
                <a:rPr kumimoji="1" lang="ja-JP" altLang="en-US" sz="1200">
                  <a:solidFill>
                    <a:schemeClr val="tx1"/>
                  </a:solidFill>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スクラムチーム</a:t>
              </a:r>
              <a:endParaRPr kumimoji="1" lang="en-US" altLang="ja-JP" sz="1200">
                <a:solidFill>
                  <a:schemeClr val="tx1"/>
                </a:solidFill>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endParaRPr>
            </a:p>
            <a:p>
              <a:pPr>
                <a:spcBef>
                  <a:spcPts val="600"/>
                </a:spcBef>
              </a:pPr>
              <a:r>
                <a:rPr lang="ja-JP" altLang="en-US" sz="1200">
                  <a:solidFill>
                    <a:schemeClr val="tx1"/>
                  </a:solidFill>
                  <a:latin typeface="游ゴシック" panose="020B0400000000000000" pitchFamily="50" charset="-128"/>
                  <a:ea typeface="游ゴシック" panose="020B0400000000000000" pitchFamily="50" charset="-128"/>
                </a:rPr>
                <a:t>　</a:t>
              </a:r>
              <a:r>
                <a:rPr lang="ja-JP" altLang="en-US" sz="1000">
                  <a:solidFill>
                    <a:schemeClr val="tx1"/>
                  </a:solidFill>
                  <a:latin typeface="游ゴシック" panose="020B0400000000000000" pitchFamily="50" charset="-128"/>
                  <a:ea typeface="游ゴシック" panose="020B0400000000000000" pitchFamily="50" charset="-128"/>
                </a:rPr>
                <a:t>スクラムマスター</a:t>
              </a:r>
              <a:endParaRPr lang="en-US" altLang="ja-JP" sz="1000">
                <a:solidFill>
                  <a:schemeClr val="tx1"/>
                </a:solidFill>
                <a:latin typeface="游ゴシック" panose="020B0400000000000000" pitchFamily="50" charset="-128"/>
                <a:ea typeface="游ゴシック" panose="020B0400000000000000" pitchFamily="50" charset="-128"/>
              </a:endParaRPr>
            </a:p>
            <a:p>
              <a:pPr>
                <a:spcBef>
                  <a:spcPts val="300"/>
                </a:spcBef>
              </a:pPr>
              <a:r>
                <a:rPr kumimoji="1" lang="ja-JP" altLang="en-US" sz="1000">
                  <a:solidFill>
                    <a:schemeClr val="tx1"/>
                  </a:solidFill>
                  <a:latin typeface="游ゴシック" panose="020B0400000000000000" pitchFamily="50" charset="-128"/>
                  <a:ea typeface="游ゴシック" panose="020B0400000000000000" pitchFamily="50" charset="-128"/>
                </a:rPr>
                <a:t>　プロダクトオーナー</a:t>
              </a:r>
              <a:endParaRPr kumimoji="1" lang="en-US" altLang="ja-JP" sz="1000">
                <a:solidFill>
                  <a:schemeClr val="tx1"/>
                </a:solidFill>
                <a:latin typeface="游ゴシック" panose="020B0400000000000000" pitchFamily="50" charset="-128"/>
                <a:ea typeface="游ゴシック" panose="020B0400000000000000" pitchFamily="50" charset="-128"/>
              </a:endParaRPr>
            </a:p>
            <a:p>
              <a:pPr>
                <a:spcBef>
                  <a:spcPts val="300"/>
                </a:spcBef>
              </a:pPr>
              <a:r>
                <a:rPr lang="ja-JP" altLang="en-US" sz="1000">
                  <a:solidFill>
                    <a:schemeClr val="tx1"/>
                  </a:solidFill>
                  <a:latin typeface="游ゴシック" panose="020B0400000000000000" pitchFamily="50" charset="-128"/>
                  <a:ea typeface="游ゴシック" panose="020B0400000000000000" pitchFamily="50" charset="-128"/>
                </a:rPr>
                <a:t>　開発チーム</a:t>
              </a:r>
              <a:endParaRPr kumimoji="1" lang="ja-JP" altLang="en-US" sz="1000">
                <a:solidFill>
                  <a:schemeClr val="tx1"/>
                </a:solidFill>
                <a:latin typeface="游ゴシック" panose="020B0400000000000000" pitchFamily="50" charset="-128"/>
                <a:ea typeface="游ゴシック" panose="020B0400000000000000" pitchFamily="50" charset="-128"/>
              </a:endParaRPr>
            </a:p>
          </p:txBody>
        </p:sp>
        <p:pic>
          <p:nvPicPr>
            <p:cNvPr id="63" name="図 62" descr="アイコン&#10;&#10;AI によって生成されたコンテンツは間違っている可能性があります。">
              <a:extLst>
                <a:ext uri="{FF2B5EF4-FFF2-40B4-BE49-F238E27FC236}">
                  <a16:creationId xmlns:a16="http://schemas.microsoft.com/office/drawing/2014/main" id="{213510F5-CCE5-D959-6685-D4E850368D0B}"/>
                </a:ext>
              </a:extLst>
            </p:cNvPr>
            <p:cNvPicPr>
              <a:picLocks noChangeAspect="1"/>
            </p:cNvPicPr>
            <p:nvPr/>
          </p:nvPicPr>
          <p:blipFill>
            <a:blip r:embed="rId14" cstate="hqprint">
              <a:extLst>
                <a:ext uri="{28A0092B-C50C-407E-A947-70E740481C1C}">
                  <a14:useLocalDpi xmlns:a14="http://schemas.microsoft.com/office/drawing/2010/main"/>
                </a:ext>
              </a:extLst>
            </a:blip>
            <a:stretch>
              <a:fillRect/>
            </a:stretch>
          </p:blipFill>
          <p:spPr>
            <a:xfrm>
              <a:off x="972000" y="2569336"/>
              <a:ext cx="144000" cy="144000"/>
            </a:xfrm>
            <a:prstGeom prst="rect">
              <a:avLst/>
            </a:prstGeom>
          </p:spPr>
        </p:pic>
        <p:pic>
          <p:nvPicPr>
            <p:cNvPr id="64" name="図 63" descr="アイコン&#10;&#10;AI によって生成されたコンテンツは間違っている可能性があります。">
              <a:extLst>
                <a:ext uri="{FF2B5EF4-FFF2-40B4-BE49-F238E27FC236}">
                  <a16:creationId xmlns:a16="http://schemas.microsoft.com/office/drawing/2014/main" id="{D7101238-04EC-BB7C-A46D-FD95B7206395}"/>
                </a:ext>
              </a:extLst>
            </p:cNvPr>
            <p:cNvPicPr>
              <a:picLocks noChangeAspect="1"/>
            </p:cNvPicPr>
            <p:nvPr/>
          </p:nvPicPr>
          <p:blipFill>
            <a:blip r:embed="rId14" cstate="hqprint">
              <a:extLst>
                <a:ext uri="{28A0092B-C50C-407E-A947-70E740481C1C}">
                  <a14:useLocalDpi xmlns:a14="http://schemas.microsoft.com/office/drawing/2010/main"/>
                </a:ext>
              </a:extLst>
            </a:blip>
            <a:stretch>
              <a:fillRect/>
            </a:stretch>
          </p:blipFill>
          <p:spPr>
            <a:xfrm>
              <a:off x="972000" y="2376106"/>
              <a:ext cx="144000" cy="144000"/>
            </a:xfrm>
            <a:prstGeom prst="rect">
              <a:avLst/>
            </a:prstGeom>
          </p:spPr>
        </p:pic>
        <p:pic>
          <p:nvPicPr>
            <p:cNvPr id="65" name="図 64" descr="アイコン&#10;&#10;AI によって生成されたコンテンツは間違っている可能性があります。">
              <a:extLst>
                <a:ext uri="{FF2B5EF4-FFF2-40B4-BE49-F238E27FC236}">
                  <a16:creationId xmlns:a16="http://schemas.microsoft.com/office/drawing/2014/main" id="{D8778383-A44D-57DD-ABF8-235690866E75}"/>
                </a:ext>
              </a:extLst>
            </p:cNvPr>
            <p:cNvPicPr>
              <a:picLocks noChangeAspect="1"/>
            </p:cNvPicPr>
            <p:nvPr/>
          </p:nvPicPr>
          <p:blipFill>
            <a:blip r:embed="rId14" cstate="hqprint">
              <a:extLst>
                <a:ext uri="{28A0092B-C50C-407E-A947-70E740481C1C}">
                  <a14:useLocalDpi xmlns:a14="http://schemas.microsoft.com/office/drawing/2010/main"/>
                </a:ext>
              </a:extLst>
            </a:blip>
            <a:stretch>
              <a:fillRect/>
            </a:stretch>
          </p:blipFill>
          <p:spPr>
            <a:xfrm>
              <a:off x="972000" y="2762567"/>
              <a:ext cx="144000" cy="144000"/>
            </a:xfrm>
            <a:prstGeom prst="rect">
              <a:avLst/>
            </a:prstGeom>
          </p:spPr>
        </p:pic>
      </p:grpSp>
      <p:grpSp>
        <p:nvGrpSpPr>
          <p:cNvPr id="66" name="グループ化 65">
            <a:extLst>
              <a:ext uri="{FF2B5EF4-FFF2-40B4-BE49-F238E27FC236}">
                <a16:creationId xmlns:a16="http://schemas.microsoft.com/office/drawing/2014/main" id="{E8E61806-3060-EFEB-3B83-AC9DDCA8A3E4}"/>
              </a:ext>
            </a:extLst>
          </p:cNvPr>
          <p:cNvGrpSpPr/>
          <p:nvPr/>
        </p:nvGrpSpPr>
        <p:grpSpPr>
          <a:xfrm>
            <a:off x="5111701" y="2700940"/>
            <a:ext cx="1142783" cy="1059997"/>
            <a:chOff x="4012660" y="3312000"/>
            <a:chExt cx="1142783" cy="1059997"/>
          </a:xfrm>
        </p:grpSpPr>
        <p:sp>
          <p:nvSpPr>
            <p:cNvPr id="67" name="テキスト ボックス 66">
              <a:extLst>
                <a:ext uri="{FF2B5EF4-FFF2-40B4-BE49-F238E27FC236}">
                  <a16:creationId xmlns:a16="http://schemas.microsoft.com/office/drawing/2014/main" id="{5AE857D0-72B1-D365-075A-1EFC941DA336}"/>
                </a:ext>
              </a:extLst>
            </p:cNvPr>
            <p:cNvSpPr txBox="1"/>
            <p:nvPr/>
          </p:nvSpPr>
          <p:spPr>
            <a:xfrm>
              <a:off x="4116051" y="3312000"/>
              <a:ext cx="936000" cy="540000"/>
            </a:xfrm>
            <a:prstGeom prst="rect">
              <a:avLst/>
            </a:prstGeom>
            <a:noFill/>
          </p:spPr>
          <p:txBody>
            <a:bodyPr wrap="none" rtlCol="0">
              <a:noAutofit/>
            </a:bodyPr>
            <a:lstStyle/>
            <a:p>
              <a:pPr algn="ctr">
                <a:spcBef>
                  <a:spcPts val="0"/>
                </a:spcBef>
              </a:pPr>
              <a:r>
                <a:rPr lang="ja-JP" altLang="en-US" sz="1600" b="1">
                  <a:latin typeface="游ゴシック" panose="020B0400000000000000" pitchFamily="50" charset="-128"/>
                  <a:ea typeface="游ゴシック" panose="020B0400000000000000" pitchFamily="50" charset="-128"/>
                  <a:cs typeface="Times New Roman" panose="02020603050405020304" pitchFamily="18" charset="0"/>
                </a:rPr>
                <a:t>スプリント</a:t>
              </a:r>
              <a:endParaRPr lang="en-US" altLang="ja-JP" sz="1600" b="1">
                <a:latin typeface="游ゴシック" panose="020B0400000000000000" pitchFamily="50" charset="-128"/>
                <a:ea typeface="游ゴシック" panose="020B0400000000000000" pitchFamily="50" charset="-128"/>
                <a:cs typeface="Times New Roman" panose="02020603050405020304" pitchFamily="18" charset="0"/>
              </a:endParaRPr>
            </a:p>
            <a:p>
              <a:pPr algn="ctr">
                <a:spcBef>
                  <a:spcPts val="0"/>
                </a:spcBef>
              </a:pPr>
              <a:r>
                <a:rPr lang="ja-JP" altLang="en-US" sz="1600" b="1">
                  <a:latin typeface="游ゴシック" panose="020B0400000000000000" pitchFamily="50" charset="-128"/>
                  <a:ea typeface="游ゴシック" panose="020B0400000000000000" pitchFamily="50" charset="-128"/>
                  <a:cs typeface="Times New Roman" panose="02020603050405020304" pitchFamily="18" charset="0"/>
                </a:rPr>
                <a:t>（ </a:t>
              </a:r>
              <a:r>
                <a:rPr kumimoji="1" lang="en-US" altLang="ja-JP" sz="1600" b="1" kern="1200">
                  <a:effectLst/>
                  <a:latin typeface="游ゴシック" panose="020B0400000000000000" pitchFamily="50" charset="-128"/>
                  <a:ea typeface="游ゴシック" panose="020B0400000000000000" pitchFamily="50" charset="-128"/>
                  <a:cs typeface="Times New Roman" panose="02020603050405020304" pitchFamily="18" charset="0"/>
                </a:rPr>
                <a:t>2</a:t>
              </a:r>
              <a:r>
                <a:rPr kumimoji="1" lang="ja-JP" altLang="en-US" sz="1600" b="1" kern="1200">
                  <a:effectLst/>
                  <a:latin typeface="游ゴシック" panose="020B0400000000000000" pitchFamily="50" charset="-128"/>
                  <a:ea typeface="游ゴシック" panose="020B0400000000000000" pitchFamily="50" charset="-128"/>
                  <a:cs typeface="Times New Roman" panose="02020603050405020304" pitchFamily="18" charset="0"/>
                </a:rPr>
                <a:t>週間のサイクル ）</a:t>
              </a:r>
              <a:endParaRPr kumimoji="1" lang="en-US" altLang="ja-JP" sz="1600" b="1" kern="12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pic>
          <p:nvPicPr>
            <p:cNvPr id="68" name="図 67" descr="図形&#10;&#10;AI によって生成されたコンテンツは間違っている可能性があります。">
              <a:extLst>
                <a:ext uri="{FF2B5EF4-FFF2-40B4-BE49-F238E27FC236}">
                  <a16:creationId xmlns:a16="http://schemas.microsoft.com/office/drawing/2014/main" id="{4BFF2E07-5070-9770-ED6F-6417E26437B7}"/>
                </a:ext>
              </a:extLst>
            </p:cNvPr>
            <p:cNvPicPr>
              <a:picLocks noChangeAspect="1"/>
            </p:cNvPicPr>
            <p:nvPr/>
          </p:nvPicPr>
          <p:blipFill>
            <a:blip r:embed="rId15" cstate="hqprint">
              <a:extLst>
                <a:ext uri="{28A0092B-C50C-407E-A947-70E740481C1C}">
                  <a14:useLocalDpi xmlns:a14="http://schemas.microsoft.com/office/drawing/2010/main"/>
                </a:ext>
              </a:extLst>
            </a:blip>
            <a:stretch>
              <a:fillRect/>
            </a:stretch>
          </p:blipFill>
          <p:spPr>
            <a:xfrm>
              <a:off x="4012660" y="3888000"/>
              <a:ext cx="1142783" cy="483997"/>
            </a:xfrm>
            <a:prstGeom prst="rect">
              <a:avLst/>
            </a:prstGeom>
          </p:spPr>
        </p:pic>
      </p:grpSp>
      <p:sp>
        <p:nvSpPr>
          <p:cNvPr id="70" name="テキスト ボックス 69">
            <a:extLst>
              <a:ext uri="{FF2B5EF4-FFF2-40B4-BE49-F238E27FC236}">
                <a16:creationId xmlns:a16="http://schemas.microsoft.com/office/drawing/2014/main" id="{7BEEF772-68D8-9575-CD87-0EF9C832C5DB}"/>
              </a:ext>
            </a:extLst>
          </p:cNvPr>
          <p:cNvSpPr txBox="1"/>
          <p:nvPr/>
        </p:nvSpPr>
        <p:spPr>
          <a:xfrm>
            <a:off x="6839701" y="1910400"/>
            <a:ext cx="3168000" cy="432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200">
                <a:latin typeface="游ゴシック" panose="020B0400000000000000" pitchFamily="50" charset="-128"/>
                <a:ea typeface="游ゴシック" panose="020B0400000000000000" pitchFamily="50" charset="-128"/>
              </a:rPr>
              <a:t>スクラム開発は、概念検証・実証実験・プログラム解析のすべてに適用します。</a:t>
            </a:r>
          </a:p>
        </p:txBody>
      </p:sp>
      <p:sp>
        <p:nvSpPr>
          <p:cNvPr id="71" name="矢印: 右 70">
            <a:extLst>
              <a:ext uri="{FF2B5EF4-FFF2-40B4-BE49-F238E27FC236}">
                <a16:creationId xmlns:a16="http://schemas.microsoft.com/office/drawing/2014/main" id="{7F769F54-4187-FD10-EEB0-31DCEBB5A137}"/>
              </a:ext>
            </a:extLst>
          </p:cNvPr>
          <p:cNvSpPr/>
          <p:nvPr/>
        </p:nvSpPr>
        <p:spPr>
          <a:xfrm>
            <a:off x="1223700" y="3960940"/>
            <a:ext cx="3824903" cy="792000"/>
          </a:xfrm>
          <a:prstGeom prst="rightArrow">
            <a:avLst/>
          </a:prstGeom>
          <a:solidFill>
            <a:schemeClr val="bg1">
              <a:lumMod val="8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2" name="グループ化 71">
            <a:extLst>
              <a:ext uri="{FF2B5EF4-FFF2-40B4-BE49-F238E27FC236}">
                <a16:creationId xmlns:a16="http://schemas.microsoft.com/office/drawing/2014/main" id="{1AEFE01D-0117-F980-62FE-C332E7D92773}"/>
              </a:ext>
            </a:extLst>
          </p:cNvPr>
          <p:cNvGrpSpPr/>
          <p:nvPr/>
        </p:nvGrpSpPr>
        <p:grpSpPr>
          <a:xfrm>
            <a:off x="1583701" y="3924940"/>
            <a:ext cx="936000" cy="1152000"/>
            <a:chOff x="612000" y="4536000"/>
            <a:chExt cx="936000" cy="1152000"/>
          </a:xfrm>
        </p:grpSpPr>
        <p:sp>
          <p:nvSpPr>
            <p:cNvPr id="73" name="テキスト ボックス 72">
              <a:extLst>
                <a:ext uri="{FF2B5EF4-FFF2-40B4-BE49-F238E27FC236}">
                  <a16:creationId xmlns:a16="http://schemas.microsoft.com/office/drawing/2014/main" id="{17EE71C8-806B-6AD7-109E-4369FE9A8B0A}"/>
                </a:ext>
              </a:extLst>
            </p:cNvPr>
            <p:cNvSpPr txBox="1"/>
            <p:nvPr/>
          </p:nvSpPr>
          <p:spPr>
            <a:xfrm>
              <a:off x="612000" y="5400000"/>
              <a:ext cx="936000" cy="288000"/>
            </a:xfrm>
            <a:prstGeom prst="rect">
              <a:avLst/>
            </a:prstGeom>
            <a:noFill/>
          </p:spPr>
          <p:txBody>
            <a:bodyPr wrap="none" rtlCol="0">
              <a:noAutofit/>
            </a:bodyPr>
            <a:lstStyle/>
            <a:p>
              <a:pPr algn="ctr">
                <a:spcBef>
                  <a:spcPts val="0"/>
                </a:spcBef>
              </a:pPr>
              <a:r>
                <a:rPr lang="ja-JP" altLang="en-US" sz="1200" b="1">
                  <a:latin typeface="游ゴシック" panose="020B0400000000000000" pitchFamily="50" charset="-128"/>
                  <a:ea typeface="游ゴシック" panose="020B0400000000000000" pitchFamily="50" charset="-128"/>
                  <a:cs typeface="Times New Roman" panose="02020603050405020304" pitchFamily="18" charset="0"/>
                </a:rPr>
                <a:t>プロダクト</a:t>
              </a:r>
              <a:r>
                <a:rPr kumimoji="1" lang="ja-JP" altLang="en-US" sz="1200" b="1" kern="1200">
                  <a:effectLst/>
                  <a:latin typeface="游ゴシック" panose="020B0400000000000000" pitchFamily="50" charset="-128"/>
                  <a:ea typeface="游ゴシック" panose="020B0400000000000000" pitchFamily="50" charset="-128"/>
                  <a:cs typeface="Times New Roman" panose="02020603050405020304" pitchFamily="18" charset="0"/>
                </a:rPr>
                <a:t>バックログ</a:t>
              </a:r>
              <a:endParaRPr kumimoji="1" lang="en-US" altLang="ja-JP" sz="1200" b="1" kern="1200">
                <a:effectLst/>
                <a:latin typeface="游ゴシック" panose="020B0400000000000000" pitchFamily="50" charset="-128"/>
                <a:ea typeface="游ゴシック" panose="020B0400000000000000" pitchFamily="50" charset="-128"/>
                <a:cs typeface="Times New Roman" panose="02020603050405020304" pitchFamily="18" charset="0"/>
              </a:endParaRPr>
            </a:p>
            <a:p>
              <a:pPr algn="ctr">
                <a:spcBef>
                  <a:spcPts val="0"/>
                </a:spcBef>
              </a:pPr>
              <a:r>
                <a:rPr kumimoji="1" lang="ja-JP" altLang="en-US" sz="1200" kern="1200">
                  <a:effectLst/>
                  <a:latin typeface="游ゴシック" panose="020B0400000000000000" pitchFamily="50" charset="-128"/>
                  <a:ea typeface="游ゴシック" panose="020B0400000000000000" pitchFamily="50" charset="-128"/>
                  <a:cs typeface="Times New Roman" panose="02020603050405020304" pitchFamily="18" charset="0"/>
                </a:rPr>
                <a:t>課題のリスト</a:t>
              </a:r>
              <a:endParaRPr kumimoji="1" lang="en-US" altLang="ja-JP" sz="1200" kern="12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grpSp>
          <p:nvGrpSpPr>
            <p:cNvPr id="74" name="グループ化 73">
              <a:extLst>
                <a:ext uri="{FF2B5EF4-FFF2-40B4-BE49-F238E27FC236}">
                  <a16:creationId xmlns:a16="http://schemas.microsoft.com/office/drawing/2014/main" id="{74947644-56CC-4EBE-2A5A-70BAE70D5B3B}"/>
                </a:ext>
              </a:extLst>
            </p:cNvPr>
            <p:cNvGrpSpPr/>
            <p:nvPr/>
          </p:nvGrpSpPr>
          <p:grpSpPr>
            <a:xfrm>
              <a:off x="648000" y="4536000"/>
              <a:ext cx="864000" cy="864000"/>
              <a:chOff x="576000" y="4572000"/>
              <a:chExt cx="864000" cy="864000"/>
            </a:xfrm>
          </p:grpSpPr>
          <p:sp>
            <p:nvSpPr>
              <p:cNvPr id="75" name="楕円 74">
                <a:extLst>
                  <a:ext uri="{FF2B5EF4-FFF2-40B4-BE49-F238E27FC236}">
                    <a16:creationId xmlns:a16="http://schemas.microsoft.com/office/drawing/2014/main" id="{60531E0C-E740-F342-BC86-FCE34DE1011C}"/>
                  </a:ext>
                </a:extLst>
              </p:cNvPr>
              <p:cNvSpPr/>
              <p:nvPr/>
            </p:nvSpPr>
            <p:spPr>
              <a:xfrm>
                <a:off x="576000" y="4572000"/>
                <a:ext cx="864000" cy="864000"/>
              </a:xfrm>
              <a:prstGeom prst="ellipse">
                <a:avLst/>
              </a:prstGeom>
              <a:solidFill>
                <a:schemeClr val="accent2"/>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6" name="図 75" descr="図形&#10;&#10;AI によって生成されたコンテンツは間違っている可能性があります。">
                <a:extLst>
                  <a:ext uri="{FF2B5EF4-FFF2-40B4-BE49-F238E27FC236}">
                    <a16:creationId xmlns:a16="http://schemas.microsoft.com/office/drawing/2014/main" id="{E684752F-4F51-9FC9-BDD6-2C576DBB6DF3}"/>
                  </a:ext>
                </a:extLst>
              </p:cNvPr>
              <p:cNvPicPr>
                <a:picLocks noChangeAspect="1"/>
              </p:cNvPicPr>
              <p:nvPr/>
            </p:nvPicPr>
            <p:blipFill>
              <a:blip r:embed="rId16" cstate="hqprint">
                <a:alphaModFix amt="96000"/>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a:ext>
                </a:extLst>
              </a:blip>
              <a:stretch>
                <a:fillRect/>
              </a:stretch>
            </p:blipFill>
            <p:spPr>
              <a:xfrm>
                <a:off x="812372" y="4729345"/>
                <a:ext cx="391256" cy="549310"/>
              </a:xfrm>
              <a:prstGeom prst="rect">
                <a:avLst/>
              </a:prstGeom>
            </p:spPr>
          </p:pic>
        </p:grpSp>
      </p:grpSp>
      <p:grpSp>
        <p:nvGrpSpPr>
          <p:cNvPr id="77" name="グループ化 76">
            <a:extLst>
              <a:ext uri="{FF2B5EF4-FFF2-40B4-BE49-F238E27FC236}">
                <a16:creationId xmlns:a16="http://schemas.microsoft.com/office/drawing/2014/main" id="{481770F4-445E-4972-D113-060E746B6E71}"/>
              </a:ext>
            </a:extLst>
          </p:cNvPr>
          <p:cNvGrpSpPr/>
          <p:nvPr/>
        </p:nvGrpSpPr>
        <p:grpSpPr>
          <a:xfrm>
            <a:off x="3959701" y="3060940"/>
            <a:ext cx="936000" cy="1152000"/>
            <a:chOff x="7272000" y="4536000"/>
            <a:chExt cx="936000" cy="1152000"/>
          </a:xfrm>
        </p:grpSpPr>
        <p:sp>
          <p:nvSpPr>
            <p:cNvPr id="78" name="テキスト ボックス 77">
              <a:extLst>
                <a:ext uri="{FF2B5EF4-FFF2-40B4-BE49-F238E27FC236}">
                  <a16:creationId xmlns:a16="http://schemas.microsoft.com/office/drawing/2014/main" id="{CE391C4F-F9C4-60A3-9077-400B9D0AB7F0}"/>
                </a:ext>
              </a:extLst>
            </p:cNvPr>
            <p:cNvSpPr txBox="1"/>
            <p:nvPr/>
          </p:nvSpPr>
          <p:spPr>
            <a:xfrm>
              <a:off x="7272000" y="5400000"/>
              <a:ext cx="936000" cy="288000"/>
            </a:xfrm>
            <a:prstGeom prst="rect">
              <a:avLst/>
            </a:prstGeom>
            <a:noFill/>
          </p:spPr>
          <p:txBody>
            <a:bodyPr wrap="none" rtlCol="0">
              <a:noAutofit/>
            </a:bodyPr>
            <a:lstStyle/>
            <a:p>
              <a:pPr algn="ctr">
                <a:spcBef>
                  <a:spcPts val="0"/>
                </a:spcBef>
              </a:pPr>
              <a:r>
                <a:rPr lang="ja-JP" altLang="en-US" sz="1200" b="1">
                  <a:latin typeface="游ゴシック" panose="020B0400000000000000" pitchFamily="50" charset="-128"/>
                  <a:ea typeface="游ゴシック" panose="020B0400000000000000" pitchFamily="50" charset="-128"/>
                  <a:cs typeface="Times New Roman" panose="02020603050405020304" pitchFamily="18" charset="0"/>
                </a:rPr>
                <a:t>インクリメント</a:t>
              </a:r>
              <a:endParaRPr lang="en-US" altLang="ja-JP" sz="1200" b="1">
                <a:latin typeface="游ゴシック" panose="020B0400000000000000" pitchFamily="50" charset="-128"/>
                <a:ea typeface="游ゴシック" panose="020B0400000000000000" pitchFamily="50" charset="-128"/>
                <a:cs typeface="Times New Roman" panose="02020603050405020304" pitchFamily="18" charset="0"/>
              </a:endParaRPr>
            </a:p>
            <a:p>
              <a:pPr algn="ctr">
                <a:spcBef>
                  <a:spcPts val="0"/>
                </a:spcBef>
              </a:pPr>
              <a:r>
                <a:rPr kumimoji="1" lang="ja-JP" altLang="en-US" sz="1200" kern="1200">
                  <a:effectLst/>
                  <a:latin typeface="游ゴシック" panose="020B0400000000000000" pitchFamily="50" charset="-128"/>
                  <a:ea typeface="游ゴシック" panose="020B0400000000000000" pitchFamily="50" charset="-128"/>
                  <a:cs typeface="Times New Roman" panose="02020603050405020304" pitchFamily="18" charset="0"/>
                </a:rPr>
                <a:t>成果物</a:t>
              </a:r>
              <a:endParaRPr kumimoji="1" lang="en-US" altLang="ja-JP" sz="1200" kern="12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grpSp>
          <p:nvGrpSpPr>
            <p:cNvPr id="79" name="グループ化 78">
              <a:extLst>
                <a:ext uri="{FF2B5EF4-FFF2-40B4-BE49-F238E27FC236}">
                  <a16:creationId xmlns:a16="http://schemas.microsoft.com/office/drawing/2014/main" id="{E02F085A-EA56-02A9-172E-352520C43404}"/>
                </a:ext>
              </a:extLst>
            </p:cNvPr>
            <p:cNvGrpSpPr/>
            <p:nvPr/>
          </p:nvGrpSpPr>
          <p:grpSpPr>
            <a:xfrm>
              <a:off x="7308000" y="4536000"/>
              <a:ext cx="864000" cy="864000"/>
              <a:chOff x="7308000" y="4536000"/>
              <a:chExt cx="864000" cy="864000"/>
            </a:xfrm>
          </p:grpSpPr>
          <p:sp>
            <p:nvSpPr>
              <p:cNvPr id="80" name="楕円 79">
                <a:extLst>
                  <a:ext uri="{FF2B5EF4-FFF2-40B4-BE49-F238E27FC236}">
                    <a16:creationId xmlns:a16="http://schemas.microsoft.com/office/drawing/2014/main" id="{8FF281EC-ED83-25FE-A274-2D2CD7C45E4D}"/>
                  </a:ext>
                </a:extLst>
              </p:cNvPr>
              <p:cNvSpPr/>
              <p:nvPr/>
            </p:nvSpPr>
            <p:spPr>
              <a:xfrm>
                <a:off x="7308000" y="4536000"/>
                <a:ext cx="864000" cy="864000"/>
              </a:xfrm>
              <a:prstGeom prst="ellipse">
                <a:avLst/>
              </a:prstGeom>
              <a:solidFill>
                <a:schemeClr val="accent2"/>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1" name="図 80" descr="黒い背景と白い文字&#10;&#10;AI によって生成されたコンテンツは間違っている可能性があります。">
                <a:extLst>
                  <a:ext uri="{FF2B5EF4-FFF2-40B4-BE49-F238E27FC236}">
                    <a16:creationId xmlns:a16="http://schemas.microsoft.com/office/drawing/2014/main" id="{A2C14BF0-DFF7-7402-5B39-D1416B233CFE}"/>
                  </a:ext>
                </a:extLst>
              </p:cNvPr>
              <p:cNvPicPr>
                <a:picLocks noChangeAspect="1"/>
              </p:cNvPicPr>
              <p:nvPr/>
            </p:nvPicPr>
            <p:blipFill>
              <a:blip r:embed="rId18" cstate="hqprint">
                <a:extLst>
                  <a:ext uri="{BEBA8EAE-BF5A-486C-A8C5-ECC9F3942E4B}">
                    <a14:imgProps xmlns:a14="http://schemas.microsoft.com/office/drawing/2010/main">
                      <a14:imgLayer r:embed="rId19">
                        <a14:imgEffect>
                          <a14:brightnessContrast bright="100000"/>
                        </a14:imgEffect>
                      </a14:imgLayer>
                    </a14:imgProps>
                  </a:ext>
                  <a:ext uri="{28A0092B-C50C-407E-A947-70E740481C1C}">
                    <a14:useLocalDpi xmlns:a14="http://schemas.microsoft.com/office/drawing/2010/main"/>
                  </a:ext>
                </a:extLst>
              </a:blip>
              <a:stretch>
                <a:fillRect/>
              </a:stretch>
            </p:blipFill>
            <p:spPr>
              <a:xfrm>
                <a:off x="7524000" y="4693345"/>
                <a:ext cx="514951" cy="549310"/>
              </a:xfrm>
              <a:prstGeom prst="rect">
                <a:avLst/>
              </a:prstGeom>
            </p:spPr>
          </p:pic>
        </p:grpSp>
      </p:grpSp>
      <p:grpSp>
        <p:nvGrpSpPr>
          <p:cNvPr id="82" name="グループ化 81">
            <a:extLst>
              <a:ext uri="{FF2B5EF4-FFF2-40B4-BE49-F238E27FC236}">
                <a16:creationId xmlns:a16="http://schemas.microsoft.com/office/drawing/2014/main" id="{8DF1571D-16B8-618A-0E9F-1B098B3BFE9D}"/>
              </a:ext>
            </a:extLst>
          </p:cNvPr>
          <p:cNvGrpSpPr/>
          <p:nvPr/>
        </p:nvGrpSpPr>
        <p:grpSpPr>
          <a:xfrm>
            <a:off x="2753701" y="4428940"/>
            <a:ext cx="1944000" cy="1181665"/>
            <a:chOff x="2087999" y="5112000"/>
            <a:chExt cx="1944000" cy="1181665"/>
          </a:xfrm>
        </p:grpSpPr>
        <p:sp>
          <p:nvSpPr>
            <p:cNvPr id="83" name="テキスト ボックス 82">
              <a:extLst>
                <a:ext uri="{FF2B5EF4-FFF2-40B4-BE49-F238E27FC236}">
                  <a16:creationId xmlns:a16="http://schemas.microsoft.com/office/drawing/2014/main" id="{B8886190-50B1-EB51-48F8-6A91344EC5CF}"/>
                </a:ext>
              </a:extLst>
            </p:cNvPr>
            <p:cNvSpPr txBox="1"/>
            <p:nvPr/>
          </p:nvSpPr>
          <p:spPr>
            <a:xfrm>
              <a:off x="2087999" y="5832000"/>
              <a:ext cx="1944000" cy="461665"/>
            </a:xfrm>
            <a:prstGeom prst="rect">
              <a:avLst/>
            </a:prstGeom>
            <a:noFill/>
          </p:spPr>
          <p:txBody>
            <a:bodyPr wrap="none" rtlCol="0">
              <a:noAutofit/>
            </a:bodyPr>
            <a:lstStyle/>
            <a:p>
              <a:r>
                <a:rPr lang="ja-JP" altLang="en-US" sz="1200" b="1">
                  <a:latin typeface="游ゴシック" panose="020B0400000000000000" pitchFamily="50" charset="-128"/>
                  <a:ea typeface="游ゴシック" panose="020B0400000000000000" pitchFamily="50" charset="-128"/>
                </a:rPr>
                <a:t>スプリントプランニング</a:t>
              </a:r>
              <a:endParaRPr lang="en-US" altLang="ja-JP" sz="1200" b="1">
                <a:latin typeface="游ゴシック" panose="020B0400000000000000" pitchFamily="50" charset="-128"/>
                <a:ea typeface="游ゴシック" panose="020B0400000000000000" pitchFamily="50" charset="-128"/>
              </a:endParaRPr>
            </a:p>
            <a:p>
              <a:r>
                <a:rPr lang="ja-JP" altLang="en-US" sz="1200">
                  <a:latin typeface="游ゴシック" panose="020B0400000000000000" pitchFamily="50" charset="-128"/>
                  <a:ea typeface="游ゴシック" panose="020B0400000000000000" pitchFamily="50" charset="-128"/>
                </a:rPr>
                <a:t>スプリントの計画及びゴールの決定</a:t>
              </a:r>
              <a:endParaRPr lang="en-US" altLang="ja-JP" sz="1200">
                <a:latin typeface="游ゴシック" panose="020B0400000000000000" pitchFamily="50" charset="-128"/>
                <a:ea typeface="游ゴシック" panose="020B0400000000000000" pitchFamily="50" charset="-128"/>
              </a:endParaRPr>
            </a:p>
          </p:txBody>
        </p:sp>
        <p:grpSp>
          <p:nvGrpSpPr>
            <p:cNvPr id="84" name="グループ化 83">
              <a:extLst>
                <a:ext uri="{FF2B5EF4-FFF2-40B4-BE49-F238E27FC236}">
                  <a16:creationId xmlns:a16="http://schemas.microsoft.com/office/drawing/2014/main" id="{B3ABA65B-E5D8-9E48-C79F-4D7820278927}"/>
                </a:ext>
              </a:extLst>
            </p:cNvPr>
            <p:cNvGrpSpPr/>
            <p:nvPr/>
          </p:nvGrpSpPr>
          <p:grpSpPr>
            <a:xfrm>
              <a:off x="2687077" y="5112000"/>
              <a:ext cx="745845" cy="655283"/>
              <a:chOff x="2340000" y="5112000"/>
              <a:chExt cx="745845" cy="655283"/>
            </a:xfrm>
          </p:grpSpPr>
          <p:pic>
            <p:nvPicPr>
              <p:cNvPr id="85" name="図 84" descr="図形&#10;&#10;AI によって生成されたコンテンツは間違っている可能性があります。">
                <a:extLst>
                  <a:ext uri="{FF2B5EF4-FFF2-40B4-BE49-F238E27FC236}">
                    <a16:creationId xmlns:a16="http://schemas.microsoft.com/office/drawing/2014/main" id="{6A05AC9D-5E5F-33D9-8B0F-18A71F175F0C}"/>
                  </a:ext>
                </a:extLst>
              </p:cNvPr>
              <p:cNvPicPr>
                <a:picLocks noChangeAspect="1"/>
              </p:cNvPicPr>
              <p:nvPr/>
            </p:nvPicPr>
            <p:blipFill>
              <a:blip r:embed="rId20" cstate="hqprint">
                <a:extLst>
                  <a:ext uri="{28A0092B-C50C-407E-A947-70E740481C1C}">
                    <a14:useLocalDpi xmlns:a14="http://schemas.microsoft.com/office/drawing/2010/main"/>
                  </a:ext>
                </a:extLst>
              </a:blip>
              <a:stretch>
                <a:fillRect/>
              </a:stretch>
            </p:blipFill>
            <p:spPr>
              <a:xfrm>
                <a:off x="2525828" y="5112000"/>
                <a:ext cx="374189" cy="400569"/>
              </a:xfrm>
              <a:prstGeom prst="rect">
                <a:avLst/>
              </a:prstGeom>
            </p:spPr>
          </p:pic>
          <p:grpSp>
            <p:nvGrpSpPr>
              <p:cNvPr id="86" name="グループ化 85">
                <a:extLst>
                  <a:ext uri="{FF2B5EF4-FFF2-40B4-BE49-F238E27FC236}">
                    <a16:creationId xmlns:a16="http://schemas.microsoft.com/office/drawing/2014/main" id="{EFA02258-E1B1-4B5C-ABB8-F15413170408}"/>
                  </a:ext>
                </a:extLst>
              </p:cNvPr>
              <p:cNvGrpSpPr/>
              <p:nvPr/>
            </p:nvGrpSpPr>
            <p:grpSpPr>
              <a:xfrm>
                <a:off x="2340000" y="5436000"/>
                <a:ext cx="745845" cy="331283"/>
                <a:chOff x="2340000" y="5436000"/>
                <a:chExt cx="745845" cy="331283"/>
              </a:xfrm>
            </p:grpSpPr>
            <p:pic>
              <p:nvPicPr>
                <p:cNvPr id="87" name="図 86" descr="図形&#10;&#10;AI によって生成されたコンテンツは間違っている可能性があります。">
                  <a:extLst>
                    <a:ext uri="{FF2B5EF4-FFF2-40B4-BE49-F238E27FC236}">
                      <a16:creationId xmlns:a16="http://schemas.microsoft.com/office/drawing/2014/main" id="{8A9956B8-6631-D121-65CE-8DB4D481C108}"/>
                    </a:ext>
                  </a:extLst>
                </p:cNvPr>
                <p:cNvPicPr>
                  <a:picLocks noChangeAspect="1"/>
                </p:cNvPicPr>
                <p:nvPr/>
              </p:nvPicPr>
              <p:blipFill>
                <a:blip r:embed="rId21" cstate="hqprint">
                  <a:extLst>
                    <a:ext uri="{28A0092B-C50C-407E-A947-70E740481C1C}">
                      <a14:useLocalDpi xmlns:a14="http://schemas.microsoft.com/office/drawing/2010/main"/>
                    </a:ext>
                  </a:extLst>
                </a:blip>
                <a:stretch>
                  <a:fillRect/>
                </a:stretch>
              </p:blipFill>
              <p:spPr>
                <a:xfrm>
                  <a:off x="2340000" y="5436000"/>
                  <a:ext cx="241845" cy="331283"/>
                </a:xfrm>
                <a:prstGeom prst="rect">
                  <a:avLst/>
                </a:prstGeom>
              </p:spPr>
            </p:pic>
            <p:pic>
              <p:nvPicPr>
                <p:cNvPr id="88" name="図 87" descr="図形&#10;&#10;AI によって生成されたコンテンツは間違っている可能性があります。">
                  <a:extLst>
                    <a:ext uri="{FF2B5EF4-FFF2-40B4-BE49-F238E27FC236}">
                      <a16:creationId xmlns:a16="http://schemas.microsoft.com/office/drawing/2014/main" id="{9BC2D851-AC2E-1968-659C-2920C1D953A9}"/>
                    </a:ext>
                  </a:extLst>
                </p:cNvPr>
                <p:cNvPicPr>
                  <a:picLocks noChangeAspect="1"/>
                </p:cNvPicPr>
                <p:nvPr/>
              </p:nvPicPr>
              <p:blipFill>
                <a:blip r:embed="rId21" cstate="hqprint">
                  <a:extLst>
                    <a:ext uri="{28A0092B-C50C-407E-A947-70E740481C1C}">
                      <a14:useLocalDpi xmlns:a14="http://schemas.microsoft.com/office/drawing/2010/main"/>
                    </a:ext>
                  </a:extLst>
                </a:blip>
                <a:stretch>
                  <a:fillRect/>
                </a:stretch>
              </p:blipFill>
              <p:spPr>
                <a:xfrm>
                  <a:off x="2844000" y="5436000"/>
                  <a:ext cx="241845" cy="331283"/>
                </a:xfrm>
                <a:prstGeom prst="rect">
                  <a:avLst/>
                </a:prstGeom>
              </p:spPr>
            </p:pic>
            <p:pic>
              <p:nvPicPr>
                <p:cNvPr id="89" name="図 88" descr="図形&#10;&#10;AI によって生成されたコンテンツは間違っている可能性があります。">
                  <a:extLst>
                    <a:ext uri="{FF2B5EF4-FFF2-40B4-BE49-F238E27FC236}">
                      <a16:creationId xmlns:a16="http://schemas.microsoft.com/office/drawing/2014/main" id="{1AFA9FD7-3AE5-6364-2224-74940362303F}"/>
                    </a:ext>
                  </a:extLst>
                </p:cNvPr>
                <p:cNvPicPr>
                  <a:picLocks noChangeAspect="1"/>
                </p:cNvPicPr>
                <p:nvPr/>
              </p:nvPicPr>
              <p:blipFill>
                <a:blip r:embed="rId21" cstate="hqprint">
                  <a:extLst>
                    <a:ext uri="{28A0092B-C50C-407E-A947-70E740481C1C}">
                      <a14:useLocalDpi xmlns:a14="http://schemas.microsoft.com/office/drawing/2010/main"/>
                    </a:ext>
                  </a:extLst>
                </a:blip>
                <a:stretch>
                  <a:fillRect/>
                </a:stretch>
              </p:blipFill>
              <p:spPr>
                <a:xfrm>
                  <a:off x="2592000" y="5436000"/>
                  <a:ext cx="241845" cy="331283"/>
                </a:xfrm>
                <a:prstGeom prst="rect">
                  <a:avLst/>
                </a:prstGeom>
              </p:spPr>
            </p:pic>
          </p:grpSp>
        </p:grpSp>
      </p:grpSp>
    </p:spTree>
    <p:extLst>
      <p:ext uri="{BB962C8B-B14F-4D97-AF65-F5344CB8AC3E}">
        <p14:creationId xmlns:p14="http://schemas.microsoft.com/office/powerpoint/2010/main" val="3195394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DEC09-050F-48D0-3421-628ABC758D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4C72F3-F062-6257-6F25-C5FC09F8BFC3}"/>
              </a:ext>
            </a:extLst>
          </p:cNvPr>
          <p:cNvSpPr>
            <a:spLocks noGrp="1"/>
          </p:cNvSpPr>
          <p:nvPr>
            <p:ph type="title"/>
          </p:nvPr>
        </p:nvSpPr>
        <p:spPr/>
        <p:txBody>
          <a:bodyPr/>
          <a:lstStyle/>
          <a:p>
            <a:r>
              <a:rPr lang="en-US" altLang="ja-JP"/>
              <a:t>4</a:t>
            </a:r>
            <a:r>
              <a:rPr kumimoji="1" lang="en-US" altLang="ja-JP"/>
              <a:t>-2</a:t>
            </a:r>
            <a:r>
              <a:rPr lang="ja-JP" altLang="en-US"/>
              <a:t>．スクラム開発を行う上での管理項目</a:t>
            </a:r>
            <a:endParaRPr kumimoji="1" lang="ja-JP" altLang="en-US"/>
          </a:p>
        </p:txBody>
      </p:sp>
      <p:sp>
        <p:nvSpPr>
          <p:cNvPr id="4" name="フッター プレースホルダー 3">
            <a:extLst>
              <a:ext uri="{FF2B5EF4-FFF2-40B4-BE49-F238E27FC236}">
                <a16:creationId xmlns:a16="http://schemas.microsoft.com/office/drawing/2014/main" id="{F6AEF789-F19E-7800-AE54-52B56DFE36BF}"/>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592E66DD-8B6C-EE16-2CA9-FE6126547134}"/>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24</a:t>
            </a:fld>
            <a:endParaRPr kumimoji="1" lang="ja-JP" altLang="en-US" sz="700"/>
          </a:p>
        </p:txBody>
      </p:sp>
      <p:sp>
        <p:nvSpPr>
          <p:cNvPr id="10" name="楕円 9">
            <a:extLst>
              <a:ext uri="{FF2B5EF4-FFF2-40B4-BE49-F238E27FC236}">
                <a16:creationId xmlns:a16="http://schemas.microsoft.com/office/drawing/2014/main" id="{E966EF0D-926E-60EE-330C-40CD163EE9B6}"/>
              </a:ext>
            </a:extLst>
          </p:cNvPr>
          <p:cNvSpPr>
            <a:spLocks noChangeAspect="1"/>
          </p:cNvSpPr>
          <p:nvPr/>
        </p:nvSpPr>
        <p:spPr>
          <a:xfrm>
            <a:off x="4950080" y="2501400"/>
            <a:ext cx="2016000" cy="2016000"/>
          </a:xfrm>
          <a:prstGeom prst="ellipse">
            <a:avLst/>
          </a:prstGeom>
          <a:solidFill>
            <a:schemeClr val="bg1"/>
          </a:solidFill>
          <a:ln w="1905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游ゴシック" panose="020B0400000000000000" pitchFamily="50" charset="-128"/>
              <a:ea typeface="游ゴシック" panose="020B0400000000000000" pitchFamily="50" charset="-128"/>
            </a:endParaRPr>
          </a:p>
        </p:txBody>
      </p:sp>
      <p:sp>
        <p:nvSpPr>
          <p:cNvPr id="11" name="六角形 10">
            <a:extLst>
              <a:ext uri="{FF2B5EF4-FFF2-40B4-BE49-F238E27FC236}">
                <a16:creationId xmlns:a16="http://schemas.microsoft.com/office/drawing/2014/main" id="{A13D3F61-E453-D6A6-0C8E-69BB13D9D2D1}"/>
              </a:ext>
            </a:extLst>
          </p:cNvPr>
          <p:cNvSpPr>
            <a:spLocks/>
          </p:cNvSpPr>
          <p:nvPr/>
        </p:nvSpPr>
        <p:spPr>
          <a:xfrm>
            <a:off x="4914080" y="2645400"/>
            <a:ext cx="2088000" cy="1728000"/>
          </a:xfrm>
          <a:prstGeom prst="hexagon">
            <a:avLst/>
          </a:prstGeom>
          <a:solidFill>
            <a:schemeClr val="bg1">
              <a:alpha val="50196"/>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tIns="0" bIns="216000" rtlCol="0" anchor="t"/>
          <a:lstStyle/>
          <a:p>
            <a:pPr algn="ctr">
              <a:spcBef>
                <a:spcPts val="600"/>
              </a:spcBef>
            </a:pPr>
            <a:r>
              <a:rPr kumimoji="1" lang="ja-JP" altLang="en-US" sz="1600" u="sng">
                <a:solidFill>
                  <a:schemeClr val="tx1"/>
                </a:solidFill>
                <a:latin typeface="游ゴシック" panose="020B0400000000000000" pitchFamily="50" charset="-128"/>
                <a:ea typeface="游ゴシック" panose="020B0400000000000000" pitchFamily="50" charset="-128"/>
              </a:rPr>
              <a:t>プロジェクト管理</a:t>
            </a:r>
            <a:endParaRPr kumimoji="1" lang="en-US" altLang="ja-JP" sz="1600" u="sng">
              <a:solidFill>
                <a:schemeClr val="tx1"/>
              </a:solidFill>
              <a:latin typeface="游ゴシック" panose="020B0400000000000000" pitchFamily="50" charset="-128"/>
              <a:ea typeface="游ゴシック" panose="020B0400000000000000" pitchFamily="50" charset="-128"/>
            </a:endParaRPr>
          </a:p>
          <a:p>
            <a:pPr algn="ctr">
              <a:spcBef>
                <a:spcPts val="600"/>
              </a:spcBef>
            </a:pPr>
            <a:r>
              <a:rPr kumimoji="1" lang="en-US" altLang="ja-JP" sz="1600" b="1">
                <a:solidFill>
                  <a:schemeClr val="tx1"/>
                </a:solidFill>
                <a:latin typeface="游ゴシック" panose="020B0400000000000000" pitchFamily="50" charset="-128"/>
                <a:ea typeface="游ゴシック" panose="020B0400000000000000" pitchFamily="50" charset="-128"/>
              </a:rPr>
              <a:t>6</a:t>
            </a:r>
            <a:r>
              <a:rPr kumimoji="1" lang="ja-JP" altLang="en-US" sz="1600" b="1">
                <a:solidFill>
                  <a:schemeClr val="tx1"/>
                </a:solidFill>
                <a:latin typeface="游ゴシック" panose="020B0400000000000000" pitchFamily="50" charset="-128"/>
                <a:ea typeface="游ゴシック" panose="020B0400000000000000" pitchFamily="50" charset="-128"/>
              </a:rPr>
              <a:t>つの</a:t>
            </a:r>
            <a:br>
              <a:rPr kumimoji="1" lang="en-US" altLang="ja-JP" sz="1600" b="1">
                <a:solidFill>
                  <a:schemeClr val="tx1"/>
                </a:solidFill>
                <a:latin typeface="游ゴシック" panose="020B0400000000000000" pitchFamily="50" charset="-128"/>
                <a:ea typeface="游ゴシック" panose="020B0400000000000000" pitchFamily="50" charset="-128"/>
              </a:rPr>
            </a:br>
            <a:r>
              <a:rPr kumimoji="1" lang="ja-JP" altLang="en-US" sz="1600" b="1">
                <a:solidFill>
                  <a:schemeClr val="tx1"/>
                </a:solidFill>
                <a:latin typeface="游ゴシック" panose="020B0400000000000000" pitchFamily="50" charset="-128"/>
                <a:ea typeface="游ゴシック" panose="020B0400000000000000" pitchFamily="50" charset="-128"/>
              </a:rPr>
              <a:t>重要管理項目</a:t>
            </a:r>
          </a:p>
        </p:txBody>
      </p:sp>
      <p:sp>
        <p:nvSpPr>
          <p:cNvPr id="12" name="楕円 11">
            <a:extLst>
              <a:ext uri="{FF2B5EF4-FFF2-40B4-BE49-F238E27FC236}">
                <a16:creationId xmlns:a16="http://schemas.microsoft.com/office/drawing/2014/main" id="{69CD7074-6D1B-599C-E675-D08277E3BE89}"/>
              </a:ext>
            </a:extLst>
          </p:cNvPr>
          <p:cNvSpPr>
            <a:spLocks noChangeAspect="1"/>
          </p:cNvSpPr>
          <p:nvPr/>
        </p:nvSpPr>
        <p:spPr>
          <a:xfrm>
            <a:off x="5202080" y="2501400"/>
            <a:ext cx="216000" cy="216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游ゴシック" panose="020B0400000000000000" pitchFamily="50" charset="-128"/>
              <a:ea typeface="游ゴシック" panose="020B0400000000000000" pitchFamily="50" charset="-128"/>
            </a:endParaRPr>
          </a:p>
        </p:txBody>
      </p:sp>
      <p:sp>
        <p:nvSpPr>
          <p:cNvPr id="13" name="楕円 12">
            <a:extLst>
              <a:ext uri="{FF2B5EF4-FFF2-40B4-BE49-F238E27FC236}">
                <a16:creationId xmlns:a16="http://schemas.microsoft.com/office/drawing/2014/main" id="{A68B3071-103E-5511-FD16-C9AC38DBD2CA}"/>
              </a:ext>
            </a:extLst>
          </p:cNvPr>
          <p:cNvSpPr>
            <a:spLocks noChangeAspect="1"/>
          </p:cNvSpPr>
          <p:nvPr/>
        </p:nvSpPr>
        <p:spPr>
          <a:xfrm>
            <a:off x="6498080" y="2501400"/>
            <a:ext cx="216000" cy="216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游ゴシック" panose="020B0400000000000000" pitchFamily="50" charset="-128"/>
              <a:ea typeface="游ゴシック" panose="020B0400000000000000" pitchFamily="50" charset="-128"/>
            </a:endParaRPr>
          </a:p>
        </p:txBody>
      </p:sp>
      <p:sp>
        <p:nvSpPr>
          <p:cNvPr id="14" name="楕円 13">
            <a:extLst>
              <a:ext uri="{FF2B5EF4-FFF2-40B4-BE49-F238E27FC236}">
                <a16:creationId xmlns:a16="http://schemas.microsoft.com/office/drawing/2014/main" id="{81BBF6DF-DBCA-8055-B8CB-39324A68F726}"/>
              </a:ext>
            </a:extLst>
          </p:cNvPr>
          <p:cNvSpPr>
            <a:spLocks noChangeAspect="1"/>
          </p:cNvSpPr>
          <p:nvPr/>
        </p:nvSpPr>
        <p:spPr>
          <a:xfrm>
            <a:off x="6966080" y="3401400"/>
            <a:ext cx="216000" cy="216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游ゴシック" panose="020B0400000000000000" pitchFamily="50" charset="-128"/>
              <a:ea typeface="游ゴシック" panose="020B0400000000000000" pitchFamily="50" charset="-128"/>
            </a:endParaRPr>
          </a:p>
        </p:txBody>
      </p:sp>
      <p:sp>
        <p:nvSpPr>
          <p:cNvPr id="15" name="楕円 14">
            <a:extLst>
              <a:ext uri="{FF2B5EF4-FFF2-40B4-BE49-F238E27FC236}">
                <a16:creationId xmlns:a16="http://schemas.microsoft.com/office/drawing/2014/main" id="{6B8346D5-05E3-A9E3-44F8-411BAA73A72B}"/>
              </a:ext>
            </a:extLst>
          </p:cNvPr>
          <p:cNvSpPr>
            <a:spLocks noChangeAspect="1"/>
          </p:cNvSpPr>
          <p:nvPr/>
        </p:nvSpPr>
        <p:spPr>
          <a:xfrm>
            <a:off x="4734080" y="3401400"/>
            <a:ext cx="216000" cy="21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游ゴシック" panose="020B0400000000000000" pitchFamily="50" charset="-128"/>
              <a:ea typeface="游ゴシック" panose="020B0400000000000000" pitchFamily="50" charset="-128"/>
            </a:endParaRPr>
          </a:p>
        </p:txBody>
      </p:sp>
      <p:sp>
        <p:nvSpPr>
          <p:cNvPr id="16" name="楕円 15">
            <a:extLst>
              <a:ext uri="{FF2B5EF4-FFF2-40B4-BE49-F238E27FC236}">
                <a16:creationId xmlns:a16="http://schemas.microsoft.com/office/drawing/2014/main" id="{802AEE5C-A548-3978-9D1B-95A3EFFCF2EB}"/>
              </a:ext>
            </a:extLst>
          </p:cNvPr>
          <p:cNvSpPr>
            <a:spLocks noChangeAspect="1"/>
          </p:cNvSpPr>
          <p:nvPr/>
        </p:nvSpPr>
        <p:spPr>
          <a:xfrm>
            <a:off x="5202080" y="4301400"/>
            <a:ext cx="216000" cy="216000"/>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游ゴシック" panose="020B0400000000000000" pitchFamily="50" charset="-128"/>
              <a:ea typeface="游ゴシック" panose="020B0400000000000000" pitchFamily="50" charset="-128"/>
            </a:endParaRPr>
          </a:p>
        </p:txBody>
      </p:sp>
      <p:sp>
        <p:nvSpPr>
          <p:cNvPr id="17" name="楕円 16">
            <a:extLst>
              <a:ext uri="{FF2B5EF4-FFF2-40B4-BE49-F238E27FC236}">
                <a16:creationId xmlns:a16="http://schemas.microsoft.com/office/drawing/2014/main" id="{74F5DCEE-8EB5-44C8-E80E-47664F0DBA1B}"/>
              </a:ext>
            </a:extLst>
          </p:cNvPr>
          <p:cNvSpPr>
            <a:spLocks noChangeAspect="1"/>
          </p:cNvSpPr>
          <p:nvPr/>
        </p:nvSpPr>
        <p:spPr>
          <a:xfrm>
            <a:off x="6498080" y="4301400"/>
            <a:ext cx="216000" cy="216000"/>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latin typeface="游ゴシック" panose="020B0400000000000000" pitchFamily="50" charset="-128"/>
              <a:ea typeface="游ゴシック" panose="020B0400000000000000" pitchFamily="50" charset="-128"/>
            </a:endParaRPr>
          </a:p>
        </p:txBody>
      </p:sp>
      <p:grpSp>
        <p:nvGrpSpPr>
          <p:cNvPr id="20" name="グループ化 19">
            <a:extLst>
              <a:ext uri="{FF2B5EF4-FFF2-40B4-BE49-F238E27FC236}">
                <a16:creationId xmlns:a16="http://schemas.microsoft.com/office/drawing/2014/main" id="{31271924-4205-0AA9-2358-1BED219BBB75}"/>
              </a:ext>
            </a:extLst>
          </p:cNvPr>
          <p:cNvGrpSpPr/>
          <p:nvPr/>
        </p:nvGrpSpPr>
        <p:grpSpPr>
          <a:xfrm>
            <a:off x="7434679" y="1889400"/>
            <a:ext cx="3676666" cy="1152000"/>
            <a:chOff x="6048000" y="2520000"/>
            <a:chExt cx="3130951" cy="1152000"/>
          </a:xfrm>
        </p:grpSpPr>
        <p:sp>
          <p:nvSpPr>
            <p:cNvPr id="101" name="正方形/長方形 100">
              <a:extLst>
                <a:ext uri="{FF2B5EF4-FFF2-40B4-BE49-F238E27FC236}">
                  <a16:creationId xmlns:a16="http://schemas.microsoft.com/office/drawing/2014/main" id="{E45F605F-19D3-CD88-2C20-2A6CA83680FC}"/>
                </a:ext>
              </a:extLst>
            </p:cNvPr>
            <p:cNvSpPr/>
            <p:nvPr/>
          </p:nvSpPr>
          <p:spPr>
            <a:xfrm>
              <a:off x="6120000" y="2880000"/>
              <a:ext cx="2736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600"/>
            </a:p>
          </p:txBody>
        </p:sp>
        <p:sp>
          <p:nvSpPr>
            <p:cNvPr id="102" name="テキスト ボックス 101">
              <a:extLst>
                <a:ext uri="{FF2B5EF4-FFF2-40B4-BE49-F238E27FC236}">
                  <a16:creationId xmlns:a16="http://schemas.microsoft.com/office/drawing/2014/main" id="{C2420DBA-558C-C316-D4A0-34BDB8508280}"/>
                </a:ext>
              </a:extLst>
            </p:cNvPr>
            <p:cNvSpPr txBox="1"/>
            <p:nvPr/>
          </p:nvSpPr>
          <p:spPr>
            <a:xfrm>
              <a:off x="6048000" y="2520000"/>
              <a:ext cx="2880000" cy="360000"/>
            </a:xfrm>
            <a:prstGeom prst="rect">
              <a:avLst/>
            </a:prstGeom>
            <a:noFill/>
          </p:spPr>
          <p:txBody>
            <a:bodyPr wrap="none" rtlCol="0" anchor="ctr">
              <a:noAutofit/>
            </a:bodyPr>
            <a:lstStyle/>
            <a:p>
              <a:pPr>
                <a:spcBef>
                  <a:spcPts val="600"/>
                </a:spcBef>
              </a:pPr>
              <a:r>
                <a:rPr lang="ja-JP" altLang="en-US" sz="1600" b="1">
                  <a:latin typeface="游ゴシック" panose="020B0400000000000000" pitchFamily="50" charset="-128"/>
                  <a:ea typeface="游ゴシック" panose="020B0400000000000000" pitchFamily="50" charset="-128"/>
                </a:rPr>
                <a:t>体制</a:t>
              </a:r>
              <a:r>
                <a:rPr kumimoji="1" lang="ja-JP" altLang="en-US" sz="1600" b="1">
                  <a:latin typeface="游ゴシック" panose="020B0400000000000000" pitchFamily="50" charset="-128"/>
                  <a:ea typeface="游ゴシック" panose="020B0400000000000000" pitchFamily="50" charset="-128"/>
                </a:rPr>
                <a:t>管理</a:t>
              </a:r>
            </a:p>
          </p:txBody>
        </p:sp>
        <p:sp>
          <p:nvSpPr>
            <p:cNvPr id="103" name="テキスト ボックス 102">
              <a:extLst>
                <a:ext uri="{FF2B5EF4-FFF2-40B4-BE49-F238E27FC236}">
                  <a16:creationId xmlns:a16="http://schemas.microsoft.com/office/drawing/2014/main" id="{EDF4B9A0-6880-793A-B686-7EF208BF256C}"/>
                </a:ext>
              </a:extLst>
            </p:cNvPr>
            <p:cNvSpPr txBox="1"/>
            <p:nvPr/>
          </p:nvSpPr>
          <p:spPr>
            <a:xfrm>
              <a:off x="6048000" y="2952000"/>
              <a:ext cx="3130951" cy="720000"/>
            </a:xfrm>
            <a:prstGeom prst="rect">
              <a:avLst/>
            </a:prstGeom>
            <a:noFill/>
          </p:spPr>
          <p:txBody>
            <a:bodyPr wrap="square" rtlCol="0" anchor="t">
              <a:noAutofit/>
            </a:bodyPr>
            <a:lstStyle/>
            <a:p>
              <a:pPr>
                <a:spcBef>
                  <a:spcPts val="600"/>
                </a:spcBef>
              </a:pPr>
              <a:r>
                <a:rPr lang="ja-JP" altLang="en-US" sz="1600">
                  <a:latin typeface="游ゴシック" panose="020B0400000000000000" pitchFamily="50" charset="-128"/>
                  <a:ea typeface="游ゴシック" panose="020B0400000000000000" pitchFamily="50" charset="-128"/>
                </a:rPr>
                <a:t>プロジェクトの進行に必要な体制を構築・維持し、最適なパフォーマンスが発揮できるよう管理します。</a:t>
              </a:r>
              <a:endParaRPr lang="en-US" altLang="ja-JP" sz="1600">
                <a:latin typeface="游ゴシック" panose="020B0400000000000000" pitchFamily="50" charset="-128"/>
                <a:ea typeface="游ゴシック" panose="020B0400000000000000" pitchFamily="50" charset="-128"/>
              </a:endParaRPr>
            </a:p>
          </p:txBody>
        </p:sp>
      </p:grpSp>
      <p:grpSp>
        <p:nvGrpSpPr>
          <p:cNvPr id="21" name="グループ化 20">
            <a:extLst>
              <a:ext uri="{FF2B5EF4-FFF2-40B4-BE49-F238E27FC236}">
                <a16:creationId xmlns:a16="http://schemas.microsoft.com/office/drawing/2014/main" id="{79CBF339-F21E-CCD1-36A6-0BC2769C2B96}"/>
              </a:ext>
            </a:extLst>
          </p:cNvPr>
          <p:cNvGrpSpPr/>
          <p:nvPr/>
        </p:nvGrpSpPr>
        <p:grpSpPr>
          <a:xfrm>
            <a:off x="1076211" y="1889400"/>
            <a:ext cx="3466524" cy="1152000"/>
            <a:chOff x="216000" y="2520000"/>
            <a:chExt cx="2952000" cy="1152000"/>
          </a:xfrm>
        </p:grpSpPr>
        <p:sp>
          <p:nvSpPr>
            <p:cNvPr id="98" name="正方形/長方形 97">
              <a:extLst>
                <a:ext uri="{FF2B5EF4-FFF2-40B4-BE49-F238E27FC236}">
                  <a16:creationId xmlns:a16="http://schemas.microsoft.com/office/drawing/2014/main" id="{2A4721E1-0FAE-8760-D17F-6E5A50694754}"/>
                </a:ext>
              </a:extLst>
            </p:cNvPr>
            <p:cNvSpPr/>
            <p:nvPr/>
          </p:nvSpPr>
          <p:spPr>
            <a:xfrm>
              <a:off x="288000" y="2880000"/>
              <a:ext cx="2736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sz="1600"/>
            </a:p>
          </p:txBody>
        </p:sp>
        <p:sp>
          <p:nvSpPr>
            <p:cNvPr id="99" name="テキスト ボックス 98">
              <a:extLst>
                <a:ext uri="{FF2B5EF4-FFF2-40B4-BE49-F238E27FC236}">
                  <a16:creationId xmlns:a16="http://schemas.microsoft.com/office/drawing/2014/main" id="{DA10740E-5CB8-5779-119B-2CD378C9ADDE}"/>
                </a:ext>
              </a:extLst>
            </p:cNvPr>
            <p:cNvSpPr txBox="1"/>
            <p:nvPr/>
          </p:nvSpPr>
          <p:spPr>
            <a:xfrm>
              <a:off x="216000" y="2520000"/>
              <a:ext cx="2880000" cy="360000"/>
            </a:xfrm>
            <a:prstGeom prst="rect">
              <a:avLst/>
            </a:prstGeom>
            <a:noFill/>
          </p:spPr>
          <p:txBody>
            <a:bodyPr wrap="none" rtlCol="0" anchor="ctr">
              <a:noAutofit/>
            </a:bodyPr>
            <a:lstStyle/>
            <a:p>
              <a:pPr algn="r">
                <a:spcBef>
                  <a:spcPts val="600"/>
                </a:spcBef>
              </a:pPr>
              <a:r>
                <a:rPr kumimoji="1" lang="ja-JP" altLang="en-US" sz="1600" b="1">
                  <a:latin typeface="游ゴシック" panose="020B0400000000000000" pitchFamily="50" charset="-128"/>
                  <a:ea typeface="游ゴシック" panose="020B0400000000000000" pitchFamily="50" charset="-128"/>
                </a:rPr>
                <a:t>コミュニケーション管理</a:t>
              </a:r>
            </a:p>
          </p:txBody>
        </p:sp>
        <p:sp>
          <p:nvSpPr>
            <p:cNvPr id="100" name="テキスト ボックス 99">
              <a:extLst>
                <a:ext uri="{FF2B5EF4-FFF2-40B4-BE49-F238E27FC236}">
                  <a16:creationId xmlns:a16="http://schemas.microsoft.com/office/drawing/2014/main" id="{5A97B93A-E1BE-49F2-A1D7-06E7A6F9C320}"/>
                </a:ext>
              </a:extLst>
            </p:cNvPr>
            <p:cNvSpPr txBox="1"/>
            <p:nvPr/>
          </p:nvSpPr>
          <p:spPr>
            <a:xfrm>
              <a:off x="288000" y="2952000"/>
              <a:ext cx="2880000" cy="720000"/>
            </a:xfrm>
            <a:prstGeom prst="rect">
              <a:avLst/>
            </a:prstGeom>
            <a:noFill/>
          </p:spPr>
          <p:txBody>
            <a:bodyPr wrap="square" rtlCol="0" anchor="t">
              <a:noAutofit/>
            </a:bodyPr>
            <a:lstStyle/>
            <a:p>
              <a:r>
                <a:rPr kumimoji="1" lang="ja-JP" altLang="en-US" sz="1600">
                  <a:latin typeface="游ゴシック" panose="020B0400000000000000" pitchFamily="50" charset="-128"/>
                  <a:ea typeface="游ゴシック" panose="020B0400000000000000" pitchFamily="50" charset="-128"/>
                </a:rPr>
                <a:t>プロジェクトメンバーおよび貴社担当者とのコミュニケーションの管理を実施します。</a:t>
              </a:r>
              <a:endParaRPr kumimoji="1" lang="en-US" altLang="ja-JP" sz="1600">
                <a:latin typeface="游ゴシック" panose="020B0400000000000000" pitchFamily="50" charset="-128"/>
                <a:ea typeface="游ゴシック" panose="020B0400000000000000" pitchFamily="50" charset="-128"/>
              </a:endParaRPr>
            </a:p>
          </p:txBody>
        </p:sp>
      </p:grpSp>
      <p:grpSp>
        <p:nvGrpSpPr>
          <p:cNvPr id="22" name="グループ化 21">
            <a:extLst>
              <a:ext uri="{FF2B5EF4-FFF2-40B4-BE49-F238E27FC236}">
                <a16:creationId xmlns:a16="http://schemas.microsoft.com/office/drawing/2014/main" id="{FBE6AB8F-9839-B326-093F-51D3035E2B73}"/>
              </a:ext>
            </a:extLst>
          </p:cNvPr>
          <p:cNvGrpSpPr/>
          <p:nvPr/>
        </p:nvGrpSpPr>
        <p:grpSpPr>
          <a:xfrm>
            <a:off x="7434679" y="3113400"/>
            <a:ext cx="3381975" cy="1152000"/>
            <a:chOff x="6048000" y="3816000"/>
            <a:chExt cx="2880000" cy="1152000"/>
          </a:xfrm>
        </p:grpSpPr>
        <p:sp>
          <p:nvSpPr>
            <p:cNvPr id="95" name="正方形/長方形 94">
              <a:extLst>
                <a:ext uri="{FF2B5EF4-FFF2-40B4-BE49-F238E27FC236}">
                  <a16:creationId xmlns:a16="http://schemas.microsoft.com/office/drawing/2014/main" id="{458B4C97-F2AD-F313-9E0E-D50C2E970272}"/>
                </a:ext>
              </a:extLst>
            </p:cNvPr>
            <p:cNvSpPr/>
            <p:nvPr/>
          </p:nvSpPr>
          <p:spPr>
            <a:xfrm>
              <a:off x="6120000" y="4176000"/>
              <a:ext cx="2736000" cy="360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600"/>
            </a:p>
          </p:txBody>
        </p:sp>
        <p:sp>
          <p:nvSpPr>
            <p:cNvPr id="96" name="テキスト ボックス 95">
              <a:extLst>
                <a:ext uri="{FF2B5EF4-FFF2-40B4-BE49-F238E27FC236}">
                  <a16:creationId xmlns:a16="http://schemas.microsoft.com/office/drawing/2014/main" id="{5DE7C5DC-4753-FFC9-F610-CEA88EB7351A}"/>
                </a:ext>
              </a:extLst>
            </p:cNvPr>
            <p:cNvSpPr txBox="1"/>
            <p:nvPr/>
          </p:nvSpPr>
          <p:spPr>
            <a:xfrm>
              <a:off x="6048000" y="3816000"/>
              <a:ext cx="2880000" cy="360000"/>
            </a:xfrm>
            <a:prstGeom prst="rect">
              <a:avLst/>
            </a:prstGeom>
            <a:noFill/>
          </p:spPr>
          <p:txBody>
            <a:bodyPr wrap="none" rtlCol="0" anchor="ctr">
              <a:noAutofit/>
            </a:bodyPr>
            <a:lstStyle/>
            <a:p>
              <a:pPr>
                <a:spcBef>
                  <a:spcPts val="600"/>
                </a:spcBef>
              </a:pPr>
              <a:r>
                <a:rPr lang="ja-JP" altLang="en-US" sz="1600" b="1">
                  <a:latin typeface="游ゴシック" panose="020B0400000000000000" pitchFamily="50" charset="-128"/>
                  <a:ea typeface="游ゴシック" panose="020B0400000000000000" pitchFamily="50" charset="-128"/>
                </a:rPr>
                <a:t>リスク</a:t>
              </a:r>
              <a:r>
                <a:rPr kumimoji="1" lang="ja-JP" altLang="en-US" sz="1600" b="1">
                  <a:latin typeface="游ゴシック" panose="020B0400000000000000" pitchFamily="50" charset="-128"/>
                  <a:ea typeface="游ゴシック" panose="020B0400000000000000" pitchFamily="50" charset="-128"/>
                </a:rPr>
                <a:t>管理</a:t>
              </a:r>
            </a:p>
          </p:txBody>
        </p:sp>
        <p:sp>
          <p:nvSpPr>
            <p:cNvPr id="97" name="テキスト ボックス 96">
              <a:extLst>
                <a:ext uri="{FF2B5EF4-FFF2-40B4-BE49-F238E27FC236}">
                  <a16:creationId xmlns:a16="http://schemas.microsoft.com/office/drawing/2014/main" id="{154E5FA9-1A6F-5922-16F5-DA2CC4A474C5}"/>
                </a:ext>
              </a:extLst>
            </p:cNvPr>
            <p:cNvSpPr txBox="1"/>
            <p:nvPr/>
          </p:nvSpPr>
          <p:spPr>
            <a:xfrm>
              <a:off x="6048000" y="4248000"/>
              <a:ext cx="2880000" cy="720000"/>
            </a:xfrm>
            <a:prstGeom prst="rect">
              <a:avLst/>
            </a:prstGeom>
            <a:noFill/>
          </p:spPr>
          <p:txBody>
            <a:bodyPr wrap="square" rtlCol="0" anchor="t">
              <a:noAutofit/>
            </a:bodyPr>
            <a:lstStyle/>
            <a:p>
              <a:pPr>
                <a:spcBef>
                  <a:spcPts val="600"/>
                </a:spcBef>
              </a:pPr>
              <a:r>
                <a:rPr lang="ja-JP" altLang="en-US" sz="1600">
                  <a:latin typeface="游ゴシック" panose="020B0400000000000000" pitchFamily="50" charset="-128"/>
                  <a:ea typeface="游ゴシック" panose="020B0400000000000000" pitchFamily="50" charset="-128"/>
                </a:rPr>
                <a:t>リスクを特定し早期の対応を検討します。対策が必要なものはプロダクトバックログにて管理します。</a:t>
              </a:r>
              <a:endParaRPr lang="en-US" altLang="ja-JP" sz="1600">
                <a:latin typeface="游ゴシック" panose="020B0400000000000000" pitchFamily="50" charset="-128"/>
                <a:ea typeface="游ゴシック" panose="020B0400000000000000" pitchFamily="50" charset="-128"/>
              </a:endParaRPr>
            </a:p>
          </p:txBody>
        </p:sp>
      </p:grpSp>
      <p:grpSp>
        <p:nvGrpSpPr>
          <p:cNvPr id="23" name="グループ化 22">
            <a:extLst>
              <a:ext uri="{FF2B5EF4-FFF2-40B4-BE49-F238E27FC236}">
                <a16:creationId xmlns:a16="http://schemas.microsoft.com/office/drawing/2014/main" id="{139D305B-5A36-22BD-F311-300A5681D54C}"/>
              </a:ext>
            </a:extLst>
          </p:cNvPr>
          <p:cNvGrpSpPr/>
          <p:nvPr/>
        </p:nvGrpSpPr>
        <p:grpSpPr>
          <a:xfrm>
            <a:off x="7434679" y="4337400"/>
            <a:ext cx="3381975" cy="1152000"/>
            <a:chOff x="6048000" y="5112000"/>
            <a:chExt cx="2880000" cy="1152000"/>
          </a:xfrm>
        </p:grpSpPr>
        <p:sp>
          <p:nvSpPr>
            <p:cNvPr id="92" name="正方形/長方形 91">
              <a:extLst>
                <a:ext uri="{FF2B5EF4-FFF2-40B4-BE49-F238E27FC236}">
                  <a16:creationId xmlns:a16="http://schemas.microsoft.com/office/drawing/2014/main" id="{8313B0AD-F7EB-DA6E-6BD4-7E3B0915C70A}"/>
                </a:ext>
              </a:extLst>
            </p:cNvPr>
            <p:cNvSpPr/>
            <p:nvPr/>
          </p:nvSpPr>
          <p:spPr>
            <a:xfrm>
              <a:off x="6120000" y="5472000"/>
              <a:ext cx="2736000" cy="36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600"/>
            </a:p>
          </p:txBody>
        </p:sp>
        <p:sp>
          <p:nvSpPr>
            <p:cNvPr id="93" name="テキスト ボックス 92">
              <a:extLst>
                <a:ext uri="{FF2B5EF4-FFF2-40B4-BE49-F238E27FC236}">
                  <a16:creationId xmlns:a16="http://schemas.microsoft.com/office/drawing/2014/main" id="{24CEDFFB-16ED-87C5-3B34-B634C278E7CF}"/>
                </a:ext>
              </a:extLst>
            </p:cNvPr>
            <p:cNvSpPr txBox="1"/>
            <p:nvPr/>
          </p:nvSpPr>
          <p:spPr>
            <a:xfrm>
              <a:off x="6048000" y="5112000"/>
              <a:ext cx="2880000" cy="360000"/>
            </a:xfrm>
            <a:prstGeom prst="rect">
              <a:avLst/>
            </a:prstGeom>
            <a:noFill/>
          </p:spPr>
          <p:txBody>
            <a:bodyPr wrap="none" rtlCol="0" anchor="ctr">
              <a:noAutofit/>
            </a:bodyPr>
            <a:lstStyle/>
            <a:p>
              <a:pPr>
                <a:spcBef>
                  <a:spcPts val="600"/>
                </a:spcBef>
              </a:pPr>
              <a:r>
                <a:rPr lang="ja-JP" altLang="en-US" sz="1600" b="1">
                  <a:latin typeface="游ゴシック" panose="020B0400000000000000" pitchFamily="50" charset="-128"/>
                  <a:ea typeface="游ゴシック" panose="020B0400000000000000" pitchFamily="50" charset="-128"/>
                </a:rPr>
                <a:t>変更</a:t>
              </a:r>
              <a:r>
                <a:rPr kumimoji="1" lang="ja-JP" altLang="en-US" sz="1600" b="1">
                  <a:latin typeface="游ゴシック" panose="020B0400000000000000" pitchFamily="50" charset="-128"/>
                  <a:ea typeface="游ゴシック" panose="020B0400000000000000" pitchFamily="50" charset="-128"/>
                </a:rPr>
                <a:t>管理</a:t>
              </a:r>
            </a:p>
          </p:txBody>
        </p:sp>
        <p:sp>
          <p:nvSpPr>
            <p:cNvPr id="94" name="テキスト ボックス 93">
              <a:extLst>
                <a:ext uri="{FF2B5EF4-FFF2-40B4-BE49-F238E27FC236}">
                  <a16:creationId xmlns:a16="http://schemas.microsoft.com/office/drawing/2014/main" id="{20385628-87E6-4120-D050-A4EC893EB72A}"/>
                </a:ext>
              </a:extLst>
            </p:cNvPr>
            <p:cNvSpPr txBox="1"/>
            <p:nvPr/>
          </p:nvSpPr>
          <p:spPr>
            <a:xfrm>
              <a:off x="6048000" y="5544000"/>
              <a:ext cx="2880000" cy="720000"/>
            </a:xfrm>
            <a:prstGeom prst="rect">
              <a:avLst/>
            </a:prstGeom>
            <a:noFill/>
          </p:spPr>
          <p:txBody>
            <a:bodyPr wrap="square" rtlCol="0" anchor="t">
              <a:noAutofit/>
            </a:bodyPr>
            <a:lstStyle/>
            <a:p>
              <a:pPr>
                <a:spcBef>
                  <a:spcPts val="600"/>
                </a:spcBef>
              </a:pPr>
              <a:r>
                <a:rPr kumimoji="1" lang="ja-JP" altLang="en-US" sz="1600">
                  <a:solidFill>
                    <a:schemeClr val="tx1"/>
                  </a:solidFill>
                  <a:latin typeface="游ゴシック" panose="020B0400000000000000" pitchFamily="50" charset="-128"/>
                  <a:ea typeface="游ゴシック" panose="020B0400000000000000" pitchFamily="50" charset="-128"/>
                </a:rPr>
                <a:t>発生した変更に対し、影響度を分析し、対応の優先順位を決定します。変更はプロダクトバックログにて管理します。</a:t>
              </a:r>
              <a:endParaRPr kumimoji="1" lang="en-US" altLang="ja-JP" sz="1600">
                <a:latin typeface="游ゴシック" panose="020B0400000000000000" pitchFamily="50" charset="-128"/>
                <a:ea typeface="游ゴシック" panose="020B0400000000000000" pitchFamily="50" charset="-128"/>
              </a:endParaRPr>
            </a:p>
          </p:txBody>
        </p:sp>
      </p:grpSp>
      <p:grpSp>
        <p:nvGrpSpPr>
          <p:cNvPr id="24" name="グループ化 23">
            <a:extLst>
              <a:ext uri="{FF2B5EF4-FFF2-40B4-BE49-F238E27FC236}">
                <a16:creationId xmlns:a16="http://schemas.microsoft.com/office/drawing/2014/main" id="{FAE71009-8440-2775-123C-0079B00AEAF4}"/>
              </a:ext>
            </a:extLst>
          </p:cNvPr>
          <p:cNvGrpSpPr/>
          <p:nvPr/>
        </p:nvGrpSpPr>
        <p:grpSpPr>
          <a:xfrm>
            <a:off x="1076211" y="3113400"/>
            <a:ext cx="3466524" cy="1152000"/>
            <a:chOff x="216000" y="3816000"/>
            <a:chExt cx="2952000" cy="1152000"/>
          </a:xfrm>
        </p:grpSpPr>
        <p:sp>
          <p:nvSpPr>
            <p:cNvPr id="69" name="正方形/長方形 68">
              <a:extLst>
                <a:ext uri="{FF2B5EF4-FFF2-40B4-BE49-F238E27FC236}">
                  <a16:creationId xmlns:a16="http://schemas.microsoft.com/office/drawing/2014/main" id="{BB80855B-A8B5-0281-1E10-3DBB601C5547}"/>
                </a:ext>
              </a:extLst>
            </p:cNvPr>
            <p:cNvSpPr/>
            <p:nvPr/>
          </p:nvSpPr>
          <p:spPr>
            <a:xfrm>
              <a:off x="288000" y="4176000"/>
              <a:ext cx="2736000" cy="36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sz="1600"/>
            </a:p>
          </p:txBody>
        </p:sp>
        <p:sp>
          <p:nvSpPr>
            <p:cNvPr id="90" name="テキスト ボックス 89">
              <a:extLst>
                <a:ext uri="{FF2B5EF4-FFF2-40B4-BE49-F238E27FC236}">
                  <a16:creationId xmlns:a16="http://schemas.microsoft.com/office/drawing/2014/main" id="{4A912649-443B-1D20-AEBD-911D4F264E17}"/>
                </a:ext>
              </a:extLst>
            </p:cNvPr>
            <p:cNvSpPr txBox="1"/>
            <p:nvPr/>
          </p:nvSpPr>
          <p:spPr>
            <a:xfrm>
              <a:off x="216000" y="3816000"/>
              <a:ext cx="2880000" cy="360000"/>
            </a:xfrm>
            <a:prstGeom prst="rect">
              <a:avLst/>
            </a:prstGeom>
            <a:noFill/>
          </p:spPr>
          <p:txBody>
            <a:bodyPr wrap="none" rtlCol="0" anchor="ctr">
              <a:noAutofit/>
            </a:bodyPr>
            <a:lstStyle/>
            <a:p>
              <a:pPr algn="r">
                <a:spcBef>
                  <a:spcPts val="600"/>
                </a:spcBef>
              </a:pPr>
              <a:r>
                <a:rPr lang="ja-JP" altLang="en-US" sz="1600" b="1">
                  <a:latin typeface="游ゴシック" panose="020B0400000000000000" pitchFamily="50" charset="-128"/>
                  <a:ea typeface="游ゴシック" panose="020B0400000000000000" pitchFamily="50" charset="-128"/>
                </a:rPr>
                <a:t>作業</a:t>
              </a:r>
              <a:r>
                <a:rPr kumimoji="1" lang="ja-JP" altLang="en-US" sz="1600" b="1">
                  <a:latin typeface="游ゴシック" panose="020B0400000000000000" pitchFamily="50" charset="-128"/>
                  <a:ea typeface="游ゴシック" panose="020B0400000000000000" pitchFamily="50" charset="-128"/>
                </a:rPr>
                <a:t>管理</a:t>
              </a:r>
            </a:p>
          </p:txBody>
        </p:sp>
        <p:sp>
          <p:nvSpPr>
            <p:cNvPr id="91" name="テキスト ボックス 90">
              <a:extLst>
                <a:ext uri="{FF2B5EF4-FFF2-40B4-BE49-F238E27FC236}">
                  <a16:creationId xmlns:a16="http://schemas.microsoft.com/office/drawing/2014/main" id="{EDD74AC4-B933-FD61-3566-68CFC8C38ADE}"/>
                </a:ext>
              </a:extLst>
            </p:cNvPr>
            <p:cNvSpPr txBox="1"/>
            <p:nvPr/>
          </p:nvSpPr>
          <p:spPr>
            <a:xfrm>
              <a:off x="288000" y="4248000"/>
              <a:ext cx="2880000" cy="720000"/>
            </a:xfrm>
            <a:prstGeom prst="rect">
              <a:avLst/>
            </a:prstGeom>
            <a:noFill/>
          </p:spPr>
          <p:txBody>
            <a:bodyPr wrap="square" rtlCol="0" anchor="t">
              <a:noAutofit/>
            </a:bodyPr>
            <a:lstStyle/>
            <a:p>
              <a:r>
                <a:rPr lang="ja-JP" altLang="en-US" sz="1600">
                  <a:latin typeface="游ゴシック" panose="020B0400000000000000" pitchFamily="50" charset="-128"/>
                  <a:ea typeface="游ゴシック" panose="020B0400000000000000" pitchFamily="50" charset="-128"/>
                </a:rPr>
                <a:t>スクラム開発のルールに従いプロダクトバックログを活用した進捗管理及び実績の評価を行います。</a:t>
              </a:r>
              <a:endParaRPr lang="en-US" altLang="ja-JP" sz="1600">
                <a:latin typeface="游ゴシック" panose="020B0400000000000000" pitchFamily="50" charset="-128"/>
                <a:ea typeface="游ゴシック" panose="020B0400000000000000" pitchFamily="50" charset="-128"/>
              </a:endParaRPr>
            </a:p>
          </p:txBody>
        </p:sp>
      </p:grpSp>
      <p:grpSp>
        <p:nvGrpSpPr>
          <p:cNvPr id="25" name="グループ化 24">
            <a:extLst>
              <a:ext uri="{FF2B5EF4-FFF2-40B4-BE49-F238E27FC236}">
                <a16:creationId xmlns:a16="http://schemas.microsoft.com/office/drawing/2014/main" id="{22DA1C35-3F15-683E-F1B5-1EC3A95F1EA1}"/>
              </a:ext>
            </a:extLst>
          </p:cNvPr>
          <p:cNvGrpSpPr/>
          <p:nvPr/>
        </p:nvGrpSpPr>
        <p:grpSpPr>
          <a:xfrm>
            <a:off x="1076211" y="4337400"/>
            <a:ext cx="3466524" cy="1152000"/>
            <a:chOff x="216000" y="5112000"/>
            <a:chExt cx="2952000" cy="1152000"/>
          </a:xfrm>
        </p:grpSpPr>
        <p:sp>
          <p:nvSpPr>
            <p:cNvPr id="35" name="正方形/長方形 34">
              <a:extLst>
                <a:ext uri="{FF2B5EF4-FFF2-40B4-BE49-F238E27FC236}">
                  <a16:creationId xmlns:a16="http://schemas.microsoft.com/office/drawing/2014/main" id="{419FDEE8-5F16-52F5-E233-7EDDAD66D704}"/>
                </a:ext>
              </a:extLst>
            </p:cNvPr>
            <p:cNvSpPr/>
            <p:nvPr/>
          </p:nvSpPr>
          <p:spPr>
            <a:xfrm>
              <a:off x="288000" y="5472000"/>
              <a:ext cx="2736000" cy="36000"/>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sz="1600"/>
            </a:p>
          </p:txBody>
        </p:sp>
        <p:sp>
          <p:nvSpPr>
            <p:cNvPr id="36" name="テキスト ボックス 35">
              <a:extLst>
                <a:ext uri="{FF2B5EF4-FFF2-40B4-BE49-F238E27FC236}">
                  <a16:creationId xmlns:a16="http://schemas.microsoft.com/office/drawing/2014/main" id="{42ECDA30-EB32-DA70-7C1C-0C4F81E3D004}"/>
                </a:ext>
              </a:extLst>
            </p:cNvPr>
            <p:cNvSpPr txBox="1"/>
            <p:nvPr/>
          </p:nvSpPr>
          <p:spPr>
            <a:xfrm>
              <a:off x="216000" y="5112000"/>
              <a:ext cx="2880000" cy="360000"/>
            </a:xfrm>
            <a:prstGeom prst="rect">
              <a:avLst/>
            </a:prstGeom>
            <a:noFill/>
          </p:spPr>
          <p:txBody>
            <a:bodyPr wrap="none" rtlCol="0" anchor="ctr">
              <a:noAutofit/>
            </a:bodyPr>
            <a:lstStyle/>
            <a:p>
              <a:pPr algn="r">
                <a:spcBef>
                  <a:spcPts val="600"/>
                </a:spcBef>
              </a:pPr>
              <a:r>
                <a:rPr lang="ja-JP" altLang="en-US" sz="1600" b="1">
                  <a:latin typeface="游ゴシック" panose="020B0400000000000000" pitchFamily="50" charset="-128"/>
                  <a:ea typeface="游ゴシック" panose="020B0400000000000000" pitchFamily="50" charset="-128"/>
                </a:rPr>
                <a:t>課題</a:t>
              </a:r>
              <a:r>
                <a:rPr kumimoji="1" lang="ja-JP" altLang="en-US" sz="1600" b="1">
                  <a:latin typeface="游ゴシック" panose="020B0400000000000000" pitchFamily="50" charset="-128"/>
                  <a:ea typeface="游ゴシック" panose="020B0400000000000000" pitchFamily="50" charset="-128"/>
                </a:rPr>
                <a:t>管理</a:t>
              </a:r>
            </a:p>
          </p:txBody>
        </p:sp>
        <p:sp>
          <p:nvSpPr>
            <p:cNvPr id="37" name="テキスト ボックス 36">
              <a:extLst>
                <a:ext uri="{FF2B5EF4-FFF2-40B4-BE49-F238E27FC236}">
                  <a16:creationId xmlns:a16="http://schemas.microsoft.com/office/drawing/2014/main" id="{F753B2C5-76AD-6BC1-641F-894AE2E02BA9}"/>
                </a:ext>
              </a:extLst>
            </p:cNvPr>
            <p:cNvSpPr txBox="1"/>
            <p:nvPr/>
          </p:nvSpPr>
          <p:spPr>
            <a:xfrm>
              <a:off x="288000" y="5544000"/>
              <a:ext cx="2880000" cy="720000"/>
            </a:xfrm>
            <a:prstGeom prst="rect">
              <a:avLst/>
            </a:prstGeom>
            <a:noFill/>
          </p:spPr>
          <p:txBody>
            <a:bodyPr wrap="square" rtlCol="0" anchor="t">
              <a:noAutofit/>
            </a:bodyPr>
            <a:lstStyle/>
            <a:p>
              <a:pPr>
                <a:spcBef>
                  <a:spcPts val="600"/>
                </a:spcBef>
              </a:pPr>
              <a:r>
                <a:rPr kumimoji="1" lang="ja-JP" altLang="en-US" sz="1600">
                  <a:latin typeface="游ゴシック" panose="020B0400000000000000" pitchFamily="50" charset="-128"/>
                  <a:ea typeface="游ゴシック" panose="020B0400000000000000" pitchFamily="50" charset="-128"/>
                </a:rPr>
                <a:t>顕在化した課題を解決に向けた取り組みを管理します。課題はプロダクトバックログにて管理します。</a:t>
              </a:r>
            </a:p>
          </p:txBody>
        </p:sp>
      </p:grpSp>
      <p:cxnSp>
        <p:nvCxnSpPr>
          <p:cNvPr id="26" name="直線コネクタ 25">
            <a:extLst>
              <a:ext uri="{FF2B5EF4-FFF2-40B4-BE49-F238E27FC236}">
                <a16:creationId xmlns:a16="http://schemas.microsoft.com/office/drawing/2014/main" id="{8AEAA4E1-3F59-919E-FEFD-152B16EC8024}"/>
              </a:ext>
            </a:extLst>
          </p:cNvPr>
          <p:cNvCxnSpPr>
            <a:cxnSpLocks/>
            <a:stCxn id="12" idx="1"/>
          </p:cNvCxnSpPr>
          <p:nvPr/>
        </p:nvCxnSpPr>
        <p:spPr>
          <a:xfrm flipH="1" flipV="1">
            <a:off x="4410680" y="2267400"/>
            <a:ext cx="823032" cy="26563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61AB23D6-AB06-CF35-2118-D2E0C2EAAB8D}"/>
              </a:ext>
            </a:extLst>
          </p:cNvPr>
          <p:cNvCxnSpPr>
            <a:cxnSpLocks/>
            <a:stCxn id="15" idx="2"/>
          </p:cNvCxnSpPr>
          <p:nvPr/>
        </p:nvCxnSpPr>
        <p:spPr>
          <a:xfrm flipH="1" flipV="1">
            <a:off x="4410680" y="3491400"/>
            <a:ext cx="323400" cy="180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71E6FE63-6558-1BCD-CEFF-7FED7D894A99}"/>
              </a:ext>
            </a:extLst>
          </p:cNvPr>
          <p:cNvCxnSpPr>
            <a:cxnSpLocks/>
            <a:stCxn id="16" idx="2"/>
          </p:cNvCxnSpPr>
          <p:nvPr/>
        </p:nvCxnSpPr>
        <p:spPr>
          <a:xfrm flipH="1">
            <a:off x="4410680" y="4409400"/>
            <a:ext cx="791400" cy="30600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B0067B09-0861-B7FD-A921-450D5A4AE340}"/>
              </a:ext>
            </a:extLst>
          </p:cNvPr>
          <p:cNvCxnSpPr>
            <a:cxnSpLocks/>
            <a:stCxn id="14" idx="6"/>
            <a:endCxn id="95" idx="1"/>
          </p:cNvCxnSpPr>
          <p:nvPr/>
        </p:nvCxnSpPr>
        <p:spPr>
          <a:xfrm flipV="1">
            <a:off x="7182080" y="3491400"/>
            <a:ext cx="337148" cy="1800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FAF6EC99-FB94-F535-87F3-006A4742696F}"/>
              </a:ext>
            </a:extLst>
          </p:cNvPr>
          <p:cNvCxnSpPr>
            <a:cxnSpLocks/>
            <a:stCxn id="17" idx="6"/>
            <a:endCxn id="92" idx="1"/>
          </p:cNvCxnSpPr>
          <p:nvPr/>
        </p:nvCxnSpPr>
        <p:spPr>
          <a:xfrm>
            <a:off x="6714080" y="4409400"/>
            <a:ext cx="805148" cy="30600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744621F6-B5AA-058D-3759-8F1F6A610531}"/>
              </a:ext>
            </a:extLst>
          </p:cNvPr>
          <p:cNvCxnSpPr>
            <a:cxnSpLocks/>
            <a:stCxn id="13" idx="7"/>
            <a:endCxn id="101" idx="1"/>
          </p:cNvCxnSpPr>
          <p:nvPr/>
        </p:nvCxnSpPr>
        <p:spPr>
          <a:xfrm flipV="1">
            <a:off x="6682448" y="2267400"/>
            <a:ext cx="836780" cy="26563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2" name="グループ化 31">
            <a:extLst>
              <a:ext uri="{FF2B5EF4-FFF2-40B4-BE49-F238E27FC236}">
                <a16:creationId xmlns:a16="http://schemas.microsoft.com/office/drawing/2014/main" id="{247FEDE1-8F23-921B-B815-5B6AD5DAE497}"/>
              </a:ext>
            </a:extLst>
          </p:cNvPr>
          <p:cNvGrpSpPr/>
          <p:nvPr/>
        </p:nvGrpSpPr>
        <p:grpSpPr>
          <a:xfrm>
            <a:off x="5490680" y="3905400"/>
            <a:ext cx="936000" cy="1152000"/>
            <a:chOff x="4104000" y="5220000"/>
            <a:chExt cx="936000" cy="1152000"/>
          </a:xfrm>
        </p:grpSpPr>
        <p:pic>
          <p:nvPicPr>
            <p:cNvPr id="33" name="グラフィックス 32" descr="リスト 枠線">
              <a:extLst>
                <a:ext uri="{FF2B5EF4-FFF2-40B4-BE49-F238E27FC236}">
                  <a16:creationId xmlns:a16="http://schemas.microsoft.com/office/drawing/2014/main" id="{B1247DDE-D274-B9B0-27B6-6679656F7F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4800" y="5220000"/>
              <a:ext cx="914400" cy="914400"/>
            </a:xfrm>
            <a:prstGeom prst="rect">
              <a:avLst/>
            </a:prstGeom>
          </p:spPr>
        </p:pic>
        <p:sp>
          <p:nvSpPr>
            <p:cNvPr id="34" name="テキスト ボックス 33">
              <a:extLst>
                <a:ext uri="{FF2B5EF4-FFF2-40B4-BE49-F238E27FC236}">
                  <a16:creationId xmlns:a16="http://schemas.microsoft.com/office/drawing/2014/main" id="{87682F65-1C9F-9DF2-00DB-0270F83685FE}"/>
                </a:ext>
              </a:extLst>
            </p:cNvPr>
            <p:cNvSpPr txBox="1"/>
            <p:nvPr/>
          </p:nvSpPr>
          <p:spPr>
            <a:xfrm>
              <a:off x="4104000" y="6084000"/>
              <a:ext cx="936000" cy="288000"/>
            </a:xfrm>
            <a:prstGeom prst="rect">
              <a:avLst/>
            </a:prstGeom>
            <a:noFill/>
          </p:spPr>
          <p:txBody>
            <a:bodyPr wrap="none" rtlCol="0">
              <a:noAutofit/>
            </a:bodyPr>
            <a:lstStyle/>
            <a:p>
              <a:pPr algn="ctr">
                <a:spcBef>
                  <a:spcPts val="0"/>
                </a:spcBef>
              </a:pPr>
              <a:r>
                <a:rPr lang="ja-JP" altLang="en-US" sz="1600" b="1">
                  <a:latin typeface="游ゴシック" panose="020B0400000000000000" pitchFamily="50" charset="-128"/>
                  <a:ea typeface="游ゴシック" panose="020B0400000000000000" pitchFamily="50" charset="-128"/>
                  <a:cs typeface="Times New Roman" panose="02020603050405020304" pitchFamily="18" charset="0"/>
                </a:rPr>
                <a:t>プロダクト</a:t>
              </a:r>
              <a:r>
                <a:rPr kumimoji="1" lang="ja-JP" altLang="en-US" sz="1600" b="1" kern="1200">
                  <a:effectLst/>
                  <a:latin typeface="游ゴシック" panose="020B0400000000000000" pitchFamily="50" charset="-128"/>
                  <a:ea typeface="游ゴシック" panose="020B0400000000000000" pitchFamily="50" charset="-128"/>
                  <a:cs typeface="Times New Roman" panose="02020603050405020304" pitchFamily="18" charset="0"/>
                </a:rPr>
                <a:t>バックログ</a:t>
              </a:r>
              <a:endParaRPr kumimoji="1" lang="en-US" altLang="ja-JP" sz="1600" b="1" kern="120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grpSp>
      <p:sp>
        <p:nvSpPr>
          <p:cNvPr id="105" name="テキスト ボックス 104">
            <a:extLst>
              <a:ext uri="{FF2B5EF4-FFF2-40B4-BE49-F238E27FC236}">
                <a16:creationId xmlns:a16="http://schemas.microsoft.com/office/drawing/2014/main" id="{F3AE9C45-3A8F-0D90-90BE-D3AD5D4B1F0C}"/>
              </a:ext>
            </a:extLst>
          </p:cNvPr>
          <p:cNvSpPr txBox="1"/>
          <p:nvPr/>
        </p:nvSpPr>
        <p:spPr>
          <a:xfrm>
            <a:off x="576000" y="883200"/>
            <a:ext cx="11041199" cy="612000"/>
          </a:xfrm>
          <a:prstGeom prst="rect">
            <a:avLst/>
          </a:prstGeom>
          <a:noFill/>
        </p:spPr>
        <p:txBody>
          <a:bodyPr wrap="square" tIns="144000" rtlCol="0">
            <a:noAutofit/>
          </a:bodyPr>
          <a:lstStyle/>
          <a:p>
            <a:pPr latinLnBrk="1">
              <a:spcBef>
                <a:spcPts val="600"/>
              </a:spcBef>
            </a:pPr>
            <a:r>
              <a:rPr lang="ja-JP" altLang="en-US" sz="1600">
                <a:latin typeface="游ゴシック" panose="020B0400000000000000" pitchFamily="50" charset="-128"/>
                <a:ea typeface="游ゴシック" panose="020B0400000000000000" pitchFamily="50" charset="-128"/>
                <a:cs typeface="Times New Roman" panose="02020603050405020304" pitchFamily="18" charset="0"/>
              </a:rPr>
              <a:t>下記の</a:t>
            </a:r>
            <a:r>
              <a:rPr lang="en-US" altLang="ja-JP" sz="1600">
                <a:latin typeface="游ゴシック" panose="020B0400000000000000" pitchFamily="50" charset="-128"/>
                <a:ea typeface="游ゴシック" panose="020B0400000000000000" pitchFamily="50" charset="-128"/>
                <a:cs typeface="Times New Roman" panose="02020603050405020304" pitchFamily="18" charset="0"/>
              </a:rPr>
              <a:t>6</a:t>
            </a:r>
            <a:r>
              <a:rPr lang="ja-JP" altLang="en-US" sz="1600">
                <a:latin typeface="游ゴシック" panose="020B0400000000000000" pitchFamily="50" charset="-128"/>
                <a:ea typeface="游ゴシック" panose="020B0400000000000000" pitchFamily="50" charset="-128"/>
                <a:cs typeface="Times New Roman" panose="02020603050405020304" pitchFamily="18" charset="0"/>
              </a:rPr>
              <a:t>つの管理項目については、重要と認識しており、プロダクトバックログを中心とした管理を行ってまいります。</a:t>
            </a:r>
          </a:p>
        </p:txBody>
      </p:sp>
    </p:spTree>
    <p:extLst>
      <p:ext uri="{BB962C8B-B14F-4D97-AF65-F5344CB8AC3E}">
        <p14:creationId xmlns:p14="http://schemas.microsoft.com/office/powerpoint/2010/main" val="1862625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E94B2-750B-DCB3-ED81-94BC56D013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C567DD-8BD0-F488-D6CD-1CE9DA3C7FFB}"/>
              </a:ext>
            </a:extLst>
          </p:cNvPr>
          <p:cNvSpPr>
            <a:spLocks noGrp="1"/>
          </p:cNvSpPr>
          <p:nvPr>
            <p:ph type="title"/>
          </p:nvPr>
        </p:nvSpPr>
        <p:spPr/>
        <p:txBody>
          <a:bodyPr/>
          <a:lstStyle/>
          <a:p>
            <a:r>
              <a:rPr lang="en-US" altLang="ja-JP" dirty="0"/>
              <a:t>4</a:t>
            </a:r>
            <a:r>
              <a:rPr kumimoji="1" lang="en-US" altLang="ja-JP" dirty="0"/>
              <a:t>-3</a:t>
            </a:r>
            <a:r>
              <a:rPr kumimoji="1" lang="ja-JP" altLang="en-US" dirty="0"/>
              <a:t>．スケジュール</a:t>
            </a:r>
            <a:r>
              <a:rPr lang="ja-JP" altLang="en-US" dirty="0"/>
              <a:t>案</a:t>
            </a:r>
            <a:r>
              <a:rPr lang="en-US" altLang="ja-JP" dirty="0"/>
              <a:t>(</a:t>
            </a:r>
            <a:r>
              <a:rPr lang="ja-JP" altLang="en-US" dirty="0"/>
              <a:t>アジャイル開発の場合</a:t>
            </a:r>
            <a:r>
              <a:rPr lang="en-US" altLang="ja-JP" dirty="0"/>
              <a:t>)</a:t>
            </a:r>
            <a:endParaRPr kumimoji="1" lang="ja-JP" altLang="en-US" dirty="0"/>
          </a:p>
        </p:txBody>
      </p:sp>
      <p:sp>
        <p:nvSpPr>
          <p:cNvPr id="4" name="フッター プレースホルダー 3">
            <a:extLst>
              <a:ext uri="{FF2B5EF4-FFF2-40B4-BE49-F238E27FC236}">
                <a16:creationId xmlns:a16="http://schemas.microsoft.com/office/drawing/2014/main" id="{09E47BEB-6DE3-1E91-78F6-3D1298B98788}"/>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C90A2D68-36CE-4097-EF6D-96A9089D9991}"/>
              </a:ext>
            </a:extLst>
          </p:cNvPr>
          <p:cNvGraphicFramePr>
            <a:graphicFrameLocks noGrp="1"/>
          </p:cNvGraphicFramePr>
          <p:nvPr/>
        </p:nvGraphicFramePr>
        <p:xfrm>
          <a:off x="576000" y="914403"/>
          <a:ext cx="11301962" cy="5328000"/>
        </p:xfrm>
        <a:graphic>
          <a:graphicData uri="http://schemas.openxmlformats.org/drawingml/2006/table">
            <a:tbl>
              <a:tblPr firstRow="1" bandRow="1">
                <a:tableStyleId>{2D5ABB26-0587-4C30-8999-92F81FD0307C}</a:tableStyleId>
              </a:tblPr>
              <a:tblGrid>
                <a:gridCol w="1059906">
                  <a:extLst>
                    <a:ext uri="{9D8B030D-6E8A-4147-A177-3AD203B41FA5}">
                      <a16:colId xmlns:a16="http://schemas.microsoft.com/office/drawing/2014/main" val="390000680"/>
                    </a:ext>
                  </a:extLst>
                </a:gridCol>
                <a:gridCol w="465548">
                  <a:extLst>
                    <a:ext uri="{9D8B030D-6E8A-4147-A177-3AD203B41FA5}">
                      <a16:colId xmlns:a16="http://schemas.microsoft.com/office/drawing/2014/main" val="2810377369"/>
                    </a:ext>
                  </a:extLst>
                </a:gridCol>
                <a:gridCol w="465548">
                  <a:extLst>
                    <a:ext uri="{9D8B030D-6E8A-4147-A177-3AD203B41FA5}">
                      <a16:colId xmlns:a16="http://schemas.microsoft.com/office/drawing/2014/main" val="1394774728"/>
                    </a:ext>
                  </a:extLst>
                </a:gridCol>
                <a:gridCol w="465548">
                  <a:extLst>
                    <a:ext uri="{9D8B030D-6E8A-4147-A177-3AD203B41FA5}">
                      <a16:colId xmlns:a16="http://schemas.microsoft.com/office/drawing/2014/main" val="534760887"/>
                    </a:ext>
                  </a:extLst>
                </a:gridCol>
                <a:gridCol w="465548">
                  <a:extLst>
                    <a:ext uri="{9D8B030D-6E8A-4147-A177-3AD203B41FA5}">
                      <a16:colId xmlns:a16="http://schemas.microsoft.com/office/drawing/2014/main" val="491088751"/>
                    </a:ext>
                  </a:extLst>
                </a:gridCol>
                <a:gridCol w="465548">
                  <a:extLst>
                    <a:ext uri="{9D8B030D-6E8A-4147-A177-3AD203B41FA5}">
                      <a16:colId xmlns:a16="http://schemas.microsoft.com/office/drawing/2014/main" val="814744698"/>
                    </a:ext>
                  </a:extLst>
                </a:gridCol>
                <a:gridCol w="465548">
                  <a:extLst>
                    <a:ext uri="{9D8B030D-6E8A-4147-A177-3AD203B41FA5}">
                      <a16:colId xmlns:a16="http://schemas.microsoft.com/office/drawing/2014/main" val="611941371"/>
                    </a:ext>
                  </a:extLst>
                </a:gridCol>
                <a:gridCol w="465548">
                  <a:extLst>
                    <a:ext uri="{9D8B030D-6E8A-4147-A177-3AD203B41FA5}">
                      <a16:colId xmlns:a16="http://schemas.microsoft.com/office/drawing/2014/main" val="1302714029"/>
                    </a:ext>
                  </a:extLst>
                </a:gridCol>
                <a:gridCol w="465548">
                  <a:extLst>
                    <a:ext uri="{9D8B030D-6E8A-4147-A177-3AD203B41FA5}">
                      <a16:colId xmlns:a16="http://schemas.microsoft.com/office/drawing/2014/main" val="4050933131"/>
                    </a:ext>
                  </a:extLst>
                </a:gridCol>
                <a:gridCol w="465548">
                  <a:extLst>
                    <a:ext uri="{9D8B030D-6E8A-4147-A177-3AD203B41FA5}">
                      <a16:colId xmlns:a16="http://schemas.microsoft.com/office/drawing/2014/main" val="4066967415"/>
                    </a:ext>
                  </a:extLst>
                </a:gridCol>
                <a:gridCol w="465548">
                  <a:extLst>
                    <a:ext uri="{9D8B030D-6E8A-4147-A177-3AD203B41FA5}">
                      <a16:colId xmlns:a16="http://schemas.microsoft.com/office/drawing/2014/main" val="2818331606"/>
                    </a:ext>
                  </a:extLst>
                </a:gridCol>
                <a:gridCol w="465548">
                  <a:extLst>
                    <a:ext uri="{9D8B030D-6E8A-4147-A177-3AD203B41FA5}">
                      <a16:colId xmlns:a16="http://schemas.microsoft.com/office/drawing/2014/main" val="4146179240"/>
                    </a:ext>
                  </a:extLst>
                </a:gridCol>
                <a:gridCol w="465548">
                  <a:extLst>
                    <a:ext uri="{9D8B030D-6E8A-4147-A177-3AD203B41FA5}">
                      <a16:colId xmlns:a16="http://schemas.microsoft.com/office/drawing/2014/main" val="728973432"/>
                    </a:ext>
                  </a:extLst>
                </a:gridCol>
                <a:gridCol w="465548">
                  <a:extLst>
                    <a:ext uri="{9D8B030D-6E8A-4147-A177-3AD203B41FA5}">
                      <a16:colId xmlns:a16="http://schemas.microsoft.com/office/drawing/2014/main" val="3881238287"/>
                    </a:ext>
                  </a:extLst>
                </a:gridCol>
                <a:gridCol w="465548">
                  <a:extLst>
                    <a:ext uri="{9D8B030D-6E8A-4147-A177-3AD203B41FA5}">
                      <a16:colId xmlns:a16="http://schemas.microsoft.com/office/drawing/2014/main" val="277738048"/>
                    </a:ext>
                  </a:extLst>
                </a:gridCol>
                <a:gridCol w="465548">
                  <a:extLst>
                    <a:ext uri="{9D8B030D-6E8A-4147-A177-3AD203B41FA5}">
                      <a16:colId xmlns:a16="http://schemas.microsoft.com/office/drawing/2014/main" val="2245800188"/>
                    </a:ext>
                  </a:extLst>
                </a:gridCol>
                <a:gridCol w="465548">
                  <a:extLst>
                    <a:ext uri="{9D8B030D-6E8A-4147-A177-3AD203B41FA5}">
                      <a16:colId xmlns:a16="http://schemas.microsoft.com/office/drawing/2014/main" val="3364924607"/>
                    </a:ext>
                  </a:extLst>
                </a:gridCol>
                <a:gridCol w="465548">
                  <a:extLst>
                    <a:ext uri="{9D8B030D-6E8A-4147-A177-3AD203B41FA5}">
                      <a16:colId xmlns:a16="http://schemas.microsoft.com/office/drawing/2014/main" val="1162656261"/>
                    </a:ext>
                  </a:extLst>
                </a:gridCol>
                <a:gridCol w="465548">
                  <a:extLst>
                    <a:ext uri="{9D8B030D-6E8A-4147-A177-3AD203B41FA5}">
                      <a16:colId xmlns:a16="http://schemas.microsoft.com/office/drawing/2014/main" val="4018854686"/>
                    </a:ext>
                  </a:extLst>
                </a:gridCol>
                <a:gridCol w="465548">
                  <a:extLst>
                    <a:ext uri="{9D8B030D-6E8A-4147-A177-3AD203B41FA5}">
                      <a16:colId xmlns:a16="http://schemas.microsoft.com/office/drawing/2014/main" val="884114068"/>
                    </a:ext>
                  </a:extLst>
                </a:gridCol>
                <a:gridCol w="465548">
                  <a:extLst>
                    <a:ext uri="{9D8B030D-6E8A-4147-A177-3AD203B41FA5}">
                      <a16:colId xmlns:a16="http://schemas.microsoft.com/office/drawing/2014/main" val="3069356078"/>
                    </a:ext>
                  </a:extLst>
                </a:gridCol>
                <a:gridCol w="465548">
                  <a:extLst>
                    <a:ext uri="{9D8B030D-6E8A-4147-A177-3AD203B41FA5}">
                      <a16:colId xmlns:a16="http://schemas.microsoft.com/office/drawing/2014/main" val="4199843941"/>
                    </a:ext>
                  </a:extLst>
                </a:gridCol>
                <a:gridCol w="465548">
                  <a:extLst>
                    <a:ext uri="{9D8B030D-6E8A-4147-A177-3AD203B41FA5}">
                      <a16:colId xmlns:a16="http://schemas.microsoft.com/office/drawing/2014/main" val="743787249"/>
                    </a:ext>
                  </a:extLst>
                </a:gridCol>
              </a:tblGrid>
              <a:tr h="360000">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2">
                  <a:txBody>
                    <a:bodyPr/>
                    <a:lstStyle/>
                    <a:p>
                      <a:pPr algn="ctr"/>
                      <a:r>
                        <a:rPr lang="en-US" altLang="ja-JP" sz="1600" b="1">
                          <a:solidFill>
                            <a:schemeClr val="bg1"/>
                          </a:solidFill>
                          <a:latin typeface="+mn-ea"/>
                          <a:ea typeface="+mn-ea"/>
                        </a:rPr>
                        <a:t>2025 - 2026</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0000">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11</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12</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1</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2</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3</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4</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5</a:t>
                      </a: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6</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7</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8</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9</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648000">
                <a:tc>
                  <a:txBody>
                    <a:bodyPr/>
                    <a:lstStyle/>
                    <a:p>
                      <a:r>
                        <a:rPr kumimoji="1" lang="ja-JP" altLang="en-US" sz="120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1080000">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80000">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900000">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aphicFrame>
        <p:nvGraphicFramePr>
          <p:cNvPr id="6" name="表 5">
            <a:extLst>
              <a:ext uri="{FF2B5EF4-FFF2-40B4-BE49-F238E27FC236}">
                <a16:creationId xmlns:a16="http://schemas.microsoft.com/office/drawing/2014/main" id="{F067E1ED-9A02-8D34-2005-2EAE57AAD577}"/>
              </a:ext>
            </a:extLst>
          </p:cNvPr>
          <p:cNvGraphicFramePr>
            <a:graphicFrameLocks noGrp="1"/>
          </p:cNvGraphicFramePr>
          <p:nvPr/>
        </p:nvGraphicFramePr>
        <p:xfrm>
          <a:off x="2577259" y="4250714"/>
          <a:ext cx="1388669" cy="648000"/>
        </p:xfrm>
        <a:graphic>
          <a:graphicData uri="http://schemas.openxmlformats.org/drawingml/2006/table">
            <a:tbl>
              <a:tblPr firstRow="1" bandRow="1">
                <a:tableStyleId>{2D5ABB26-0587-4C30-8999-92F81FD0307C}</a:tableStyleId>
              </a:tblPr>
              <a:tblGrid>
                <a:gridCol w="1388669">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スクラム</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準備</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A12486EE-0F13-CAE5-7F37-1CF76D3F02F5}"/>
              </a:ext>
            </a:extLst>
          </p:cNvPr>
          <p:cNvSpPr txBox="1"/>
          <p:nvPr/>
        </p:nvSpPr>
        <p:spPr>
          <a:xfrm>
            <a:off x="2545055" y="1772587"/>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44" name="直線矢印コネクタ 43">
            <a:extLst>
              <a:ext uri="{FF2B5EF4-FFF2-40B4-BE49-F238E27FC236}">
                <a16:creationId xmlns:a16="http://schemas.microsoft.com/office/drawing/2014/main" id="{9EA82B88-891D-6CC7-9C70-CEDE7617D49B}"/>
              </a:ext>
            </a:extLst>
          </p:cNvPr>
          <p:cNvCxnSpPr>
            <a:cxnSpLocks/>
          </p:cNvCxnSpPr>
          <p:nvPr/>
        </p:nvCxnSpPr>
        <p:spPr>
          <a:xfrm flipV="1">
            <a:off x="2671088" y="2101868"/>
            <a:ext cx="3555893" cy="1147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 name="矢印: 五方向 12">
            <a:extLst>
              <a:ext uri="{FF2B5EF4-FFF2-40B4-BE49-F238E27FC236}">
                <a16:creationId xmlns:a16="http://schemas.microsoft.com/office/drawing/2014/main" id="{BAD16578-D3C7-7FAA-A3E8-0D9E7014F017}"/>
              </a:ext>
            </a:extLst>
          </p:cNvPr>
          <p:cNvSpPr/>
          <p:nvPr/>
        </p:nvSpPr>
        <p:spPr>
          <a:xfrm>
            <a:off x="3965928" y="3378652"/>
            <a:ext cx="4162072" cy="72788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スクラムフェーズ</a:t>
            </a:r>
            <a:endParaRPr kumimoji="1" lang="en-US" altLang="ja-JP" sz="1400">
              <a:solidFill>
                <a:schemeClr val="tx1">
                  <a:lumMod val="75000"/>
                  <a:lumOff val="25000"/>
                </a:schemeClr>
              </a:solidFill>
            </a:endParaRPr>
          </a:p>
          <a:p>
            <a:pPr algn="ctr"/>
            <a:r>
              <a:rPr kumimoji="1" lang="en-US" altLang="ja-JP" sz="1400">
                <a:solidFill>
                  <a:schemeClr val="tx1">
                    <a:lumMod val="75000"/>
                    <a:lumOff val="25000"/>
                  </a:schemeClr>
                </a:solidFill>
              </a:rPr>
              <a:t>1</a:t>
            </a:r>
            <a:r>
              <a:rPr kumimoji="1" lang="ja-JP" altLang="en-US" sz="1400">
                <a:solidFill>
                  <a:schemeClr val="tx1">
                    <a:lumMod val="75000"/>
                    <a:lumOff val="25000"/>
                  </a:schemeClr>
                </a:solidFill>
              </a:rPr>
              <a:t>月～</a:t>
            </a:r>
            <a:r>
              <a:rPr kumimoji="1" lang="en-US" altLang="ja-JP" sz="1400">
                <a:solidFill>
                  <a:schemeClr val="tx1">
                    <a:lumMod val="75000"/>
                    <a:lumOff val="25000"/>
                  </a:schemeClr>
                </a:solidFill>
              </a:rPr>
              <a:t>3</a:t>
            </a:r>
            <a:r>
              <a:rPr kumimoji="1" lang="ja-JP" altLang="en-US" sz="1400">
                <a:solidFill>
                  <a:schemeClr val="tx1">
                    <a:lumMod val="75000"/>
                    <a:lumOff val="25000"/>
                  </a:schemeClr>
                </a:solidFill>
              </a:rPr>
              <a:t>月：初期構想構築</a:t>
            </a:r>
            <a:endParaRPr kumimoji="1" lang="en-US" altLang="ja-JP" sz="1400">
              <a:solidFill>
                <a:schemeClr val="tx1">
                  <a:lumMod val="75000"/>
                  <a:lumOff val="25000"/>
                </a:schemeClr>
              </a:solidFill>
            </a:endParaRPr>
          </a:p>
          <a:p>
            <a:pPr algn="ctr"/>
            <a:r>
              <a:rPr kumimoji="1" lang="en-US" altLang="ja-JP" sz="1400">
                <a:solidFill>
                  <a:schemeClr val="tx1">
                    <a:lumMod val="75000"/>
                    <a:lumOff val="25000"/>
                  </a:schemeClr>
                </a:solidFill>
              </a:rPr>
              <a:t>4</a:t>
            </a:r>
            <a:r>
              <a:rPr kumimoji="1" lang="ja-JP" altLang="en-US" sz="1400">
                <a:solidFill>
                  <a:schemeClr val="tx1">
                    <a:lumMod val="75000"/>
                    <a:lumOff val="25000"/>
                  </a:schemeClr>
                </a:solidFill>
              </a:rPr>
              <a:t>月～</a:t>
            </a:r>
            <a:r>
              <a:rPr kumimoji="1" lang="en-US" altLang="ja-JP" sz="1400">
                <a:solidFill>
                  <a:schemeClr val="tx1">
                    <a:lumMod val="75000"/>
                    <a:lumOff val="25000"/>
                  </a:schemeClr>
                </a:solidFill>
              </a:rPr>
              <a:t>5</a:t>
            </a:r>
            <a:r>
              <a:rPr kumimoji="1" lang="ja-JP" altLang="en-US" sz="1400">
                <a:solidFill>
                  <a:schemeClr val="tx1">
                    <a:lumMod val="75000"/>
                    <a:lumOff val="25000"/>
                  </a:schemeClr>
                </a:solidFill>
              </a:rPr>
              <a:t>月：</a:t>
            </a:r>
            <a:r>
              <a:rPr kumimoji="1" lang="en-US" altLang="ja-JP" sz="1400">
                <a:solidFill>
                  <a:schemeClr val="tx1">
                    <a:lumMod val="75000"/>
                    <a:lumOff val="25000"/>
                  </a:schemeClr>
                </a:solidFill>
              </a:rPr>
              <a:t>FB</a:t>
            </a:r>
            <a:r>
              <a:rPr kumimoji="1" lang="ja-JP" altLang="en-US" sz="1400">
                <a:solidFill>
                  <a:schemeClr val="tx1">
                    <a:lumMod val="75000"/>
                    <a:lumOff val="25000"/>
                  </a:schemeClr>
                </a:solidFill>
              </a:rPr>
              <a:t>対応</a:t>
            </a:r>
          </a:p>
        </p:txBody>
      </p:sp>
      <p:sp>
        <p:nvSpPr>
          <p:cNvPr id="20" name="矢印: 五方向 19">
            <a:extLst>
              <a:ext uri="{FF2B5EF4-FFF2-40B4-BE49-F238E27FC236}">
                <a16:creationId xmlns:a16="http://schemas.microsoft.com/office/drawing/2014/main" id="{5C344557-A1D0-8DBF-5DAE-8269E680D62E}"/>
              </a:ext>
            </a:extLst>
          </p:cNvPr>
          <p:cNvSpPr/>
          <p:nvPr/>
        </p:nvSpPr>
        <p:spPr>
          <a:xfrm>
            <a:off x="8168986" y="3378652"/>
            <a:ext cx="1843960" cy="72788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導入フェーズ</a:t>
            </a:r>
          </a:p>
        </p:txBody>
      </p:sp>
      <p:sp>
        <p:nvSpPr>
          <p:cNvPr id="22" name="スライド番号プレースホルダー 3">
            <a:extLst>
              <a:ext uri="{FF2B5EF4-FFF2-40B4-BE49-F238E27FC236}">
                <a16:creationId xmlns:a16="http://schemas.microsoft.com/office/drawing/2014/main" id="{E7C247B9-20BC-5472-070A-3E4C5109437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25</a:t>
            </a:fld>
            <a:endParaRPr kumimoji="1" lang="ja-JP" altLang="en-US" sz="700"/>
          </a:p>
        </p:txBody>
      </p:sp>
      <p:sp>
        <p:nvSpPr>
          <p:cNvPr id="5" name="矢印: 五方向 4">
            <a:extLst>
              <a:ext uri="{FF2B5EF4-FFF2-40B4-BE49-F238E27FC236}">
                <a16:creationId xmlns:a16="http://schemas.microsoft.com/office/drawing/2014/main" id="{E801C941-7B35-1CC5-D55D-809A7277B4D0}"/>
              </a:ext>
            </a:extLst>
          </p:cNvPr>
          <p:cNvSpPr/>
          <p:nvPr/>
        </p:nvSpPr>
        <p:spPr>
          <a:xfrm>
            <a:off x="2577259" y="3378652"/>
            <a:ext cx="1384558" cy="752252"/>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tx1">
                    <a:lumMod val="75000"/>
                    <a:lumOff val="25000"/>
                  </a:schemeClr>
                </a:solidFill>
              </a:rPr>
              <a:t>準備フェーズ</a:t>
            </a:r>
            <a:endParaRPr kumimoji="1" lang="en-US" altLang="ja-JP" sz="1200">
              <a:solidFill>
                <a:schemeClr val="tx1">
                  <a:lumMod val="75000"/>
                  <a:lumOff val="25000"/>
                </a:schemeClr>
              </a:solidFill>
            </a:endParaRPr>
          </a:p>
        </p:txBody>
      </p:sp>
      <p:sp>
        <p:nvSpPr>
          <p:cNvPr id="31" name="テキスト ボックス 30">
            <a:extLst>
              <a:ext uri="{FF2B5EF4-FFF2-40B4-BE49-F238E27FC236}">
                <a16:creationId xmlns:a16="http://schemas.microsoft.com/office/drawing/2014/main" id="{C56D6C75-16AC-0944-9CB3-E26ED5161B3B}"/>
              </a:ext>
            </a:extLst>
          </p:cNvPr>
          <p:cNvSpPr txBox="1"/>
          <p:nvPr/>
        </p:nvSpPr>
        <p:spPr>
          <a:xfrm>
            <a:off x="2388298" y="2306897"/>
            <a:ext cx="1151277"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★キックオフ</a:t>
            </a:r>
            <a:endParaRPr kumimoji="1" lang="en-US" altLang="ja-JP" sz="1100">
              <a:latin typeface="游ゴシック" panose="020B0400000000000000" pitchFamily="50" charset="-128"/>
              <a:ea typeface="游ゴシック" panose="020B0400000000000000" pitchFamily="50" charset="-128"/>
            </a:endParaRPr>
          </a:p>
        </p:txBody>
      </p:sp>
      <p:sp>
        <p:nvSpPr>
          <p:cNvPr id="32" name="テキスト ボックス 31">
            <a:extLst>
              <a:ext uri="{FF2B5EF4-FFF2-40B4-BE49-F238E27FC236}">
                <a16:creationId xmlns:a16="http://schemas.microsoft.com/office/drawing/2014/main" id="{7C0D8377-87C3-EDE6-A85A-3DF7EDF56A7E}"/>
              </a:ext>
            </a:extLst>
          </p:cNvPr>
          <p:cNvSpPr txBox="1"/>
          <p:nvPr/>
        </p:nvSpPr>
        <p:spPr>
          <a:xfrm>
            <a:off x="8753225" y="2766423"/>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a:t>
            </a:r>
            <a:endParaRPr kumimoji="1" lang="en-US" altLang="ja-JP" sz="1100">
              <a:latin typeface="游ゴシック" panose="020B0400000000000000" pitchFamily="50" charset="-128"/>
              <a:ea typeface="游ゴシック" panose="020B0400000000000000" pitchFamily="50" charset="-128"/>
            </a:endParaRPr>
          </a:p>
        </p:txBody>
      </p:sp>
      <p:sp>
        <p:nvSpPr>
          <p:cNvPr id="34" name="テキスト ボックス 33">
            <a:extLst>
              <a:ext uri="{FF2B5EF4-FFF2-40B4-BE49-F238E27FC236}">
                <a16:creationId xmlns:a16="http://schemas.microsoft.com/office/drawing/2014/main" id="{D14941AD-BE61-0C43-72BA-5BC26E050A5E}"/>
              </a:ext>
            </a:extLst>
          </p:cNvPr>
          <p:cNvSpPr txBox="1"/>
          <p:nvPr/>
        </p:nvSpPr>
        <p:spPr>
          <a:xfrm>
            <a:off x="3298910" y="2518999"/>
            <a:ext cx="2555508"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★プロダクトバックログ作成</a:t>
            </a:r>
            <a:r>
              <a:rPr kumimoji="1" lang="en-US" altLang="ja-JP" sz="1200">
                <a:latin typeface="游ゴシック" panose="020B0400000000000000" pitchFamily="50" charset="-128"/>
                <a:ea typeface="游ゴシック" panose="020B0400000000000000" pitchFamily="50" charset="-128"/>
              </a:rPr>
              <a:t>Ver1</a:t>
            </a:r>
            <a:endParaRPr kumimoji="1" lang="en-US" altLang="ja-JP" sz="1100">
              <a:latin typeface="游ゴシック" panose="020B0400000000000000" pitchFamily="50" charset="-128"/>
              <a:ea typeface="游ゴシック" panose="020B0400000000000000" pitchFamily="50" charset="-128"/>
            </a:endParaRPr>
          </a:p>
        </p:txBody>
      </p:sp>
      <p:sp>
        <p:nvSpPr>
          <p:cNvPr id="38" name="テキスト ボックス 37">
            <a:extLst>
              <a:ext uri="{FF2B5EF4-FFF2-40B4-BE49-F238E27FC236}">
                <a16:creationId xmlns:a16="http://schemas.microsoft.com/office/drawing/2014/main" id="{37C3E0B4-C04D-F0E8-C286-761F1A769CCD}"/>
              </a:ext>
            </a:extLst>
          </p:cNvPr>
          <p:cNvSpPr txBox="1"/>
          <p:nvPr/>
        </p:nvSpPr>
        <p:spPr>
          <a:xfrm>
            <a:off x="9931678" y="3185009"/>
            <a:ext cx="1459054"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▲保守・運用開始</a:t>
            </a:r>
            <a:endParaRPr kumimoji="1" lang="en-US" altLang="ja-JP" sz="1100">
              <a:latin typeface="游ゴシック" panose="020B0400000000000000" pitchFamily="50" charset="-128"/>
              <a:ea typeface="游ゴシック" panose="020B0400000000000000" pitchFamily="50" charset="-128"/>
            </a:endParaRPr>
          </a:p>
        </p:txBody>
      </p:sp>
      <p:sp>
        <p:nvSpPr>
          <p:cNvPr id="43" name="テキスト ボックス 42">
            <a:extLst>
              <a:ext uri="{FF2B5EF4-FFF2-40B4-BE49-F238E27FC236}">
                <a16:creationId xmlns:a16="http://schemas.microsoft.com/office/drawing/2014/main" id="{B4D105E2-C4D3-B4C7-D0B5-63232E5335D1}"/>
              </a:ext>
            </a:extLst>
          </p:cNvPr>
          <p:cNvSpPr txBox="1"/>
          <p:nvPr/>
        </p:nvSpPr>
        <p:spPr>
          <a:xfrm>
            <a:off x="1745085" y="2980213"/>
            <a:ext cx="1503938"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a:t>
            </a:r>
            <a:r>
              <a:rPr kumimoji="1" lang="en-US" altLang="ja-JP" sz="1200">
                <a:solidFill>
                  <a:srgbClr val="008000"/>
                </a:solidFill>
                <a:latin typeface="游ゴシック" panose="020B0400000000000000" pitchFamily="50" charset="-128"/>
                <a:ea typeface="游ゴシック" panose="020B0400000000000000" pitchFamily="50" charset="-128"/>
              </a:rPr>
              <a:t>3Q+4Q</a:t>
            </a:r>
            <a:r>
              <a:rPr kumimoji="1" lang="ja-JP" altLang="en-US" sz="1200">
                <a:solidFill>
                  <a:srgbClr val="008000"/>
                </a:solidFill>
                <a:latin typeface="游ゴシック" panose="020B0400000000000000" pitchFamily="50" charset="-128"/>
                <a:ea typeface="游ゴシック" panose="020B0400000000000000" pitchFamily="50" charset="-128"/>
              </a:rPr>
              <a:t>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5" name="テキスト ボックス 44">
            <a:extLst>
              <a:ext uri="{FF2B5EF4-FFF2-40B4-BE49-F238E27FC236}">
                <a16:creationId xmlns:a16="http://schemas.microsoft.com/office/drawing/2014/main" id="{31243B81-67F9-80AD-1E5A-5D9D9DCE266E}"/>
              </a:ext>
            </a:extLst>
          </p:cNvPr>
          <p:cNvSpPr txBox="1"/>
          <p:nvPr/>
        </p:nvSpPr>
        <p:spPr>
          <a:xfrm>
            <a:off x="9314009" y="3021676"/>
            <a:ext cx="1305165"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▲保守契約締結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graphicFrame>
        <p:nvGraphicFramePr>
          <p:cNvPr id="35" name="表 34">
            <a:extLst>
              <a:ext uri="{FF2B5EF4-FFF2-40B4-BE49-F238E27FC236}">
                <a16:creationId xmlns:a16="http://schemas.microsoft.com/office/drawing/2014/main" id="{2AA4C0B6-0777-59BD-A452-C9ECDF51B1B0}"/>
              </a:ext>
            </a:extLst>
          </p:cNvPr>
          <p:cNvGraphicFramePr>
            <a:graphicFrameLocks noGrp="1"/>
          </p:cNvGraphicFramePr>
          <p:nvPr/>
        </p:nvGraphicFramePr>
        <p:xfrm>
          <a:off x="2546090" y="5452686"/>
          <a:ext cx="1425546" cy="648000"/>
        </p:xfrm>
        <a:graphic>
          <a:graphicData uri="http://schemas.openxmlformats.org/drawingml/2006/table">
            <a:tbl>
              <a:tblPr firstRow="1" bandRow="1">
                <a:tableStyleId>{2D5ABB26-0587-4C30-8999-92F81FD0307C}</a:tableStyleId>
              </a:tblPr>
              <a:tblGrid>
                <a:gridCol w="1425546">
                  <a:extLst>
                    <a:ext uri="{9D8B030D-6E8A-4147-A177-3AD203B41FA5}">
                      <a16:colId xmlns:a16="http://schemas.microsoft.com/office/drawing/2014/main" val="2823374101"/>
                    </a:ext>
                  </a:extLst>
                </a:gridCol>
              </a:tblGrid>
              <a:tr h="648000">
                <a:tc>
                  <a:txBody>
                    <a:bodyPr/>
                    <a:lstStyle/>
                    <a:p>
                      <a:pPr algn="ctr"/>
                      <a:r>
                        <a:rPr kumimoji="1" lang="en-US" altLang="ja-JP" sz="1100" b="0" dirty="0">
                          <a:solidFill>
                            <a:schemeClr val="tx1"/>
                          </a:solidFill>
                          <a:latin typeface="+mn-ea"/>
                          <a:ea typeface="+mn-ea"/>
                        </a:rPr>
                        <a:t>Azure</a:t>
                      </a:r>
                    </a:p>
                    <a:p>
                      <a:pPr algn="ctr"/>
                      <a:r>
                        <a:rPr kumimoji="1" lang="ja-JP" altLang="en-US" sz="1100" b="0" dirty="0">
                          <a:solidFill>
                            <a:schemeClr val="tx1"/>
                          </a:solidFill>
                          <a:latin typeface="+mn-ea"/>
                          <a:ea typeface="+mn-ea"/>
                        </a:rPr>
                        <a:t>環境構築</a:t>
                      </a:r>
                      <a:endParaRPr kumimoji="1" lang="en-US" altLang="ja-JP" sz="1100" b="0" dirty="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10" name="表 9">
            <a:extLst>
              <a:ext uri="{FF2B5EF4-FFF2-40B4-BE49-F238E27FC236}">
                <a16:creationId xmlns:a16="http://schemas.microsoft.com/office/drawing/2014/main" id="{3A519B30-EFCA-D98E-3B24-787C2C41285A}"/>
              </a:ext>
            </a:extLst>
          </p:cNvPr>
          <p:cNvGraphicFramePr>
            <a:graphicFrameLocks noGrp="1"/>
          </p:cNvGraphicFramePr>
          <p:nvPr/>
        </p:nvGraphicFramePr>
        <p:xfrm>
          <a:off x="3971636"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SP1</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3" name="表 22">
            <a:extLst>
              <a:ext uri="{FF2B5EF4-FFF2-40B4-BE49-F238E27FC236}">
                <a16:creationId xmlns:a16="http://schemas.microsoft.com/office/drawing/2014/main" id="{A91643AB-3066-B29C-534F-5F561C498562}"/>
              </a:ext>
            </a:extLst>
          </p:cNvPr>
          <p:cNvGraphicFramePr>
            <a:graphicFrameLocks noGrp="1"/>
          </p:cNvGraphicFramePr>
          <p:nvPr/>
        </p:nvGraphicFramePr>
        <p:xfrm>
          <a:off x="4441279"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SP2</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5" name="表 24">
            <a:extLst>
              <a:ext uri="{FF2B5EF4-FFF2-40B4-BE49-F238E27FC236}">
                <a16:creationId xmlns:a16="http://schemas.microsoft.com/office/drawing/2014/main" id="{C7273CC2-6FDB-B3DD-A7C9-330708B3C1DD}"/>
              </a:ext>
            </a:extLst>
          </p:cNvPr>
          <p:cNvGraphicFramePr>
            <a:graphicFrameLocks noGrp="1"/>
          </p:cNvGraphicFramePr>
          <p:nvPr/>
        </p:nvGraphicFramePr>
        <p:xfrm>
          <a:off x="4913027"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SP3</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6" name="表 25">
            <a:extLst>
              <a:ext uri="{FF2B5EF4-FFF2-40B4-BE49-F238E27FC236}">
                <a16:creationId xmlns:a16="http://schemas.microsoft.com/office/drawing/2014/main" id="{0EC44CDD-3C3C-0365-575E-558D8D5036D3}"/>
              </a:ext>
            </a:extLst>
          </p:cNvPr>
          <p:cNvGraphicFramePr>
            <a:graphicFrameLocks noGrp="1"/>
          </p:cNvGraphicFramePr>
          <p:nvPr/>
        </p:nvGraphicFramePr>
        <p:xfrm>
          <a:off x="5382670"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SP4</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7" name="表 26">
            <a:extLst>
              <a:ext uri="{FF2B5EF4-FFF2-40B4-BE49-F238E27FC236}">
                <a16:creationId xmlns:a16="http://schemas.microsoft.com/office/drawing/2014/main" id="{88869B04-DCEC-3FF8-2999-C810045B0BD6}"/>
              </a:ext>
            </a:extLst>
          </p:cNvPr>
          <p:cNvGraphicFramePr>
            <a:graphicFrameLocks noGrp="1"/>
          </p:cNvGraphicFramePr>
          <p:nvPr/>
        </p:nvGraphicFramePr>
        <p:xfrm>
          <a:off x="5860126"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SP5</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8" name="表 27">
            <a:extLst>
              <a:ext uri="{FF2B5EF4-FFF2-40B4-BE49-F238E27FC236}">
                <a16:creationId xmlns:a16="http://schemas.microsoft.com/office/drawing/2014/main" id="{3F973AB9-1B27-5B2D-D9E4-7694613A3C41}"/>
              </a:ext>
            </a:extLst>
          </p:cNvPr>
          <p:cNvGraphicFramePr>
            <a:graphicFrameLocks noGrp="1"/>
          </p:cNvGraphicFramePr>
          <p:nvPr/>
        </p:nvGraphicFramePr>
        <p:xfrm>
          <a:off x="6324061"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SP6</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29" name="表 28">
            <a:extLst>
              <a:ext uri="{FF2B5EF4-FFF2-40B4-BE49-F238E27FC236}">
                <a16:creationId xmlns:a16="http://schemas.microsoft.com/office/drawing/2014/main" id="{A774C651-5F85-E53E-443D-47E3B23CFBF2}"/>
              </a:ext>
            </a:extLst>
          </p:cNvPr>
          <p:cNvGraphicFramePr>
            <a:graphicFrameLocks noGrp="1"/>
          </p:cNvGraphicFramePr>
          <p:nvPr/>
        </p:nvGraphicFramePr>
        <p:xfrm>
          <a:off x="6793704"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SP7</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36" name="表 35">
            <a:extLst>
              <a:ext uri="{FF2B5EF4-FFF2-40B4-BE49-F238E27FC236}">
                <a16:creationId xmlns:a16="http://schemas.microsoft.com/office/drawing/2014/main" id="{5C919EE2-6D0A-0A66-EC12-6F2F91725483}"/>
              </a:ext>
            </a:extLst>
          </p:cNvPr>
          <p:cNvGraphicFramePr>
            <a:graphicFrameLocks noGrp="1"/>
          </p:cNvGraphicFramePr>
          <p:nvPr/>
        </p:nvGraphicFramePr>
        <p:xfrm>
          <a:off x="7265452"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SP8</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8" name="表 47">
            <a:extLst>
              <a:ext uri="{FF2B5EF4-FFF2-40B4-BE49-F238E27FC236}">
                <a16:creationId xmlns:a16="http://schemas.microsoft.com/office/drawing/2014/main" id="{F15CA198-0222-B8F8-78C3-545EAEF744C2}"/>
              </a:ext>
            </a:extLst>
          </p:cNvPr>
          <p:cNvGraphicFramePr>
            <a:graphicFrameLocks noGrp="1"/>
          </p:cNvGraphicFramePr>
          <p:nvPr/>
        </p:nvGraphicFramePr>
        <p:xfrm>
          <a:off x="7697238" y="4250714"/>
          <a:ext cx="471748" cy="648000"/>
        </p:xfrm>
        <a:graphic>
          <a:graphicData uri="http://schemas.openxmlformats.org/drawingml/2006/table">
            <a:tbl>
              <a:tblPr firstRow="1" bandRow="1">
                <a:tableStyleId>{2D5ABB26-0587-4C30-8999-92F81FD0307C}</a:tableStyleId>
              </a:tblPr>
              <a:tblGrid>
                <a:gridCol w="471748">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SP9</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51" name="表 50">
            <a:extLst>
              <a:ext uri="{FF2B5EF4-FFF2-40B4-BE49-F238E27FC236}">
                <a16:creationId xmlns:a16="http://schemas.microsoft.com/office/drawing/2014/main" id="{66A44387-066A-39EA-0D85-D0DE4788A0B0}"/>
              </a:ext>
            </a:extLst>
          </p:cNvPr>
          <p:cNvGraphicFramePr>
            <a:graphicFrameLocks noGrp="1"/>
          </p:cNvGraphicFramePr>
          <p:nvPr/>
        </p:nvGraphicFramePr>
        <p:xfrm>
          <a:off x="8161708" y="4250714"/>
          <a:ext cx="1851237" cy="648000"/>
        </p:xfrm>
        <a:graphic>
          <a:graphicData uri="http://schemas.openxmlformats.org/drawingml/2006/table">
            <a:tbl>
              <a:tblPr firstRow="1" bandRow="1">
                <a:tableStyleId>{2D5ABB26-0587-4C30-8999-92F81FD0307C}</a:tableStyleId>
              </a:tblPr>
              <a:tblGrid>
                <a:gridCol w="1851237">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保守準備</a:t>
                      </a:r>
                      <a:r>
                        <a:rPr kumimoji="1" lang="en-US" altLang="ja-JP" sz="1100" b="0">
                          <a:solidFill>
                            <a:schemeClr val="tx1"/>
                          </a:solidFill>
                          <a:latin typeface="+mn-ea"/>
                          <a:ea typeface="+mn-ea"/>
                        </a:rPr>
                        <a:t>(</a:t>
                      </a:r>
                      <a:r>
                        <a:rPr kumimoji="1" lang="ja-JP" altLang="en-US" sz="1100" b="0">
                          <a:solidFill>
                            <a:schemeClr val="tx1"/>
                          </a:solidFill>
                          <a:latin typeface="+mn-ea"/>
                          <a:ea typeface="+mn-ea"/>
                        </a:rPr>
                        <a:t>ﾄﾞｷｭﾒﾝﾄ整備</a:t>
                      </a:r>
                      <a:r>
                        <a:rPr kumimoji="1" lang="en-US" altLang="ja-JP" sz="1100" b="0">
                          <a:solidFill>
                            <a:schemeClr val="tx1"/>
                          </a:solidFill>
                          <a:latin typeface="+mn-ea"/>
                          <a:ea typeface="+mn-ea"/>
                        </a:rPr>
                        <a:t>)</a:t>
                      </a:r>
                    </a:p>
                    <a:p>
                      <a:pPr algn="ctr"/>
                      <a:r>
                        <a:rPr kumimoji="1" lang="ja-JP" altLang="en-US" sz="1100" b="0">
                          <a:solidFill>
                            <a:schemeClr val="tx1"/>
                          </a:solidFill>
                          <a:latin typeface="+mn-ea"/>
                          <a:ea typeface="+mn-ea"/>
                        </a:rPr>
                        <a:t>リリース準備</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53" name="表 52">
            <a:extLst>
              <a:ext uri="{FF2B5EF4-FFF2-40B4-BE49-F238E27FC236}">
                <a16:creationId xmlns:a16="http://schemas.microsoft.com/office/drawing/2014/main" id="{47596194-E42B-7EBF-791B-8F64D2866C98}"/>
              </a:ext>
            </a:extLst>
          </p:cNvPr>
          <p:cNvGraphicFramePr>
            <a:graphicFrameLocks noGrp="1"/>
          </p:cNvGraphicFramePr>
          <p:nvPr/>
        </p:nvGraphicFramePr>
        <p:xfrm>
          <a:off x="8161709" y="4933852"/>
          <a:ext cx="1370218" cy="338134"/>
        </p:xfrm>
        <a:graphic>
          <a:graphicData uri="http://schemas.openxmlformats.org/drawingml/2006/table">
            <a:tbl>
              <a:tblPr firstRow="1" bandRow="1">
                <a:tableStyleId>{2D5ABB26-0587-4C30-8999-92F81FD0307C}</a:tableStyleId>
              </a:tblPr>
              <a:tblGrid>
                <a:gridCol w="1370218">
                  <a:extLst>
                    <a:ext uri="{9D8B030D-6E8A-4147-A177-3AD203B41FA5}">
                      <a16:colId xmlns:a16="http://schemas.microsoft.com/office/drawing/2014/main" val="2823374101"/>
                    </a:ext>
                  </a:extLst>
                </a:gridCol>
              </a:tblGrid>
              <a:tr h="338134">
                <a:tc>
                  <a:txBody>
                    <a:bodyPr/>
                    <a:lstStyle/>
                    <a:p>
                      <a:pPr algn="ctr"/>
                      <a:r>
                        <a:rPr kumimoji="1" lang="ja-JP" altLang="en-US" sz="1100" b="0">
                          <a:solidFill>
                            <a:schemeClr val="tx1"/>
                          </a:solidFill>
                          <a:latin typeface="+mn-ea"/>
                          <a:ea typeface="+mn-ea"/>
                        </a:rPr>
                        <a:t>ﾕｰｻﾞｰ教育</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sp>
        <p:nvSpPr>
          <p:cNvPr id="54" name="矢印: 五方向 53">
            <a:extLst>
              <a:ext uri="{FF2B5EF4-FFF2-40B4-BE49-F238E27FC236}">
                <a16:creationId xmlns:a16="http://schemas.microsoft.com/office/drawing/2014/main" id="{F3918E70-5EC8-124A-AF74-9231E43C2A7E}"/>
              </a:ext>
            </a:extLst>
          </p:cNvPr>
          <p:cNvSpPr/>
          <p:nvPr/>
        </p:nvSpPr>
        <p:spPr>
          <a:xfrm>
            <a:off x="10017057" y="3367578"/>
            <a:ext cx="1469886" cy="712112"/>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運用・保守</a:t>
            </a:r>
          </a:p>
        </p:txBody>
      </p:sp>
      <p:sp>
        <p:nvSpPr>
          <p:cNvPr id="58" name="テキスト ボックス 57">
            <a:extLst>
              <a:ext uri="{FF2B5EF4-FFF2-40B4-BE49-F238E27FC236}">
                <a16:creationId xmlns:a16="http://schemas.microsoft.com/office/drawing/2014/main" id="{8B4EE5F3-459A-9CEF-FA8F-854E36857253}"/>
              </a:ext>
            </a:extLst>
          </p:cNvPr>
          <p:cNvSpPr txBox="1"/>
          <p:nvPr/>
        </p:nvSpPr>
        <p:spPr>
          <a:xfrm>
            <a:off x="5629701" y="3160564"/>
            <a:ext cx="1194559"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a:t>
            </a:r>
            <a:r>
              <a:rPr kumimoji="1" lang="en-US" altLang="ja-JP" sz="1200">
                <a:solidFill>
                  <a:srgbClr val="008000"/>
                </a:solidFill>
                <a:latin typeface="游ゴシック" panose="020B0400000000000000" pitchFamily="50" charset="-128"/>
                <a:ea typeface="游ゴシック" panose="020B0400000000000000" pitchFamily="50" charset="-128"/>
              </a:rPr>
              <a:t>1Q</a:t>
            </a:r>
            <a:r>
              <a:rPr kumimoji="1" lang="ja-JP" altLang="en-US" sz="1200">
                <a:solidFill>
                  <a:srgbClr val="008000"/>
                </a:solidFill>
                <a:latin typeface="游ゴシック" panose="020B0400000000000000" pitchFamily="50" charset="-128"/>
                <a:ea typeface="游ゴシック" panose="020B0400000000000000" pitchFamily="50" charset="-128"/>
              </a:rPr>
              <a:t>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cxnSp>
        <p:nvCxnSpPr>
          <p:cNvPr id="60" name="直線矢印コネクタ 59">
            <a:extLst>
              <a:ext uri="{FF2B5EF4-FFF2-40B4-BE49-F238E27FC236}">
                <a16:creationId xmlns:a16="http://schemas.microsoft.com/office/drawing/2014/main" id="{7A97DCFC-88EE-B48B-7381-93470E7E0C05}"/>
              </a:ext>
            </a:extLst>
          </p:cNvPr>
          <p:cNvCxnSpPr>
            <a:cxnSpLocks/>
          </p:cNvCxnSpPr>
          <p:nvPr/>
        </p:nvCxnSpPr>
        <p:spPr>
          <a:xfrm>
            <a:off x="6350053" y="2109175"/>
            <a:ext cx="3616539"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FAC33A75-6F6C-55EE-09C8-F55BEE95C0A7}"/>
              </a:ext>
            </a:extLst>
          </p:cNvPr>
          <p:cNvCxnSpPr>
            <a:cxnSpLocks/>
          </p:cNvCxnSpPr>
          <p:nvPr/>
        </p:nvCxnSpPr>
        <p:spPr>
          <a:xfrm>
            <a:off x="10012946" y="2109175"/>
            <a:ext cx="1860486"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1E60C8C1-5BAE-0E16-965F-598714FC1303}"/>
              </a:ext>
            </a:extLst>
          </p:cNvPr>
          <p:cNvSpPr txBox="1"/>
          <p:nvPr/>
        </p:nvSpPr>
        <p:spPr>
          <a:xfrm>
            <a:off x="6226981" y="1775786"/>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64" name="テキスト ボックス 63">
            <a:extLst>
              <a:ext uri="{FF2B5EF4-FFF2-40B4-BE49-F238E27FC236}">
                <a16:creationId xmlns:a16="http://schemas.microsoft.com/office/drawing/2014/main" id="{86163D3B-7206-D97D-F2C5-B665FF01108A}"/>
              </a:ext>
            </a:extLst>
          </p:cNvPr>
          <p:cNvSpPr txBox="1"/>
          <p:nvPr/>
        </p:nvSpPr>
        <p:spPr>
          <a:xfrm>
            <a:off x="9931678" y="1770749"/>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契約③</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66" name="テキスト ボックス 65">
            <a:extLst>
              <a:ext uri="{FF2B5EF4-FFF2-40B4-BE49-F238E27FC236}">
                <a16:creationId xmlns:a16="http://schemas.microsoft.com/office/drawing/2014/main" id="{04E8BEF9-43F9-9895-30AC-D966446036FA}"/>
              </a:ext>
            </a:extLst>
          </p:cNvPr>
          <p:cNvSpPr txBox="1"/>
          <p:nvPr/>
        </p:nvSpPr>
        <p:spPr>
          <a:xfrm>
            <a:off x="8161709" y="2302277"/>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リリース判定</a:t>
            </a:r>
            <a:endParaRPr kumimoji="1" lang="en-US" altLang="ja-JP" sz="1100">
              <a:latin typeface="游ゴシック" panose="020B0400000000000000" pitchFamily="50" charset="-128"/>
              <a:ea typeface="游ゴシック" panose="020B0400000000000000" pitchFamily="50" charset="-128"/>
            </a:endParaRPr>
          </a:p>
        </p:txBody>
      </p:sp>
      <p:sp>
        <p:nvSpPr>
          <p:cNvPr id="67" name="テキスト ボックス 66">
            <a:extLst>
              <a:ext uri="{FF2B5EF4-FFF2-40B4-BE49-F238E27FC236}">
                <a16:creationId xmlns:a16="http://schemas.microsoft.com/office/drawing/2014/main" id="{4AAC420F-7C88-8894-D9A4-CE6B598625C8}"/>
              </a:ext>
            </a:extLst>
          </p:cNvPr>
          <p:cNvSpPr txBox="1"/>
          <p:nvPr/>
        </p:nvSpPr>
        <p:spPr>
          <a:xfrm>
            <a:off x="9966592" y="2286090"/>
            <a:ext cx="2045861" cy="503590"/>
          </a:xfrm>
          <a:prstGeom prst="rect">
            <a:avLst/>
          </a:prstGeom>
          <a:noFill/>
          <a:ln>
            <a:noFill/>
          </a:ln>
        </p:spPr>
        <p:txBody>
          <a:bodyPr wrap="square" lIns="54000" tIns="36000" rIns="54000" bIns="36000" rtlCol="0" anchor="ctr">
            <a:spAutoFit/>
          </a:bodyPr>
          <a:lstStyle/>
          <a:p>
            <a:r>
              <a:rPr kumimoji="1" lang="en-US" altLang="ja-JP" sz="1400" b="1">
                <a:solidFill>
                  <a:srgbClr val="FF0000"/>
                </a:solidFill>
                <a:latin typeface="游ゴシック" panose="020B0400000000000000" pitchFamily="50" charset="-128"/>
                <a:ea typeface="游ゴシック" panose="020B0400000000000000" pitchFamily="50" charset="-128"/>
                <a:cs typeface="メイリオ" pitchFamily="50" charset="-128"/>
              </a:rPr>
              <a:t>7</a:t>
            </a: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月末～</a:t>
            </a:r>
            <a:r>
              <a:rPr kumimoji="1" lang="en-US" altLang="ja-JP" sz="1400" b="1">
                <a:solidFill>
                  <a:srgbClr val="FF0000"/>
                </a:solidFill>
                <a:latin typeface="游ゴシック" panose="020B0400000000000000" pitchFamily="50" charset="-128"/>
                <a:ea typeface="游ゴシック" panose="020B0400000000000000" pitchFamily="50" charset="-128"/>
                <a:cs typeface="メイリオ" pitchFamily="50" charset="-128"/>
              </a:rPr>
              <a:t>SSBJ</a:t>
            </a: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システム環境分先行稼働</a:t>
            </a:r>
          </a:p>
        </p:txBody>
      </p:sp>
      <p:grpSp>
        <p:nvGrpSpPr>
          <p:cNvPr id="3" name="グループ化 2">
            <a:extLst>
              <a:ext uri="{FF2B5EF4-FFF2-40B4-BE49-F238E27FC236}">
                <a16:creationId xmlns:a16="http://schemas.microsoft.com/office/drawing/2014/main" id="{D3542111-0C9A-8B4D-949A-2E1A5DD86317}"/>
              </a:ext>
            </a:extLst>
          </p:cNvPr>
          <p:cNvGrpSpPr/>
          <p:nvPr/>
        </p:nvGrpSpPr>
        <p:grpSpPr>
          <a:xfrm>
            <a:off x="7901227" y="6384022"/>
            <a:ext cx="4221743" cy="372517"/>
            <a:chOff x="2744754" y="513955"/>
            <a:chExt cx="8514710" cy="360050"/>
          </a:xfrm>
        </p:grpSpPr>
        <p:sp>
          <p:nvSpPr>
            <p:cNvPr id="7" name="正方形/長方形 6">
              <a:extLst>
                <a:ext uri="{FF2B5EF4-FFF2-40B4-BE49-F238E27FC236}">
                  <a16:creationId xmlns:a16="http://schemas.microsoft.com/office/drawing/2014/main" id="{E01CAC19-C6F4-1ACE-DB3A-9AF837B8707A}"/>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8" name="角丸四角形 1">
              <a:extLst>
                <a:ext uri="{FF2B5EF4-FFF2-40B4-BE49-F238E27FC236}">
                  <a16:creationId xmlns:a16="http://schemas.microsoft.com/office/drawing/2014/main" id="{EA88CB21-1115-4AFE-EAA2-A2E31A43E221}"/>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1" name="角丸四角形 1">
              <a:extLst>
                <a:ext uri="{FF2B5EF4-FFF2-40B4-BE49-F238E27FC236}">
                  <a16:creationId xmlns:a16="http://schemas.microsoft.com/office/drawing/2014/main" id="{70CF46AD-5A26-CB6C-398D-6FA9AF6FC2C4}"/>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2" name="角丸四角形 1">
              <a:extLst>
                <a:ext uri="{FF2B5EF4-FFF2-40B4-BE49-F238E27FC236}">
                  <a16:creationId xmlns:a16="http://schemas.microsoft.com/office/drawing/2014/main" id="{2A018CF5-B759-FE2D-4093-335D6502FEE9}"/>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sp>
        <p:nvSpPr>
          <p:cNvPr id="14" name="テキスト ボックス 13">
            <a:extLst>
              <a:ext uri="{FF2B5EF4-FFF2-40B4-BE49-F238E27FC236}">
                <a16:creationId xmlns:a16="http://schemas.microsoft.com/office/drawing/2014/main" id="{4667FF6B-300C-3F5B-2809-2C3A6020B040}"/>
              </a:ext>
            </a:extLst>
          </p:cNvPr>
          <p:cNvSpPr txBox="1"/>
          <p:nvPr/>
        </p:nvSpPr>
        <p:spPr>
          <a:xfrm>
            <a:off x="6096000" y="2579276"/>
            <a:ext cx="1136850" cy="276999"/>
          </a:xfrm>
          <a:prstGeom prst="rect">
            <a:avLst/>
          </a:prstGeom>
          <a:noFill/>
        </p:spPr>
        <p:txBody>
          <a:bodyPr wrap="none" rtlCol="0" anchor="t">
            <a:spAutoFit/>
          </a:bodyPr>
          <a:lstStyle/>
          <a:p>
            <a:r>
              <a:rPr kumimoji="1" lang="ja-JP" altLang="en-US" sz="1200" b="1">
                <a:solidFill>
                  <a:srgbClr val="FF0000"/>
                </a:solidFill>
                <a:latin typeface="游ゴシック" panose="020B0400000000000000" pitchFamily="50" charset="-128"/>
                <a:ea typeface="游ゴシック" panose="020B0400000000000000" pitchFamily="50" charset="-128"/>
              </a:rPr>
              <a:t> ★</a:t>
            </a:r>
            <a:r>
              <a:rPr kumimoji="1" lang="en-US" altLang="ja-JP" sz="1200" b="1">
                <a:solidFill>
                  <a:srgbClr val="FF0000"/>
                </a:solidFill>
                <a:latin typeface="游ゴシック" panose="020B0400000000000000" pitchFamily="50" charset="-128"/>
                <a:ea typeface="游ゴシック" panose="020B0400000000000000" pitchFamily="50" charset="-128"/>
              </a:rPr>
              <a:t>MVP1</a:t>
            </a:r>
            <a:r>
              <a:rPr kumimoji="1" lang="ja-JP" altLang="en-US" sz="1200" b="1">
                <a:solidFill>
                  <a:srgbClr val="FF0000"/>
                </a:solidFill>
                <a:latin typeface="游ゴシック" panose="020B0400000000000000" pitchFamily="50" charset="-128"/>
                <a:ea typeface="游ゴシック" panose="020B0400000000000000" pitchFamily="50" charset="-128"/>
              </a:rPr>
              <a:t>完成</a:t>
            </a:r>
            <a:endParaRPr kumimoji="1" lang="en-US" altLang="ja-JP" sz="1100" b="1">
              <a:solidFill>
                <a:srgbClr val="FF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163805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B4CDB-50C2-4629-485C-05198826754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A939A0-A1CB-A48F-E41C-FD3782D97FEA}"/>
              </a:ext>
            </a:extLst>
          </p:cNvPr>
          <p:cNvSpPr>
            <a:spLocks noGrp="1"/>
          </p:cNvSpPr>
          <p:nvPr>
            <p:ph type="title"/>
          </p:nvPr>
        </p:nvSpPr>
        <p:spPr/>
        <p:txBody>
          <a:bodyPr/>
          <a:lstStyle/>
          <a:p>
            <a:r>
              <a:rPr lang="en-US" altLang="ja-JP" dirty="0"/>
              <a:t>4</a:t>
            </a:r>
            <a:r>
              <a:rPr kumimoji="1" lang="en-US" altLang="ja-JP" dirty="0"/>
              <a:t>-4</a:t>
            </a:r>
            <a:r>
              <a:rPr lang="ja-JP" altLang="en-US" dirty="0"/>
              <a:t>．スプリント計画</a:t>
            </a:r>
            <a:r>
              <a:rPr lang="en-US" altLang="ja-JP" dirty="0"/>
              <a:t>(</a:t>
            </a:r>
            <a:r>
              <a:rPr lang="ja-JP" altLang="en-US" dirty="0"/>
              <a:t>案</a:t>
            </a:r>
            <a:r>
              <a:rPr lang="en-US" altLang="ja-JP" dirty="0"/>
              <a:t>)</a:t>
            </a:r>
            <a:endParaRPr kumimoji="1" lang="ja-JP" altLang="en-US" dirty="0"/>
          </a:p>
        </p:txBody>
      </p:sp>
      <p:sp>
        <p:nvSpPr>
          <p:cNvPr id="4" name="フッター プレースホルダー 3">
            <a:extLst>
              <a:ext uri="{FF2B5EF4-FFF2-40B4-BE49-F238E27FC236}">
                <a16:creationId xmlns:a16="http://schemas.microsoft.com/office/drawing/2014/main" id="{6B7AF7B0-4EAC-F5FB-FDE5-F2000C1C6A1F}"/>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F9D553EA-2922-D210-F2C8-092E3EEC24D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26</a:t>
            </a:fld>
            <a:endParaRPr kumimoji="1" lang="ja-JP" altLang="en-US" sz="700"/>
          </a:p>
        </p:txBody>
      </p:sp>
      <p:graphicFrame>
        <p:nvGraphicFramePr>
          <p:cNvPr id="6" name="表 5">
            <a:extLst>
              <a:ext uri="{FF2B5EF4-FFF2-40B4-BE49-F238E27FC236}">
                <a16:creationId xmlns:a16="http://schemas.microsoft.com/office/drawing/2014/main" id="{A937D7E7-5D37-570B-8F82-0E4C15ABE1FA}"/>
              </a:ext>
            </a:extLst>
          </p:cNvPr>
          <p:cNvGraphicFramePr>
            <a:graphicFrameLocks noGrp="1"/>
          </p:cNvGraphicFramePr>
          <p:nvPr>
            <p:extLst>
              <p:ext uri="{D42A27DB-BD31-4B8C-83A1-F6EECF244321}">
                <p14:modId xmlns:p14="http://schemas.microsoft.com/office/powerpoint/2010/main" val="2387145979"/>
              </p:ext>
            </p:extLst>
          </p:nvPr>
        </p:nvGraphicFramePr>
        <p:xfrm>
          <a:off x="435636" y="783525"/>
          <a:ext cx="11320720" cy="5610550"/>
        </p:xfrm>
        <a:graphic>
          <a:graphicData uri="http://schemas.openxmlformats.org/drawingml/2006/table">
            <a:tbl>
              <a:tblPr firstRow="1" bandRow="1">
                <a:tableStyleId>{2D5ABB26-0587-4C30-8999-92F81FD0307C}</a:tableStyleId>
              </a:tblPr>
              <a:tblGrid>
                <a:gridCol w="344095">
                  <a:extLst>
                    <a:ext uri="{9D8B030D-6E8A-4147-A177-3AD203B41FA5}">
                      <a16:colId xmlns:a16="http://schemas.microsoft.com/office/drawing/2014/main" val="2203151355"/>
                    </a:ext>
                  </a:extLst>
                </a:gridCol>
                <a:gridCol w="997875">
                  <a:extLst>
                    <a:ext uri="{9D8B030D-6E8A-4147-A177-3AD203B41FA5}">
                      <a16:colId xmlns:a16="http://schemas.microsoft.com/office/drawing/2014/main" val="2699840859"/>
                    </a:ext>
                  </a:extLst>
                </a:gridCol>
                <a:gridCol w="997875">
                  <a:extLst>
                    <a:ext uri="{9D8B030D-6E8A-4147-A177-3AD203B41FA5}">
                      <a16:colId xmlns:a16="http://schemas.microsoft.com/office/drawing/2014/main" val="2708185152"/>
                    </a:ext>
                  </a:extLst>
                </a:gridCol>
                <a:gridCol w="997875">
                  <a:extLst>
                    <a:ext uri="{9D8B030D-6E8A-4147-A177-3AD203B41FA5}">
                      <a16:colId xmlns:a16="http://schemas.microsoft.com/office/drawing/2014/main" val="1454625492"/>
                    </a:ext>
                  </a:extLst>
                </a:gridCol>
                <a:gridCol w="997875">
                  <a:extLst>
                    <a:ext uri="{9D8B030D-6E8A-4147-A177-3AD203B41FA5}">
                      <a16:colId xmlns:a16="http://schemas.microsoft.com/office/drawing/2014/main" val="798080082"/>
                    </a:ext>
                  </a:extLst>
                </a:gridCol>
                <a:gridCol w="997875">
                  <a:extLst>
                    <a:ext uri="{9D8B030D-6E8A-4147-A177-3AD203B41FA5}">
                      <a16:colId xmlns:a16="http://schemas.microsoft.com/office/drawing/2014/main" val="2062599201"/>
                    </a:ext>
                  </a:extLst>
                </a:gridCol>
                <a:gridCol w="997875">
                  <a:extLst>
                    <a:ext uri="{9D8B030D-6E8A-4147-A177-3AD203B41FA5}">
                      <a16:colId xmlns:a16="http://schemas.microsoft.com/office/drawing/2014/main" val="761970329"/>
                    </a:ext>
                  </a:extLst>
                </a:gridCol>
                <a:gridCol w="997875">
                  <a:extLst>
                    <a:ext uri="{9D8B030D-6E8A-4147-A177-3AD203B41FA5}">
                      <a16:colId xmlns:a16="http://schemas.microsoft.com/office/drawing/2014/main" val="3470259753"/>
                    </a:ext>
                  </a:extLst>
                </a:gridCol>
                <a:gridCol w="997875">
                  <a:extLst>
                    <a:ext uri="{9D8B030D-6E8A-4147-A177-3AD203B41FA5}">
                      <a16:colId xmlns:a16="http://schemas.microsoft.com/office/drawing/2014/main" val="991467487"/>
                    </a:ext>
                  </a:extLst>
                </a:gridCol>
                <a:gridCol w="997875">
                  <a:extLst>
                    <a:ext uri="{9D8B030D-6E8A-4147-A177-3AD203B41FA5}">
                      <a16:colId xmlns:a16="http://schemas.microsoft.com/office/drawing/2014/main" val="193916232"/>
                    </a:ext>
                  </a:extLst>
                </a:gridCol>
                <a:gridCol w="997875">
                  <a:extLst>
                    <a:ext uri="{9D8B030D-6E8A-4147-A177-3AD203B41FA5}">
                      <a16:colId xmlns:a16="http://schemas.microsoft.com/office/drawing/2014/main" val="3282221811"/>
                    </a:ext>
                  </a:extLst>
                </a:gridCol>
                <a:gridCol w="997875">
                  <a:extLst>
                    <a:ext uri="{9D8B030D-6E8A-4147-A177-3AD203B41FA5}">
                      <a16:colId xmlns:a16="http://schemas.microsoft.com/office/drawing/2014/main" val="2217316159"/>
                    </a:ext>
                  </a:extLst>
                </a:gridCol>
              </a:tblGrid>
              <a:tr h="339932">
                <a:tc>
                  <a:txBody>
                    <a:bodyPr/>
                    <a:lstStyle/>
                    <a:p>
                      <a:pPr algn="ctr"/>
                      <a:endParaRPr kumimoji="1" lang="ja-JP" altLang="en-US" sz="1400" b="1">
                        <a:solidFill>
                          <a:schemeClr val="bg1"/>
                        </a:solidFill>
                        <a:latin typeface="+mn-ea"/>
                        <a:ea typeface="+mn-ea"/>
                      </a:endParaRPr>
                    </a:p>
                  </a:txBody>
                  <a:tcPr>
                    <a:lnL w="6350" cap="flat" cmpd="sng" algn="ctr">
                      <a:noFill/>
                      <a:prstDash val="solid"/>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ctr"/>
                      <a:r>
                        <a:rPr kumimoji="1" lang="en-US" altLang="ja-JP" sz="1400" b="1">
                          <a:solidFill>
                            <a:schemeClr val="bg1"/>
                          </a:solidFill>
                          <a:latin typeface="+mn-ea"/>
                          <a:ea typeface="+mn-ea"/>
                        </a:rPr>
                        <a:t>2025</a:t>
                      </a:r>
                      <a:r>
                        <a:rPr kumimoji="1" lang="ja-JP" altLang="en-US" sz="1400" b="1">
                          <a:solidFill>
                            <a:schemeClr val="bg1"/>
                          </a:solidFill>
                          <a:latin typeface="+mn-ea"/>
                          <a:ea typeface="+mn-ea"/>
                        </a:rPr>
                        <a:t>年</a:t>
                      </a:r>
                      <a:r>
                        <a:rPr kumimoji="1" lang="en-US" altLang="ja-JP" sz="1400" b="1">
                          <a:solidFill>
                            <a:schemeClr val="bg1"/>
                          </a:solidFill>
                          <a:latin typeface="+mn-ea"/>
                          <a:ea typeface="+mn-ea"/>
                        </a:rPr>
                        <a:t>12</a:t>
                      </a:r>
                      <a:r>
                        <a:rPr kumimoji="1" lang="ja-JP" altLang="en-US" sz="1400" b="1">
                          <a:solidFill>
                            <a:schemeClr val="bg1"/>
                          </a:solidFill>
                          <a:latin typeface="+mn-ea"/>
                          <a:ea typeface="+mn-ea"/>
                        </a:rPr>
                        <a:t>月</a:t>
                      </a:r>
                      <a:endParaRPr kumimoji="1" lang="en-US" altLang="ja-JP" sz="1400" b="1">
                        <a:solidFill>
                          <a:schemeClr val="bg1"/>
                        </a:solidFill>
                        <a:latin typeface="+mn-ea"/>
                        <a:ea typeface="+mn-ea"/>
                      </a:endParaRPr>
                    </a:p>
                    <a:p>
                      <a:pPr algn="ctr"/>
                      <a:r>
                        <a:rPr kumimoji="1" lang="ja-JP" altLang="en-US" sz="1400" b="1">
                          <a:solidFill>
                            <a:schemeClr val="bg1"/>
                          </a:solidFill>
                          <a:latin typeface="+mn-ea"/>
                          <a:ea typeface="+mn-ea"/>
                        </a:rPr>
                        <a:t>～</a:t>
                      </a:r>
                      <a:r>
                        <a:rPr kumimoji="1" lang="en-US" altLang="ja-JP" sz="1400" b="1">
                          <a:solidFill>
                            <a:schemeClr val="bg1"/>
                          </a:solidFill>
                          <a:latin typeface="+mn-ea"/>
                          <a:ea typeface="+mn-ea"/>
                        </a:rPr>
                        <a:t>2026</a:t>
                      </a:r>
                      <a:r>
                        <a:rPr kumimoji="1" lang="ja-JP" altLang="en-US" sz="1400" b="1">
                          <a:solidFill>
                            <a:schemeClr val="bg1"/>
                          </a:solidFill>
                          <a:latin typeface="+mn-ea"/>
                          <a:ea typeface="+mn-ea"/>
                        </a:rPr>
                        <a:t>年</a:t>
                      </a:r>
                      <a:r>
                        <a:rPr kumimoji="1" lang="en-US" altLang="ja-JP" sz="1400" b="1">
                          <a:solidFill>
                            <a:schemeClr val="bg1"/>
                          </a:solidFill>
                          <a:latin typeface="+mn-ea"/>
                          <a:ea typeface="+mn-ea"/>
                        </a:rPr>
                        <a:t>1</a:t>
                      </a:r>
                      <a:r>
                        <a:rPr kumimoji="1" lang="ja-JP" altLang="en-US" sz="1400" b="1">
                          <a:solidFill>
                            <a:schemeClr val="bg1"/>
                          </a:solidFill>
                          <a:latin typeface="+mn-ea"/>
                          <a:ea typeface="+mn-ea"/>
                        </a:rPr>
                        <a:t>月</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bg1"/>
                          </a:solidFill>
                          <a:latin typeface="+mn-ea"/>
                          <a:ea typeface="+mn-ea"/>
                        </a:rPr>
                        <a:t>2026</a:t>
                      </a:r>
                      <a:r>
                        <a:rPr kumimoji="1" lang="ja-JP" altLang="en-US" sz="1400" b="1">
                          <a:solidFill>
                            <a:schemeClr val="bg1"/>
                          </a:solidFill>
                          <a:latin typeface="+mn-ea"/>
                          <a:ea typeface="+mn-ea"/>
                        </a:rPr>
                        <a:t>年</a:t>
                      </a:r>
                      <a:endParaRPr kumimoji="1" lang="en-US" altLang="ja-JP" sz="1400" b="1">
                        <a:solidFill>
                          <a:schemeClr val="bg1"/>
                        </a:solidFill>
                        <a:latin typeface="+mn-ea"/>
                        <a:ea typeface="+mn-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bg1"/>
                          </a:solidFill>
                          <a:latin typeface="+mn-ea"/>
                          <a:ea typeface="+mn-ea"/>
                        </a:rPr>
                        <a:t>2</a:t>
                      </a:r>
                      <a:r>
                        <a:rPr kumimoji="1" lang="ja-JP" altLang="en-US" sz="1400" b="1">
                          <a:solidFill>
                            <a:schemeClr val="bg1"/>
                          </a:solidFill>
                          <a:latin typeface="+mn-ea"/>
                          <a:ea typeface="+mn-ea"/>
                        </a:rPr>
                        <a:t>月</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gridSpan="2">
                  <a:txBody>
                    <a:bodyPr/>
                    <a:lstStyle/>
                    <a:p>
                      <a:pPr algn="ctr"/>
                      <a:r>
                        <a:rPr kumimoji="1" lang="en-US" altLang="ja-JP" sz="1400" b="1">
                          <a:solidFill>
                            <a:schemeClr val="bg1"/>
                          </a:solidFill>
                          <a:latin typeface="+mn-ea"/>
                          <a:ea typeface="+mn-ea"/>
                        </a:rPr>
                        <a:t>2026</a:t>
                      </a:r>
                      <a:r>
                        <a:rPr kumimoji="1" lang="ja-JP" altLang="en-US" sz="1400" b="1">
                          <a:solidFill>
                            <a:schemeClr val="bg1"/>
                          </a:solidFill>
                          <a:latin typeface="+mn-ea"/>
                          <a:ea typeface="+mn-ea"/>
                        </a:rPr>
                        <a:t>年</a:t>
                      </a:r>
                      <a:endParaRPr kumimoji="1" lang="en-US" altLang="ja-JP" sz="1400" b="1">
                        <a:solidFill>
                          <a:schemeClr val="bg1"/>
                        </a:solidFill>
                        <a:latin typeface="+mn-ea"/>
                        <a:ea typeface="+mn-ea"/>
                      </a:endParaRPr>
                    </a:p>
                    <a:p>
                      <a:pPr algn="ctr"/>
                      <a:r>
                        <a:rPr kumimoji="1" lang="en-US" altLang="ja-JP" sz="1400" b="1">
                          <a:solidFill>
                            <a:schemeClr val="bg1"/>
                          </a:solidFill>
                          <a:latin typeface="+mn-ea"/>
                          <a:ea typeface="+mn-ea"/>
                        </a:rPr>
                        <a:t>3</a:t>
                      </a:r>
                      <a:r>
                        <a:rPr kumimoji="1" lang="ja-JP" altLang="en-US" sz="1400" b="1">
                          <a:solidFill>
                            <a:schemeClr val="bg1"/>
                          </a:solidFill>
                          <a:latin typeface="+mn-ea"/>
                          <a:ea typeface="+mn-ea"/>
                        </a:rPr>
                        <a:t>月</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gridSpan="2">
                  <a:txBody>
                    <a:bodyPr/>
                    <a:lstStyle/>
                    <a:p>
                      <a:pPr algn="ctr"/>
                      <a:r>
                        <a:rPr kumimoji="1" lang="en-US" altLang="ja-JP" sz="1400" b="1">
                          <a:solidFill>
                            <a:schemeClr val="bg1"/>
                          </a:solidFill>
                          <a:latin typeface="+mn-ea"/>
                          <a:ea typeface="+mn-ea"/>
                        </a:rPr>
                        <a:t>2026</a:t>
                      </a:r>
                      <a:r>
                        <a:rPr kumimoji="1" lang="ja-JP" altLang="en-US" sz="1400" b="1">
                          <a:solidFill>
                            <a:schemeClr val="bg1"/>
                          </a:solidFill>
                          <a:latin typeface="+mn-ea"/>
                          <a:ea typeface="+mn-ea"/>
                        </a:rPr>
                        <a:t>年</a:t>
                      </a:r>
                      <a:endParaRPr kumimoji="1" lang="en-US" altLang="ja-JP" sz="1400" b="1">
                        <a:solidFill>
                          <a:schemeClr val="bg1"/>
                        </a:solidFill>
                        <a:latin typeface="+mn-ea"/>
                        <a:ea typeface="+mn-ea"/>
                      </a:endParaRPr>
                    </a:p>
                    <a:p>
                      <a:pPr algn="ctr"/>
                      <a:r>
                        <a:rPr kumimoji="1" lang="en-US" altLang="ja-JP" sz="1400" b="1">
                          <a:solidFill>
                            <a:schemeClr val="bg1"/>
                          </a:solidFill>
                          <a:latin typeface="+mn-ea"/>
                          <a:ea typeface="+mn-ea"/>
                        </a:rPr>
                        <a:t>4</a:t>
                      </a:r>
                      <a:r>
                        <a:rPr kumimoji="1" lang="ja-JP" altLang="en-US" sz="1400" b="1">
                          <a:solidFill>
                            <a:schemeClr val="bg1"/>
                          </a:solidFill>
                          <a:latin typeface="+mn-ea"/>
                          <a:ea typeface="+mn-ea"/>
                        </a:rPr>
                        <a:t>月</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prstClr val="white"/>
                          </a:solidFill>
                          <a:effectLst/>
                          <a:uLnTx/>
                          <a:uFillTx/>
                          <a:latin typeface="+mn-ea"/>
                          <a:ea typeface="+mn-ea"/>
                          <a:cs typeface="+mn-cs"/>
                        </a:rPr>
                        <a:t>2026</a:t>
                      </a:r>
                      <a:r>
                        <a:rPr kumimoji="1" lang="ja-JP" altLang="en-US" sz="1400" b="1" i="0" u="none" strike="noStrike" kern="1200" cap="none" spc="0" normalizeH="0" baseline="0" noProof="0">
                          <a:ln>
                            <a:noFill/>
                          </a:ln>
                          <a:solidFill>
                            <a:prstClr val="white"/>
                          </a:solidFill>
                          <a:effectLst/>
                          <a:uLnTx/>
                          <a:uFillTx/>
                          <a:latin typeface="+mn-ea"/>
                          <a:ea typeface="+mn-ea"/>
                          <a:cs typeface="+mn-cs"/>
                        </a:rPr>
                        <a:t>年</a:t>
                      </a:r>
                      <a:endParaRPr kumimoji="1" lang="en-US" altLang="ja-JP" sz="1400" b="1" i="0" u="none" strike="noStrike" kern="1200" cap="none" spc="0" normalizeH="0" baseline="0" noProof="0">
                        <a:ln>
                          <a:noFill/>
                        </a:ln>
                        <a:solidFill>
                          <a:prstClr val="white"/>
                        </a:solidFill>
                        <a:effectLst/>
                        <a:uLnTx/>
                        <a:uFillTx/>
                        <a:latin typeface="+mn-e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prstClr val="white"/>
                          </a:solidFill>
                          <a:effectLst/>
                          <a:uLnTx/>
                          <a:uFillTx/>
                          <a:latin typeface="+mn-ea"/>
                          <a:ea typeface="+mn-ea"/>
                          <a:cs typeface="+mn-cs"/>
                        </a:rPr>
                        <a:t>5</a:t>
                      </a:r>
                      <a:r>
                        <a:rPr kumimoji="1" lang="ja-JP" altLang="en-US" sz="1400" b="1" i="0" u="none" strike="noStrike" kern="1200" cap="none" spc="0" normalizeH="0" baseline="0" noProof="0">
                          <a:ln>
                            <a:noFill/>
                          </a:ln>
                          <a:solidFill>
                            <a:prstClr val="white"/>
                          </a:solidFill>
                          <a:effectLst/>
                          <a:uLnTx/>
                          <a:uFillTx/>
                          <a:latin typeface="+mn-ea"/>
                          <a:ea typeface="+mn-ea"/>
                          <a:cs typeface="+mn-cs"/>
                        </a:rPr>
                        <a:t>月</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a:lnL w="6350" cap="flat" cmpd="sng" algn="ctr">
                      <a:solidFill>
                        <a:schemeClr val="bg1">
                          <a:lumMod val="50000"/>
                        </a:schemeClr>
                      </a:solid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prstClr val="white"/>
                          </a:solidFill>
                          <a:effectLst/>
                          <a:uLnTx/>
                          <a:uFillTx/>
                          <a:latin typeface="+mn-ea"/>
                          <a:ea typeface="+mn-ea"/>
                          <a:cs typeface="+mn-cs"/>
                        </a:rPr>
                        <a:t>2026</a:t>
                      </a:r>
                      <a:r>
                        <a:rPr kumimoji="1" lang="ja-JP" altLang="en-US" sz="1400" b="1" i="0" u="none" strike="noStrike" kern="1200" cap="none" spc="0" normalizeH="0" baseline="0" noProof="0">
                          <a:ln>
                            <a:noFill/>
                          </a:ln>
                          <a:solidFill>
                            <a:prstClr val="white"/>
                          </a:solidFill>
                          <a:effectLst/>
                          <a:uLnTx/>
                          <a:uFillTx/>
                          <a:latin typeface="+mn-ea"/>
                          <a:ea typeface="+mn-ea"/>
                          <a:cs typeface="+mn-cs"/>
                        </a:rPr>
                        <a:t>年</a:t>
                      </a:r>
                      <a:endParaRPr kumimoji="1" lang="en-US" altLang="ja-JP" sz="1400" b="1" i="0" u="none" strike="noStrike" kern="1200" cap="none" spc="0" normalizeH="0" baseline="0" noProof="0">
                        <a:ln>
                          <a:noFill/>
                        </a:ln>
                        <a:solidFill>
                          <a:prstClr val="white"/>
                        </a:solidFill>
                        <a:effectLst/>
                        <a:uLnTx/>
                        <a:uFillTx/>
                        <a:latin typeface="+mn-e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prstClr val="white"/>
                          </a:solidFill>
                          <a:effectLst/>
                          <a:uLnTx/>
                          <a:uFillTx/>
                          <a:latin typeface="+mn-ea"/>
                          <a:ea typeface="+mn-ea"/>
                          <a:cs typeface="+mn-cs"/>
                        </a:rPr>
                        <a:t>6</a:t>
                      </a:r>
                      <a:r>
                        <a:rPr kumimoji="1" lang="ja-JP" altLang="en-US" sz="1400" b="1" i="0" u="none" strike="noStrike" kern="1200" cap="none" spc="0" normalizeH="0" baseline="0" noProof="0">
                          <a:ln>
                            <a:noFill/>
                          </a:ln>
                          <a:solidFill>
                            <a:prstClr val="white"/>
                          </a:solidFill>
                          <a:effectLst/>
                          <a:uLnTx/>
                          <a:uFillTx/>
                          <a:latin typeface="+mn-ea"/>
                          <a:ea typeface="+mn-ea"/>
                          <a:cs typeface="+mn-cs"/>
                        </a:rPr>
                        <a:t>月～</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050691671"/>
                  </a:ext>
                </a:extLst>
              </a:tr>
              <a:tr h="1053790">
                <a:tc>
                  <a:txBody>
                    <a:bodyPr/>
                    <a:lstStyle/>
                    <a:p>
                      <a:pPr algn="l"/>
                      <a:r>
                        <a:rPr kumimoji="1" lang="ja-JP" altLang="en-US" sz="1400" b="1">
                          <a:latin typeface="+mn-ea"/>
                          <a:ea typeface="+mn-ea"/>
                        </a:rPr>
                        <a:t>スプリント</a:t>
                      </a:r>
                      <a:endParaRPr kumimoji="1" lang="en-US" altLang="ja-JP" sz="1400" b="1">
                        <a:latin typeface="+mn-ea"/>
                        <a:ea typeface="+mn-ea"/>
                      </a:endParaRPr>
                    </a:p>
                  </a:txBody>
                  <a:tcPr vert="eaVert" anchor="ctr">
                    <a:lnL w="6350" cap="flat" cmpd="sng" algn="ctr">
                      <a:noFill/>
                      <a:prstDash val="solid"/>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kumimoji="1" lang="ja-JP" altLang="en-US" sz="1400">
                          <a:latin typeface="+mn-ea"/>
                          <a:ea typeface="+mn-ea"/>
                        </a:rPr>
                        <a:t>準備</a:t>
                      </a:r>
                      <a:endParaRPr kumimoji="1" lang="en-US" altLang="ja-JP"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1</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2</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3</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4</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5</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6</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7</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8</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en-US" altLang="ja-JP" sz="1400">
                          <a:latin typeface="+mn-ea"/>
                          <a:ea typeface="+mn-ea"/>
                        </a:rPr>
                        <a:t>9</a:t>
                      </a:r>
                      <a:endParaRPr kumimoji="1" lang="ja-JP" altLang="en-US"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kumimoji="1" lang="ja-JP" altLang="en-US" sz="1400">
                          <a:latin typeface="+mn-ea"/>
                          <a:ea typeface="+mn-ea"/>
                        </a:rPr>
                        <a:t>教育</a:t>
                      </a:r>
                      <a:endParaRPr kumimoji="1" lang="en-US" altLang="ja-JP" sz="1400">
                        <a:latin typeface="+mn-ea"/>
                        <a:ea typeface="+mn-ea"/>
                      </a:endParaRPr>
                    </a:p>
                    <a:p>
                      <a:pPr algn="ctr"/>
                      <a:r>
                        <a:rPr kumimoji="1" lang="ja-JP" altLang="en-US" sz="1400">
                          <a:latin typeface="+mn-ea"/>
                          <a:ea typeface="+mn-ea"/>
                        </a:rPr>
                        <a:t>リリース準備</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15043946"/>
                  </a:ext>
                </a:extLst>
              </a:tr>
              <a:tr h="1529696">
                <a:tc>
                  <a:txBody>
                    <a:bodyPr/>
                    <a:lstStyle/>
                    <a:p>
                      <a:pPr algn="l"/>
                      <a:r>
                        <a:rPr kumimoji="1" lang="ja-JP" altLang="en-US" sz="1400" b="1">
                          <a:latin typeface="+mn-ea"/>
                          <a:ea typeface="+mn-ea"/>
                        </a:rPr>
                        <a:t>作業概要</a:t>
                      </a:r>
                    </a:p>
                  </a:txBody>
                  <a:tcPr vert="eaVert" anchor="ctr">
                    <a:lnL w="6350" cap="flat" cmpd="sng" algn="ctr">
                      <a:noFill/>
                      <a:prstDash val="solid"/>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indent="-171450">
                        <a:spcBef>
                          <a:spcPts val="600"/>
                        </a:spcBef>
                        <a:buFont typeface="Arial" panose="020B0604020202020204" pitchFamily="34" charset="0"/>
                        <a:buChar char="•"/>
                      </a:pPr>
                      <a:r>
                        <a:rPr kumimoji="1" lang="ja-JP" altLang="en-US" sz="1400">
                          <a:latin typeface="+mn-ea"/>
                          <a:ea typeface="+mn-ea"/>
                        </a:rPr>
                        <a:t>開発環境構築</a:t>
                      </a:r>
                      <a:endParaRPr kumimoji="1" lang="en-US" altLang="ja-JP" sz="1400">
                        <a:latin typeface="+mn-ea"/>
                        <a:ea typeface="+mn-ea"/>
                      </a:endParaRPr>
                    </a:p>
                    <a:p>
                      <a:pPr marL="171450" indent="-171450">
                        <a:spcBef>
                          <a:spcPts val="600"/>
                        </a:spcBef>
                        <a:buFont typeface="Arial" panose="020B0604020202020204" pitchFamily="34" charset="0"/>
                        <a:buChar char="•"/>
                      </a:pPr>
                      <a:r>
                        <a:rPr kumimoji="1" lang="en-US" altLang="ja-JP" sz="1400">
                          <a:latin typeface="+mn-ea"/>
                          <a:ea typeface="+mn-ea"/>
                        </a:rPr>
                        <a:t>PB</a:t>
                      </a:r>
                      <a:r>
                        <a:rPr kumimoji="1" lang="ja-JP" altLang="en-US" sz="1400">
                          <a:latin typeface="+mn-ea"/>
                          <a:ea typeface="+mn-ea"/>
                        </a:rPr>
                        <a:t>作成</a:t>
                      </a:r>
                      <a:endParaRPr kumimoji="1" lang="en-US" altLang="ja-JP" sz="1400">
                        <a:latin typeface="+mn-ea"/>
                        <a:ea typeface="+mn-ea"/>
                      </a:endParaRPr>
                    </a:p>
                    <a:p>
                      <a:pPr marL="171450" indent="-171450">
                        <a:spcBef>
                          <a:spcPts val="600"/>
                        </a:spcBef>
                        <a:buFont typeface="Arial" panose="020B0604020202020204" pitchFamily="34" charset="0"/>
                        <a:buChar char="•"/>
                      </a:pPr>
                      <a:r>
                        <a:rPr kumimoji="1" lang="ja-JP" altLang="en-US" sz="1400">
                          <a:latin typeface="+mn-ea"/>
                          <a:ea typeface="+mn-ea"/>
                        </a:rPr>
                        <a:t>アジャイル教育</a:t>
                      </a:r>
                      <a:endParaRPr kumimoji="1" lang="en-US" altLang="ja-JP" sz="1400">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spcBef>
                          <a:spcPts val="600"/>
                        </a:spcBef>
                        <a:buFont typeface="Arial" panose="020B0604020202020204" pitchFamily="34" charset="0"/>
                        <a:buChar char="•"/>
                      </a:pPr>
                      <a:r>
                        <a:rPr kumimoji="1" lang="ja-JP" altLang="en-US" sz="1400">
                          <a:latin typeface="+mn-ea"/>
                          <a:ea typeface="+mn-ea"/>
                        </a:rPr>
                        <a:t>モック作成</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spcBef>
                          <a:spcPts val="600"/>
                        </a:spcBef>
                        <a:buFont typeface="Arial" panose="020B0604020202020204" pitchFamily="34" charset="0"/>
                        <a:buChar char="•"/>
                      </a:pPr>
                      <a:r>
                        <a:rPr kumimoji="1" lang="ja-JP" altLang="en-US" sz="1400">
                          <a:latin typeface="+mn-ea"/>
                          <a:ea typeface="+mn-ea"/>
                        </a:rPr>
                        <a:t>画面・機能作成①</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spcBef>
                          <a:spcPts val="600"/>
                        </a:spcBef>
                        <a:buFont typeface="Arial" panose="020B0604020202020204" pitchFamily="34" charset="0"/>
                        <a:buChar char="•"/>
                      </a:pPr>
                      <a:r>
                        <a:rPr kumimoji="1" lang="ja-JP" altLang="en-US" sz="1400">
                          <a:latin typeface="+mn-ea"/>
                          <a:ea typeface="+mn-ea"/>
                        </a:rPr>
                        <a:t>画面・機能作成②</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バッチ作成①</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バッチ作成②</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FB</a:t>
                      </a:r>
                      <a:r>
                        <a:rPr kumimoji="1" lang="ja-JP" altLang="en-US" sz="1400" b="0" i="0" u="none" strike="noStrike" kern="1200" cap="none" spc="0" normalizeH="0" baseline="0" noProof="0">
                          <a:ln>
                            <a:noFill/>
                          </a:ln>
                          <a:solidFill>
                            <a:prstClr val="black"/>
                          </a:solidFill>
                          <a:effectLst/>
                          <a:uLnTx/>
                          <a:uFillTx/>
                          <a:latin typeface="+mn-ea"/>
                          <a:ea typeface="+mn-ea"/>
                          <a:cs typeface="+mn-cs"/>
                        </a:rPr>
                        <a:t>対応</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1" lang="ja-JP" altLang="en-US"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FB</a:t>
                      </a:r>
                      <a:r>
                        <a:rPr kumimoji="1" lang="ja-JP" altLang="en-US" sz="1400" b="0" i="0" u="none" strike="noStrike" kern="1200" cap="none" spc="0" normalizeH="0" baseline="0" noProof="0">
                          <a:ln>
                            <a:noFill/>
                          </a:ln>
                          <a:solidFill>
                            <a:prstClr val="black"/>
                          </a:solidFill>
                          <a:effectLst/>
                          <a:uLnTx/>
                          <a:uFillTx/>
                          <a:latin typeface="+mn-ea"/>
                          <a:ea typeface="+mn-ea"/>
                          <a:cs typeface="+mn-cs"/>
                        </a:rPr>
                        <a:t>対応</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FB</a:t>
                      </a:r>
                      <a:r>
                        <a:rPr kumimoji="1" lang="ja-JP" altLang="en-US" sz="1400" b="0" i="0" u="none" strike="noStrike" kern="1200" cap="none" spc="0" normalizeH="0" baseline="0" noProof="0">
                          <a:ln>
                            <a:noFill/>
                          </a:ln>
                          <a:solidFill>
                            <a:prstClr val="black"/>
                          </a:solidFill>
                          <a:effectLst/>
                          <a:uLnTx/>
                          <a:uFillTx/>
                          <a:latin typeface="+mn-ea"/>
                          <a:ea typeface="+mn-ea"/>
                          <a:cs typeface="+mn-cs"/>
                        </a:rPr>
                        <a:t>対応</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FB</a:t>
                      </a:r>
                      <a:r>
                        <a:rPr kumimoji="1" lang="ja-JP" altLang="en-US" sz="1400" b="0" i="0" u="none" strike="noStrike" kern="1200" cap="none" spc="0" normalizeH="0" baseline="0" noProof="0">
                          <a:ln>
                            <a:noFill/>
                          </a:ln>
                          <a:solidFill>
                            <a:prstClr val="black"/>
                          </a:solidFill>
                          <a:effectLst/>
                          <a:uLnTx/>
                          <a:uFillTx/>
                          <a:latin typeface="+mn-ea"/>
                          <a:ea typeface="+mn-ea"/>
                          <a:cs typeface="+mn-cs"/>
                        </a:rPr>
                        <a:t>対応</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マニュアル作成</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リリース準備</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ドキュメント整備</a:t>
                      </a: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3574675"/>
                  </a:ext>
                </a:extLst>
              </a:tr>
              <a:tr h="1631675">
                <a:tc>
                  <a:txBody>
                    <a:bodyPr/>
                    <a:lstStyle/>
                    <a:p>
                      <a:pPr algn="l"/>
                      <a:r>
                        <a:rPr kumimoji="1" lang="ja-JP" altLang="en-US" sz="1400" b="1">
                          <a:latin typeface="+mn-ea"/>
                          <a:ea typeface="+mn-ea"/>
                        </a:rPr>
                        <a:t>受入条件</a:t>
                      </a:r>
                      <a:endParaRPr kumimoji="1" lang="en-US" altLang="ja-JP" sz="1400" b="1">
                        <a:latin typeface="+mn-ea"/>
                        <a:ea typeface="+mn-ea"/>
                      </a:endParaRPr>
                    </a:p>
                  </a:txBody>
                  <a:tcPr vert="eaVert" anchor="ctr">
                    <a:lnL w="6350" cap="flat" cmpd="sng" algn="ctr">
                      <a:noFill/>
                      <a:prstDash val="solid"/>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08000" indent="-108000">
                        <a:spcBef>
                          <a:spcPts val="600"/>
                        </a:spcBef>
                        <a:buFont typeface="Arial" panose="020B0604020202020204" pitchFamily="34" charset="0"/>
                        <a:buChar char="•"/>
                      </a:pPr>
                      <a:r>
                        <a:rPr lang="en-US" altLang="ja-JP" sz="1400">
                          <a:solidFill>
                            <a:schemeClr val="tx1"/>
                          </a:solidFill>
                          <a:latin typeface="+mn-ea"/>
                          <a:ea typeface="+mn-ea"/>
                          <a:cs typeface="Times New Roman" panose="02020603050405020304" pitchFamily="18" charset="0"/>
                        </a:rPr>
                        <a:t>1</a:t>
                      </a:r>
                      <a:r>
                        <a:rPr lang="ja-JP" altLang="en-US" sz="1400">
                          <a:solidFill>
                            <a:schemeClr val="tx1"/>
                          </a:solidFill>
                          <a:latin typeface="+mn-ea"/>
                          <a:ea typeface="+mn-ea"/>
                          <a:cs typeface="Times New Roman" panose="02020603050405020304" pitchFamily="18" charset="0"/>
                        </a:rPr>
                        <a:t>月中旬からスプリントを開始できること</a:t>
                      </a:r>
                      <a:endParaRPr lang="en-US" altLang="ja-JP" sz="1400">
                        <a:solidFill>
                          <a:schemeClr val="tx1"/>
                        </a:solidFill>
                        <a:latin typeface="+mn-ea"/>
                        <a:ea typeface="+mn-ea"/>
                        <a:cs typeface="Times New Roman" panose="02020603050405020304" pitchFamily="18" charset="0"/>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400">
                          <a:solidFill>
                            <a:schemeClr val="tx1"/>
                          </a:solidFill>
                          <a:latin typeface="+mn-ea"/>
                          <a:ea typeface="+mn-ea"/>
                        </a:rPr>
                        <a:t>燃料種管理機能</a:t>
                      </a:r>
                      <a:r>
                        <a:rPr lang="en-US" altLang="zh-TW" sz="1400">
                          <a:solidFill>
                            <a:schemeClr val="tx1"/>
                          </a:solidFill>
                          <a:latin typeface="+mn-ea"/>
                          <a:ea typeface="+mn-ea"/>
                        </a:rPr>
                        <a:t>(</a:t>
                      </a:r>
                      <a:r>
                        <a:rPr lang="ja-JP" altLang="en-US" sz="1400">
                          <a:solidFill>
                            <a:schemeClr val="tx1"/>
                          </a:solidFill>
                          <a:latin typeface="+mn-ea"/>
                          <a:ea typeface="+mn-ea"/>
                        </a:rPr>
                        <a:t>モック</a:t>
                      </a:r>
                      <a:r>
                        <a:rPr lang="en-US" altLang="zh-TW" sz="1400">
                          <a:solidFill>
                            <a:schemeClr val="tx1"/>
                          </a:solidFill>
                          <a:latin typeface="+mn-ea"/>
                          <a:ea typeface="+mn-ea"/>
                        </a:rPr>
                        <a:t>)</a:t>
                      </a:r>
                    </a:p>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400">
                          <a:solidFill>
                            <a:schemeClr val="tx1"/>
                          </a:solidFill>
                          <a:latin typeface="+mn-ea"/>
                          <a:ea typeface="+mn-ea"/>
                        </a:rPr>
                        <a:t>タグデータ紐づけ機能</a:t>
                      </a:r>
                      <a:r>
                        <a:rPr lang="en-US" altLang="zh-TW" sz="1400">
                          <a:solidFill>
                            <a:schemeClr val="tx1"/>
                          </a:solidFill>
                          <a:latin typeface="+mn-ea"/>
                          <a:ea typeface="+mn-ea"/>
                        </a:rPr>
                        <a:t>(</a:t>
                      </a:r>
                      <a:r>
                        <a:rPr lang="ja-JP" altLang="en-US" sz="1400">
                          <a:solidFill>
                            <a:schemeClr val="tx1"/>
                          </a:solidFill>
                          <a:latin typeface="+mn-ea"/>
                          <a:ea typeface="+mn-ea"/>
                        </a:rPr>
                        <a:t>モック</a:t>
                      </a:r>
                      <a:r>
                        <a:rPr lang="en-US" altLang="zh-TW" sz="1400">
                          <a:solidFill>
                            <a:schemeClr val="tx1"/>
                          </a:solidFill>
                          <a:latin typeface="+mn-ea"/>
                          <a:ea typeface="+mn-ea"/>
                        </a:rPr>
                        <a:t>)</a:t>
                      </a:r>
                      <a:endParaRPr lang="en-US" altLang="ja-JP" sz="1400">
                        <a:solidFill>
                          <a:schemeClr val="tx1"/>
                        </a:solidFill>
                        <a:latin typeface="+mn-ea"/>
                        <a:ea typeface="+mn-ea"/>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画面機能の作成</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画面機能の作成</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err="1">
                          <a:ln>
                            <a:noFill/>
                          </a:ln>
                          <a:solidFill>
                            <a:prstClr val="black"/>
                          </a:solidFill>
                          <a:effectLst/>
                          <a:uLnTx/>
                          <a:uFillTx/>
                          <a:latin typeface="+mn-ea"/>
                          <a:ea typeface="+mn-ea"/>
                          <a:cs typeface="+mn-cs"/>
                        </a:rPr>
                        <a:t>Cognite</a:t>
                      </a:r>
                      <a:r>
                        <a:rPr kumimoji="1" lang="ja-JP" altLang="en-US" sz="1400" b="0" i="0" u="none" strike="noStrike" kern="1200" cap="none" spc="0" normalizeH="0" baseline="0" noProof="0">
                          <a:ln>
                            <a:noFill/>
                          </a:ln>
                          <a:solidFill>
                            <a:prstClr val="black"/>
                          </a:solidFill>
                          <a:effectLst/>
                          <a:uLnTx/>
                          <a:uFillTx/>
                          <a:latin typeface="+mn-ea"/>
                          <a:ea typeface="+mn-ea"/>
                          <a:cs typeface="+mn-cs"/>
                        </a:rPr>
                        <a:t>データ取得バッチ</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新</a:t>
                      </a:r>
                      <a:r>
                        <a:rPr kumimoji="1" lang="en-US" altLang="ja-JP" sz="1400" b="0" i="0" u="none" strike="noStrike" kern="1200" cap="none" spc="0" normalizeH="0" baseline="0" noProof="0">
                          <a:ln>
                            <a:noFill/>
                          </a:ln>
                          <a:solidFill>
                            <a:prstClr val="black"/>
                          </a:solidFill>
                          <a:effectLst/>
                          <a:uLnTx/>
                          <a:uFillTx/>
                          <a:latin typeface="+mn-ea"/>
                          <a:ea typeface="+mn-ea"/>
                          <a:cs typeface="+mn-cs"/>
                        </a:rPr>
                        <a:t>ESG</a:t>
                      </a:r>
                      <a:r>
                        <a:rPr kumimoji="1" lang="ja-JP" altLang="en-US" sz="1400" b="0" i="0" u="none" strike="noStrike" kern="1200" cap="none" spc="0" normalizeH="0" baseline="0" noProof="0">
                          <a:ln>
                            <a:noFill/>
                          </a:ln>
                          <a:solidFill>
                            <a:prstClr val="black"/>
                          </a:solidFill>
                          <a:effectLst/>
                          <a:uLnTx/>
                          <a:uFillTx/>
                          <a:latin typeface="+mn-ea"/>
                          <a:ea typeface="+mn-ea"/>
                          <a:cs typeface="+mn-cs"/>
                        </a:rPr>
                        <a:t>システム連携バッチ</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FB</a:t>
                      </a:r>
                      <a:r>
                        <a:rPr kumimoji="1" lang="ja-JP" altLang="en-US" sz="1400" b="0" i="0" u="none" strike="noStrike" kern="1200" cap="none" spc="0" normalizeH="0" baseline="0" noProof="0">
                          <a:ln>
                            <a:noFill/>
                          </a:ln>
                          <a:solidFill>
                            <a:prstClr val="black"/>
                          </a:solidFill>
                          <a:effectLst/>
                          <a:uLnTx/>
                          <a:uFillTx/>
                          <a:latin typeface="+mn-ea"/>
                          <a:ea typeface="+mn-ea"/>
                          <a:cs typeface="+mn-cs"/>
                        </a:rPr>
                        <a:t>対応反映</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FB</a:t>
                      </a:r>
                      <a:r>
                        <a:rPr kumimoji="1" lang="ja-JP" altLang="en-US" sz="1400" b="0" i="0" u="none" strike="noStrike" kern="1200" cap="none" spc="0" normalizeH="0" baseline="0" noProof="0">
                          <a:ln>
                            <a:noFill/>
                          </a:ln>
                          <a:solidFill>
                            <a:prstClr val="black"/>
                          </a:solidFill>
                          <a:effectLst/>
                          <a:uLnTx/>
                          <a:uFillTx/>
                          <a:latin typeface="+mn-ea"/>
                          <a:ea typeface="+mn-ea"/>
                          <a:cs typeface="+mn-cs"/>
                        </a:rPr>
                        <a:t>対応反映</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FB</a:t>
                      </a:r>
                      <a:r>
                        <a:rPr kumimoji="1" lang="ja-JP" altLang="en-US" sz="1400" b="0" i="0" u="none" strike="noStrike" kern="1200" cap="none" spc="0" normalizeH="0" baseline="0" noProof="0">
                          <a:ln>
                            <a:noFill/>
                          </a:ln>
                          <a:solidFill>
                            <a:prstClr val="black"/>
                          </a:solidFill>
                          <a:effectLst/>
                          <a:uLnTx/>
                          <a:uFillTx/>
                          <a:latin typeface="+mn-ea"/>
                          <a:ea typeface="+mn-ea"/>
                          <a:cs typeface="+mn-cs"/>
                        </a:rPr>
                        <a:t>対応反映</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prstClr val="black"/>
                          </a:solidFill>
                          <a:effectLst/>
                          <a:uLnTx/>
                          <a:uFillTx/>
                          <a:latin typeface="+mn-ea"/>
                          <a:ea typeface="+mn-ea"/>
                          <a:cs typeface="+mn-cs"/>
                        </a:rPr>
                        <a:t>FB</a:t>
                      </a:r>
                      <a:r>
                        <a:rPr kumimoji="1" lang="ja-JP" altLang="en-US" sz="1400" b="0" i="0" u="none" strike="noStrike" kern="1200" cap="none" spc="0" normalizeH="0" baseline="0" noProof="0">
                          <a:ln>
                            <a:noFill/>
                          </a:ln>
                          <a:solidFill>
                            <a:prstClr val="black"/>
                          </a:solidFill>
                          <a:effectLst/>
                          <a:uLnTx/>
                          <a:uFillTx/>
                          <a:latin typeface="+mn-ea"/>
                          <a:ea typeface="+mn-ea"/>
                          <a:cs typeface="+mn-cs"/>
                        </a:rPr>
                        <a:t>対応反映</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リリース作業</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各種ドキュメント</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prstClr val="black"/>
                          </a:solidFill>
                          <a:effectLst/>
                          <a:uLnTx/>
                          <a:uFillTx/>
                          <a:latin typeface="+mn-ea"/>
                          <a:ea typeface="+mn-ea"/>
                          <a:cs typeface="+mn-cs"/>
                        </a:rPr>
                        <a:t>保守移行</a:t>
                      </a:r>
                      <a:endParaRPr kumimoji="1" lang="en-US" altLang="ja-JP" sz="1400" b="0" i="0" u="none" strike="noStrike" kern="1200" cap="none" spc="0" normalizeH="0" baseline="0" noProof="0">
                        <a:ln>
                          <a:noFill/>
                        </a:ln>
                        <a:solidFill>
                          <a:prstClr val="black"/>
                        </a:solidFill>
                        <a:effectLst/>
                        <a:uLnTx/>
                        <a:uFillTx/>
                        <a:latin typeface="+mn-ea"/>
                        <a:ea typeface="+mn-ea"/>
                        <a:cs typeface="+mn-cs"/>
                      </a:endParaRPr>
                    </a:p>
                  </a:txBody>
                  <a:tcPr>
                    <a:lnL w="6350" cap="flat" cmpd="sng" algn="ctr">
                      <a:solidFill>
                        <a:schemeClr val="bg1">
                          <a:lumMod val="50000"/>
                        </a:schemeClr>
                      </a:solidFill>
                      <a:prstDash val="sysDot"/>
                      <a:round/>
                      <a:headEnd type="none" w="med" len="med"/>
                      <a:tailEnd type="none" w="med" len="med"/>
                    </a:lnL>
                    <a:lnR w="6350" cap="flat" cmpd="sng" algn="ctr">
                      <a:solidFill>
                        <a:schemeClr val="bg1">
                          <a:lumMod val="50000"/>
                        </a:schemeClr>
                      </a:solidFill>
                      <a:prstDash val="sysDot"/>
                      <a:round/>
                      <a:headEnd type="none" w="med" len="med"/>
                      <a:tailEnd type="none" w="med" len="med"/>
                    </a:lnR>
                    <a:lnT w="6350" cap="flat" cmpd="sng" algn="ctr">
                      <a:solidFill>
                        <a:schemeClr val="bg1">
                          <a:lumMod val="50000"/>
                        </a:schemeClr>
                      </a:solidFill>
                      <a:prstDash val="sysDot"/>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7657003"/>
                  </a:ext>
                </a:extLst>
              </a:tr>
            </a:tbl>
          </a:graphicData>
        </a:graphic>
      </p:graphicFrame>
    </p:spTree>
    <p:extLst>
      <p:ext uri="{BB962C8B-B14F-4D97-AF65-F5344CB8AC3E}">
        <p14:creationId xmlns:p14="http://schemas.microsoft.com/office/powerpoint/2010/main" val="3109079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594AE-13DC-536C-857B-F73ED442EB6B}"/>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6F5901B7-4848-A265-90B5-6D7192058009}"/>
              </a:ext>
            </a:extLst>
          </p:cNvPr>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a:extLst>
              <a:ext uri="{FF2B5EF4-FFF2-40B4-BE49-F238E27FC236}">
                <a16:creationId xmlns:a16="http://schemas.microsoft.com/office/drawing/2014/main" id="{54B8E2A6-57FD-3B49-BF2B-456664446C58}"/>
              </a:ext>
            </a:extLst>
          </p:cNvPr>
          <p:cNvSpPr>
            <a:spLocks noGrp="1"/>
          </p:cNvSpPr>
          <p:nvPr>
            <p:ph type="title"/>
          </p:nvPr>
        </p:nvSpPr>
        <p:spPr/>
        <p:txBody>
          <a:bodyPr/>
          <a:lstStyle/>
          <a:p>
            <a:r>
              <a:rPr kumimoji="1" lang="en-US" altLang="ja-JP" dirty="0"/>
              <a:t>4-5</a:t>
            </a:r>
            <a:r>
              <a:rPr kumimoji="1" lang="ja-JP" altLang="en-US"/>
              <a:t>．会議体</a:t>
            </a:r>
            <a:r>
              <a:rPr lang="en-US" altLang="ja-JP" dirty="0"/>
              <a:t>(</a:t>
            </a:r>
            <a:r>
              <a:rPr lang="ja-JP" altLang="ja-JP" dirty="0"/>
              <a:t>アジャイル開発の場合</a:t>
            </a:r>
            <a:r>
              <a:rPr lang="en-US" altLang="ja-JP" dirty="0"/>
              <a:t>)</a:t>
            </a:r>
            <a:endParaRPr kumimoji="1" lang="ja-JP" altLang="en-US"/>
          </a:p>
        </p:txBody>
      </p:sp>
      <p:sp>
        <p:nvSpPr>
          <p:cNvPr id="4" name="フッター プレースホルダー 3">
            <a:extLst>
              <a:ext uri="{FF2B5EF4-FFF2-40B4-BE49-F238E27FC236}">
                <a16:creationId xmlns:a16="http://schemas.microsoft.com/office/drawing/2014/main" id="{ECBFE020-05F3-D7BC-AA0F-962F74CE6850}"/>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88DABE72-78B7-131E-67AE-52C896654EAD}"/>
              </a:ext>
            </a:extLst>
          </p:cNvPr>
          <p:cNvGraphicFramePr>
            <a:graphicFrameLocks/>
          </p:cNvGraphicFramePr>
          <p:nvPr>
            <p:extLst>
              <p:ext uri="{D42A27DB-BD31-4B8C-83A1-F6EECF244321}">
                <p14:modId xmlns:p14="http://schemas.microsoft.com/office/powerpoint/2010/main" val="1958811380"/>
              </p:ext>
            </p:extLst>
          </p:nvPr>
        </p:nvGraphicFramePr>
        <p:xfrm>
          <a:off x="575999" y="1944000"/>
          <a:ext cx="11041199" cy="4263360"/>
        </p:xfrm>
        <a:graphic>
          <a:graphicData uri="http://schemas.openxmlformats.org/drawingml/2006/table">
            <a:tbl>
              <a:tblPr firstRow="1" bandRow="1">
                <a:tableStyleId>{3B4B98B0-60AC-42C2-AFA5-B58CD77FA1E5}</a:tableStyleId>
              </a:tblPr>
              <a:tblGrid>
                <a:gridCol w="2121019">
                  <a:extLst>
                    <a:ext uri="{9D8B030D-6E8A-4147-A177-3AD203B41FA5}">
                      <a16:colId xmlns:a16="http://schemas.microsoft.com/office/drawing/2014/main" val="20000"/>
                    </a:ext>
                  </a:extLst>
                </a:gridCol>
                <a:gridCol w="1333806">
                  <a:extLst>
                    <a:ext uri="{9D8B030D-6E8A-4147-A177-3AD203B41FA5}">
                      <a16:colId xmlns:a16="http://schemas.microsoft.com/office/drawing/2014/main" val="20003"/>
                    </a:ext>
                  </a:extLst>
                </a:gridCol>
                <a:gridCol w="1082352">
                  <a:extLst>
                    <a:ext uri="{9D8B030D-6E8A-4147-A177-3AD203B41FA5}">
                      <a16:colId xmlns:a16="http://schemas.microsoft.com/office/drawing/2014/main" val="2022646445"/>
                    </a:ext>
                  </a:extLst>
                </a:gridCol>
                <a:gridCol w="1112133">
                  <a:extLst>
                    <a:ext uri="{9D8B030D-6E8A-4147-A177-3AD203B41FA5}">
                      <a16:colId xmlns:a16="http://schemas.microsoft.com/office/drawing/2014/main" val="1186915876"/>
                    </a:ext>
                  </a:extLst>
                </a:gridCol>
                <a:gridCol w="5391889">
                  <a:extLst>
                    <a:ext uri="{9D8B030D-6E8A-4147-A177-3AD203B41FA5}">
                      <a16:colId xmlns:a16="http://schemas.microsoft.com/office/drawing/2014/main" val="20001"/>
                    </a:ext>
                  </a:extLst>
                </a:gridCol>
              </a:tblGrid>
              <a:tr h="417600">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会議名</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開催頻度</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会議形態</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主催</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内容</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extLst>
                  <a:ext uri="{0D108BD9-81ED-4DB2-BD59-A6C34878D82A}">
                    <a16:rowId xmlns:a16="http://schemas.microsoft.com/office/drawing/2014/main" val="10000"/>
                  </a:ext>
                </a:extLst>
              </a:tr>
              <a:tr h="752046">
                <a:tc>
                  <a:txBody>
                    <a:bodyPr/>
                    <a:lstStyle/>
                    <a:p>
                      <a:r>
                        <a:rPr kumimoji="1" lang="ja-JP" altLang="en-US" sz="1600">
                          <a:latin typeface="游ゴシック" panose="020B0400000000000000" pitchFamily="50" charset="-128"/>
                          <a:ea typeface="游ゴシック" panose="020B0400000000000000" pitchFamily="50" charset="-128"/>
                        </a:rPr>
                        <a:t>キックオフ会議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pPr algn="ctr"/>
                      <a:r>
                        <a:rPr kumimoji="1" lang="ja-JP" altLang="en-US" sz="1600">
                          <a:latin typeface="游ゴシック" panose="020B0400000000000000" pitchFamily="50" charset="-128"/>
                          <a:ea typeface="游ゴシック" panose="020B0400000000000000" pitchFamily="50" charset="-128"/>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mn-ea"/>
                        </a:rPr>
                        <a:t>WEB</a:t>
                      </a:r>
                      <a:r>
                        <a:rPr kumimoji="1" lang="ja-JP" altLang="en-US" sz="1600">
                          <a:latin typeface="游ゴシック" panose="020B0400000000000000" pitchFamily="50" charset="-128"/>
                          <a:ea typeface="+mn-ea"/>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貴社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mn-ea"/>
                        </a:rPr>
                        <a:t>プロジェクトの進め方、体制、成果物等の認識合わせおよび各種周知事項の共有を行います。</a:t>
                      </a:r>
                    </a:p>
                  </a:txBody>
                  <a:tcPr marL="72000" marR="72000" marT="36000" marB="36000" anchor="ctr"/>
                </a:tc>
                <a:extLst>
                  <a:ext uri="{0D108BD9-81ED-4DB2-BD59-A6C34878D82A}">
                    <a16:rowId xmlns:a16="http://schemas.microsoft.com/office/drawing/2014/main" val="51281576"/>
                  </a:ext>
                </a:extLst>
              </a:tr>
              <a:tr h="523827">
                <a:tc>
                  <a:txBody>
                    <a:bodyPr/>
                    <a:lstStyle/>
                    <a:p>
                      <a:r>
                        <a:rPr kumimoji="1" lang="ja-JP" altLang="en-US" sz="1600">
                          <a:latin typeface="游ゴシック" panose="020B0400000000000000" pitchFamily="50" charset="-128"/>
                          <a:ea typeface="+mn-ea"/>
                        </a:rPr>
                        <a:t>スプリント</a:t>
                      </a:r>
                    </a:p>
                    <a:p>
                      <a:r>
                        <a:rPr kumimoji="1" lang="ja-JP" altLang="en-US" sz="1600">
                          <a:latin typeface="游ゴシック" panose="020B0400000000000000" pitchFamily="50" charset="-128"/>
                          <a:ea typeface="+mn-ea"/>
                        </a:rPr>
                        <a:t>プランニング </a:t>
                      </a:r>
                      <a:endParaRPr kumimoji="1" lang="en-US" altLang="ja-JP" sz="1600">
                        <a:latin typeface="游ゴシック" panose="020B0400000000000000" pitchFamily="50" charset="-128"/>
                        <a:ea typeface="+mn-ea"/>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スプリント</a:t>
                      </a:r>
                      <a:endParaRPr kumimoji="1" lang="en-US" altLang="ja-JP" sz="1600">
                        <a:latin typeface="游ゴシック" panose="020B0400000000000000" pitchFamily="50" charset="-128"/>
                        <a:ea typeface="游ゴシック" panose="020B0400000000000000" pitchFamily="50" charset="-128"/>
                      </a:endParaRPr>
                    </a:p>
                    <a:p>
                      <a:pPr algn="ctr"/>
                      <a:r>
                        <a:rPr kumimoji="1" lang="ja-JP" altLang="en-US" sz="1600">
                          <a:latin typeface="游ゴシック" panose="020B0400000000000000" pitchFamily="50" charset="-128"/>
                          <a:ea typeface="游ゴシック" panose="020B0400000000000000" pitchFamily="50" charset="-128"/>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PO</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solidFill>
                            <a:schemeClr val="tx1"/>
                          </a:solidFill>
                          <a:latin typeface="游ゴシック" panose="020B0400000000000000" pitchFamily="50" charset="-128"/>
                          <a:ea typeface="+mn-ea"/>
                        </a:rPr>
                        <a:t>スプリントで対応するプロダクトバックログ項目を選択し、スプリントのゴールを決めます。</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extLst>
                  <a:ext uri="{0D108BD9-81ED-4DB2-BD59-A6C34878D82A}">
                    <a16:rowId xmlns:a16="http://schemas.microsoft.com/office/drawing/2014/main" val="10001"/>
                  </a:ext>
                </a:extLst>
              </a:tr>
              <a:tr h="523827">
                <a:tc>
                  <a:txBody>
                    <a:bodyPr/>
                    <a:lstStyle/>
                    <a:p>
                      <a:r>
                        <a:rPr kumimoji="1" lang="ja-JP" altLang="en-US" sz="1600">
                          <a:latin typeface="游ゴシック" panose="020B0400000000000000" pitchFamily="50" charset="-128"/>
                          <a:ea typeface="+mn-ea"/>
                        </a:rPr>
                        <a:t>デイリースクラム </a:t>
                      </a:r>
                      <a:endParaRPr kumimoji="1" lang="en-US" altLang="ja-JP" sz="1600">
                        <a:latin typeface="游ゴシック" panose="020B0400000000000000" pitchFamily="50" charset="-128"/>
                        <a:ea typeface="+mn-ea"/>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毎日</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ｽｸﾗﾑﾏｽﾀｰ</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solidFill>
                            <a:schemeClr val="tx1"/>
                          </a:solidFill>
                          <a:latin typeface="游ゴシック" panose="020B0400000000000000" pitchFamily="50" charset="-128"/>
                          <a:ea typeface="+mn-ea"/>
                        </a:rPr>
                        <a:t>昨日の成果・今日の予定・達成するうえでの障害を確認し必要に応じて再計画します。</a:t>
                      </a:r>
                    </a:p>
                  </a:txBody>
                  <a:tcPr marL="72000" marR="72000" marT="36000" marB="36000" anchor="ctr"/>
                </a:tc>
                <a:extLst>
                  <a:ext uri="{0D108BD9-81ED-4DB2-BD59-A6C34878D82A}">
                    <a16:rowId xmlns:a16="http://schemas.microsoft.com/office/drawing/2014/main" val="1929609212"/>
                  </a:ext>
                </a:extLst>
              </a:tr>
              <a:tr h="523827">
                <a:tc>
                  <a:txBody>
                    <a:bodyPr/>
                    <a:lstStyle/>
                    <a:p>
                      <a:r>
                        <a:rPr kumimoji="1" lang="ja-JP" altLang="en-US" sz="1600">
                          <a:latin typeface="游ゴシック" panose="020B0400000000000000" pitchFamily="50" charset="-128"/>
                          <a:ea typeface="+mn-ea"/>
                        </a:rPr>
                        <a:t>スプリントレビュー</a:t>
                      </a: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スプリント</a:t>
                      </a:r>
                      <a:endParaRPr kumimoji="1" lang="en-US" altLang="ja-JP" sz="160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終了時</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lvl="0" indent="0" algn="ctr" defTabSz="914400">
                        <a:lnSpc>
                          <a:spcPct val="100000"/>
                        </a:lnSpc>
                        <a:spcBef>
                          <a:spcPts val="0"/>
                        </a:spcBef>
                        <a:spcAft>
                          <a:spcPts val="0"/>
                        </a:spcAft>
                        <a:buNone/>
                        <a:tabLst/>
                        <a:defRPr/>
                      </a:pPr>
                      <a:r>
                        <a:rPr lang="en-US" altLang="ja-JP" sz="1600" b="0" i="0" u="none" strike="noStrike" noProof="0">
                          <a:solidFill>
                            <a:srgbClr val="000000"/>
                          </a:solidFill>
                          <a:latin typeface="游ゴシック"/>
                        </a:rPr>
                        <a:t>WEB</a:t>
                      </a:r>
                      <a:r>
                        <a:rPr lang="ja-JP" sz="1600" b="0" i="0" u="none" strike="noStrike" noProof="0">
                          <a:solidFill>
                            <a:srgbClr val="000000"/>
                          </a:solidFill>
                          <a:latin typeface="游ゴシック"/>
                          <a:ea typeface="游ゴシック"/>
                        </a:rPr>
                        <a:t>会議</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mn-ea"/>
                        </a:rPr>
                        <a:t>ｽｸﾗﾑﾏｽﾀｰ</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solidFill>
                            <a:schemeClr val="tx1"/>
                          </a:solidFill>
                          <a:latin typeface="游ゴシック" panose="020B0400000000000000" pitchFamily="50" charset="-128"/>
                          <a:ea typeface="+mn-ea"/>
                        </a:rPr>
                        <a:t>スプリントの成果物についてレビューを行いフィードバックを得ます。</a:t>
                      </a:r>
                      <a:endParaRPr kumimoji="1" lang="ja-JP" altLang="en-US" sz="1600">
                        <a:latin typeface="游ゴシック"/>
                        <a:ea typeface="游ゴシック"/>
                      </a:endParaRPr>
                    </a:p>
                  </a:txBody>
                  <a:tcPr marL="72000" marR="72000" marT="36000" marB="36000" anchor="ctr"/>
                </a:tc>
                <a:extLst>
                  <a:ext uri="{0D108BD9-81ED-4DB2-BD59-A6C34878D82A}">
                    <a16:rowId xmlns:a16="http://schemas.microsoft.com/office/drawing/2014/main" val="4056392115"/>
                  </a:ext>
                </a:extLst>
              </a:tr>
              <a:tr h="523827">
                <a:tc>
                  <a:txBody>
                    <a:bodyPr/>
                    <a:lstStyle/>
                    <a:p>
                      <a:pPr latinLnBrk="1"/>
                      <a:r>
                        <a:rPr kumimoji="1" lang="ja-JP" altLang="en-US" sz="1600" b="0">
                          <a:latin typeface="游ゴシック" panose="020B0400000000000000" pitchFamily="50" charset="-128"/>
                          <a:ea typeface="+mn-ea"/>
                        </a:rPr>
                        <a:t>レトロスペクティブ</a:t>
                      </a: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mn-ea"/>
                        </a:rPr>
                        <a:t>スプリント</a:t>
                      </a:r>
                      <a:endParaRPr kumimoji="1" lang="en-US" altLang="ja-JP" sz="1600">
                        <a:latin typeface="游ゴシック" panose="020B0400000000000000" pitchFamily="50" charset="-128"/>
                        <a:ea typeface="+mn-ea"/>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mn-ea"/>
                        </a:rPr>
                        <a:t>終了時</a:t>
                      </a:r>
                      <a:endParaRPr kumimoji="1" lang="en-US" altLang="ja-JP" sz="1600">
                        <a:latin typeface="游ゴシック" panose="020B0400000000000000" pitchFamily="50" charset="-128"/>
                        <a:ea typeface="+mn-ea"/>
                      </a:endParaRP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algn="ctr"/>
                      <a:r>
                        <a:rPr kumimoji="1" lang="ja-JP" altLang="en-US" sz="1600">
                          <a:latin typeface="游ゴシック" panose="020B0400000000000000" pitchFamily="50" charset="-128"/>
                          <a:ea typeface="+mn-ea"/>
                        </a:rPr>
                        <a:t>ｽｸﾗﾑﾏｽﾀｰ</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solidFill>
                            <a:schemeClr val="tx1"/>
                          </a:solidFill>
                          <a:latin typeface="游ゴシック" panose="020B0400000000000000" pitchFamily="50" charset="-128"/>
                          <a:ea typeface="+mn-ea"/>
                        </a:rPr>
                        <a:t>課題や問題などを挙げ、次のスプリントを行う際には同じ問題が起こらないように対策を講じます。</a:t>
                      </a:r>
                      <a:endParaRPr kumimoji="1" lang="en-US" altLang="ja-JP" sz="1600">
                        <a:solidFill>
                          <a:schemeClr val="tx1"/>
                        </a:solidFill>
                        <a:latin typeface="游ゴシック" panose="020B0400000000000000" pitchFamily="50" charset="-128"/>
                        <a:ea typeface="+mn-ea"/>
                      </a:endParaRPr>
                    </a:p>
                  </a:txBody>
                  <a:tcPr marL="72000" marR="72000" marT="36000" marB="36000" anchor="ctr"/>
                </a:tc>
                <a:extLst>
                  <a:ext uri="{0D108BD9-81ED-4DB2-BD59-A6C34878D82A}">
                    <a16:rowId xmlns:a16="http://schemas.microsoft.com/office/drawing/2014/main" val="3243259142"/>
                  </a:ext>
                </a:extLst>
              </a:tr>
              <a:tr h="752046">
                <a:tc>
                  <a:txBody>
                    <a:bodyPr/>
                    <a:lstStyle/>
                    <a:p>
                      <a:pPr latinLnBrk="1"/>
                      <a:r>
                        <a:rPr kumimoji="1" lang="ja-JP" altLang="en-US" sz="1600" b="0">
                          <a:latin typeface="游ゴシック" panose="020B0400000000000000" pitchFamily="50" charset="-128"/>
                          <a:ea typeface="+mn-ea"/>
                        </a:rPr>
                        <a:t>バックログ</a:t>
                      </a:r>
                      <a:br>
                        <a:rPr kumimoji="1" lang="ja-JP" altLang="en-US" sz="1600" b="0">
                          <a:latin typeface="游ゴシック" panose="020B0400000000000000" pitchFamily="50" charset="-128"/>
                          <a:ea typeface="+mn-ea"/>
                        </a:rPr>
                      </a:br>
                      <a:r>
                        <a:rPr kumimoji="1" lang="ja-JP" altLang="en-US" sz="1600" b="0">
                          <a:latin typeface="游ゴシック" panose="020B0400000000000000" pitchFamily="50" charset="-128"/>
                          <a:ea typeface="+mn-ea"/>
                        </a:rPr>
                        <a:t>リファイメント </a:t>
                      </a:r>
                      <a:endParaRPr kumimoji="1" lang="en-US" altLang="ja-JP" sz="1600" b="0">
                        <a:latin typeface="游ゴシック" panose="020B0400000000000000" pitchFamily="50" charset="-128"/>
                        <a:ea typeface="+mn-ea"/>
                      </a:endParaRPr>
                    </a:p>
                    <a:p>
                      <a:pPr latinLnBrk="1"/>
                      <a:endParaRPr kumimoji="1" lang="ja-JP" altLang="en-US" sz="1600" b="0">
                        <a:latin typeface="游ゴシック" panose="020B0400000000000000" pitchFamily="50" charset="-128"/>
                        <a:ea typeface="+mn-ea"/>
                      </a:endParaRPr>
                    </a:p>
                  </a:txBody>
                  <a:tcPr marT="36000" marB="36000" anchor="ctr"/>
                </a:tc>
                <a:tc>
                  <a:txBody>
                    <a:bodyPr/>
                    <a:lstStyle/>
                    <a:p>
                      <a:pPr algn="ctr"/>
                      <a:r>
                        <a:rPr kumimoji="1" lang="ja-JP" altLang="en-US" sz="1600">
                          <a:latin typeface="游ゴシック"/>
                          <a:ea typeface="游ゴシック"/>
                        </a:rPr>
                        <a:t>週</a:t>
                      </a:r>
                      <a:r>
                        <a:rPr kumimoji="1" lang="en-US" altLang="ja-JP" sz="1600">
                          <a:latin typeface="游ゴシック"/>
                          <a:ea typeface="游ゴシック"/>
                        </a:rPr>
                        <a:t>1</a:t>
                      </a:r>
                      <a:r>
                        <a:rPr kumimoji="1" lang="ja-JP" altLang="en-US" sz="1600">
                          <a:latin typeface="游ゴシック"/>
                          <a:ea typeface="游ゴシック"/>
                        </a:rPr>
                        <a:t>～</a:t>
                      </a:r>
                      <a:r>
                        <a:rPr kumimoji="1" lang="en-US" altLang="ja-JP" sz="1600">
                          <a:latin typeface="游ゴシック"/>
                          <a:ea typeface="游ゴシック"/>
                        </a:rPr>
                        <a:t>2</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mn-ea"/>
                        </a:rPr>
                        <a:t>WEB</a:t>
                      </a:r>
                      <a:r>
                        <a:rPr kumimoji="1" lang="ja-JP" altLang="en-US" sz="1600">
                          <a:latin typeface="游ゴシック" panose="020B0400000000000000" pitchFamily="50" charset="-128"/>
                          <a:ea typeface="+mn-ea"/>
                        </a:rPr>
                        <a:t>会議</a:t>
                      </a:r>
                    </a:p>
                  </a:txBody>
                  <a:tcPr marL="72000" marR="72000" marT="36000" marB="36000" anchor="ctr"/>
                </a:tc>
                <a:tc>
                  <a:txBody>
                    <a:bodyPr/>
                    <a:lstStyle/>
                    <a:p>
                      <a:pPr algn="ctr"/>
                      <a:r>
                        <a:rPr kumimoji="1" lang="en-US" altLang="ja-JP" sz="1600">
                          <a:latin typeface="游ゴシック" panose="020B0400000000000000" pitchFamily="50" charset="-128"/>
                          <a:ea typeface="游ゴシック" panose="020B0400000000000000" pitchFamily="50" charset="-128"/>
                        </a:rPr>
                        <a:t>PO</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latin typeface="游ゴシック" panose="020B0400000000000000" pitchFamily="50" charset="-128"/>
                          <a:ea typeface="+mn-ea"/>
                        </a:rPr>
                        <a:t>プロダクトバックログのアイテムを整理・詳細化し、優先順位を見直す作業を行います。</a:t>
                      </a:r>
                      <a:endParaRPr kumimoji="1" lang="en-US" altLang="ja-JP"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txBody>
                  <a:tcPr marL="72000" marR="72000" marT="36000" marB="36000" anchor="ctr"/>
                </a:tc>
                <a:extLst>
                  <a:ext uri="{0D108BD9-81ED-4DB2-BD59-A6C34878D82A}">
                    <a16:rowId xmlns:a16="http://schemas.microsoft.com/office/drawing/2014/main" val="3424667220"/>
                  </a:ext>
                </a:extLst>
              </a:tr>
            </a:tbl>
          </a:graphicData>
        </a:graphic>
      </p:graphicFrame>
      <p:sp>
        <p:nvSpPr>
          <p:cNvPr id="3" name="スライド番号プレースホルダー 3">
            <a:extLst>
              <a:ext uri="{FF2B5EF4-FFF2-40B4-BE49-F238E27FC236}">
                <a16:creationId xmlns:a16="http://schemas.microsoft.com/office/drawing/2014/main" id="{30F04734-F37D-CD99-C250-4701A75B0C68}"/>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27</a:t>
            </a:fld>
            <a:endParaRPr kumimoji="1" lang="ja-JP" altLang="en-US" sz="700"/>
          </a:p>
        </p:txBody>
      </p:sp>
    </p:spTree>
    <p:extLst>
      <p:ext uri="{BB962C8B-B14F-4D97-AF65-F5344CB8AC3E}">
        <p14:creationId xmlns:p14="http://schemas.microsoft.com/office/powerpoint/2010/main" val="2837175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8692-9559-DFBA-5EC9-DE32F0CD203D}"/>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9551D961-EE31-20CC-5484-C789A8490652}"/>
              </a:ext>
            </a:extLst>
          </p:cNvPr>
          <p:cNvSpPr/>
          <p:nvPr/>
        </p:nvSpPr>
        <p:spPr>
          <a:xfrm>
            <a:off x="575998" y="1297411"/>
            <a:ext cx="5899422"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kumimoji="1" lang="ja-JP" altLang="en-US" sz="1400">
              <a:solidFill>
                <a:schemeClr val="tx1"/>
              </a:solidFill>
              <a:latin typeface="+mn-ea"/>
            </a:endParaRPr>
          </a:p>
        </p:txBody>
      </p:sp>
      <p:sp>
        <p:nvSpPr>
          <p:cNvPr id="84" name="正方形/長方形 83">
            <a:extLst>
              <a:ext uri="{FF2B5EF4-FFF2-40B4-BE49-F238E27FC236}">
                <a16:creationId xmlns:a16="http://schemas.microsoft.com/office/drawing/2014/main" id="{99B98DBD-8BB0-5161-A5EC-A221E0D1C173}"/>
              </a:ext>
            </a:extLst>
          </p:cNvPr>
          <p:cNvSpPr/>
          <p:nvPr/>
        </p:nvSpPr>
        <p:spPr>
          <a:xfrm>
            <a:off x="6744448" y="1297410"/>
            <a:ext cx="4875154"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mn-ea"/>
            </a:endParaRPr>
          </a:p>
        </p:txBody>
      </p:sp>
      <p:sp>
        <p:nvSpPr>
          <p:cNvPr id="2" name="タイトル 1">
            <a:extLst>
              <a:ext uri="{FF2B5EF4-FFF2-40B4-BE49-F238E27FC236}">
                <a16:creationId xmlns:a16="http://schemas.microsoft.com/office/drawing/2014/main" id="{25504419-3385-B883-3A0C-5BCCAF2EA70A}"/>
              </a:ext>
            </a:extLst>
          </p:cNvPr>
          <p:cNvSpPr>
            <a:spLocks noGrp="1"/>
          </p:cNvSpPr>
          <p:nvPr>
            <p:ph type="title"/>
          </p:nvPr>
        </p:nvSpPr>
        <p:spPr/>
        <p:txBody>
          <a:bodyPr/>
          <a:lstStyle/>
          <a:p>
            <a:r>
              <a:rPr lang="en-US" altLang="ja-JP" dirty="0"/>
              <a:t>4-6</a:t>
            </a:r>
            <a:r>
              <a:rPr kumimoji="1" lang="ja-JP" altLang="en-US"/>
              <a:t>．体制</a:t>
            </a:r>
            <a:r>
              <a:rPr lang="en-US" altLang="ja-JP"/>
              <a:t>(</a:t>
            </a:r>
            <a:r>
              <a:rPr lang="ja-JP" altLang="en-US"/>
              <a:t>アジャイル開発の場合</a:t>
            </a:r>
            <a:r>
              <a:rPr lang="en-US" altLang="ja-JP"/>
              <a:t>)</a:t>
            </a:r>
            <a:endParaRPr kumimoji="1" lang="ja-JP" altLang="en-US"/>
          </a:p>
        </p:txBody>
      </p:sp>
      <p:sp>
        <p:nvSpPr>
          <p:cNvPr id="4" name="フッター プレースホルダー 3">
            <a:extLst>
              <a:ext uri="{FF2B5EF4-FFF2-40B4-BE49-F238E27FC236}">
                <a16:creationId xmlns:a16="http://schemas.microsoft.com/office/drawing/2014/main" id="{D18DD469-731F-FEB2-5D36-7EFFD19174A5}"/>
              </a:ext>
            </a:extLst>
          </p:cNvPr>
          <p:cNvSpPr>
            <a:spLocks noGrp="1"/>
          </p:cNvSpPr>
          <p:nvPr>
            <p:ph type="ftr" sz="quarter" idx="11"/>
          </p:nvPr>
        </p:nvSpPr>
        <p:spPr/>
        <p:txBody>
          <a:bodyPr/>
          <a:lstStyle/>
          <a:p>
            <a:r>
              <a:rPr lang="en-US" altLang="ja-JP"/>
              <a:t>Copyright © </a:t>
            </a:r>
            <a:r>
              <a:rPr lang="en-US" altLang="ja-JP" err="1"/>
              <a:t>SystemEXE,Inc</a:t>
            </a:r>
            <a:r>
              <a:rPr lang="en-US" altLang="ja-JP"/>
              <a:t> All Rights Reserved.</a:t>
            </a:r>
          </a:p>
        </p:txBody>
      </p:sp>
      <p:sp>
        <p:nvSpPr>
          <p:cNvPr id="30" name="四角形: 上の 2 つの角を丸める 29">
            <a:extLst>
              <a:ext uri="{FF2B5EF4-FFF2-40B4-BE49-F238E27FC236}">
                <a16:creationId xmlns:a16="http://schemas.microsoft.com/office/drawing/2014/main" id="{BCF67B8A-3E55-20B1-C3C3-F0FBA8B80E99}"/>
              </a:ext>
            </a:extLst>
          </p:cNvPr>
          <p:cNvSpPr/>
          <p:nvPr/>
        </p:nvSpPr>
        <p:spPr>
          <a:xfrm>
            <a:off x="575999" y="937411"/>
            <a:ext cx="5899421"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出光興産様</a:t>
            </a:r>
          </a:p>
        </p:txBody>
      </p:sp>
      <p:cxnSp>
        <p:nvCxnSpPr>
          <p:cNvPr id="34" name="直線コネクタ 33">
            <a:extLst>
              <a:ext uri="{FF2B5EF4-FFF2-40B4-BE49-F238E27FC236}">
                <a16:creationId xmlns:a16="http://schemas.microsoft.com/office/drawing/2014/main" id="{542FE137-E0F6-A6C8-CF0C-C091842C2A83}"/>
              </a:ext>
            </a:extLst>
          </p:cNvPr>
          <p:cNvCxnSpPr>
            <a:cxnSpLocks/>
            <a:stCxn id="51" idx="0"/>
          </p:cNvCxnSpPr>
          <p:nvPr/>
        </p:nvCxnSpPr>
        <p:spPr>
          <a:xfrm flipV="1">
            <a:off x="3597735" y="2066834"/>
            <a:ext cx="3" cy="43549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9" name="四角形: 上の 2 つの角を丸める 38">
            <a:extLst>
              <a:ext uri="{FF2B5EF4-FFF2-40B4-BE49-F238E27FC236}">
                <a16:creationId xmlns:a16="http://schemas.microsoft.com/office/drawing/2014/main" id="{34318891-9470-0D74-DEED-FEA54D551C8F}"/>
              </a:ext>
            </a:extLst>
          </p:cNvPr>
          <p:cNvSpPr/>
          <p:nvPr/>
        </p:nvSpPr>
        <p:spPr>
          <a:xfrm>
            <a:off x="6744447" y="937411"/>
            <a:ext cx="4875155"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システムエグゼ</a:t>
            </a:r>
          </a:p>
        </p:txBody>
      </p:sp>
      <p:grpSp>
        <p:nvGrpSpPr>
          <p:cNvPr id="40" name="グループ化 39">
            <a:extLst>
              <a:ext uri="{FF2B5EF4-FFF2-40B4-BE49-F238E27FC236}">
                <a16:creationId xmlns:a16="http://schemas.microsoft.com/office/drawing/2014/main" id="{1F616368-0791-DC08-83C0-97AE7CA5CD2A}"/>
              </a:ext>
            </a:extLst>
          </p:cNvPr>
          <p:cNvGrpSpPr/>
          <p:nvPr/>
        </p:nvGrpSpPr>
        <p:grpSpPr>
          <a:xfrm>
            <a:off x="7048358" y="1513413"/>
            <a:ext cx="1814985" cy="559820"/>
            <a:chOff x="4655954" y="1512000"/>
            <a:chExt cx="3738953" cy="720000"/>
          </a:xfrm>
        </p:grpSpPr>
        <p:sp>
          <p:nvSpPr>
            <p:cNvPr id="41" name="正方形/長方形 40">
              <a:extLst>
                <a:ext uri="{FF2B5EF4-FFF2-40B4-BE49-F238E27FC236}">
                  <a16:creationId xmlns:a16="http://schemas.microsoft.com/office/drawing/2014/main" id="{95FFA790-2DA2-E06A-ACD6-09661AC9B1BA}"/>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プロジェクト責任者</a:t>
              </a:r>
              <a:endParaRPr kumimoji="1" lang="ja-JP" altLang="en-US" sz="1400">
                <a:solidFill>
                  <a:schemeClr val="tx1"/>
                </a:solidFill>
                <a:latin typeface="+mn-ea"/>
              </a:endParaRPr>
            </a:p>
          </p:txBody>
        </p:sp>
        <p:sp>
          <p:nvSpPr>
            <p:cNvPr id="42" name="正方形/長方形 41">
              <a:extLst>
                <a:ext uri="{FF2B5EF4-FFF2-40B4-BE49-F238E27FC236}">
                  <a16:creationId xmlns:a16="http://schemas.microsoft.com/office/drawing/2014/main" id="{FF90ED9E-F867-4D64-14C9-CF8ECBA8FB96}"/>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prstClr val="black"/>
                  </a:solidFill>
                  <a:latin typeface="+mn-ea"/>
                </a:rPr>
                <a:t>福田 慎</a:t>
              </a:r>
              <a:endParaRPr kumimoji="1" lang="ja-JP" altLang="en-US" sz="1400" b="0" i="0" u="none" strike="noStrike" kern="0" cap="none" spc="0" normalizeH="0" baseline="0" noProof="0">
                <a:ln>
                  <a:noFill/>
                </a:ln>
                <a:solidFill>
                  <a:prstClr val="black"/>
                </a:solidFill>
                <a:effectLst/>
                <a:uLnTx/>
                <a:uFillTx/>
                <a:latin typeface="+mn-ea"/>
              </a:endParaRPr>
            </a:p>
          </p:txBody>
        </p:sp>
      </p:grpSp>
      <p:grpSp>
        <p:nvGrpSpPr>
          <p:cNvPr id="43" name="グループ化 42">
            <a:extLst>
              <a:ext uri="{FF2B5EF4-FFF2-40B4-BE49-F238E27FC236}">
                <a16:creationId xmlns:a16="http://schemas.microsoft.com/office/drawing/2014/main" id="{1669A66A-108A-4223-2C2B-C24E9230A76D}"/>
              </a:ext>
            </a:extLst>
          </p:cNvPr>
          <p:cNvGrpSpPr/>
          <p:nvPr/>
        </p:nvGrpSpPr>
        <p:grpSpPr>
          <a:xfrm>
            <a:off x="7048358" y="2919908"/>
            <a:ext cx="1814985" cy="559820"/>
            <a:chOff x="4655954" y="2520000"/>
            <a:chExt cx="3738953" cy="720000"/>
          </a:xfrm>
        </p:grpSpPr>
        <p:sp>
          <p:nvSpPr>
            <p:cNvPr id="44" name="正方形/長方形 43">
              <a:extLst>
                <a:ext uri="{FF2B5EF4-FFF2-40B4-BE49-F238E27FC236}">
                  <a16:creationId xmlns:a16="http://schemas.microsoft.com/office/drawing/2014/main" id="{3026125A-BA7F-D38A-CD5B-71CA06F60C15}"/>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PM(</a:t>
              </a:r>
              <a:r>
                <a:rPr lang="ja-JP" altLang="en-US" sz="1400">
                  <a:solidFill>
                    <a:schemeClr val="tx1"/>
                  </a:solidFill>
                  <a:latin typeface="+mn-ea"/>
                </a:rPr>
                <a:t>ｽｸﾗﾑﾏｽﾀｰ</a:t>
              </a:r>
              <a:r>
                <a:rPr lang="en-US" altLang="ja-JP" sz="1400">
                  <a:solidFill>
                    <a:schemeClr val="tx1"/>
                  </a:solidFill>
                  <a:latin typeface="+mn-ea"/>
                </a:rPr>
                <a:t>)</a:t>
              </a:r>
              <a:endParaRPr kumimoji="1" lang="ja-JP" altLang="en-US" sz="1400">
                <a:solidFill>
                  <a:schemeClr val="tx1"/>
                </a:solidFill>
                <a:latin typeface="+mn-ea"/>
              </a:endParaRPr>
            </a:p>
          </p:txBody>
        </p:sp>
        <p:sp>
          <p:nvSpPr>
            <p:cNvPr id="47" name="正方形/長方形 46">
              <a:extLst>
                <a:ext uri="{FF2B5EF4-FFF2-40B4-BE49-F238E27FC236}">
                  <a16:creationId xmlns:a16="http://schemas.microsoft.com/office/drawing/2014/main" id="{8E71A257-E798-368E-DEDC-CA559E3FD481}"/>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川名 翔太</a:t>
              </a:r>
            </a:p>
          </p:txBody>
        </p:sp>
      </p:grpSp>
      <p:cxnSp>
        <p:nvCxnSpPr>
          <p:cNvPr id="48" name="直線コネクタ 47">
            <a:extLst>
              <a:ext uri="{FF2B5EF4-FFF2-40B4-BE49-F238E27FC236}">
                <a16:creationId xmlns:a16="http://schemas.microsoft.com/office/drawing/2014/main" id="{8DEA1813-E0F6-1954-728F-E7B5DB154885}"/>
              </a:ext>
            </a:extLst>
          </p:cNvPr>
          <p:cNvCxnSpPr>
            <a:cxnSpLocks/>
          </p:cNvCxnSpPr>
          <p:nvPr/>
        </p:nvCxnSpPr>
        <p:spPr>
          <a:xfrm flipH="1">
            <a:off x="7955849" y="2073231"/>
            <a:ext cx="3" cy="84667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1D34D32D-FC23-70CD-0829-D8F74B45C707}"/>
              </a:ext>
            </a:extLst>
          </p:cNvPr>
          <p:cNvGrpSpPr/>
          <p:nvPr/>
        </p:nvGrpSpPr>
        <p:grpSpPr>
          <a:xfrm>
            <a:off x="9506939" y="2197789"/>
            <a:ext cx="1547336" cy="559820"/>
            <a:chOff x="768000" y="1440000"/>
            <a:chExt cx="2880000" cy="720000"/>
          </a:xfrm>
        </p:grpSpPr>
        <p:sp>
          <p:nvSpPr>
            <p:cNvPr id="57" name="正方形/長方形 56">
              <a:extLst>
                <a:ext uri="{FF2B5EF4-FFF2-40B4-BE49-F238E27FC236}">
                  <a16:creationId xmlns:a16="http://schemas.microsoft.com/office/drawing/2014/main" id="{FC290200-EC14-C34A-C887-52E2FFE977D3}"/>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営業</a:t>
              </a:r>
              <a:endParaRPr kumimoji="1" lang="ja-JP" altLang="en-US" sz="1400">
                <a:solidFill>
                  <a:schemeClr val="tx1"/>
                </a:solidFill>
                <a:latin typeface="+mn-ea"/>
              </a:endParaRPr>
            </a:p>
          </p:txBody>
        </p:sp>
        <p:sp>
          <p:nvSpPr>
            <p:cNvPr id="58" name="正方形/長方形 57">
              <a:extLst>
                <a:ext uri="{FF2B5EF4-FFF2-40B4-BE49-F238E27FC236}">
                  <a16:creationId xmlns:a16="http://schemas.microsoft.com/office/drawing/2014/main" id="{5445AD43-0EA6-CF7D-AB50-F8FF3C2222F1}"/>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mn-ea"/>
                </a:rPr>
                <a:t>髙浦 祐朗</a:t>
              </a:r>
            </a:p>
          </p:txBody>
        </p:sp>
      </p:grpSp>
      <p:grpSp>
        <p:nvGrpSpPr>
          <p:cNvPr id="61" name="グループ化 60">
            <a:extLst>
              <a:ext uri="{FF2B5EF4-FFF2-40B4-BE49-F238E27FC236}">
                <a16:creationId xmlns:a16="http://schemas.microsoft.com/office/drawing/2014/main" id="{51F2A6A0-B49E-4F86-9078-DE830BC11681}"/>
              </a:ext>
            </a:extLst>
          </p:cNvPr>
          <p:cNvGrpSpPr/>
          <p:nvPr/>
        </p:nvGrpSpPr>
        <p:grpSpPr>
          <a:xfrm>
            <a:off x="2579180" y="1507014"/>
            <a:ext cx="2037111" cy="559819"/>
            <a:chOff x="719999" y="2016000"/>
            <a:chExt cx="2304000" cy="720000"/>
          </a:xfrm>
        </p:grpSpPr>
        <p:sp>
          <p:nvSpPr>
            <p:cNvPr id="62" name="正方形/長方形 61">
              <a:extLst>
                <a:ext uri="{FF2B5EF4-FFF2-40B4-BE49-F238E27FC236}">
                  <a16:creationId xmlns:a16="http://schemas.microsoft.com/office/drawing/2014/main" id="{F0CBF4BF-E5FC-9DB0-32E6-4643BB64DF17}"/>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n-ea"/>
              </a:endParaRPr>
            </a:p>
          </p:txBody>
        </p:sp>
        <p:sp>
          <p:nvSpPr>
            <p:cNvPr id="63" name="正方形/長方形 62">
              <a:extLst>
                <a:ext uri="{FF2B5EF4-FFF2-40B4-BE49-F238E27FC236}">
                  <a16:creationId xmlns:a16="http://schemas.microsoft.com/office/drawing/2014/main" id="{73D9B7AF-8103-F89B-48F2-784FD359A869}"/>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n-ea"/>
                </a:rPr>
                <a:t>プロジェクト責任者</a:t>
              </a:r>
            </a:p>
          </p:txBody>
        </p:sp>
        <p:sp>
          <p:nvSpPr>
            <p:cNvPr id="64" name="正方形/長方形 63">
              <a:extLst>
                <a:ext uri="{FF2B5EF4-FFF2-40B4-BE49-F238E27FC236}">
                  <a16:creationId xmlns:a16="http://schemas.microsoft.com/office/drawing/2014/main" id="{0E8494E3-87C7-72FE-AE0F-0F09C422A53A}"/>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mn-ea"/>
                </a:rPr>
                <a:t>澤井様</a:t>
              </a:r>
              <a:endParaRPr lang="en-US" altLang="ja-JP" sz="1400">
                <a:solidFill>
                  <a:schemeClr val="tx1"/>
                </a:solidFill>
                <a:latin typeface="+mn-ea"/>
              </a:endParaRPr>
            </a:p>
          </p:txBody>
        </p:sp>
      </p:grpSp>
      <p:cxnSp>
        <p:nvCxnSpPr>
          <p:cNvPr id="72" name="直線コネクタ 71">
            <a:extLst>
              <a:ext uri="{FF2B5EF4-FFF2-40B4-BE49-F238E27FC236}">
                <a16:creationId xmlns:a16="http://schemas.microsoft.com/office/drawing/2014/main" id="{439C1B79-46A7-509F-BC84-FA215E88D327}"/>
              </a:ext>
            </a:extLst>
          </p:cNvPr>
          <p:cNvCxnSpPr>
            <a:cxnSpLocks/>
          </p:cNvCxnSpPr>
          <p:nvPr/>
        </p:nvCxnSpPr>
        <p:spPr>
          <a:xfrm>
            <a:off x="7955849" y="2617652"/>
            <a:ext cx="1551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9352CA9D-3964-3D34-B49E-F5E1083084A3}"/>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80" name="グループ化 79">
            <a:extLst>
              <a:ext uri="{FF2B5EF4-FFF2-40B4-BE49-F238E27FC236}">
                <a16:creationId xmlns:a16="http://schemas.microsoft.com/office/drawing/2014/main" id="{3881F75F-1DBC-C229-013F-CBA756531C1D}"/>
              </a:ext>
            </a:extLst>
          </p:cNvPr>
          <p:cNvGrpSpPr/>
          <p:nvPr/>
        </p:nvGrpSpPr>
        <p:grpSpPr>
          <a:xfrm>
            <a:off x="9506939" y="1507018"/>
            <a:ext cx="1547336" cy="559820"/>
            <a:chOff x="8544000" y="2232000"/>
            <a:chExt cx="2880000" cy="720000"/>
          </a:xfrm>
        </p:grpSpPr>
        <p:sp>
          <p:nvSpPr>
            <p:cNvPr id="81" name="正方形/長方形 80">
              <a:extLst>
                <a:ext uri="{FF2B5EF4-FFF2-40B4-BE49-F238E27FC236}">
                  <a16:creationId xmlns:a16="http://schemas.microsoft.com/office/drawing/2014/main" id="{982519A5-9549-AB12-6048-F3707979246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mn-ea"/>
                </a:rPr>
                <a:t>品質保証</a:t>
              </a:r>
            </a:p>
          </p:txBody>
        </p:sp>
        <p:sp>
          <p:nvSpPr>
            <p:cNvPr id="82" name="正方形/長方形 81">
              <a:extLst>
                <a:ext uri="{FF2B5EF4-FFF2-40B4-BE49-F238E27FC236}">
                  <a16:creationId xmlns:a16="http://schemas.microsoft.com/office/drawing/2014/main" id="{C471829B-539A-4983-416C-A96DF80FDD6D}"/>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ja-JP" altLang="en-US" sz="1400">
                  <a:solidFill>
                    <a:schemeClr val="tx1"/>
                  </a:solidFill>
                  <a:latin typeface="+mn-ea"/>
                </a:rPr>
                <a:t>品質向上委員会</a:t>
              </a:r>
              <a:endParaRPr lang="en-US" altLang="ja-JP" sz="1400">
                <a:solidFill>
                  <a:schemeClr val="tx1"/>
                </a:solidFill>
                <a:latin typeface="+mn-ea"/>
              </a:endParaRPr>
            </a:p>
          </p:txBody>
        </p:sp>
      </p:grpSp>
      <p:grpSp>
        <p:nvGrpSpPr>
          <p:cNvPr id="7" name="グループ化 6">
            <a:extLst>
              <a:ext uri="{FF2B5EF4-FFF2-40B4-BE49-F238E27FC236}">
                <a16:creationId xmlns:a16="http://schemas.microsoft.com/office/drawing/2014/main" id="{AB62B23E-9CF4-0AB8-4620-0AA0C299EC83}"/>
              </a:ext>
            </a:extLst>
          </p:cNvPr>
          <p:cNvGrpSpPr/>
          <p:nvPr/>
        </p:nvGrpSpPr>
        <p:grpSpPr>
          <a:xfrm>
            <a:off x="4192660" y="3744233"/>
            <a:ext cx="4779129" cy="1794871"/>
            <a:chOff x="4655954" y="2520000"/>
            <a:chExt cx="3738953" cy="1463523"/>
          </a:xfrm>
        </p:grpSpPr>
        <p:sp>
          <p:nvSpPr>
            <p:cNvPr id="8" name="正方形/長方形 7">
              <a:extLst>
                <a:ext uri="{FF2B5EF4-FFF2-40B4-BE49-F238E27FC236}">
                  <a16:creationId xmlns:a16="http://schemas.microsoft.com/office/drawing/2014/main" id="{8ABC91B1-5955-4B6D-28A0-B05153F044F9}"/>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mn-ea"/>
                </a:rPr>
                <a:t>スクラムチーム</a:t>
              </a:r>
            </a:p>
          </p:txBody>
        </p:sp>
        <p:sp>
          <p:nvSpPr>
            <p:cNvPr id="9" name="正方形/長方形 8">
              <a:extLst>
                <a:ext uri="{FF2B5EF4-FFF2-40B4-BE49-F238E27FC236}">
                  <a16:creationId xmlns:a16="http://schemas.microsoft.com/office/drawing/2014/main" id="{B76442A9-6042-AA89-F03E-5D10247E826D}"/>
                </a:ext>
              </a:extLst>
            </p:cNvPr>
            <p:cNvSpPr/>
            <p:nvPr/>
          </p:nvSpPr>
          <p:spPr>
            <a:xfrm>
              <a:off x="4655960" y="2880000"/>
              <a:ext cx="3738947" cy="1103523"/>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endParaRPr lang="ja-JP" altLang="en-US" sz="1400">
                <a:solidFill>
                  <a:srgbClr val="333333"/>
                </a:solidFill>
                <a:latin typeface="+mn-ea"/>
              </a:endParaRPr>
            </a:p>
          </p:txBody>
        </p:sp>
      </p:grpSp>
      <p:grpSp>
        <p:nvGrpSpPr>
          <p:cNvPr id="11" name="グループ化 10">
            <a:extLst>
              <a:ext uri="{FF2B5EF4-FFF2-40B4-BE49-F238E27FC236}">
                <a16:creationId xmlns:a16="http://schemas.microsoft.com/office/drawing/2014/main" id="{4DA03BEF-3AF6-A414-7AB6-D4741865AEE6}"/>
              </a:ext>
            </a:extLst>
          </p:cNvPr>
          <p:cNvGrpSpPr/>
          <p:nvPr/>
        </p:nvGrpSpPr>
        <p:grpSpPr>
          <a:xfrm>
            <a:off x="4621635" y="4427584"/>
            <a:ext cx="1514430" cy="534951"/>
            <a:chOff x="82080" y="2983985"/>
            <a:chExt cx="2304000" cy="688018"/>
          </a:xfrm>
        </p:grpSpPr>
        <p:sp>
          <p:nvSpPr>
            <p:cNvPr id="12" name="正方形/長方形 11">
              <a:extLst>
                <a:ext uri="{FF2B5EF4-FFF2-40B4-BE49-F238E27FC236}">
                  <a16:creationId xmlns:a16="http://schemas.microsoft.com/office/drawing/2014/main" id="{C4470717-5B3A-CC5E-7D92-A11241D452A9}"/>
                </a:ext>
              </a:extLst>
            </p:cNvPr>
            <p:cNvSpPr/>
            <p:nvPr/>
          </p:nvSpPr>
          <p:spPr>
            <a:xfrm>
              <a:off x="82080" y="2983985"/>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chemeClr val="tx1"/>
                  </a:solidFill>
                  <a:latin typeface="+mn-ea"/>
                </a:rPr>
                <a:t>PO</a:t>
              </a:r>
              <a:endParaRPr kumimoji="1" lang="ja-JP" altLang="en-US" sz="1400">
                <a:solidFill>
                  <a:schemeClr val="tx1"/>
                </a:solidFill>
                <a:latin typeface="+mn-ea"/>
              </a:endParaRPr>
            </a:p>
          </p:txBody>
        </p:sp>
        <p:sp>
          <p:nvSpPr>
            <p:cNvPr id="13" name="正方形/長方形 12">
              <a:extLst>
                <a:ext uri="{FF2B5EF4-FFF2-40B4-BE49-F238E27FC236}">
                  <a16:creationId xmlns:a16="http://schemas.microsoft.com/office/drawing/2014/main" id="{A2BD19FB-8A17-61C3-0BC3-BC8A10DF1741}"/>
                </a:ext>
              </a:extLst>
            </p:cNvPr>
            <p:cNvSpPr/>
            <p:nvPr/>
          </p:nvSpPr>
          <p:spPr>
            <a:xfrm>
              <a:off x="82080" y="3312003"/>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prstClr val="black"/>
                  </a:solidFill>
                  <a:latin typeface="+mn-ea"/>
                </a:rPr>
                <a:t>奥田</a:t>
              </a:r>
              <a:r>
                <a:rPr kumimoji="0" lang="ja-JP" altLang="en-US" sz="1400" b="0" i="0" u="none" strike="noStrike" kern="0" cap="none" spc="0" normalizeH="0" baseline="0" noProof="0">
                  <a:ln>
                    <a:noFill/>
                  </a:ln>
                  <a:solidFill>
                    <a:prstClr val="black"/>
                  </a:solidFill>
                  <a:effectLst/>
                  <a:uLnTx/>
                  <a:uFillTx/>
                  <a:latin typeface="+mn-ea"/>
                </a:rPr>
                <a:t>様</a:t>
              </a:r>
              <a:endParaRPr lang="en-US" altLang="ja-JP" sz="1400">
                <a:solidFill>
                  <a:schemeClr val="tx1"/>
                </a:solidFill>
                <a:latin typeface="+mn-ea"/>
              </a:endParaRPr>
            </a:p>
          </p:txBody>
        </p:sp>
      </p:grpSp>
      <p:grpSp>
        <p:nvGrpSpPr>
          <p:cNvPr id="29" name="グループ化 28">
            <a:extLst>
              <a:ext uri="{FF2B5EF4-FFF2-40B4-BE49-F238E27FC236}">
                <a16:creationId xmlns:a16="http://schemas.microsoft.com/office/drawing/2014/main" id="{2619DD0D-5AD1-0754-FADB-C2BDF1480516}"/>
              </a:ext>
            </a:extLst>
          </p:cNvPr>
          <p:cNvGrpSpPr/>
          <p:nvPr/>
        </p:nvGrpSpPr>
        <p:grpSpPr>
          <a:xfrm>
            <a:off x="818873" y="4390282"/>
            <a:ext cx="1043640" cy="559820"/>
            <a:chOff x="719999" y="2952000"/>
            <a:chExt cx="2304000" cy="720000"/>
          </a:xfrm>
        </p:grpSpPr>
        <p:sp>
          <p:nvSpPr>
            <p:cNvPr id="31" name="正方形/長方形 30">
              <a:extLst>
                <a:ext uri="{FF2B5EF4-FFF2-40B4-BE49-F238E27FC236}">
                  <a16:creationId xmlns:a16="http://schemas.microsoft.com/office/drawing/2014/main" id="{73BB2B2D-7994-DBCE-F987-D9E37858D833}"/>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各拠点</a:t>
              </a:r>
            </a:p>
          </p:txBody>
        </p:sp>
        <p:sp>
          <p:nvSpPr>
            <p:cNvPr id="32" name="正方形/長方形 31">
              <a:extLst>
                <a:ext uri="{FF2B5EF4-FFF2-40B4-BE49-F238E27FC236}">
                  <a16:creationId xmlns:a16="http://schemas.microsoft.com/office/drawing/2014/main" id="{653A9D61-A09A-1500-86D7-38F0B496A4A3}"/>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担当者様</a:t>
              </a:r>
              <a:endParaRPr lang="en-US" altLang="ja-JP" sz="1400">
                <a:solidFill>
                  <a:schemeClr val="tx1"/>
                </a:solidFill>
                <a:latin typeface="+mn-ea"/>
              </a:endParaRPr>
            </a:p>
          </p:txBody>
        </p:sp>
      </p:grpSp>
      <p:cxnSp>
        <p:nvCxnSpPr>
          <p:cNvPr id="94" name="直線コネクタ 93">
            <a:extLst>
              <a:ext uri="{FF2B5EF4-FFF2-40B4-BE49-F238E27FC236}">
                <a16:creationId xmlns:a16="http://schemas.microsoft.com/office/drawing/2014/main" id="{81B68984-FF07-56C2-97D6-407824AB569F}"/>
              </a:ext>
            </a:extLst>
          </p:cNvPr>
          <p:cNvCxnSpPr>
            <a:cxnSpLocks/>
            <a:stCxn id="32" idx="3"/>
            <a:endCxn id="13" idx="1"/>
          </p:cNvCxnSpPr>
          <p:nvPr/>
        </p:nvCxnSpPr>
        <p:spPr>
          <a:xfrm>
            <a:off x="1862513" y="4810147"/>
            <a:ext cx="2759122"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9" name="スライド番号プレースホルダー 3">
            <a:extLst>
              <a:ext uri="{FF2B5EF4-FFF2-40B4-BE49-F238E27FC236}">
                <a16:creationId xmlns:a16="http://schemas.microsoft.com/office/drawing/2014/main" id="{B9286E32-BD3E-EC3A-B907-094E17289A4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28</a:t>
            </a:fld>
            <a:endParaRPr kumimoji="1" lang="ja-JP" altLang="en-US" sz="700"/>
          </a:p>
        </p:txBody>
      </p:sp>
      <p:cxnSp>
        <p:nvCxnSpPr>
          <p:cNvPr id="37" name="コネクタ: カギ線 36">
            <a:extLst>
              <a:ext uri="{FF2B5EF4-FFF2-40B4-BE49-F238E27FC236}">
                <a16:creationId xmlns:a16="http://schemas.microsoft.com/office/drawing/2014/main" id="{D2B2C85C-10EB-F591-F0EB-6A32CB01D9C8}"/>
              </a:ext>
            </a:extLst>
          </p:cNvPr>
          <p:cNvCxnSpPr>
            <a:cxnSpLocks/>
            <a:stCxn id="47" idx="2"/>
            <a:endCxn id="8" idx="0"/>
          </p:cNvCxnSpPr>
          <p:nvPr/>
        </p:nvCxnSpPr>
        <p:spPr>
          <a:xfrm rot="5400000">
            <a:off x="7136785" y="2925165"/>
            <a:ext cx="264505" cy="1373631"/>
          </a:xfrm>
          <a:prstGeom prst="bentConnector3">
            <a:avLst>
              <a:gd name="adj1" fmla="val 50000"/>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D650412F-1683-72FB-D0FC-80A04BF55359}"/>
              </a:ext>
            </a:extLst>
          </p:cNvPr>
          <p:cNvGrpSpPr/>
          <p:nvPr/>
        </p:nvGrpSpPr>
        <p:grpSpPr>
          <a:xfrm>
            <a:off x="2579178" y="2502328"/>
            <a:ext cx="2037113" cy="534950"/>
            <a:chOff x="719999" y="2983984"/>
            <a:chExt cx="2304000" cy="688016"/>
          </a:xfrm>
        </p:grpSpPr>
        <p:sp>
          <p:nvSpPr>
            <p:cNvPr id="51" name="正方形/長方形 50">
              <a:extLst>
                <a:ext uri="{FF2B5EF4-FFF2-40B4-BE49-F238E27FC236}">
                  <a16:creationId xmlns:a16="http://schemas.microsoft.com/office/drawing/2014/main" id="{D5C89ACD-1EE0-4EF8-187A-AD72FB516CDF}"/>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chemeClr val="tx1"/>
                  </a:solidFill>
                  <a:latin typeface="+mn-ea"/>
                </a:rPr>
                <a:t>PM</a:t>
              </a:r>
              <a:r>
                <a:rPr lang="en-US" altLang="ja-JP" sz="1400">
                  <a:solidFill>
                    <a:schemeClr val="tx1"/>
                  </a:solidFill>
                  <a:latin typeface="+mn-ea"/>
                </a:rPr>
                <a:t> (</a:t>
              </a:r>
              <a:r>
                <a:rPr lang="ja-JP" altLang="en-US" sz="1400">
                  <a:solidFill>
                    <a:schemeClr val="tx1"/>
                  </a:solidFill>
                  <a:latin typeface="+mn-ea"/>
                </a:rPr>
                <a:t>ｽｸﾗﾑﾏｽﾀｰ</a:t>
              </a:r>
              <a:r>
                <a:rPr lang="en-US" altLang="ja-JP" sz="1400">
                  <a:solidFill>
                    <a:schemeClr val="tx1"/>
                  </a:solidFill>
                  <a:latin typeface="+mn-ea"/>
                </a:rPr>
                <a:t>)</a:t>
              </a:r>
              <a:endParaRPr kumimoji="1" lang="ja-JP" altLang="en-US" sz="1400">
                <a:solidFill>
                  <a:schemeClr val="tx1"/>
                </a:solidFill>
                <a:latin typeface="+mn-ea"/>
              </a:endParaRPr>
            </a:p>
          </p:txBody>
        </p:sp>
        <p:sp>
          <p:nvSpPr>
            <p:cNvPr id="52" name="正方形/長方形 51">
              <a:extLst>
                <a:ext uri="{FF2B5EF4-FFF2-40B4-BE49-F238E27FC236}">
                  <a16:creationId xmlns:a16="http://schemas.microsoft.com/office/drawing/2014/main" id="{65E55A95-1524-D046-2B7D-EFA3CEB3F879}"/>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吉田様</a:t>
              </a:r>
              <a:r>
                <a:rPr kumimoji="0" lang="en-US" altLang="ja-JP" sz="1400" b="0" i="0" u="none" strike="noStrike" kern="0" cap="none" spc="0" normalizeH="0" baseline="0" noProof="0">
                  <a:ln>
                    <a:noFill/>
                  </a:ln>
                  <a:solidFill>
                    <a:prstClr val="black"/>
                  </a:solidFill>
                  <a:effectLst/>
                  <a:uLnTx/>
                  <a:uFillTx/>
                  <a:latin typeface="+mn-ea"/>
                </a:rPr>
                <a:t>/</a:t>
              </a:r>
              <a:r>
                <a:rPr kumimoji="0" lang="ja-JP" altLang="en-US" sz="1400" b="0" i="0" u="none" strike="noStrike" kern="0" cap="none" spc="0" normalizeH="0" baseline="0" noProof="0">
                  <a:ln>
                    <a:noFill/>
                  </a:ln>
                  <a:solidFill>
                    <a:prstClr val="black"/>
                  </a:solidFill>
                  <a:effectLst/>
                  <a:uLnTx/>
                  <a:uFillTx/>
                  <a:latin typeface="+mn-ea"/>
                </a:rPr>
                <a:t>澤田様</a:t>
              </a:r>
              <a:endParaRPr lang="en-US" altLang="ja-JP" sz="1400">
                <a:solidFill>
                  <a:schemeClr val="tx1"/>
                </a:solidFill>
                <a:latin typeface="+mn-ea"/>
              </a:endParaRPr>
            </a:p>
          </p:txBody>
        </p:sp>
      </p:grpSp>
      <p:cxnSp>
        <p:nvCxnSpPr>
          <p:cNvPr id="69" name="コネクタ: カギ線 68">
            <a:extLst>
              <a:ext uri="{FF2B5EF4-FFF2-40B4-BE49-F238E27FC236}">
                <a16:creationId xmlns:a16="http://schemas.microsoft.com/office/drawing/2014/main" id="{A3744246-3BED-F941-A74F-541AA430EBB9}"/>
              </a:ext>
            </a:extLst>
          </p:cNvPr>
          <p:cNvCxnSpPr>
            <a:cxnSpLocks/>
            <a:stCxn id="52" idx="2"/>
            <a:endCxn id="8" idx="0"/>
          </p:cNvCxnSpPr>
          <p:nvPr/>
        </p:nvCxnSpPr>
        <p:spPr>
          <a:xfrm rot="16200000" flipH="1">
            <a:off x="4736501" y="1898512"/>
            <a:ext cx="706955" cy="2984486"/>
          </a:xfrm>
          <a:prstGeom prst="bentConnector3">
            <a:avLst>
              <a:gd name="adj1" fmla="val 50000"/>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4" name="グループ化 73">
            <a:extLst>
              <a:ext uri="{FF2B5EF4-FFF2-40B4-BE49-F238E27FC236}">
                <a16:creationId xmlns:a16="http://schemas.microsoft.com/office/drawing/2014/main" id="{BB6A735B-E333-236E-E951-9934E1CEF6FC}"/>
              </a:ext>
            </a:extLst>
          </p:cNvPr>
          <p:cNvGrpSpPr/>
          <p:nvPr/>
        </p:nvGrpSpPr>
        <p:grpSpPr>
          <a:xfrm>
            <a:off x="7042111" y="4415151"/>
            <a:ext cx="1514430" cy="897168"/>
            <a:chOff x="719999" y="2983984"/>
            <a:chExt cx="2304000" cy="1153876"/>
          </a:xfrm>
        </p:grpSpPr>
        <p:sp>
          <p:nvSpPr>
            <p:cNvPr id="75" name="正方形/長方形 74">
              <a:extLst>
                <a:ext uri="{FF2B5EF4-FFF2-40B4-BE49-F238E27FC236}">
                  <a16:creationId xmlns:a16="http://schemas.microsoft.com/office/drawing/2014/main" id="{9083BC27-85A5-74B7-2AFB-AA136529C7A5}"/>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メンバー</a:t>
              </a:r>
            </a:p>
          </p:txBody>
        </p:sp>
        <p:sp>
          <p:nvSpPr>
            <p:cNvPr id="76" name="正方形/長方形 75">
              <a:extLst>
                <a:ext uri="{FF2B5EF4-FFF2-40B4-BE49-F238E27FC236}">
                  <a16:creationId xmlns:a16="http://schemas.microsoft.com/office/drawing/2014/main" id="{467DA5A1-3811-A7C4-91A0-066ABAD69E7E}"/>
                </a:ext>
              </a:extLst>
            </p:cNvPr>
            <p:cNvSpPr/>
            <p:nvPr/>
          </p:nvSpPr>
          <p:spPr>
            <a:xfrm>
              <a:off x="719999" y="3312000"/>
              <a:ext cx="2304000" cy="82586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ja-JP" sz="1400" kern="0">
                  <a:solidFill>
                    <a:prstClr val="black"/>
                  </a:solidFill>
                  <a:latin typeface="+mn-ea"/>
                </a:rPr>
                <a:t>TBD</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prstClr val="black"/>
                  </a:solidFill>
                  <a:latin typeface="+mn-ea"/>
                </a:rPr>
                <a:t>ブリッジ</a:t>
              </a:r>
              <a:r>
                <a:rPr lang="en-US" altLang="ja-JP" sz="1400" kern="0">
                  <a:solidFill>
                    <a:schemeClr val="tx1"/>
                  </a:solidFill>
                  <a:latin typeface="+mn-ea"/>
                </a:rPr>
                <a:t>SE</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schemeClr val="tx1"/>
                  </a:solidFill>
                  <a:latin typeface="+mn-ea"/>
                </a:rPr>
                <a:t>オフショア</a:t>
              </a:r>
              <a:endParaRPr lang="en-US" altLang="ja-JP" sz="1400" kern="0">
                <a:solidFill>
                  <a:prstClr val="black"/>
                </a:solidFill>
                <a:latin typeface="+mn-ea"/>
              </a:endParaRPr>
            </a:p>
          </p:txBody>
        </p:sp>
      </p:grpSp>
      <p:cxnSp>
        <p:nvCxnSpPr>
          <p:cNvPr id="90" name="コネクタ: カギ線 89">
            <a:extLst>
              <a:ext uri="{FF2B5EF4-FFF2-40B4-BE49-F238E27FC236}">
                <a16:creationId xmlns:a16="http://schemas.microsoft.com/office/drawing/2014/main" id="{D9BFC8DC-442C-D6D0-84CC-678E57B77428}"/>
              </a:ext>
            </a:extLst>
          </p:cNvPr>
          <p:cNvCxnSpPr>
            <a:cxnSpLocks/>
            <a:stCxn id="13" idx="3"/>
            <a:endCxn id="76" idx="1"/>
          </p:cNvCxnSpPr>
          <p:nvPr/>
        </p:nvCxnSpPr>
        <p:spPr>
          <a:xfrm>
            <a:off x="6136065" y="4822581"/>
            <a:ext cx="906046" cy="168675"/>
          </a:xfrm>
          <a:prstGeom prst="bentConnector3">
            <a:avLst>
              <a:gd name="adj1" fmla="val 50000"/>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吹き出し: 四角形 2">
            <a:extLst>
              <a:ext uri="{FF2B5EF4-FFF2-40B4-BE49-F238E27FC236}">
                <a16:creationId xmlns:a16="http://schemas.microsoft.com/office/drawing/2014/main" id="{B9B1DC4F-56C3-4871-04D1-6BA539AEF9A6}"/>
              </a:ext>
            </a:extLst>
          </p:cNvPr>
          <p:cNvSpPr/>
          <p:nvPr/>
        </p:nvSpPr>
        <p:spPr>
          <a:xfrm>
            <a:off x="9182024" y="3028513"/>
            <a:ext cx="1669188" cy="487343"/>
          </a:xfrm>
          <a:prstGeom prst="wedgeRectCallout">
            <a:avLst>
              <a:gd name="adj1" fmla="val -69908"/>
              <a:gd name="adj2" fmla="val -30228"/>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en-US" altLang="ja-JP" sz="1100">
                <a:latin typeface="+mn-ea"/>
              </a:rPr>
              <a:t>2026</a:t>
            </a:r>
            <a:r>
              <a:rPr kumimoji="1" lang="ja-JP" altLang="en-US" sz="1100">
                <a:latin typeface="+mn-ea"/>
              </a:rPr>
              <a:t>年</a:t>
            </a:r>
            <a:r>
              <a:rPr kumimoji="1" lang="en-US" altLang="ja-JP" sz="1100">
                <a:latin typeface="+mn-ea"/>
              </a:rPr>
              <a:t>1</a:t>
            </a:r>
            <a:r>
              <a:rPr kumimoji="1" lang="ja-JP" altLang="en-US" sz="1100">
                <a:latin typeface="+mn-ea"/>
              </a:rPr>
              <a:t>月以降は</a:t>
            </a:r>
            <a:endParaRPr kumimoji="1" lang="en-US" altLang="ja-JP" sz="1100">
              <a:latin typeface="+mn-ea"/>
            </a:endParaRPr>
          </a:p>
          <a:p>
            <a:pPr algn="ctr"/>
            <a:r>
              <a:rPr kumimoji="1" lang="ja-JP" altLang="en-US" sz="1100">
                <a:latin typeface="+mn-ea"/>
              </a:rPr>
              <a:t>変更の可能性有</a:t>
            </a:r>
          </a:p>
        </p:txBody>
      </p:sp>
    </p:spTree>
    <p:extLst>
      <p:ext uri="{BB962C8B-B14F-4D97-AF65-F5344CB8AC3E}">
        <p14:creationId xmlns:p14="http://schemas.microsoft.com/office/powerpoint/2010/main" val="1654155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135C4-E7D6-962D-F7C9-BABAAD5ABF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78802D-1F3D-1956-6E48-8A2F74904F10}"/>
              </a:ext>
            </a:extLst>
          </p:cNvPr>
          <p:cNvSpPr>
            <a:spLocks noGrp="1"/>
          </p:cNvSpPr>
          <p:nvPr>
            <p:ph type="title"/>
          </p:nvPr>
        </p:nvSpPr>
        <p:spPr/>
        <p:txBody>
          <a:bodyPr/>
          <a:lstStyle/>
          <a:p>
            <a:r>
              <a:rPr lang="en-US" altLang="ja-JP" dirty="0"/>
              <a:t>4-7</a:t>
            </a:r>
            <a:r>
              <a:rPr kumimoji="1" lang="ja-JP" altLang="en-US" dirty="0"/>
              <a:t>．役割および責任・権限</a:t>
            </a:r>
            <a:r>
              <a:rPr lang="en-US" altLang="ja-JP" dirty="0"/>
              <a:t>(</a:t>
            </a:r>
            <a:r>
              <a:rPr lang="ja-JP" altLang="en-US" dirty="0"/>
              <a:t>アジャイル開発の場合</a:t>
            </a:r>
            <a:r>
              <a:rPr lang="en-US" altLang="ja-JP" dirty="0"/>
              <a:t>)</a:t>
            </a:r>
            <a:endParaRPr kumimoji="1" lang="ja-JP" altLang="en-US" dirty="0"/>
          </a:p>
        </p:txBody>
      </p:sp>
      <p:sp>
        <p:nvSpPr>
          <p:cNvPr id="4" name="フッター プレースホルダー 3">
            <a:extLst>
              <a:ext uri="{FF2B5EF4-FFF2-40B4-BE49-F238E27FC236}">
                <a16:creationId xmlns:a16="http://schemas.microsoft.com/office/drawing/2014/main" id="{3CFCE7A3-0991-26DD-DE81-2378E4504325}"/>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37284649-8374-092D-3BB4-23620F22480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29</a:t>
            </a:fld>
            <a:endParaRPr kumimoji="1" lang="ja-JP" altLang="en-US" sz="700"/>
          </a:p>
        </p:txBody>
      </p:sp>
      <p:graphicFrame>
        <p:nvGraphicFramePr>
          <p:cNvPr id="6" name="コンテンツ プレースホルダー 5">
            <a:extLst>
              <a:ext uri="{FF2B5EF4-FFF2-40B4-BE49-F238E27FC236}">
                <a16:creationId xmlns:a16="http://schemas.microsoft.com/office/drawing/2014/main" id="{9E335B66-956A-13AD-0E60-A5BDA60B38E2}"/>
              </a:ext>
            </a:extLst>
          </p:cNvPr>
          <p:cNvGraphicFramePr>
            <a:graphicFrameLocks/>
          </p:cNvGraphicFramePr>
          <p:nvPr>
            <p:extLst>
              <p:ext uri="{D42A27DB-BD31-4B8C-83A1-F6EECF244321}">
                <p14:modId xmlns:p14="http://schemas.microsoft.com/office/powerpoint/2010/main" val="2103550409"/>
              </p:ext>
            </p:extLst>
          </p:nvPr>
        </p:nvGraphicFramePr>
        <p:xfrm>
          <a:off x="576000" y="1276181"/>
          <a:ext cx="11041199" cy="4785360"/>
        </p:xfrm>
        <a:graphic>
          <a:graphicData uri="http://schemas.openxmlformats.org/drawingml/2006/table">
            <a:tbl>
              <a:tblPr firstRow="1" bandRow="1">
                <a:tableStyleId>{3B4B98B0-60AC-42C2-AFA5-B58CD77FA1E5}</a:tableStyleId>
              </a:tblPr>
              <a:tblGrid>
                <a:gridCol w="2111216">
                  <a:extLst>
                    <a:ext uri="{9D8B030D-6E8A-4147-A177-3AD203B41FA5}">
                      <a16:colId xmlns:a16="http://schemas.microsoft.com/office/drawing/2014/main" val="3739787443"/>
                    </a:ext>
                  </a:extLst>
                </a:gridCol>
                <a:gridCol w="8929983">
                  <a:extLst>
                    <a:ext uri="{9D8B030D-6E8A-4147-A177-3AD203B41FA5}">
                      <a16:colId xmlns:a16="http://schemas.microsoft.com/office/drawing/2014/main" val="1167101293"/>
                    </a:ext>
                  </a:extLst>
                </a:gridCol>
              </a:tblGrid>
              <a:tr h="207092">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役割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作業範囲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extLst>
                  <a:ext uri="{0D108BD9-81ED-4DB2-BD59-A6C34878D82A}">
                    <a16:rowId xmlns:a16="http://schemas.microsoft.com/office/drawing/2014/main" val="3449912314"/>
                  </a:ext>
                </a:extLst>
              </a:tr>
              <a:tr h="357704">
                <a:tc>
                  <a:txBody>
                    <a:bodyPr/>
                    <a:lstStyle/>
                    <a:p>
                      <a:r>
                        <a:rPr kumimoji="1" lang="ja-JP" altLang="en-US" sz="1600">
                          <a:latin typeface="游ゴシック" panose="020B0400000000000000" pitchFamily="50" charset="-128"/>
                          <a:ea typeface="游ゴシック" panose="020B0400000000000000" pitchFamily="50" charset="-128"/>
                        </a:rPr>
                        <a:t>プロジェクト責任者</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全体方針と優先度を決定し承認する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予算・納期・体制の最終責任を負う</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重要意思決定とエスカレーションを裁定する</a:t>
                      </a:r>
                      <a:endParaRPr kumimoji="0" lang="ja-JP" altLang="en-US" sz="1600" b="0" i="1"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1960948427"/>
                  </a:ext>
                </a:extLst>
              </a:tr>
              <a:tr h="809541">
                <a:tc>
                  <a:txBody>
                    <a:bodyPr/>
                    <a:lstStyle/>
                    <a:p>
                      <a:r>
                        <a:rPr kumimoji="1" lang="ja-JP" altLang="en-US" sz="1600" dirty="0">
                          <a:latin typeface="游ゴシック" panose="020B0400000000000000" pitchFamily="50" charset="-128"/>
                          <a:ea typeface="游ゴシック" panose="020B0400000000000000" pitchFamily="50" charset="-128"/>
                        </a:rPr>
                        <a:t>プロジェクト</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マネージャー</a:t>
                      </a:r>
                      <a:br>
                        <a:rPr kumimoji="1" lang="en-US" altLang="ja-JP" sz="1600" dirty="0">
                          <a:latin typeface="游ゴシック" panose="020B0400000000000000" pitchFamily="50" charset="-128"/>
                          <a:ea typeface="游ゴシック" panose="020B0400000000000000" pitchFamily="50" charset="-128"/>
                        </a:rPr>
                      </a:b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スクラムマスター</a:t>
                      </a:r>
                      <a:r>
                        <a:rPr kumimoji="1" lang="en-US" altLang="ja-JP" sz="1600" dirty="0">
                          <a:latin typeface="游ゴシック" panose="020B0400000000000000" pitchFamily="50" charset="-128"/>
                          <a:ea typeface="游ゴシック" panose="020B0400000000000000" pitchFamily="50" charset="-128"/>
                        </a:rPr>
                        <a:t>)</a:t>
                      </a: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目標・範囲・予算・スケジュールを統制する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進行管理（品質・変更・課題・リスク・構成）を徹底する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決定事項の周知と関係者コミュニケーションを設計する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阻害要因の除去とチームの自律化を支援する</a:t>
                      </a:r>
                      <a:endParaRPr kumimoji="0" lang="en-US" altLang="ja-JP" sz="16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185347885"/>
                  </a:ext>
                </a:extLst>
              </a:tr>
              <a:tr h="658929">
                <a:tc>
                  <a:txBody>
                    <a:bodyPr/>
                    <a:lstStyle/>
                    <a:p>
                      <a:r>
                        <a:rPr kumimoji="1" lang="ja-JP" altLang="en-US" sz="1600">
                          <a:solidFill>
                            <a:schemeClr val="tx1"/>
                          </a:solidFill>
                          <a:latin typeface="游ゴシック" panose="020B0400000000000000" pitchFamily="50" charset="-128"/>
                          <a:ea typeface="游ゴシック" panose="020B0400000000000000" pitchFamily="50" charset="-128"/>
                        </a:rPr>
                        <a:t>プロダクトオーナー</a:t>
                      </a: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価値最大化を目的にプロダクトゴールを定義する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バックログの優先付けと受入基準を管理する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ステークホルダー調整とリリース判断を行う</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175673267"/>
                  </a:ext>
                </a:extLst>
              </a:tr>
              <a:tr h="207092">
                <a:tc>
                  <a:txBody>
                    <a:bodyPr/>
                    <a:lstStyle/>
                    <a:p>
                      <a:r>
                        <a:rPr kumimoji="1" lang="ja-JP" altLang="en-US" sz="1600">
                          <a:latin typeface="游ゴシック" panose="020B0400000000000000" pitchFamily="50" charset="-128"/>
                          <a:ea typeface="游ゴシック" panose="020B0400000000000000" pitchFamily="50" charset="-128"/>
                        </a:rPr>
                        <a:t>メンバー</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dirty="0">
                          <a:ln>
                            <a:noFill/>
                          </a:ln>
                          <a:effectLst/>
                          <a:latin typeface="游ゴシック" panose="020B0400000000000000" pitchFamily="50" charset="-128"/>
                          <a:ea typeface="+mn-ea"/>
                        </a:rPr>
                        <a:t>見積・進捗を可視化し、完成の定義を遵守する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dirty="0">
                          <a:ln>
                            <a:noFill/>
                          </a:ln>
                          <a:effectLst/>
                          <a:latin typeface="游ゴシック" panose="020B0400000000000000" pitchFamily="50" charset="-128"/>
                          <a:ea typeface="+mn-ea"/>
                        </a:rPr>
                        <a:t>レビュー・改善に継続参加する</a:t>
                      </a:r>
                      <a:endParaRPr kumimoji="0" lang="ja-JP" altLang="en-US" sz="16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54760582"/>
                  </a:ext>
                </a:extLst>
              </a:tr>
              <a:tr h="207092">
                <a:tc>
                  <a:txBody>
                    <a:bodyPr/>
                    <a:lstStyle/>
                    <a:p>
                      <a:r>
                        <a:rPr kumimoji="1" lang="ja-JP" altLang="en-US" sz="1600">
                          <a:solidFill>
                            <a:schemeClr val="tx1"/>
                          </a:solidFill>
                          <a:latin typeface="游ゴシック" panose="020B0400000000000000" pitchFamily="50" charset="-128"/>
                          <a:ea typeface="游ゴシック" panose="020B0400000000000000" pitchFamily="50" charset="-128"/>
                        </a:rPr>
                        <a:t>品質保証</a:t>
                      </a: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局面レビューの実施する</a:t>
                      </a:r>
                      <a:endParaRPr kumimoji="0" lang="en-US" altLang="ja-JP"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品質改善活動の支援する</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23428347"/>
                  </a:ext>
                </a:extLst>
              </a:tr>
              <a:tr h="207092">
                <a:tc>
                  <a:txBody>
                    <a:bodyPr/>
                    <a:lstStyle/>
                    <a:p>
                      <a:r>
                        <a:rPr kumimoji="1" lang="ja-JP" altLang="en-US" sz="1600">
                          <a:latin typeface="游ゴシック" panose="020B0400000000000000" pitchFamily="50" charset="-128"/>
                          <a:ea typeface="游ゴシック" panose="020B0400000000000000" pitchFamily="50" charset="-128"/>
                        </a:rPr>
                        <a:t>営業</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dirty="0">
                          <a:ln>
                            <a:noFill/>
                          </a:ln>
                          <a:effectLst/>
                          <a:latin typeface="游ゴシック" panose="020B0400000000000000" pitchFamily="50" charset="-128"/>
                          <a:ea typeface="+mn-ea"/>
                        </a:rPr>
                        <a:t>契約管理（条件調整、契約書締結、変更契約）を担当する</a:t>
                      </a:r>
                    </a:p>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dirty="0">
                          <a:ln>
                            <a:noFill/>
                          </a:ln>
                          <a:effectLst/>
                          <a:latin typeface="游ゴシック" panose="020B0400000000000000" pitchFamily="50" charset="-128"/>
                          <a:ea typeface="+mn-ea"/>
                        </a:rPr>
                        <a:t>顧客窓口としてクレーム対応を行う</a:t>
                      </a:r>
                      <a:endParaRPr kumimoji="0" lang="ja-JP" altLang="en-US" sz="16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318722808"/>
                  </a:ext>
                </a:extLst>
              </a:tr>
            </a:tbl>
          </a:graphicData>
        </a:graphic>
      </p:graphicFrame>
      <p:sp>
        <p:nvSpPr>
          <p:cNvPr id="7" name="テキスト ボックス 6">
            <a:extLst>
              <a:ext uri="{FF2B5EF4-FFF2-40B4-BE49-F238E27FC236}">
                <a16:creationId xmlns:a16="http://schemas.microsoft.com/office/drawing/2014/main" id="{22D23BF0-A554-62C1-1FEB-A6D08F4A40A0}"/>
              </a:ext>
            </a:extLst>
          </p:cNvPr>
          <p:cNvSpPr txBox="1">
            <a:spLocks/>
          </p:cNvSpPr>
          <p:nvPr/>
        </p:nvSpPr>
        <p:spPr>
          <a:xfrm>
            <a:off x="575999" y="936000"/>
            <a:ext cx="11041199" cy="382481"/>
          </a:xfrm>
          <a:prstGeom prst="roundRect">
            <a:avLst>
              <a:gd name="adj" fmla="val 11024"/>
            </a:avLst>
          </a:prstGeom>
          <a:noFill/>
        </p:spPr>
        <p:txBody>
          <a:bodyPr wrap="square" rtlCol="0">
            <a:noAutofit/>
          </a:bodyPr>
          <a:lstStyle/>
          <a:p>
            <a:r>
              <a:rPr lang="ja-JP" altLang="en-US" sz="1600">
                <a:latin typeface="+mn-ea"/>
              </a:rPr>
              <a:t>体制について</a:t>
            </a:r>
            <a:r>
              <a:rPr kumimoji="1" lang="ja-JP" altLang="en-US" sz="1600">
                <a:latin typeface="+mn-ea"/>
              </a:rPr>
              <a:t>、</a:t>
            </a:r>
            <a:r>
              <a:rPr lang="ja-JP" altLang="en-US" sz="1600">
                <a:latin typeface="游ゴシック" panose="020B0400000000000000" pitchFamily="50" charset="-128"/>
              </a:rPr>
              <a:t>下記の通り役割と作業範囲を定めます。</a:t>
            </a:r>
          </a:p>
        </p:txBody>
      </p:sp>
    </p:spTree>
    <p:extLst>
      <p:ext uri="{BB962C8B-B14F-4D97-AF65-F5344CB8AC3E}">
        <p14:creationId xmlns:p14="http://schemas.microsoft.com/office/powerpoint/2010/main" val="1674347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5337C-E262-F213-4CAA-857FAA9B47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3C3211-7101-5005-EAB2-3B8BAC492EE8}"/>
              </a:ext>
            </a:extLst>
          </p:cNvPr>
          <p:cNvSpPr>
            <a:spLocks noGrp="1"/>
          </p:cNvSpPr>
          <p:nvPr>
            <p:ph type="title"/>
          </p:nvPr>
        </p:nvSpPr>
        <p:spPr/>
        <p:txBody>
          <a:bodyPr/>
          <a:lstStyle/>
          <a:p>
            <a:r>
              <a:rPr lang="en-US" altLang="ja-JP" dirty="0"/>
              <a:t>4-8</a:t>
            </a:r>
            <a:r>
              <a:rPr lang="ja-JP" altLang="en-US" dirty="0"/>
              <a:t>．納品物</a:t>
            </a:r>
            <a:r>
              <a:rPr lang="en-US" altLang="ja-JP" dirty="0"/>
              <a:t>(</a:t>
            </a:r>
            <a:r>
              <a:rPr lang="ja-JP" altLang="ja-JP" dirty="0"/>
              <a:t>アジャイル開発の場合</a:t>
            </a:r>
            <a:r>
              <a:rPr lang="en-US" altLang="ja-JP" dirty="0"/>
              <a:t>)</a:t>
            </a:r>
            <a:endParaRPr kumimoji="1" lang="ja-JP" altLang="en-US" dirty="0"/>
          </a:p>
        </p:txBody>
      </p:sp>
      <p:sp>
        <p:nvSpPr>
          <p:cNvPr id="5" name="フッター プレースホルダー 4">
            <a:extLst>
              <a:ext uri="{FF2B5EF4-FFF2-40B4-BE49-F238E27FC236}">
                <a16:creationId xmlns:a16="http://schemas.microsoft.com/office/drawing/2014/main" id="{43FDA9AE-703F-E54C-4E0A-A1AC359421DF}"/>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8" name="コンテンツ プレースホルダー 6">
            <a:extLst>
              <a:ext uri="{FF2B5EF4-FFF2-40B4-BE49-F238E27FC236}">
                <a16:creationId xmlns:a16="http://schemas.microsoft.com/office/drawing/2014/main" id="{7333D655-7DB1-70B8-3CF5-3049DC1D83A7}"/>
              </a:ext>
            </a:extLst>
          </p:cNvPr>
          <p:cNvGraphicFramePr>
            <a:graphicFrameLocks/>
          </p:cNvGraphicFramePr>
          <p:nvPr>
            <p:extLst>
              <p:ext uri="{D42A27DB-BD31-4B8C-83A1-F6EECF244321}">
                <p14:modId xmlns:p14="http://schemas.microsoft.com/office/powerpoint/2010/main" val="1798362705"/>
              </p:ext>
            </p:extLst>
          </p:nvPr>
        </p:nvGraphicFramePr>
        <p:xfrm>
          <a:off x="576000" y="936000"/>
          <a:ext cx="11052000" cy="2278840"/>
        </p:xfrm>
        <a:graphic>
          <a:graphicData uri="http://schemas.openxmlformats.org/drawingml/2006/table">
            <a:tbl>
              <a:tblPr firstRow="1">
                <a:tableStyleId>{5C22544A-7EE6-4342-B048-85BDC9FD1C3A}</a:tableStyleId>
              </a:tblPr>
              <a:tblGrid>
                <a:gridCol w="3600000">
                  <a:extLst>
                    <a:ext uri="{9D8B030D-6E8A-4147-A177-3AD203B41FA5}">
                      <a16:colId xmlns:a16="http://schemas.microsoft.com/office/drawing/2014/main" val="20000"/>
                    </a:ext>
                  </a:extLst>
                </a:gridCol>
                <a:gridCol w="7452000">
                  <a:extLst>
                    <a:ext uri="{9D8B030D-6E8A-4147-A177-3AD203B41FA5}">
                      <a16:colId xmlns:a16="http://schemas.microsoft.com/office/drawing/2014/main" val="20001"/>
                    </a:ext>
                  </a:extLst>
                </a:gridCol>
              </a:tblGrid>
              <a:tr h="265439">
                <a:tc>
                  <a:txBody>
                    <a:bodyPr/>
                    <a:lstStyle/>
                    <a:p>
                      <a:r>
                        <a:rPr kumimoji="1" lang="ja-JP" altLang="en-US" sz="1600" b="1">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b="1">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570020">
                <a:tc>
                  <a:txBody>
                    <a:bodyPr/>
                    <a:lstStyle/>
                    <a:p>
                      <a:r>
                        <a:rPr kumimoji="1" lang="ja-JP" altLang="en-US" sz="1600" dirty="0">
                          <a:latin typeface="+mn-ea"/>
                          <a:ea typeface="+mn-ea"/>
                        </a:rPr>
                        <a:t>基本設計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画面一覧、帳票一覧、バッチ一覧、メール一覧、テーブル定義書／</a:t>
                      </a:r>
                      <a:r>
                        <a:rPr kumimoji="1" lang="en-US" altLang="ja-JP" sz="1600" b="0" dirty="0">
                          <a:latin typeface="+mn-ea"/>
                          <a:ea typeface="+mn-ea"/>
                        </a:rPr>
                        <a:t>ER</a:t>
                      </a:r>
                      <a:r>
                        <a:rPr kumimoji="1" lang="ja-JP" altLang="en-US" sz="1600" b="0" dirty="0">
                          <a:latin typeface="+mn-ea"/>
                          <a:ea typeface="+mn-ea"/>
                        </a:rPr>
                        <a:t>図、</a:t>
                      </a:r>
                      <a:endParaRPr kumimoji="1" lang="en-US" altLang="ja-JP" sz="1600" b="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画面項目定義書、帳票項目定義書、アプリケーション処理方式、ユーザー操作マニュアル</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5700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API</a:t>
                      </a:r>
                      <a:r>
                        <a:rPr kumimoji="1" lang="ja-JP" altLang="en-US" sz="1600" b="0" i="0" u="none" strike="noStrike" kern="1200" baseline="0">
                          <a:solidFill>
                            <a:schemeClr val="tx1"/>
                          </a:solidFill>
                          <a:latin typeface="+mn-ea"/>
                          <a:ea typeface="+mn-ea"/>
                          <a:cs typeface="+mn-cs"/>
                        </a:rPr>
                        <a:t>詳細設計書、バッチ詳細設計書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93713132"/>
                  </a:ext>
                </a:extLst>
              </a:tr>
              <a:tr h="570020">
                <a:tc>
                  <a:txBody>
                    <a:bodyPr/>
                    <a:lstStyle/>
                    <a:p>
                      <a:r>
                        <a:rPr kumimoji="1" lang="ja-JP" altLang="en-US" sz="1600" dirty="0">
                          <a:latin typeface="+mn-ea"/>
                          <a:ea typeface="+mn-ea"/>
                        </a:rPr>
                        <a:t>製造</a:t>
                      </a:r>
                      <a:endParaRPr kumimoji="1" lang="en-US" altLang="ja-JP"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b="0" dirty="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3" name="スライド番号プレースホルダー 3">
            <a:extLst>
              <a:ext uri="{FF2B5EF4-FFF2-40B4-BE49-F238E27FC236}">
                <a16:creationId xmlns:a16="http://schemas.microsoft.com/office/drawing/2014/main" id="{E89DAE9A-E7F5-9C26-ED24-A22ED3CA734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30</a:t>
            </a:fld>
            <a:endParaRPr kumimoji="1" lang="ja-JP" altLang="en-US" sz="700"/>
          </a:p>
        </p:txBody>
      </p:sp>
    </p:spTree>
    <p:extLst>
      <p:ext uri="{BB962C8B-B14F-4D97-AF65-F5344CB8AC3E}">
        <p14:creationId xmlns:p14="http://schemas.microsoft.com/office/powerpoint/2010/main" val="394066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30491-1F43-5043-983C-5DC400D63477}"/>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DCE0A636-F81D-53D8-2361-E5BEE1CF2CAE}"/>
              </a:ext>
            </a:extLst>
          </p:cNvPr>
          <p:cNvSpPr>
            <a:spLocks noGrp="1"/>
          </p:cNvSpPr>
          <p:nvPr>
            <p:ph type="sldNum" sz="quarter" idx="12"/>
          </p:nvPr>
        </p:nvSpPr>
        <p:spPr/>
        <p:txBody>
          <a:bodyPr/>
          <a:lstStyle/>
          <a:p>
            <a:fld id="{26CA5134-5AAC-D342-B763-43605FECB385}" type="slidenum">
              <a:rPr kumimoji="1" lang="ja-JP" altLang="en-US" smtClean="0"/>
              <a:pPr/>
              <a:t>31</a:t>
            </a:fld>
            <a:endParaRPr kumimoji="1" lang="ja-JP" altLang="en-US" sz="700"/>
          </a:p>
        </p:txBody>
      </p:sp>
      <p:sp>
        <p:nvSpPr>
          <p:cNvPr id="4" name="タイトル 3">
            <a:extLst>
              <a:ext uri="{FF2B5EF4-FFF2-40B4-BE49-F238E27FC236}">
                <a16:creationId xmlns:a16="http://schemas.microsoft.com/office/drawing/2014/main" id="{15573D3E-DFF6-BF7A-CFC6-B38A402F9953}"/>
              </a:ext>
            </a:extLst>
          </p:cNvPr>
          <p:cNvSpPr>
            <a:spLocks noGrp="1"/>
          </p:cNvSpPr>
          <p:nvPr>
            <p:ph type="title"/>
          </p:nvPr>
        </p:nvSpPr>
        <p:spPr/>
        <p:txBody>
          <a:bodyPr/>
          <a:lstStyle/>
          <a:p>
            <a:r>
              <a:rPr kumimoji="1" lang="ja-JP" altLang="en-US"/>
              <a:t>全体スケジュール</a:t>
            </a:r>
          </a:p>
        </p:txBody>
      </p:sp>
      <p:sp>
        <p:nvSpPr>
          <p:cNvPr id="5" name="フッター プレースホルダー 3">
            <a:extLst>
              <a:ext uri="{FF2B5EF4-FFF2-40B4-BE49-F238E27FC236}">
                <a16:creationId xmlns:a16="http://schemas.microsoft.com/office/drawing/2014/main" id="{F15336DA-233B-87F6-F76A-B2116D85B0F9}"/>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Tree>
    <p:extLst>
      <p:ext uri="{BB962C8B-B14F-4D97-AF65-F5344CB8AC3E}">
        <p14:creationId xmlns:p14="http://schemas.microsoft.com/office/powerpoint/2010/main" val="6095440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9723-A3DC-6BF6-24EF-3143051676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F66C9D-7B8E-C70A-059A-B71FB9ADB8CD}"/>
              </a:ext>
            </a:extLst>
          </p:cNvPr>
          <p:cNvSpPr>
            <a:spLocks noGrp="1"/>
          </p:cNvSpPr>
          <p:nvPr>
            <p:ph type="title"/>
          </p:nvPr>
        </p:nvSpPr>
        <p:spPr/>
        <p:txBody>
          <a:bodyPr/>
          <a:lstStyle/>
          <a:p>
            <a:r>
              <a:rPr lang="en-US" altLang="ja-JP"/>
              <a:t>5</a:t>
            </a:r>
            <a:r>
              <a:rPr kumimoji="1" lang="en-US" altLang="ja-JP"/>
              <a:t>-1</a:t>
            </a:r>
            <a:r>
              <a:rPr kumimoji="1" lang="ja-JP" altLang="en-US"/>
              <a:t>．全体スケジュール</a:t>
            </a:r>
            <a:r>
              <a:rPr kumimoji="1" lang="en-US" altLang="ja-JP"/>
              <a:t>(RFP</a:t>
            </a:r>
            <a:r>
              <a:rPr kumimoji="1" lang="ja-JP" altLang="en-US"/>
              <a:t>抜粋</a:t>
            </a:r>
            <a:r>
              <a:rPr kumimoji="1" lang="en-US" altLang="ja-JP"/>
              <a:t>)</a:t>
            </a:r>
            <a:endParaRPr kumimoji="1" lang="ja-JP" altLang="en-US"/>
          </a:p>
        </p:txBody>
      </p:sp>
      <p:sp>
        <p:nvSpPr>
          <p:cNvPr id="4" name="フッター プレースホルダー 3">
            <a:extLst>
              <a:ext uri="{FF2B5EF4-FFF2-40B4-BE49-F238E27FC236}">
                <a16:creationId xmlns:a16="http://schemas.microsoft.com/office/drawing/2014/main" id="{7F6BDC12-2474-59B4-4156-B40F831BC4C0}"/>
              </a:ext>
            </a:extLst>
          </p:cNvPr>
          <p:cNvSpPr>
            <a:spLocks noGrp="1"/>
          </p:cNvSpPr>
          <p:nvPr>
            <p:ph type="ftr" sz="quarter" idx="11"/>
          </p:nvPr>
        </p:nvSpPr>
        <p:spPr/>
        <p:txBody>
          <a:bodyPr/>
          <a:lstStyle/>
          <a:p>
            <a:r>
              <a:rPr lang="en-US" altLang="ja-JP"/>
              <a:t>Copyright © SystemEXE,Inc All Rights Reserved.</a:t>
            </a:r>
          </a:p>
        </p:txBody>
      </p:sp>
      <p:sp>
        <p:nvSpPr>
          <p:cNvPr id="22" name="スライド番号プレースホルダー 3">
            <a:extLst>
              <a:ext uri="{FF2B5EF4-FFF2-40B4-BE49-F238E27FC236}">
                <a16:creationId xmlns:a16="http://schemas.microsoft.com/office/drawing/2014/main" id="{BE1A85A4-4234-6839-6960-9AF6ECE95656}"/>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32</a:t>
            </a:fld>
            <a:endParaRPr kumimoji="1" lang="ja-JP" altLang="en-US" sz="700"/>
          </a:p>
        </p:txBody>
      </p:sp>
      <p:pic>
        <p:nvPicPr>
          <p:cNvPr id="23" name="図 22">
            <a:extLst>
              <a:ext uri="{FF2B5EF4-FFF2-40B4-BE49-F238E27FC236}">
                <a16:creationId xmlns:a16="http://schemas.microsoft.com/office/drawing/2014/main" id="{5C1B9243-18A1-E4F0-14C7-05BC629F67DF}"/>
              </a:ext>
            </a:extLst>
          </p:cNvPr>
          <p:cNvPicPr>
            <a:picLocks noChangeAspect="1"/>
          </p:cNvPicPr>
          <p:nvPr/>
        </p:nvPicPr>
        <p:blipFill>
          <a:blip r:embed="rId3"/>
          <a:stretch>
            <a:fillRect/>
          </a:stretch>
        </p:blipFill>
        <p:spPr>
          <a:xfrm>
            <a:off x="677343" y="1026838"/>
            <a:ext cx="9507277" cy="5182323"/>
          </a:xfrm>
          <a:prstGeom prst="rect">
            <a:avLst/>
          </a:prstGeom>
        </p:spPr>
      </p:pic>
      <p:sp>
        <p:nvSpPr>
          <p:cNvPr id="25" name="四角形: 角を丸くする 24">
            <a:extLst>
              <a:ext uri="{FF2B5EF4-FFF2-40B4-BE49-F238E27FC236}">
                <a16:creationId xmlns:a16="http://schemas.microsoft.com/office/drawing/2014/main" id="{7B03CDDF-706F-08BB-2B9E-135500376F12}"/>
              </a:ext>
            </a:extLst>
          </p:cNvPr>
          <p:cNvSpPr/>
          <p:nvPr/>
        </p:nvSpPr>
        <p:spPr>
          <a:xfrm>
            <a:off x="4535055" y="4221017"/>
            <a:ext cx="1634836" cy="2159563"/>
          </a:xfrm>
          <a:prstGeom prst="roundRect">
            <a:avLst>
              <a:gd name="adj" fmla="val 4342"/>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1085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4FD71-35B0-9B5D-BC10-CA1A5D111C3D}"/>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4584E516-265E-9BA6-00C2-681C68DB216E}"/>
              </a:ext>
            </a:extLst>
          </p:cNvPr>
          <p:cNvSpPr>
            <a:spLocks noGrp="1"/>
          </p:cNvSpPr>
          <p:nvPr>
            <p:ph type="sldNum" sz="quarter" idx="12"/>
          </p:nvPr>
        </p:nvSpPr>
        <p:spPr/>
        <p:txBody>
          <a:bodyPr/>
          <a:lstStyle/>
          <a:p>
            <a:fld id="{26CA5134-5AAC-D342-B763-43605FECB385}" type="slidenum">
              <a:rPr kumimoji="1" lang="ja-JP" altLang="en-US" smtClean="0"/>
              <a:pPr/>
              <a:t>33</a:t>
            </a:fld>
            <a:endParaRPr kumimoji="1" lang="ja-JP" altLang="en-US" sz="700"/>
          </a:p>
        </p:txBody>
      </p:sp>
      <p:sp>
        <p:nvSpPr>
          <p:cNvPr id="4" name="タイトル 3">
            <a:extLst>
              <a:ext uri="{FF2B5EF4-FFF2-40B4-BE49-F238E27FC236}">
                <a16:creationId xmlns:a16="http://schemas.microsoft.com/office/drawing/2014/main" id="{EBD0F612-3CEE-3992-EAEA-5D1EEA644F8F}"/>
              </a:ext>
            </a:extLst>
          </p:cNvPr>
          <p:cNvSpPr>
            <a:spLocks noGrp="1"/>
          </p:cNvSpPr>
          <p:nvPr>
            <p:ph type="title"/>
          </p:nvPr>
        </p:nvSpPr>
        <p:spPr/>
        <p:txBody>
          <a:bodyPr/>
          <a:lstStyle/>
          <a:p>
            <a:r>
              <a:rPr lang="ja-JP" altLang="en-US" dirty="0"/>
              <a:t>お見積り</a:t>
            </a:r>
            <a:endParaRPr kumimoji="1" lang="ja-JP" altLang="en-US"/>
          </a:p>
        </p:txBody>
      </p:sp>
      <p:sp>
        <p:nvSpPr>
          <p:cNvPr id="5" name="フッター プレースホルダー 3">
            <a:extLst>
              <a:ext uri="{FF2B5EF4-FFF2-40B4-BE49-F238E27FC236}">
                <a16:creationId xmlns:a16="http://schemas.microsoft.com/office/drawing/2014/main" id="{D5FD96C8-4894-3BD1-F987-341F6F647D09}"/>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Tree>
    <p:extLst>
      <p:ext uri="{BB962C8B-B14F-4D97-AF65-F5344CB8AC3E}">
        <p14:creationId xmlns:p14="http://schemas.microsoft.com/office/powerpoint/2010/main" val="11990446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79BD-6EFE-21D9-99F1-3977114A8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681C58-BA49-C35A-E619-B522362B4B58}"/>
              </a:ext>
            </a:extLst>
          </p:cNvPr>
          <p:cNvSpPr>
            <a:spLocks noGrp="1"/>
          </p:cNvSpPr>
          <p:nvPr>
            <p:ph type="title"/>
          </p:nvPr>
        </p:nvSpPr>
        <p:spPr/>
        <p:txBody>
          <a:bodyPr/>
          <a:lstStyle/>
          <a:p>
            <a:r>
              <a:rPr kumimoji="1" lang="en-US" altLang="ja-JP" dirty="0"/>
              <a:t>6-1</a:t>
            </a:r>
            <a:r>
              <a:rPr kumimoji="1" lang="ja-JP" altLang="en-US"/>
              <a:t>．お見積り</a:t>
            </a:r>
            <a:r>
              <a:rPr kumimoji="1" lang="en-US" altLang="ja-JP"/>
              <a:t>(</a:t>
            </a:r>
            <a:r>
              <a:rPr kumimoji="1" lang="ja-JP" altLang="en-US"/>
              <a:t>ウォーターフォール開発</a:t>
            </a:r>
            <a:r>
              <a:rPr lang="ja-JP" altLang="en-US"/>
              <a:t>の場合</a:t>
            </a:r>
            <a:r>
              <a:rPr kumimoji="1" lang="en-US" altLang="ja-JP"/>
              <a:t>)</a:t>
            </a:r>
            <a:endParaRPr kumimoji="1" lang="ja-JP" altLang="en-US"/>
          </a:p>
        </p:txBody>
      </p:sp>
      <p:sp>
        <p:nvSpPr>
          <p:cNvPr id="4" name="フッター プレースホルダー 3">
            <a:extLst>
              <a:ext uri="{FF2B5EF4-FFF2-40B4-BE49-F238E27FC236}">
                <a16:creationId xmlns:a16="http://schemas.microsoft.com/office/drawing/2014/main" id="{84F88753-BC59-35F1-49C5-A229E9EAFA26}"/>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8B880FE2-3F07-5F95-567F-3174E10F3ED1}"/>
              </a:ext>
            </a:extLst>
          </p:cNvPr>
          <p:cNvGraphicFramePr>
            <a:graphicFrameLocks noGrp="1"/>
          </p:cNvGraphicFramePr>
          <p:nvPr>
            <p:extLst>
              <p:ext uri="{D42A27DB-BD31-4B8C-83A1-F6EECF244321}">
                <p14:modId xmlns:p14="http://schemas.microsoft.com/office/powerpoint/2010/main" val="2972767425"/>
              </p:ext>
            </p:extLst>
          </p:nvPr>
        </p:nvGraphicFramePr>
        <p:xfrm>
          <a:off x="516000" y="936000"/>
          <a:ext cx="11159999" cy="4707840"/>
        </p:xfrm>
        <a:graphic>
          <a:graphicData uri="http://schemas.openxmlformats.org/drawingml/2006/table">
            <a:tbl>
              <a:tblPr firstRow="1" bandRow="1">
                <a:tableStyleId>{2D5ABB26-0587-4C30-8999-92F81FD0307C}</a:tableStyleId>
              </a:tblPr>
              <a:tblGrid>
                <a:gridCol w="440526">
                  <a:extLst>
                    <a:ext uri="{9D8B030D-6E8A-4147-A177-3AD203B41FA5}">
                      <a16:colId xmlns:a16="http://schemas.microsoft.com/office/drawing/2014/main" val="233225342"/>
                    </a:ext>
                  </a:extLst>
                </a:gridCol>
                <a:gridCol w="1288733">
                  <a:extLst>
                    <a:ext uri="{9D8B030D-6E8A-4147-A177-3AD203B41FA5}">
                      <a16:colId xmlns:a16="http://schemas.microsoft.com/office/drawing/2014/main" val="568014644"/>
                    </a:ext>
                  </a:extLst>
                </a:gridCol>
                <a:gridCol w="1122630">
                  <a:extLst>
                    <a:ext uri="{9D8B030D-6E8A-4147-A177-3AD203B41FA5}">
                      <a16:colId xmlns:a16="http://schemas.microsoft.com/office/drawing/2014/main" val="711513500"/>
                    </a:ext>
                  </a:extLst>
                </a:gridCol>
                <a:gridCol w="1883121">
                  <a:extLst>
                    <a:ext uri="{9D8B030D-6E8A-4147-A177-3AD203B41FA5}">
                      <a16:colId xmlns:a16="http://schemas.microsoft.com/office/drawing/2014/main" val="3608806225"/>
                    </a:ext>
                  </a:extLst>
                </a:gridCol>
                <a:gridCol w="2842788">
                  <a:extLst>
                    <a:ext uri="{9D8B030D-6E8A-4147-A177-3AD203B41FA5}">
                      <a16:colId xmlns:a16="http://schemas.microsoft.com/office/drawing/2014/main" val="4260495519"/>
                    </a:ext>
                  </a:extLst>
                </a:gridCol>
                <a:gridCol w="1526412">
                  <a:extLst>
                    <a:ext uri="{9D8B030D-6E8A-4147-A177-3AD203B41FA5}">
                      <a16:colId xmlns:a16="http://schemas.microsoft.com/office/drawing/2014/main" val="2565051978"/>
                    </a:ext>
                  </a:extLst>
                </a:gridCol>
                <a:gridCol w="2055789">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2,090,000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560,000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2,650,000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詳細設計</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製造</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単体テスト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3,850,000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4.9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5,390,000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2,860,000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3,220,000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13.3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15,320,000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rowSpan="3">
                  <a:txBody>
                    <a:bodyPr/>
                    <a:lstStyle/>
                    <a:p>
                      <a:pPr algn="ctr" rtl="0" fontAlgn="ctr"/>
                      <a:r>
                        <a:rPr lang="en-US" altLang="ja-JP" sz="1600" b="0" i="0" u="none" strike="noStrike">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システムテスト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1,650,000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420,000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688465"/>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2,070,000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6363478"/>
                  </a:ext>
                </a:extLst>
              </a:tr>
              <a:tr h="288000">
                <a:tc rowSpan="3">
                  <a:txBody>
                    <a:bodyPr/>
                    <a:lstStyle/>
                    <a:p>
                      <a:pPr algn="ctr" rtl="0" fontAlgn="ctr"/>
                      <a:r>
                        <a:rPr lang="en-US" altLang="ja-JP" sz="1600" b="0" i="0" u="none" strike="noStrike">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受入テスト支援</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1,320,000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420,000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730907"/>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1,740,000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38431764"/>
                  </a:ext>
                </a:extLst>
              </a:tr>
              <a:tr h="2880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18.9</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人月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21,780,000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スライド番号プレースホルダー 3">
            <a:extLst>
              <a:ext uri="{FF2B5EF4-FFF2-40B4-BE49-F238E27FC236}">
                <a16:creationId xmlns:a16="http://schemas.microsoft.com/office/drawing/2014/main" id="{56EF6269-EB4C-99A1-5D3E-920593724ED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34</a:t>
            </a:fld>
            <a:endParaRPr kumimoji="1" lang="ja-JP" altLang="en-US" sz="700"/>
          </a:p>
        </p:txBody>
      </p:sp>
    </p:spTree>
    <p:extLst>
      <p:ext uri="{BB962C8B-B14F-4D97-AF65-F5344CB8AC3E}">
        <p14:creationId xmlns:p14="http://schemas.microsoft.com/office/powerpoint/2010/main" val="9608228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83659-AB2E-F64F-9D38-A81449542D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3B5235-829E-DE6D-7C6D-11BCC9EE86CA}"/>
              </a:ext>
            </a:extLst>
          </p:cNvPr>
          <p:cNvSpPr>
            <a:spLocks noGrp="1"/>
          </p:cNvSpPr>
          <p:nvPr>
            <p:ph type="title"/>
          </p:nvPr>
        </p:nvSpPr>
        <p:spPr/>
        <p:txBody>
          <a:bodyPr/>
          <a:lstStyle/>
          <a:p>
            <a:r>
              <a:rPr kumimoji="1" lang="en-US" altLang="ja-JP" dirty="0"/>
              <a:t>6-2</a:t>
            </a:r>
            <a:r>
              <a:rPr kumimoji="1" lang="ja-JP" altLang="en-US"/>
              <a:t>．お見積り</a:t>
            </a:r>
            <a:r>
              <a:rPr lang="en-US" altLang="ja-JP"/>
              <a:t>(</a:t>
            </a:r>
            <a:r>
              <a:rPr lang="ja-JP" altLang="en-US"/>
              <a:t>アジャイル開発の場合</a:t>
            </a:r>
            <a:r>
              <a:rPr lang="en-US" altLang="ja-JP"/>
              <a:t>)</a:t>
            </a:r>
            <a:endParaRPr kumimoji="1" lang="ja-JP" altLang="en-US"/>
          </a:p>
        </p:txBody>
      </p:sp>
      <p:sp>
        <p:nvSpPr>
          <p:cNvPr id="4" name="フッター プレースホルダー 3">
            <a:extLst>
              <a:ext uri="{FF2B5EF4-FFF2-40B4-BE49-F238E27FC236}">
                <a16:creationId xmlns:a16="http://schemas.microsoft.com/office/drawing/2014/main" id="{8AF6506C-31FD-EAF9-068B-C50382DFC9E6}"/>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C03D14D5-BE8A-B73D-CC7C-527FC98209CC}"/>
              </a:ext>
            </a:extLst>
          </p:cNvPr>
          <p:cNvGraphicFramePr>
            <a:graphicFrameLocks noGrp="1"/>
          </p:cNvGraphicFramePr>
          <p:nvPr>
            <p:extLst>
              <p:ext uri="{D42A27DB-BD31-4B8C-83A1-F6EECF244321}">
                <p14:modId xmlns:p14="http://schemas.microsoft.com/office/powerpoint/2010/main" val="1240356183"/>
              </p:ext>
            </p:extLst>
          </p:nvPr>
        </p:nvGraphicFramePr>
        <p:xfrm>
          <a:off x="576001" y="864001"/>
          <a:ext cx="11052000" cy="1901334"/>
        </p:xfrm>
        <a:graphic>
          <a:graphicData uri="http://schemas.openxmlformats.org/drawingml/2006/table">
            <a:tbl>
              <a:tblPr firstRow="1" bandRow="1">
                <a:tableStyleId>{2D5ABB26-0587-4C30-8999-92F81FD0307C}</a:tableStyleId>
              </a:tblPr>
              <a:tblGrid>
                <a:gridCol w="1872000">
                  <a:extLst>
                    <a:ext uri="{9D8B030D-6E8A-4147-A177-3AD203B41FA5}">
                      <a16:colId xmlns:a16="http://schemas.microsoft.com/office/drawing/2014/main" val="4260495519"/>
                    </a:ext>
                  </a:extLst>
                </a:gridCol>
                <a:gridCol w="1008000">
                  <a:extLst>
                    <a:ext uri="{9D8B030D-6E8A-4147-A177-3AD203B41FA5}">
                      <a16:colId xmlns:a16="http://schemas.microsoft.com/office/drawing/2014/main" val="2925886223"/>
                    </a:ext>
                  </a:extLst>
                </a:gridCol>
                <a:gridCol w="1008000">
                  <a:extLst>
                    <a:ext uri="{9D8B030D-6E8A-4147-A177-3AD203B41FA5}">
                      <a16:colId xmlns:a16="http://schemas.microsoft.com/office/drawing/2014/main" val="2922020181"/>
                    </a:ext>
                  </a:extLst>
                </a:gridCol>
                <a:gridCol w="1008000">
                  <a:extLst>
                    <a:ext uri="{9D8B030D-6E8A-4147-A177-3AD203B41FA5}">
                      <a16:colId xmlns:a16="http://schemas.microsoft.com/office/drawing/2014/main" val="2669085185"/>
                    </a:ext>
                  </a:extLst>
                </a:gridCol>
                <a:gridCol w="1008000">
                  <a:extLst>
                    <a:ext uri="{9D8B030D-6E8A-4147-A177-3AD203B41FA5}">
                      <a16:colId xmlns:a16="http://schemas.microsoft.com/office/drawing/2014/main" val="935491515"/>
                    </a:ext>
                  </a:extLst>
                </a:gridCol>
                <a:gridCol w="1008000">
                  <a:extLst>
                    <a:ext uri="{9D8B030D-6E8A-4147-A177-3AD203B41FA5}">
                      <a16:colId xmlns:a16="http://schemas.microsoft.com/office/drawing/2014/main" val="3755583327"/>
                    </a:ext>
                  </a:extLst>
                </a:gridCol>
                <a:gridCol w="1008000">
                  <a:extLst>
                    <a:ext uri="{9D8B030D-6E8A-4147-A177-3AD203B41FA5}">
                      <a16:colId xmlns:a16="http://schemas.microsoft.com/office/drawing/2014/main" val="2661548089"/>
                    </a:ext>
                  </a:extLst>
                </a:gridCol>
                <a:gridCol w="1008000">
                  <a:extLst>
                    <a:ext uri="{9D8B030D-6E8A-4147-A177-3AD203B41FA5}">
                      <a16:colId xmlns:a16="http://schemas.microsoft.com/office/drawing/2014/main" val="4285288018"/>
                    </a:ext>
                  </a:extLst>
                </a:gridCol>
                <a:gridCol w="1008000">
                  <a:extLst>
                    <a:ext uri="{9D8B030D-6E8A-4147-A177-3AD203B41FA5}">
                      <a16:colId xmlns:a16="http://schemas.microsoft.com/office/drawing/2014/main" val="2966059790"/>
                    </a:ext>
                  </a:extLst>
                </a:gridCol>
                <a:gridCol w="1116000">
                  <a:extLst>
                    <a:ext uri="{9D8B030D-6E8A-4147-A177-3AD203B41FA5}">
                      <a16:colId xmlns:a16="http://schemas.microsoft.com/office/drawing/2014/main" val="2565051978"/>
                    </a:ext>
                  </a:extLst>
                </a:gridCol>
              </a:tblGrid>
              <a:tr h="235457">
                <a:tc rowSpan="2">
                  <a:txBody>
                    <a:bodyPr/>
                    <a:lstStyle/>
                    <a:p>
                      <a:pPr algn="ctr" rtl="0" fontAlgn="ctr"/>
                      <a:r>
                        <a:rPr lang="ja-JP" altLang="en-US" sz="1600" b="1" i="0" u="none" strike="noStrike">
                          <a:solidFill>
                            <a:srgbClr val="FFFFFF"/>
                          </a:solidFill>
                          <a:effectLst/>
                          <a:latin typeface="+mn-ea"/>
                          <a:ea typeface="+mn-ea"/>
                        </a:rPr>
                        <a:t>役割</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mn-ea"/>
                          <a:ea typeface="+mn-ea"/>
                        </a:rPr>
                        <a:t>2025</a:t>
                      </a:r>
                      <a:r>
                        <a:rPr lang="ja-JP" altLang="en-US" sz="1600" b="1" i="0" u="none" strike="noStrike">
                          <a:solidFill>
                            <a:srgbClr val="FFFFFF"/>
                          </a:solidFill>
                          <a:effectLst/>
                          <a:latin typeface="+mn-ea"/>
                          <a:ea typeface="+mn-ea"/>
                        </a:rPr>
                        <a:t>年</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7">
                  <a:txBody>
                    <a:bodyPr/>
                    <a:lstStyle/>
                    <a:p>
                      <a:pPr algn="ctr" rtl="0" fontAlgn="ctr"/>
                      <a:r>
                        <a:rPr lang="en-US" altLang="ja-JP" sz="1600" b="1" i="0" u="none" strike="noStrike">
                          <a:solidFill>
                            <a:srgbClr val="FFFFFF"/>
                          </a:solidFill>
                          <a:effectLst/>
                          <a:latin typeface="+mn-ea"/>
                          <a:ea typeface="+mn-ea"/>
                        </a:rPr>
                        <a:t>2026</a:t>
                      </a:r>
                      <a:r>
                        <a:rPr lang="ja-JP" altLang="en-US" sz="1600" b="1" i="0" u="none" strike="noStrike">
                          <a:solidFill>
                            <a:srgbClr val="FFFFFF"/>
                          </a:solidFill>
                          <a:effectLst/>
                          <a:latin typeface="+mn-ea"/>
                          <a:ea typeface="+mn-ea"/>
                        </a:rPr>
                        <a:t>年</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0" fontAlgn="ctr"/>
                      <a:endParaRPr lang="ja-JP" altLang="en-US" sz="1600" b="1" i="0" u="none" strike="noStrike">
                        <a:solidFill>
                          <a:srgbClr val="FFFFFF"/>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rtl="0" fontAlgn="ctr"/>
                      <a:endParaRPr lang="ja-JP" altLang="en-US" sz="1600" b="1" i="0" u="none" strike="noStrike">
                        <a:solidFill>
                          <a:srgbClr val="FFFFFF"/>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rowSpan="2">
                  <a:txBody>
                    <a:bodyPr/>
                    <a:lstStyle/>
                    <a:p>
                      <a:pPr algn="ctr" rtl="0" fontAlgn="ctr"/>
                      <a:r>
                        <a:rPr lang="ja-JP" altLang="en-US" sz="1600" b="1" i="0" u="none" strike="noStrike">
                          <a:solidFill>
                            <a:srgbClr val="FFFFFF"/>
                          </a:solidFill>
                          <a:effectLst/>
                          <a:latin typeface="+mn-ea"/>
                          <a:ea typeface="+mn-ea"/>
                        </a:rPr>
                        <a:t>工数</a:t>
                      </a:r>
                      <a:endParaRPr lang="en-US" altLang="ja-JP" sz="1600" b="1" i="0" u="none" strike="noStrike">
                        <a:solidFill>
                          <a:srgbClr val="FFFFFF"/>
                        </a:solidFill>
                        <a:effectLst/>
                        <a:latin typeface="+mn-ea"/>
                        <a:ea typeface="+mn-ea"/>
                      </a:endParaRPr>
                    </a:p>
                    <a:p>
                      <a:pPr algn="ctr" rtl="0" fontAlgn="ctr"/>
                      <a:r>
                        <a:rPr lang="ja-JP" altLang="en-US" sz="1600" b="1" i="0" u="none" strike="noStrike">
                          <a:solidFill>
                            <a:srgbClr val="FFFFFF"/>
                          </a:solidFill>
                          <a:effectLst/>
                          <a:latin typeface="+mn-ea"/>
                          <a:ea typeface="+mn-ea"/>
                        </a:rPr>
                        <a:t>（人月）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35457">
                <a:tc vMerge="1">
                  <a:txBody>
                    <a:bodyPr/>
                    <a:lstStyle/>
                    <a:p>
                      <a:endParaRPr kumimoji="1" lang="ja-JP" altLang="en-US"/>
                    </a:p>
                  </a:txBody>
                  <a:tcPr/>
                </a:tc>
                <a:tc>
                  <a:txBody>
                    <a:bodyPr/>
                    <a:lstStyle/>
                    <a:p>
                      <a:pPr algn="ctr" rtl="0" fontAlgn="ctr"/>
                      <a:r>
                        <a:rPr lang="en-US" altLang="ja-JP" sz="1600" b="1" i="0" u="none" strike="noStrike">
                          <a:solidFill>
                            <a:srgbClr val="FFFFFF"/>
                          </a:solidFill>
                          <a:effectLst/>
                          <a:latin typeface="+mn-ea"/>
                          <a:ea typeface="+mn-ea"/>
                        </a:rPr>
                        <a:t>12</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mn-ea"/>
                          <a:ea typeface="+mn-ea"/>
                        </a:rPr>
                        <a:t>1</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mn-ea"/>
                          <a:ea typeface="+mn-ea"/>
                        </a:rPr>
                        <a:t>2</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mn-ea"/>
                          <a:ea typeface="+mn-ea"/>
                        </a:rPr>
                        <a:t>3</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mn-ea"/>
                          <a:ea typeface="+mn-ea"/>
                        </a:rPr>
                        <a:t>4</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mn-ea"/>
                          <a:ea typeface="+mn-ea"/>
                        </a:rPr>
                        <a:t>5</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mn-ea"/>
                          <a:ea typeface="+mn-ea"/>
                        </a:rPr>
                        <a:t>6</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altLang="ja-JP" sz="1600" b="1" i="0" u="none" strike="noStrike">
                          <a:solidFill>
                            <a:srgbClr val="FFFFFF"/>
                          </a:solidFill>
                          <a:effectLst/>
                          <a:latin typeface="+mn-ea"/>
                          <a:ea typeface="+mn-ea"/>
                        </a:rPr>
                        <a:t>7</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endParaRPr kumimoji="1" lang="ja-JP" altLang="en-US"/>
                    </a:p>
                  </a:txBody>
                  <a:tcPr/>
                </a:tc>
                <a:extLst>
                  <a:ext uri="{0D108BD9-81ED-4DB2-BD59-A6C34878D82A}">
                    <a16:rowId xmlns:a16="http://schemas.microsoft.com/office/drawing/2014/main" val="926838783"/>
                  </a:ext>
                </a:extLst>
              </a:tr>
              <a:tr h="270296">
                <a:tc>
                  <a:txBody>
                    <a:bodyPr/>
                    <a:lstStyle/>
                    <a:p>
                      <a:pPr algn="l" rtl="0" fontAlgn="ctr"/>
                      <a:r>
                        <a:rPr lang="en-US" altLang="ja-JP" sz="1600" b="0" i="0" u="none" strike="noStrike">
                          <a:solidFill>
                            <a:srgbClr val="000000"/>
                          </a:solidFill>
                          <a:effectLst/>
                          <a:latin typeface="+mn-ea"/>
                          <a:ea typeface="+mn-ea"/>
                        </a:rPr>
                        <a:t>PM</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0.5</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0.5</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0.5</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0.5</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0.5</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0.5</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0.5</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0.5</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70296">
                <a:tc>
                  <a:txBody>
                    <a:bodyPr/>
                    <a:lstStyle/>
                    <a:p>
                      <a:pPr algn="l" rtl="0" fontAlgn="ctr"/>
                      <a:r>
                        <a:rPr lang="en-US" altLang="ja-JP" sz="1600" b="0" i="0" u="none" strike="noStrike">
                          <a:solidFill>
                            <a:srgbClr val="000000"/>
                          </a:solidFill>
                          <a:effectLst/>
                          <a:latin typeface="+mn-ea"/>
                          <a:ea typeface="+mn-ea"/>
                        </a:rPr>
                        <a:t>SE</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1.0</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1.0</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1.0</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1.0</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1.0</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1.0</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70991">
                <a:tc>
                  <a:txBody>
                    <a:bodyPr/>
                    <a:lstStyle/>
                    <a:p>
                      <a:pPr algn="l" rtl="0" fontAlgn="ctr"/>
                      <a:r>
                        <a:rPr lang="ja-JP" altLang="en-US" sz="1600" b="0" i="0" u="none" strike="noStrike">
                          <a:solidFill>
                            <a:srgbClr val="000000"/>
                          </a:solidFill>
                          <a:effectLst/>
                          <a:latin typeface="+mn-ea"/>
                          <a:ea typeface="+mn-ea"/>
                        </a:rPr>
                        <a:t>ブリッジ</a:t>
                      </a:r>
                      <a:r>
                        <a:rPr lang="en-US" altLang="ja-JP" sz="1600" b="0" i="0" u="none" strike="noStrike">
                          <a:solidFill>
                            <a:srgbClr val="000000"/>
                          </a:solidFill>
                          <a:effectLst/>
                          <a:latin typeface="+mn-ea"/>
                          <a:ea typeface="+mn-ea"/>
                        </a:rPr>
                        <a:t>SE</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0.2</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0.2</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0.2</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0.2</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0.2</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0.2</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0.2</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830340"/>
                  </a:ext>
                </a:extLst>
              </a:tr>
              <a:tr h="270991">
                <a:tc>
                  <a:txBody>
                    <a:bodyPr/>
                    <a:lstStyle/>
                    <a:p>
                      <a:pPr algn="l" rtl="0" fontAlgn="ctr"/>
                      <a:r>
                        <a:rPr lang="ja-JP" altLang="en-US" sz="1600" b="0" i="0" u="none" strike="noStrike">
                          <a:solidFill>
                            <a:srgbClr val="000000"/>
                          </a:solidFill>
                          <a:effectLst/>
                          <a:latin typeface="+mn-ea"/>
                          <a:ea typeface="+mn-ea"/>
                        </a:rPr>
                        <a:t>オフショア</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1.0</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mn-ea"/>
                          <a:ea typeface="+mn-ea"/>
                        </a:rPr>
                        <a:t>2.0</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2.0</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2.0</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2.0</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1.0</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1.0</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6005703"/>
                  </a:ext>
                </a:extLst>
              </a:tr>
              <a:tr h="270296">
                <a:tc>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0.5</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3.7</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3.7</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3.7</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3.7</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3.7</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2.7</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mn-ea"/>
                          <a:ea typeface="+mn-ea"/>
                        </a:rPr>
                        <a:t>1.7</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22.4</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人月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スライド番号プレースホルダー 3">
            <a:extLst>
              <a:ext uri="{FF2B5EF4-FFF2-40B4-BE49-F238E27FC236}">
                <a16:creationId xmlns:a16="http://schemas.microsoft.com/office/drawing/2014/main" id="{20E21CFF-8AA3-43B6-255F-B03287EFCB3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35</a:t>
            </a:fld>
            <a:endParaRPr kumimoji="1" lang="ja-JP" altLang="en-US" sz="700"/>
          </a:p>
        </p:txBody>
      </p:sp>
      <p:graphicFrame>
        <p:nvGraphicFramePr>
          <p:cNvPr id="3" name="表 2">
            <a:extLst>
              <a:ext uri="{FF2B5EF4-FFF2-40B4-BE49-F238E27FC236}">
                <a16:creationId xmlns:a16="http://schemas.microsoft.com/office/drawing/2014/main" id="{131A3564-4649-E7BF-D31D-38D575EB68A3}"/>
              </a:ext>
            </a:extLst>
          </p:cNvPr>
          <p:cNvGraphicFramePr>
            <a:graphicFrameLocks noGrp="1"/>
          </p:cNvGraphicFramePr>
          <p:nvPr>
            <p:extLst>
              <p:ext uri="{D42A27DB-BD31-4B8C-83A1-F6EECF244321}">
                <p14:modId xmlns:p14="http://schemas.microsoft.com/office/powerpoint/2010/main" val="604292761"/>
              </p:ext>
            </p:extLst>
          </p:nvPr>
        </p:nvGraphicFramePr>
        <p:xfrm>
          <a:off x="576001" y="2916000"/>
          <a:ext cx="11052000" cy="3475140"/>
        </p:xfrm>
        <a:graphic>
          <a:graphicData uri="http://schemas.openxmlformats.org/drawingml/2006/table">
            <a:tbl>
              <a:tblPr firstRow="1" bandRow="1">
                <a:tableStyleId>{2D5ABB26-0587-4C30-8999-92F81FD0307C}</a:tableStyleId>
              </a:tblPr>
              <a:tblGrid>
                <a:gridCol w="504000">
                  <a:extLst>
                    <a:ext uri="{9D8B030D-6E8A-4147-A177-3AD203B41FA5}">
                      <a16:colId xmlns:a16="http://schemas.microsoft.com/office/drawing/2014/main" val="233225342"/>
                    </a:ext>
                  </a:extLst>
                </a:gridCol>
                <a:gridCol w="1440000">
                  <a:extLst>
                    <a:ext uri="{9D8B030D-6E8A-4147-A177-3AD203B41FA5}">
                      <a16:colId xmlns:a16="http://schemas.microsoft.com/office/drawing/2014/main" val="568014644"/>
                    </a:ext>
                  </a:extLst>
                </a:gridCol>
                <a:gridCol w="1944000">
                  <a:extLst>
                    <a:ext uri="{9D8B030D-6E8A-4147-A177-3AD203B41FA5}">
                      <a16:colId xmlns:a16="http://schemas.microsoft.com/office/drawing/2014/main" val="3608806225"/>
                    </a:ext>
                  </a:extLst>
                </a:gridCol>
                <a:gridCol w="3024000">
                  <a:extLst>
                    <a:ext uri="{9D8B030D-6E8A-4147-A177-3AD203B41FA5}">
                      <a16:colId xmlns:a16="http://schemas.microsoft.com/office/drawing/2014/main" val="4260495519"/>
                    </a:ext>
                  </a:extLst>
                </a:gridCol>
                <a:gridCol w="1980000">
                  <a:extLst>
                    <a:ext uri="{9D8B030D-6E8A-4147-A177-3AD203B41FA5}">
                      <a16:colId xmlns:a16="http://schemas.microsoft.com/office/drawing/2014/main" val="2565051978"/>
                    </a:ext>
                  </a:extLst>
                </a:gridCol>
                <a:gridCol w="2160000">
                  <a:extLst>
                    <a:ext uri="{9D8B030D-6E8A-4147-A177-3AD203B41FA5}">
                      <a16:colId xmlns:a16="http://schemas.microsoft.com/office/drawing/2014/main" val="2912004341"/>
                    </a:ext>
                  </a:extLst>
                </a:gridCol>
              </a:tblGrid>
              <a:tr h="217776">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期間</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役割</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5">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endParaRPr lang="en-US" altLang="ja-JP" sz="1600" b="0" i="0" u="none" strike="noStrike" dirty="0">
                        <a:solidFill>
                          <a:srgbClr val="000000"/>
                        </a:solidFill>
                        <a:effectLst/>
                        <a:latin typeface="+mn-ea"/>
                        <a:ea typeface="+mn-ea"/>
                      </a:endParaRPr>
                    </a:p>
                    <a:p>
                      <a:pPr algn="l" rtl="0" fontAlgn="ctr"/>
                      <a:r>
                        <a:rPr lang="en-US" altLang="ja-JP" sz="1600" b="0" i="0" u="none" strike="noStrike" dirty="0">
                          <a:solidFill>
                            <a:srgbClr val="000000"/>
                          </a:solidFill>
                          <a:effectLst/>
                          <a:latin typeface="+mn-ea"/>
                          <a:ea typeface="+mn-ea"/>
                        </a:rPr>
                        <a:t>(</a:t>
                      </a:r>
                      <a:r>
                        <a:rPr lang="ja-JP" altLang="en-US" sz="1600" b="0" i="0" u="none" strike="noStrike" dirty="0">
                          <a:solidFill>
                            <a:srgbClr val="000000"/>
                          </a:solidFill>
                          <a:effectLst/>
                          <a:latin typeface="+mn-ea"/>
                          <a:ea typeface="+mn-ea"/>
                        </a:rPr>
                        <a:t>履行割合型</a:t>
                      </a:r>
                      <a:r>
                        <a:rPr lang="en-US" altLang="ja-JP" sz="1600" b="0" i="0" u="none" strike="noStrike" dirty="0">
                          <a:solidFill>
                            <a:srgbClr val="000000"/>
                          </a:solidFill>
                          <a:effectLst/>
                          <a:latin typeface="+mn-ea"/>
                          <a:ea typeface="+mn-ea"/>
                        </a:rPr>
                        <a:t>)</a:t>
                      </a:r>
                      <a:endParaRPr lang="ja-JP" altLang="en-US"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en-US" altLang="ja-JP" sz="1600" b="0" i="0" u="none" strike="noStrike">
                          <a:solidFill>
                            <a:srgbClr val="000000"/>
                          </a:solidFill>
                          <a:effectLst/>
                          <a:latin typeface="+mn-ea"/>
                          <a:ea typeface="+mn-ea"/>
                        </a:rPr>
                        <a:t>2025</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12</a:t>
                      </a:r>
                      <a:r>
                        <a:rPr lang="ja-JP" altLang="en-US" sz="1600" b="0" i="0" u="none" strike="noStrike">
                          <a:solidFill>
                            <a:srgbClr val="000000"/>
                          </a:solidFill>
                          <a:effectLst/>
                          <a:latin typeface="+mn-ea"/>
                          <a:ea typeface="+mn-ea"/>
                        </a:rPr>
                        <a:t>月</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a:t>
                      </a:r>
                      <a:endParaRPr lang="en-US" altLang="ja-JP" sz="1600" b="0" i="0" u="none" strike="noStrike">
                        <a:solidFill>
                          <a:srgbClr val="000000"/>
                        </a:solidFill>
                        <a:effectLst/>
                        <a:latin typeface="+mn-ea"/>
                        <a:ea typeface="+mn-ea"/>
                      </a:endParaRPr>
                    </a:p>
                    <a:p>
                      <a:pPr algn="ctr" rtl="0" fontAlgn="ctr"/>
                      <a:r>
                        <a:rPr lang="en-US" altLang="ja-JP" sz="1600" b="0" i="0" u="none" strike="noStrike">
                          <a:solidFill>
                            <a:srgbClr val="000000"/>
                          </a:solidFill>
                          <a:effectLst/>
                          <a:latin typeface="+mn-ea"/>
                          <a:ea typeface="+mn-ea"/>
                        </a:rPr>
                        <a:t>2026</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3</a:t>
                      </a:r>
                      <a:r>
                        <a:rPr lang="ja-JP" altLang="en-US" sz="1600" b="0" i="0" u="none" strike="noStrike">
                          <a:solidFill>
                            <a:srgbClr val="000000"/>
                          </a:solidFill>
                          <a:effectLst/>
                          <a:latin typeface="+mn-ea"/>
                          <a:ea typeface="+mn-ea"/>
                        </a:rPr>
                        <a:t>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600" b="0" i="0" u="none" strike="noStrike">
                          <a:solidFill>
                            <a:srgbClr val="000000"/>
                          </a:solidFill>
                          <a:effectLst/>
                          <a:latin typeface="+mn-ea"/>
                          <a:ea typeface="+mn-ea"/>
                        </a:rPr>
                        <a:t>PM</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2,800,000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en-US" altLang="ja-JP" sz="1600" b="0" i="0" u="none" strike="noStrike">
                          <a:solidFill>
                            <a:srgbClr val="000000"/>
                          </a:solidFill>
                          <a:effectLst/>
                          <a:latin typeface="+mn-ea"/>
                          <a:ea typeface="+mn-ea"/>
                        </a:rPr>
                        <a:t>SE</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3,600,000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ブリッジ</a:t>
                      </a:r>
                      <a:r>
                        <a:rPr lang="en-US" altLang="ja-JP" sz="1600" b="0" i="0" u="none" strike="noStrike">
                          <a:solidFill>
                            <a:srgbClr val="000000"/>
                          </a:solidFill>
                          <a:effectLst/>
                          <a:latin typeface="+mn-ea"/>
                          <a:ea typeface="+mn-ea"/>
                        </a:rPr>
                        <a:t>SE</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600,000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830340"/>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オフショア</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06005703"/>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10,500,000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準委任契約</a:t>
                      </a:r>
                      <a:endParaRPr lang="en-US" altLang="ja-JP" sz="1600" b="0" i="0" u="none" strike="noStrike" dirty="0">
                        <a:solidFill>
                          <a:srgbClr val="000000"/>
                        </a:solidFill>
                        <a:effectLst/>
                        <a:latin typeface="+mn-ea"/>
                        <a:ea typeface="+mn-ea"/>
                      </a:endParaRPr>
                    </a:p>
                    <a:p>
                      <a:pPr algn="l" rtl="0" fontAlgn="ctr"/>
                      <a:r>
                        <a:rPr lang="en-US" altLang="ja-JP" sz="1600" b="0" i="0" u="none" strike="noStrike" dirty="0">
                          <a:solidFill>
                            <a:srgbClr val="000000"/>
                          </a:solidFill>
                          <a:effectLst/>
                          <a:latin typeface="+mn-ea"/>
                          <a:ea typeface="+mn-ea"/>
                        </a:rPr>
                        <a:t>(</a:t>
                      </a:r>
                      <a:r>
                        <a:rPr lang="ja-JP" altLang="en-US" sz="1600" b="0" i="0" u="none" strike="noStrike" dirty="0">
                          <a:solidFill>
                            <a:srgbClr val="000000"/>
                          </a:solidFill>
                          <a:effectLst/>
                          <a:latin typeface="+mn-ea"/>
                          <a:ea typeface="+mn-ea"/>
                        </a:rPr>
                        <a:t>履行割合型</a:t>
                      </a:r>
                      <a:r>
                        <a:rPr lang="en-US" altLang="ja-JP" sz="1600" b="0" i="0" u="none" strike="noStrike" dirty="0">
                          <a:solidFill>
                            <a:srgbClr val="000000"/>
                          </a:solidFill>
                          <a:effectLst/>
                          <a:latin typeface="+mn-ea"/>
                          <a:ea typeface="+mn-ea"/>
                        </a:rPr>
                        <a:t>)</a:t>
                      </a:r>
                      <a:endParaRPr lang="ja-JP" altLang="en-US"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en-US" altLang="ja-JP" sz="1600" b="0" i="0" u="none" strike="noStrike">
                          <a:solidFill>
                            <a:srgbClr val="000000"/>
                          </a:solidFill>
                          <a:effectLst/>
                          <a:latin typeface="+mn-ea"/>
                          <a:ea typeface="+mn-ea"/>
                        </a:rPr>
                        <a:t>2026</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4</a:t>
                      </a:r>
                      <a:r>
                        <a:rPr lang="ja-JP" altLang="en-US" sz="1600" b="0" i="0" u="none" strike="noStrike">
                          <a:solidFill>
                            <a:srgbClr val="000000"/>
                          </a:solidFill>
                          <a:effectLst/>
                          <a:latin typeface="+mn-ea"/>
                          <a:ea typeface="+mn-ea"/>
                        </a:rPr>
                        <a:t>月</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a:t>
                      </a:r>
                      <a:endParaRPr lang="en-US" altLang="ja-JP" sz="1600" b="0" i="0" u="none" strike="noStrike">
                        <a:solidFill>
                          <a:srgbClr val="000000"/>
                        </a:solidFill>
                        <a:effectLst/>
                        <a:latin typeface="+mn-ea"/>
                        <a:ea typeface="+mn-ea"/>
                      </a:endParaRPr>
                    </a:p>
                    <a:p>
                      <a:pPr algn="ctr" rtl="0" fontAlgn="ctr"/>
                      <a:r>
                        <a:rPr lang="en-US" altLang="ja-JP" sz="1600" b="0" i="0" u="none" strike="noStrike">
                          <a:solidFill>
                            <a:srgbClr val="000000"/>
                          </a:solidFill>
                          <a:effectLst/>
                          <a:latin typeface="+mn-ea"/>
                          <a:ea typeface="+mn-ea"/>
                        </a:rPr>
                        <a:t>2026</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7</a:t>
                      </a:r>
                      <a:r>
                        <a:rPr lang="ja-JP" altLang="en-US" sz="1600" b="0" i="0" u="none" strike="noStrike">
                          <a:solidFill>
                            <a:srgbClr val="000000"/>
                          </a:solidFill>
                          <a:effectLst/>
                          <a:latin typeface="+mn-ea"/>
                          <a:ea typeface="+mn-ea"/>
                        </a:rPr>
                        <a:t>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600" b="0" i="0" u="none" strike="noStrike">
                          <a:solidFill>
                            <a:srgbClr val="000000"/>
                          </a:solidFill>
                          <a:effectLst/>
                          <a:latin typeface="+mn-ea"/>
                          <a:ea typeface="+mn-ea"/>
                        </a:rPr>
                        <a:t>PM</a:t>
                      </a:r>
                      <a:endParaRPr lang="ja-JP" altLang="en-US" sz="1600" b="0" i="0" u="none" strike="noStrike">
                        <a:solidFill>
                          <a:srgbClr val="000000"/>
                        </a:solidFill>
                        <a:effectLst/>
                        <a:latin typeface="+mn-ea"/>
                        <a:ea typeface="+mn-ea"/>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2,800,000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en-US" altLang="ja-JP" sz="1600" b="0" i="0" u="none" strike="noStrike">
                          <a:solidFill>
                            <a:srgbClr val="000000"/>
                          </a:solidFill>
                          <a:effectLst/>
                          <a:latin typeface="+mn-ea"/>
                          <a:ea typeface="+mn-ea"/>
                        </a:rPr>
                        <a:t>SE</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3,600,000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ブリッジ</a:t>
                      </a:r>
                      <a:r>
                        <a:rPr lang="en-US" altLang="ja-JP" sz="1600" b="0" i="0" u="none" strike="noStrike">
                          <a:solidFill>
                            <a:srgbClr val="000000"/>
                          </a:solidFill>
                          <a:effectLst/>
                          <a:latin typeface="+mn-ea"/>
                          <a:ea typeface="+mn-ea"/>
                        </a:rPr>
                        <a:t>SE</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800,000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オフショア</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4,200,000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11,400,000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gridSpan="4">
                  <a:txBody>
                    <a:bodyPr/>
                    <a:lstStyle/>
                    <a:p>
                      <a:pPr algn="r" rtl="0" fontAlgn="ctr"/>
                      <a:r>
                        <a:rPr lang="ja-JP" altLang="en-US" sz="1600" b="1" i="0" u="none" strike="noStrike" dirty="0">
                          <a:solidFill>
                            <a:srgbClr val="000000"/>
                          </a:solidFill>
                          <a:effectLst/>
                          <a:latin typeface="+mn-ea"/>
                          <a:ea typeface="+mn-ea"/>
                        </a:rPr>
                        <a:t>合計</a:t>
                      </a:r>
                      <a:endParaRPr lang="en-US" altLang="ja-JP" sz="1600" b="1" i="0" u="none" strike="noStrike" dirty="0">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22.4</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人月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21,900,000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2531029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B0B805A-A702-5A92-7C30-EC91766395FF}"/>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FD190455-43E0-CF34-33F7-AD284CFDA38E}"/>
              </a:ext>
            </a:extLst>
          </p:cNvPr>
          <p:cNvSpPr>
            <a:spLocks noGrp="1"/>
          </p:cNvSpPr>
          <p:nvPr>
            <p:ph type="title"/>
          </p:nvPr>
        </p:nvSpPr>
        <p:spPr/>
        <p:txBody>
          <a:bodyPr/>
          <a:lstStyle/>
          <a:p>
            <a:r>
              <a:rPr lang="ja-JP" altLang="en-US" dirty="0"/>
              <a:t>お見積り</a:t>
            </a:r>
            <a:r>
              <a:rPr lang="en-US" altLang="ja-JP" dirty="0"/>
              <a:t>(</a:t>
            </a:r>
            <a:r>
              <a:rPr lang="ja-JP" altLang="en-US" dirty="0"/>
              <a:t>運用・保守</a:t>
            </a:r>
            <a:r>
              <a:rPr lang="en-US" altLang="ja-JP" dirty="0"/>
              <a:t>)</a:t>
            </a:r>
            <a:endParaRPr kumimoji="1" lang="ja-JP" altLang="en-US"/>
          </a:p>
        </p:txBody>
      </p:sp>
    </p:spTree>
    <p:extLst>
      <p:ext uri="{BB962C8B-B14F-4D97-AF65-F5344CB8AC3E}">
        <p14:creationId xmlns:p14="http://schemas.microsoft.com/office/powerpoint/2010/main" val="1691241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086D-F58B-EC4B-693B-28BDC98D23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E70C52-B1E4-2C7E-5EB0-A0277EC9EC59}"/>
              </a:ext>
            </a:extLst>
          </p:cNvPr>
          <p:cNvSpPr>
            <a:spLocks noGrp="1"/>
          </p:cNvSpPr>
          <p:nvPr>
            <p:ph type="title"/>
          </p:nvPr>
        </p:nvSpPr>
        <p:spPr/>
        <p:txBody>
          <a:bodyPr/>
          <a:lstStyle/>
          <a:p>
            <a:r>
              <a:rPr kumimoji="1" lang="en-US" altLang="ja-JP" dirty="0"/>
              <a:t>7-1</a:t>
            </a:r>
            <a:r>
              <a:rPr kumimoji="1" lang="ja-JP" altLang="en-US"/>
              <a:t>．お見積り（運用</a:t>
            </a:r>
            <a:r>
              <a:rPr lang="ja-JP" altLang="en-US"/>
              <a:t>・</a:t>
            </a:r>
            <a:r>
              <a:rPr kumimoji="1" lang="ja-JP" altLang="en-US"/>
              <a:t>保守）</a:t>
            </a:r>
          </a:p>
        </p:txBody>
      </p:sp>
      <p:sp>
        <p:nvSpPr>
          <p:cNvPr id="4" name="フッター プレースホルダー 3">
            <a:extLst>
              <a:ext uri="{FF2B5EF4-FFF2-40B4-BE49-F238E27FC236}">
                <a16:creationId xmlns:a16="http://schemas.microsoft.com/office/drawing/2014/main" id="{3436EFCC-EA41-1C9B-B9A6-ED1DE93D9331}"/>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FB050304-A886-0018-86D5-A1E10AFD94CE}"/>
              </a:ext>
            </a:extLst>
          </p:cNvPr>
          <p:cNvGraphicFramePr>
            <a:graphicFrameLocks noGrp="1"/>
          </p:cNvGraphicFramePr>
          <p:nvPr>
            <p:extLst>
              <p:ext uri="{D42A27DB-BD31-4B8C-83A1-F6EECF244321}">
                <p14:modId xmlns:p14="http://schemas.microsoft.com/office/powerpoint/2010/main" val="4284615076"/>
              </p:ext>
            </p:extLst>
          </p:nvPr>
        </p:nvGraphicFramePr>
        <p:xfrm>
          <a:off x="516000" y="936000"/>
          <a:ext cx="11041201" cy="2045188"/>
        </p:xfrm>
        <a:graphic>
          <a:graphicData uri="http://schemas.openxmlformats.org/drawingml/2006/table">
            <a:tbl>
              <a:tblPr firstRow="1" bandRow="1">
                <a:tableStyleId>{2D5ABB26-0587-4C30-8999-92F81FD0307C}</a:tableStyleId>
              </a:tblPr>
              <a:tblGrid>
                <a:gridCol w="484583">
                  <a:extLst>
                    <a:ext uri="{9D8B030D-6E8A-4147-A177-3AD203B41FA5}">
                      <a16:colId xmlns:a16="http://schemas.microsoft.com/office/drawing/2014/main" val="233225342"/>
                    </a:ext>
                  </a:extLst>
                </a:gridCol>
                <a:gridCol w="1417618">
                  <a:extLst>
                    <a:ext uri="{9D8B030D-6E8A-4147-A177-3AD203B41FA5}">
                      <a16:colId xmlns:a16="http://schemas.microsoft.com/office/drawing/2014/main" val="568014644"/>
                    </a:ext>
                  </a:extLst>
                </a:gridCol>
                <a:gridCol w="1374329">
                  <a:extLst>
                    <a:ext uri="{9D8B030D-6E8A-4147-A177-3AD203B41FA5}">
                      <a16:colId xmlns:a16="http://schemas.microsoft.com/office/drawing/2014/main" val="3608806225"/>
                    </a:ext>
                  </a:extLst>
                </a:gridCol>
                <a:gridCol w="3824216">
                  <a:extLst>
                    <a:ext uri="{9D8B030D-6E8A-4147-A177-3AD203B41FA5}">
                      <a16:colId xmlns:a16="http://schemas.microsoft.com/office/drawing/2014/main" val="4260495519"/>
                    </a:ext>
                  </a:extLst>
                </a:gridCol>
                <a:gridCol w="1762644">
                  <a:extLst>
                    <a:ext uri="{9D8B030D-6E8A-4147-A177-3AD203B41FA5}">
                      <a16:colId xmlns:a16="http://schemas.microsoft.com/office/drawing/2014/main" val="2565051978"/>
                    </a:ext>
                  </a:extLst>
                </a:gridCol>
                <a:gridCol w="2177811">
                  <a:extLst>
                    <a:ext uri="{9D8B030D-6E8A-4147-A177-3AD203B41FA5}">
                      <a16:colId xmlns:a16="http://schemas.microsoft.com/office/drawing/2014/main" val="2912004341"/>
                    </a:ext>
                  </a:extLst>
                </a:gridCol>
              </a:tblGrid>
              <a:tr h="396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概要</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r>
                        <a:rPr lang="en-US" altLang="ja-JP" sz="1600" b="1" i="0" u="none" strike="noStrike">
                          <a:solidFill>
                            <a:srgbClr val="FFFFFF"/>
                          </a:solidFill>
                          <a:effectLst/>
                          <a:latin typeface="+mn-ea"/>
                          <a:ea typeface="+mn-ea"/>
                        </a:rPr>
                        <a:t>/</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824594">
                <a:tc>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rtl="0" fontAlgn="ctr"/>
                      <a:r>
                        <a:rPr lang="ja-JP" altLang="en-US" sz="1600" b="0" i="0" u="none" strike="noStrike">
                          <a:solidFill>
                            <a:srgbClr val="000000"/>
                          </a:solidFill>
                          <a:effectLst/>
                          <a:latin typeface="+mn-ea"/>
                          <a:ea typeface="+mn-ea"/>
                        </a:rPr>
                        <a:t>運用保守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初期流動（</a:t>
                      </a:r>
                      <a:r>
                        <a:rPr lang="en-US" altLang="ja-JP" sz="1600" b="0" i="0" u="none" strike="noStrike">
                          <a:solidFill>
                            <a:srgbClr val="000000"/>
                          </a:solidFill>
                          <a:effectLst/>
                          <a:latin typeface="+mn-ea"/>
                          <a:ea typeface="+mn-ea"/>
                        </a:rPr>
                        <a:t>2026</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8</a:t>
                      </a:r>
                      <a:r>
                        <a:rPr lang="ja-JP" altLang="en-US" sz="1600" b="0" i="0" u="none" strike="noStrike">
                          <a:solidFill>
                            <a:srgbClr val="000000"/>
                          </a:solidFill>
                          <a:effectLst/>
                          <a:latin typeface="+mn-ea"/>
                          <a:ea typeface="+mn-ea"/>
                        </a:rPr>
                        <a:t>～</a:t>
                      </a:r>
                      <a:r>
                        <a:rPr lang="en-US" altLang="ja-JP" sz="1600" b="0" i="0" u="none" strike="noStrike">
                          <a:solidFill>
                            <a:srgbClr val="000000"/>
                          </a:solidFill>
                          <a:effectLst/>
                          <a:latin typeface="+mn-ea"/>
                          <a:ea typeface="+mn-ea"/>
                        </a:rPr>
                        <a:t>9</a:t>
                      </a:r>
                      <a:r>
                        <a:rPr lang="ja-JP" altLang="en-US" sz="1600" b="0" i="0" u="none" strike="noStrike">
                          <a:solidFill>
                            <a:srgbClr val="000000"/>
                          </a:solidFill>
                          <a:effectLst/>
                          <a:latin typeface="+mn-ea"/>
                          <a:ea typeface="+mn-ea"/>
                        </a:rPr>
                        <a:t>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824594">
                <a:tc>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通常保守（</a:t>
                      </a:r>
                      <a:r>
                        <a:rPr lang="en-US" altLang="ja-JP" sz="1600" b="0" i="0" u="none" strike="noStrike">
                          <a:solidFill>
                            <a:srgbClr val="000000"/>
                          </a:solidFill>
                          <a:effectLst/>
                          <a:latin typeface="+mn-ea"/>
                          <a:ea typeface="+mn-ea"/>
                        </a:rPr>
                        <a:t>2026</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10</a:t>
                      </a:r>
                      <a:r>
                        <a:rPr lang="ja-JP" altLang="en-US" sz="1600" b="0" i="0" u="none" strike="noStrike">
                          <a:solidFill>
                            <a:srgbClr val="000000"/>
                          </a:solidFill>
                          <a:effectLst/>
                          <a:latin typeface="+mn-ea"/>
                          <a:ea typeface="+mn-ea"/>
                        </a:rPr>
                        <a:t>月以降）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420,000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bl>
          </a:graphicData>
        </a:graphic>
      </p:graphicFrame>
      <p:sp>
        <p:nvSpPr>
          <p:cNvPr id="6" name="スライド番号プレースホルダー 3">
            <a:extLst>
              <a:ext uri="{FF2B5EF4-FFF2-40B4-BE49-F238E27FC236}">
                <a16:creationId xmlns:a16="http://schemas.microsoft.com/office/drawing/2014/main" id="{F67BB589-4969-4028-7270-CA23CF0BE25B}"/>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37</a:t>
            </a:fld>
            <a:endParaRPr kumimoji="1" lang="ja-JP" altLang="en-US" sz="700"/>
          </a:p>
        </p:txBody>
      </p:sp>
    </p:spTree>
    <p:extLst>
      <p:ext uri="{BB962C8B-B14F-4D97-AF65-F5344CB8AC3E}">
        <p14:creationId xmlns:p14="http://schemas.microsoft.com/office/powerpoint/2010/main" val="12016717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95198-BB9E-4719-3415-BF35C77BBC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BA19AE-6CD1-A1B5-EA44-A73F24F16C3D}"/>
              </a:ext>
            </a:extLst>
          </p:cNvPr>
          <p:cNvSpPr>
            <a:spLocks noGrp="1"/>
          </p:cNvSpPr>
          <p:nvPr>
            <p:ph type="title"/>
          </p:nvPr>
        </p:nvSpPr>
        <p:spPr/>
        <p:txBody>
          <a:bodyPr/>
          <a:lstStyle/>
          <a:p>
            <a:r>
              <a:rPr lang="en-US" altLang="ja-JP" dirty="0"/>
              <a:t>7-2</a:t>
            </a:r>
            <a:r>
              <a:rPr lang="ja-JP" altLang="en-US"/>
              <a:t>．サポート内容</a:t>
            </a:r>
            <a:endParaRPr kumimoji="1" lang="ja-JP" altLang="en-US"/>
          </a:p>
        </p:txBody>
      </p:sp>
      <p:sp>
        <p:nvSpPr>
          <p:cNvPr id="5" name="フッター プレースホルダー 4">
            <a:extLst>
              <a:ext uri="{FF2B5EF4-FFF2-40B4-BE49-F238E27FC236}">
                <a16:creationId xmlns:a16="http://schemas.microsoft.com/office/drawing/2014/main" id="{85EF879E-39EB-D0EC-9C88-01D7CD35D7A8}"/>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28555423-EC9B-1F4F-7F98-C67B4561AF8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38</a:t>
            </a:fld>
            <a:endParaRPr kumimoji="1" lang="ja-JP" altLang="en-US" sz="700"/>
          </a:p>
        </p:txBody>
      </p:sp>
      <p:grpSp>
        <p:nvGrpSpPr>
          <p:cNvPr id="7" name="グループ化 6">
            <a:extLst>
              <a:ext uri="{FF2B5EF4-FFF2-40B4-BE49-F238E27FC236}">
                <a16:creationId xmlns:a16="http://schemas.microsoft.com/office/drawing/2014/main" id="{11361CAB-A30C-8A3E-3BAF-BD0A54E85354}"/>
              </a:ext>
            </a:extLst>
          </p:cNvPr>
          <p:cNvGrpSpPr/>
          <p:nvPr/>
        </p:nvGrpSpPr>
        <p:grpSpPr>
          <a:xfrm>
            <a:off x="3783061" y="954001"/>
            <a:ext cx="3436850" cy="5327999"/>
            <a:chOff x="3168000" y="1152000"/>
            <a:chExt cx="2772000" cy="5327999"/>
          </a:xfrm>
        </p:grpSpPr>
        <p:cxnSp>
          <p:nvCxnSpPr>
            <p:cNvPr id="8" name="直線コネクタ 7">
              <a:extLst>
                <a:ext uri="{FF2B5EF4-FFF2-40B4-BE49-F238E27FC236}">
                  <a16:creationId xmlns:a16="http://schemas.microsoft.com/office/drawing/2014/main" id="{95979449-1970-53FC-3910-8EB987235769}"/>
                </a:ext>
              </a:extLst>
            </p:cNvPr>
            <p:cNvCxnSpPr/>
            <p:nvPr/>
          </p:nvCxnSpPr>
          <p:spPr>
            <a:xfrm>
              <a:off x="3168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BDEEDC0-12CA-303D-A13C-80C1EBC69F6A}"/>
                </a:ext>
              </a:extLst>
            </p:cNvPr>
            <p:cNvSpPr txBox="1"/>
            <p:nvPr/>
          </p:nvSpPr>
          <p:spPr>
            <a:xfrm>
              <a:off x="3240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受付時間</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F716FA11-AD7C-1254-07AF-B3E570FA6A2A}"/>
                </a:ext>
              </a:extLst>
            </p:cNvPr>
            <p:cNvSpPr txBox="1"/>
            <p:nvPr/>
          </p:nvSpPr>
          <p:spPr>
            <a:xfrm>
              <a:off x="3240000" y="1511999"/>
              <a:ext cx="2700000" cy="4968000"/>
            </a:xfrm>
            <a:prstGeom prst="rect">
              <a:avLst/>
            </a:prstGeom>
            <a:noFill/>
          </p:spPr>
          <p:txBody>
            <a:bodyPr wrap="square" rtlCol="0">
              <a:noAutofit/>
            </a:bodyPr>
            <a:lstStyle/>
            <a:p>
              <a:pPr>
                <a:spcBef>
                  <a:spcPts val="600"/>
                </a:spcBef>
              </a:pPr>
              <a:r>
                <a:rPr kumimoji="1" lang="ja-JP" altLang="en-US" sz="1400" b="1">
                  <a:latin typeface="+mn-ea"/>
                </a:rPr>
                <a:t>通常時</a:t>
              </a:r>
              <a:r>
                <a:rPr lang="ja-JP" altLang="en-US" sz="1400" b="1">
                  <a:latin typeface="+mn-ea"/>
                </a:rPr>
                <a:t>お問い合わせ</a:t>
              </a:r>
              <a:r>
                <a:rPr kumimoji="1" lang="ja-JP" altLang="en-US" sz="1400" b="1">
                  <a:latin typeface="+mn-ea"/>
                </a:rPr>
                <a:t>受付時間</a:t>
              </a:r>
              <a:endParaRPr lang="en-US" altLang="ja-JP" sz="1400" b="1">
                <a:latin typeface="+mn-ea"/>
              </a:endParaRPr>
            </a:p>
            <a:p>
              <a:pPr>
                <a:spcBef>
                  <a:spcPts val="600"/>
                </a:spcBef>
              </a:pPr>
              <a:r>
                <a:rPr lang="ja-JP" altLang="en-US" sz="1400">
                  <a:latin typeface="+mn-ea"/>
                </a:rPr>
                <a:t>平日（月曜日～金曜日）の </a:t>
              </a:r>
              <a:endParaRPr lang="en-US" altLang="ja-JP" sz="1400">
                <a:latin typeface="+mn-ea"/>
              </a:endParaRPr>
            </a:p>
            <a:p>
              <a:pPr>
                <a:spcBef>
                  <a:spcPts val="600"/>
                </a:spcBef>
              </a:pPr>
              <a:r>
                <a:rPr lang="en-US" altLang="ja-JP" sz="1400">
                  <a:latin typeface="+mn-ea"/>
                </a:rPr>
                <a:t>9:00 </a:t>
              </a:r>
              <a:r>
                <a:rPr lang="ja-JP" altLang="en-US" sz="1400">
                  <a:latin typeface="+mn-ea"/>
                </a:rPr>
                <a:t>～ </a:t>
              </a:r>
              <a:r>
                <a:rPr lang="en-US" altLang="ja-JP" sz="1400">
                  <a:latin typeface="+mn-ea"/>
                </a:rPr>
                <a:t>17:30</a:t>
              </a:r>
            </a:p>
            <a:p>
              <a:pPr marL="285750" indent="-285750">
                <a:spcBef>
                  <a:spcPts val="600"/>
                </a:spcBef>
                <a:buFont typeface="游ゴシック" panose="020B0400000000000000" pitchFamily="50" charset="-128"/>
                <a:buChar char="※"/>
              </a:pPr>
              <a:r>
                <a:rPr lang="ja-JP" altLang="en-US" sz="1400">
                  <a:latin typeface="+mn-ea"/>
                </a:rPr>
                <a:t>土曜日、日曜日、祝日、年末年始は除きます。</a:t>
              </a:r>
              <a:endParaRPr lang="en-US" altLang="ja-JP" sz="1400">
                <a:latin typeface="+mn-ea"/>
              </a:endParaRPr>
            </a:p>
            <a:p>
              <a:pPr marL="285750" indent="-285750">
                <a:spcBef>
                  <a:spcPts val="600"/>
                </a:spcBef>
                <a:buFont typeface="游ゴシック" panose="020B0400000000000000" pitchFamily="50" charset="-128"/>
                <a:buChar char="※"/>
              </a:pPr>
              <a:endParaRPr lang="en-US" altLang="ja-JP" sz="1400">
                <a:latin typeface="+mn-ea"/>
              </a:endParaRPr>
            </a:p>
            <a:p>
              <a:pPr>
                <a:spcBef>
                  <a:spcPts val="600"/>
                </a:spcBef>
              </a:pPr>
              <a:r>
                <a:rPr lang="ja-JP" altLang="en-US" sz="1400" b="1">
                  <a:latin typeface="+mn-ea"/>
                </a:rPr>
                <a:t>緊急時のお問い合わせについて</a:t>
              </a:r>
              <a:endParaRPr lang="en-US" altLang="ja-JP" sz="1400" b="1">
                <a:latin typeface="+mn-ea"/>
              </a:endParaRPr>
            </a:p>
            <a:p>
              <a:pPr>
                <a:spcBef>
                  <a:spcPts val="600"/>
                </a:spcBef>
              </a:pPr>
              <a:r>
                <a:rPr lang="ja-JP" altLang="en-US" sz="1400">
                  <a:latin typeface="+mn-ea"/>
                </a:rPr>
                <a:t>緊急時におきましては、上記時間帯を問わず受け付けいたしますが、状況により対応できない場合がございます。</a:t>
              </a:r>
              <a:endParaRPr lang="en-US" altLang="ja-JP" sz="1400">
                <a:latin typeface="+mn-ea"/>
              </a:endParaRPr>
            </a:p>
            <a:p>
              <a:pPr>
                <a:spcBef>
                  <a:spcPts val="600"/>
                </a:spcBef>
              </a:pPr>
              <a:r>
                <a:rPr lang="ja-JP" altLang="en-US" sz="1400">
                  <a:latin typeface="+mn-ea"/>
                </a:rPr>
                <a:t>非常事態発生時において、作業が必要となった場合は、保守担当者が自宅から専用に準備した機器により、リモート接続にてメンテナンスを実施することも可能です。</a:t>
              </a:r>
            </a:p>
            <a:p>
              <a:pPr>
                <a:spcBef>
                  <a:spcPts val="600"/>
                </a:spcBef>
              </a:pPr>
              <a:br>
                <a:rPr lang="ja-JP" altLang="en-US" sz="1400">
                  <a:latin typeface="+mn-ea"/>
                </a:rPr>
              </a:br>
              <a:endParaRPr kumimoji="1" lang="ja-JP" altLang="en-US" sz="1400">
                <a:latin typeface="+mn-ea"/>
              </a:endParaRPr>
            </a:p>
          </p:txBody>
        </p:sp>
      </p:grpSp>
      <p:grpSp>
        <p:nvGrpSpPr>
          <p:cNvPr id="11" name="グループ化 10">
            <a:extLst>
              <a:ext uri="{FF2B5EF4-FFF2-40B4-BE49-F238E27FC236}">
                <a16:creationId xmlns:a16="http://schemas.microsoft.com/office/drawing/2014/main" id="{A397CE09-61DF-1230-C7B9-96293E5FC023}"/>
              </a:ext>
            </a:extLst>
          </p:cNvPr>
          <p:cNvGrpSpPr/>
          <p:nvPr/>
        </p:nvGrpSpPr>
        <p:grpSpPr>
          <a:xfrm>
            <a:off x="7386131" y="954001"/>
            <a:ext cx="4231069" cy="5327999"/>
            <a:chOff x="6192000" y="1152000"/>
            <a:chExt cx="2772000" cy="5327999"/>
          </a:xfrm>
        </p:grpSpPr>
        <p:cxnSp>
          <p:nvCxnSpPr>
            <p:cNvPr id="12" name="直線コネクタ 11">
              <a:extLst>
                <a:ext uri="{FF2B5EF4-FFF2-40B4-BE49-F238E27FC236}">
                  <a16:creationId xmlns:a16="http://schemas.microsoft.com/office/drawing/2014/main" id="{3E2B0C0B-A0F4-4A96-DA2F-54392FD9E837}"/>
                </a:ext>
              </a:extLst>
            </p:cNvPr>
            <p:cNvCxnSpPr/>
            <p:nvPr/>
          </p:nvCxnSpPr>
          <p:spPr>
            <a:xfrm>
              <a:off x="6192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6271E72-1831-8DAF-9524-FA8D81A265A8}"/>
                </a:ext>
              </a:extLst>
            </p:cNvPr>
            <p:cNvSpPr txBox="1"/>
            <p:nvPr/>
          </p:nvSpPr>
          <p:spPr>
            <a:xfrm>
              <a:off x="6264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panose="020B0400000000000000" pitchFamily="50" charset="-128"/>
                  <a:ea typeface="游ゴシック" panose="020B0400000000000000" pitchFamily="50" charset="-128"/>
                </a:rPr>
                <a:t>作業範囲</a:t>
              </a:r>
              <a:endParaRPr kumimoji="1" lang="ja-JP" altLang="en-US" sz="1600"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4" name="テキスト ボックス 13">
              <a:extLst>
                <a:ext uri="{FF2B5EF4-FFF2-40B4-BE49-F238E27FC236}">
                  <a16:creationId xmlns:a16="http://schemas.microsoft.com/office/drawing/2014/main" id="{71093063-840D-9B8F-7D37-554728853DE1}"/>
                </a:ext>
              </a:extLst>
            </p:cNvPr>
            <p:cNvSpPr txBox="1"/>
            <p:nvPr/>
          </p:nvSpPr>
          <p:spPr>
            <a:xfrm>
              <a:off x="6264000" y="1511999"/>
              <a:ext cx="2700000" cy="4968000"/>
            </a:xfrm>
            <a:prstGeom prst="rect">
              <a:avLst/>
            </a:prstGeom>
            <a:noFill/>
          </p:spPr>
          <p:txBody>
            <a:bodyPr wrap="square" rtlCol="0">
              <a:noAutofit/>
            </a:bodyPr>
            <a:lstStyle/>
            <a:p>
              <a:pPr>
                <a:spcBef>
                  <a:spcPts val="600"/>
                </a:spcBef>
              </a:pPr>
              <a:r>
                <a:rPr lang="ja-JP" altLang="en-US" sz="1400" b="1">
                  <a:latin typeface="+mn-ea"/>
                </a:rPr>
                <a:t>お問い合わせ対応</a:t>
              </a:r>
            </a:p>
            <a:p>
              <a:pPr>
                <a:spcBef>
                  <a:spcPts val="600"/>
                </a:spcBef>
              </a:pPr>
              <a:r>
                <a:rPr lang="ja-JP" altLang="en-US" sz="1400">
                  <a:latin typeface="+mn-ea"/>
                </a:rPr>
                <a:t>各種お問い合わせに対し対応いたします。電話、メール、その他貴社利用ツールでのお問い合わせを受け付けます。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障害対応・不具合要望対応</a:t>
              </a:r>
            </a:p>
            <a:p>
              <a:pPr>
                <a:spcBef>
                  <a:spcPts val="600"/>
                </a:spcBef>
              </a:pPr>
              <a:r>
                <a:rPr lang="ja-JP" altLang="en-US" sz="1400">
                  <a:latin typeface="+mn-ea"/>
                </a:rPr>
                <a:t>障害発生時の復旧作業を実施または支援します。また、不具合や発覚時や要望受け付け時は貴社と協議の上、改善作業を実施します。対応規模が大きい場合は別途見積をした上でご相談させていただきます。</a:t>
              </a:r>
              <a:endParaRPr lang="en-US" altLang="ja-JP" sz="1400">
                <a:latin typeface="+mn-ea"/>
              </a:endParaRPr>
            </a:p>
            <a:p>
              <a:pPr>
                <a:spcBef>
                  <a:spcPts val="600"/>
                </a:spcBef>
              </a:pPr>
              <a:endParaRPr lang="ja-JP" altLang="en-US" sz="1400">
                <a:latin typeface="+mn-ea"/>
              </a:endParaRPr>
            </a:p>
            <a:p>
              <a:pPr>
                <a:spcBef>
                  <a:spcPts val="600"/>
                </a:spcBef>
              </a:pPr>
              <a:r>
                <a:rPr lang="ja-JP" altLang="en-US" sz="1400" b="1">
                  <a:latin typeface="+mn-ea"/>
                </a:rPr>
                <a:t>資源の維持</a:t>
              </a:r>
              <a:endParaRPr lang="en-US" altLang="ja-JP" sz="1400" b="1">
                <a:latin typeface="+mn-ea"/>
              </a:endParaRPr>
            </a:p>
            <a:p>
              <a:pPr>
                <a:spcBef>
                  <a:spcPts val="600"/>
                </a:spcBef>
              </a:pPr>
              <a:r>
                <a:rPr lang="ja-JP" altLang="en-US" sz="1400">
                  <a:latin typeface="+mn-ea"/>
                </a:rPr>
                <a:t>ドキュメントについては、貴社標準の保管環境を利用させていただき維持します。また、変更が発生した際は、都度、最新化を実施します。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作業報告</a:t>
              </a:r>
            </a:p>
            <a:p>
              <a:pPr>
                <a:spcBef>
                  <a:spcPts val="600"/>
                </a:spcBef>
              </a:pPr>
              <a:r>
                <a:rPr lang="ja-JP" altLang="en-US" sz="1400">
                  <a:latin typeface="+mn-ea"/>
                </a:rPr>
                <a:t>月</a:t>
              </a:r>
              <a:r>
                <a:rPr lang="en-US" altLang="ja-JP" sz="1400">
                  <a:latin typeface="+mn-ea"/>
                </a:rPr>
                <a:t>1</a:t>
              </a:r>
              <a:r>
                <a:rPr lang="ja-JP" altLang="en-US" sz="1400">
                  <a:latin typeface="+mn-ea"/>
                </a:rPr>
                <a:t>回、保守作業報告会を開催し、保守作業報告書を提出します。</a:t>
              </a:r>
              <a:endParaRPr kumimoji="1" lang="ja-JP" altLang="en-US" sz="1400">
                <a:latin typeface="+mn-ea"/>
              </a:endParaRPr>
            </a:p>
          </p:txBody>
        </p:sp>
      </p:grpSp>
      <p:grpSp>
        <p:nvGrpSpPr>
          <p:cNvPr id="15" name="グループ化 14">
            <a:extLst>
              <a:ext uri="{FF2B5EF4-FFF2-40B4-BE49-F238E27FC236}">
                <a16:creationId xmlns:a16="http://schemas.microsoft.com/office/drawing/2014/main" id="{96A97D67-EF83-07DE-D281-8BD957196593}"/>
              </a:ext>
            </a:extLst>
          </p:cNvPr>
          <p:cNvGrpSpPr/>
          <p:nvPr/>
        </p:nvGrpSpPr>
        <p:grpSpPr>
          <a:xfrm>
            <a:off x="492758" y="954000"/>
            <a:ext cx="3120732" cy="5328001"/>
            <a:chOff x="144000" y="1008000"/>
            <a:chExt cx="2772000" cy="5158723"/>
          </a:xfrm>
        </p:grpSpPr>
        <p:grpSp>
          <p:nvGrpSpPr>
            <p:cNvPr id="16" name="グループ化 15">
              <a:extLst>
                <a:ext uri="{FF2B5EF4-FFF2-40B4-BE49-F238E27FC236}">
                  <a16:creationId xmlns:a16="http://schemas.microsoft.com/office/drawing/2014/main" id="{BE3A5299-7040-FC50-B366-32AE3115A82E}"/>
                </a:ext>
              </a:extLst>
            </p:cNvPr>
            <p:cNvGrpSpPr/>
            <p:nvPr/>
          </p:nvGrpSpPr>
          <p:grpSpPr>
            <a:xfrm>
              <a:off x="144000" y="1008000"/>
              <a:ext cx="2772000" cy="720000"/>
              <a:chOff x="144000" y="1152000"/>
              <a:chExt cx="2772000" cy="720000"/>
            </a:xfrm>
          </p:grpSpPr>
          <p:cxnSp>
            <p:nvCxnSpPr>
              <p:cNvPr id="21" name="直線コネクタ 20">
                <a:extLst>
                  <a:ext uri="{FF2B5EF4-FFF2-40B4-BE49-F238E27FC236}">
                    <a16:creationId xmlns:a16="http://schemas.microsoft.com/office/drawing/2014/main" id="{F76B89B3-1949-C5F5-ADA5-5CE8DE47D93F}"/>
                  </a:ext>
                </a:extLst>
              </p:cNvPr>
              <p:cNvCxnSpPr/>
              <p:nvPr/>
            </p:nvCxnSpPr>
            <p:spPr>
              <a:xfrm>
                <a:off x="144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E50023F4-CD57-E89B-C6B0-16E5FCCC490C}"/>
                  </a:ext>
                </a:extLst>
              </p:cNvPr>
              <p:cNvSpPr txBox="1"/>
              <p:nvPr/>
            </p:nvSpPr>
            <p:spPr>
              <a:xfrm>
                <a:off x="216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対象範囲</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2A467660-12E5-4A6A-6A33-342C9B8DAD5B}"/>
                  </a:ext>
                </a:extLst>
              </p:cNvPr>
              <p:cNvSpPr txBox="1"/>
              <p:nvPr/>
            </p:nvSpPr>
            <p:spPr>
              <a:xfrm>
                <a:off x="216000" y="1512000"/>
                <a:ext cx="2700000" cy="360000"/>
              </a:xfrm>
              <a:prstGeom prst="rect">
                <a:avLst/>
              </a:prstGeom>
              <a:noFill/>
            </p:spPr>
            <p:txBody>
              <a:bodyPr wrap="square" rtlCol="0">
                <a:noAutofit/>
              </a:bodyPr>
              <a:lstStyle/>
              <a:p>
                <a:pPr>
                  <a:spcBef>
                    <a:spcPts val="600"/>
                  </a:spcBef>
                </a:pPr>
                <a:r>
                  <a:rPr kumimoji="1" lang="ja-JP" altLang="en-US" sz="1400" b="1">
                    <a:latin typeface="+mn-ea"/>
                  </a:rPr>
                  <a:t>本システム（</a:t>
                </a:r>
                <a:r>
                  <a:rPr kumimoji="1" lang="en-US" altLang="ja-JP" sz="1400" b="1">
                    <a:latin typeface="+mn-ea"/>
                  </a:rPr>
                  <a:t>ETL</a:t>
                </a:r>
                <a:r>
                  <a:rPr kumimoji="1" lang="ja-JP" altLang="en-US" sz="1400" b="1">
                    <a:latin typeface="+mn-ea"/>
                  </a:rPr>
                  <a:t>ツール）</a:t>
                </a:r>
                <a:endParaRPr kumimoji="1" lang="en-US" altLang="ja-JP" sz="1400" b="1">
                  <a:latin typeface="+mn-ea"/>
                </a:endParaRPr>
              </a:p>
            </p:txBody>
          </p:sp>
        </p:grpSp>
        <p:grpSp>
          <p:nvGrpSpPr>
            <p:cNvPr id="17" name="グループ化 16">
              <a:extLst>
                <a:ext uri="{FF2B5EF4-FFF2-40B4-BE49-F238E27FC236}">
                  <a16:creationId xmlns:a16="http://schemas.microsoft.com/office/drawing/2014/main" id="{61AB89EF-6F51-D5B8-19D1-93442F816EAC}"/>
                </a:ext>
              </a:extLst>
            </p:cNvPr>
            <p:cNvGrpSpPr/>
            <p:nvPr/>
          </p:nvGrpSpPr>
          <p:grpSpPr>
            <a:xfrm>
              <a:off x="144000" y="3054868"/>
              <a:ext cx="2772000" cy="3111855"/>
              <a:chOff x="144000" y="3198868"/>
              <a:chExt cx="2772000" cy="3111855"/>
            </a:xfrm>
          </p:grpSpPr>
          <p:cxnSp>
            <p:nvCxnSpPr>
              <p:cNvPr id="18" name="直線コネクタ 17">
                <a:extLst>
                  <a:ext uri="{FF2B5EF4-FFF2-40B4-BE49-F238E27FC236}">
                    <a16:creationId xmlns:a16="http://schemas.microsoft.com/office/drawing/2014/main" id="{BDAD1398-B66F-E4BD-6762-07BEF3203BFE}"/>
                  </a:ext>
                </a:extLst>
              </p:cNvPr>
              <p:cNvCxnSpPr/>
              <p:nvPr/>
            </p:nvCxnSpPr>
            <p:spPr>
              <a:xfrm>
                <a:off x="144000" y="3198868"/>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C308C06-E425-EC11-5A26-CB93643A6CE5}"/>
                  </a:ext>
                </a:extLst>
              </p:cNvPr>
              <p:cNvSpPr txBox="1"/>
              <p:nvPr/>
            </p:nvSpPr>
            <p:spPr>
              <a:xfrm>
                <a:off x="216000" y="3198868"/>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保守体制</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6CEB4D21-9965-1181-4248-845D96DABE6A}"/>
                  </a:ext>
                </a:extLst>
              </p:cNvPr>
              <p:cNvSpPr txBox="1"/>
              <p:nvPr/>
            </p:nvSpPr>
            <p:spPr>
              <a:xfrm>
                <a:off x="216000" y="3537422"/>
                <a:ext cx="2700000" cy="2773301"/>
              </a:xfrm>
              <a:prstGeom prst="rect">
                <a:avLst/>
              </a:prstGeom>
              <a:noFill/>
            </p:spPr>
            <p:txBody>
              <a:bodyPr wrap="square" rtlCol="0">
                <a:noAutofit/>
              </a:bodyPr>
              <a:lstStyle/>
              <a:p>
                <a:pPr>
                  <a:spcBef>
                    <a:spcPts val="600"/>
                  </a:spcBef>
                </a:pPr>
                <a:r>
                  <a:rPr kumimoji="1" lang="ja-JP" altLang="en-US" sz="1400" b="1">
                    <a:latin typeface="+mn-ea"/>
                  </a:rPr>
                  <a:t>要員</a:t>
                </a:r>
                <a:endParaRPr kumimoji="1" lang="en-US" altLang="ja-JP" sz="1400" b="1">
                  <a:latin typeface="+mn-ea"/>
                </a:endParaRPr>
              </a:p>
              <a:p>
                <a:pPr>
                  <a:spcBef>
                    <a:spcPts val="600"/>
                  </a:spcBef>
                </a:pPr>
                <a:r>
                  <a:rPr lang="ja-JP" altLang="en-US" sz="1400">
                    <a:latin typeface="+mn-ea"/>
                  </a:rPr>
                  <a:t>保守担当の要員としては、</a:t>
                </a:r>
                <a:endParaRPr lang="en-US" altLang="ja-JP" sz="1400">
                  <a:latin typeface="+mn-ea"/>
                </a:endParaRPr>
              </a:p>
              <a:p>
                <a:pPr>
                  <a:spcBef>
                    <a:spcPts val="600"/>
                  </a:spcBef>
                </a:pPr>
                <a:r>
                  <a:rPr lang="ja-JP" altLang="en-US" sz="1400">
                    <a:latin typeface="+mn-ea"/>
                  </a:rPr>
                  <a:t>実作業者</a:t>
                </a:r>
                <a:r>
                  <a:rPr lang="en-US" altLang="ja-JP" sz="1400">
                    <a:latin typeface="+mn-ea"/>
                  </a:rPr>
                  <a:t>1</a:t>
                </a:r>
                <a:r>
                  <a:rPr lang="ja-JP" altLang="en-US" sz="1400">
                    <a:latin typeface="+mn-ea"/>
                  </a:rPr>
                  <a:t>～</a:t>
                </a:r>
                <a:r>
                  <a:rPr lang="en-US" altLang="ja-JP" sz="1400">
                    <a:latin typeface="+mn-ea"/>
                  </a:rPr>
                  <a:t>2</a:t>
                </a:r>
                <a:r>
                  <a:rPr lang="ja-JP" altLang="en-US" sz="1400">
                    <a:latin typeface="+mn-ea"/>
                  </a:rPr>
                  <a:t>名配置します。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作業場所</a:t>
                </a:r>
                <a:endParaRPr lang="en-US" altLang="ja-JP" sz="1400" b="1">
                  <a:latin typeface="+mn-ea"/>
                </a:endParaRPr>
              </a:p>
              <a:p>
                <a:pPr>
                  <a:spcBef>
                    <a:spcPts val="600"/>
                  </a:spcBef>
                </a:pPr>
                <a:r>
                  <a:rPr lang="ja-JP" altLang="en-US" sz="1400">
                    <a:latin typeface="+mn-ea"/>
                  </a:rPr>
                  <a:t>作業場所は、弊社オフィス内（在宅勤務含む）、再委託先のオフィス内（在宅勤務含む）とし、必要に応じてリモート接続にて、貴社環境に接続し作業します。</a:t>
                </a:r>
                <a:endParaRPr lang="en-US" altLang="ja-JP" sz="1400">
                  <a:latin typeface="+mn-ea"/>
                </a:endParaRPr>
              </a:p>
            </p:txBody>
          </p:sp>
        </p:grpSp>
      </p:grpSp>
    </p:spTree>
    <p:extLst>
      <p:ext uri="{BB962C8B-B14F-4D97-AF65-F5344CB8AC3E}">
        <p14:creationId xmlns:p14="http://schemas.microsoft.com/office/powerpoint/2010/main" val="3648234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EDAD2BD4-7B5A-54A9-156D-442BF0E21F57}"/>
              </a:ext>
            </a:extLst>
          </p:cNvPr>
          <p:cNvSpPr>
            <a:spLocks noGrp="1"/>
          </p:cNvSpPr>
          <p:nvPr>
            <p:ph type="sldNum" sz="quarter" idx="12"/>
          </p:nvPr>
        </p:nvSpPr>
        <p:spPr/>
        <p:txBody>
          <a:bodyPr/>
          <a:lstStyle/>
          <a:p>
            <a:fld id="{26CA5134-5AAC-D342-B763-43605FECB385}" type="slidenum">
              <a:rPr kumimoji="1" lang="ja-JP" altLang="en-US" smtClean="0"/>
              <a:pPr/>
              <a:t>39</a:t>
            </a:fld>
            <a:endParaRPr kumimoji="1" lang="ja-JP" altLang="en-US" sz="700"/>
          </a:p>
        </p:txBody>
      </p:sp>
      <p:sp>
        <p:nvSpPr>
          <p:cNvPr id="4" name="タイトル 3">
            <a:extLst>
              <a:ext uri="{FF2B5EF4-FFF2-40B4-BE49-F238E27FC236}">
                <a16:creationId xmlns:a16="http://schemas.microsoft.com/office/drawing/2014/main" id="{337CC6C0-D83B-7E19-971A-5D8716BEDA94}"/>
              </a:ext>
            </a:extLst>
          </p:cNvPr>
          <p:cNvSpPr>
            <a:spLocks noGrp="1"/>
          </p:cNvSpPr>
          <p:nvPr>
            <p:ph type="title"/>
          </p:nvPr>
        </p:nvSpPr>
        <p:spPr/>
        <p:txBody>
          <a:bodyPr/>
          <a:lstStyle/>
          <a:p>
            <a:r>
              <a:rPr lang="ja-JP" altLang="en-US" dirty="0"/>
              <a:t>お見積り前提条件</a:t>
            </a:r>
            <a:endParaRPr kumimoji="1" lang="ja-JP" altLang="en-US" dirty="0"/>
          </a:p>
        </p:txBody>
      </p:sp>
      <p:sp>
        <p:nvSpPr>
          <p:cNvPr id="5" name="フッター プレースホルダー 3">
            <a:extLst>
              <a:ext uri="{FF2B5EF4-FFF2-40B4-BE49-F238E27FC236}">
                <a16:creationId xmlns:a16="http://schemas.microsoft.com/office/drawing/2014/main" id="{ADD62E45-9BBB-23AC-BDF9-32215668B3A4}"/>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42565054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lang="en-US" altLang="ja-JP" dirty="0">
                <a:latin typeface="游明朝"/>
                <a:ea typeface="游明朝"/>
              </a:rPr>
              <a:t>8-1</a:t>
            </a:r>
            <a:r>
              <a:rPr kumimoji="1" lang="ja-JP" altLang="en-US">
                <a:latin typeface="游明朝"/>
                <a:ea typeface="游明朝"/>
              </a:rPr>
              <a:t>．</a:t>
            </a:r>
            <a:r>
              <a:rPr lang="ja-JP" altLang="en-US">
                <a:latin typeface="游明朝"/>
                <a:ea typeface="游明朝"/>
              </a:rPr>
              <a:t>お見積</a:t>
            </a:r>
            <a:r>
              <a:rPr kumimoji="1" lang="ja-JP" altLang="en-US">
                <a:latin typeface="游明朝"/>
                <a:ea typeface="游明朝"/>
              </a:rPr>
              <a:t>り前提条件</a:t>
            </a:r>
            <a:r>
              <a:rPr kumimoji="1" lang="en-US" altLang="ja-JP" dirty="0">
                <a:latin typeface="游明朝"/>
                <a:ea typeface="游明朝"/>
              </a:rPr>
              <a:t>(</a:t>
            </a:r>
            <a:r>
              <a:rPr kumimoji="1" lang="ja-JP" altLang="en-US">
                <a:latin typeface="游明朝"/>
                <a:ea typeface="游明朝"/>
              </a:rPr>
              <a:t>ウォーターフォール開発の場合</a:t>
            </a:r>
            <a:r>
              <a:rPr kumimoji="1" lang="en-US" altLang="ja-JP" dirty="0">
                <a:latin typeface="游明朝"/>
                <a:ea typeface="游明朝"/>
              </a:rPr>
              <a:t>)</a:t>
            </a:r>
            <a:endParaRPr kumimoji="1" lang="ja-JP" altLang="en-US" dirty="0">
              <a:latin typeface="游明朝"/>
              <a:ea typeface="游明朝"/>
            </a:endParaRP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76000" y="936000"/>
            <a:ext cx="11052000" cy="403192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a:latin typeface="+mn-ea"/>
                <a:ea typeface="+mn-ea"/>
              </a:rPr>
              <a:t>お見積り金額はすべて税抜きでの記載となります。</a:t>
            </a:r>
            <a:endParaRPr lang="ja-JP" altLang="en-US" sz="1400" b="0" i="0" u="none" strike="noStrike" baseline="0">
              <a:solidFill>
                <a:srgbClr val="000000"/>
              </a:solidFill>
              <a:latin typeface="+mn-ea"/>
              <a:ea typeface="+mn-ea"/>
            </a:endParaRPr>
          </a:p>
          <a:p>
            <a:r>
              <a:rPr lang="ja-JP" altLang="en-US" sz="1400">
                <a:solidFill>
                  <a:srgbClr val="FF0000"/>
                </a:solidFill>
                <a:latin typeface="+mn-ea"/>
                <a:ea typeface="+mn-ea"/>
              </a:rPr>
              <a:t>下記については本お見積もりには含まれておりません。</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モバイル・タブレット対応</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脆弱性診断の実施費用</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データ移行</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ハードウェア、ネットワーク、ミドルウェア、クラウド環境の調達費用および利用料、設定作業等</a:t>
            </a:r>
            <a:endParaRPr lang="en-US" altLang="ja-JP" sz="1400">
              <a:solidFill>
                <a:srgbClr val="FF0000"/>
              </a:solidFill>
              <a:latin typeface="+mn-ea"/>
              <a:ea typeface="+mn-ea"/>
            </a:endParaRPr>
          </a:p>
          <a:p>
            <a:r>
              <a:rPr lang="ja-JP" altLang="en-US" sz="1400">
                <a:latin typeface="+mn-ea"/>
                <a:ea typeface="+mn-ea"/>
              </a:rPr>
              <a:t>ドキュメントは弊社フォーマットでの作成を前提とし、別フォーマットで作成する場合は別途協議といたします。</a:t>
            </a:r>
          </a:p>
          <a:p>
            <a:r>
              <a:rPr lang="ja-JP" altLang="en-US" sz="1400">
                <a:latin typeface="+mn-ea"/>
                <a:ea typeface="+mn-ea"/>
              </a:rPr>
              <a:t>作業場所は、打合せを除き、原則弊社オフィス内（在宅勤務含む）といたします。</a:t>
            </a:r>
            <a:endParaRPr lang="en-US" altLang="ja-JP" sz="1400">
              <a:latin typeface="+mn-ea"/>
              <a:ea typeface="+mn-ea"/>
            </a:endParaRPr>
          </a:p>
          <a:p>
            <a:r>
              <a:rPr lang="ja-JP" altLang="en-US" sz="1400">
                <a:latin typeface="+mn-ea"/>
                <a:ea typeface="+mn-ea"/>
              </a:rPr>
              <a:t>東京２３区以外でのオフィスや事業所等での作業につきましては、交通費・宿泊費を別途ご請求といたします。</a:t>
            </a:r>
            <a:endParaRPr lang="en-US" altLang="ja-JP" sz="1400">
              <a:latin typeface="+mn-ea"/>
              <a:ea typeface="+mn-ea"/>
            </a:endParaRPr>
          </a:p>
          <a:p>
            <a:r>
              <a:rPr lang="ja-JP" altLang="en-US" sz="1400">
                <a:latin typeface="+mn-ea"/>
                <a:ea typeface="+mn-ea"/>
              </a:rPr>
              <a:t>瑕疵担保責任期間は検収日より１年間とします。（検収日より</a:t>
            </a:r>
            <a:r>
              <a:rPr lang="en-US" altLang="ja-JP" sz="1400">
                <a:latin typeface="+mn-ea"/>
                <a:ea typeface="+mn-ea"/>
              </a:rPr>
              <a:t>1</a:t>
            </a:r>
            <a:r>
              <a:rPr lang="ja-JP" altLang="en-US" sz="1400">
                <a:latin typeface="+mn-ea"/>
                <a:ea typeface="+mn-ea"/>
              </a:rPr>
              <a:t>年間に限り契約不適合責任を追及できることとします。）</a:t>
            </a:r>
            <a:endParaRPr lang="en-US" altLang="ja-JP" sz="1400">
              <a:latin typeface="+mn-ea"/>
              <a:ea typeface="+mn-ea"/>
            </a:endParaRPr>
          </a:p>
          <a:p>
            <a:r>
              <a:rPr lang="ja-JP" altLang="en-US" sz="1400">
                <a:latin typeface="+mn-ea"/>
                <a:ea typeface="+mn-ea"/>
              </a:rPr>
              <a:t>作業の一部を弊社パートナー会社へ再委託させていただく場合がございます。再委託先は、弊社グループ会社であるシステムエグゼベトナムを含みます。</a:t>
            </a:r>
            <a:endParaRPr lang="en-US" altLang="ja-JP" sz="1400">
              <a:latin typeface="+mn-ea"/>
              <a:ea typeface="+mn-ea"/>
            </a:endParaRPr>
          </a:p>
          <a:p>
            <a:r>
              <a:rPr lang="ja-JP" altLang="en-US" sz="1400">
                <a:latin typeface="+mn-ea"/>
                <a:ea typeface="+mn-ea"/>
              </a:rPr>
              <a:t>上記諸条件および本提案書に記載のない諸条件</a:t>
            </a:r>
            <a:r>
              <a:rPr lang="en-US" altLang="ja-JP" sz="1400">
                <a:latin typeface="+mn-ea"/>
                <a:ea typeface="+mn-ea"/>
              </a:rPr>
              <a:t>/</a:t>
            </a:r>
            <a:r>
              <a:rPr lang="ja-JP" altLang="en-US" sz="1400">
                <a:latin typeface="+mn-ea"/>
                <a:ea typeface="+mn-ea"/>
              </a:rPr>
              <a:t>作業内容につきましては、別途ご相談の上、決定させていただきます。</a:t>
            </a:r>
            <a:endParaRPr lang="en-US" altLang="ja-JP" sz="1400">
              <a:latin typeface="+mn-ea"/>
              <a:ea typeface="+mn-ea"/>
            </a:endParaRPr>
          </a:p>
        </p:txBody>
      </p:sp>
      <p:sp>
        <p:nvSpPr>
          <p:cNvPr id="3" name="スライド番号プレースホルダー 3">
            <a:extLst>
              <a:ext uri="{FF2B5EF4-FFF2-40B4-BE49-F238E27FC236}">
                <a16:creationId xmlns:a16="http://schemas.microsoft.com/office/drawing/2014/main" id="{4F9FFC9A-15D2-3D18-639E-0C85624B9EF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40</a:t>
            </a:fld>
            <a:endParaRPr kumimoji="1" lang="ja-JP" altLang="en-US" sz="700"/>
          </a:p>
        </p:txBody>
      </p:sp>
    </p:spTree>
    <p:extLst>
      <p:ext uri="{BB962C8B-B14F-4D97-AF65-F5344CB8AC3E}">
        <p14:creationId xmlns:p14="http://schemas.microsoft.com/office/powerpoint/2010/main" val="2513257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EC29B-1DF5-429F-5ABC-488DF018E5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D4CF41-3BED-4ECC-28FF-65DDAC853DA0}"/>
              </a:ext>
            </a:extLst>
          </p:cNvPr>
          <p:cNvSpPr>
            <a:spLocks noGrp="1"/>
          </p:cNvSpPr>
          <p:nvPr>
            <p:ph type="title"/>
          </p:nvPr>
        </p:nvSpPr>
        <p:spPr/>
        <p:txBody>
          <a:bodyPr/>
          <a:lstStyle/>
          <a:p>
            <a:r>
              <a:rPr lang="ja-JP" altLang="en-US">
                <a:latin typeface="游明朝"/>
                <a:ea typeface="游明朝"/>
              </a:rPr>
              <a:t>8-2</a:t>
            </a:r>
            <a:r>
              <a:rPr kumimoji="1" lang="ja-JP" altLang="en-US">
                <a:latin typeface="游明朝"/>
                <a:ea typeface="游明朝"/>
              </a:rPr>
              <a:t>．</a:t>
            </a:r>
            <a:r>
              <a:rPr lang="ja-JP" altLang="en-US">
                <a:latin typeface="游明朝"/>
                <a:ea typeface="游明朝"/>
              </a:rPr>
              <a:t>お見積</a:t>
            </a:r>
            <a:r>
              <a:rPr kumimoji="1" lang="ja-JP" altLang="en-US">
                <a:latin typeface="游明朝"/>
                <a:ea typeface="游明朝"/>
              </a:rPr>
              <a:t>り前提条件</a:t>
            </a:r>
            <a:r>
              <a:rPr kumimoji="1" lang="en-US" altLang="ja-JP" dirty="0">
                <a:latin typeface="游明朝"/>
                <a:ea typeface="游明朝"/>
              </a:rPr>
              <a:t>(</a:t>
            </a:r>
            <a:r>
              <a:rPr kumimoji="1" lang="ja-JP" altLang="en-US">
                <a:latin typeface="游明朝"/>
                <a:ea typeface="游明朝"/>
              </a:rPr>
              <a:t>アジャイル開発の場合</a:t>
            </a:r>
            <a:r>
              <a:rPr kumimoji="1" lang="en-US" altLang="ja-JP" dirty="0">
                <a:latin typeface="游明朝"/>
                <a:ea typeface="游明朝"/>
              </a:rPr>
              <a:t>)</a:t>
            </a:r>
            <a:endParaRPr kumimoji="1" lang="ja-JP" altLang="en-US" dirty="0">
              <a:latin typeface="游明朝"/>
              <a:ea typeface="游明朝"/>
            </a:endParaRPr>
          </a:p>
        </p:txBody>
      </p:sp>
      <p:sp>
        <p:nvSpPr>
          <p:cNvPr id="4" name="フッター プレースホルダー 3">
            <a:extLst>
              <a:ext uri="{FF2B5EF4-FFF2-40B4-BE49-F238E27FC236}">
                <a16:creationId xmlns:a16="http://schemas.microsoft.com/office/drawing/2014/main" id="{B4B9C26B-A3B5-1324-2324-2BC724B36738}"/>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1DA0129B-7B35-CB5C-AB28-72B5E5348DE1}"/>
              </a:ext>
            </a:extLst>
          </p:cNvPr>
          <p:cNvSpPr txBox="1">
            <a:spLocks/>
          </p:cNvSpPr>
          <p:nvPr/>
        </p:nvSpPr>
        <p:spPr>
          <a:xfrm>
            <a:off x="576000" y="944972"/>
            <a:ext cx="11052000" cy="542893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a:latin typeface="+mn-ea"/>
                <a:ea typeface="+mn-ea"/>
              </a:rPr>
              <a:t>お見積り金額はすべて税抜きでの記載となります。</a:t>
            </a:r>
            <a:endParaRPr lang="ja-JP" altLang="en-US" sz="1400" b="0" i="0" u="none" strike="noStrike" baseline="0">
              <a:solidFill>
                <a:srgbClr val="000000"/>
              </a:solidFill>
              <a:latin typeface="+mn-ea"/>
              <a:ea typeface="+mn-ea"/>
            </a:endParaRPr>
          </a:p>
          <a:p>
            <a:r>
              <a:rPr lang="ja-JP" altLang="en-US" sz="1400">
                <a:solidFill>
                  <a:srgbClr val="FF0000"/>
                </a:solidFill>
                <a:latin typeface="+mn-ea"/>
                <a:ea typeface="+mn-ea"/>
              </a:rPr>
              <a:t>各スプリントの作業内容については、作業状況、優先順位によって変更させていただきます。</a:t>
            </a:r>
            <a:endParaRPr lang="en-US" altLang="ja-JP" sz="1400">
              <a:solidFill>
                <a:srgbClr val="FF0000"/>
              </a:solidFill>
              <a:latin typeface="+mn-ea"/>
              <a:ea typeface="+mn-ea"/>
            </a:endParaRPr>
          </a:p>
          <a:p>
            <a:r>
              <a:rPr lang="ja-JP" altLang="en-US" sz="1400">
                <a:solidFill>
                  <a:srgbClr val="FF0000"/>
                </a:solidFill>
                <a:latin typeface="+mn-ea"/>
                <a:ea typeface="+mn-ea"/>
              </a:rPr>
              <a:t>開発範囲の内容を本プロジェクトの最終ゴールとしますが、開発内容の増加などによりご提案の体制での達成が困難となった場合は、体制の増員などをお願いする場合がございます。</a:t>
            </a:r>
            <a:endParaRPr lang="en-US" altLang="ja-JP" sz="1400">
              <a:solidFill>
                <a:srgbClr val="FF0000"/>
              </a:solidFill>
              <a:latin typeface="+mn-ea"/>
              <a:ea typeface="+mn-ea"/>
            </a:endParaRPr>
          </a:p>
          <a:p>
            <a:r>
              <a:rPr lang="ja-JP" altLang="en-US" sz="1400">
                <a:solidFill>
                  <a:srgbClr val="FF0000"/>
                </a:solidFill>
                <a:latin typeface="+mn-ea"/>
                <a:ea typeface="+mn-ea"/>
              </a:rPr>
              <a:t>設計書については</a:t>
            </a:r>
            <a:r>
              <a:rPr lang="en-US" altLang="ja-JP" sz="1400">
                <a:solidFill>
                  <a:srgbClr val="FF0000"/>
                </a:solidFill>
                <a:latin typeface="+mn-ea"/>
                <a:ea typeface="+mn-ea"/>
              </a:rPr>
              <a:t>6</a:t>
            </a:r>
            <a:r>
              <a:rPr lang="ja-JP" altLang="en-US" sz="1400">
                <a:solidFill>
                  <a:srgbClr val="FF0000"/>
                </a:solidFill>
                <a:latin typeface="+mn-ea"/>
                <a:ea typeface="+mn-ea"/>
              </a:rPr>
              <a:t>月～</a:t>
            </a:r>
            <a:r>
              <a:rPr lang="en-US" altLang="ja-JP" sz="1400">
                <a:solidFill>
                  <a:srgbClr val="FF0000"/>
                </a:solidFill>
                <a:latin typeface="+mn-ea"/>
                <a:ea typeface="+mn-ea"/>
              </a:rPr>
              <a:t>7</a:t>
            </a:r>
            <a:r>
              <a:rPr lang="ja-JP" altLang="en-US" sz="1400">
                <a:solidFill>
                  <a:srgbClr val="FF0000"/>
                </a:solidFill>
                <a:latin typeface="+mn-ea"/>
                <a:ea typeface="+mn-ea"/>
              </a:rPr>
              <a:t>月で整備・作成する計画としていますが、追加開発などが発生した場合は作成内容についてご相談させていただきます。</a:t>
            </a:r>
            <a:r>
              <a:rPr lang="en-US" altLang="ja-JP" sz="1400">
                <a:solidFill>
                  <a:srgbClr val="FF0000"/>
                </a:solidFill>
                <a:latin typeface="+mn-ea"/>
                <a:ea typeface="+mn-ea"/>
              </a:rPr>
              <a:t>※</a:t>
            </a:r>
            <a:r>
              <a:rPr lang="ja-JP" altLang="en-US" sz="1400">
                <a:solidFill>
                  <a:srgbClr val="FF0000"/>
                </a:solidFill>
                <a:latin typeface="+mn-ea"/>
                <a:ea typeface="+mn-ea"/>
              </a:rPr>
              <a:t>作成するドキュメントはウォーターフォール開発の成果物の一部を作成</a:t>
            </a:r>
            <a:endParaRPr lang="en-US" altLang="ja-JP" sz="1400">
              <a:solidFill>
                <a:srgbClr val="FF0000"/>
              </a:solidFill>
              <a:latin typeface="+mn-ea"/>
              <a:ea typeface="+mn-ea"/>
            </a:endParaRPr>
          </a:p>
          <a:p>
            <a:r>
              <a:rPr lang="ja-JP" altLang="en-US" sz="1400">
                <a:latin typeface="+mn-ea"/>
                <a:ea typeface="+mn-ea"/>
              </a:rPr>
              <a:t>ドキュメントは弊社フォーマットでの作成を前提とし、別フォーマットで作成する場合は別途協議といたします。</a:t>
            </a:r>
          </a:p>
          <a:p>
            <a:r>
              <a:rPr lang="ja-JP" altLang="en-US" sz="1400">
                <a:latin typeface="+mn-ea"/>
                <a:ea typeface="+mn-ea"/>
              </a:rPr>
              <a:t>作業場所は、打合せを除き、原則弊社オフィス内（在宅勤務含む）といたします。</a:t>
            </a:r>
            <a:endParaRPr lang="en-US" altLang="ja-JP" sz="1400">
              <a:latin typeface="+mn-ea"/>
              <a:ea typeface="+mn-ea"/>
            </a:endParaRPr>
          </a:p>
          <a:p>
            <a:r>
              <a:rPr lang="ja-JP" altLang="en-US" sz="1400">
                <a:latin typeface="+mn-ea"/>
                <a:ea typeface="+mn-ea"/>
              </a:rPr>
              <a:t>作業の一部を弊社パートナー会社へ再委託させていただく場合がございます。再委託先は、弊社グループ会社であるシステムエグゼベトナムを含みます。</a:t>
            </a:r>
            <a:endParaRPr lang="en-US" altLang="ja-JP" sz="1400">
              <a:latin typeface="+mn-ea"/>
              <a:ea typeface="+mn-ea"/>
            </a:endParaRPr>
          </a:p>
          <a:p>
            <a:r>
              <a:rPr lang="ja-JP" altLang="en-US" sz="1400">
                <a:solidFill>
                  <a:schemeClr val="tx1">
                    <a:lumMod val="75000"/>
                    <a:lumOff val="25000"/>
                  </a:schemeClr>
                </a:solidFill>
                <a:latin typeface="+mn-ea"/>
                <a:ea typeface="+mn-ea"/>
              </a:rPr>
              <a:t>各要員の１ヶ月あたりの基準時間は、下記の範囲とさせていただきます。</a:t>
            </a:r>
            <a:br>
              <a:rPr lang="en-US" altLang="ja-JP" sz="1400">
                <a:solidFill>
                  <a:schemeClr val="tx1">
                    <a:lumMod val="75000"/>
                    <a:lumOff val="25000"/>
                  </a:schemeClr>
                </a:solidFill>
                <a:latin typeface="+mn-ea"/>
                <a:ea typeface="+mn-ea"/>
              </a:rPr>
            </a:br>
            <a:r>
              <a:rPr lang="ja-JP" altLang="en-US" sz="1400">
                <a:solidFill>
                  <a:schemeClr val="tx1">
                    <a:lumMod val="75000"/>
                    <a:lumOff val="25000"/>
                  </a:schemeClr>
                </a:solidFill>
                <a:latin typeface="+mn-ea"/>
                <a:ea typeface="+mn-ea"/>
              </a:rPr>
              <a:t>　ＰＭ：下限</a:t>
            </a:r>
            <a:r>
              <a:rPr lang="en-US" altLang="ja-JP" sz="1400">
                <a:solidFill>
                  <a:schemeClr val="tx1">
                    <a:lumMod val="75000"/>
                    <a:lumOff val="25000"/>
                  </a:schemeClr>
                </a:solidFill>
                <a:latin typeface="+mn-ea"/>
                <a:ea typeface="+mn-ea"/>
              </a:rPr>
              <a:t>60</a:t>
            </a:r>
            <a:r>
              <a:rPr lang="ja-JP" altLang="en-US" sz="1400">
                <a:solidFill>
                  <a:schemeClr val="tx1">
                    <a:lumMod val="75000"/>
                    <a:lumOff val="25000"/>
                  </a:schemeClr>
                </a:solidFill>
                <a:latin typeface="+mn-ea"/>
                <a:ea typeface="+mn-ea"/>
              </a:rPr>
              <a:t>時間～上限</a:t>
            </a:r>
            <a:r>
              <a:rPr lang="en-US" altLang="ja-JP" sz="1400">
                <a:solidFill>
                  <a:schemeClr val="tx1">
                    <a:lumMod val="75000"/>
                    <a:lumOff val="25000"/>
                  </a:schemeClr>
                </a:solidFill>
                <a:latin typeface="+mn-ea"/>
                <a:ea typeface="+mn-ea"/>
              </a:rPr>
              <a:t>100</a:t>
            </a:r>
            <a:r>
              <a:rPr lang="ja-JP" altLang="en-US" sz="1400">
                <a:solidFill>
                  <a:schemeClr val="tx1">
                    <a:lumMod val="75000"/>
                    <a:lumOff val="25000"/>
                  </a:schemeClr>
                </a:solidFill>
                <a:latin typeface="+mn-ea"/>
                <a:ea typeface="+mn-ea"/>
              </a:rPr>
              <a:t>時間　／　ブリッジＳＥ：</a:t>
            </a:r>
            <a:r>
              <a:rPr lang="en-US" altLang="ja-JP" sz="1400">
                <a:solidFill>
                  <a:schemeClr val="tx1">
                    <a:lumMod val="75000"/>
                    <a:lumOff val="25000"/>
                  </a:schemeClr>
                </a:solidFill>
                <a:latin typeface="+mn-ea"/>
                <a:ea typeface="+mn-ea"/>
              </a:rPr>
              <a:t>12</a:t>
            </a:r>
            <a:r>
              <a:rPr lang="ja-JP" altLang="en-US" sz="1400">
                <a:solidFill>
                  <a:schemeClr val="tx1">
                    <a:lumMod val="75000"/>
                    <a:lumOff val="25000"/>
                  </a:schemeClr>
                </a:solidFill>
                <a:latin typeface="+mn-ea"/>
                <a:ea typeface="+mn-ea"/>
              </a:rPr>
              <a:t>時間～上限</a:t>
            </a:r>
            <a:r>
              <a:rPr lang="en-US" altLang="ja-JP" sz="1400">
                <a:solidFill>
                  <a:schemeClr val="tx1">
                    <a:lumMod val="75000"/>
                    <a:lumOff val="25000"/>
                  </a:schemeClr>
                </a:solidFill>
                <a:latin typeface="+mn-ea"/>
                <a:ea typeface="+mn-ea"/>
              </a:rPr>
              <a:t>52</a:t>
            </a:r>
            <a:r>
              <a:rPr lang="ja-JP" altLang="en-US" sz="1400">
                <a:solidFill>
                  <a:schemeClr val="tx1">
                    <a:lumMod val="75000"/>
                    <a:lumOff val="25000"/>
                  </a:schemeClr>
                </a:solidFill>
                <a:latin typeface="+mn-ea"/>
                <a:ea typeface="+mn-ea"/>
              </a:rPr>
              <a:t>時間　／　ＳＥ・オフショア：</a:t>
            </a:r>
            <a:r>
              <a:rPr lang="en-US" altLang="ja-JP" sz="1400">
                <a:solidFill>
                  <a:schemeClr val="tx1">
                    <a:lumMod val="75000"/>
                    <a:lumOff val="25000"/>
                  </a:schemeClr>
                </a:solidFill>
                <a:latin typeface="+mn-ea"/>
                <a:ea typeface="+mn-ea"/>
              </a:rPr>
              <a:t>140</a:t>
            </a:r>
            <a:r>
              <a:rPr lang="ja-JP" altLang="en-US" sz="1400">
                <a:solidFill>
                  <a:schemeClr val="tx1">
                    <a:lumMod val="75000"/>
                    <a:lumOff val="25000"/>
                  </a:schemeClr>
                </a:solidFill>
                <a:latin typeface="+mn-ea"/>
                <a:ea typeface="+mn-ea"/>
              </a:rPr>
              <a:t>時間～上限</a:t>
            </a:r>
            <a:r>
              <a:rPr lang="en-US" altLang="ja-JP" sz="1400">
                <a:solidFill>
                  <a:schemeClr val="tx1">
                    <a:lumMod val="75000"/>
                    <a:lumOff val="25000"/>
                  </a:schemeClr>
                </a:solidFill>
                <a:latin typeface="+mn-ea"/>
                <a:ea typeface="+mn-ea"/>
              </a:rPr>
              <a:t>180</a:t>
            </a:r>
            <a:r>
              <a:rPr lang="ja-JP" altLang="en-US" sz="1400">
                <a:solidFill>
                  <a:schemeClr val="tx1">
                    <a:lumMod val="75000"/>
                    <a:lumOff val="25000"/>
                  </a:schemeClr>
                </a:solidFill>
                <a:latin typeface="+mn-ea"/>
                <a:ea typeface="+mn-ea"/>
              </a:rPr>
              <a:t>時間</a:t>
            </a:r>
          </a:p>
          <a:p>
            <a:r>
              <a:rPr lang="ja-JP" altLang="en-US" sz="1400">
                <a:solidFill>
                  <a:schemeClr val="tx1">
                    <a:lumMod val="75000"/>
                    <a:lumOff val="25000"/>
                  </a:schemeClr>
                </a:solidFill>
                <a:latin typeface="+mn-ea"/>
                <a:ea typeface="+mn-ea"/>
              </a:rPr>
              <a:t>各要員の１ヶ月あたりの作業実績時間が基準時間を超過（未達）する場合は、超過（未達）時間に下記の時間単価（</a:t>
            </a:r>
            <a:r>
              <a:rPr lang="en-US" altLang="ja-JP" sz="1400">
                <a:solidFill>
                  <a:schemeClr val="tx1">
                    <a:lumMod val="75000"/>
                    <a:lumOff val="25000"/>
                  </a:schemeClr>
                </a:solidFill>
                <a:latin typeface="+mn-ea"/>
                <a:ea typeface="+mn-ea"/>
              </a:rPr>
              <a:t>30</a:t>
            </a:r>
            <a:r>
              <a:rPr lang="ja-JP" altLang="en-US" sz="1400">
                <a:solidFill>
                  <a:schemeClr val="tx1">
                    <a:lumMod val="75000"/>
                    <a:lumOff val="25000"/>
                  </a:schemeClr>
                </a:solidFill>
                <a:latin typeface="+mn-ea"/>
                <a:ea typeface="+mn-ea"/>
              </a:rPr>
              <a:t>分単位）を乗じた金額を 加算（減額）し、精算させていただきます。</a:t>
            </a:r>
            <a:br>
              <a:rPr lang="en-US" altLang="ja-JP" sz="1400">
                <a:solidFill>
                  <a:schemeClr val="tx1">
                    <a:lumMod val="75000"/>
                    <a:lumOff val="25000"/>
                  </a:schemeClr>
                </a:solidFill>
                <a:latin typeface="+mn-ea"/>
                <a:ea typeface="+mn-ea"/>
              </a:rPr>
            </a:br>
            <a:r>
              <a:rPr lang="ja-JP" altLang="en-US" sz="1400">
                <a:solidFill>
                  <a:schemeClr val="tx1">
                    <a:lumMod val="75000"/>
                    <a:lumOff val="25000"/>
                  </a:schemeClr>
                </a:solidFill>
                <a:latin typeface="+mn-ea"/>
                <a:ea typeface="+mn-ea"/>
              </a:rPr>
              <a:t>　ＰＭ：</a:t>
            </a:r>
            <a:r>
              <a:rPr lang="en-US" altLang="ja-JP" sz="1400">
                <a:solidFill>
                  <a:schemeClr val="tx1">
                    <a:lumMod val="75000"/>
                    <a:lumOff val="25000"/>
                  </a:schemeClr>
                </a:solidFill>
                <a:latin typeface="+mn-ea"/>
                <a:ea typeface="+mn-ea"/>
              </a:rPr>
              <a:t>8,750</a:t>
            </a:r>
            <a:r>
              <a:rPr lang="ja-JP" altLang="en-US" sz="1400">
                <a:solidFill>
                  <a:schemeClr val="tx1">
                    <a:lumMod val="75000"/>
                    <a:lumOff val="25000"/>
                  </a:schemeClr>
                </a:solidFill>
                <a:latin typeface="+mn-ea"/>
                <a:ea typeface="+mn-ea"/>
              </a:rPr>
              <a:t>円　／　ＳＥ：</a:t>
            </a:r>
            <a:r>
              <a:rPr lang="en-US" altLang="ja-JP" sz="1400">
                <a:solidFill>
                  <a:schemeClr val="tx1">
                    <a:lumMod val="75000"/>
                    <a:lumOff val="25000"/>
                  </a:schemeClr>
                </a:solidFill>
                <a:latin typeface="+mn-ea"/>
                <a:ea typeface="+mn-ea"/>
              </a:rPr>
              <a:t>7,500</a:t>
            </a:r>
            <a:r>
              <a:rPr lang="ja-JP" altLang="en-US" sz="1400">
                <a:solidFill>
                  <a:schemeClr val="tx1">
                    <a:lumMod val="75000"/>
                    <a:lumOff val="25000"/>
                  </a:schemeClr>
                </a:solidFill>
                <a:latin typeface="+mn-ea"/>
                <a:ea typeface="+mn-ea"/>
              </a:rPr>
              <a:t>円　／　ブリッジＳＥ：</a:t>
            </a:r>
            <a:r>
              <a:rPr lang="en-US" altLang="ja-JP" sz="1400">
                <a:solidFill>
                  <a:schemeClr val="tx1">
                    <a:lumMod val="75000"/>
                    <a:lumOff val="25000"/>
                  </a:schemeClr>
                </a:solidFill>
                <a:latin typeface="+mn-ea"/>
                <a:ea typeface="+mn-ea"/>
              </a:rPr>
              <a:t>6,250</a:t>
            </a:r>
            <a:r>
              <a:rPr lang="ja-JP" altLang="en-US" sz="1400">
                <a:solidFill>
                  <a:schemeClr val="tx1">
                    <a:lumMod val="75000"/>
                    <a:lumOff val="25000"/>
                  </a:schemeClr>
                </a:solidFill>
                <a:latin typeface="+mn-ea"/>
                <a:ea typeface="+mn-ea"/>
              </a:rPr>
              <a:t>円　／　オフショア：</a:t>
            </a:r>
            <a:r>
              <a:rPr lang="en-US" altLang="ja-JP" sz="1400">
                <a:solidFill>
                  <a:schemeClr val="tx1">
                    <a:lumMod val="75000"/>
                    <a:lumOff val="25000"/>
                  </a:schemeClr>
                </a:solidFill>
                <a:latin typeface="+mn-ea"/>
                <a:ea typeface="+mn-ea"/>
              </a:rPr>
              <a:t>4,375</a:t>
            </a:r>
            <a:r>
              <a:rPr lang="ja-JP" altLang="en-US" sz="1400">
                <a:solidFill>
                  <a:schemeClr val="tx1">
                    <a:lumMod val="75000"/>
                    <a:lumOff val="25000"/>
                  </a:schemeClr>
                </a:solidFill>
                <a:latin typeface="+mn-ea"/>
                <a:ea typeface="+mn-ea"/>
              </a:rPr>
              <a:t>円</a:t>
            </a:r>
            <a:endParaRPr lang="en-US" altLang="ja-JP" sz="1400">
              <a:solidFill>
                <a:schemeClr val="tx1">
                  <a:lumMod val="75000"/>
                  <a:lumOff val="25000"/>
                </a:schemeClr>
              </a:solidFill>
              <a:latin typeface="+mn-ea"/>
              <a:ea typeface="+mn-ea"/>
            </a:endParaRPr>
          </a:p>
          <a:p>
            <a:r>
              <a:rPr lang="ja-JP" altLang="en-US" sz="1400">
                <a:latin typeface="+mn-ea"/>
                <a:ea typeface="+mn-ea"/>
              </a:rPr>
              <a:t>移動先が東京</a:t>
            </a:r>
            <a:r>
              <a:rPr lang="en-US" altLang="ja-JP" sz="1400">
                <a:latin typeface="+mn-ea"/>
                <a:ea typeface="+mn-ea"/>
              </a:rPr>
              <a:t>23</a:t>
            </a:r>
            <a:r>
              <a:rPr lang="ja-JP" altLang="en-US" sz="1400">
                <a:latin typeface="+mn-ea"/>
                <a:ea typeface="+mn-ea"/>
              </a:rPr>
              <a:t>区内または千葉県内の場合で、鉄道およびバス以外の移動手段での交通費については、各月ごとに精算させていただきます。</a:t>
            </a:r>
            <a:br>
              <a:rPr lang="en-US" altLang="ja-JP" sz="1400">
                <a:latin typeface="+mn-ea"/>
                <a:ea typeface="+mn-ea"/>
              </a:rPr>
            </a:br>
            <a:r>
              <a:rPr lang="ja-JP" altLang="en-US" sz="1400">
                <a:latin typeface="+mn-ea"/>
                <a:ea typeface="+mn-ea"/>
              </a:rPr>
              <a:t>また、宿泊を伴う作業が発生した場合には、宿泊費を各月ごとに精算させていただきます。</a:t>
            </a:r>
            <a:endParaRPr lang="en-US" altLang="ja-JP" sz="1400">
              <a:latin typeface="+mn-ea"/>
              <a:ea typeface="+mn-ea"/>
            </a:endParaRPr>
          </a:p>
          <a:p>
            <a:r>
              <a:rPr lang="ja-JP" altLang="en-US" sz="1400">
                <a:latin typeface="+mn-ea"/>
                <a:ea typeface="+mn-ea"/>
              </a:rPr>
              <a:t>上記諸条件および本提案書に記載のない諸条件</a:t>
            </a:r>
            <a:r>
              <a:rPr lang="en-US" altLang="ja-JP" sz="1400">
                <a:latin typeface="+mn-ea"/>
                <a:ea typeface="+mn-ea"/>
              </a:rPr>
              <a:t>/</a:t>
            </a:r>
            <a:r>
              <a:rPr lang="ja-JP" altLang="en-US" sz="1400">
                <a:latin typeface="+mn-ea"/>
                <a:ea typeface="+mn-ea"/>
              </a:rPr>
              <a:t>作業内容につきましては、別途ご相談の上、決定させていただきます。</a:t>
            </a:r>
            <a:endParaRPr lang="en-US" altLang="ja-JP" sz="1400">
              <a:latin typeface="+mn-ea"/>
              <a:ea typeface="+mn-ea"/>
            </a:endParaRPr>
          </a:p>
        </p:txBody>
      </p:sp>
      <p:sp>
        <p:nvSpPr>
          <p:cNvPr id="3" name="スライド番号プレースホルダー 3">
            <a:extLst>
              <a:ext uri="{FF2B5EF4-FFF2-40B4-BE49-F238E27FC236}">
                <a16:creationId xmlns:a16="http://schemas.microsoft.com/office/drawing/2014/main" id="{30D47C98-53DE-11C9-DB20-F04D3E01A3C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41</a:t>
            </a:fld>
            <a:endParaRPr kumimoji="1" lang="ja-JP" altLang="en-US" sz="700"/>
          </a:p>
        </p:txBody>
      </p:sp>
    </p:spTree>
    <p:extLst>
      <p:ext uri="{BB962C8B-B14F-4D97-AF65-F5344CB8AC3E}">
        <p14:creationId xmlns:p14="http://schemas.microsoft.com/office/powerpoint/2010/main" val="39357240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8A344ADF-3CF9-0430-96F0-1B29F879DE3D}"/>
              </a:ext>
            </a:extLst>
          </p:cNvPr>
          <p:cNvSpPr>
            <a:spLocks noGrp="1"/>
          </p:cNvSpPr>
          <p:nvPr>
            <p:ph type="sldNum" sz="quarter" idx="12"/>
          </p:nvPr>
        </p:nvSpPr>
        <p:spPr/>
        <p:txBody>
          <a:bodyPr/>
          <a:lstStyle/>
          <a:p>
            <a:fld id="{26CA5134-5AAC-D342-B763-43605FECB385}" type="slidenum">
              <a:rPr kumimoji="1" lang="ja-JP" altLang="en-US" smtClean="0"/>
              <a:pPr/>
              <a:t>42</a:t>
            </a:fld>
            <a:endParaRPr kumimoji="1" lang="ja-JP" altLang="en-US" sz="700"/>
          </a:p>
        </p:txBody>
      </p:sp>
      <p:sp>
        <p:nvSpPr>
          <p:cNvPr id="4" name="タイトル 3">
            <a:extLst>
              <a:ext uri="{FF2B5EF4-FFF2-40B4-BE49-F238E27FC236}">
                <a16:creationId xmlns:a16="http://schemas.microsoft.com/office/drawing/2014/main" id="{518DB842-7B84-6314-0239-E8C4C5F79B54}"/>
              </a:ext>
            </a:extLst>
          </p:cNvPr>
          <p:cNvSpPr>
            <a:spLocks noGrp="1"/>
          </p:cNvSpPr>
          <p:nvPr>
            <p:ph type="title"/>
          </p:nvPr>
        </p:nvSpPr>
        <p:spPr/>
        <p:txBody>
          <a:bodyPr/>
          <a:lstStyle/>
          <a:p>
            <a:r>
              <a:rPr lang="ja-JP" altLang="en-US" dirty="0"/>
              <a:t>弊社情報</a:t>
            </a:r>
            <a:endParaRPr kumimoji="1" lang="ja-JP" altLang="en-US" dirty="0"/>
          </a:p>
        </p:txBody>
      </p:sp>
      <p:sp>
        <p:nvSpPr>
          <p:cNvPr id="5" name="フッター プレースホルダー 3">
            <a:extLst>
              <a:ext uri="{FF2B5EF4-FFF2-40B4-BE49-F238E27FC236}">
                <a16:creationId xmlns:a16="http://schemas.microsoft.com/office/drawing/2014/main" id="{9A81CAF1-7B3D-88E0-300B-154AA76ED220}"/>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42778852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62C3-9372-E805-89F1-55BE7F66C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648F7D-D578-7FB0-AA31-AB55F9D40891}"/>
              </a:ext>
            </a:extLst>
          </p:cNvPr>
          <p:cNvSpPr>
            <a:spLocks noGrp="1"/>
          </p:cNvSpPr>
          <p:nvPr>
            <p:ph type="title"/>
          </p:nvPr>
        </p:nvSpPr>
        <p:spPr/>
        <p:txBody>
          <a:bodyPr/>
          <a:lstStyle/>
          <a:p>
            <a:r>
              <a:rPr lang="en-US" altLang="ja-JP">
                <a:latin typeface="游明朝"/>
                <a:ea typeface="游明朝"/>
              </a:rPr>
              <a:t>9-1</a:t>
            </a:r>
            <a:r>
              <a:rPr lang="ja-JP" altLang="en-US">
                <a:latin typeface="游明朝"/>
                <a:ea typeface="游明朝"/>
              </a:rPr>
              <a:t>．弊社概要①</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2BECB683-AE78-7FFC-069B-EF8F249FDAAB}"/>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FC122E66-C7F4-2D7E-63C5-B19558C8919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43</a:t>
            </a:fld>
            <a:endParaRPr kumimoji="1" lang="ja-JP" altLang="en-US" sz="700"/>
          </a:p>
        </p:txBody>
      </p:sp>
      <p:graphicFrame>
        <p:nvGraphicFramePr>
          <p:cNvPr id="4" name="コンテンツ プレースホルダー 7">
            <a:extLst>
              <a:ext uri="{FF2B5EF4-FFF2-40B4-BE49-F238E27FC236}">
                <a16:creationId xmlns:a16="http://schemas.microsoft.com/office/drawing/2014/main" id="{795F264D-352A-14F7-3305-B89F47D53D80}"/>
              </a:ext>
            </a:extLst>
          </p:cNvPr>
          <p:cNvGraphicFramePr>
            <a:graphicFrameLocks/>
          </p:cNvGraphicFramePr>
          <p:nvPr>
            <p:extLst>
              <p:ext uri="{D42A27DB-BD31-4B8C-83A1-F6EECF244321}">
                <p14:modId xmlns:p14="http://schemas.microsoft.com/office/powerpoint/2010/main" val="1022728516"/>
              </p:ext>
            </p:extLst>
          </p:nvPr>
        </p:nvGraphicFramePr>
        <p:xfrm>
          <a:off x="508722" y="993608"/>
          <a:ext cx="5861545" cy="5184000"/>
        </p:xfrm>
        <a:graphic>
          <a:graphicData uri="http://schemas.openxmlformats.org/drawingml/2006/table">
            <a:tbl>
              <a:tblPr firstRow="1" bandRow="1"/>
              <a:tblGrid>
                <a:gridCol w="1440000">
                  <a:extLst>
                    <a:ext uri="{9D8B030D-6E8A-4147-A177-3AD203B41FA5}">
                      <a16:colId xmlns:a16="http://schemas.microsoft.com/office/drawing/2014/main" val="3234578392"/>
                    </a:ext>
                  </a:extLst>
                </a:gridCol>
                <a:gridCol w="1482635">
                  <a:extLst>
                    <a:ext uri="{9D8B030D-6E8A-4147-A177-3AD203B41FA5}">
                      <a16:colId xmlns:a16="http://schemas.microsoft.com/office/drawing/2014/main" val="3687508247"/>
                    </a:ext>
                  </a:extLst>
                </a:gridCol>
                <a:gridCol w="1149131">
                  <a:extLst>
                    <a:ext uri="{9D8B030D-6E8A-4147-A177-3AD203B41FA5}">
                      <a16:colId xmlns:a16="http://schemas.microsoft.com/office/drawing/2014/main" val="1416225269"/>
                    </a:ext>
                  </a:extLst>
                </a:gridCol>
                <a:gridCol w="1789779">
                  <a:extLst>
                    <a:ext uri="{9D8B030D-6E8A-4147-A177-3AD203B41FA5}">
                      <a16:colId xmlns:a16="http://schemas.microsoft.com/office/drawing/2014/main" val="2608253652"/>
                    </a:ext>
                  </a:extLst>
                </a:gridCol>
              </a:tblGrid>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商号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株式会社システムエグゼ</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967273096"/>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本社所在地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a:t>
                      </a:r>
                      <a:r>
                        <a:rPr kumimoji="1" lang="en-US" altLang="ja-JP" sz="1400">
                          <a:latin typeface="+mn-ea"/>
                          <a:ea typeface="+mn-ea"/>
                        </a:rPr>
                        <a:t>103-0022</a:t>
                      </a:r>
                    </a:p>
                    <a:p>
                      <a:r>
                        <a:rPr kumimoji="1" lang="ja-JP" altLang="en-US" sz="1400">
                          <a:latin typeface="+mn-ea"/>
                          <a:ea typeface="+mn-ea"/>
                        </a:rPr>
                        <a:t>東京都中央区日本橋室町三丁目４番４号</a:t>
                      </a:r>
                      <a:endParaRPr kumimoji="1" lang="en-US" altLang="ja-JP" sz="1400">
                        <a:latin typeface="+mn-ea"/>
                        <a:ea typeface="+mn-ea"/>
                      </a:endParaRPr>
                    </a:p>
                    <a:p>
                      <a:r>
                        <a:rPr kumimoji="1" lang="ja-JP" altLang="en-US" sz="1400">
                          <a:latin typeface="+mn-ea"/>
                          <a:ea typeface="+mn-ea"/>
                        </a:rPr>
                        <a:t>ＯＶＯＬ日本橋ビル７階</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533683915"/>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電話番号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a:latin typeface="+mn-ea"/>
                          <a:ea typeface="+mn-ea"/>
                        </a:rPr>
                        <a:t>03-5299-5351</a:t>
                      </a:r>
                      <a:r>
                        <a:rPr kumimoji="1" lang="ja-JP" altLang="en-US" sz="1400">
                          <a:latin typeface="+mn-ea"/>
                          <a:ea typeface="+mn-ea"/>
                        </a:rPr>
                        <a:t>（代表）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361790"/>
                  </a:ext>
                </a:extLst>
              </a:tr>
              <a:tr h="864000">
                <a:tc>
                  <a:txBody>
                    <a:bodyPr/>
                    <a:lstStyle/>
                    <a:p>
                      <a:r>
                        <a:rPr kumimoji="1" lang="ja-JP" altLang="en-US" sz="1400">
                          <a:latin typeface="+mn-ea"/>
                          <a:ea typeface="+mn-ea"/>
                        </a:rPr>
                        <a:t>ホームページ</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p>
                      <a:r>
                        <a:rPr kumimoji="1" lang="en-US" altLang="ja-JP" sz="1400">
                          <a:latin typeface="+mn-ea"/>
                          <a:ea typeface="+mn-ea"/>
                        </a:rPr>
                        <a:t>https://www.system-exe.co.jp/</a:t>
                      </a:r>
                      <a:endParaRPr kumimoji="1" lang="ja-JP" altLang="en-US"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266838"/>
                  </a:ext>
                </a:extLst>
              </a:tr>
              <a:tr h="864000">
                <a:tc>
                  <a:txBody>
                    <a:bodyPr/>
                    <a:lstStyle/>
                    <a:p>
                      <a:r>
                        <a:rPr kumimoji="1" lang="ja-JP" altLang="en-US" sz="1400">
                          <a:latin typeface="+mn-ea"/>
                          <a:ea typeface="+mn-ea"/>
                        </a:rPr>
                        <a:t>設立</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1998</a:t>
                      </a:r>
                      <a:r>
                        <a:rPr kumimoji="1" lang="ja-JP" altLang="en-US" sz="1400">
                          <a:latin typeface="+mn-ea"/>
                          <a:ea typeface="+mn-ea"/>
                        </a:rPr>
                        <a:t>年</a:t>
                      </a:r>
                      <a:r>
                        <a:rPr kumimoji="1" lang="en-US" altLang="ja-JP" sz="1400">
                          <a:latin typeface="+mn-ea"/>
                          <a:ea typeface="+mn-ea"/>
                        </a:rPr>
                        <a:t>2</a:t>
                      </a:r>
                      <a:r>
                        <a:rPr kumimoji="1" lang="ja-JP" altLang="en-US" sz="1400">
                          <a:latin typeface="+mn-ea"/>
                          <a:ea typeface="+mn-ea"/>
                        </a:rPr>
                        <a:t>月</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資本金</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4</a:t>
                      </a:r>
                      <a:r>
                        <a:rPr kumimoji="1" lang="ja-JP" altLang="en-US" sz="1400">
                          <a:latin typeface="+mn-ea"/>
                          <a:ea typeface="+mn-ea"/>
                        </a:rPr>
                        <a:t>億</a:t>
                      </a:r>
                      <a:r>
                        <a:rPr kumimoji="1" lang="en-US" altLang="ja-JP" sz="1400">
                          <a:latin typeface="+mn-ea"/>
                          <a:ea typeface="+mn-ea"/>
                        </a:rPr>
                        <a:t>7</a:t>
                      </a:r>
                      <a:r>
                        <a:rPr kumimoji="1" lang="ja-JP" altLang="en-US" sz="1400">
                          <a:latin typeface="+mn-ea"/>
                          <a:ea typeface="+mn-ea"/>
                        </a:rPr>
                        <a:t>千</a:t>
                      </a:r>
                      <a:r>
                        <a:rPr kumimoji="1" lang="en-US" altLang="ja-JP" sz="1400">
                          <a:latin typeface="+mn-ea"/>
                          <a:ea typeface="+mn-ea"/>
                        </a:rPr>
                        <a:t>5</a:t>
                      </a:r>
                      <a:r>
                        <a:rPr kumimoji="1" lang="ja-JP" altLang="en-US" sz="1400">
                          <a:latin typeface="+mn-ea"/>
                          <a:ea typeface="+mn-ea"/>
                        </a:rPr>
                        <a:t>百万円</a:t>
                      </a:r>
                      <a:endParaRPr kumimoji="1" lang="en-US" altLang="ja-JP"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163110"/>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代表者</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大場 康次</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従業員数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701</a:t>
                      </a:r>
                      <a:r>
                        <a:rPr kumimoji="1" lang="ja-JP" altLang="en-US" sz="1400">
                          <a:latin typeface="+mn-ea"/>
                          <a:ea typeface="+mn-ea"/>
                        </a:rPr>
                        <a:t>名</a:t>
                      </a:r>
                      <a:endParaRPr kumimoji="1" lang="en-US" altLang="ja-JP" sz="1400">
                        <a:latin typeface="+mn-ea"/>
                        <a:ea typeface="+mn-ea"/>
                      </a:endParaRPr>
                    </a:p>
                    <a:p>
                      <a:r>
                        <a:rPr kumimoji="1" lang="ja-JP" altLang="en-US" sz="1200">
                          <a:latin typeface="+mn-ea"/>
                          <a:ea typeface="+mn-ea"/>
                        </a:rPr>
                        <a:t>（</a:t>
                      </a:r>
                      <a:r>
                        <a:rPr kumimoji="1" lang="en-US" altLang="ja-JP" sz="1200">
                          <a:latin typeface="+mn-ea"/>
                          <a:ea typeface="+mn-ea"/>
                        </a:rPr>
                        <a:t>2025</a:t>
                      </a:r>
                      <a:r>
                        <a:rPr kumimoji="1" lang="ja-JP" altLang="en-US" sz="1200">
                          <a:latin typeface="+mn-ea"/>
                          <a:ea typeface="+mn-ea"/>
                        </a:rPr>
                        <a:t>年</a:t>
                      </a:r>
                      <a:r>
                        <a:rPr kumimoji="1" lang="en-US" altLang="ja-JP" sz="1200">
                          <a:latin typeface="+mn-ea"/>
                          <a:ea typeface="+mn-ea"/>
                        </a:rPr>
                        <a:t>5</a:t>
                      </a:r>
                      <a:r>
                        <a:rPr kumimoji="1" lang="ja-JP" altLang="en-US" sz="1200">
                          <a:latin typeface="+mn-ea"/>
                          <a:ea typeface="+mn-ea"/>
                        </a:rPr>
                        <a:t>月</a:t>
                      </a:r>
                      <a:r>
                        <a:rPr kumimoji="1" lang="en-US" altLang="ja-JP" sz="1200">
                          <a:latin typeface="+mn-ea"/>
                          <a:ea typeface="+mn-ea"/>
                        </a:rPr>
                        <a:t>1</a:t>
                      </a:r>
                      <a:r>
                        <a:rPr kumimoji="1" lang="ja-JP" altLang="en-US" sz="1200">
                          <a:latin typeface="+mn-ea"/>
                          <a:ea typeface="+mn-ea"/>
                        </a:rPr>
                        <a:t>日現在）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855461"/>
                  </a:ext>
                </a:extLst>
              </a:tr>
            </a:tbl>
          </a:graphicData>
        </a:graphic>
      </p:graphicFrame>
      <p:graphicFrame>
        <p:nvGraphicFramePr>
          <p:cNvPr id="171" name="表 170">
            <a:extLst>
              <a:ext uri="{FF2B5EF4-FFF2-40B4-BE49-F238E27FC236}">
                <a16:creationId xmlns:a16="http://schemas.microsoft.com/office/drawing/2014/main" id="{21C6665E-5DC8-1874-110A-64F4062E7D0A}"/>
              </a:ext>
            </a:extLst>
          </p:cNvPr>
          <p:cNvGraphicFramePr>
            <a:graphicFrameLocks noGrp="1"/>
          </p:cNvGraphicFramePr>
          <p:nvPr>
            <p:extLst>
              <p:ext uri="{D42A27DB-BD31-4B8C-83A1-F6EECF244321}">
                <p14:modId xmlns:p14="http://schemas.microsoft.com/office/powerpoint/2010/main" val="13753183"/>
              </p:ext>
            </p:extLst>
          </p:nvPr>
        </p:nvGraphicFramePr>
        <p:xfrm>
          <a:off x="6705737" y="993608"/>
          <a:ext cx="4911463" cy="5348880"/>
        </p:xfrm>
        <a:graphic>
          <a:graphicData uri="http://schemas.openxmlformats.org/drawingml/2006/table">
            <a:tbl>
              <a:tblPr>
                <a:tableStyleId>{5C22544A-7EE6-4342-B048-85BDC9FD1C3A}</a:tableStyleId>
              </a:tblPr>
              <a:tblGrid>
                <a:gridCol w="1373034">
                  <a:extLst>
                    <a:ext uri="{9D8B030D-6E8A-4147-A177-3AD203B41FA5}">
                      <a16:colId xmlns:a16="http://schemas.microsoft.com/office/drawing/2014/main" val="20000"/>
                    </a:ext>
                  </a:extLst>
                </a:gridCol>
                <a:gridCol w="3538429">
                  <a:extLst>
                    <a:ext uri="{9D8B030D-6E8A-4147-A177-3AD203B41FA5}">
                      <a16:colId xmlns:a16="http://schemas.microsoft.com/office/drawing/2014/main" val="20001"/>
                    </a:ext>
                  </a:extLst>
                </a:gridCol>
              </a:tblGrid>
              <a:tr h="23688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latin typeface="+mn-ea"/>
                          <a:ea typeface="+mn-ea"/>
                          <a:cs typeface="Meiryo" charset="-128"/>
                        </a:rPr>
                        <a:t>拠</a:t>
                      </a:r>
                      <a:r>
                        <a:rPr kumimoji="1" lang="en-US" altLang="ja-JP" sz="1200" b="0" i="0">
                          <a:latin typeface="+mn-ea"/>
                          <a:ea typeface="+mn-ea"/>
                          <a:cs typeface="Meiryo" charset="-128"/>
                        </a:rPr>
                        <a:t> </a:t>
                      </a:r>
                      <a:r>
                        <a:rPr kumimoji="1" lang="ja-JP" altLang="en-US" sz="1200" b="0" i="0">
                          <a:latin typeface="+mn-ea"/>
                          <a:ea typeface="+mn-ea"/>
                          <a:cs typeface="Meiryo" charset="-128"/>
                        </a:rPr>
                        <a:t>点</a:t>
                      </a:r>
                      <a:r>
                        <a:rPr kumimoji="1" lang="en-US" altLang="ja-JP" sz="1200" b="0" i="0">
                          <a:latin typeface="+mn-ea"/>
                          <a:ea typeface="+mn-ea"/>
                          <a:cs typeface="Meiryo" charset="-128"/>
                        </a:rPr>
                        <a:t> </a:t>
                      </a:r>
                      <a:r>
                        <a:rPr kumimoji="1" lang="ja-JP" altLang="en-US" sz="1200" b="0" i="0">
                          <a:latin typeface="+mn-ea"/>
                          <a:ea typeface="+mn-ea"/>
                          <a:cs typeface="Meiryo" charset="-128"/>
                        </a:rPr>
                        <a:t>一</a:t>
                      </a:r>
                      <a:r>
                        <a:rPr kumimoji="1" lang="en-US" altLang="ja-JP" sz="1200" b="0" i="0">
                          <a:latin typeface="+mn-ea"/>
                          <a:ea typeface="+mn-ea"/>
                          <a:cs typeface="Meiryo" charset="-128"/>
                        </a:rPr>
                        <a:t> </a:t>
                      </a:r>
                      <a:r>
                        <a:rPr kumimoji="1" lang="ja-JP" altLang="en-US" sz="1200" b="0" i="0">
                          <a:latin typeface="+mn-ea"/>
                          <a:ea typeface="+mn-ea"/>
                          <a:cs typeface="Meiryo" charset="-128"/>
                        </a:rPr>
                        <a:t>覧：</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just"/>
                      <a:endParaRPr kumimoji="1" lang="ja-JP" altLang="en-US" sz="900" b="0" i="0">
                        <a:latin typeface="Meiryo UI" charset="-128"/>
                        <a:ea typeface="Meiryo UI" charset="-128"/>
                        <a:cs typeface="Meiryo UI" charset="-128"/>
                      </a:endParaRPr>
                    </a:p>
                  </a:txBody>
                  <a:tcPr marL="0" marR="0" marT="90000" marB="90000">
                    <a:solidFill>
                      <a:schemeClr val="bg1"/>
                    </a:solidFill>
                  </a:tcPr>
                </a:tc>
                <a:extLst>
                  <a:ext uri="{0D108BD9-81ED-4DB2-BD59-A6C34878D82A}">
                    <a16:rowId xmlns:a16="http://schemas.microsoft.com/office/drawing/2014/main" val="10000"/>
                  </a:ext>
                </a:extLst>
              </a:tr>
              <a:tr h="485190">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本社</a:t>
                      </a:r>
                      <a:endParaRPr kumimoji="1" lang="en-US" altLang="ja-JP" sz="1200" b="0" i="0">
                        <a:solidFill>
                          <a:srgbClr val="323232"/>
                        </a:solidFill>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103-0022</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TW" altLang="en-US" sz="1200" b="0" i="0" kern="1200">
                          <a:solidFill>
                            <a:srgbClr val="323232"/>
                          </a:solidFill>
                          <a:effectLst/>
                          <a:latin typeface="+mn-ea"/>
                          <a:ea typeface="+mn-ea"/>
                          <a:cs typeface="Meiryo" charset="-128"/>
                        </a:rPr>
                        <a:t>東京都中央区日本橋室町</a:t>
                      </a:r>
                      <a:r>
                        <a:rPr kumimoji="1" lang="en-US" altLang="zh-TW" sz="1200" b="0" i="0" kern="1200">
                          <a:solidFill>
                            <a:srgbClr val="323232"/>
                          </a:solidFill>
                          <a:effectLst/>
                          <a:latin typeface="+mn-ea"/>
                          <a:ea typeface="+mn-ea"/>
                          <a:cs typeface="Meiryo" charset="-128"/>
                        </a:rPr>
                        <a:t>3</a:t>
                      </a:r>
                      <a:r>
                        <a:rPr kumimoji="1" lang="en-US" altLang="ja-JP" sz="1200" b="0" i="0" kern="1200">
                          <a:solidFill>
                            <a:srgbClr val="323232"/>
                          </a:solidFill>
                          <a:effectLst/>
                          <a:latin typeface="+mn-ea"/>
                          <a:ea typeface="+mn-ea"/>
                          <a:cs typeface="Meiryo" charset="-128"/>
                        </a:rPr>
                        <a:t>-4-4</a:t>
                      </a:r>
                      <a:r>
                        <a:rPr kumimoji="1" lang="ja-JP" altLang="en-US" sz="1200" b="0" i="0" kern="1200">
                          <a:solidFill>
                            <a:srgbClr val="323232"/>
                          </a:solidFill>
                          <a:effectLst/>
                          <a:latin typeface="+mn-ea"/>
                          <a:ea typeface="+mn-ea"/>
                          <a:cs typeface="Meiryo" charset="-128"/>
                        </a:rPr>
                        <a:t>　</a:t>
                      </a:r>
                      <a:r>
                        <a:rPr kumimoji="1" lang="en-US" altLang="ja-JP" sz="1200" b="0" i="0" kern="1200" baseline="0">
                          <a:solidFill>
                            <a:srgbClr val="323232"/>
                          </a:solidFill>
                          <a:effectLst/>
                          <a:latin typeface="+mn-ea"/>
                          <a:ea typeface="+mn-ea"/>
                          <a:cs typeface="Meiryo" charset="-128"/>
                        </a:rPr>
                        <a:t>OVOL</a:t>
                      </a:r>
                      <a:r>
                        <a:rPr kumimoji="1" lang="ja-JP" altLang="en-US" sz="1200" b="0" i="0" kern="1200" baseline="0">
                          <a:solidFill>
                            <a:srgbClr val="323232"/>
                          </a:solidFill>
                          <a:effectLst/>
                          <a:latin typeface="+mn-ea"/>
                          <a:ea typeface="+mn-ea"/>
                          <a:cs typeface="Meiryo" charset="-128"/>
                        </a:rPr>
                        <a:t>日本橋ビル</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kern="1200">
                          <a:solidFill>
                            <a:srgbClr val="323232"/>
                          </a:solidFill>
                          <a:effectLst/>
                          <a:latin typeface="+mn-ea"/>
                          <a:ea typeface="+mn-ea"/>
                          <a:cs typeface="Meiryo" charset="-128"/>
                        </a:rPr>
                        <a:t>TEL: 03-5299-5351</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FAX: 03-5299-5354</a:t>
                      </a:r>
                      <a:endParaRPr kumimoji="1" lang="ja-JP" altLang="ja-JP" sz="1200" b="0" i="0" kern="1200">
                        <a:solidFill>
                          <a:srgbClr val="323232"/>
                        </a:solidFill>
                        <a:effectLst/>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京橋オフィス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104-0032</a:t>
                      </a:r>
                      <a:br>
                        <a:rPr kumimoji="1" lang="en-US" altLang="ja-JP" sz="1200" b="0" i="0" kern="1200">
                          <a:solidFill>
                            <a:srgbClr val="323232"/>
                          </a:solidFill>
                          <a:effectLst/>
                          <a:latin typeface="+mn-ea"/>
                          <a:ea typeface="+mn-ea"/>
                          <a:cs typeface="Meiryo" charset="-128"/>
                        </a:rPr>
                      </a:br>
                      <a:r>
                        <a:rPr kumimoji="1" lang="ja-JP" altLang="en-US" sz="1200" b="0" i="0" kern="1200">
                          <a:solidFill>
                            <a:srgbClr val="323232"/>
                          </a:solidFill>
                          <a:effectLst/>
                          <a:latin typeface="+mn-ea"/>
                          <a:ea typeface="+mn-ea"/>
                          <a:cs typeface="Meiryo" charset="-128"/>
                        </a:rPr>
                        <a:t>東京都中央区八丁堀</a:t>
                      </a:r>
                      <a:r>
                        <a:rPr kumimoji="1" lang="en-US" altLang="ja-JP" sz="1200" b="0" i="0" kern="1200">
                          <a:solidFill>
                            <a:srgbClr val="323232"/>
                          </a:solidFill>
                          <a:effectLst/>
                          <a:latin typeface="+mn-ea"/>
                          <a:ea typeface="+mn-ea"/>
                          <a:cs typeface="Meiryo" charset="-128"/>
                        </a:rPr>
                        <a:t>4-3-3</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Daiwa</a:t>
                      </a:r>
                      <a:r>
                        <a:rPr kumimoji="1" lang="ja-JP" altLang="en-US" sz="1200" b="0" i="0" kern="1200">
                          <a:solidFill>
                            <a:srgbClr val="323232"/>
                          </a:solidFill>
                          <a:effectLst/>
                          <a:latin typeface="+mn-ea"/>
                          <a:ea typeface="+mn-ea"/>
                          <a:cs typeface="Meiryo" charset="-128"/>
                        </a:rPr>
                        <a:t>京橋ビル</a:t>
                      </a:r>
                      <a:r>
                        <a:rPr kumimoji="1" lang="en-US" altLang="ja-JP" sz="1200" b="0" i="0" kern="1200" baseline="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8</a:t>
                      </a:r>
                      <a:r>
                        <a:rPr kumimoji="1" lang="ja-JP" altLang="en-US" sz="1200" b="0" i="0" kern="1200">
                          <a:solidFill>
                            <a:srgbClr val="323232"/>
                          </a:solidFill>
                          <a:effectLst/>
                          <a:latin typeface="+mn-ea"/>
                          <a:ea typeface="+mn-ea"/>
                          <a:cs typeface="Meiryo" charset="-128"/>
                        </a:rPr>
                        <a:t>階</a:t>
                      </a:r>
                      <a:endParaRPr kumimoji="1" lang="ja-JP"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府中オフィス</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baseline="0">
                          <a:solidFill>
                            <a:srgbClr val="323232"/>
                          </a:solidFill>
                          <a:latin typeface="+mn-ea"/>
                          <a:ea typeface="+mn-ea"/>
                          <a:cs typeface="Meiryo" charset="-128"/>
                        </a:rPr>
                        <a:t>183-0056</a:t>
                      </a:r>
                    </a:p>
                    <a:p>
                      <a:pPr algn="l"/>
                      <a:r>
                        <a:rPr kumimoji="1" lang="ja-JP" altLang="en-US" sz="1200" b="0" i="0">
                          <a:solidFill>
                            <a:srgbClr val="323232"/>
                          </a:solidFill>
                          <a:latin typeface="+mn-ea"/>
                          <a:ea typeface="+mn-ea"/>
                          <a:cs typeface="Meiryo" charset="-128"/>
                        </a:rPr>
                        <a:t>東京都府中市寿町</a:t>
                      </a:r>
                      <a:r>
                        <a:rPr kumimoji="1" lang="en-US" altLang="ja-JP" sz="1200" b="0" i="0">
                          <a:solidFill>
                            <a:srgbClr val="323232"/>
                          </a:solidFill>
                          <a:latin typeface="+mn-ea"/>
                          <a:ea typeface="+mn-ea"/>
                          <a:cs typeface="Meiryo" charset="-128"/>
                        </a:rPr>
                        <a:t>1-1-3</a:t>
                      </a:r>
                      <a:r>
                        <a:rPr kumimoji="1" lang="ja-JP" altLang="en-US" sz="1200" b="0" i="0">
                          <a:solidFill>
                            <a:srgbClr val="323232"/>
                          </a:solidFill>
                          <a:latin typeface="+mn-ea"/>
                          <a:ea typeface="+mn-ea"/>
                          <a:cs typeface="Meiryo" charset="-128"/>
                        </a:rPr>
                        <a:t>　三ツ木寿町ビル </a:t>
                      </a:r>
                      <a:r>
                        <a:rPr kumimoji="1" lang="en-US" altLang="ja-JP" sz="1200" b="0" i="0">
                          <a:solidFill>
                            <a:srgbClr val="323232"/>
                          </a:solidFill>
                          <a:latin typeface="+mn-ea"/>
                          <a:ea typeface="+mn-ea"/>
                          <a:cs typeface="Meiryo" charset="-128"/>
                        </a:rPr>
                        <a:t>6</a:t>
                      </a:r>
                      <a:r>
                        <a:rPr kumimoji="1" lang="ja-JP" altLang="en-US" sz="1200" b="0" i="0">
                          <a:solidFill>
                            <a:srgbClr val="323232"/>
                          </a:solidFill>
                          <a:latin typeface="+mn-ea"/>
                          <a:ea typeface="+mn-ea"/>
                          <a:cs typeface="Meiryo" charset="-128"/>
                        </a:rPr>
                        <a:t>階</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千葉オフィス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260-0045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千葉市中央区弁天</a:t>
                      </a:r>
                      <a:r>
                        <a:rPr kumimoji="1" lang="en-US" altLang="ja-JP" sz="1200" b="0" i="0" kern="1200">
                          <a:solidFill>
                            <a:srgbClr val="323232"/>
                          </a:solidFill>
                          <a:effectLst/>
                          <a:latin typeface="+mn-ea"/>
                          <a:ea typeface="+mn-ea"/>
                          <a:cs typeface="Meiryo" charset="-128"/>
                        </a:rPr>
                        <a:t>1-5-1</a:t>
                      </a:r>
                      <a:r>
                        <a:rPr kumimoji="1" lang="ja-JP" altLang="en-US" sz="1200" b="0" i="0" kern="1200">
                          <a:solidFill>
                            <a:srgbClr val="323232"/>
                          </a:solidFill>
                          <a:effectLst/>
                          <a:latin typeface="+mn-ea"/>
                          <a:ea typeface="+mn-ea"/>
                          <a:cs typeface="Meiryo" charset="-128"/>
                        </a:rPr>
                        <a:t>　オーパスビルディング </a:t>
                      </a:r>
                      <a:r>
                        <a:rPr kumimoji="1" lang="en-US" altLang="ja-JP" sz="1200" b="0" i="0" kern="1200">
                          <a:solidFill>
                            <a:srgbClr val="323232"/>
                          </a:solidFill>
                          <a:effectLst/>
                          <a:latin typeface="+mn-ea"/>
                          <a:ea typeface="+mn-ea"/>
                          <a:cs typeface="Meiryo" charset="-128"/>
                        </a:rPr>
                        <a:t>9</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横浜オフィス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chemeClr val="tx1"/>
                          </a:solidFill>
                          <a:latin typeface="+mn-ea"/>
                          <a:ea typeface="+mn-ea"/>
                          <a:cs typeface="Meiryo" charset="-128"/>
                        </a:rPr>
                        <a:t>〒</a:t>
                      </a:r>
                      <a:r>
                        <a:rPr kumimoji="1" lang="en-US" altLang="ja-JP" sz="1200" b="0" i="0">
                          <a:solidFill>
                            <a:schemeClr val="tx1"/>
                          </a:solidFill>
                          <a:latin typeface="+mn-ea"/>
                          <a:ea typeface="+mn-ea"/>
                          <a:cs typeface="Meiryo" charset="-128"/>
                        </a:rPr>
                        <a:t>220-0012</a:t>
                      </a:r>
                    </a:p>
                    <a:p>
                      <a:pPr algn="l"/>
                      <a:r>
                        <a:rPr kumimoji="1" lang="ja-JP" altLang="en-US" sz="1200" b="0" i="0">
                          <a:solidFill>
                            <a:schemeClr val="tx1"/>
                          </a:solidFill>
                          <a:latin typeface="+mn-ea"/>
                          <a:ea typeface="+mn-ea"/>
                          <a:cs typeface="Meiryo" charset="-128"/>
                        </a:rPr>
                        <a:t>神奈川県横浜市西区みなとみらい</a:t>
                      </a:r>
                      <a:r>
                        <a:rPr kumimoji="1" lang="en-US" altLang="ja-JP" sz="1200" b="0" i="0">
                          <a:solidFill>
                            <a:schemeClr val="tx1"/>
                          </a:solidFill>
                          <a:latin typeface="+mn-ea"/>
                          <a:ea typeface="+mn-ea"/>
                          <a:cs typeface="Meiryo" charset="-128"/>
                        </a:rPr>
                        <a:t>3-7-1</a:t>
                      </a:r>
                      <a:r>
                        <a:rPr kumimoji="1" lang="ja-JP" altLang="en-US" sz="1200" b="0" i="0">
                          <a:solidFill>
                            <a:schemeClr val="tx1"/>
                          </a:solidFill>
                          <a:latin typeface="+mn-ea"/>
                          <a:ea typeface="+mn-ea"/>
                          <a:cs typeface="Meiryo" charset="-128"/>
                        </a:rPr>
                        <a:t>　</a:t>
                      </a:r>
                      <a:endParaRPr kumimoji="1" lang="en-US" altLang="ja-JP" sz="1200" b="0" i="0">
                        <a:solidFill>
                          <a:schemeClr val="tx1"/>
                        </a:solidFill>
                        <a:latin typeface="+mn-ea"/>
                        <a:ea typeface="+mn-ea"/>
                        <a:cs typeface="Meiryo" charset="-128"/>
                      </a:endParaRPr>
                    </a:p>
                    <a:p>
                      <a:pPr algn="l"/>
                      <a:r>
                        <a:rPr kumimoji="1" lang="ja-JP" altLang="en-US" sz="1200" b="0" i="0">
                          <a:solidFill>
                            <a:schemeClr val="tx1"/>
                          </a:solidFill>
                          <a:latin typeface="+mn-ea"/>
                          <a:ea typeface="+mn-ea"/>
                          <a:cs typeface="Meiryo" charset="-128"/>
                        </a:rPr>
                        <a:t>オーシャンゲートみなとみらい</a:t>
                      </a:r>
                      <a:r>
                        <a:rPr kumimoji="1" lang="en-US" altLang="ja-JP" sz="1200" b="0" i="0">
                          <a:solidFill>
                            <a:schemeClr val="tx1"/>
                          </a:solidFill>
                          <a:latin typeface="+mn-ea"/>
                          <a:ea typeface="+mn-ea"/>
                          <a:cs typeface="Meiryo" charset="-128"/>
                        </a:rPr>
                        <a:t>8</a:t>
                      </a:r>
                      <a:r>
                        <a:rPr kumimoji="1" lang="ja-JP" altLang="en-US" sz="1200" b="0" i="0">
                          <a:solidFill>
                            <a:schemeClr val="tx1"/>
                          </a:solidFill>
                          <a:latin typeface="+mn-ea"/>
                          <a:ea typeface="+mn-ea"/>
                          <a:cs typeface="Meiryo" charset="-128"/>
                        </a:rPr>
                        <a:t>階（</a:t>
                      </a:r>
                      <a:r>
                        <a:rPr kumimoji="1" lang="en-US" altLang="ja-JP" sz="1200" b="0" i="0" err="1">
                          <a:solidFill>
                            <a:schemeClr val="tx1"/>
                          </a:solidFill>
                          <a:latin typeface="+mn-ea"/>
                          <a:ea typeface="+mn-ea"/>
                          <a:cs typeface="Meiryo" charset="-128"/>
                        </a:rPr>
                        <a:t>WeWork</a:t>
                      </a:r>
                      <a:r>
                        <a:rPr kumimoji="1" lang="ja-JP" altLang="en-US" sz="1200" b="0" i="0">
                          <a:solidFill>
                            <a:schemeClr val="tx1"/>
                          </a:solidFill>
                          <a:latin typeface="+mn-ea"/>
                          <a:ea typeface="+mn-ea"/>
                          <a:cs typeface="Meiryo" charset="-128"/>
                        </a:rPr>
                        <a:t>内）</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長野オフィス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390-0811 </a:t>
                      </a:r>
                    </a:p>
                    <a:p>
                      <a:pPr algn="l"/>
                      <a:r>
                        <a:rPr kumimoji="1" lang="ja-JP" altLang="en-US" sz="1200" b="0" i="0" kern="1200">
                          <a:solidFill>
                            <a:srgbClr val="323232"/>
                          </a:solidFill>
                          <a:effectLst/>
                          <a:latin typeface="+mn-ea"/>
                          <a:ea typeface="+mn-ea"/>
                          <a:cs typeface="Meiryo" charset="-128"/>
                        </a:rPr>
                        <a:t>長野県松本市中央</a:t>
                      </a:r>
                      <a:r>
                        <a:rPr kumimoji="1" lang="en-US" altLang="ja-JP" sz="1200" b="0" i="0" kern="1200">
                          <a:solidFill>
                            <a:srgbClr val="323232"/>
                          </a:solidFill>
                          <a:effectLst/>
                          <a:latin typeface="+mn-ea"/>
                          <a:ea typeface="+mn-ea"/>
                          <a:cs typeface="Meiryo" charset="-128"/>
                        </a:rPr>
                        <a:t>2-1-27</a:t>
                      </a:r>
                      <a:r>
                        <a:rPr kumimoji="1" lang="ja-JP" altLang="en-US" sz="1200" b="0" i="0" kern="1200">
                          <a:solidFill>
                            <a:srgbClr val="323232"/>
                          </a:solidFill>
                          <a:effectLst/>
                          <a:latin typeface="+mn-ea"/>
                          <a:ea typeface="+mn-ea"/>
                          <a:cs typeface="Meiryo" charset="-128"/>
                        </a:rPr>
                        <a:t>　松本本町第一生命ビルディング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名古屋オフィス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a:solidFill>
                            <a:srgbClr val="323232"/>
                          </a:solidFill>
                          <a:latin typeface="+mn-ea"/>
                          <a:ea typeface="+mn-ea"/>
                          <a:cs typeface="Meiryo" charset="-128"/>
                        </a:rPr>
                        <a:t>460-0003</a:t>
                      </a:r>
                    </a:p>
                    <a:p>
                      <a:pPr algn="l"/>
                      <a:r>
                        <a:rPr kumimoji="1" lang="ja-JP" altLang="en-US" sz="1200" b="0" i="0">
                          <a:solidFill>
                            <a:srgbClr val="323232"/>
                          </a:solidFill>
                          <a:latin typeface="+mn-ea"/>
                          <a:ea typeface="+mn-ea"/>
                          <a:cs typeface="Meiryo" charset="-128"/>
                        </a:rPr>
                        <a:t>愛知県名古屋市中区錦</a:t>
                      </a:r>
                      <a:r>
                        <a:rPr kumimoji="1" lang="en-US" altLang="ja-JP" sz="1200" b="0" i="0">
                          <a:solidFill>
                            <a:srgbClr val="323232"/>
                          </a:solidFill>
                          <a:latin typeface="+mn-ea"/>
                          <a:ea typeface="+mn-ea"/>
                          <a:cs typeface="Meiryo" charset="-128"/>
                        </a:rPr>
                        <a:t>2-20-8</a:t>
                      </a:r>
                      <a:r>
                        <a:rPr kumimoji="1" lang="ja-JP" altLang="en-US" sz="1200" b="0" i="0">
                          <a:solidFill>
                            <a:srgbClr val="323232"/>
                          </a:solidFill>
                          <a:latin typeface="+mn-ea"/>
                          <a:ea typeface="+mn-ea"/>
                          <a:cs typeface="Meiryo" charset="-128"/>
                        </a:rPr>
                        <a:t>　東栄ビル </a:t>
                      </a:r>
                      <a:r>
                        <a:rPr kumimoji="1" lang="en-US" altLang="ja-JP" sz="1200" b="0" i="0">
                          <a:solidFill>
                            <a:srgbClr val="323232"/>
                          </a:solidFill>
                          <a:latin typeface="+mn-ea"/>
                          <a:ea typeface="+mn-ea"/>
                          <a:cs typeface="Meiryo" charset="-128"/>
                        </a:rPr>
                        <a:t>7</a:t>
                      </a:r>
                      <a:r>
                        <a:rPr kumimoji="1" lang="ja-JP" altLang="en-US" sz="1200" b="0" i="0">
                          <a:solidFill>
                            <a:srgbClr val="323232"/>
                          </a:solidFill>
                          <a:latin typeface="+mn-ea"/>
                          <a:ea typeface="+mn-ea"/>
                          <a:cs typeface="Meiryo" charset="-128"/>
                        </a:rPr>
                        <a:t>階</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31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関西オフィス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ja-JP"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530-0005</a:t>
                      </a:r>
                      <a:r>
                        <a:rPr kumimoji="1" lang="ja-JP" altLang="ja-JP" sz="1200" b="0" i="0" kern="1200">
                          <a:solidFill>
                            <a:srgbClr val="323232"/>
                          </a:solidFill>
                          <a:effectLst/>
                          <a:latin typeface="+mn-ea"/>
                          <a:ea typeface="+mn-ea"/>
                          <a:cs typeface="Meiryo" charset="-128"/>
                        </a:rPr>
                        <a:t> </a:t>
                      </a:r>
                      <a:endParaRPr kumimoji="1" lang="en-US" altLang="ja-JP" sz="1200" b="0" i="0" kern="1200">
                        <a:solidFill>
                          <a:srgbClr val="323232"/>
                        </a:solidFill>
                        <a:effectLst/>
                        <a:latin typeface="+mn-ea"/>
                        <a:ea typeface="+mn-ea"/>
                        <a:cs typeface="Meiryo" charset="-128"/>
                      </a:endParaRPr>
                    </a:p>
                    <a:p>
                      <a:pPr algn="l"/>
                      <a:r>
                        <a:rPr kumimoji="1" lang="ja-JP" altLang="en-US" sz="1200" b="0" i="0" kern="1200">
                          <a:solidFill>
                            <a:srgbClr val="323232"/>
                          </a:solidFill>
                          <a:effectLst/>
                          <a:latin typeface="+mn-ea"/>
                          <a:ea typeface="+mn-ea"/>
                          <a:cs typeface="Meiryo" charset="-128"/>
                        </a:rPr>
                        <a:t>大阪府大阪市北区中之島</a:t>
                      </a:r>
                      <a:r>
                        <a:rPr kumimoji="1" lang="en-US" altLang="ja-JP" sz="1200" b="0" i="0" kern="1200">
                          <a:solidFill>
                            <a:srgbClr val="323232"/>
                          </a:solidFill>
                          <a:effectLst/>
                          <a:latin typeface="+mn-ea"/>
                          <a:ea typeface="+mn-ea"/>
                          <a:cs typeface="Meiryo" charset="-128"/>
                        </a:rPr>
                        <a:t>3-3-3</a:t>
                      </a:r>
                      <a:r>
                        <a:rPr kumimoji="1" lang="ja-JP" altLang="en-US" sz="1200" b="0" i="0" kern="1200">
                          <a:solidFill>
                            <a:srgbClr val="323232"/>
                          </a:solidFill>
                          <a:effectLst/>
                          <a:latin typeface="+mn-ea"/>
                          <a:ea typeface="+mn-ea"/>
                          <a:cs typeface="Meiryo" charset="-128"/>
                        </a:rPr>
                        <a:t>　中之島三井ビルディング </a:t>
                      </a:r>
                      <a:r>
                        <a:rPr kumimoji="1" lang="en-US" altLang="ja-JP" sz="1200" b="0" i="0" kern="1200">
                          <a:solidFill>
                            <a:srgbClr val="323232"/>
                          </a:solidFill>
                          <a:effectLst/>
                          <a:latin typeface="+mn-ea"/>
                          <a:ea typeface="+mn-ea"/>
                          <a:cs typeface="Meiryo" charset="-128"/>
                        </a:rPr>
                        <a:t>20</a:t>
                      </a:r>
                      <a:r>
                        <a:rPr kumimoji="1" lang="ja-JP" altLang="en-US" sz="1200" b="0" i="0" kern="1200">
                          <a:solidFill>
                            <a:srgbClr val="323232"/>
                          </a:solidFill>
                          <a:effectLst/>
                          <a:latin typeface="+mn-ea"/>
                          <a:ea typeface="+mn-ea"/>
                          <a:cs typeface="Meiryo" charset="-128"/>
                        </a:rPr>
                        <a:t>階 </a:t>
                      </a:r>
                      <a:endParaRPr kumimoji="1" lang="en-US" altLang="ja-JP" sz="1200" b="0" i="0" kern="1200">
                        <a:solidFill>
                          <a:srgbClr val="323232"/>
                        </a:solidFill>
                        <a:effectLst/>
                        <a:latin typeface="+mn-ea"/>
                        <a:ea typeface="+mn-ea"/>
                        <a:cs typeface="Meiryo" charset="-128"/>
                      </a:endParaRPr>
                    </a:p>
                    <a:p>
                      <a:pPr algn="l"/>
                      <a:r>
                        <a:rPr kumimoji="1" lang="en-US" altLang="ja-JP" sz="1200" b="0" i="0" kern="1200">
                          <a:solidFill>
                            <a:srgbClr val="323232"/>
                          </a:solidFill>
                          <a:effectLst/>
                          <a:latin typeface="+mn-ea"/>
                          <a:ea typeface="+mn-ea"/>
                          <a:cs typeface="Meiryo" charset="-128"/>
                        </a:rPr>
                        <a:t>2006</a:t>
                      </a:r>
                      <a:r>
                        <a:rPr kumimoji="1" lang="ja-JP" altLang="en-US" sz="1200" b="0" i="0" kern="1200">
                          <a:solidFill>
                            <a:srgbClr val="323232"/>
                          </a:solidFill>
                          <a:effectLst/>
                          <a:latin typeface="+mn-ea"/>
                          <a:ea typeface="+mn-ea"/>
                          <a:cs typeface="Meiryo" charset="-128"/>
                        </a:rPr>
                        <a:t>号室</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0531223"/>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1313A1"/>
                          </a:solidFill>
                          <a:latin typeface="+mn-ea"/>
                          <a:ea typeface="+mn-ea"/>
                          <a:cs typeface="Meiryo" charset="-128"/>
                        </a:rPr>
                        <a:t>■</a:t>
                      </a:r>
                      <a:r>
                        <a:rPr kumimoji="1" lang="ja-JP" altLang="en-US" sz="1200" b="0" i="0">
                          <a:solidFill>
                            <a:srgbClr val="323232"/>
                          </a:solidFill>
                          <a:latin typeface="+mn-ea"/>
                          <a:ea typeface="+mn-ea"/>
                          <a:cs typeface="Meiryo" charset="-128"/>
                        </a:rPr>
                        <a:t>システムエグゼ</a:t>
                      </a:r>
                      <a:endParaRPr kumimoji="1" lang="en-US" altLang="ja-JP" sz="1200" b="0" i="0">
                        <a:solidFill>
                          <a:srgbClr val="323232"/>
                        </a:solidFill>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323232"/>
                          </a:solidFill>
                          <a:latin typeface="+mn-ea"/>
                          <a:ea typeface="+mn-ea"/>
                          <a:cs typeface="Meiryo" charset="-128"/>
                        </a:rPr>
                        <a:t>　ベトナム　</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2/F, E-Town 1, 364 Cong </a:t>
                      </a:r>
                      <a:r>
                        <a:rPr kumimoji="1" lang="en-US" altLang="ja-JP" sz="1200" b="0" err="1">
                          <a:solidFill>
                            <a:srgbClr val="323232"/>
                          </a:solidFill>
                          <a:latin typeface="+mn-ea"/>
                          <a:ea typeface="+mn-ea"/>
                          <a:cs typeface="Meiryo" panose="020B0604030504040204" pitchFamily="50" charset="-128"/>
                        </a:rPr>
                        <a:t>Hoa</a:t>
                      </a:r>
                      <a:r>
                        <a:rPr kumimoji="1" lang="en-US" altLang="ja-JP" sz="1200" b="0">
                          <a:solidFill>
                            <a:srgbClr val="323232"/>
                          </a:solidFill>
                          <a:latin typeface="+mn-ea"/>
                          <a:ea typeface="+mn-ea"/>
                          <a:cs typeface="Meiryo" panose="020B0604030504040204" pitchFamily="50" charset="-128"/>
                        </a:rPr>
                        <a:t> ST., Tan </a:t>
                      </a:r>
                      <a:r>
                        <a:rPr kumimoji="1" lang="en-US" altLang="ja-JP" sz="1200" b="0" err="1">
                          <a:solidFill>
                            <a:srgbClr val="323232"/>
                          </a:solidFill>
                          <a:latin typeface="+mn-ea"/>
                          <a:ea typeface="+mn-ea"/>
                          <a:cs typeface="Meiryo" panose="020B0604030504040204" pitchFamily="50" charset="-128"/>
                        </a:rPr>
                        <a:t>Binh</a:t>
                      </a:r>
                      <a:r>
                        <a:rPr kumimoji="1" lang="en-US" altLang="ja-JP" sz="1200" b="0">
                          <a:solidFill>
                            <a:srgbClr val="323232"/>
                          </a:solidFill>
                          <a:latin typeface="+mn-ea"/>
                          <a:ea typeface="+mn-ea"/>
                          <a:cs typeface="Meiryo" panose="020B0604030504040204" pitchFamily="50" charset="-128"/>
                        </a:rPr>
                        <a:t> Dist.,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Ho Chi Minh City, VIETNAM</a:t>
                      </a:r>
                      <a:endParaRPr lang="ja-JP" altLang="ja-JP" sz="1200" b="0">
                        <a:solidFill>
                          <a:srgbClr val="323232"/>
                        </a:solidFill>
                        <a:latin typeface="+mn-ea"/>
                        <a:ea typeface="+mn-ea"/>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00022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8D7E-0627-E1B4-00E3-358C0F4F54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393A7B-B759-DE92-F13E-5F0012861637}"/>
              </a:ext>
            </a:extLst>
          </p:cNvPr>
          <p:cNvSpPr>
            <a:spLocks noGrp="1"/>
          </p:cNvSpPr>
          <p:nvPr>
            <p:ph type="title"/>
          </p:nvPr>
        </p:nvSpPr>
        <p:spPr/>
        <p:txBody>
          <a:bodyPr/>
          <a:lstStyle/>
          <a:p>
            <a:r>
              <a:rPr lang="en-US" altLang="ja-JP" dirty="0">
                <a:latin typeface="游明朝"/>
                <a:ea typeface="游明朝"/>
              </a:rPr>
              <a:t>9-2</a:t>
            </a:r>
            <a:r>
              <a:rPr lang="ja-JP" altLang="en-US">
                <a:latin typeface="游明朝"/>
                <a:ea typeface="游明朝"/>
              </a:rPr>
              <a:t>．貴社プロジェクトにおける主な開発実績・規模</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8B639E57-6C45-D486-FC22-658B6E834F72}"/>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9E076605-40FA-BE6D-C3BD-97FC6AAA1C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44</a:t>
            </a:fld>
            <a:endParaRPr kumimoji="1" lang="ja-JP" altLang="en-US" sz="700"/>
          </a:p>
        </p:txBody>
      </p:sp>
      <p:graphicFrame>
        <p:nvGraphicFramePr>
          <p:cNvPr id="4" name="表 3">
            <a:extLst>
              <a:ext uri="{FF2B5EF4-FFF2-40B4-BE49-F238E27FC236}">
                <a16:creationId xmlns:a16="http://schemas.microsoft.com/office/drawing/2014/main" id="{10B7530C-5627-A931-FBE6-AB25A3E9021E}"/>
              </a:ext>
            </a:extLst>
          </p:cNvPr>
          <p:cNvGraphicFramePr>
            <a:graphicFrameLocks noGrp="1"/>
          </p:cNvGraphicFramePr>
          <p:nvPr>
            <p:extLst>
              <p:ext uri="{D42A27DB-BD31-4B8C-83A1-F6EECF244321}">
                <p14:modId xmlns:p14="http://schemas.microsoft.com/office/powerpoint/2010/main" val="570584471"/>
              </p:ext>
            </p:extLst>
          </p:nvPr>
        </p:nvGraphicFramePr>
        <p:xfrm>
          <a:off x="575999" y="890863"/>
          <a:ext cx="11041198" cy="5427972"/>
        </p:xfrm>
        <a:graphic>
          <a:graphicData uri="http://schemas.openxmlformats.org/drawingml/2006/table">
            <a:tbl>
              <a:tblPr/>
              <a:tblGrid>
                <a:gridCol w="510701">
                  <a:extLst>
                    <a:ext uri="{9D8B030D-6E8A-4147-A177-3AD203B41FA5}">
                      <a16:colId xmlns:a16="http://schemas.microsoft.com/office/drawing/2014/main" val="20000"/>
                    </a:ext>
                  </a:extLst>
                </a:gridCol>
                <a:gridCol w="7122959">
                  <a:extLst>
                    <a:ext uri="{9D8B030D-6E8A-4147-A177-3AD203B41FA5}">
                      <a16:colId xmlns:a16="http://schemas.microsoft.com/office/drawing/2014/main" val="20002"/>
                    </a:ext>
                  </a:extLst>
                </a:gridCol>
                <a:gridCol w="1981386">
                  <a:extLst>
                    <a:ext uri="{9D8B030D-6E8A-4147-A177-3AD203B41FA5}">
                      <a16:colId xmlns:a16="http://schemas.microsoft.com/office/drawing/2014/main" val="20003"/>
                    </a:ext>
                  </a:extLst>
                </a:gridCol>
                <a:gridCol w="1426152">
                  <a:extLst>
                    <a:ext uri="{9D8B030D-6E8A-4147-A177-3AD203B41FA5}">
                      <a16:colId xmlns:a16="http://schemas.microsoft.com/office/drawing/2014/main" val="20005"/>
                    </a:ext>
                  </a:extLst>
                </a:gridCol>
              </a:tblGrid>
              <a:tr h="28304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製品倉庫システム再構築</a:t>
                      </a:r>
                      <a:endParaRPr kumimoji="1" lang="en-US" altLang="ja-JP"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70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化学工場システム再構築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化学工場にて稼働する製造工程に関わる４つのシステムを統合。レガシー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Oracle11g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Oracle12c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へのバージョンアップ対応も実施。</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Java</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ASP,VB6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170</a:t>
                      </a:r>
                      <a:r>
                        <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endPar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60929575"/>
                  </a:ext>
                </a:extLst>
              </a:tr>
              <a:tr h="787300">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千葉品質管理システム再構築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化学工場にて稼働する品質管理に関わる５つのシステムを統合。レガシー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85136893"/>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千葉運転管理システム構築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VB6</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37695766"/>
                  </a:ext>
                </a:extLst>
              </a:tr>
              <a:tr h="75639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黒本ポータル構築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日々の点検業務で使用している点検表（冊子＜黒本＞）を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Web</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化</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29561531"/>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6</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IFC</a:t>
                      </a: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生産委託ポータル構築</a:t>
                      </a:r>
                      <a:endPar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indent="0">
                        <a:spcBef>
                          <a:spcPts val="0"/>
                        </a:spcBef>
                        <a:buFont typeface="Wingdings" panose="05000000000000000000" pitchFamily="2" charset="2"/>
                        <a:buNone/>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製造委託先に向けて、購買発注</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オーダー</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業務をポータルシステムを構築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21</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441170676"/>
                  </a:ext>
                </a:extLst>
              </a:tr>
            </a:tbl>
          </a:graphicData>
        </a:graphic>
      </p:graphicFrame>
    </p:spTree>
    <p:extLst>
      <p:ext uri="{BB962C8B-B14F-4D97-AF65-F5344CB8AC3E}">
        <p14:creationId xmlns:p14="http://schemas.microsoft.com/office/powerpoint/2010/main" val="39048287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latin typeface="游明朝"/>
                <a:ea typeface="游明朝"/>
              </a:rPr>
              <a:t>9-3</a:t>
            </a:r>
            <a:r>
              <a:rPr lang="ja-JP" altLang="en-US">
                <a:latin typeface="游明朝"/>
                <a:ea typeface="游明朝"/>
              </a:rPr>
              <a:t>．貴社</a:t>
            </a:r>
            <a:r>
              <a:rPr kumimoji="1" lang="ja-JP" altLang="en-US">
                <a:latin typeface="游明朝"/>
                <a:ea typeface="游明朝"/>
              </a:rPr>
              <a:t>プロジェクトにおける主な開発実績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3928069585"/>
              </p:ext>
            </p:extLst>
          </p:nvPr>
        </p:nvGraphicFramePr>
        <p:xfrm>
          <a:off x="575400" y="864000"/>
          <a:ext cx="11041200" cy="514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8096880">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海外企業情報取得アプリケーション開発</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期末報奨金計算機能再構築</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黒本電子化に伴うシステム開発（黒本ポータル）</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3886788"/>
                  </a:ext>
                </a:extLst>
              </a:tr>
              <a:tr h="396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販売系業務システム</a:t>
                      </a:r>
                      <a:r>
                        <a:rPr kumimoji="1" lang="en-US" altLang="ja-JP" sz="1400">
                          <a:latin typeface="+mn-ea"/>
                          <a:ea typeface="+mn-ea"/>
                        </a:rPr>
                        <a:t>HUB</a:t>
                      </a:r>
                      <a:r>
                        <a:rPr kumimoji="1" lang="ja-JP" altLang="en-US" sz="1400">
                          <a:latin typeface="+mn-ea"/>
                          <a:ea typeface="+mn-ea"/>
                        </a:rPr>
                        <a:t>処理　　</a:t>
                      </a:r>
                      <a:r>
                        <a:rPr kumimoji="1" lang="en-US" altLang="ja-JP" sz="1400">
                          <a:latin typeface="+mn-ea"/>
                          <a:ea typeface="+mn-ea"/>
                        </a:rPr>
                        <a:t>※</a:t>
                      </a:r>
                      <a:r>
                        <a:rPr kumimoji="1" lang="ja-JP" altLang="en-US" sz="1400">
                          <a:latin typeface="+mn-ea"/>
                          <a:ea typeface="+mn-ea"/>
                        </a:rPr>
                        <a:t>構築中</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千葉運転管理システム構築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MES</a:t>
                      </a:r>
                      <a:r>
                        <a:rPr kumimoji="1" lang="ja-JP" altLang="en-US" sz="1400">
                          <a:latin typeface="+mn-ea"/>
                          <a:ea typeface="+mn-ea"/>
                        </a:rPr>
                        <a:t>システム更新</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出光資格総合サイト構築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2433833"/>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IFC</a:t>
                      </a:r>
                      <a:r>
                        <a:rPr kumimoji="1" lang="ja-JP" altLang="en-US" sz="1400">
                          <a:latin typeface="+mn-ea"/>
                          <a:ea typeface="+mn-ea"/>
                        </a:rPr>
                        <a:t>生産委託ポータル構築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560635"/>
                  </a:ext>
                </a:extLst>
              </a:tr>
              <a:tr h="396000">
                <a:tc>
                  <a:txBody>
                    <a:bodyPr/>
                    <a:lstStyle/>
                    <a:p>
                      <a:pPr algn="ctr"/>
                      <a:r>
                        <a:rPr kumimoji="1" lang="en-US" altLang="ja-JP" sz="1400">
                          <a:latin typeface="+mn-ea"/>
                          <a:ea typeface="+mn-ea"/>
                        </a:rPr>
                        <a:t>9</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海上入出荷計画業務システム構築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latin typeface="+mn-ea"/>
                          <a:ea typeface="+mn-ea"/>
                        </a:rPr>
                        <a:t>10</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製品倉庫システム再構築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latin typeface="+mn-ea"/>
                          <a:ea typeface="+mn-ea"/>
                        </a:rPr>
                        <a:t>11</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化学工場システム再構築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741956"/>
                  </a:ext>
                </a:extLst>
              </a:tr>
              <a:tr h="396000">
                <a:tc>
                  <a:txBody>
                    <a:bodyPr/>
                    <a:lstStyle/>
                    <a:p>
                      <a:pPr algn="ctr"/>
                      <a:r>
                        <a:rPr kumimoji="1" lang="en-US" altLang="ja-JP" sz="1400">
                          <a:latin typeface="+mn-ea"/>
                          <a:ea typeface="+mn-ea"/>
                        </a:rPr>
                        <a:t>12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千葉品質管理システム再構築</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bl>
          </a:graphicData>
        </a:graphic>
      </p:graphicFrame>
      <p:sp>
        <p:nvSpPr>
          <p:cNvPr id="4" name="フッター プレースホルダー 3">
            <a:extLst>
              <a:ext uri="{FF2B5EF4-FFF2-40B4-BE49-F238E27FC236}">
                <a16:creationId xmlns:a16="http://schemas.microsoft.com/office/drawing/2014/main" id="{C20C1020-3505-41DC-7906-BBA4A8E00907}"/>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D506ABF-FC2A-CFCC-D248-D2C7F03A9DB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45</a:t>
            </a:fld>
            <a:endParaRPr kumimoji="1" lang="ja-JP" altLang="en-US" sz="700"/>
          </a:p>
        </p:txBody>
      </p:sp>
    </p:spTree>
    <p:extLst>
      <p:ext uri="{BB962C8B-B14F-4D97-AF65-F5344CB8AC3E}">
        <p14:creationId xmlns:p14="http://schemas.microsoft.com/office/powerpoint/2010/main" val="12694969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latin typeface="游明朝"/>
                <a:ea typeface="游明朝"/>
              </a:rPr>
              <a:t>9-4</a:t>
            </a:r>
            <a:r>
              <a:rPr lang="ja-JP" altLang="en-US">
                <a:latin typeface="游明朝"/>
                <a:ea typeface="游明朝"/>
              </a:rPr>
              <a:t>．貴社</a:t>
            </a:r>
            <a:r>
              <a:rPr kumimoji="1" lang="ja-JP" altLang="en-US">
                <a:latin typeface="游明朝"/>
                <a:ea typeface="游明朝"/>
              </a:rPr>
              <a:t>プロジェクトにおける主な運用保守実績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4073754085"/>
              </p:ext>
            </p:extLst>
          </p:nvPr>
        </p:nvGraphicFramePr>
        <p:xfrm>
          <a:off x="576000" y="864000"/>
          <a:ext cx="11041200" cy="5544000"/>
        </p:xfrm>
        <a:graphic>
          <a:graphicData uri="http://schemas.openxmlformats.org/drawingml/2006/table">
            <a:tbl>
              <a:tblPr firstRow="1" bandRow="1">
                <a:tableStyleId>{5C22544A-7EE6-4342-B048-85BDC9FD1C3A}</a:tableStyleId>
              </a:tblPr>
              <a:tblGrid>
                <a:gridCol w="736079">
                  <a:extLst>
                    <a:ext uri="{9D8B030D-6E8A-4147-A177-3AD203B41FA5}">
                      <a16:colId xmlns:a16="http://schemas.microsoft.com/office/drawing/2014/main" val="788139100"/>
                    </a:ext>
                  </a:extLst>
                </a:gridCol>
                <a:gridCol w="8096881">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solidFill>
                            <a:schemeClr val="tx1"/>
                          </a:solidFill>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海外企業情報サイトおよび債権管理等</a:t>
                      </a:r>
                      <a:r>
                        <a:rPr kumimoji="1" lang="en-US" altLang="ja-JP" sz="1400">
                          <a:solidFill>
                            <a:schemeClr val="tx1"/>
                          </a:solidFill>
                          <a:latin typeface="+mn-ea"/>
                          <a:ea typeface="+mn-ea"/>
                        </a:rPr>
                        <a:t>Excel</a:t>
                      </a:r>
                      <a:r>
                        <a:rPr kumimoji="1" lang="ja-JP" altLang="en-US" sz="1400">
                          <a:solidFill>
                            <a:schemeClr val="tx1"/>
                          </a:solidFill>
                          <a:latin typeface="+mn-ea"/>
                          <a:ea typeface="+mn-ea"/>
                        </a:rPr>
                        <a:t>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solidFill>
                            <a:schemeClr val="tx1"/>
                          </a:solidFill>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黒本ポータル保守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solidFill>
                            <a:schemeClr val="tx1"/>
                          </a:solidFill>
                          <a:latin typeface="+mn-ea"/>
                          <a:ea typeface="+mn-ea"/>
                        </a:rPr>
                        <a:t>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期末報奨金システム保守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201294"/>
                  </a:ext>
                </a:extLst>
              </a:tr>
              <a:tr h="396000">
                <a:tc>
                  <a:txBody>
                    <a:bodyPr/>
                    <a:lstStyle/>
                    <a:p>
                      <a:pPr algn="ctr"/>
                      <a:r>
                        <a:rPr kumimoji="1" lang="en-US" altLang="ja-JP" sz="1400">
                          <a:solidFill>
                            <a:schemeClr val="tx1"/>
                          </a:solidFill>
                          <a:latin typeface="+mn-ea"/>
                          <a:ea typeface="+mn-ea"/>
                        </a:rPr>
                        <a:t>4</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IFC</a:t>
                      </a:r>
                      <a:r>
                        <a:rPr kumimoji="1" lang="ja-JP" altLang="en-US" sz="1400">
                          <a:solidFill>
                            <a:schemeClr val="tx1"/>
                          </a:solidFill>
                          <a:latin typeface="+mn-ea"/>
                          <a:ea typeface="+mn-ea"/>
                        </a:rPr>
                        <a:t>生産委託ポータル保守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750968"/>
                  </a:ext>
                </a:extLst>
              </a:tr>
              <a:tr h="396000">
                <a:tc>
                  <a:txBody>
                    <a:bodyPr/>
                    <a:lstStyle/>
                    <a:p>
                      <a:pPr algn="ctr"/>
                      <a:r>
                        <a:rPr kumimoji="1" lang="en-US" altLang="ja-JP" sz="1400">
                          <a:solidFill>
                            <a:schemeClr val="tx1"/>
                          </a:solidFill>
                          <a:latin typeface="+mn-ea"/>
                          <a:ea typeface="+mn-ea"/>
                        </a:rPr>
                        <a:t>5</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MES</a:t>
                      </a:r>
                      <a:r>
                        <a:rPr kumimoji="1" lang="ja-JP" altLang="en-US" sz="1400">
                          <a:solidFill>
                            <a:schemeClr val="tx1"/>
                          </a:solidFill>
                          <a:latin typeface="+mn-ea"/>
                          <a:ea typeface="+mn-ea"/>
                        </a:rPr>
                        <a:t>システム 保守・運用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solidFill>
                            <a:schemeClr val="tx1"/>
                          </a:solidFill>
                          <a:latin typeface="+mn-ea"/>
                          <a:ea typeface="+mn-ea"/>
                        </a:rPr>
                        <a:t>6</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千葉運転管理システム保守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solidFill>
                            <a:schemeClr val="tx1"/>
                          </a:solidFill>
                          <a:latin typeface="+mn-ea"/>
                          <a:ea typeface="+mn-ea"/>
                        </a:rPr>
                        <a:t>7</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海外バーコードシステム保守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solidFill>
                            <a:schemeClr val="tx1"/>
                          </a:solidFill>
                          <a:latin typeface="+mn-ea"/>
                          <a:ea typeface="+mn-ea"/>
                        </a:rPr>
                        <a:t>8</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出光総合資格サイト保守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162782"/>
                  </a:ext>
                </a:extLst>
              </a:tr>
              <a:tr h="396000">
                <a:tc>
                  <a:txBody>
                    <a:bodyPr/>
                    <a:lstStyle/>
                    <a:p>
                      <a:pPr algn="ctr"/>
                      <a:r>
                        <a:rPr kumimoji="1" lang="en-US" altLang="ja-JP" sz="1400">
                          <a:solidFill>
                            <a:schemeClr val="tx1"/>
                          </a:solidFill>
                          <a:latin typeface="+mn-ea"/>
                          <a:ea typeface="+mn-ea"/>
                        </a:rPr>
                        <a:t>9</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研究所・工場系システム保守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solidFill>
                            <a:schemeClr val="tx1"/>
                          </a:solidFill>
                          <a:latin typeface="+mn-ea"/>
                          <a:ea typeface="+mn-ea"/>
                        </a:rPr>
                        <a:t>10</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業務変革四課</a:t>
                      </a:r>
                      <a:r>
                        <a:rPr kumimoji="1" lang="en-US" altLang="ja-JP" sz="1400">
                          <a:solidFill>
                            <a:schemeClr val="tx1"/>
                          </a:solidFill>
                          <a:latin typeface="+mn-ea"/>
                          <a:ea typeface="+mn-ea"/>
                        </a:rPr>
                        <a:t>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solidFill>
                            <a:schemeClr val="tx1"/>
                          </a:solidFill>
                          <a:latin typeface="+mn-ea"/>
                          <a:ea typeface="+mn-ea"/>
                        </a:rPr>
                        <a:t>11</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海上入出荷計画業務システム保守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r h="396000">
                <a:tc>
                  <a:txBody>
                    <a:bodyPr/>
                    <a:lstStyle/>
                    <a:p>
                      <a:pPr algn="ctr"/>
                      <a:r>
                        <a:rPr kumimoji="1" lang="en-US" altLang="ja-JP" sz="1400">
                          <a:solidFill>
                            <a:schemeClr val="tx1"/>
                          </a:solidFill>
                          <a:latin typeface="+mn-ea"/>
                          <a:ea typeface="+mn-ea"/>
                        </a:rPr>
                        <a:t>12</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IDM</a:t>
                      </a:r>
                      <a:r>
                        <a:rPr kumimoji="1" lang="ja-JP" altLang="en-US" sz="1400">
                          <a:solidFill>
                            <a:schemeClr val="tx1"/>
                          </a:solidFill>
                          <a:latin typeface="+mn-ea"/>
                          <a:ea typeface="+mn-ea"/>
                        </a:rPr>
                        <a:t>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ﾃﾞｼﾞﾀﾙﾌﾟﾗｯﾄﾌｫｰﾑ課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072616"/>
                  </a:ext>
                </a:extLst>
              </a:tr>
              <a:tr h="396000">
                <a:tc>
                  <a:txBody>
                    <a:bodyPr/>
                    <a:lstStyle/>
                    <a:p>
                      <a:pPr algn="ctr"/>
                      <a:r>
                        <a:rPr kumimoji="1" lang="en-US" altLang="ja-JP" sz="1400">
                          <a:solidFill>
                            <a:schemeClr val="tx1"/>
                          </a:solidFill>
                          <a:latin typeface="+mn-ea"/>
                          <a:ea typeface="+mn-ea"/>
                        </a:rPr>
                        <a:t>13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次期</a:t>
                      </a:r>
                      <a:r>
                        <a:rPr kumimoji="1" lang="en-US" altLang="ja-JP" sz="1400">
                          <a:solidFill>
                            <a:schemeClr val="tx1"/>
                          </a:solidFill>
                          <a:latin typeface="+mn-ea"/>
                          <a:ea typeface="+mn-ea"/>
                        </a:rPr>
                        <a:t>POS 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販売部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1200483"/>
                  </a:ext>
                </a:extLst>
              </a:tr>
            </a:tbl>
          </a:graphicData>
        </a:graphic>
      </p:graphicFrame>
      <p:sp>
        <p:nvSpPr>
          <p:cNvPr id="4" name="フッター プレースホルダー 3">
            <a:extLst>
              <a:ext uri="{FF2B5EF4-FFF2-40B4-BE49-F238E27FC236}">
                <a16:creationId xmlns:a16="http://schemas.microsoft.com/office/drawing/2014/main" id="{98E6C16D-46A3-7266-8BC4-518CBBE2D829}"/>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06A08549-0263-F7BF-CFC6-BCFA3F717A09}"/>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46</a:t>
            </a:fld>
            <a:endParaRPr kumimoji="1" lang="ja-JP" altLang="en-US" sz="700"/>
          </a:p>
        </p:txBody>
      </p:sp>
    </p:spTree>
    <p:extLst>
      <p:ext uri="{BB962C8B-B14F-4D97-AF65-F5344CB8AC3E}">
        <p14:creationId xmlns:p14="http://schemas.microsoft.com/office/powerpoint/2010/main" val="14906675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latin typeface="游明朝"/>
                <a:ea typeface="游明朝"/>
              </a:rPr>
              <a:t>9-5</a:t>
            </a:r>
            <a:r>
              <a:rPr lang="ja-JP" altLang="en-US">
                <a:latin typeface="游明朝"/>
                <a:ea typeface="游明朝"/>
              </a:rPr>
              <a:t>．貴社</a:t>
            </a:r>
            <a:r>
              <a:rPr kumimoji="1" lang="ja-JP" altLang="en-US">
                <a:latin typeface="游明朝"/>
                <a:ea typeface="游明朝"/>
              </a:rPr>
              <a:t>プロジェクトにおける主な派遣・準委任参画実績</a:t>
            </a:r>
          </a:p>
        </p:txBody>
      </p:sp>
      <p:sp>
        <p:nvSpPr>
          <p:cNvPr id="3" name="フッター プレースホルダー 3">
            <a:extLst>
              <a:ext uri="{FF2B5EF4-FFF2-40B4-BE49-F238E27FC236}">
                <a16:creationId xmlns:a16="http://schemas.microsoft.com/office/drawing/2014/main" id="{79C659F8-0B0A-2447-6154-EEAA1DE2E7E0}"/>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BCFA1A0-6C61-2C00-25FA-43F3CAFDA25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47</a:t>
            </a:fld>
            <a:endParaRPr kumimoji="1" lang="ja-JP" altLang="en-US" sz="700"/>
          </a:p>
        </p:txBody>
      </p:sp>
      <p:graphicFrame>
        <p:nvGraphicFramePr>
          <p:cNvPr id="4" name="表 4">
            <a:extLst>
              <a:ext uri="{FF2B5EF4-FFF2-40B4-BE49-F238E27FC236}">
                <a16:creationId xmlns:a16="http://schemas.microsoft.com/office/drawing/2014/main" id="{935529FD-45E0-889D-F8CA-D3A26146E78C}"/>
              </a:ext>
            </a:extLst>
          </p:cNvPr>
          <p:cNvGraphicFramePr>
            <a:graphicFrameLocks noGrp="1"/>
          </p:cNvGraphicFramePr>
          <p:nvPr>
            <p:extLst>
              <p:ext uri="{D42A27DB-BD31-4B8C-83A1-F6EECF244321}">
                <p14:modId xmlns:p14="http://schemas.microsoft.com/office/powerpoint/2010/main" val="3267135493"/>
              </p:ext>
            </p:extLst>
          </p:nvPr>
        </p:nvGraphicFramePr>
        <p:xfrm>
          <a:off x="576000" y="864000"/>
          <a:ext cx="11041200" cy="370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7419544">
                  <a:extLst>
                    <a:ext uri="{9D8B030D-6E8A-4147-A177-3AD203B41FA5}">
                      <a16:colId xmlns:a16="http://schemas.microsoft.com/office/drawing/2014/main" val="3829192621"/>
                    </a:ext>
                  </a:extLst>
                </a:gridCol>
                <a:gridCol w="2885576">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統合マスタ基盤構築支援</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7974386"/>
                  </a:ext>
                </a:extLst>
              </a:tr>
              <a:tr h="396000">
                <a:tc>
                  <a:txBody>
                    <a:bodyPr/>
                    <a:lstStyle/>
                    <a:p>
                      <a:pPr algn="ctr"/>
                      <a:r>
                        <a:rPr kumimoji="1" lang="en-US" altLang="ja-JP" sz="1400">
                          <a:latin typeface="+mn-ea"/>
                          <a:ea typeface="+mn-ea"/>
                        </a:rPr>
                        <a:t>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燃料油</a:t>
                      </a:r>
                      <a:r>
                        <a:rPr kumimoji="1" lang="en-US" altLang="ja-JP" sz="1400">
                          <a:latin typeface="+mn-ea"/>
                          <a:ea typeface="+mn-ea"/>
                        </a:rPr>
                        <a:t>ADF</a:t>
                      </a:r>
                      <a:r>
                        <a:rPr kumimoji="1" lang="ja-JP" altLang="en-US" sz="1400">
                          <a:latin typeface="+mn-ea"/>
                          <a:ea typeface="+mn-ea"/>
                        </a:rPr>
                        <a:t>関連開発支援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560948"/>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Azure</a:t>
                      </a:r>
                      <a:r>
                        <a:rPr kumimoji="1" lang="ja-JP" altLang="en-US" sz="1400">
                          <a:latin typeface="+mn-ea"/>
                          <a:ea typeface="+mn-ea"/>
                        </a:rPr>
                        <a:t> </a:t>
                      </a:r>
                      <a:r>
                        <a:rPr kumimoji="1" lang="en-US" altLang="ja-JP" sz="1400">
                          <a:latin typeface="+mn-ea"/>
                          <a:ea typeface="+mn-ea"/>
                        </a:rPr>
                        <a:t>Synapse</a:t>
                      </a:r>
                      <a:r>
                        <a:rPr kumimoji="1" lang="ja-JP" altLang="en-US" sz="1400">
                          <a:latin typeface="+mn-ea"/>
                          <a:ea typeface="+mn-ea"/>
                        </a:rPr>
                        <a:t>基盤運用支援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087585"/>
                  </a:ext>
                </a:extLst>
              </a:tr>
              <a:tr h="540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業務変革四課における開発・保守・運用に関わる業務</a:t>
                      </a:r>
                      <a:endParaRPr kumimoji="1" lang="en-US" altLang="ja-JP" sz="1400">
                        <a:latin typeface="+mn-ea"/>
                        <a:ea typeface="+mn-ea"/>
                      </a:endParaRPr>
                    </a:p>
                    <a:p>
                      <a:pPr algn="l"/>
                      <a:r>
                        <a:rPr kumimoji="1" lang="ja-JP" altLang="en-US" sz="1400">
                          <a:latin typeface="+mn-ea"/>
                          <a:ea typeface="+mn-ea"/>
                        </a:rPr>
                        <a:t>　</a:t>
                      </a:r>
                      <a:r>
                        <a:rPr kumimoji="1" lang="en-US" altLang="ja-JP" sz="1400">
                          <a:latin typeface="+mn-ea"/>
                          <a:ea typeface="+mn-ea"/>
                        </a:rPr>
                        <a:t>※</a:t>
                      </a:r>
                      <a:r>
                        <a:rPr kumimoji="1" lang="ja-JP" altLang="en-US" sz="1400">
                          <a:latin typeface="+mn-ea"/>
                          <a:ea typeface="+mn-ea"/>
                        </a:rPr>
                        <a:t>青井・河名・植木・滝田が貴社社員代替として従事</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DX</a:t>
                      </a:r>
                      <a:r>
                        <a:rPr kumimoji="1" lang="ja-JP" altLang="en-US" sz="1400">
                          <a:latin typeface="+mn-ea"/>
                          <a:ea typeface="+mn-ea"/>
                        </a:rPr>
                        <a:t>業務支援、</a:t>
                      </a:r>
                      <a:r>
                        <a:rPr kumimoji="1" lang="en-US" altLang="ja-JP" sz="1400">
                          <a:latin typeface="+mn-ea"/>
                          <a:ea typeface="+mn-ea"/>
                        </a:rPr>
                        <a:t>SDM</a:t>
                      </a:r>
                      <a:r>
                        <a:rPr kumimoji="1" lang="ja-JP" altLang="en-US" sz="1400">
                          <a:latin typeface="+mn-ea"/>
                          <a:ea typeface="+mn-ea"/>
                        </a:rPr>
                        <a:t>くん新機能開発要員</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19316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生成</a:t>
                      </a:r>
                      <a:r>
                        <a:rPr kumimoji="1" lang="en-US" altLang="ja-JP" sz="1400">
                          <a:latin typeface="+mn-ea"/>
                          <a:ea typeface="+mn-ea"/>
                        </a:rPr>
                        <a:t>AI</a:t>
                      </a:r>
                      <a:r>
                        <a:rPr kumimoji="1" lang="ja-JP" altLang="en-US" sz="1400">
                          <a:latin typeface="+mn-ea"/>
                          <a:ea typeface="+mn-ea"/>
                        </a:rPr>
                        <a:t>に関するシステム開発支援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DX</a:t>
                      </a:r>
                      <a:r>
                        <a:rPr kumimoji="1" lang="ja-JP" altLang="en-US" sz="1400">
                          <a:latin typeface="+mn-ea"/>
                          <a:ea typeface="+mn-ea"/>
                        </a:rPr>
                        <a:t>技術戦略課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743070"/>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操業システム革新グループ業務支援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生産技術センター</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bl>
          </a:graphicData>
        </a:graphic>
      </p:graphicFrame>
    </p:spTree>
    <p:extLst>
      <p:ext uri="{BB962C8B-B14F-4D97-AF65-F5344CB8AC3E}">
        <p14:creationId xmlns:p14="http://schemas.microsoft.com/office/powerpoint/2010/main" val="28199551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担当：川名翔太、髙浦祐朗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 syouta.kawana@system-exe.jp</a:t>
            </a:r>
          </a:p>
          <a:p>
            <a:r>
              <a:rPr lang="ja-JP" altLang="en-US"/>
              <a:t>　　　</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D4756C-7B3C-4F66-935C-AB37B76449CD}">
  <ds:schemaRefs>
    <ds:schemaRef ds:uri="http://schemas.microsoft.com/office/2006/metadata/properties"/>
    <ds:schemaRef ds:uri="http://purl.org/dc/elements/1.1/"/>
    <ds:schemaRef ds:uri="http://www.w3.org/XML/1998/namespace"/>
    <ds:schemaRef ds:uri="http://schemas.microsoft.com/office/2006/documentManagement/types"/>
    <ds:schemaRef ds:uri="2fd442da-66a9-4fa6-ba31-eb0d54ad1381"/>
    <ds:schemaRef ds:uri="http://schemas.openxmlformats.org/package/2006/metadata/core-properties"/>
    <ds:schemaRef ds:uri="http://purl.org/dc/terms/"/>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92690238-5BF0-45DB-B7AC-D7CFA02270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B460F5-A58E-476A-A48E-BDB354E063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TotalTime>
  <Words>6417</Words>
  <Application>Microsoft Office PowerPoint</Application>
  <PresentationFormat>Widescreen</PresentationFormat>
  <Paragraphs>1291</Paragraphs>
  <Slides>49</Slides>
  <Notes>15</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テーマ</vt:lpstr>
      <vt:lpstr>PowerPoint Presentation</vt:lpstr>
      <vt:lpstr>PowerPoint Presentation</vt:lpstr>
      <vt:lpstr>目次</vt:lpstr>
      <vt:lpstr>ご提案のポイント</vt:lpstr>
      <vt:lpstr>1-1．現状の課題と実現したい姿(EXEの理解)</vt:lpstr>
      <vt:lpstr>1-2．システム化の範囲</vt:lpstr>
      <vt:lpstr>1-3．ご提案方針</vt:lpstr>
      <vt:lpstr>1-4．弊社の強み</vt:lpstr>
      <vt:lpstr>開発範囲</vt:lpstr>
      <vt:lpstr>2-1．システム構成図(案)</vt:lpstr>
      <vt:lpstr>2-2．想定機能一覧(案)</vt:lpstr>
      <vt:lpstr>ウォーターフォール開発の場合の進め方</vt:lpstr>
      <vt:lpstr>3-1．ウォーターフォール開発の作業概要</vt:lpstr>
      <vt:lpstr>3-2．「出光開発標準」への理解</vt:lpstr>
      <vt:lpstr>3-3．品質目標</vt:lpstr>
      <vt:lpstr>3-4．品質管理①（レビュー）</vt:lpstr>
      <vt:lpstr>3-5．品質管理②（製造・テスト）</vt:lpstr>
      <vt:lpstr>3-6．スケジュール案(ウォーターフォール開発の場合)</vt:lpstr>
      <vt:lpstr>3-7．会議体(ウォーターフォール開発の場合)</vt:lpstr>
      <vt:lpstr>3-8．体制(ウォーターフォール開発の場合)</vt:lpstr>
      <vt:lpstr>3-9．役割および責任・権限(ウォーターフォール開発の場合)</vt:lpstr>
      <vt:lpstr>3-10．納品物(ウォーターフォール開発の場合)</vt:lpstr>
      <vt:lpstr>アジャイル開発の場合の進め方</vt:lpstr>
      <vt:lpstr>4-1．スクラム開発の進め方</vt:lpstr>
      <vt:lpstr>4-2．スクラム開発を行う上での管理項目</vt:lpstr>
      <vt:lpstr>4-3．スケジュール案(アジャイル開発の場合)</vt:lpstr>
      <vt:lpstr>4-4．スプリント計画(案)</vt:lpstr>
      <vt:lpstr>4-5．会議体(アジャイル開発の場合)</vt:lpstr>
      <vt:lpstr>4-6．体制(アジャイル開発の場合)</vt:lpstr>
      <vt:lpstr>4-7．役割および責任・権限(アジャイル開発の場合)</vt:lpstr>
      <vt:lpstr>4-8．納品物(アジャイル開発の場合)</vt:lpstr>
      <vt:lpstr>全体スケジュール</vt:lpstr>
      <vt:lpstr>5-1．全体スケジュール(RFP抜粋)</vt:lpstr>
      <vt:lpstr>お見積り</vt:lpstr>
      <vt:lpstr>6-1．お見積り(ウォーターフォール開発の場合)</vt:lpstr>
      <vt:lpstr>6-2．お見積り(アジャイル開発の場合)</vt:lpstr>
      <vt:lpstr>お見積り(運用・保守)</vt:lpstr>
      <vt:lpstr>7-1．お見積り（運用・保守）</vt:lpstr>
      <vt:lpstr>7-2．サポート内容</vt:lpstr>
      <vt:lpstr>お見積り前提条件</vt:lpstr>
      <vt:lpstr>8-1．お見積り前提条件(ウォーターフォール開発の場合)</vt:lpstr>
      <vt:lpstr>8-2．お見積り前提条件(アジャイル開発の場合)</vt:lpstr>
      <vt:lpstr>弊社情報</vt:lpstr>
      <vt:lpstr>9-1．弊社概要①</vt:lpstr>
      <vt:lpstr>9-2．貴社プロジェクトにおける主な開発実績・規模</vt:lpstr>
      <vt:lpstr>9-3．貴社プロジェクトにおける主な開発実績</vt:lpstr>
      <vt:lpstr>9-4．貴社プロジェクトにおける主な運用保守実績</vt:lpstr>
      <vt:lpstr>9-5．貴社プロジェクトにおける主な派遣・準委任参画実績</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川名翔太</cp:lastModifiedBy>
  <cp:revision>3</cp:revision>
  <dcterms:created xsi:type="dcterms:W3CDTF">2021-02-05T06:36:21Z</dcterms:created>
  <dcterms:modified xsi:type="dcterms:W3CDTF">2025-11-25T12:16:08Z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