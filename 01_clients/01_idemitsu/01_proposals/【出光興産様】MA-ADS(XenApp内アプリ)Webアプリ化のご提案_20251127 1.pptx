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40"/>
  </p:notesMasterIdLst>
  <p:handoutMasterIdLst>
    <p:handoutMasterId r:id="rId41"/>
  </p:handoutMasterIdLst>
  <p:sldIdLst>
    <p:sldId id="714" r:id="rId5"/>
    <p:sldId id="828" r:id="rId6"/>
    <p:sldId id="1303" r:id="rId7"/>
    <p:sldId id="1081" r:id="rId8"/>
    <p:sldId id="1317" r:id="rId9"/>
    <p:sldId id="748" r:id="rId10"/>
    <p:sldId id="1271" r:id="rId11"/>
    <p:sldId id="799" r:id="rId12"/>
    <p:sldId id="1306" r:id="rId13"/>
    <p:sldId id="1307" r:id="rId14"/>
    <p:sldId id="1296" r:id="rId15"/>
    <p:sldId id="1259" r:id="rId16"/>
    <p:sldId id="1262" r:id="rId17"/>
    <p:sldId id="1278" r:id="rId18"/>
    <p:sldId id="1279" r:id="rId19"/>
    <p:sldId id="1280" r:id="rId20"/>
    <p:sldId id="1300" r:id="rId21"/>
    <p:sldId id="1302" r:id="rId22"/>
    <p:sldId id="1102" r:id="rId23"/>
    <p:sldId id="1260" r:id="rId24"/>
    <p:sldId id="1288" r:id="rId25"/>
    <p:sldId id="1313" r:id="rId26"/>
    <p:sldId id="1258" r:id="rId27"/>
    <p:sldId id="1314" r:id="rId28"/>
    <p:sldId id="1277" r:id="rId29"/>
    <p:sldId id="1267" r:id="rId30"/>
    <p:sldId id="1315" r:id="rId31"/>
    <p:sldId id="1096" r:id="rId32"/>
    <p:sldId id="1316" r:id="rId33"/>
    <p:sldId id="1268" r:id="rId34"/>
    <p:sldId id="1282" r:id="rId35"/>
    <p:sldId id="851" r:id="rId36"/>
    <p:sldId id="843" r:id="rId37"/>
    <p:sldId id="853" r:id="rId38"/>
    <p:sldId id="656"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DBDD"/>
    <a:srgbClr val="143C3E"/>
    <a:srgbClr val="0875B8"/>
    <a:srgbClr val="702942"/>
    <a:srgbClr val="FF0000"/>
    <a:srgbClr val="FFA347"/>
    <a:srgbClr val="CFEBFD"/>
    <a:srgbClr val="3D9599"/>
    <a:srgbClr val="0D0DFF"/>
    <a:srgbClr val="E0E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5CE592-E354-4B23-A506-FCFF2277DA46}" v="3" dt="2025-11-27T00:23:23.390"/>
    <p1510:client id="{55685074-0627-42C0-8122-31FFDB8E8093}" v="141" dt="2025-11-27T00:39:41.04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藤崎弘己" userId="S::hiroki.fujisaki@system-exe.jp::97985075-4269-41e0-a361-178600f3b69c" providerId="AD" clId="Web-{55685074-0627-42C0-8122-31FFDB8E8093}"/>
    <pc:docChg chg="modSld">
      <pc:chgData name="藤崎弘己" userId="S::hiroki.fujisaki@system-exe.jp::97985075-4269-41e0-a361-178600f3b69c" providerId="AD" clId="Web-{55685074-0627-42C0-8122-31FFDB8E8093}" dt="2025-11-27T00:39:39.080" v="123"/>
      <pc:docMkLst>
        <pc:docMk/>
      </pc:docMkLst>
      <pc:sldChg chg="modSp">
        <pc:chgData name="藤崎弘己" userId="S::hiroki.fujisaki@system-exe.jp::97985075-4269-41e0-a361-178600f3b69c" providerId="AD" clId="Web-{55685074-0627-42C0-8122-31FFDB8E8093}" dt="2025-11-27T00:39:26.893" v="121"/>
        <pc:sldMkLst>
          <pc:docMk/>
          <pc:sldMk cId="2965150872" sldId="1306"/>
        </pc:sldMkLst>
        <pc:graphicFrameChg chg="mod modGraphic">
          <ac:chgData name="藤崎弘己" userId="S::hiroki.fujisaki@system-exe.jp::97985075-4269-41e0-a361-178600f3b69c" providerId="AD" clId="Web-{55685074-0627-42C0-8122-31FFDB8E8093}" dt="2025-11-27T00:39:26.893" v="121"/>
          <ac:graphicFrameMkLst>
            <pc:docMk/>
            <pc:sldMk cId="2965150872" sldId="1306"/>
            <ac:graphicFrameMk id="6" creationId="{AD3B78A0-1783-449D-845D-A46B0767A3FB}"/>
          </ac:graphicFrameMkLst>
        </pc:graphicFrameChg>
      </pc:sldChg>
      <pc:sldChg chg="modSp">
        <pc:chgData name="藤崎弘己" userId="S::hiroki.fujisaki@system-exe.jp::97985075-4269-41e0-a361-178600f3b69c" providerId="AD" clId="Web-{55685074-0627-42C0-8122-31FFDB8E8093}" dt="2025-11-27T00:39:39.080" v="123"/>
        <pc:sldMkLst>
          <pc:docMk/>
          <pc:sldMk cId="612894937" sldId="1307"/>
        </pc:sldMkLst>
        <pc:graphicFrameChg chg="mod modGraphic">
          <ac:chgData name="藤崎弘己" userId="S::hiroki.fujisaki@system-exe.jp::97985075-4269-41e0-a361-178600f3b69c" providerId="AD" clId="Web-{55685074-0627-42C0-8122-31FFDB8E8093}" dt="2025-11-27T00:39:39.080" v="123"/>
          <ac:graphicFrameMkLst>
            <pc:docMk/>
            <pc:sldMk cId="612894937" sldId="1307"/>
            <ac:graphicFrameMk id="5" creationId="{13375678-1B1E-A341-AD11-5BA401916E73}"/>
          </ac:graphicFrameMkLst>
        </pc:graphicFrameChg>
      </pc:sldChg>
    </pc:docChg>
  </pc:docChgLst>
  <pc:docChgLst>
    <pc:chgData name="川名翔太" userId="902a1c22-1104-4fc2-ba41-1ee47f89ed5e" providerId="ADAL" clId="{6867D7A5-5D1E-496A-A323-39A84F6ED60A}"/>
    <pc:docChg chg="undo redo custSel addSld delSld modSld sldOrd">
      <pc:chgData name="川名翔太" userId="902a1c22-1104-4fc2-ba41-1ee47f89ed5e" providerId="ADAL" clId="{6867D7A5-5D1E-496A-A323-39A84F6ED60A}" dt="2025-11-27T00:26:07.169" v="1355" actId="1076"/>
      <pc:docMkLst>
        <pc:docMk/>
      </pc:docMkLst>
      <pc:sldChg chg="modSp mod">
        <pc:chgData name="川名翔太" userId="902a1c22-1104-4fc2-ba41-1ee47f89ed5e" providerId="ADAL" clId="{6867D7A5-5D1E-496A-A323-39A84F6ED60A}" dt="2025-11-27T00:02:42.114" v="1050" actId="20577"/>
        <pc:sldMkLst>
          <pc:docMk/>
          <pc:sldMk cId="3201888243" sldId="714"/>
        </pc:sldMkLst>
        <pc:spChg chg="mod">
          <ac:chgData name="川名翔太" userId="902a1c22-1104-4fc2-ba41-1ee47f89ed5e" providerId="ADAL" clId="{6867D7A5-5D1E-496A-A323-39A84F6ED60A}" dt="2025-11-27T00:02:42.114" v="1050" actId="20577"/>
          <ac:spMkLst>
            <pc:docMk/>
            <pc:sldMk cId="3201888243" sldId="714"/>
            <ac:spMk id="4" creationId="{00000000-0000-0000-0000-000000000000}"/>
          </ac:spMkLst>
        </pc:spChg>
      </pc:sldChg>
      <pc:sldChg chg="modSp mod">
        <pc:chgData name="川名翔太" userId="902a1c22-1104-4fc2-ba41-1ee47f89ed5e" providerId="ADAL" clId="{6867D7A5-5D1E-496A-A323-39A84F6ED60A}" dt="2025-11-27T00:18:58.362" v="1272" actId="20577"/>
        <pc:sldMkLst>
          <pc:docMk/>
          <pc:sldMk cId="3652970849" sldId="748"/>
        </pc:sldMkLst>
        <pc:spChg chg="mod">
          <ac:chgData name="川名翔太" userId="902a1c22-1104-4fc2-ba41-1ee47f89ed5e" providerId="ADAL" clId="{6867D7A5-5D1E-496A-A323-39A84F6ED60A}" dt="2025-11-27T00:18:58.362" v="1272" actId="20577"/>
          <ac:spMkLst>
            <pc:docMk/>
            <pc:sldMk cId="3652970849" sldId="748"/>
            <ac:spMk id="9" creationId="{4F922117-B8AC-081B-F1F3-E41DC8D89502}"/>
          </ac:spMkLst>
        </pc:spChg>
        <pc:spChg chg="mod">
          <ac:chgData name="川名翔太" userId="902a1c22-1104-4fc2-ba41-1ee47f89ed5e" providerId="ADAL" clId="{6867D7A5-5D1E-496A-A323-39A84F6ED60A}" dt="2025-11-27T00:16:36.399" v="1257" actId="20577"/>
          <ac:spMkLst>
            <pc:docMk/>
            <pc:sldMk cId="3652970849" sldId="748"/>
            <ac:spMk id="18" creationId="{74C5ECC8-6370-00D0-6ACA-48D524919FEB}"/>
          </ac:spMkLst>
        </pc:spChg>
      </pc:sldChg>
      <pc:sldChg chg="addSp modSp mod">
        <pc:chgData name="川名翔太" userId="902a1c22-1104-4fc2-ba41-1ee47f89ed5e" providerId="ADAL" clId="{6867D7A5-5D1E-496A-A323-39A84F6ED60A}" dt="2025-11-27T00:21:37.784" v="1309" actId="20577"/>
        <pc:sldMkLst>
          <pc:docMk/>
          <pc:sldMk cId="3703131428" sldId="1102"/>
        </pc:sldMkLst>
        <pc:spChg chg="add mod">
          <ac:chgData name="川名翔太" userId="902a1c22-1104-4fc2-ba41-1ee47f89ed5e" providerId="ADAL" clId="{6867D7A5-5D1E-496A-A323-39A84F6ED60A}" dt="2025-11-27T00:21:37.784" v="1309" actId="20577"/>
          <ac:spMkLst>
            <pc:docMk/>
            <pc:sldMk cId="3703131428" sldId="1102"/>
            <ac:spMk id="3" creationId="{C10C8913-A01C-93F4-658E-D7AA5687EFB8}"/>
          </ac:spMkLst>
        </pc:spChg>
      </pc:sldChg>
      <pc:sldChg chg="modSp mod">
        <pc:chgData name="川名翔太" userId="902a1c22-1104-4fc2-ba41-1ee47f89ed5e" providerId="ADAL" clId="{6867D7A5-5D1E-496A-A323-39A84F6ED60A}" dt="2025-11-27T00:23:23.390" v="1351"/>
        <pc:sldMkLst>
          <pc:docMk/>
          <pc:sldMk cId="1201671730" sldId="1277"/>
        </pc:sldMkLst>
        <pc:spChg chg="mod">
          <ac:chgData name="川名翔太" userId="902a1c22-1104-4fc2-ba41-1ee47f89ed5e" providerId="ADAL" clId="{6867D7A5-5D1E-496A-A323-39A84F6ED60A}" dt="2025-11-27T00:23:23.390" v="1351"/>
          <ac:spMkLst>
            <pc:docMk/>
            <pc:sldMk cId="1201671730" sldId="1277"/>
            <ac:spMk id="2" creationId="{71E70C52-B1E4-2C7E-5EB0-A0277EC9EC59}"/>
          </ac:spMkLst>
        </pc:spChg>
        <pc:graphicFrameChg chg="mod modGraphic">
          <ac:chgData name="川名翔太" userId="902a1c22-1104-4fc2-ba41-1ee47f89ed5e" providerId="ADAL" clId="{6867D7A5-5D1E-496A-A323-39A84F6ED60A}" dt="2025-11-27T00:22:56.543" v="1335" actId="20577"/>
          <ac:graphicFrameMkLst>
            <pc:docMk/>
            <pc:sldMk cId="1201671730" sldId="1277"/>
            <ac:graphicFrameMk id="5" creationId="{FB050304-A886-0018-86D5-A1E10AFD94CE}"/>
          </ac:graphicFrameMkLst>
        </pc:graphicFrameChg>
      </pc:sldChg>
      <pc:sldChg chg="del">
        <pc:chgData name="川名翔太" userId="902a1c22-1104-4fc2-ba41-1ee47f89ed5e" providerId="ADAL" clId="{6867D7A5-5D1E-496A-A323-39A84F6ED60A}" dt="2025-11-27T00:20:48.227" v="1273" actId="47"/>
        <pc:sldMkLst>
          <pc:docMk/>
          <pc:sldMk cId="800476108" sldId="1286"/>
        </pc:sldMkLst>
      </pc:sldChg>
      <pc:sldChg chg="modSp mod">
        <pc:chgData name="川名翔太" userId="902a1c22-1104-4fc2-ba41-1ee47f89ed5e" providerId="ADAL" clId="{6867D7A5-5D1E-496A-A323-39A84F6ED60A}" dt="2025-11-27T00:26:07.169" v="1355" actId="1076"/>
        <pc:sldMkLst>
          <pc:docMk/>
          <pc:sldMk cId="2710341476" sldId="1300"/>
        </pc:sldMkLst>
        <pc:spChg chg="mod">
          <ac:chgData name="川名翔太" userId="902a1c22-1104-4fc2-ba41-1ee47f89ed5e" providerId="ADAL" clId="{6867D7A5-5D1E-496A-A323-39A84F6ED60A}" dt="2025-11-27T00:25:50.892" v="1353" actId="1076"/>
          <ac:spMkLst>
            <pc:docMk/>
            <pc:sldMk cId="2710341476" sldId="1300"/>
            <ac:spMk id="33" creationId="{54171B8D-725E-7BB0-C608-5CD4D46954EE}"/>
          </ac:spMkLst>
        </pc:spChg>
        <pc:spChg chg="mod">
          <ac:chgData name="川名翔太" userId="902a1c22-1104-4fc2-ba41-1ee47f89ed5e" providerId="ADAL" clId="{6867D7A5-5D1E-496A-A323-39A84F6ED60A}" dt="2025-11-27T00:26:01.509" v="1354" actId="1076"/>
          <ac:spMkLst>
            <pc:docMk/>
            <pc:sldMk cId="2710341476" sldId="1300"/>
            <ac:spMk id="43" creationId="{75BCFBBE-C2C9-67F5-0F62-877DDFD8002D}"/>
          </ac:spMkLst>
        </pc:spChg>
        <pc:spChg chg="mod">
          <ac:chgData name="川名翔太" userId="902a1c22-1104-4fc2-ba41-1ee47f89ed5e" providerId="ADAL" clId="{6867D7A5-5D1E-496A-A323-39A84F6ED60A}" dt="2025-11-27T00:26:07.169" v="1355" actId="1076"/>
          <ac:spMkLst>
            <pc:docMk/>
            <pc:sldMk cId="2710341476" sldId="1300"/>
            <ac:spMk id="47" creationId="{72E0FC0A-A746-9878-EAD4-DD638DF17BD8}"/>
          </ac:spMkLst>
        </pc:spChg>
      </pc:sldChg>
      <pc:sldChg chg="modSp mod">
        <pc:chgData name="川名翔太" userId="902a1c22-1104-4fc2-ba41-1ee47f89ed5e" providerId="ADAL" clId="{6867D7A5-5D1E-496A-A323-39A84F6ED60A}" dt="2025-11-27T00:20:53.345" v="1275" actId="20577"/>
        <pc:sldMkLst>
          <pc:docMk/>
          <pc:sldMk cId="2965150872" sldId="1306"/>
        </pc:sldMkLst>
        <pc:spChg chg="mod">
          <ac:chgData name="川名翔太" userId="902a1c22-1104-4fc2-ba41-1ee47f89ed5e" providerId="ADAL" clId="{6867D7A5-5D1E-496A-A323-39A84F6ED60A}" dt="2025-11-27T00:20:53.345" v="1275" actId="20577"/>
          <ac:spMkLst>
            <pc:docMk/>
            <pc:sldMk cId="2965150872" sldId="1306"/>
            <ac:spMk id="2" creationId="{715A1977-001A-47E2-A226-93AAC587563E}"/>
          </ac:spMkLst>
        </pc:spChg>
      </pc:sldChg>
      <pc:sldChg chg="modSp mod">
        <pc:chgData name="川名翔太" userId="902a1c22-1104-4fc2-ba41-1ee47f89ed5e" providerId="ADAL" clId="{6867D7A5-5D1E-496A-A323-39A84F6ED60A}" dt="2025-11-27T00:20:56.867" v="1277" actId="20577"/>
        <pc:sldMkLst>
          <pc:docMk/>
          <pc:sldMk cId="612894937" sldId="1307"/>
        </pc:sldMkLst>
        <pc:spChg chg="mod">
          <ac:chgData name="川名翔太" userId="902a1c22-1104-4fc2-ba41-1ee47f89ed5e" providerId="ADAL" clId="{6867D7A5-5D1E-496A-A323-39A84F6ED60A}" dt="2025-11-27T00:20:56.867" v="1277" actId="20577"/>
          <ac:spMkLst>
            <pc:docMk/>
            <pc:sldMk cId="612894937" sldId="1307"/>
            <ac:spMk id="2" creationId="{715A1977-001A-47E2-A226-93AAC587563E}"/>
          </ac:spMkLst>
        </pc:spChg>
      </pc:sldChg>
      <pc:sldChg chg="modSp mod">
        <pc:chgData name="川名翔太" userId="902a1c22-1104-4fc2-ba41-1ee47f89ed5e" providerId="ADAL" clId="{6867D7A5-5D1E-496A-A323-39A84F6ED60A}" dt="2025-11-27T00:23:19.390" v="1350" actId="20577"/>
        <pc:sldMkLst>
          <pc:docMk/>
          <pc:sldMk cId="3254451929" sldId="1314"/>
        </pc:sldMkLst>
        <pc:spChg chg="mod">
          <ac:chgData name="川名翔太" userId="902a1c22-1104-4fc2-ba41-1ee47f89ed5e" providerId="ADAL" clId="{6867D7A5-5D1E-496A-A323-39A84F6ED60A}" dt="2025-11-27T00:23:19.390" v="1350" actId="20577"/>
          <ac:spMkLst>
            <pc:docMk/>
            <pc:sldMk cId="3254451929" sldId="1314"/>
            <ac:spMk id="3" creationId="{AA851CD9-9913-3762-7174-D4567AFEEBE5}"/>
          </ac:spMkLst>
        </pc:spChg>
      </pc:sldChg>
      <pc:sldChg chg="modSp mod">
        <pc:chgData name="川名翔太" userId="902a1c22-1104-4fc2-ba41-1ee47f89ed5e" providerId="ADAL" clId="{6867D7A5-5D1E-496A-A323-39A84F6ED60A}" dt="2025-11-27T00:24:45.447" v="1352" actId="6549"/>
        <pc:sldMkLst>
          <pc:docMk/>
          <pc:sldMk cId="3362232684" sldId="1317"/>
        </pc:sldMkLst>
        <pc:graphicFrameChg chg="mod modGraphic">
          <ac:chgData name="川名翔太" userId="902a1c22-1104-4fc2-ba41-1ee47f89ed5e" providerId="ADAL" clId="{6867D7A5-5D1E-496A-A323-39A84F6ED60A}" dt="2025-11-27T00:24:45.447" v="1352" actId="6549"/>
          <ac:graphicFrameMkLst>
            <pc:docMk/>
            <pc:sldMk cId="3362232684" sldId="1317"/>
            <ac:graphicFrameMk id="9" creationId="{4A9CABBF-068A-2C68-31C2-F90EC167BBE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2025/11/27</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2025/11/27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a:t>
            </a:fld>
            <a:endParaRPr kumimoji="1" lang="ja-JP" altLang="en-US"/>
          </a:p>
        </p:txBody>
      </p:sp>
    </p:spTree>
    <p:extLst>
      <p:ext uri="{BB962C8B-B14F-4D97-AF65-F5344CB8AC3E}">
        <p14:creationId xmlns:p14="http://schemas.microsoft.com/office/powerpoint/2010/main" val="4150802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9CAE2-3C9D-F9EE-A531-0B71AC8E8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A2BFA3-1F3A-C433-6A43-690BBC5E32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D09237-7797-718A-8066-2A7B59C066DB}"/>
              </a:ext>
            </a:extLst>
          </p:cNvPr>
          <p:cNvSpPr>
            <a:spLocks noGrp="1"/>
          </p:cNvSpPr>
          <p:nvPr>
            <p:ph type="body" idx="1"/>
          </p:nvPr>
        </p:nvSpPr>
        <p:spPr/>
        <p:txBody>
          <a:bodyPr/>
          <a:lstStyle/>
          <a:p>
            <a:pPr defTabSz="1261743">
              <a:defRPr/>
            </a:pPr>
            <a:endParaRPr lang="ja-JP" altLang="en-US" sz="1700">
              <a:cs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1750A765-415D-87F8-E313-D2B6376C672F}"/>
              </a:ext>
            </a:extLst>
          </p:cNvPr>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286576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40A11-4B00-B180-C4D4-AF5706F2B3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F8E7FF-1895-FDA4-F76E-F639757125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B1BABAB-0959-C12F-C9C8-F6D24B401C1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6EC510B-82B0-406A-C22D-9D5991140952}"/>
              </a:ext>
            </a:extLst>
          </p:cNvPr>
          <p:cNvSpPr>
            <a:spLocks noGrp="1"/>
          </p:cNvSpPr>
          <p:nvPr>
            <p:ph type="sldNum" sz="quarter" idx="10"/>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1493189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1B8B9-4F96-C3CF-8D55-58ACE5F28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97BF1A-FA4D-7134-CD01-1082F2D8BE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7C135AB-4F5A-9CA6-9123-DC408A3AB0E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F6F0D38-84B0-9EBB-822A-593E496BF917}"/>
              </a:ext>
            </a:extLst>
          </p:cNvPr>
          <p:cNvSpPr>
            <a:spLocks noGrp="1"/>
          </p:cNvSpPr>
          <p:nvPr>
            <p:ph type="sldNum" sz="quarter" idx="10"/>
          </p:nvPr>
        </p:nvSpPr>
        <p:spPr/>
        <p:txBody>
          <a:bodyPr/>
          <a:lstStyle/>
          <a:p>
            <a:fld id="{BC57080C-E8FE-C146-B769-6100616B65A7}" type="slidenum">
              <a:rPr kumimoji="1" lang="ja-JP" altLang="en-US" smtClean="0"/>
              <a:t>13</a:t>
            </a:fld>
            <a:endParaRPr kumimoji="1" lang="ja-JP" altLang="en-US"/>
          </a:p>
        </p:txBody>
      </p:sp>
    </p:spTree>
    <p:extLst>
      <p:ext uri="{BB962C8B-B14F-4D97-AF65-F5344CB8AC3E}">
        <p14:creationId xmlns:p14="http://schemas.microsoft.com/office/powerpoint/2010/main" val="37631850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3E9C-A1F8-E8E3-8F77-04914748DF0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8D0A09-9C09-256A-C10E-0764053A83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FB68F2E-4C7E-6D50-357D-A5BC12EDE34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5DB83EB-CC40-957E-A549-54767B5D20FD}"/>
              </a:ext>
            </a:extLst>
          </p:cNvPr>
          <p:cNvSpPr>
            <a:spLocks noGrp="1"/>
          </p:cNvSpPr>
          <p:nvPr>
            <p:ph type="sldNum" sz="quarter" idx="10"/>
          </p:nvPr>
        </p:nvSpPr>
        <p:spPr/>
        <p:txBody>
          <a:bodyPr/>
          <a:lstStyle/>
          <a:p>
            <a:fld id="{BC57080C-E8FE-C146-B769-6100616B65A7}" type="slidenum">
              <a:rPr kumimoji="1" lang="ja-JP" altLang="en-US" smtClean="0"/>
              <a:t>14</a:t>
            </a:fld>
            <a:endParaRPr kumimoji="1" lang="ja-JP" altLang="en-US"/>
          </a:p>
        </p:txBody>
      </p:sp>
    </p:spTree>
    <p:extLst>
      <p:ext uri="{BB962C8B-B14F-4D97-AF65-F5344CB8AC3E}">
        <p14:creationId xmlns:p14="http://schemas.microsoft.com/office/powerpoint/2010/main" val="3713499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35CC-2589-E386-3EAA-0BA4017752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8FD728-2660-4C59-4FB4-2684748F0A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413325-01D7-4ED9-EEAD-7ADDDC5F87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91FB5EA-0D20-F6A5-4644-FB70E59F65A8}"/>
              </a:ext>
            </a:extLst>
          </p:cNvPr>
          <p:cNvSpPr>
            <a:spLocks noGrp="1"/>
          </p:cNvSpPr>
          <p:nvPr>
            <p:ph type="sldNum" sz="quarter" idx="10"/>
          </p:nvPr>
        </p:nvSpPr>
        <p:spPr/>
        <p:txBody>
          <a:bodyPr/>
          <a:lstStyle/>
          <a:p>
            <a:fld id="{BC57080C-E8FE-C146-B769-6100616B65A7}" type="slidenum">
              <a:rPr kumimoji="1" lang="ja-JP" altLang="en-US" smtClean="0"/>
              <a:t>15</a:t>
            </a:fld>
            <a:endParaRPr kumimoji="1" lang="ja-JP" altLang="en-US"/>
          </a:p>
        </p:txBody>
      </p:sp>
    </p:spTree>
    <p:extLst>
      <p:ext uri="{BB962C8B-B14F-4D97-AF65-F5344CB8AC3E}">
        <p14:creationId xmlns:p14="http://schemas.microsoft.com/office/powerpoint/2010/main" val="3800163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0699A-F823-451B-398F-F6A7E284E0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DB3F60-8A0C-B063-871E-0CCBCAD0B8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1F0327-518C-AABB-4DCD-1CDC6E66332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DBD151C-06CC-D810-70AD-67AC842EAC4F}"/>
              </a:ext>
            </a:extLst>
          </p:cNvPr>
          <p:cNvSpPr>
            <a:spLocks noGrp="1"/>
          </p:cNvSpPr>
          <p:nvPr>
            <p:ph type="sldNum" sz="quarter" idx="10"/>
          </p:nvPr>
        </p:nvSpPr>
        <p:spPr/>
        <p:txBody>
          <a:bodyPr/>
          <a:lstStyle/>
          <a:p>
            <a:fld id="{BC57080C-E8FE-C146-B769-6100616B65A7}" type="slidenum">
              <a:rPr kumimoji="1" lang="ja-JP" altLang="en-US" smtClean="0"/>
              <a:t>16</a:t>
            </a:fld>
            <a:endParaRPr kumimoji="1" lang="ja-JP" altLang="en-US"/>
          </a:p>
        </p:txBody>
      </p:sp>
    </p:spTree>
    <p:extLst>
      <p:ext uri="{BB962C8B-B14F-4D97-AF65-F5344CB8AC3E}">
        <p14:creationId xmlns:p14="http://schemas.microsoft.com/office/powerpoint/2010/main" val="166949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6306F-7F3E-5315-7A43-135EE73D31C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228EF8-CB16-8BB1-740F-7C018794EDA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2102404-61CF-7F97-8E96-24900986FFF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8D64705-B143-DBE2-8642-BBFB8F7386A1}"/>
              </a:ext>
            </a:extLst>
          </p:cNvPr>
          <p:cNvSpPr>
            <a:spLocks noGrp="1"/>
          </p:cNvSpPr>
          <p:nvPr>
            <p:ph type="sldNum" sz="quarter" idx="10"/>
          </p:nvPr>
        </p:nvSpPr>
        <p:spPr/>
        <p:txBody>
          <a:bodyPr/>
          <a:lstStyle/>
          <a:p>
            <a:fld id="{BC57080C-E8FE-C146-B769-6100616B65A7}" type="slidenum">
              <a:rPr kumimoji="1" lang="ja-JP" altLang="en-US" smtClean="0"/>
              <a:t>17</a:t>
            </a:fld>
            <a:endParaRPr kumimoji="1" lang="ja-JP" altLang="en-US"/>
          </a:p>
        </p:txBody>
      </p:sp>
    </p:spTree>
    <p:extLst>
      <p:ext uri="{BB962C8B-B14F-4D97-AF65-F5344CB8AC3E}">
        <p14:creationId xmlns:p14="http://schemas.microsoft.com/office/powerpoint/2010/main" val="839444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20</a:t>
            </a:fld>
            <a:endParaRPr kumimoji="1" lang="ja-JP" altLang="en-US"/>
          </a:p>
        </p:txBody>
      </p:sp>
    </p:spTree>
    <p:extLst>
      <p:ext uri="{BB962C8B-B14F-4D97-AF65-F5344CB8AC3E}">
        <p14:creationId xmlns:p14="http://schemas.microsoft.com/office/powerpoint/2010/main" val="2642091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22</a:t>
            </a:fld>
            <a:endParaRPr kumimoji="1" lang="ja-JP" altLang="en-US"/>
          </a:p>
        </p:txBody>
      </p:sp>
    </p:spTree>
    <p:extLst>
      <p:ext uri="{BB962C8B-B14F-4D97-AF65-F5344CB8AC3E}">
        <p14:creationId xmlns:p14="http://schemas.microsoft.com/office/powerpoint/2010/main" val="3332138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33</a:t>
            </a:fld>
            <a:endParaRPr kumimoji="1" lang="ja-JP" altLang="en-US"/>
          </a:p>
        </p:txBody>
      </p:sp>
    </p:spTree>
    <p:extLst>
      <p:ext uri="{BB962C8B-B14F-4D97-AF65-F5344CB8AC3E}">
        <p14:creationId xmlns:p14="http://schemas.microsoft.com/office/powerpoint/2010/main" val="18758832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2024/11/14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2024/11/14</a:t>
            </a:r>
            <a:endParaRPr lang="en-US"/>
          </a:p>
        </p:txBody>
      </p:sp>
      <p:sp>
        <p:nvSpPr>
          <p:cNvPr id="4" name="Footer Placeholder 3"/>
          <p:cNvSpPr>
            <a:spLocks noGrp="1"/>
          </p:cNvSpPr>
          <p:nvPr>
            <p:ph type="ftr" sz="quarter" idx="11"/>
          </p:nvPr>
        </p:nvSpPr>
        <p:spPr/>
        <p:txBody>
          <a:bodyPr/>
          <a:lstStyle/>
          <a:p>
            <a:r>
              <a:rPr lang="en-US"/>
              <a:t>Copyright ©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2024/11/14</a:t>
            </a:r>
            <a:endParaRPr lang="en-US"/>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a:spLocks/>
          </p:cNvSpPr>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userDrawn="1"/>
        </p:nvSpPr>
        <p:spPr>
          <a:xfrm>
            <a:off x="576002"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a:spLocks/>
          </p:cNvSpPr>
          <p:nvPr/>
        </p:nvSpPr>
        <p:spPr>
          <a:xfrm>
            <a:off x="3552074"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a:spLocks/>
          </p:cNvSpPr>
          <p:nvPr/>
        </p:nvSpPr>
        <p:spPr>
          <a:xfrm>
            <a:off x="6549036"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a:spLocks/>
          </p:cNvSpPr>
          <p:nvPr/>
        </p:nvSpPr>
        <p:spPr>
          <a:xfrm>
            <a:off x="9552003"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3552075"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6549037"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9552004"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3552073"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3552073"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6549035"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6549035"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9552002"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9552002"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576001"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576001"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3552074"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3552074"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6549036"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6549036"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9552003"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9552003"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2024/11/14</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074671"/>
          </a:xfrm>
          <a:prstGeom prst="rect">
            <a:avLst/>
          </a:prstGeom>
          <a:noFill/>
        </p:spPr>
        <p:txBody>
          <a:bodyPr wrap="square" rtlCol="0">
            <a:spAutoFit/>
          </a:bodyPr>
          <a:lstStyle/>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コンテンツのみ">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37654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9"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2024/11/14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94" r:id="rId26"/>
    <p:sldLayoutId id="2147483806" r:id="rId27"/>
  </p:sldLayoutIdLst>
  <p:hf sldNum="0" hdr="0" dt="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サブタイトル 3"/>
          <p:cNvSpPr>
            <a:spLocks noGrp="1"/>
          </p:cNvSpPr>
          <p:nvPr>
            <p:ph type="subTitle" idx="1"/>
          </p:nvPr>
        </p:nvSpPr>
        <p:spPr>
          <a:xfrm>
            <a:off x="480001" y="2660492"/>
            <a:ext cx="9245890" cy="1563508"/>
          </a:xfrm>
        </p:spPr>
        <p:txBody>
          <a:bodyPr>
            <a:normAutofit/>
          </a:bodyPr>
          <a:lstStyle/>
          <a:p>
            <a:r>
              <a:rPr lang="en-US" altLang="ja-JP" sz="3200" dirty="0"/>
              <a:t>MA-ADS(XenApp</a:t>
            </a:r>
            <a:r>
              <a:rPr lang="ja-JP" altLang="en-US" sz="3200" dirty="0"/>
              <a:t>内アプリ</a:t>
            </a:r>
            <a:r>
              <a:rPr lang="en-US" altLang="ja-JP" sz="3200" dirty="0"/>
              <a:t>)</a:t>
            </a:r>
            <a:r>
              <a:rPr lang="ja-JP" altLang="en-US" sz="3200" dirty="0"/>
              <a:t> </a:t>
            </a:r>
            <a:r>
              <a:rPr lang="en-US" altLang="ja-JP" sz="3200" dirty="0"/>
              <a:t>Web</a:t>
            </a:r>
            <a:r>
              <a:rPr lang="ja-JP" altLang="en-US" sz="3200" dirty="0"/>
              <a:t>アプリ化</a:t>
            </a:r>
            <a:endParaRPr lang="en-US" altLang="ja-JP" sz="3200" dirty="0"/>
          </a:p>
          <a:p>
            <a:r>
              <a:rPr lang="ja-JP" altLang="en-US" sz="3600" dirty="0"/>
              <a:t>ご提案</a:t>
            </a:r>
            <a:r>
              <a:rPr lang="en-US" altLang="ja-JP" sz="3600" dirty="0"/>
              <a:t>(</a:t>
            </a:r>
            <a:r>
              <a:rPr lang="ja-JP" altLang="en-US" sz="3600" dirty="0"/>
              <a:t>第</a:t>
            </a:r>
            <a:r>
              <a:rPr lang="en-US" altLang="ja-JP" sz="3600"/>
              <a:t>1.1</a:t>
            </a:r>
            <a:r>
              <a:rPr lang="ja-JP" altLang="en-US" sz="3600"/>
              <a:t>版）</a:t>
            </a:r>
            <a:endParaRPr kumimoji="1" lang="ja-JP" altLang="en-US" sz="3600"/>
          </a:p>
        </p:txBody>
      </p:sp>
      <p:sp>
        <p:nvSpPr>
          <p:cNvPr id="5" name="テキスト プレースホルダー 4"/>
          <p:cNvSpPr>
            <a:spLocks noGrp="1"/>
          </p:cNvSpPr>
          <p:nvPr>
            <p:ph type="body" sz="quarter" idx="13"/>
          </p:nvPr>
        </p:nvSpPr>
        <p:spPr/>
        <p:txBody>
          <a:bodyPr/>
          <a:lstStyle/>
          <a:p>
            <a:r>
              <a:rPr lang="ja-JP" altLang="en-US"/>
              <a:t>システムソリューション本部</a:t>
            </a:r>
            <a:endParaRPr kumimoji="1" lang="ja-JP" altLang="en-US"/>
          </a:p>
        </p:txBody>
      </p:sp>
      <p:sp>
        <p:nvSpPr>
          <p:cNvPr id="7" name="テキスト プレースホルダー 6"/>
          <p:cNvSpPr>
            <a:spLocks noGrp="1"/>
          </p:cNvSpPr>
          <p:nvPr>
            <p:ph type="body" sz="quarter" idx="14"/>
          </p:nvPr>
        </p:nvSpPr>
        <p:spPr/>
        <p:txBody>
          <a:bodyPr/>
          <a:lstStyle/>
          <a:p>
            <a:r>
              <a:rPr kumimoji="1" lang="ja-JP" altLang="en-US"/>
              <a:t>出光興産株式会社　御中</a:t>
            </a:r>
            <a:endParaRPr kumimoji="1" lang="en-US" altLang="ja-JP"/>
          </a:p>
        </p:txBody>
      </p:sp>
      <p:sp>
        <p:nvSpPr>
          <p:cNvPr id="8" name="テキスト プレースホルダー 4">
            <a:extLst>
              <a:ext uri="{FF2B5EF4-FFF2-40B4-BE49-F238E27FC236}">
                <a16:creationId xmlns:a16="http://schemas.microsoft.com/office/drawing/2014/main" id="{107CDF1A-DF69-D1B9-6346-1200847D9738}"/>
              </a:ext>
            </a:extLst>
          </p:cNvPr>
          <p:cNvSpPr txBox="1">
            <a:spLocks/>
          </p:cNvSpPr>
          <p:nvPr/>
        </p:nvSpPr>
        <p:spPr>
          <a:xfrm>
            <a:off x="9407999" y="3936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t>2025/11/27</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a:extLst>
              <a:ext uri="{FF2B5EF4-FFF2-40B4-BE49-F238E27FC236}">
                <a16:creationId xmlns:a16="http://schemas.microsoft.com/office/drawing/2014/main" id="{2E1CE15F-6188-D4DE-439B-CEAF8146E0C0}"/>
              </a:ext>
            </a:extLst>
          </p:cNvPr>
          <p:cNvSpPr txBox="1">
            <a:spLocks/>
          </p:cNvSpPr>
          <p:nvPr/>
        </p:nvSpPr>
        <p:spPr>
          <a:xfrm>
            <a:off x="336000" y="353451"/>
            <a:ext cx="11856000" cy="40392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l"/>
            </a:pPr>
            <a:r>
              <a:rPr lang="ja-JP" altLang="en-US"/>
              <a:t>本書は、貴社よりご提供をいただきました下記の資料の内容および、</a:t>
            </a:r>
            <a:r>
              <a:rPr lang="en-US" altLang="ja-JP"/>
              <a:t>11</a:t>
            </a:r>
            <a:r>
              <a:rPr lang="ja-JP" altLang="en-US"/>
              <a:t>月</a:t>
            </a:r>
            <a:r>
              <a:rPr lang="en-US" altLang="ja-JP"/>
              <a:t>7</a:t>
            </a:r>
            <a:r>
              <a:rPr lang="ja-JP" altLang="en-US"/>
              <a:t>日のお打合せの内容を基にしたご提案書となります。</a:t>
            </a:r>
          </a:p>
          <a:p>
            <a:pPr marL="720000" lvl="1" indent="-342900">
              <a:lnSpc>
                <a:spcPct val="100000"/>
              </a:lnSpc>
            </a:pPr>
            <a:r>
              <a:rPr lang="en-US" altLang="ja-JP" sz="1600">
                <a:latin typeface="+mn-ea"/>
              </a:rPr>
              <a:t>MA-ADS_.NET,VB_</a:t>
            </a:r>
            <a:r>
              <a:rPr lang="ja-JP" altLang="en-US" sz="1600">
                <a:latin typeface="+mn-ea"/>
              </a:rPr>
              <a:t>アプリ一覧</a:t>
            </a:r>
            <a:r>
              <a:rPr lang="en-US" altLang="ja-JP" sz="1600">
                <a:latin typeface="+mn-ea"/>
              </a:rPr>
              <a:t>.xlsx</a:t>
            </a:r>
          </a:p>
        </p:txBody>
      </p:sp>
      <p:sp>
        <p:nvSpPr>
          <p:cNvPr id="2" name="フッター プレースホルダー 1">
            <a:extLst>
              <a:ext uri="{FF2B5EF4-FFF2-40B4-BE49-F238E27FC236}">
                <a16:creationId xmlns:a16="http://schemas.microsoft.com/office/drawing/2014/main" id="{2D2AEE21-AA83-075A-3CD6-7EDAC406B400}"/>
              </a:ext>
            </a:extLst>
          </p:cNvPr>
          <p:cNvSpPr>
            <a:spLocks noGrp="1"/>
          </p:cNvSpPr>
          <p:nvPr>
            <p:ph type="ftr" sz="quarter" idx="11"/>
          </p:nvPr>
        </p:nvSpPr>
        <p:spPr/>
        <p:txBody>
          <a:bodyPr/>
          <a:lstStyle/>
          <a:p>
            <a:r>
              <a:rPr lang="en-US"/>
              <a:t>Copyright © SystemEXE,Inc All Rights Reserved.</a:t>
            </a:r>
          </a:p>
        </p:txBody>
      </p:sp>
      <p:sp>
        <p:nvSpPr>
          <p:cNvPr id="3" name="スライド番号プレースホルダー 3">
            <a:extLst>
              <a:ext uri="{FF2B5EF4-FFF2-40B4-BE49-F238E27FC236}">
                <a16:creationId xmlns:a16="http://schemas.microsoft.com/office/drawing/2014/main" id="{55F151F7-AB07-3B47-A78C-6238199A735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28515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0DDB73-3DAE-E585-CFA4-6B4062515D26}"/>
              </a:ext>
            </a:extLst>
          </p:cNvPr>
          <p:cNvSpPr>
            <a:spLocks noGrp="1"/>
          </p:cNvSpPr>
          <p:nvPr>
            <p:ph type="title"/>
          </p:nvPr>
        </p:nvSpPr>
        <p:spPr/>
        <p:txBody>
          <a:bodyPr/>
          <a:lstStyle/>
          <a:p>
            <a:r>
              <a:rPr kumimoji="1" lang="ja-JP" altLang="en-US"/>
              <a:t>目次</a:t>
            </a:r>
          </a:p>
        </p:txBody>
      </p:sp>
      <p:sp>
        <p:nvSpPr>
          <p:cNvPr id="3" name="フッター プレースホルダー 2">
            <a:extLst>
              <a:ext uri="{FF2B5EF4-FFF2-40B4-BE49-F238E27FC236}">
                <a16:creationId xmlns:a16="http://schemas.microsoft.com/office/drawing/2014/main" id="{AD4D7248-8B01-1DE1-9E89-7ED14B040AE1}"/>
              </a:ext>
            </a:extLst>
          </p:cNvPr>
          <p:cNvSpPr>
            <a:spLocks noGrp="1"/>
          </p:cNvSpPr>
          <p:nvPr>
            <p:ph type="ftr" sz="quarter" idx="11"/>
          </p:nvPr>
        </p:nvSpPr>
        <p:spPr/>
        <p:txBody>
          <a:bodyPr/>
          <a:lstStyle/>
          <a:p>
            <a:r>
              <a:rPr lang="en-US"/>
              <a:t>Copyright © SystemEXE,Inc All Rights Reserved.</a:t>
            </a:r>
          </a:p>
        </p:txBody>
      </p:sp>
      <p:sp>
        <p:nvSpPr>
          <p:cNvPr id="5" name="正方形/長方形 4">
            <a:extLst>
              <a:ext uri="{FF2B5EF4-FFF2-40B4-BE49-F238E27FC236}">
                <a16:creationId xmlns:a16="http://schemas.microsoft.com/office/drawing/2014/main" id="{043C9EFD-7E09-676C-ED8A-56BBFFC3B482}"/>
              </a:ext>
            </a:extLst>
          </p:cNvPr>
          <p:cNvSpPr/>
          <p:nvPr/>
        </p:nvSpPr>
        <p:spPr>
          <a:xfrm>
            <a:off x="412414" y="985070"/>
            <a:ext cx="211232" cy="426600"/>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 name="テキスト ボックス 5">
            <a:extLst>
              <a:ext uri="{FF2B5EF4-FFF2-40B4-BE49-F238E27FC236}">
                <a16:creationId xmlns:a16="http://schemas.microsoft.com/office/drawing/2014/main" id="{FDFF2349-1A0B-D040-2FC3-C26EE8F00B02}"/>
              </a:ext>
            </a:extLst>
          </p:cNvPr>
          <p:cNvSpPr txBox="1"/>
          <p:nvPr/>
        </p:nvSpPr>
        <p:spPr>
          <a:xfrm>
            <a:off x="668566" y="97741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1</a:t>
            </a:r>
            <a:endParaRPr kumimoji="1" lang="ja-JP" altLang="en-US" sz="2400" b="1">
              <a:solidFill>
                <a:schemeClr val="accent4">
                  <a:lumMod val="75000"/>
                </a:schemeClr>
              </a:solidFill>
              <a:latin typeface="+mn-ea"/>
            </a:endParaRPr>
          </a:p>
        </p:txBody>
      </p:sp>
      <p:sp>
        <p:nvSpPr>
          <p:cNvPr id="7" name="テキスト ボックス 6">
            <a:extLst>
              <a:ext uri="{FF2B5EF4-FFF2-40B4-BE49-F238E27FC236}">
                <a16:creationId xmlns:a16="http://schemas.microsoft.com/office/drawing/2014/main" id="{CA5E1339-5F0A-4B55-CB4B-A83C30B1BBAD}"/>
              </a:ext>
            </a:extLst>
          </p:cNvPr>
          <p:cNvSpPr txBox="1"/>
          <p:nvPr/>
        </p:nvSpPr>
        <p:spPr>
          <a:xfrm>
            <a:off x="1093112" y="1033401"/>
            <a:ext cx="1800493" cy="369333"/>
          </a:xfrm>
          <a:prstGeom prst="rect">
            <a:avLst/>
          </a:prstGeom>
          <a:noFill/>
        </p:spPr>
        <p:txBody>
          <a:bodyPr wrap="none" rtlCol="0">
            <a:noAutofit/>
          </a:bodyPr>
          <a:lstStyle/>
          <a:p>
            <a:r>
              <a:rPr kumimoji="1" lang="ja-JP" altLang="en-US" b="1">
                <a:solidFill>
                  <a:schemeClr val="tx1">
                    <a:lumMod val="75000"/>
                    <a:lumOff val="25000"/>
                  </a:schemeClr>
                </a:solidFill>
                <a:latin typeface="+mn-ea"/>
              </a:rPr>
              <a:t>ご提案のポイント</a:t>
            </a:r>
          </a:p>
        </p:txBody>
      </p:sp>
      <p:sp>
        <p:nvSpPr>
          <p:cNvPr id="8" name="正方形/長方形 7">
            <a:extLst>
              <a:ext uri="{FF2B5EF4-FFF2-40B4-BE49-F238E27FC236}">
                <a16:creationId xmlns:a16="http://schemas.microsoft.com/office/drawing/2014/main" id="{B7AE61BE-9BE9-19AB-28DD-22C5F80A4CB4}"/>
              </a:ext>
            </a:extLst>
          </p:cNvPr>
          <p:cNvSpPr/>
          <p:nvPr/>
        </p:nvSpPr>
        <p:spPr>
          <a:xfrm rot="10800000">
            <a:off x="616274" y="1419680"/>
            <a:ext cx="5220000" cy="102975"/>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0" name="テキスト ボックス 9">
            <a:extLst>
              <a:ext uri="{FF2B5EF4-FFF2-40B4-BE49-F238E27FC236}">
                <a16:creationId xmlns:a16="http://schemas.microsoft.com/office/drawing/2014/main" id="{26CACF70-8747-A2B0-4FDF-69B98B5E637E}"/>
              </a:ext>
            </a:extLst>
          </p:cNvPr>
          <p:cNvSpPr txBox="1"/>
          <p:nvPr/>
        </p:nvSpPr>
        <p:spPr>
          <a:xfrm>
            <a:off x="5381737" y="937865"/>
            <a:ext cx="645104" cy="461666"/>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P.3</a:t>
            </a:r>
            <a:endParaRPr kumimoji="1" lang="ja-JP" altLang="en-US" sz="1600">
              <a:solidFill>
                <a:schemeClr val="bg1">
                  <a:lumMod val="50000"/>
                </a:schemeClr>
              </a:solidFill>
              <a:latin typeface="+mn-ea"/>
            </a:endParaRPr>
          </a:p>
        </p:txBody>
      </p:sp>
      <p:sp>
        <p:nvSpPr>
          <p:cNvPr id="12" name="正方形/長方形 11">
            <a:extLst>
              <a:ext uri="{FF2B5EF4-FFF2-40B4-BE49-F238E27FC236}">
                <a16:creationId xmlns:a16="http://schemas.microsoft.com/office/drawing/2014/main" id="{99DAD8ED-26DA-D31A-5A5D-39B444404431}"/>
              </a:ext>
            </a:extLst>
          </p:cNvPr>
          <p:cNvSpPr/>
          <p:nvPr/>
        </p:nvSpPr>
        <p:spPr>
          <a:xfrm>
            <a:off x="6165157" y="983547"/>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13" name="テキスト ボックス 12">
            <a:extLst>
              <a:ext uri="{FF2B5EF4-FFF2-40B4-BE49-F238E27FC236}">
                <a16:creationId xmlns:a16="http://schemas.microsoft.com/office/drawing/2014/main" id="{5BF77E43-68D8-BD64-0589-490BD977EBC9}"/>
              </a:ext>
            </a:extLst>
          </p:cNvPr>
          <p:cNvSpPr txBox="1"/>
          <p:nvPr/>
        </p:nvSpPr>
        <p:spPr>
          <a:xfrm>
            <a:off x="6421312" y="980516"/>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6</a:t>
            </a:r>
            <a:endParaRPr kumimoji="1" lang="ja-JP" altLang="en-US" sz="2400" b="1">
              <a:solidFill>
                <a:schemeClr val="accent4">
                  <a:lumMod val="75000"/>
                </a:schemeClr>
              </a:solidFill>
              <a:latin typeface="+mn-ea"/>
            </a:endParaRPr>
          </a:p>
        </p:txBody>
      </p:sp>
      <p:sp>
        <p:nvSpPr>
          <p:cNvPr id="14" name="テキスト ボックス 13">
            <a:extLst>
              <a:ext uri="{FF2B5EF4-FFF2-40B4-BE49-F238E27FC236}">
                <a16:creationId xmlns:a16="http://schemas.microsoft.com/office/drawing/2014/main" id="{9C4AEF55-EFC3-802E-41D2-940414539A11}"/>
              </a:ext>
            </a:extLst>
          </p:cNvPr>
          <p:cNvSpPr txBox="1"/>
          <p:nvPr/>
        </p:nvSpPr>
        <p:spPr>
          <a:xfrm>
            <a:off x="6845857" y="1031878"/>
            <a:ext cx="1800493"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お見積り前提条件</a:t>
            </a:r>
          </a:p>
        </p:txBody>
      </p:sp>
      <p:sp>
        <p:nvSpPr>
          <p:cNvPr id="15" name="正方形/長方形 14">
            <a:extLst>
              <a:ext uri="{FF2B5EF4-FFF2-40B4-BE49-F238E27FC236}">
                <a16:creationId xmlns:a16="http://schemas.microsoft.com/office/drawing/2014/main" id="{59C9FDB0-6D91-9EFE-F923-E7A2F031B727}"/>
              </a:ext>
            </a:extLst>
          </p:cNvPr>
          <p:cNvSpPr/>
          <p:nvPr/>
        </p:nvSpPr>
        <p:spPr>
          <a:xfrm rot="10800000">
            <a:off x="6369019" y="1427409"/>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17" name="テキスト ボックス 16">
            <a:extLst>
              <a:ext uri="{FF2B5EF4-FFF2-40B4-BE49-F238E27FC236}">
                <a16:creationId xmlns:a16="http://schemas.microsoft.com/office/drawing/2014/main" id="{667DF944-4F98-10D6-169B-38734919D9C4}"/>
              </a:ext>
            </a:extLst>
          </p:cNvPr>
          <p:cNvSpPr txBox="1"/>
          <p:nvPr/>
        </p:nvSpPr>
        <p:spPr>
          <a:xfrm>
            <a:off x="11134482" y="936342"/>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P.27</a:t>
            </a:r>
            <a:endParaRPr kumimoji="1" lang="ja-JP" altLang="en-US" sz="1600">
              <a:solidFill>
                <a:schemeClr val="bg1">
                  <a:lumMod val="50000"/>
                </a:schemeClr>
              </a:solidFill>
              <a:latin typeface="+mn-ea"/>
            </a:endParaRPr>
          </a:p>
        </p:txBody>
      </p:sp>
      <p:sp>
        <p:nvSpPr>
          <p:cNvPr id="19" name="正方形/長方形 18">
            <a:extLst>
              <a:ext uri="{FF2B5EF4-FFF2-40B4-BE49-F238E27FC236}">
                <a16:creationId xmlns:a16="http://schemas.microsoft.com/office/drawing/2014/main" id="{30E543EE-8041-E8D6-001E-E19F06D6061F}"/>
              </a:ext>
            </a:extLst>
          </p:cNvPr>
          <p:cNvSpPr/>
          <p:nvPr/>
        </p:nvSpPr>
        <p:spPr>
          <a:xfrm>
            <a:off x="412414" y="1958659"/>
            <a:ext cx="211232" cy="426599"/>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0" name="テキスト ボックス 19">
            <a:extLst>
              <a:ext uri="{FF2B5EF4-FFF2-40B4-BE49-F238E27FC236}">
                <a16:creationId xmlns:a16="http://schemas.microsoft.com/office/drawing/2014/main" id="{66A18E5F-EEDC-E4DF-64DC-1DA2DA2AB721}"/>
              </a:ext>
            </a:extLst>
          </p:cNvPr>
          <p:cNvSpPr txBox="1"/>
          <p:nvPr/>
        </p:nvSpPr>
        <p:spPr>
          <a:xfrm>
            <a:off x="680935" y="1954787"/>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2</a:t>
            </a:r>
            <a:endParaRPr kumimoji="1" lang="ja-JP" altLang="en-US" sz="2400" b="1">
              <a:solidFill>
                <a:schemeClr val="accent4">
                  <a:lumMod val="75000"/>
                </a:schemeClr>
              </a:solidFill>
              <a:latin typeface="+mn-ea"/>
            </a:endParaRPr>
          </a:p>
        </p:txBody>
      </p:sp>
      <p:sp>
        <p:nvSpPr>
          <p:cNvPr id="21" name="テキスト ボックス 20">
            <a:extLst>
              <a:ext uri="{FF2B5EF4-FFF2-40B4-BE49-F238E27FC236}">
                <a16:creationId xmlns:a16="http://schemas.microsoft.com/office/drawing/2014/main" id="{7299EA5C-B1AB-3A37-2CE7-07C5C055AF7E}"/>
              </a:ext>
            </a:extLst>
          </p:cNvPr>
          <p:cNvSpPr txBox="1"/>
          <p:nvPr/>
        </p:nvSpPr>
        <p:spPr>
          <a:xfrm>
            <a:off x="1093112" y="2006990"/>
            <a:ext cx="1800494" cy="369332"/>
          </a:xfrm>
          <a:prstGeom prst="rect">
            <a:avLst/>
          </a:prstGeom>
          <a:noFill/>
        </p:spPr>
        <p:txBody>
          <a:bodyPr wrap="none" rtlCol="0">
            <a:noAutofit/>
          </a:bodyPr>
          <a:lstStyle/>
          <a:p>
            <a:r>
              <a:rPr kumimoji="1" lang="ja-JP" altLang="en-US" b="1">
                <a:solidFill>
                  <a:schemeClr val="tx1">
                    <a:lumMod val="75000"/>
                    <a:lumOff val="25000"/>
                  </a:schemeClr>
                </a:solidFill>
                <a:latin typeface="+mn-ea"/>
              </a:rPr>
              <a:t>開発範囲</a:t>
            </a:r>
          </a:p>
        </p:txBody>
      </p:sp>
      <p:sp>
        <p:nvSpPr>
          <p:cNvPr id="22" name="正方形/長方形 21">
            <a:extLst>
              <a:ext uri="{FF2B5EF4-FFF2-40B4-BE49-F238E27FC236}">
                <a16:creationId xmlns:a16="http://schemas.microsoft.com/office/drawing/2014/main" id="{55B13FC8-8A4D-5D8D-73CF-41A9139E4443}"/>
              </a:ext>
            </a:extLst>
          </p:cNvPr>
          <p:cNvSpPr/>
          <p:nvPr/>
        </p:nvSpPr>
        <p:spPr>
          <a:xfrm rot="10800000">
            <a:off x="616274" y="240252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24" name="テキスト ボックス 23">
            <a:extLst>
              <a:ext uri="{FF2B5EF4-FFF2-40B4-BE49-F238E27FC236}">
                <a16:creationId xmlns:a16="http://schemas.microsoft.com/office/drawing/2014/main" id="{B88A2F33-69AA-2252-4123-BFDA17D93CC6}"/>
              </a:ext>
            </a:extLst>
          </p:cNvPr>
          <p:cNvSpPr txBox="1"/>
          <p:nvPr/>
        </p:nvSpPr>
        <p:spPr>
          <a:xfrm>
            <a:off x="5381737" y="1911454"/>
            <a:ext cx="645104" cy="461665"/>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P.7</a:t>
            </a:r>
            <a:endParaRPr kumimoji="1" lang="ja-JP" altLang="en-US" sz="1600">
              <a:solidFill>
                <a:schemeClr val="bg1">
                  <a:lumMod val="50000"/>
                </a:schemeClr>
              </a:solidFill>
              <a:latin typeface="+mn-ea"/>
            </a:endParaRPr>
          </a:p>
        </p:txBody>
      </p:sp>
      <p:sp>
        <p:nvSpPr>
          <p:cNvPr id="26" name="正方形/長方形 25">
            <a:extLst>
              <a:ext uri="{FF2B5EF4-FFF2-40B4-BE49-F238E27FC236}">
                <a16:creationId xmlns:a16="http://schemas.microsoft.com/office/drawing/2014/main" id="{A1938D9C-120D-B36B-FFB5-2FD993B190A7}"/>
              </a:ext>
            </a:extLst>
          </p:cNvPr>
          <p:cNvSpPr/>
          <p:nvPr/>
        </p:nvSpPr>
        <p:spPr>
          <a:xfrm>
            <a:off x="412413" y="2923895"/>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27" name="テキスト ボックス 26">
            <a:extLst>
              <a:ext uri="{FF2B5EF4-FFF2-40B4-BE49-F238E27FC236}">
                <a16:creationId xmlns:a16="http://schemas.microsoft.com/office/drawing/2014/main" id="{8049C816-8C8C-BAC4-4B94-5B05B14ADA8B}"/>
              </a:ext>
            </a:extLst>
          </p:cNvPr>
          <p:cNvSpPr txBox="1"/>
          <p:nvPr/>
        </p:nvSpPr>
        <p:spPr>
          <a:xfrm>
            <a:off x="668566" y="2928373"/>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3</a:t>
            </a:r>
            <a:endParaRPr kumimoji="1" lang="ja-JP" altLang="en-US" sz="2400" b="1">
              <a:solidFill>
                <a:schemeClr val="accent4">
                  <a:lumMod val="75000"/>
                </a:schemeClr>
              </a:solidFill>
              <a:latin typeface="+mn-ea"/>
            </a:endParaRPr>
          </a:p>
        </p:txBody>
      </p:sp>
      <p:sp>
        <p:nvSpPr>
          <p:cNvPr id="28" name="テキスト ボックス 27">
            <a:extLst>
              <a:ext uri="{FF2B5EF4-FFF2-40B4-BE49-F238E27FC236}">
                <a16:creationId xmlns:a16="http://schemas.microsoft.com/office/drawing/2014/main" id="{D7A9ABD8-2BB2-0A24-38B1-84B221EB77E7}"/>
              </a:ext>
            </a:extLst>
          </p:cNvPr>
          <p:cNvSpPr txBox="1"/>
          <p:nvPr/>
        </p:nvSpPr>
        <p:spPr>
          <a:xfrm>
            <a:off x="1093112" y="2972226"/>
            <a:ext cx="1800494"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ウォーターフォール開発の場合の進め方</a:t>
            </a:r>
            <a:endParaRPr kumimoji="1" lang="en-US" altLang="ja-JP" b="1">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12F7FA4F-6E8D-0864-4C84-F7C1BDCC3A67}"/>
              </a:ext>
            </a:extLst>
          </p:cNvPr>
          <p:cNvSpPr/>
          <p:nvPr/>
        </p:nvSpPr>
        <p:spPr>
          <a:xfrm rot="10800000">
            <a:off x="616274" y="3367757"/>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1" name="テキスト ボックス 30">
            <a:extLst>
              <a:ext uri="{FF2B5EF4-FFF2-40B4-BE49-F238E27FC236}">
                <a16:creationId xmlns:a16="http://schemas.microsoft.com/office/drawing/2014/main" id="{A0B9F257-F778-25E0-C071-F01868D442AA}"/>
              </a:ext>
            </a:extLst>
          </p:cNvPr>
          <p:cNvSpPr txBox="1"/>
          <p:nvPr/>
        </p:nvSpPr>
        <p:spPr>
          <a:xfrm>
            <a:off x="5381737" y="2876690"/>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P.11</a:t>
            </a:r>
            <a:endParaRPr kumimoji="1" lang="ja-JP" altLang="en-US" sz="1600">
              <a:solidFill>
                <a:schemeClr val="bg1">
                  <a:lumMod val="50000"/>
                </a:schemeClr>
              </a:solidFill>
              <a:latin typeface="+mn-ea"/>
            </a:endParaRPr>
          </a:p>
        </p:txBody>
      </p:sp>
      <p:sp>
        <p:nvSpPr>
          <p:cNvPr id="33" name="正方形/長方形 32">
            <a:extLst>
              <a:ext uri="{FF2B5EF4-FFF2-40B4-BE49-F238E27FC236}">
                <a16:creationId xmlns:a16="http://schemas.microsoft.com/office/drawing/2014/main" id="{B3D5C74D-8DB6-BF2F-0E1B-086C80C89144}"/>
              </a:ext>
            </a:extLst>
          </p:cNvPr>
          <p:cNvSpPr/>
          <p:nvPr/>
        </p:nvSpPr>
        <p:spPr>
          <a:xfrm>
            <a:off x="412412" y="3895126"/>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34" name="テキスト ボックス 33">
            <a:extLst>
              <a:ext uri="{FF2B5EF4-FFF2-40B4-BE49-F238E27FC236}">
                <a16:creationId xmlns:a16="http://schemas.microsoft.com/office/drawing/2014/main" id="{DB9277F4-648F-4042-D969-187BF1452859}"/>
              </a:ext>
            </a:extLst>
          </p:cNvPr>
          <p:cNvSpPr txBox="1"/>
          <p:nvPr/>
        </p:nvSpPr>
        <p:spPr>
          <a:xfrm>
            <a:off x="668567" y="3893608"/>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4</a:t>
            </a:r>
            <a:endParaRPr kumimoji="1" lang="ja-JP" altLang="en-US" sz="2400" b="1">
              <a:solidFill>
                <a:schemeClr val="accent4">
                  <a:lumMod val="75000"/>
                </a:schemeClr>
              </a:solidFill>
              <a:latin typeface="+mn-ea"/>
            </a:endParaRPr>
          </a:p>
        </p:txBody>
      </p:sp>
      <p:sp>
        <p:nvSpPr>
          <p:cNvPr id="35" name="テキスト ボックス 34">
            <a:extLst>
              <a:ext uri="{FF2B5EF4-FFF2-40B4-BE49-F238E27FC236}">
                <a16:creationId xmlns:a16="http://schemas.microsoft.com/office/drawing/2014/main" id="{C03B52EB-09C1-5EAE-0C3A-06C831742DEF}"/>
              </a:ext>
            </a:extLst>
          </p:cNvPr>
          <p:cNvSpPr txBox="1"/>
          <p:nvPr/>
        </p:nvSpPr>
        <p:spPr>
          <a:xfrm>
            <a:off x="1093112" y="3943457"/>
            <a:ext cx="1800493"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お見積り</a:t>
            </a:r>
          </a:p>
        </p:txBody>
      </p:sp>
      <p:sp>
        <p:nvSpPr>
          <p:cNvPr id="36" name="正方形/長方形 35">
            <a:extLst>
              <a:ext uri="{FF2B5EF4-FFF2-40B4-BE49-F238E27FC236}">
                <a16:creationId xmlns:a16="http://schemas.microsoft.com/office/drawing/2014/main" id="{981D3A9D-6A3D-C19B-7195-1C811B3C74DE}"/>
              </a:ext>
            </a:extLst>
          </p:cNvPr>
          <p:cNvSpPr/>
          <p:nvPr/>
        </p:nvSpPr>
        <p:spPr>
          <a:xfrm rot="10800000">
            <a:off x="616274" y="4338988"/>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38" name="テキスト ボックス 37">
            <a:extLst>
              <a:ext uri="{FF2B5EF4-FFF2-40B4-BE49-F238E27FC236}">
                <a16:creationId xmlns:a16="http://schemas.microsoft.com/office/drawing/2014/main" id="{E24790BC-B7D5-7EDA-D6A3-41F4712BBA4E}"/>
              </a:ext>
            </a:extLst>
          </p:cNvPr>
          <p:cNvSpPr txBox="1"/>
          <p:nvPr/>
        </p:nvSpPr>
        <p:spPr>
          <a:xfrm>
            <a:off x="5381737" y="3847921"/>
            <a:ext cx="645104" cy="461664"/>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P.22</a:t>
            </a:r>
            <a:endParaRPr kumimoji="1" lang="ja-JP" altLang="en-US" sz="1600">
              <a:solidFill>
                <a:schemeClr val="bg1">
                  <a:lumMod val="50000"/>
                </a:schemeClr>
              </a:solidFill>
              <a:latin typeface="+mn-ea"/>
            </a:endParaRPr>
          </a:p>
        </p:txBody>
      </p:sp>
      <p:sp>
        <p:nvSpPr>
          <p:cNvPr id="61" name="正方形/長方形 60">
            <a:extLst>
              <a:ext uri="{FF2B5EF4-FFF2-40B4-BE49-F238E27FC236}">
                <a16:creationId xmlns:a16="http://schemas.microsoft.com/office/drawing/2014/main" id="{E22435B7-D5A0-2383-8FB1-E1059C96D0D2}"/>
              </a:ext>
            </a:extLst>
          </p:cNvPr>
          <p:cNvSpPr/>
          <p:nvPr/>
        </p:nvSpPr>
        <p:spPr>
          <a:xfrm>
            <a:off x="412412" y="4867870"/>
            <a:ext cx="211232" cy="426598"/>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2" name="テキスト ボックス 61">
            <a:extLst>
              <a:ext uri="{FF2B5EF4-FFF2-40B4-BE49-F238E27FC236}">
                <a16:creationId xmlns:a16="http://schemas.microsoft.com/office/drawing/2014/main" id="{6855EA3A-1185-3134-B44A-F993D58158D4}"/>
              </a:ext>
            </a:extLst>
          </p:cNvPr>
          <p:cNvSpPr txBox="1"/>
          <p:nvPr/>
        </p:nvSpPr>
        <p:spPr>
          <a:xfrm>
            <a:off x="668567" y="4864839"/>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5</a:t>
            </a:r>
            <a:endParaRPr kumimoji="1" lang="ja-JP" altLang="en-US" sz="2400" b="1">
              <a:solidFill>
                <a:schemeClr val="accent4">
                  <a:lumMod val="75000"/>
                </a:schemeClr>
              </a:solidFill>
              <a:latin typeface="+mn-ea"/>
            </a:endParaRPr>
          </a:p>
        </p:txBody>
      </p:sp>
      <p:sp>
        <p:nvSpPr>
          <p:cNvPr id="63" name="テキスト ボックス 62">
            <a:extLst>
              <a:ext uri="{FF2B5EF4-FFF2-40B4-BE49-F238E27FC236}">
                <a16:creationId xmlns:a16="http://schemas.microsoft.com/office/drawing/2014/main" id="{2126B177-1873-1829-DBF4-3E89A9AB774A}"/>
              </a:ext>
            </a:extLst>
          </p:cNvPr>
          <p:cNvSpPr txBox="1"/>
          <p:nvPr/>
        </p:nvSpPr>
        <p:spPr>
          <a:xfrm>
            <a:off x="1093112" y="4916201"/>
            <a:ext cx="2299071" cy="369331"/>
          </a:xfrm>
          <a:prstGeom prst="rect">
            <a:avLst/>
          </a:prstGeom>
          <a:noFill/>
        </p:spPr>
        <p:txBody>
          <a:bodyPr wrap="none" rtlCol="0">
            <a:noAutofit/>
          </a:bodyPr>
          <a:lstStyle/>
          <a:p>
            <a:r>
              <a:rPr kumimoji="1" lang="ja-JP" altLang="en-US" b="1">
                <a:solidFill>
                  <a:schemeClr val="tx1">
                    <a:lumMod val="75000"/>
                    <a:lumOff val="25000"/>
                  </a:schemeClr>
                </a:solidFill>
                <a:latin typeface="+mn-ea"/>
              </a:rPr>
              <a:t>お見積り</a:t>
            </a:r>
            <a:r>
              <a:rPr kumimoji="1" lang="en-US" altLang="ja-JP" b="1">
                <a:solidFill>
                  <a:schemeClr val="tx1">
                    <a:lumMod val="75000"/>
                    <a:lumOff val="25000"/>
                  </a:schemeClr>
                </a:solidFill>
                <a:latin typeface="+mn-ea"/>
              </a:rPr>
              <a:t>(</a:t>
            </a:r>
            <a:r>
              <a:rPr kumimoji="1" lang="ja-JP" altLang="en-US" b="1">
                <a:solidFill>
                  <a:schemeClr val="tx1">
                    <a:lumMod val="75000"/>
                    <a:lumOff val="25000"/>
                  </a:schemeClr>
                </a:solidFill>
                <a:latin typeface="+mn-ea"/>
              </a:rPr>
              <a:t>運用・保守</a:t>
            </a:r>
            <a:r>
              <a:rPr kumimoji="1" lang="en-US" altLang="ja-JP" b="1">
                <a:solidFill>
                  <a:schemeClr val="tx1">
                    <a:lumMod val="75000"/>
                    <a:lumOff val="25000"/>
                  </a:schemeClr>
                </a:solidFill>
                <a:latin typeface="+mn-ea"/>
              </a:rPr>
              <a:t>)</a:t>
            </a:r>
            <a:endParaRPr kumimoji="1" lang="ja-JP" altLang="en-US" b="1">
              <a:solidFill>
                <a:schemeClr val="tx1">
                  <a:lumMod val="75000"/>
                  <a:lumOff val="25000"/>
                </a:schemeClr>
              </a:solidFill>
              <a:latin typeface="+mn-ea"/>
            </a:endParaRPr>
          </a:p>
        </p:txBody>
      </p:sp>
      <p:sp>
        <p:nvSpPr>
          <p:cNvPr id="64" name="正方形/長方形 63">
            <a:extLst>
              <a:ext uri="{FF2B5EF4-FFF2-40B4-BE49-F238E27FC236}">
                <a16:creationId xmlns:a16="http://schemas.microsoft.com/office/drawing/2014/main" id="{511B9F28-E4DC-9466-23E0-854D197B0725}"/>
              </a:ext>
            </a:extLst>
          </p:cNvPr>
          <p:cNvSpPr/>
          <p:nvPr/>
        </p:nvSpPr>
        <p:spPr>
          <a:xfrm rot="10800000">
            <a:off x="616274" y="5311732"/>
            <a:ext cx="522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66" name="テキスト ボックス 65">
            <a:extLst>
              <a:ext uri="{FF2B5EF4-FFF2-40B4-BE49-F238E27FC236}">
                <a16:creationId xmlns:a16="http://schemas.microsoft.com/office/drawing/2014/main" id="{2E4DC1A5-9C86-0800-C9E1-D6F8328A7304}"/>
              </a:ext>
            </a:extLst>
          </p:cNvPr>
          <p:cNvSpPr txBox="1"/>
          <p:nvPr/>
        </p:nvSpPr>
        <p:spPr>
          <a:xfrm>
            <a:off x="5381737" y="4820665"/>
            <a:ext cx="645104" cy="461664"/>
          </a:xfrm>
          <a:prstGeom prst="rect">
            <a:avLst/>
          </a:prstGeom>
          <a:noFill/>
          <a:ln>
            <a:noFill/>
          </a:ln>
        </p:spPr>
        <p:txBody>
          <a:bodyPr wrap="none" lIns="121920" tIns="60960" rIns="121920" bIns="60960" rtlCol="0" anchor="b">
            <a:noAutofit/>
          </a:bodyPr>
          <a:lstStyle/>
          <a:p>
            <a:r>
              <a:rPr kumimoji="1" lang="en-US" altLang="ja-JP" sz="1600">
                <a:solidFill>
                  <a:schemeClr val="bg1">
                    <a:lumMod val="50000"/>
                  </a:schemeClr>
                </a:solidFill>
                <a:latin typeface="+mn-ea"/>
              </a:rPr>
              <a:t>P.24</a:t>
            </a:r>
            <a:endParaRPr kumimoji="1" lang="ja-JP" altLang="en-US" sz="1600">
              <a:solidFill>
                <a:schemeClr val="bg1">
                  <a:lumMod val="50000"/>
                </a:schemeClr>
              </a:solidFill>
              <a:latin typeface="+mn-ea"/>
            </a:endParaRPr>
          </a:p>
        </p:txBody>
      </p:sp>
      <p:sp>
        <p:nvSpPr>
          <p:cNvPr id="67" name="正方形/長方形 66">
            <a:extLst>
              <a:ext uri="{FF2B5EF4-FFF2-40B4-BE49-F238E27FC236}">
                <a16:creationId xmlns:a16="http://schemas.microsoft.com/office/drawing/2014/main" id="{4C424D9A-C3B7-9CDC-0033-4BD945E27474}"/>
              </a:ext>
            </a:extLst>
          </p:cNvPr>
          <p:cNvSpPr/>
          <p:nvPr/>
        </p:nvSpPr>
        <p:spPr>
          <a:xfrm>
            <a:off x="6165159" y="1958080"/>
            <a:ext cx="211232" cy="426600"/>
          </a:xfrm>
          <a:prstGeom prst="rect">
            <a:avLst/>
          </a:prstGeom>
          <a:pattFill prst="dkUpDiag">
            <a:fgClr>
              <a:schemeClr val="accent4"/>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latin typeface="+mn-ea"/>
            </a:endParaRPr>
          </a:p>
        </p:txBody>
      </p:sp>
      <p:sp>
        <p:nvSpPr>
          <p:cNvPr id="68" name="テキスト ボックス 67">
            <a:extLst>
              <a:ext uri="{FF2B5EF4-FFF2-40B4-BE49-F238E27FC236}">
                <a16:creationId xmlns:a16="http://schemas.microsoft.com/office/drawing/2014/main" id="{EE86464E-6C97-4D8B-DD3A-B78D53E075D1}"/>
              </a:ext>
            </a:extLst>
          </p:cNvPr>
          <p:cNvSpPr txBox="1"/>
          <p:nvPr/>
        </p:nvSpPr>
        <p:spPr>
          <a:xfrm>
            <a:off x="6421311" y="1959388"/>
            <a:ext cx="360996" cy="432000"/>
          </a:xfrm>
          <a:prstGeom prst="rect">
            <a:avLst/>
          </a:prstGeom>
          <a:noFill/>
        </p:spPr>
        <p:txBody>
          <a:bodyPr wrap="none" rtlCol="0">
            <a:spAutoFit/>
          </a:bodyPr>
          <a:lstStyle/>
          <a:p>
            <a:r>
              <a:rPr kumimoji="1" lang="en-US" altLang="ja-JP" sz="2400" b="1">
                <a:solidFill>
                  <a:schemeClr val="accent4">
                    <a:lumMod val="75000"/>
                  </a:schemeClr>
                </a:solidFill>
                <a:latin typeface="+mn-ea"/>
              </a:rPr>
              <a:t>7</a:t>
            </a:r>
            <a:endParaRPr kumimoji="1" lang="ja-JP" altLang="en-US" sz="2400" b="1">
              <a:solidFill>
                <a:schemeClr val="accent4">
                  <a:lumMod val="75000"/>
                </a:schemeClr>
              </a:solidFill>
              <a:latin typeface="+mn-ea"/>
            </a:endParaRPr>
          </a:p>
        </p:txBody>
      </p:sp>
      <p:sp>
        <p:nvSpPr>
          <p:cNvPr id="69" name="テキスト ボックス 68">
            <a:extLst>
              <a:ext uri="{FF2B5EF4-FFF2-40B4-BE49-F238E27FC236}">
                <a16:creationId xmlns:a16="http://schemas.microsoft.com/office/drawing/2014/main" id="{C7315778-772B-30A6-DEFA-831EF4E5E757}"/>
              </a:ext>
            </a:extLst>
          </p:cNvPr>
          <p:cNvSpPr txBox="1"/>
          <p:nvPr/>
        </p:nvSpPr>
        <p:spPr>
          <a:xfrm>
            <a:off x="6971369" y="2006411"/>
            <a:ext cx="1800493" cy="369333"/>
          </a:xfrm>
          <a:prstGeom prst="rect">
            <a:avLst/>
          </a:prstGeom>
          <a:noFill/>
        </p:spPr>
        <p:txBody>
          <a:bodyPr wrap="none" rtlCol="0">
            <a:noAutofit/>
          </a:bodyPr>
          <a:lstStyle/>
          <a:p>
            <a:r>
              <a:rPr kumimoji="1" lang="ja-JP" altLang="en-US" b="1">
                <a:solidFill>
                  <a:schemeClr val="tx1">
                    <a:lumMod val="75000"/>
                    <a:lumOff val="25000"/>
                  </a:schemeClr>
                </a:solidFill>
                <a:latin typeface="+mn-ea"/>
              </a:rPr>
              <a:t>弊社情報</a:t>
            </a:r>
            <a:endParaRPr kumimoji="1" lang="en-US" altLang="ja-JP" b="1">
              <a:solidFill>
                <a:schemeClr val="tx1">
                  <a:lumMod val="75000"/>
                  <a:lumOff val="25000"/>
                </a:schemeClr>
              </a:solidFill>
              <a:latin typeface="+mn-ea"/>
            </a:endParaRPr>
          </a:p>
        </p:txBody>
      </p:sp>
      <p:sp>
        <p:nvSpPr>
          <p:cNvPr id="70" name="正方形/長方形 69">
            <a:extLst>
              <a:ext uri="{FF2B5EF4-FFF2-40B4-BE49-F238E27FC236}">
                <a16:creationId xmlns:a16="http://schemas.microsoft.com/office/drawing/2014/main" id="{534AC7E8-AF7C-9560-C50B-E575473A96B3}"/>
              </a:ext>
            </a:extLst>
          </p:cNvPr>
          <p:cNvSpPr/>
          <p:nvPr/>
        </p:nvSpPr>
        <p:spPr>
          <a:xfrm rot="10800000">
            <a:off x="6369019" y="2392690"/>
            <a:ext cx="5220000" cy="102975"/>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latin typeface="+mn-ea"/>
            </a:endParaRPr>
          </a:p>
        </p:txBody>
      </p:sp>
      <p:sp>
        <p:nvSpPr>
          <p:cNvPr id="71" name="テキスト ボックス 70">
            <a:extLst>
              <a:ext uri="{FF2B5EF4-FFF2-40B4-BE49-F238E27FC236}">
                <a16:creationId xmlns:a16="http://schemas.microsoft.com/office/drawing/2014/main" id="{66E9119A-37CB-4A25-B56D-FF959C08549C}"/>
              </a:ext>
            </a:extLst>
          </p:cNvPr>
          <p:cNvSpPr txBox="1"/>
          <p:nvPr/>
        </p:nvSpPr>
        <p:spPr>
          <a:xfrm>
            <a:off x="11134482" y="1910875"/>
            <a:ext cx="645104" cy="461666"/>
          </a:xfrm>
          <a:prstGeom prst="rect">
            <a:avLst/>
          </a:prstGeom>
          <a:noFill/>
          <a:ln>
            <a:noFill/>
          </a:ln>
        </p:spPr>
        <p:txBody>
          <a:bodyPr wrap="none" rtlCol="0" anchor="b">
            <a:noAutofit/>
          </a:bodyPr>
          <a:lstStyle/>
          <a:p>
            <a:r>
              <a:rPr kumimoji="1" lang="en-US" altLang="ja-JP" sz="1600">
                <a:solidFill>
                  <a:schemeClr val="bg1">
                    <a:lumMod val="50000"/>
                  </a:schemeClr>
                </a:solidFill>
                <a:latin typeface="+mn-ea"/>
              </a:rPr>
              <a:t>P.29</a:t>
            </a:r>
            <a:endParaRPr kumimoji="1" lang="ja-JP" altLang="en-US" sz="1600">
              <a:solidFill>
                <a:schemeClr val="bg1">
                  <a:lumMod val="50000"/>
                </a:schemeClr>
              </a:solidFill>
              <a:latin typeface="+mn-ea"/>
            </a:endParaRPr>
          </a:p>
        </p:txBody>
      </p:sp>
    </p:spTree>
    <p:extLst>
      <p:ext uri="{BB962C8B-B14F-4D97-AF65-F5344CB8AC3E}">
        <p14:creationId xmlns:p14="http://schemas.microsoft.com/office/powerpoint/2010/main" val="489501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E6C36938-64FB-F691-2504-6209F1AE50DE}"/>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344DB5F2-73BB-E9CA-B3CC-208D354F5281}"/>
              </a:ext>
            </a:extLst>
          </p:cNvPr>
          <p:cNvSpPr>
            <a:spLocks noGrp="1"/>
          </p:cNvSpPr>
          <p:nvPr>
            <p:ph type="title"/>
          </p:nvPr>
        </p:nvSpPr>
        <p:spPr/>
        <p:txBody>
          <a:bodyPr/>
          <a:lstStyle/>
          <a:p>
            <a:r>
              <a:rPr kumimoji="1" lang="ja-JP" altLang="en-US"/>
              <a:t>ご提案のポイント</a:t>
            </a:r>
          </a:p>
        </p:txBody>
      </p:sp>
      <p:sp>
        <p:nvSpPr>
          <p:cNvPr id="2" name="スライド番号プレースホルダー 3">
            <a:extLst>
              <a:ext uri="{FF2B5EF4-FFF2-40B4-BE49-F238E27FC236}">
                <a16:creationId xmlns:a16="http://schemas.microsoft.com/office/drawing/2014/main" id="{D44A1CFC-B1BF-500C-5AE3-9429D0926C7A}"/>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960321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7CD89-4B40-3A68-7233-397A0F21959E}"/>
            </a:ext>
          </a:extLst>
        </p:cNvPr>
        <p:cNvGrpSpPr/>
        <p:nvPr/>
      </p:nvGrpSpPr>
      <p:grpSpPr>
        <a:xfrm>
          <a:off x="0" y="0"/>
          <a:ext cx="0" cy="0"/>
          <a:chOff x="0" y="0"/>
          <a:chExt cx="0" cy="0"/>
        </a:xfrm>
      </p:grpSpPr>
      <p:graphicFrame>
        <p:nvGraphicFramePr>
          <p:cNvPr id="9" name="表 8">
            <a:extLst>
              <a:ext uri="{FF2B5EF4-FFF2-40B4-BE49-F238E27FC236}">
                <a16:creationId xmlns:a16="http://schemas.microsoft.com/office/drawing/2014/main" id="{4A9CABBF-068A-2C68-31C2-F90EC167BBEF}"/>
              </a:ext>
            </a:extLst>
          </p:cNvPr>
          <p:cNvGraphicFramePr>
            <a:graphicFrameLocks noGrp="1"/>
          </p:cNvGraphicFramePr>
          <p:nvPr>
            <p:extLst>
              <p:ext uri="{D42A27DB-BD31-4B8C-83A1-F6EECF244321}">
                <p14:modId xmlns:p14="http://schemas.microsoft.com/office/powerpoint/2010/main" val="740017307"/>
              </p:ext>
            </p:extLst>
          </p:nvPr>
        </p:nvGraphicFramePr>
        <p:xfrm>
          <a:off x="180110" y="844399"/>
          <a:ext cx="11817926" cy="4229136"/>
        </p:xfrm>
        <a:graphic>
          <a:graphicData uri="http://schemas.openxmlformats.org/drawingml/2006/table">
            <a:tbl>
              <a:tblPr firstRow="1" bandRow="1">
                <a:tableStyleId>{5C22544A-7EE6-4342-B048-85BDC9FD1C3A}</a:tableStyleId>
              </a:tblPr>
              <a:tblGrid>
                <a:gridCol w="554181">
                  <a:extLst>
                    <a:ext uri="{9D8B030D-6E8A-4147-A177-3AD203B41FA5}">
                      <a16:colId xmlns:a16="http://schemas.microsoft.com/office/drawing/2014/main" val="147810767"/>
                    </a:ext>
                  </a:extLst>
                </a:gridCol>
                <a:gridCol w="2867891">
                  <a:extLst>
                    <a:ext uri="{9D8B030D-6E8A-4147-A177-3AD203B41FA5}">
                      <a16:colId xmlns:a16="http://schemas.microsoft.com/office/drawing/2014/main" val="138074290"/>
                    </a:ext>
                  </a:extLst>
                </a:gridCol>
                <a:gridCol w="4184073">
                  <a:extLst>
                    <a:ext uri="{9D8B030D-6E8A-4147-A177-3AD203B41FA5}">
                      <a16:colId xmlns:a16="http://schemas.microsoft.com/office/drawing/2014/main" val="3654836420"/>
                    </a:ext>
                  </a:extLst>
                </a:gridCol>
                <a:gridCol w="4211781">
                  <a:extLst>
                    <a:ext uri="{9D8B030D-6E8A-4147-A177-3AD203B41FA5}">
                      <a16:colId xmlns:a16="http://schemas.microsoft.com/office/drawing/2014/main" val="889944802"/>
                    </a:ext>
                  </a:extLst>
                </a:gridCol>
              </a:tblGrid>
              <a:tr h="388656">
                <a:tc>
                  <a:txBody>
                    <a:bodyPr/>
                    <a:lstStyle/>
                    <a:p>
                      <a:pPr algn="ctr"/>
                      <a:r>
                        <a:rPr kumimoji="1" lang="en-US" altLang="ja-JP">
                          <a:latin typeface="游ゴシック 本文"/>
                        </a:rPr>
                        <a:t>No</a:t>
                      </a:r>
                      <a:endParaRPr kumimoji="1" lang="ja-JP" altLang="en-US">
                        <a:latin typeface="游ゴシック 本文"/>
                      </a:endParaRPr>
                    </a:p>
                  </a:txBody>
                  <a:tcPr anchor="ctr"/>
                </a:tc>
                <a:tc>
                  <a:txBody>
                    <a:bodyPr/>
                    <a:lstStyle/>
                    <a:p>
                      <a:pPr algn="ctr"/>
                      <a:r>
                        <a:rPr kumimoji="1" lang="ja-JP" altLang="en-US">
                          <a:latin typeface="游ゴシック 本文"/>
                        </a:rPr>
                        <a:t>取組テーマ</a:t>
                      </a:r>
                    </a:p>
                  </a:txBody>
                  <a:tcPr anchor="ctr"/>
                </a:tc>
                <a:tc>
                  <a:txBody>
                    <a:bodyPr/>
                    <a:lstStyle/>
                    <a:p>
                      <a:pPr algn="ctr"/>
                      <a:r>
                        <a:rPr kumimoji="1" lang="ja-JP" altLang="en-US">
                          <a:latin typeface="游ゴシック 本文"/>
                        </a:rPr>
                        <a:t>現状の課題</a:t>
                      </a:r>
                    </a:p>
                  </a:txBody>
                  <a:tcPr anchor="ctr"/>
                </a:tc>
                <a:tc>
                  <a:txBody>
                    <a:bodyPr/>
                    <a:lstStyle/>
                    <a:p>
                      <a:pPr algn="ctr"/>
                      <a:r>
                        <a:rPr kumimoji="1" lang="ja-JP" altLang="en-US">
                          <a:latin typeface="游ゴシック 本文"/>
                        </a:rPr>
                        <a:t>実現したい姿</a:t>
                      </a:r>
                    </a:p>
                  </a:txBody>
                  <a:tcPr anchor="ctr"/>
                </a:tc>
                <a:extLst>
                  <a:ext uri="{0D108BD9-81ED-4DB2-BD59-A6C34878D82A}">
                    <a16:rowId xmlns:a16="http://schemas.microsoft.com/office/drawing/2014/main" val="2367886331"/>
                  </a:ext>
                </a:extLst>
              </a:tr>
              <a:tr h="898182">
                <a:tc>
                  <a:txBody>
                    <a:bodyPr/>
                    <a:lstStyle/>
                    <a:p>
                      <a:pPr algn="ctr"/>
                      <a:r>
                        <a:rPr kumimoji="1" lang="en-US" altLang="ja-JP" dirty="0">
                          <a:latin typeface="游ゴシック 本文"/>
                        </a:rPr>
                        <a:t>1</a:t>
                      </a:r>
                      <a:endParaRPr kumimoji="1" lang="ja-JP" altLang="en-US" dirty="0">
                        <a:latin typeface="游ゴシック 本文"/>
                      </a:endParaRPr>
                    </a:p>
                  </a:txBody>
                  <a:tcPr anchor="ctr"/>
                </a:tc>
                <a:tc>
                  <a:txBody>
                    <a:bodyPr/>
                    <a:lstStyle/>
                    <a:p>
                      <a:r>
                        <a:rPr kumimoji="1" lang="ja-JP" altLang="en-US" dirty="0">
                          <a:latin typeface="游ゴシック 本文"/>
                        </a:rPr>
                        <a:t>次期アーキテクチャ適応</a:t>
                      </a:r>
                    </a:p>
                  </a:txBody>
                  <a:tcPr anchor="ctr"/>
                </a:tc>
                <a:tc>
                  <a:txBody>
                    <a:bodyPr/>
                    <a:lstStyle/>
                    <a:p>
                      <a:r>
                        <a:rPr kumimoji="1" lang="ja-JP" altLang="en-US" sz="1800" b="0" i="0" kern="1200" dirty="0">
                          <a:solidFill>
                            <a:schemeClr val="dk1"/>
                          </a:solidFill>
                          <a:effectLst/>
                          <a:latin typeface="游ゴシック 本文"/>
                          <a:ea typeface="+mn-ea"/>
                          <a:cs typeface="+mn-cs"/>
                        </a:rPr>
                        <a:t>▼現行システムは</a:t>
                      </a:r>
                      <a:r>
                        <a:rPr kumimoji="1" lang="en-US" altLang="ja-JP" sz="1800" b="0" i="0" kern="1200" dirty="0">
                          <a:solidFill>
                            <a:schemeClr val="dk1"/>
                          </a:solidFill>
                          <a:effectLst/>
                          <a:latin typeface="游ゴシック 本文"/>
                          <a:ea typeface="+mn-ea"/>
                          <a:cs typeface="+mn-cs"/>
                        </a:rPr>
                        <a:t>VB6</a:t>
                      </a:r>
                      <a:r>
                        <a:rPr kumimoji="1" lang="ja-JP" altLang="en-US" sz="1800" b="0" i="0" kern="1200" dirty="0">
                          <a:solidFill>
                            <a:schemeClr val="dk1"/>
                          </a:solidFill>
                          <a:effectLst/>
                          <a:latin typeface="游ゴシック 本文"/>
                          <a:ea typeface="+mn-ea"/>
                          <a:cs typeface="+mn-cs"/>
                        </a:rPr>
                        <a:t>や</a:t>
                      </a:r>
                      <a:r>
                        <a:rPr kumimoji="1" lang="en-US" altLang="ja-JP" sz="1800" b="0" i="0" kern="1200" dirty="0">
                          <a:solidFill>
                            <a:schemeClr val="dk1"/>
                          </a:solidFill>
                          <a:effectLst/>
                          <a:latin typeface="游ゴシック 本文"/>
                          <a:ea typeface="+mn-ea"/>
                          <a:cs typeface="+mn-cs"/>
                        </a:rPr>
                        <a:t>.NET</a:t>
                      </a:r>
                      <a:r>
                        <a:rPr kumimoji="1" lang="ja-JP" altLang="en-US" sz="1800" b="0" i="0" kern="1200" dirty="0">
                          <a:solidFill>
                            <a:schemeClr val="dk1"/>
                          </a:solidFill>
                          <a:effectLst/>
                          <a:latin typeface="游ゴシック 本文"/>
                          <a:ea typeface="+mn-ea"/>
                          <a:cs typeface="+mn-cs"/>
                        </a:rPr>
                        <a:t>などのレガシー技術で構築されており、出光標準の次期アーキテクチャとの間に大きな技術的乖離が存在する</a:t>
                      </a:r>
                      <a:endParaRPr kumimoji="1" lang="ja-JP" altLang="en-US" b="0" dirty="0">
                        <a:latin typeface="游ゴシック 本文"/>
                      </a:endParaRPr>
                    </a:p>
                  </a:txBody>
                  <a:tcPr anchor="ctr"/>
                </a:tc>
                <a:tc>
                  <a:txBody>
                    <a:bodyPr/>
                    <a:lstStyle/>
                    <a:p>
                      <a:r>
                        <a:rPr kumimoji="1" lang="ja-JP" altLang="en-US" sz="1800" b="0" i="0" kern="1200">
                          <a:solidFill>
                            <a:schemeClr val="dk1"/>
                          </a:solidFill>
                          <a:effectLst/>
                          <a:latin typeface="游ゴシック 本文"/>
                          <a:ea typeface="+mn-ea"/>
                          <a:cs typeface="+mn-cs"/>
                        </a:rPr>
                        <a:t>▼次期アーキテクチャのクラウドネイティブ構成</a:t>
                      </a:r>
                      <a:r>
                        <a:rPr kumimoji="1" lang="en-US" altLang="ja-JP" sz="1800" b="0" i="0" kern="1200">
                          <a:solidFill>
                            <a:schemeClr val="dk1"/>
                          </a:solidFill>
                          <a:effectLst/>
                          <a:latin typeface="游ゴシック 本文"/>
                          <a:ea typeface="+mn-ea"/>
                          <a:cs typeface="+mn-cs"/>
                        </a:rPr>
                        <a:t>(Azure)</a:t>
                      </a:r>
                      <a:r>
                        <a:rPr kumimoji="1" lang="ja-JP" altLang="en-US" sz="1800" b="0" i="0" kern="1200">
                          <a:solidFill>
                            <a:schemeClr val="dk1"/>
                          </a:solidFill>
                          <a:effectLst/>
                          <a:latin typeface="游ゴシック 本文"/>
                          <a:ea typeface="+mn-ea"/>
                          <a:cs typeface="+mn-cs"/>
                        </a:rPr>
                        <a:t>へ刷新。</a:t>
                      </a:r>
                      <a:r>
                        <a:rPr kumimoji="1" lang="en-US" altLang="ja-JP" sz="1800" b="0" i="0" kern="1200">
                          <a:solidFill>
                            <a:schemeClr val="dk1"/>
                          </a:solidFill>
                          <a:effectLst/>
                          <a:latin typeface="游ゴシック 本文"/>
                          <a:ea typeface="+mn-ea"/>
                          <a:cs typeface="+mn-cs"/>
                        </a:rPr>
                        <a:t>Java/Python</a:t>
                      </a:r>
                      <a:r>
                        <a:rPr kumimoji="1" lang="ja-JP" altLang="en-US" sz="1800" b="0" i="0" kern="1200">
                          <a:solidFill>
                            <a:schemeClr val="dk1"/>
                          </a:solidFill>
                          <a:effectLst/>
                          <a:latin typeface="游ゴシック 本文"/>
                          <a:ea typeface="+mn-ea"/>
                          <a:cs typeface="+mn-cs"/>
                        </a:rPr>
                        <a:t>等の標準技術を採用し、持続可能なシステム基盤を確立する。</a:t>
                      </a:r>
                      <a:endParaRPr kumimoji="1" lang="ja-JP" altLang="en-US" b="0">
                        <a:latin typeface="游ゴシック 本文"/>
                      </a:endParaRPr>
                    </a:p>
                  </a:txBody>
                  <a:tcPr anchor="ctr"/>
                </a:tc>
                <a:extLst>
                  <a:ext uri="{0D108BD9-81ED-4DB2-BD59-A6C34878D82A}">
                    <a16:rowId xmlns:a16="http://schemas.microsoft.com/office/drawing/2014/main" val="671827318"/>
                  </a:ext>
                </a:extLst>
              </a:tr>
              <a:tr h="898182">
                <a:tc>
                  <a:txBody>
                    <a:bodyPr/>
                    <a:lstStyle/>
                    <a:p>
                      <a:pPr algn="ctr"/>
                      <a:r>
                        <a:rPr kumimoji="1" lang="en-US" altLang="ja-JP">
                          <a:latin typeface="游ゴシック 本文"/>
                        </a:rPr>
                        <a:t>2</a:t>
                      </a:r>
                      <a:endParaRPr kumimoji="1" lang="ja-JP" altLang="en-US">
                        <a:latin typeface="游ゴシック 本文"/>
                      </a:endParaRPr>
                    </a:p>
                  </a:txBody>
                  <a:tcPr anchor="ctr"/>
                </a:tc>
                <a:tc>
                  <a:txBody>
                    <a:bodyPr/>
                    <a:lstStyle/>
                    <a:p>
                      <a:r>
                        <a:rPr kumimoji="1" lang="ja-JP" altLang="en-US">
                          <a:latin typeface="游ゴシック 本文"/>
                        </a:rPr>
                        <a:t>アプリケーション</a:t>
                      </a:r>
                      <a:r>
                        <a:rPr kumimoji="1" lang="en-US" altLang="ja-JP">
                          <a:latin typeface="游ゴシック 本文"/>
                        </a:rPr>
                        <a:t>Web</a:t>
                      </a:r>
                      <a:r>
                        <a:rPr kumimoji="1" lang="ja-JP" altLang="en-US">
                          <a:latin typeface="游ゴシック 本文"/>
                        </a:rPr>
                        <a:t>化</a:t>
                      </a:r>
                      <a:endParaRPr kumimoji="1" lang="en-US" altLang="ja-JP">
                        <a:latin typeface="游ゴシック 本文"/>
                      </a:endParaRPr>
                    </a:p>
                  </a:txBody>
                  <a:tcPr anchor="ctr"/>
                </a:tc>
                <a:tc>
                  <a:txBody>
                    <a:bodyPr/>
                    <a:lstStyle/>
                    <a:p>
                      <a:r>
                        <a:rPr kumimoji="1" lang="ja-JP" altLang="en-US" sz="1800" b="0" i="0" kern="1200">
                          <a:solidFill>
                            <a:schemeClr val="dk1"/>
                          </a:solidFill>
                          <a:effectLst/>
                          <a:latin typeface="游ゴシック 本文"/>
                          <a:ea typeface="+mn-ea"/>
                          <a:cs typeface="+mn-cs"/>
                        </a:rPr>
                        <a:t>▼</a:t>
                      </a:r>
                      <a:r>
                        <a:rPr kumimoji="1" lang="en-US" altLang="ja-JP" sz="1800" b="0" i="0" kern="1200">
                          <a:solidFill>
                            <a:schemeClr val="dk1"/>
                          </a:solidFill>
                          <a:effectLst/>
                          <a:latin typeface="+mn-lt"/>
                          <a:ea typeface="+mn-ea"/>
                          <a:cs typeface="+mn-cs"/>
                        </a:rPr>
                        <a:t>AVD</a:t>
                      </a:r>
                      <a:r>
                        <a:rPr kumimoji="1" lang="ja-JP" altLang="en-US" sz="1800" b="0" i="0" kern="1200">
                          <a:solidFill>
                            <a:schemeClr val="dk1"/>
                          </a:solidFill>
                          <a:effectLst/>
                          <a:latin typeface="+mn-lt"/>
                          <a:ea typeface="+mn-ea"/>
                          <a:cs typeface="+mn-cs"/>
                        </a:rPr>
                        <a:t>上で</a:t>
                      </a:r>
                      <a:r>
                        <a:rPr kumimoji="1" lang="en-US" altLang="ja-JP" sz="1800" b="0" i="0" kern="1200">
                          <a:solidFill>
                            <a:schemeClr val="dk1"/>
                          </a:solidFill>
                          <a:effectLst/>
                          <a:latin typeface="+mn-lt"/>
                          <a:ea typeface="+mn-ea"/>
                          <a:cs typeface="+mn-cs"/>
                        </a:rPr>
                        <a:t>VB6/.NET</a:t>
                      </a:r>
                      <a:r>
                        <a:rPr kumimoji="1" lang="ja-JP" altLang="en-US" sz="1800" b="0" i="0" kern="1200">
                          <a:solidFill>
                            <a:schemeClr val="dk1"/>
                          </a:solidFill>
                          <a:effectLst/>
                          <a:latin typeface="+mn-lt"/>
                          <a:ea typeface="+mn-ea"/>
                          <a:cs typeface="+mn-cs"/>
                        </a:rPr>
                        <a:t>アプリを実行しファイルサーバを直接参照するクライアント</a:t>
                      </a:r>
                      <a:r>
                        <a:rPr kumimoji="1" lang="en-US" altLang="ja-JP" sz="1800" b="0" i="0" kern="1200">
                          <a:solidFill>
                            <a:schemeClr val="dk1"/>
                          </a:solidFill>
                          <a:effectLst/>
                          <a:latin typeface="+mn-lt"/>
                          <a:ea typeface="+mn-ea"/>
                          <a:cs typeface="+mn-cs"/>
                        </a:rPr>
                        <a:t>/</a:t>
                      </a:r>
                      <a:r>
                        <a:rPr kumimoji="1" lang="ja-JP" altLang="en-US" sz="1800" b="0" i="0" kern="1200">
                          <a:solidFill>
                            <a:schemeClr val="dk1"/>
                          </a:solidFill>
                          <a:effectLst/>
                          <a:latin typeface="+mn-lt"/>
                          <a:ea typeface="+mn-ea"/>
                          <a:cs typeface="+mn-cs"/>
                        </a:rPr>
                        <a:t>サーバ構成のため、リソース負荷が高く、ファイル排他制御等の問題が残る。</a:t>
                      </a:r>
                      <a:endParaRPr kumimoji="1" lang="ja-JP" altLang="en-US" b="0">
                        <a:latin typeface="游ゴシック 本文"/>
                      </a:endParaRPr>
                    </a:p>
                  </a:txBody>
                  <a:tcPr anchor="ctr"/>
                </a:tc>
                <a:tc>
                  <a:txBody>
                    <a:bodyPr/>
                    <a:lstStyle/>
                    <a:p>
                      <a:r>
                        <a:rPr kumimoji="1" lang="ja-JP" altLang="en-US" sz="1800" b="0" i="0" kern="1200" dirty="0">
                          <a:solidFill>
                            <a:schemeClr val="dk1"/>
                          </a:solidFill>
                          <a:effectLst/>
                          <a:latin typeface="游ゴシック 本文"/>
                          <a:ea typeface="+mn-ea"/>
                          <a:cs typeface="+mn-cs"/>
                        </a:rPr>
                        <a:t>▼</a:t>
                      </a:r>
                      <a:r>
                        <a:rPr kumimoji="1" lang="en-US" altLang="ja-JP" sz="1800" b="0" i="0" kern="1200" dirty="0">
                          <a:solidFill>
                            <a:schemeClr val="dk1"/>
                          </a:solidFill>
                          <a:effectLst/>
                          <a:latin typeface="+mn-lt"/>
                          <a:ea typeface="+mn-ea"/>
                          <a:cs typeface="+mn-cs"/>
                        </a:rPr>
                        <a:t>AVD</a:t>
                      </a:r>
                      <a:r>
                        <a:rPr kumimoji="1" lang="ja-JP" altLang="en-US" sz="1800" b="0" i="0" kern="1200" dirty="0">
                          <a:solidFill>
                            <a:schemeClr val="dk1"/>
                          </a:solidFill>
                          <a:effectLst/>
                          <a:latin typeface="+mn-lt"/>
                          <a:ea typeface="+mn-ea"/>
                          <a:cs typeface="+mn-cs"/>
                        </a:rPr>
                        <a:t>からはブラウザのみを利用し、処理を</a:t>
                      </a:r>
                      <a:r>
                        <a:rPr kumimoji="1" lang="en-US" altLang="ja-JP" sz="1800" b="0" i="0" kern="1200" dirty="0">
                          <a:solidFill>
                            <a:schemeClr val="dk1"/>
                          </a:solidFill>
                          <a:effectLst/>
                          <a:latin typeface="+mn-lt"/>
                          <a:ea typeface="+mn-ea"/>
                          <a:cs typeface="+mn-cs"/>
                        </a:rPr>
                        <a:t>Azure App Service</a:t>
                      </a:r>
                      <a:r>
                        <a:rPr kumimoji="1" lang="ja-JP" altLang="en-US" sz="1800" b="0" i="0" kern="1200" dirty="0">
                          <a:solidFill>
                            <a:schemeClr val="dk1"/>
                          </a:solidFill>
                          <a:effectLst/>
                          <a:latin typeface="+mn-lt"/>
                          <a:ea typeface="+mn-ea"/>
                          <a:cs typeface="+mn-cs"/>
                        </a:rPr>
                        <a:t>へ集約。ファイルサーバ接続を</a:t>
                      </a:r>
                      <a:r>
                        <a:rPr kumimoji="1" lang="en-US" altLang="ja-JP" sz="1800" b="0" i="0" kern="1200" dirty="0">
                          <a:solidFill>
                            <a:schemeClr val="dk1"/>
                          </a:solidFill>
                          <a:effectLst/>
                          <a:latin typeface="+mn-lt"/>
                          <a:ea typeface="+mn-ea"/>
                          <a:cs typeface="+mn-cs"/>
                        </a:rPr>
                        <a:t>Web</a:t>
                      </a:r>
                      <a:r>
                        <a:rPr kumimoji="1" lang="ja-JP" altLang="en-US" sz="1800" b="0" i="0" kern="1200" dirty="0">
                          <a:solidFill>
                            <a:schemeClr val="dk1"/>
                          </a:solidFill>
                          <a:effectLst/>
                          <a:latin typeface="+mn-lt"/>
                          <a:ea typeface="+mn-ea"/>
                          <a:cs typeface="+mn-cs"/>
                        </a:rPr>
                        <a:t>経由に制御し、将来的な完全</a:t>
                      </a:r>
                      <a:r>
                        <a:rPr kumimoji="1" lang="en-US" altLang="ja-JP" sz="1800" b="0" i="0" kern="1200" dirty="0">
                          <a:solidFill>
                            <a:schemeClr val="dk1"/>
                          </a:solidFill>
                          <a:effectLst/>
                          <a:latin typeface="+mn-lt"/>
                          <a:ea typeface="+mn-ea"/>
                          <a:cs typeface="+mn-cs"/>
                        </a:rPr>
                        <a:t>Web</a:t>
                      </a:r>
                      <a:r>
                        <a:rPr kumimoji="1" lang="ja-JP" altLang="en-US" sz="1800" b="0" i="0" kern="1200" dirty="0">
                          <a:solidFill>
                            <a:schemeClr val="dk1"/>
                          </a:solidFill>
                          <a:effectLst/>
                          <a:latin typeface="+mn-lt"/>
                          <a:ea typeface="+mn-ea"/>
                          <a:cs typeface="+mn-cs"/>
                        </a:rPr>
                        <a:t>化（脱</a:t>
                      </a:r>
                      <a:r>
                        <a:rPr kumimoji="1" lang="en-US" altLang="ja-JP" sz="1800" b="0" i="0" kern="1200" dirty="0">
                          <a:solidFill>
                            <a:schemeClr val="dk1"/>
                          </a:solidFill>
                          <a:effectLst/>
                          <a:latin typeface="+mn-lt"/>
                          <a:ea typeface="+mn-ea"/>
                          <a:cs typeface="+mn-cs"/>
                        </a:rPr>
                        <a:t>Excel</a:t>
                      </a:r>
                      <a:r>
                        <a:rPr kumimoji="1" lang="ja-JP" altLang="en-US" sz="1800" b="0" i="0" kern="1200" dirty="0">
                          <a:solidFill>
                            <a:schemeClr val="dk1"/>
                          </a:solidFill>
                          <a:effectLst/>
                          <a:latin typeface="+mn-lt"/>
                          <a:ea typeface="+mn-ea"/>
                          <a:cs typeface="+mn-cs"/>
                        </a:rPr>
                        <a:t>）も実現可能な拡張性を確保する。</a:t>
                      </a:r>
                      <a:endParaRPr kumimoji="1" lang="ja-JP" altLang="en-US" b="0" dirty="0">
                        <a:latin typeface="游ゴシック 本文"/>
                      </a:endParaRPr>
                    </a:p>
                  </a:txBody>
                  <a:tcPr anchor="ctr"/>
                </a:tc>
                <a:extLst>
                  <a:ext uri="{0D108BD9-81ED-4DB2-BD59-A6C34878D82A}">
                    <a16:rowId xmlns:a16="http://schemas.microsoft.com/office/drawing/2014/main" val="1058887181"/>
                  </a:ext>
                </a:extLst>
              </a:tr>
              <a:tr h="898182">
                <a:tc>
                  <a:txBody>
                    <a:bodyPr/>
                    <a:lstStyle/>
                    <a:p>
                      <a:pPr algn="ctr"/>
                      <a:r>
                        <a:rPr kumimoji="1" lang="en-US" altLang="ja-JP">
                          <a:latin typeface="游ゴシック 本文"/>
                        </a:rPr>
                        <a:t>3</a:t>
                      </a:r>
                      <a:endParaRPr kumimoji="1" lang="ja-JP" altLang="en-US">
                        <a:latin typeface="游ゴシック 本文"/>
                      </a:endParaRPr>
                    </a:p>
                  </a:txBody>
                  <a:tcPr anchor="ctr"/>
                </a:tc>
                <a:tc>
                  <a:txBody>
                    <a:bodyPr/>
                    <a:lstStyle/>
                    <a:p>
                      <a:r>
                        <a:rPr kumimoji="1" lang="ja-JP" altLang="en-US" sz="1800" b="0" i="0" kern="1200">
                          <a:solidFill>
                            <a:schemeClr val="dk1"/>
                          </a:solidFill>
                          <a:effectLst/>
                          <a:latin typeface="游ゴシック 本文"/>
                          <a:ea typeface="+mn-ea"/>
                          <a:cs typeface="+mn-cs"/>
                        </a:rPr>
                        <a:t>資産・体制の統合整備</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kern="1200">
                          <a:solidFill>
                            <a:schemeClr val="dk1"/>
                          </a:solidFill>
                          <a:effectLst/>
                          <a:latin typeface="游ゴシック 本文"/>
                          <a:ea typeface="+mn-ea"/>
                          <a:cs typeface="+mn-cs"/>
                        </a:rPr>
                        <a:t>▼言語やベンダーが分断され、類似機能の重複開発やブラックボックス化が発生。保守ナレッジが分散している。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kern="1200" dirty="0">
                          <a:solidFill>
                            <a:schemeClr val="dk1"/>
                          </a:solidFill>
                          <a:effectLst/>
                          <a:latin typeface="游ゴシック 本文"/>
                          <a:ea typeface="+mn-ea"/>
                          <a:cs typeface="+mn-cs"/>
                        </a:rPr>
                        <a:t>▼開発言語・フレームワークを統一標準化。ベンダーロックインを回避し、拡張性と保守性を兼ね備えた開発体制へ集約する。</a:t>
                      </a:r>
                    </a:p>
                  </a:txBody>
                  <a:tcPr anchor="ctr"/>
                </a:tc>
                <a:extLst>
                  <a:ext uri="{0D108BD9-81ED-4DB2-BD59-A6C34878D82A}">
                    <a16:rowId xmlns:a16="http://schemas.microsoft.com/office/drawing/2014/main" val="3872841169"/>
                  </a:ext>
                </a:extLst>
              </a:tr>
            </a:tbl>
          </a:graphicData>
        </a:graphic>
      </p:graphicFrame>
      <p:sp>
        <p:nvSpPr>
          <p:cNvPr id="2" name="タイトル 1">
            <a:extLst>
              <a:ext uri="{FF2B5EF4-FFF2-40B4-BE49-F238E27FC236}">
                <a16:creationId xmlns:a16="http://schemas.microsoft.com/office/drawing/2014/main" id="{F7929B1B-B99D-7955-5320-4C7D4ECBE560}"/>
              </a:ext>
            </a:extLst>
          </p:cNvPr>
          <p:cNvSpPr>
            <a:spLocks noGrp="1"/>
          </p:cNvSpPr>
          <p:nvPr>
            <p:ph type="title"/>
          </p:nvPr>
        </p:nvSpPr>
        <p:spPr/>
        <p:txBody>
          <a:bodyPr/>
          <a:lstStyle/>
          <a:p>
            <a:r>
              <a:rPr kumimoji="1" lang="en-US" altLang="ja-JP"/>
              <a:t>1-1</a:t>
            </a:r>
            <a:r>
              <a:rPr lang="ja-JP" altLang="en-US"/>
              <a:t>．</a:t>
            </a:r>
            <a:r>
              <a:rPr kumimoji="1" lang="ja-JP" altLang="en-US"/>
              <a:t>現状の課題と実現したい姿</a:t>
            </a:r>
            <a:r>
              <a:rPr kumimoji="1" lang="en-US" altLang="ja-JP"/>
              <a:t>(EXE</a:t>
            </a:r>
            <a:r>
              <a:rPr lang="ja-JP" altLang="en-US"/>
              <a:t>の理解</a:t>
            </a:r>
            <a:r>
              <a:rPr kumimoji="1" lang="en-US" altLang="ja-JP"/>
              <a:t>)</a:t>
            </a:r>
            <a:endParaRPr kumimoji="1" lang="ja-JP" altLang="en-US"/>
          </a:p>
        </p:txBody>
      </p:sp>
      <p:sp>
        <p:nvSpPr>
          <p:cNvPr id="4" name="スライド番号プレースホルダー 3">
            <a:extLst>
              <a:ext uri="{FF2B5EF4-FFF2-40B4-BE49-F238E27FC236}">
                <a16:creationId xmlns:a16="http://schemas.microsoft.com/office/drawing/2014/main" id="{EBBB0F01-AD2A-0BDC-FF9E-309371039F6E}"/>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Tree>
    <p:extLst>
      <p:ext uri="{BB962C8B-B14F-4D97-AF65-F5344CB8AC3E}">
        <p14:creationId xmlns:p14="http://schemas.microsoft.com/office/powerpoint/2010/main" val="3362232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4F922117-B8AC-081B-F1F3-E41DC8D89502}"/>
              </a:ext>
            </a:extLst>
          </p:cNvPr>
          <p:cNvSpPr/>
          <p:nvPr/>
        </p:nvSpPr>
        <p:spPr>
          <a:xfrm>
            <a:off x="300480" y="925830"/>
            <a:ext cx="5608830" cy="5337810"/>
          </a:xfrm>
          <a:prstGeom prst="roundRect">
            <a:avLst/>
          </a:prstGeom>
          <a:solidFill>
            <a:srgbClr val="E7F5FE"/>
          </a:solidFill>
        </p:spPr>
        <p:style>
          <a:lnRef idx="2">
            <a:schemeClr val="accent1">
              <a:shade val="15000"/>
            </a:schemeClr>
          </a:lnRef>
          <a:fillRef idx="1">
            <a:schemeClr val="accent1"/>
          </a:fillRef>
          <a:effectRef idx="0">
            <a:schemeClr val="accent1"/>
          </a:effectRef>
          <a:fontRef idx="minor">
            <a:schemeClr val="lt1"/>
          </a:fontRef>
        </p:style>
        <p:txBody>
          <a:bodyPr bIns="4968000" rtlCol="0" anchor="ctr"/>
          <a:lstStyle/>
          <a:p>
            <a:pPr algn="ctr"/>
            <a:r>
              <a:rPr kumimoji="1" lang="en-US" altLang="ja-JP" sz="2000" dirty="0" err="1">
                <a:solidFill>
                  <a:schemeClr val="tx1"/>
                </a:solidFill>
              </a:rPr>
              <a:t>AsIs</a:t>
            </a:r>
            <a:endParaRPr kumimoji="1" lang="en-US" altLang="ja-JP" sz="2000" dirty="0">
              <a:solidFill>
                <a:schemeClr val="tx1"/>
              </a:solidFill>
            </a:endParaRPr>
          </a:p>
        </p:txBody>
      </p:sp>
      <p:sp>
        <p:nvSpPr>
          <p:cNvPr id="2" name="タイトル 1"/>
          <p:cNvSpPr>
            <a:spLocks noGrp="1"/>
          </p:cNvSpPr>
          <p:nvPr>
            <p:ph type="title"/>
          </p:nvPr>
        </p:nvSpPr>
        <p:spPr/>
        <p:txBody>
          <a:bodyPr/>
          <a:lstStyle/>
          <a:p>
            <a:r>
              <a:rPr kumimoji="1" lang="en-US" altLang="ja-JP"/>
              <a:t>1-2</a:t>
            </a:r>
            <a:r>
              <a:rPr kumimoji="1" lang="ja-JP" altLang="en-US"/>
              <a:t>．システム化の範囲</a:t>
            </a:r>
          </a:p>
        </p:txBody>
      </p:sp>
      <p:sp>
        <p:nvSpPr>
          <p:cNvPr id="4" name="フッター プレースホルダー 3"/>
          <p:cNvSpPr>
            <a:spLocks noGrp="1"/>
          </p:cNvSpPr>
          <p:nvPr>
            <p:ph type="ftr" sz="quarter" idx="11"/>
          </p:nvPr>
        </p:nvSpPr>
        <p:spPr/>
        <p:txBody>
          <a:bodyPr/>
          <a:lstStyle/>
          <a:p>
            <a:r>
              <a:rPr lang="en-US"/>
              <a:t>Copyright © </a:t>
            </a:r>
            <a:r>
              <a:rPr lang="en-US" err="1"/>
              <a:t>SystemEXE,Inc</a:t>
            </a:r>
            <a:r>
              <a:rPr lang="en-US"/>
              <a:t> All Rights Reserved.</a:t>
            </a:r>
          </a:p>
        </p:txBody>
      </p:sp>
      <p:sp>
        <p:nvSpPr>
          <p:cNvPr id="59" name="テキスト ボックス 58">
            <a:extLst>
              <a:ext uri="{FF2B5EF4-FFF2-40B4-BE49-F238E27FC236}">
                <a16:creationId xmlns:a16="http://schemas.microsoft.com/office/drawing/2014/main" id="{7404C3C7-8865-3AD4-91F4-DF9D24C7562D}"/>
              </a:ext>
            </a:extLst>
          </p:cNvPr>
          <p:cNvSpPr txBox="1"/>
          <p:nvPr/>
        </p:nvSpPr>
        <p:spPr>
          <a:xfrm>
            <a:off x="9809018" y="258458"/>
            <a:ext cx="1806982" cy="347084"/>
          </a:xfrm>
          <a:prstGeom prst="rect">
            <a:avLst/>
          </a:prstGeom>
          <a:noFill/>
        </p:spPr>
        <p:txBody>
          <a:bodyPr wrap="square" lIns="108000" tIns="72000" rIns="108000" bIns="72000" rtlCol="0" anchor="t">
            <a:noAutofit/>
          </a:bodyPr>
          <a:lstStyle/>
          <a:p>
            <a:pPr>
              <a:spcBef>
                <a:spcPts val="600"/>
              </a:spcBef>
            </a:pPr>
            <a:r>
              <a:rPr kumimoji="1" lang="ja-JP" altLang="en-US" sz="1600" b="1">
                <a:solidFill>
                  <a:srgbClr val="FF0000"/>
                </a:solidFill>
                <a:latin typeface="游ゴシック"/>
                <a:ea typeface="游ゴシック"/>
              </a:rPr>
              <a:t>赤枠が開発範囲</a:t>
            </a:r>
            <a:endParaRPr kumimoji="1" lang="en-US" altLang="ja-JP" sz="1600" b="1">
              <a:solidFill>
                <a:srgbClr val="FF0000"/>
              </a:solidFill>
              <a:latin typeface="游ゴシック"/>
              <a:ea typeface="游ゴシック"/>
            </a:endParaRPr>
          </a:p>
        </p:txBody>
      </p:sp>
      <p:sp>
        <p:nvSpPr>
          <p:cNvPr id="3" name="スライド番号プレースホルダー 3">
            <a:extLst>
              <a:ext uri="{FF2B5EF4-FFF2-40B4-BE49-F238E27FC236}">
                <a16:creationId xmlns:a16="http://schemas.microsoft.com/office/drawing/2014/main" id="{FE67D899-15BA-6FDF-A0D1-75D0A8D1B3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
        <p:nvSpPr>
          <p:cNvPr id="10" name="正方形/長方形 9">
            <a:extLst>
              <a:ext uri="{FF2B5EF4-FFF2-40B4-BE49-F238E27FC236}">
                <a16:creationId xmlns:a16="http://schemas.microsoft.com/office/drawing/2014/main" id="{15B232B2-84C0-2141-55E0-69E5CDE4041C}"/>
              </a:ext>
            </a:extLst>
          </p:cNvPr>
          <p:cNvSpPr/>
          <p:nvPr/>
        </p:nvSpPr>
        <p:spPr>
          <a:xfrm>
            <a:off x="1278033" y="1283568"/>
            <a:ext cx="2833885" cy="1409069"/>
          </a:xfrm>
          <a:prstGeom prst="rect">
            <a:avLst/>
          </a:prstGeom>
          <a:solidFill>
            <a:srgbClr val="E0E0FF"/>
          </a:solidFill>
          <a:ln>
            <a:solidFill>
              <a:srgbClr val="0D0DFF"/>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en-US" altLang="ja-JP">
                <a:solidFill>
                  <a:schemeClr val="tx1"/>
                </a:solidFill>
              </a:rPr>
              <a:t>AVD</a:t>
            </a:r>
            <a:endParaRPr kumimoji="1" lang="ja-JP" altLang="en-US">
              <a:solidFill>
                <a:schemeClr val="tx1"/>
              </a:solidFill>
            </a:endParaRPr>
          </a:p>
        </p:txBody>
      </p:sp>
      <p:sp>
        <p:nvSpPr>
          <p:cNvPr id="13" name="正方形/長方形 12">
            <a:extLst>
              <a:ext uri="{FF2B5EF4-FFF2-40B4-BE49-F238E27FC236}">
                <a16:creationId xmlns:a16="http://schemas.microsoft.com/office/drawing/2014/main" id="{33DE92A6-208F-DFD9-6944-0B4CA0BE2E1C}"/>
              </a:ext>
            </a:extLst>
          </p:cNvPr>
          <p:cNvSpPr/>
          <p:nvPr/>
        </p:nvSpPr>
        <p:spPr>
          <a:xfrm>
            <a:off x="1300893" y="2917276"/>
            <a:ext cx="2833885" cy="1409069"/>
          </a:xfrm>
          <a:prstGeom prst="rect">
            <a:avLst/>
          </a:prstGeom>
          <a:solidFill>
            <a:srgbClr val="FFA347"/>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ファイルサーバ</a:t>
            </a:r>
          </a:p>
        </p:txBody>
      </p:sp>
      <p:sp>
        <p:nvSpPr>
          <p:cNvPr id="14" name="正方形/長方形 13">
            <a:extLst>
              <a:ext uri="{FF2B5EF4-FFF2-40B4-BE49-F238E27FC236}">
                <a16:creationId xmlns:a16="http://schemas.microsoft.com/office/drawing/2014/main" id="{2DD0868B-AD07-79E4-2187-DB93057B9DE0}"/>
              </a:ext>
            </a:extLst>
          </p:cNvPr>
          <p:cNvSpPr/>
          <p:nvPr/>
        </p:nvSpPr>
        <p:spPr>
          <a:xfrm>
            <a:off x="3104895" y="4474537"/>
            <a:ext cx="2576259" cy="1409069"/>
          </a:xfrm>
          <a:prstGeom prst="rect">
            <a:avLst/>
          </a:prstGeom>
          <a:solidFill>
            <a:srgbClr val="CFEBFD"/>
          </a:solidFill>
          <a:ln>
            <a:solidFill>
              <a:srgbClr val="3D9599"/>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共通基盤</a:t>
            </a:r>
          </a:p>
        </p:txBody>
      </p:sp>
      <p:sp>
        <p:nvSpPr>
          <p:cNvPr id="21" name="フローチャート: データ 20">
            <a:extLst>
              <a:ext uri="{FF2B5EF4-FFF2-40B4-BE49-F238E27FC236}">
                <a16:creationId xmlns:a16="http://schemas.microsoft.com/office/drawing/2014/main" id="{8865E20A-CEAB-9D02-5C70-5FB283ED810B}"/>
              </a:ext>
            </a:extLst>
          </p:cNvPr>
          <p:cNvSpPr/>
          <p:nvPr/>
        </p:nvSpPr>
        <p:spPr>
          <a:xfrm>
            <a:off x="2138023" y="3466352"/>
            <a:ext cx="1205344" cy="622726"/>
          </a:xfrm>
          <a:prstGeom prst="flowChartInputOutput">
            <a:avLst/>
          </a:prstGeom>
          <a:solidFill>
            <a:srgbClr val="0875B8"/>
          </a:solidFill>
          <a:ln>
            <a:solidFill>
              <a:srgbClr val="7029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Excel</a:t>
            </a:r>
            <a:endParaRPr kumimoji="1" lang="ja-JP" altLang="en-US"/>
          </a:p>
        </p:txBody>
      </p:sp>
      <p:sp>
        <p:nvSpPr>
          <p:cNvPr id="22" name="フローチャート: 磁気ディスク 21">
            <a:extLst>
              <a:ext uri="{FF2B5EF4-FFF2-40B4-BE49-F238E27FC236}">
                <a16:creationId xmlns:a16="http://schemas.microsoft.com/office/drawing/2014/main" id="{ECA89C03-F90F-7AC0-EC42-C1CB498836F0}"/>
              </a:ext>
            </a:extLst>
          </p:cNvPr>
          <p:cNvSpPr/>
          <p:nvPr/>
        </p:nvSpPr>
        <p:spPr>
          <a:xfrm>
            <a:off x="3831915" y="4804832"/>
            <a:ext cx="1122218" cy="754343"/>
          </a:xfrm>
          <a:prstGeom prst="flowChartMagneticDisk">
            <a:avLst/>
          </a:prstGeom>
          <a:solidFill>
            <a:srgbClr val="0875B8"/>
          </a:solidFill>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kumimoji="1" lang="en-US" altLang="ja-JP" sz="1400"/>
              <a:t>Data</a:t>
            </a:r>
          </a:p>
          <a:p>
            <a:pPr algn="ctr"/>
            <a:r>
              <a:rPr kumimoji="1" lang="en-US" altLang="ja-JP" sz="1400"/>
              <a:t>base</a:t>
            </a:r>
            <a:endParaRPr kumimoji="1" lang="ja-JP" altLang="en-US" sz="1400"/>
          </a:p>
        </p:txBody>
      </p:sp>
      <p:sp>
        <p:nvSpPr>
          <p:cNvPr id="24" name="正方形/長方形 23">
            <a:extLst>
              <a:ext uri="{FF2B5EF4-FFF2-40B4-BE49-F238E27FC236}">
                <a16:creationId xmlns:a16="http://schemas.microsoft.com/office/drawing/2014/main" id="{DBE23263-E78D-3750-EF0A-ABFC2B163CF2}"/>
              </a:ext>
            </a:extLst>
          </p:cNvPr>
          <p:cNvSpPr/>
          <p:nvPr/>
        </p:nvSpPr>
        <p:spPr>
          <a:xfrm>
            <a:off x="2019107" y="1590000"/>
            <a:ext cx="1397455" cy="848161"/>
          </a:xfrm>
          <a:prstGeom prst="rect">
            <a:avLst/>
          </a:prstGeom>
          <a:solidFill>
            <a:srgbClr val="AADBDD"/>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ja-JP" altLang="en-US">
                <a:solidFill>
                  <a:schemeClr val="tx1"/>
                </a:solidFill>
              </a:rPr>
              <a:t>公開</a:t>
            </a:r>
            <a:r>
              <a:rPr kumimoji="1" lang="en-US" altLang="ja-JP">
                <a:solidFill>
                  <a:schemeClr val="tx1"/>
                </a:solidFill>
              </a:rPr>
              <a:t>AP</a:t>
            </a:r>
          </a:p>
          <a:p>
            <a:pPr algn="ctr"/>
            <a:r>
              <a:rPr kumimoji="1" lang="ja-JP" altLang="en-US">
                <a:solidFill>
                  <a:schemeClr val="tx1"/>
                </a:solidFill>
              </a:rPr>
              <a:t>（</a:t>
            </a:r>
            <a:r>
              <a:rPr kumimoji="1" lang="en-US" altLang="ja-JP">
                <a:solidFill>
                  <a:schemeClr val="tx1"/>
                </a:solidFill>
              </a:rPr>
              <a:t>VB6,.Net)</a:t>
            </a:r>
            <a:endParaRPr kumimoji="1" lang="ja-JP" altLang="en-US">
              <a:solidFill>
                <a:schemeClr val="tx1"/>
              </a:solidFill>
            </a:endParaRPr>
          </a:p>
        </p:txBody>
      </p:sp>
      <p:sp>
        <p:nvSpPr>
          <p:cNvPr id="18" name="四角形: 角を丸くする 17">
            <a:extLst>
              <a:ext uri="{FF2B5EF4-FFF2-40B4-BE49-F238E27FC236}">
                <a16:creationId xmlns:a16="http://schemas.microsoft.com/office/drawing/2014/main" id="{74C5ECC8-6370-00D0-6ACA-48D524919FEB}"/>
              </a:ext>
            </a:extLst>
          </p:cNvPr>
          <p:cNvSpPr/>
          <p:nvPr/>
        </p:nvSpPr>
        <p:spPr>
          <a:xfrm>
            <a:off x="6204424" y="949095"/>
            <a:ext cx="5608830" cy="533781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bIns="4968000" rtlCol="0" anchor="ctr"/>
          <a:lstStyle/>
          <a:p>
            <a:pPr algn="ctr"/>
            <a:r>
              <a:rPr kumimoji="1" lang="en-US" altLang="ja-JP" sz="2000" err="1">
                <a:solidFill>
                  <a:schemeClr val="tx1"/>
                </a:solidFill>
              </a:rPr>
              <a:t>ToBe</a:t>
            </a:r>
            <a:endParaRPr kumimoji="1" lang="en-US" altLang="ja-JP" sz="2000">
              <a:solidFill>
                <a:schemeClr val="tx1"/>
              </a:solidFill>
            </a:endParaRPr>
          </a:p>
        </p:txBody>
      </p:sp>
      <p:pic>
        <p:nvPicPr>
          <p:cNvPr id="20" name="グラフィックス 19" descr="ユーザー 単色塗りつぶし">
            <a:extLst>
              <a:ext uri="{FF2B5EF4-FFF2-40B4-BE49-F238E27FC236}">
                <a16:creationId xmlns:a16="http://schemas.microsoft.com/office/drawing/2014/main" id="{D8DE3A51-43CC-5334-9008-75B8F09A2D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01001" y="1566898"/>
            <a:ext cx="914400" cy="914400"/>
          </a:xfrm>
          <a:prstGeom prst="rect">
            <a:avLst/>
          </a:prstGeom>
        </p:spPr>
      </p:pic>
      <p:sp>
        <p:nvSpPr>
          <p:cNvPr id="29" name="正方形/長方形 28">
            <a:extLst>
              <a:ext uri="{FF2B5EF4-FFF2-40B4-BE49-F238E27FC236}">
                <a16:creationId xmlns:a16="http://schemas.microsoft.com/office/drawing/2014/main" id="{7866470D-0EA4-11A4-4B84-263E37D949AF}"/>
              </a:ext>
            </a:extLst>
          </p:cNvPr>
          <p:cNvSpPr/>
          <p:nvPr/>
        </p:nvSpPr>
        <p:spPr>
          <a:xfrm>
            <a:off x="6424073" y="2014089"/>
            <a:ext cx="2335075" cy="1409069"/>
          </a:xfrm>
          <a:prstGeom prst="rect">
            <a:avLst/>
          </a:prstGeom>
          <a:solidFill>
            <a:srgbClr val="E0E0FF"/>
          </a:solidFill>
          <a:ln>
            <a:solidFill>
              <a:srgbClr val="0D0DFF"/>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en-US" altLang="ja-JP">
                <a:solidFill>
                  <a:schemeClr val="tx1"/>
                </a:solidFill>
              </a:rPr>
              <a:t>AVD</a:t>
            </a:r>
            <a:endParaRPr kumimoji="1" lang="ja-JP" altLang="en-US">
              <a:solidFill>
                <a:schemeClr val="tx1"/>
              </a:solidFill>
            </a:endParaRPr>
          </a:p>
        </p:txBody>
      </p:sp>
      <p:sp>
        <p:nvSpPr>
          <p:cNvPr id="30" name="正方形/長方形 29">
            <a:extLst>
              <a:ext uri="{FF2B5EF4-FFF2-40B4-BE49-F238E27FC236}">
                <a16:creationId xmlns:a16="http://schemas.microsoft.com/office/drawing/2014/main" id="{9B3C5D90-EB42-1842-D373-ED1FB2EB65C4}"/>
              </a:ext>
            </a:extLst>
          </p:cNvPr>
          <p:cNvSpPr/>
          <p:nvPr/>
        </p:nvSpPr>
        <p:spPr>
          <a:xfrm>
            <a:off x="6424072" y="4032586"/>
            <a:ext cx="2335075" cy="1409069"/>
          </a:xfrm>
          <a:prstGeom prst="rect">
            <a:avLst/>
          </a:prstGeom>
          <a:solidFill>
            <a:srgbClr val="FFA347"/>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ファイルサーバ</a:t>
            </a:r>
          </a:p>
        </p:txBody>
      </p:sp>
      <p:sp>
        <p:nvSpPr>
          <p:cNvPr id="31" name="正方形/長方形 30">
            <a:extLst>
              <a:ext uri="{FF2B5EF4-FFF2-40B4-BE49-F238E27FC236}">
                <a16:creationId xmlns:a16="http://schemas.microsoft.com/office/drawing/2014/main" id="{1D3F6ED6-53AA-1AAA-2758-F6BD01440D00}"/>
              </a:ext>
            </a:extLst>
          </p:cNvPr>
          <p:cNvSpPr/>
          <p:nvPr/>
        </p:nvSpPr>
        <p:spPr>
          <a:xfrm>
            <a:off x="8933590" y="4009250"/>
            <a:ext cx="2628247" cy="1409069"/>
          </a:xfrm>
          <a:prstGeom prst="rect">
            <a:avLst/>
          </a:prstGeom>
          <a:solidFill>
            <a:srgbClr val="CFEBFD"/>
          </a:solidFill>
          <a:ln>
            <a:solidFill>
              <a:srgbClr val="3D9599"/>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ja-JP" altLang="en-US">
                <a:solidFill>
                  <a:schemeClr val="tx1"/>
                </a:solidFill>
              </a:rPr>
              <a:t>共通基盤</a:t>
            </a:r>
          </a:p>
        </p:txBody>
      </p:sp>
      <p:sp>
        <p:nvSpPr>
          <p:cNvPr id="32" name="フローチャート: データ 31">
            <a:extLst>
              <a:ext uri="{FF2B5EF4-FFF2-40B4-BE49-F238E27FC236}">
                <a16:creationId xmlns:a16="http://schemas.microsoft.com/office/drawing/2014/main" id="{F46C0AE1-2F1C-2BBC-7223-BBC35046D8BD}"/>
              </a:ext>
            </a:extLst>
          </p:cNvPr>
          <p:cNvSpPr/>
          <p:nvPr/>
        </p:nvSpPr>
        <p:spPr>
          <a:xfrm>
            <a:off x="7021444" y="4557938"/>
            <a:ext cx="1205344" cy="622726"/>
          </a:xfrm>
          <a:prstGeom prst="flowChartInputOutput">
            <a:avLst/>
          </a:prstGeom>
          <a:solidFill>
            <a:srgbClr val="0875B8"/>
          </a:solidFill>
          <a:ln>
            <a:solidFill>
              <a:srgbClr val="7029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Excel</a:t>
            </a:r>
            <a:endParaRPr kumimoji="1" lang="ja-JP" altLang="en-US"/>
          </a:p>
        </p:txBody>
      </p:sp>
      <p:sp>
        <p:nvSpPr>
          <p:cNvPr id="33" name="フローチャート: 磁気ディスク 32">
            <a:extLst>
              <a:ext uri="{FF2B5EF4-FFF2-40B4-BE49-F238E27FC236}">
                <a16:creationId xmlns:a16="http://schemas.microsoft.com/office/drawing/2014/main" id="{3E9C72AB-A320-9F4F-F34C-64074C6DB4A4}"/>
              </a:ext>
            </a:extLst>
          </p:cNvPr>
          <p:cNvSpPr/>
          <p:nvPr/>
        </p:nvSpPr>
        <p:spPr>
          <a:xfrm>
            <a:off x="9649533" y="4498984"/>
            <a:ext cx="1122218" cy="754343"/>
          </a:xfrm>
          <a:prstGeom prst="flowChartMagneticDisk">
            <a:avLst/>
          </a:prstGeom>
          <a:solidFill>
            <a:srgbClr val="0875B8"/>
          </a:solidFill>
        </p:spPr>
        <p:style>
          <a:lnRef idx="2">
            <a:schemeClr val="accent1">
              <a:shade val="15000"/>
            </a:schemeClr>
          </a:lnRef>
          <a:fillRef idx="1">
            <a:schemeClr val="accent1"/>
          </a:fillRef>
          <a:effectRef idx="0">
            <a:schemeClr val="accent1"/>
          </a:effectRef>
          <a:fontRef idx="minor">
            <a:schemeClr val="lt1"/>
          </a:fontRef>
        </p:style>
        <p:txBody>
          <a:bodyPr tIns="144000" rtlCol="0" anchor="ctr"/>
          <a:lstStyle/>
          <a:p>
            <a:pPr algn="ctr"/>
            <a:r>
              <a:rPr kumimoji="1" lang="en-US" altLang="ja-JP" sz="1400"/>
              <a:t>Data</a:t>
            </a:r>
          </a:p>
          <a:p>
            <a:pPr algn="ctr"/>
            <a:r>
              <a:rPr kumimoji="1" lang="en-US" altLang="ja-JP" sz="1400"/>
              <a:t>base</a:t>
            </a:r>
            <a:endParaRPr kumimoji="1" lang="ja-JP" altLang="en-US" sz="1400"/>
          </a:p>
        </p:txBody>
      </p:sp>
      <p:pic>
        <p:nvPicPr>
          <p:cNvPr id="42" name="グラフィックス 41" descr="ユーザー 単色塗りつぶし">
            <a:extLst>
              <a:ext uri="{FF2B5EF4-FFF2-40B4-BE49-F238E27FC236}">
                <a16:creationId xmlns:a16="http://schemas.microsoft.com/office/drawing/2014/main" id="{F94DA1B9-2795-CA8C-FC47-463CCDDA7C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44511" y="2261423"/>
            <a:ext cx="914400" cy="914400"/>
          </a:xfrm>
          <a:prstGeom prst="rect">
            <a:avLst/>
          </a:prstGeom>
        </p:spPr>
      </p:pic>
      <p:sp>
        <p:nvSpPr>
          <p:cNvPr id="46" name="正方形/長方形 45">
            <a:extLst>
              <a:ext uri="{FF2B5EF4-FFF2-40B4-BE49-F238E27FC236}">
                <a16:creationId xmlns:a16="http://schemas.microsoft.com/office/drawing/2014/main" id="{DD170F47-A789-3215-A2E5-2EBD4E81FA9F}"/>
              </a:ext>
            </a:extLst>
          </p:cNvPr>
          <p:cNvSpPr/>
          <p:nvPr/>
        </p:nvSpPr>
        <p:spPr>
          <a:xfrm>
            <a:off x="7509107" y="2328921"/>
            <a:ext cx="1121113" cy="941926"/>
          </a:xfrm>
          <a:prstGeom prst="rect">
            <a:avLst/>
          </a:prstGeom>
          <a:solidFill>
            <a:schemeClr val="tx2">
              <a:lumMod val="20000"/>
              <a:lumOff val="80000"/>
            </a:schemeClr>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ja-JP" altLang="en-US">
                <a:solidFill>
                  <a:schemeClr val="tx1"/>
                </a:solidFill>
              </a:rPr>
              <a:t>ブラウザ</a:t>
            </a:r>
          </a:p>
        </p:txBody>
      </p:sp>
      <p:cxnSp>
        <p:nvCxnSpPr>
          <p:cNvPr id="48" name="直線矢印コネクタ 47">
            <a:extLst>
              <a:ext uri="{FF2B5EF4-FFF2-40B4-BE49-F238E27FC236}">
                <a16:creationId xmlns:a16="http://schemas.microsoft.com/office/drawing/2014/main" id="{9ABC1470-336E-BCE2-3BC5-409AE5D7989A}"/>
              </a:ext>
            </a:extLst>
          </p:cNvPr>
          <p:cNvCxnSpPr>
            <a:cxnSpLocks/>
          </p:cNvCxnSpPr>
          <p:nvPr/>
        </p:nvCxnSpPr>
        <p:spPr>
          <a:xfrm>
            <a:off x="7117231" y="2806062"/>
            <a:ext cx="50688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0" name="正方形/長方形 49">
            <a:extLst>
              <a:ext uri="{FF2B5EF4-FFF2-40B4-BE49-F238E27FC236}">
                <a16:creationId xmlns:a16="http://schemas.microsoft.com/office/drawing/2014/main" id="{31CF0ACB-59F6-0BE3-F7AA-3F116E2B2128}"/>
              </a:ext>
            </a:extLst>
          </p:cNvPr>
          <p:cNvSpPr/>
          <p:nvPr/>
        </p:nvSpPr>
        <p:spPr>
          <a:xfrm>
            <a:off x="8896519" y="2009744"/>
            <a:ext cx="2628247" cy="1442688"/>
          </a:xfrm>
          <a:prstGeom prst="rect">
            <a:avLst/>
          </a:prstGeom>
          <a:solidFill>
            <a:schemeClr val="accent2">
              <a:lumMod val="40000"/>
              <a:lumOff val="60000"/>
            </a:schemeClr>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1080000" rtlCol="0" anchor="ctr"/>
          <a:lstStyle/>
          <a:p>
            <a:pPr algn="ctr"/>
            <a:r>
              <a:rPr kumimoji="1" lang="en-US" altLang="ja-JP">
                <a:solidFill>
                  <a:schemeClr val="tx1"/>
                </a:solidFill>
              </a:rPr>
              <a:t>Azure</a:t>
            </a:r>
            <a:endParaRPr kumimoji="1" lang="ja-JP" altLang="en-US">
              <a:solidFill>
                <a:schemeClr val="tx1"/>
              </a:solidFill>
            </a:endParaRPr>
          </a:p>
        </p:txBody>
      </p:sp>
      <p:sp>
        <p:nvSpPr>
          <p:cNvPr id="34" name="正方形/長方形 33">
            <a:extLst>
              <a:ext uri="{FF2B5EF4-FFF2-40B4-BE49-F238E27FC236}">
                <a16:creationId xmlns:a16="http://schemas.microsoft.com/office/drawing/2014/main" id="{F023CC1F-94DA-9DC3-B6D1-D4E3FE212E30}"/>
              </a:ext>
            </a:extLst>
          </p:cNvPr>
          <p:cNvSpPr/>
          <p:nvPr/>
        </p:nvSpPr>
        <p:spPr>
          <a:xfrm>
            <a:off x="9116466" y="2359255"/>
            <a:ext cx="2289768" cy="941926"/>
          </a:xfrm>
          <a:prstGeom prst="rect">
            <a:avLst/>
          </a:prstGeom>
          <a:solidFill>
            <a:srgbClr val="AADBDD"/>
          </a:solidFill>
          <a:ln>
            <a:solidFill>
              <a:srgbClr val="143C3E"/>
            </a:solid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kumimoji="1" lang="en-US" altLang="ja-JP" err="1">
                <a:solidFill>
                  <a:schemeClr val="tx1"/>
                </a:solidFill>
              </a:rPr>
              <a:t>AppService</a:t>
            </a:r>
            <a:endParaRPr kumimoji="1" lang="en-US" altLang="ja-JP">
              <a:solidFill>
                <a:schemeClr val="tx1"/>
              </a:solidFill>
            </a:endParaRPr>
          </a:p>
          <a:p>
            <a:pPr algn="ctr"/>
            <a:r>
              <a:rPr kumimoji="1" lang="en-US" altLang="ja-JP">
                <a:solidFill>
                  <a:schemeClr val="tx1"/>
                </a:solidFill>
              </a:rPr>
              <a:t>Web</a:t>
            </a:r>
            <a:r>
              <a:rPr kumimoji="1" lang="ja-JP" altLang="en-US">
                <a:solidFill>
                  <a:schemeClr val="tx1"/>
                </a:solidFill>
              </a:rPr>
              <a:t>アプリ</a:t>
            </a:r>
          </a:p>
        </p:txBody>
      </p:sp>
      <p:cxnSp>
        <p:nvCxnSpPr>
          <p:cNvPr id="54" name="コネクタ: カギ線 53">
            <a:extLst>
              <a:ext uri="{FF2B5EF4-FFF2-40B4-BE49-F238E27FC236}">
                <a16:creationId xmlns:a16="http://schemas.microsoft.com/office/drawing/2014/main" id="{CF1D4159-E99C-1D91-F81C-3E9261AFC9E0}"/>
              </a:ext>
            </a:extLst>
          </p:cNvPr>
          <p:cNvCxnSpPr>
            <a:cxnSpLocks/>
            <a:stCxn id="34" idx="2"/>
            <a:endCxn id="30" idx="0"/>
          </p:cNvCxnSpPr>
          <p:nvPr/>
        </p:nvCxnSpPr>
        <p:spPr>
          <a:xfrm rot="5400000">
            <a:off x="8560778" y="2332013"/>
            <a:ext cx="731405" cy="2669740"/>
          </a:xfrm>
          <a:prstGeom prst="bentConnector3">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BB979630-BB7A-E3E1-A5F9-4825727DE0B7}"/>
              </a:ext>
            </a:extLst>
          </p:cNvPr>
          <p:cNvCxnSpPr>
            <a:cxnSpLocks/>
          </p:cNvCxnSpPr>
          <p:nvPr/>
        </p:nvCxnSpPr>
        <p:spPr>
          <a:xfrm>
            <a:off x="8609581" y="2806062"/>
            <a:ext cx="50688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A6348676-DB49-9281-FEC1-3DC66096ACDC}"/>
              </a:ext>
            </a:extLst>
          </p:cNvPr>
          <p:cNvCxnSpPr>
            <a:cxnSpLocks/>
            <a:endCxn id="31" idx="0"/>
          </p:cNvCxnSpPr>
          <p:nvPr/>
        </p:nvCxnSpPr>
        <p:spPr>
          <a:xfrm>
            <a:off x="10247713" y="3301180"/>
            <a:ext cx="1" cy="70807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8" name="四角形: 角を丸くする 57">
            <a:extLst>
              <a:ext uri="{FF2B5EF4-FFF2-40B4-BE49-F238E27FC236}">
                <a16:creationId xmlns:a16="http://schemas.microsoft.com/office/drawing/2014/main" id="{6F6D5229-6EE8-D99C-DD54-30F2C3FCACF4}"/>
              </a:ext>
            </a:extLst>
          </p:cNvPr>
          <p:cNvSpPr/>
          <p:nvPr/>
        </p:nvSpPr>
        <p:spPr>
          <a:xfrm>
            <a:off x="9070570" y="2307329"/>
            <a:ext cx="2380674" cy="993850"/>
          </a:xfrm>
          <a:prstGeom prst="roundRect">
            <a:avLst>
              <a:gd name="adj" fmla="val 4342"/>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コネクタ: カギ線 4">
            <a:extLst>
              <a:ext uri="{FF2B5EF4-FFF2-40B4-BE49-F238E27FC236}">
                <a16:creationId xmlns:a16="http://schemas.microsoft.com/office/drawing/2014/main" id="{1A3D4F20-0E2B-B4A5-4855-A3240DC42F09}"/>
              </a:ext>
            </a:extLst>
          </p:cNvPr>
          <p:cNvCxnSpPr>
            <a:cxnSpLocks/>
            <a:stCxn id="24" idx="3"/>
            <a:endCxn id="14" idx="0"/>
          </p:cNvCxnSpPr>
          <p:nvPr/>
        </p:nvCxnSpPr>
        <p:spPr>
          <a:xfrm>
            <a:off x="3416562" y="2014081"/>
            <a:ext cx="976463" cy="2460456"/>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4F1B6AE8-E258-D360-60F7-2DAB818BEDFA}"/>
              </a:ext>
            </a:extLst>
          </p:cNvPr>
          <p:cNvCxnSpPr>
            <a:cxnSpLocks/>
            <a:stCxn id="24" idx="2"/>
            <a:endCxn id="13" idx="0"/>
          </p:cNvCxnSpPr>
          <p:nvPr/>
        </p:nvCxnSpPr>
        <p:spPr>
          <a:xfrm>
            <a:off x="2717835" y="2438161"/>
            <a:ext cx="1" cy="47911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736EE79E-A655-34EB-8F4C-426F7ED083D9}"/>
              </a:ext>
            </a:extLst>
          </p:cNvPr>
          <p:cNvCxnSpPr>
            <a:cxnSpLocks/>
          </p:cNvCxnSpPr>
          <p:nvPr/>
        </p:nvCxnSpPr>
        <p:spPr>
          <a:xfrm>
            <a:off x="1814562" y="2009744"/>
            <a:ext cx="506885"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970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77D94-4379-AA7F-7ACA-D5DD8CC3F86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55FB33A-61FC-E7A5-2731-26104C1C5873}"/>
              </a:ext>
            </a:extLst>
          </p:cNvPr>
          <p:cNvSpPr>
            <a:spLocks noGrp="1"/>
          </p:cNvSpPr>
          <p:nvPr>
            <p:ph type="title"/>
          </p:nvPr>
        </p:nvSpPr>
        <p:spPr/>
        <p:txBody>
          <a:bodyPr/>
          <a:lstStyle/>
          <a:p>
            <a:r>
              <a:rPr lang="en-US" altLang="ja-JP"/>
              <a:t>1-3</a:t>
            </a:r>
            <a:r>
              <a:rPr lang="ja-JP" altLang="en-US"/>
              <a:t>．弊社の強み</a:t>
            </a:r>
            <a:endParaRPr kumimoji="1" lang="ja-JP" altLang="en-US"/>
          </a:p>
        </p:txBody>
      </p:sp>
      <p:sp>
        <p:nvSpPr>
          <p:cNvPr id="5" name="フッター プレースホルダー 4">
            <a:extLst>
              <a:ext uri="{FF2B5EF4-FFF2-40B4-BE49-F238E27FC236}">
                <a16:creationId xmlns:a16="http://schemas.microsoft.com/office/drawing/2014/main" id="{ECBC8900-0DEF-3F0E-F806-40AC3CF5A6FD}"/>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B2BC63CA-4930-0779-57D8-F55CB5515E2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sp>
        <p:nvSpPr>
          <p:cNvPr id="155" name="テキスト ボックス 154">
            <a:extLst>
              <a:ext uri="{FF2B5EF4-FFF2-40B4-BE49-F238E27FC236}">
                <a16:creationId xmlns:a16="http://schemas.microsoft.com/office/drawing/2014/main" id="{27E49E27-E0FC-DCDA-C62C-2A5E3B3C09B0}"/>
              </a:ext>
            </a:extLst>
          </p:cNvPr>
          <p:cNvSpPr txBox="1"/>
          <p:nvPr/>
        </p:nvSpPr>
        <p:spPr>
          <a:xfrm>
            <a:off x="720000" y="863563"/>
            <a:ext cx="10897200" cy="646331"/>
          </a:xfrm>
          <a:prstGeom prst="rect">
            <a:avLst/>
          </a:prstGeom>
          <a:noFill/>
        </p:spPr>
        <p:txBody>
          <a:bodyPr wrap="square" lIns="108000" rIns="108000" rtlCol="0" anchor="t">
            <a:spAutoFit/>
          </a:bodyPr>
          <a:lstStyle/>
          <a:p>
            <a:pPr algn="ctr">
              <a:spcBef>
                <a:spcPts val="600"/>
              </a:spcBef>
            </a:pPr>
            <a:r>
              <a:rPr lang="ja-JP" altLang="en-US" b="1">
                <a:latin typeface="+mn-ea"/>
              </a:rPr>
              <a:t>弊社は以下を強みとし、本システム構築ではこれまでに培った</a:t>
            </a:r>
            <a:br>
              <a:rPr lang="en-US" altLang="ja-JP" b="1">
                <a:latin typeface="+mn-ea"/>
              </a:rPr>
            </a:br>
            <a:r>
              <a:rPr lang="ja-JP" altLang="en-US" b="1">
                <a:solidFill>
                  <a:srgbClr val="C00000"/>
                </a:solidFill>
                <a:latin typeface="+mn-ea"/>
              </a:rPr>
              <a:t>“出光興産様案件プロジェクト成功のノウハウ”</a:t>
            </a:r>
            <a:r>
              <a:rPr lang="ja-JP" altLang="en-US" b="1">
                <a:latin typeface="+mn-ea"/>
              </a:rPr>
              <a:t>を存分に活用できると考えております。</a:t>
            </a:r>
            <a:endParaRPr lang="en-US" altLang="ja-JP" b="1">
              <a:latin typeface="+mn-ea"/>
            </a:endParaRPr>
          </a:p>
        </p:txBody>
      </p:sp>
      <p:grpSp>
        <p:nvGrpSpPr>
          <p:cNvPr id="156" name="グループ化 155">
            <a:extLst>
              <a:ext uri="{FF2B5EF4-FFF2-40B4-BE49-F238E27FC236}">
                <a16:creationId xmlns:a16="http://schemas.microsoft.com/office/drawing/2014/main" id="{26EA07DF-E8AA-5370-0A3E-732F872CAD6D}"/>
              </a:ext>
            </a:extLst>
          </p:cNvPr>
          <p:cNvGrpSpPr/>
          <p:nvPr/>
        </p:nvGrpSpPr>
        <p:grpSpPr>
          <a:xfrm>
            <a:off x="1015038" y="4966930"/>
            <a:ext cx="10040699" cy="1140068"/>
            <a:chOff x="1015039" y="1861216"/>
            <a:chExt cx="10040699" cy="1140068"/>
          </a:xfrm>
        </p:grpSpPr>
        <p:sp>
          <p:nvSpPr>
            <p:cNvPr id="157" name="正方形/長方形 156">
              <a:extLst>
                <a:ext uri="{FF2B5EF4-FFF2-40B4-BE49-F238E27FC236}">
                  <a16:creationId xmlns:a16="http://schemas.microsoft.com/office/drawing/2014/main" id="{9CFF2A2D-202C-20D5-FBBD-00E364425127}"/>
                </a:ext>
              </a:extLst>
            </p:cNvPr>
            <p:cNvSpPr/>
            <p:nvPr/>
          </p:nvSpPr>
          <p:spPr>
            <a:xfrm>
              <a:off x="1015039" y="186121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8" name="テキスト ボックス 157">
              <a:extLst>
                <a:ext uri="{FF2B5EF4-FFF2-40B4-BE49-F238E27FC236}">
                  <a16:creationId xmlns:a16="http://schemas.microsoft.com/office/drawing/2014/main" id="{896FD994-A8D9-69DB-EF94-4C65545F2FBC}"/>
                </a:ext>
              </a:extLst>
            </p:cNvPr>
            <p:cNvSpPr txBox="1"/>
            <p:nvPr/>
          </p:nvSpPr>
          <p:spPr>
            <a:xfrm>
              <a:off x="1271194" y="1861216"/>
              <a:ext cx="360996" cy="461665"/>
            </a:xfrm>
            <a:prstGeom prst="rect">
              <a:avLst/>
            </a:prstGeom>
            <a:noFill/>
          </p:spPr>
          <p:txBody>
            <a:bodyPr wrap="none" rtlCol="0">
              <a:spAutoFit/>
            </a:bodyPr>
            <a:lstStyle/>
            <a:p>
              <a:r>
                <a:rPr kumimoji="1" lang="en-US" altLang="ja-JP" sz="2400" b="1">
                  <a:latin typeface="+mn-ea"/>
                </a:rPr>
                <a:t>3</a:t>
              </a:r>
              <a:endParaRPr kumimoji="1" lang="ja-JP" altLang="en-US" sz="2400" b="1">
                <a:latin typeface="+mn-ea"/>
              </a:endParaRPr>
            </a:p>
          </p:txBody>
        </p:sp>
        <p:sp>
          <p:nvSpPr>
            <p:cNvPr id="159" name="テキスト ボックス 158">
              <a:extLst>
                <a:ext uri="{FF2B5EF4-FFF2-40B4-BE49-F238E27FC236}">
                  <a16:creationId xmlns:a16="http://schemas.microsoft.com/office/drawing/2014/main" id="{045923F4-059E-989F-C450-CF980D018D4D}"/>
                </a:ext>
              </a:extLst>
            </p:cNvPr>
            <p:cNvSpPr txBox="1"/>
            <p:nvPr/>
          </p:nvSpPr>
          <p:spPr>
            <a:xfrm>
              <a:off x="1695739" y="1909547"/>
              <a:ext cx="1800493" cy="369332"/>
            </a:xfrm>
            <a:prstGeom prst="rect">
              <a:avLst/>
            </a:prstGeom>
            <a:noFill/>
          </p:spPr>
          <p:txBody>
            <a:bodyPr wrap="none" rtlCol="0">
              <a:noAutofit/>
            </a:bodyPr>
            <a:lstStyle/>
            <a:p>
              <a:r>
                <a:rPr kumimoji="1" lang="ja-JP" altLang="en-US" b="1">
                  <a:latin typeface="+mn-ea"/>
                </a:rPr>
                <a:t>オフショア</a:t>
              </a:r>
              <a:r>
                <a:rPr kumimoji="1" lang="en-US" altLang="ja-JP" b="1">
                  <a:latin typeface="+mn-ea"/>
                </a:rPr>
                <a:t>(</a:t>
              </a:r>
              <a:r>
                <a:rPr kumimoji="1" lang="en-US" altLang="ja-JP" b="1" err="1">
                  <a:latin typeface="+mn-ea"/>
                </a:rPr>
                <a:t>BotDev</a:t>
              </a:r>
              <a:r>
                <a:rPr kumimoji="1" lang="en-US" altLang="ja-JP" b="1">
                  <a:latin typeface="+mn-ea"/>
                </a:rPr>
                <a:t>)</a:t>
              </a:r>
              <a:r>
                <a:rPr kumimoji="1" lang="ja-JP" altLang="en-US" b="1">
                  <a:latin typeface="+mn-ea"/>
                </a:rPr>
                <a:t>活用</a:t>
              </a:r>
            </a:p>
          </p:txBody>
        </p:sp>
        <p:sp>
          <p:nvSpPr>
            <p:cNvPr id="160" name="正方形/長方形 159">
              <a:extLst>
                <a:ext uri="{FF2B5EF4-FFF2-40B4-BE49-F238E27FC236}">
                  <a16:creationId xmlns:a16="http://schemas.microsoft.com/office/drawing/2014/main" id="{014A3E58-295A-1F95-6F28-F4BFF73EB02B}"/>
                </a:ext>
              </a:extLst>
            </p:cNvPr>
            <p:cNvSpPr/>
            <p:nvPr/>
          </p:nvSpPr>
          <p:spPr>
            <a:xfrm rot="10800000">
              <a:off x="1015039" y="230507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61" name="テキスト ボックス 160">
              <a:extLst>
                <a:ext uri="{FF2B5EF4-FFF2-40B4-BE49-F238E27FC236}">
                  <a16:creationId xmlns:a16="http://schemas.microsoft.com/office/drawing/2014/main" id="{2A77212E-20AD-4C2F-CB43-84CC046639DA}"/>
                </a:ext>
              </a:extLst>
            </p:cNvPr>
            <p:cNvSpPr txBox="1"/>
            <p:nvPr/>
          </p:nvSpPr>
          <p:spPr>
            <a:xfrm>
              <a:off x="1695738" y="2416509"/>
              <a:ext cx="9360000" cy="584775"/>
            </a:xfrm>
            <a:prstGeom prst="rect">
              <a:avLst/>
            </a:prstGeom>
            <a:noFill/>
          </p:spPr>
          <p:txBody>
            <a:bodyPr wrap="square" lIns="108000" rIns="108000" rtlCol="0" anchor="t">
              <a:spAutoFit/>
            </a:bodyPr>
            <a:lstStyle/>
            <a:p>
              <a:pPr>
                <a:spcBef>
                  <a:spcPts val="600"/>
                </a:spcBef>
              </a:pPr>
              <a:r>
                <a:rPr lang="ja-JP" altLang="en-US" sz="1600">
                  <a:latin typeface="+mn-ea"/>
                </a:rPr>
                <a:t>日本在住のブリッジ</a:t>
              </a:r>
              <a:r>
                <a:rPr lang="en-US" altLang="ja-JP" sz="1600">
                  <a:latin typeface="+mn-ea"/>
                </a:rPr>
                <a:t>SE</a:t>
              </a:r>
              <a:r>
                <a:rPr lang="ja-JP" altLang="en-US" sz="1600">
                  <a:latin typeface="+mn-ea"/>
                </a:rPr>
                <a:t>を中核に据え、日本側の要件とベトナム側の開発力をシームレスに連携させることで、コミュニケーションの課題を解消し、プロジェクトの効率的な推進を実現します。</a:t>
              </a:r>
              <a:endParaRPr lang="en-US" altLang="ja-JP" sz="1600">
                <a:latin typeface="+mn-ea"/>
              </a:endParaRPr>
            </a:p>
          </p:txBody>
        </p:sp>
      </p:grpSp>
      <p:grpSp>
        <p:nvGrpSpPr>
          <p:cNvPr id="162" name="グループ化 161">
            <a:extLst>
              <a:ext uri="{FF2B5EF4-FFF2-40B4-BE49-F238E27FC236}">
                <a16:creationId xmlns:a16="http://schemas.microsoft.com/office/drawing/2014/main" id="{31808FAF-EEA5-2161-F83D-20BF30A53994}"/>
              </a:ext>
            </a:extLst>
          </p:cNvPr>
          <p:cNvGrpSpPr/>
          <p:nvPr/>
        </p:nvGrpSpPr>
        <p:grpSpPr>
          <a:xfrm>
            <a:off x="1015038" y="3427101"/>
            <a:ext cx="10040699" cy="1217013"/>
            <a:chOff x="1015039" y="3428992"/>
            <a:chExt cx="10040699" cy="1217013"/>
          </a:xfrm>
        </p:grpSpPr>
        <p:sp>
          <p:nvSpPr>
            <p:cNvPr id="163" name="正方形/長方形 162">
              <a:extLst>
                <a:ext uri="{FF2B5EF4-FFF2-40B4-BE49-F238E27FC236}">
                  <a16:creationId xmlns:a16="http://schemas.microsoft.com/office/drawing/2014/main" id="{F8DD5349-1F13-3392-274D-8A63D72AB365}"/>
                </a:ext>
              </a:extLst>
            </p:cNvPr>
            <p:cNvSpPr/>
            <p:nvPr/>
          </p:nvSpPr>
          <p:spPr>
            <a:xfrm>
              <a:off x="1015039" y="3428992"/>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64" name="テキスト ボックス 163">
              <a:extLst>
                <a:ext uri="{FF2B5EF4-FFF2-40B4-BE49-F238E27FC236}">
                  <a16:creationId xmlns:a16="http://schemas.microsoft.com/office/drawing/2014/main" id="{8CF50243-F566-F174-D695-D709708F6561}"/>
                </a:ext>
              </a:extLst>
            </p:cNvPr>
            <p:cNvSpPr txBox="1"/>
            <p:nvPr/>
          </p:nvSpPr>
          <p:spPr>
            <a:xfrm>
              <a:off x="1271194" y="3428992"/>
              <a:ext cx="360996" cy="461665"/>
            </a:xfrm>
            <a:prstGeom prst="rect">
              <a:avLst/>
            </a:prstGeom>
            <a:noFill/>
          </p:spPr>
          <p:txBody>
            <a:bodyPr wrap="none" rtlCol="0">
              <a:spAutoFit/>
            </a:bodyPr>
            <a:lstStyle/>
            <a:p>
              <a:r>
                <a:rPr kumimoji="1" lang="en-US" altLang="ja-JP" sz="2400" b="1">
                  <a:latin typeface="+mn-ea"/>
                </a:rPr>
                <a:t>2</a:t>
              </a:r>
              <a:endParaRPr kumimoji="1" lang="ja-JP" altLang="en-US" sz="2400" b="1">
                <a:latin typeface="+mn-ea"/>
              </a:endParaRPr>
            </a:p>
          </p:txBody>
        </p:sp>
        <p:sp>
          <p:nvSpPr>
            <p:cNvPr id="165" name="テキスト ボックス 164">
              <a:extLst>
                <a:ext uri="{FF2B5EF4-FFF2-40B4-BE49-F238E27FC236}">
                  <a16:creationId xmlns:a16="http://schemas.microsoft.com/office/drawing/2014/main" id="{8EC8FBA7-410B-8B2D-CC88-6377253129F6}"/>
                </a:ext>
              </a:extLst>
            </p:cNvPr>
            <p:cNvSpPr txBox="1"/>
            <p:nvPr/>
          </p:nvSpPr>
          <p:spPr>
            <a:xfrm>
              <a:off x="1695739" y="3477323"/>
              <a:ext cx="1800493" cy="369332"/>
            </a:xfrm>
            <a:prstGeom prst="rect">
              <a:avLst/>
            </a:prstGeom>
            <a:noFill/>
          </p:spPr>
          <p:txBody>
            <a:bodyPr wrap="none" rtlCol="0">
              <a:noAutofit/>
            </a:bodyPr>
            <a:lstStyle/>
            <a:p>
              <a:r>
                <a:rPr kumimoji="1" lang="ja-JP" altLang="en-US" b="1">
                  <a:latin typeface="+mn-ea"/>
                </a:rPr>
                <a:t>品質基準を遵守したウォーターフォール型開発</a:t>
              </a:r>
            </a:p>
          </p:txBody>
        </p:sp>
        <p:sp>
          <p:nvSpPr>
            <p:cNvPr id="166" name="正方形/長方形 165">
              <a:extLst>
                <a:ext uri="{FF2B5EF4-FFF2-40B4-BE49-F238E27FC236}">
                  <a16:creationId xmlns:a16="http://schemas.microsoft.com/office/drawing/2014/main" id="{5E4E53A2-63A6-9BDF-70FB-1E5A9EC815F0}"/>
                </a:ext>
              </a:extLst>
            </p:cNvPr>
            <p:cNvSpPr/>
            <p:nvPr/>
          </p:nvSpPr>
          <p:spPr>
            <a:xfrm rot="10800000">
              <a:off x="1015039" y="3872855"/>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67" name="テキスト ボックス 166">
              <a:extLst>
                <a:ext uri="{FF2B5EF4-FFF2-40B4-BE49-F238E27FC236}">
                  <a16:creationId xmlns:a16="http://schemas.microsoft.com/office/drawing/2014/main" id="{0FBBDE85-35D2-6D56-286C-AE529209E7DE}"/>
                </a:ext>
              </a:extLst>
            </p:cNvPr>
            <p:cNvSpPr txBox="1"/>
            <p:nvPr/>
          </p:nvSpPr>
          <p:spPr>
            <a:xfrm>
              <a:off x="1695738" y="3984285"/>
              <a:ext cx="9360000" cy="661720"/>
            </a:xfrm>
            <a:prstGeom prst="rect">
              <a:avLst/>
            </a:prstGeom>
            <a:noFill/>
          </p:spPr>
          <p:txBody>
            <a:bodyPr wrap="square" lIns="108000" rIns="108000" rtlCol="0" anchor="t">
              <a:spAutoFit/>
            </a:bodyPr>
            <a:lstStyle/>
            <a:p>
              <a:pPr>
                <a:spcBef>
                  <a:spcPts val="600"/>
                </a:spcBef>
              </a:pPr>
              <a:r>
                <a:rPr lang="ja-JP" altLang="en-US" sz="1600">
                  <a:latin typeface="+mn-ea"/>
                </a:rPr>
                <a:t>要件定義から結合テストまで、工程ごとの厳格な完了基準を設けた開発プロセスを適用。</a:t>
              </a:r>
              <a:endParaRPr lang="en-US" altLang="ja-JP" sz="1600">
                <a:latin typeface="+mn-ea"/>
              </a:endParaRPr>
            </a:p>
            <a:p>
              <a:pPr>
                <a:spcBef>
                  <a:spcPts val="600"/>
                </a:spcBef>
              </a:pPr>
              <a:r>
                <a:rPr lang="ja-JP" altLang="en-US" sz="1600">
                  <a:latin typeface="+mn-ea"/>
                </a:rPr>
                <a:t>レガシー資産の</a:t>
              </a:r>
              <a:r>
                <a:rPr lang="en-US" altLang="ja-JP" sz="1600">
                  <a:latin typeface="+mn-ea"/>
                </a:rPr>
                <a:t>Web</a:t>
              </a:r>
              <a:r>
                <a:rPr lang="ja-JP" altLang="en-US" sz="1600">
                  <a:latin typeface="+mn-ea"/>
                </a:rPr>
                <a:t>化において重要となる品質を担保し、安定したシステム構築を実現します。</a:t>
              </a:r>
              <a:endParaRPr lang="en-US" altLang="ja-JP" sz="1600">
                <a:latin typeface="+mn-ea"/>
              </a:endParaRPr>
            </a:p>
          </p:txBody>
        </p:sp>
      </p:grpSp>
      <p:grpSp>
        <p:nvGrpSpPr>
          <p:cNvPr id="168" name="グループ化 167">
            <a:extLst>
              <a:ext uri="{FF2B5EF4-FFF2-40B4-BE49-F238E27FC236}">
                <a16:creationId xmlns:a16="http://schemas.microsoft.com/office/drawing/2014/main" id="{A6BE0DC4-472C-1C6F-2FED-0852141C422A}"/>
              </a:ext>
            </a:extLst>
          </p:cNvPr>
          <p:cNvGrpSpPr/>
          <p:nvPr/>
        </p:nvGrpSpPr>
        <p:grpSpPr>
          <a:xfrm>
            <a:off x="1015039" y="1887272"/>
            <a:ext cx="10040699" cy="1140068"/>
            <a:chOff x="1015039" y="4903666"/>
            <a:chExt cx="10040699" cy="1140068"/>
          </a:xfrm>
        </p:grpSpPr>
        <p:sp>
          <p:nvSpPr>
            <p:cNvPr id="169" name="正方形/長方形 168">
              <a:extLst>
                <a:ext uri="{FF2B5EF4-FFF2-40B4-BE49-F238E27FC236}">
                  <a16:creationId xmlns:a16="http://schemas.microsoft.com/office/drawing/2014/main" id="{41A6EEFC-30D8-F8FD-C16E-B61382A594D5}"/>
                </a:ext>
              </a:extLst>
            </p:cNvPr>
            <p:cNvSpPr/>
            <p:nvPr/>
          </p:nvSpPr>
          <p:spPr>
            <a:xfrm>
              <a:off x="1015039" y="4903666"/>
              <a:ext cx="211232" cy="426599"/>
            </a:xfrm>
            <a:prstGeom prst="rect">
              <a:avLst/>
            </a:prstGeom>
            <a:pattFill prst="dkUpDiag">
              <a:fgClr>
                <a:srgbClr val="FFAFAF"/>
              </a:fgClr>
              <a:bgClr>
                <a:schemeClr val="bg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solidFill>
                  <a:schemeClr val="tx1"/>
                </a:solidFill>
              </a:endParaRPr>
            </a:p>
          </p:txBody>
        </p:sp>
        <p:sp>
          <p:nvSpPr>
            <p:cNvPr id="170" name="テキスト ボックス 169">
              <a:extLst>
                <a:ext uri="{FF2B5EF4-FFF2-40B4-BE49-F238E27FC236}">
                  <a16:creationId xmlns:a16="http://schemas.microsoft.com/office/drawing/2014/main" id="{068EFC9F-DE00-E7C6-D7D1-985E5E1C1DD8}"/>
                </a:ext>
              </a:extLst>
            </p:cNvPr>
            <p:cNvSpPr txBox="1"/>
            <p:nvPr/>
          </p:nvSpPr>
          <p:spPr>
            <a:xfrm>
              <a:off x="1271194" y="4903666"/>
              <a:ext cx="360996" cy="461665"/>
            </a:xfrm>
            <a:prstGeom prst="rect">
              <a:avLst/>
            </a:prstGeom>
            <a:noFill/>
          </p:spPr>
          <p:txBody>
            <a:bodyPr wrap="none" rtlCol="0">
              <a:spAutoFit/>
            </a:bodyPr>
            <a:lstStyle/>
            <a:p>
              <a:r>
                <a:rPr kumimoji="1" lang="en-US" altLang="ja-JP" sz="2400" b="1">
                  <a:latin typeface="+mn-ea"/>
                </a:rPr>
                <a:t>1</a:t>
              </a:r>
              <a:endParaRPr kumimoji="1" lang="ja-JP" altLang="en-US" sz="2400" b="1">
                <a:latin typeface="+mn-ea"/>
              </a:endParaRPr>
            </a:p>
          </p:txBody>
        </p:sp>
        <p:sp>
          <p:nvSpPr>
            <p:cNvPr id="171" name="テキスト ボックス 170">
              <a:extLst>
                <a:ext uri="{FF2B5EF4-FFF2-40B4-BE49-F238E27FC236}">
                  <a16:creationId xmlns:a16="http://schemas.microsoft.com/office/drawing/2014/main" id="{5AA1C51B-130F-47C4-ADA2-363900B01B6E}"/>
                </a:ext>
              </a:extLst>
            </p:cNvPr>
            <p:cNvSpPr txBox="1"/>
            <p:nvPr/>
          </p:nvSpPr>
          <p:spPr>
            <a:xfrm>
              <a:off x="1695739" y="4951997"/>
              <a:ext cx="4828153" cy="369332"/>
            </a:xfrm>
            <a:prstGeom prst="rect">
              <a:avLst/>
            </a:prstGeom>
            <a:noFill/>
          </p:spPr>
          <p:txBody>
            <a:bodyPr wrap="none" rtlCol="0">
              <a:noAutofit/>
            </a:bodyPr>
            <a:lstStyle/>
            <a:p>
              <a:r>
                <a:rPr kumimoji="1" lang="ja-JP" altLang="en-US" b="1">
                  <a:latin typeface="+mn-ea"/>
                </a:rPr>
                <a:t>出光興産様プロジェクトでの成功実績</a:t>
              </a:r>
            </a:p>
          </p:txBody>
        </p:sp>
        <p:sp>
          <p:nvSpPr>
            <p:cNvPr id="172" name="正方形/長方形 171">
              <a:extLst>
                <a:ext uri="{FF2B5EF4-FFF2-40B4-BE49-F238E27FC236}">
                  <a16:creationId xmlns:a16="http://schemas.microsoft.com/office/drawing/2014/main" id="{F7FA9149-9491-2747-E578-BC8E1F683C15}"/>
                </a:ext>
              </a:extLst>
            </p:cNvPr>
            <p:cNvSpPr/>
            <p:nvPr/>
          </p:nvSpPr>
          <p:spPr>
            <a:xfrm rot="10800000">
              <a:off x="1015039" y="5347529"/>
              <a:ext cx="4500000" cy="86462"/>
            </a:xfrm>
            <a:prstGeom prst="rect">
              <a:avLst/>
            </a:prstGeom>
            <a:gradFill>
              <a:gsLst>
                <a:gs pos="0">
                  <a:schemeClr val="bg1">
                    <a:lumMod val="85000"/>
                  </a:schemeClr>
                </a:gs>
                <a:gs pos="100000">
                  <a:schemeClr val="bg1">
                    <a:lumMod val="74000"/>
                    <a:lumOff val="26000"/>
                    <a:alpha val="85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173" name="テキスト ボックス 172">
              <a:extLst>
                <a:ext uri="{FF2B5EF4-FFF2-40B4-BE49-F238E27FC236}">
                  <a16:creationId xmlns:a16="http://schemas.microsoft.com/office/drawing/2014/main" id="{89366D62-965F-E652-425E-EB07F31D144A}"/>
                </a:ext>
              </a:extLst>
            </p:cNvPr>
            <p:cNvSpPr txBox="1"/>
            <p:nvPr/>
          </p:nvSpPr>
          <p:spPr>
            <a:xfrm>
              <a:off x="1695738" y="5458959"/>
              <a:ext cx="9360000" cy="584775"/>
            </a:xfrm>
            <a:prstGeom prst="rect">
              <a:avLst/>
            </a:prstGeom>
            <a:noFill/>
          </p:spPr>
          <p:txBody>
            <a:bodyPr wrap="square" lIns="108000" rIns="108000" rtlCol="0" anchor="t">
              <a:spAutoFit/>
            </a:bodyPr>
            <a:lstStyle/>
            <a:p>
              <a:pPr>
                <a:spcBef>
                  <a:spcPts val="600"/>
                </a:spcBef>
              </a:pPr>
              <a:r>
                <a:rPr lang="ja-JP" altLang="en-US" sz="1600">
                  <a:latin typeface="+mn-ea"/>
                </a:rPr>
                <a:t>千葉運転管理システム構築の大型プロジェクトや貴社案件の多数プロジェクトにおける管理ノウハウを活用することで円滑なプロジェクト遂行を行います。</a:t>
              </a:r>
            </a:p>
          </p:txBody>
        </p:sp>
      </p:grpSp>
    </p:spTree>
    <p:extLst>
      <p:ext uri="{BB962C8B-B14F-4D97-AF65-F5344CB8AC3E}">
        <p14:creationId xmlns:p14="http://schemas.microsoft.com/office/powerpoint/2010/main" val="3332083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80415E01-9431-A589-C9FD-E625C9B4E7BC}"/>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
        <p:nvSpPr>
          <p:cNvPr id="4" name="タイトル 3">
            <a:extLst>
              <a:ext uri="{FF2B5EF4-FFF2-40B4-BE49-F238E27FC236}">
                <a16:creationId xmlns:a16="http://schemas.microsoft.com/office/drawing/2014/main" id="{50CBA8B7-7E3E-4E10-2E41-240BF4A7E426}"/>
              </a:ext>
            </a:extLst>
          </p:cNvPr>
          <p:cNvSpPr>
            <a:spLocks noGrp="1"/>
          </p:cNvSpPr>
          <p:nvPr>
            <p:ph type="title"/>
          </p:nvPr>
        </p:nvSpPr>
        <p:spPr/>
        <p:txBody>
          <a:bodyPr/>
          <a:lstStyle/>
          <a:p>
            <a:r>
              <a:rPr lang="ja-JP" altLang="en-US"/>
              <a:t>開発範囲</a:t>
            </a:r>
            <a:endParaRPr kumimoji="1" lang="ja-JP" altLang="en-US"/>
          </a:p>
        </p:txBody>
      </p:sp>
    </p:spTree>
    <p:extLst>
      <p:ext uri="{BB962C8B-B14F-4D97-AF65-F5344CB8AC3E}">
        <p14:creationId xmlns:p14="http://schemas.microsoft.com/office/powerpoint/2010/main" val="1774215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en-US" altLang="ja-JP">
                <a:latin typeface="游明朝"/>
                <a:ea typeface="游明朝"/>
              </a:rPr>
              <a:t>2-1</a:t>
            </a:r>
            <a:r>
              <a:rPr lang="ja-JP" altLang="en-US">
                <a:latin typeface="游明朝"/>
                <a:ea typeface="游明朝"/>
              </a:rPr>
              <a:t>．対象</a:t>
            </a:r>
            <a:r>
              <a:rPr kumimoji="1" lang="ja-JP" altLang="en-US">
                <a:latin typeface="游明朝"/>
                <a:ea typeface="游明朝"/>
              </a:rPr>
              <a:t>機能一覧</a:t>
            </a:r>
            <a:r>
              <a:rPr kumimoji="1" lang="en-US" altLang="ja-JP">
                <a:latin typeface="游明朝"/>
                <a:ea typeface="游明朝"/>
              </a:rPr>
              <a:t>( </a:t>
            </a:r>
            <a:r>
              <a:rPr lang="en-US" altLang="ja-JP">
                <a:latin typeface="游明朝"/>
                <a:ea typeface="游明朝"/>
              </a:rPr>
              <a:t>Java</a:t>
            </a:r>
            <a:r>
              <a:rPr lang="ja-JP" altLang="en-US">
                <a:latin typeface="游明朝"/>
                <a:ea typeface="游明朝"/>
              </a:rPr>
              <a:t>化 </a:t>
            </a:r>
            <a:r>
              <a:rPr kumimoji="1" lang="en-US" altLang="ja-JP">
                <a:latin typeface="游明朝"/>
                <a:ea typeface="游明朝"/>
              </a:rPr>
              <a:t>)</a:t>
            </a:r>
            <a:endParaRPr kumimoji="1" lang="ja-JP" altLang="en-US"/>
          </a:p>
        </p:txBody>
      </p:sp>
      <p:graphicFrame>
        <p:nvGraphicFramePr>
          <p:cNvPr id="6" name="表 5">
            <a:extLst>
              <a:ext uri="{FF2B5EF4-FFF2-40B4-BE49-F238E27FC236}">
                <a16:creationId xmlns:a16="http://schemas.microsoft.com/office/drawing/2014/main" id="{AD3B78A0-1783-449D-845D-A46B0767A3FB}"/>
              </a:ext>
            </a:extLst>
          </p:cNvPr>
          <p:cNvGraphicFramePr>
            <a:graphicFrameLocks noGrp="1"/>
          </p:cNvGraphicFramePr>
          <p:nvPr>
            <p:extLst>
              <p:ext uri="{D42A27DB-BD31-4B8C-83A1-F6EECF244321}">
                <p14:modId xmlns:p14="http://schemas.microsoft.com/office/powerpoint/2010/main" val="3027392029"/>
              </p:ext>
            </p:extLst>
          </p:nvPr>
        </p:nvGraphicFramePr>
        <p:xfrm>
          <a:off x="575400" y="803518"/>
          <a:ext cx="11048129" cy="5545829"/>
        </p:xfrm>
        <a:graphic>
          <a:graphicData uri="http://schemas.openxmlformats.org/drawingml/2006/table">
            <a:tbl>
              <a:tblPr firstRow="1" bandRow="1">
                <a:tableStyleId>{5940675A-B579-460E-94D1-54222C63F5DA}</a:tableStyleId>
              </a:tblPr>
              <a:tblGrid>
                <a:gridCol w="453150">
                  <a:extLst>
                    <a:ext uri="{9D8B030D-6E8A-4147-A177-3AD203B41FA5}">
                      <a16:colId xmlns:a16="http://schemas.microsoft.com/office/drawing/2014/main" val="2191046775"/>
                    </a:ext>
                  </a:extLst>
                </a:gridCol>
                <a:gridCol w="2251363">
                  <a:extLst>
                    <a:ext uri="{9D8B030D-6E8A-4147-A177-3AD203B41FA5}">
                      <a16:colId xmlns:a16="http://schemas.microsoft.com/office/drawing/2014/main" val="2791548711"/>
                    </a:ext>
                  </a:extLst>
                </a:gridCol>
                <a:gridCol w="2753095">
                  <a:extLst>
                    <a:ext uri="{9D8B030D-6E8A-4147-A177-3AD203B41FA5}">
                      <a16:colId xmlns:a16="http://schemas.microsoft.com/office/drawing/2014/main" val="1616917508"/>
                    </a:ext>
                  </a:extLst>
                </a:gridCol>
                <a:gridCol w="477091">
                  <a:extLst>
                    <a:ext uri="{9D8B030D-6E8A-4147-A177-3AD203B41FA5}">
                      <a16:colId xmlns:a16="http://schemas.microsoft.com/office/drawing/2014/main" val="233919114"/>
                    </a:ext>
                  </a:extLst>
                </a:gridCol>
                <a:gridCol w="2266180">
                  <a:extLst>
                    <a:ext uri="{9D8B030D-6E8A-4147-A177-3AD203B41FA5}">
                      <a16:colId xmlns:a16="http://schemas.microsoft.com/office/drawing/2014/main" val="1359045868"/>
                    </a:ext>
                  </a:extLst>
                </a:gridCol>
                <a:gridCol w="2847250">
                  <a:extLst>
                    <a:ext uri="{9D8B030D-6E8A-4147-A177-3AD203B41FA5}">
                      <a16:colId xmlns:a16="http://schemas.microsoft.com/office/drawing/2014/main" val="156472191"/>
                    </a:ext>
                  </a:extLst>
                </a:gridCol>
              </a:tblGrid>
              <a:tr h="322487">
                <a:tc>
                  <a:txBody>
                    <a:bodyPr/>
                    <a:lstStyle/>
                    <a:p>
                      <a:pPr algn="ctr"/>
                      <a:r>
                        <a:rPr kumimoji="1" lang="en-US" altLang="ja-JP" sz="1400" b="1">
                          <a:solidFill>
                            <a:schemeClr val="bg1"/>
                          </a:solidFill>
                          <a:latin typeface="+mn-ea"/>
                          <a:ea typeface="+mn-ea"/>
                        </a:rPr>
                        <a:t>No</a:t>
                      </a:r>
                      <a:endParaRPr kumimoji="1" lang="ja-JP" altLang="en-US"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機能名</a:t>
                      </a:r>
                      <a:endParaRPr kumimoji="1" lang="en-US" altLang="ja-JP"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既存プログラム</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bg1"/>
                          </a:solidFill>
                          <a:latin typeface="+mn-ea"/>
                          <a:ea typeface="+mn-ea"/>
                        </a:rPr>
                        <a:t>No</a:t>
                      </a:r>
                      <a:endParaRPr kumimoji="1" lang="ja-JP" altLang="en-US"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n-ea"/>
                          <a:ea typeface="+mn-ea"/>
                        </a:rPr>
                        <a:t>機能名</a:t>
                      </a:r>
                      <a:endParaRPr kumimoji="1" lang="en-US" altLang="ja-JP"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n-ea"/>
                          <a:ea typeface="+mn-ea"/>
                        </a:rPr>
                        <a:t>既存プログラム</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S1_</a:t>
                      </a:r>
                      <a:r>
                        <a:rPr lang="ja-JP" altLang="en-US" sz="1050" b="0" i="0" u="none" strike="noStrike">
                          <a:solidFill>
                            <a:srgbClr val="000000"/>
                          </a:solidFill>
                          <a:effectLst/>
                          <a:latin typeface="Meiryo UI" panose="020B0604030504040204" pitchFamily="50" charset="-128"/>
                          <a:ea typeface="Meiryo UI" panose="020B0604030504040204" pitchFamily="50" charset="-128"/>
                        </a:rPr>
                        <a:t>北海道製</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dirty="0">
                          <a:solidFill>
                            <a:srgbClr val="000000"/>
                          </a:solidFill>
                          <a:effectLst/>
                          <a:latin typeface="Meiryo UI" panose="020B0604030504040204" pitchFamily="50" charset="-128"/>
                          <a:ea typeface="Meiryo UI" panose="020B0604030504040204" pitchFamily="50" charset="-128"/>
                        </a:rPr>
                        <a:t>　</a:t>
                      </a:r>
                      <a:r>
                        <a:rPr lang="en-US" sz="1050" b="0" i="0" u="none" strike="noStrike" dirty="0">
                          <a:solidFill>
                            <a:srgbClr val="000000"/>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19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S3_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千葉（化）</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∟各所比較情報／品質管理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zbfz001.exe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S4_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愛知事</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∟製油所情報／品質管理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bcfz001.exe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∟各所比較情報／品質管理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zbfz001.exe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∟製油所情報／データ検索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bciz001.exe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∟製油所情報／品質管理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dcfz001.exe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7073053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∟品質情報検索／燃料油</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zbfz0021.exe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∟製油所情報／データ検索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dciz001.exe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40008370"/>
                  </a:ext>
                </a:extLst>
              </a:tr>
              <a:tr h="289296">
                <a:tc>
                  <a:txBody>
                    <a:bodyPr/>
                    <a:lstStyle/>
                    <a:p>
                      <a:pPr algn="ctr"/>
                      <a:r>
                        <a:rPr kumimoji="1" lang="en-US" altLang="ja-JP" sz="1200">
                          <a:latin typeface="Meiryo UI" panose="020B0604030504040204" pitchFamily="50" charset="-128"/>
                          <a:ea typeface="Meiryo UI" panose="020B0604030504040204" pitchFamily="50" charset="-128"/>
                        </a:rPr>
                        <a:t>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∟品質情報検索／工程</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zbfz0022.exe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∟ローカルシステム</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dllz001.exe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6987722"/>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∟品質情報検索／品質関連</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zbfz0023.exe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∟個別業務情報／運転管理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dedz001.exe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3113407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∟ローカルシステム</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bllz001.exe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∟個別業務情報／品質管理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zefz001.exe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4437572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∟個別業務情報／運転管理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bedz001.exe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S5_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徳山西</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9069324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zefz001.exe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∟各所比較情報／品質管理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zbfz001.exe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696066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a:t>
                      </a:r>
                      <a:r>
                        <a:rPr lang="en-US" sz="1050" b="0" i="0" u="none" strike="noStrike">
                          <a:solidFill>
                            <a:srgbClr val="000000"/>
                          </a:solidFill>
                          <a:effectLst/>
                          <a:latin typeface="Meiryo UI" panose="020B0604030504040204" pitchFamily="50" charset="-128"/>
                          <a:ea typeface="Meiryo UI" panose="020B0604030504040204" pitchFamily="50" charset="-128"/>
                        </a:rPr>
                        <a:t>S2_</a:t>
                      </a:r>
                      <a:r>
                        <a:rPr lang="ja-JP" altLang="en-US" sz="1050" b="0" i="0" u="none" strike="noStrike">
                          <a:solidFill>
                            <a:srgbClr val="000000"/>
                          </a:solidFill>
                          <a:effectLst/>
                          <a:latin typeface="Meiryo UI" panose="020B0604030504040204" pitchFamily="50" charset="-128"/>
                          <a:ea typeface="Meiryo UI" panose="020B0604030504040204" pitchFamily="50" charset="-128"/>
                        </a:rPr>
                        <a:t>千葉（石）</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dirty="0">
                          <a:solidFill>
                            <a:schemeClr val="tx1"/>
                          </a:solidFill>
                          <a:effectLst/>
                          <a:latin typeface="Meiryo UI" panose="020B0604030504040204" pitchFamily="50" charset="-128"/>
                          <a:ea typeface="Meiryo UI" panose="020B0604030504040204" pitchFamily="50" charset="-128"/>
                        </a:rPr>
                        <a:t>　</a:t>
                      </a:r>
                      <a:r>
                        <a:rPr lang="en-US" sz="1050" b="0" i="0" u="none" strike="noStrike" dirty="0">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29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∟製油所情報／品質管理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fcfz001.exe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00033946"/>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∟各所比較情報／品質管理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zbfz001.exe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∟製油所情報／データ検索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fciz001.exe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50402894"/>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∟製油所情報／品質管理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ccfz001.exe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∟ローカルシステム</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fllz001.exe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32634347"/>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∟製油所情報／データ検索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cciz001.exe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∟個別業務情報／運転管理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fedz001.exe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50517173"/>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050" b="0" i="0" u="none" strike="noStrike">
                          <a:solidFill>
                            <a:srgbClr val="000000"/>
                          </a:solidFill>
                          <a:effectLst/>
                          <a:latin typeface="Meiryo UI" panose="020B0604030504040204" pitchFamily="50" charset="-128"/>
                          <a:ea typeface="Meiryo UI" panose="020B0604030504040204" pitchFamily="50" charset="-128"/>
                        </a:rPr>
                        <a:t>　　∟ローカルシステム</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cllz001.exe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100" b="0" i="0" u="none" strike="noStrike">
                          <a:solidFill>
                            <a:srgbClr val="000000"/>
                          </a:solidFill>
                          <a:effectLst/>
                          <a:latin typeface="Meiryo UI" panose="020B0604030504040204" pitchFamily="50" charset="-128"/>
                          <a:ea typeface="Meiryo UI" panose="020B0604030504040204" pitchFamily="50" charset="-128"/>
                        </a:rPr>
                        <a:t>　　∟個別業務情報／品質管理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zefz001.exe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4216965"/>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∟個別業務情報／運転管理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cedz001.exe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34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S6_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徳山東</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904326243"/>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∟個別業務情報／品質管理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zefz001.exe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ctr" fontAlgn="ctr">
                        <a:buNone/>
                      </a:pPr>
                      <a:r>
                        <a:rPr lang="en-US" sz="1200" b="0" i="0" u="none" strike="noStrike">
                          <a:solidFill>
                            <a:schemeClr val="tx1"/>
                          </a:solidFill>
                          <a:effectLst/>
                          <a:latin typeface="Meiryo UI" panose="020B0604030504040204" pitchFamily="50" charset="-128"/>
                          <a:ea typeface="Meiryo UI" panose="020B0604030504040204" pitchFamily="50" charset="-128"/>
                        </a:rPr>
                        <a:t>35</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千葉（石）オフサイトメンテ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DATAMENT.EXE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04926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18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altLang="en-US" sz="1050" b="0" i="0" u="none" strike="noStrike">
                          <a:solidFill>
                            <a:srgbClr val="000000"/>
                          </a:solidFill>
                          <a:effectLst/>
                          <a:latin typeface="Meiryo UI" panose="020B0604030504040204" pitchFamily="50" charset="-128"/>
                          <a:ea typeface="Meiryo UI" panose="020B0604030504040204" pitchFamily="50" charset="-128"/>
                        </a:rPr>
                        <a:t>　　∟個別業務情報／官庁申請</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l" fontAlgn="ctr">
                        <a:buNone/>
                      </a:pPr>
                      <a:r>
                        <a:rPr lang="ja-JP" altLang="en-US" sz="1050" b="0" i="0" u="none" strike="noStrike">
                          <a:solidFill>
                            <a:schemeClr val="tx1"/>
                          </a:solidFill>
                          <a:effectLst/>
                          <a:latin typeface="Meiryo UI" panose="020B0604030504040204" pitchFamily="50" charset="-128"/>
                          <a:ea typeface="Meiryo UI" panose="020B0604030504040204" pitchFamily="50" charset="-128"/>
                        </a:rPr>
                        <a:t>　</a:t>
                      </a:r>
                      <a:r>
                        <a:rPr lang="en-US" sz="1050" b="0" i="0" u="none" strike="noStrike">
                          <a:solidFill>
                            <a:schemeClr val="tx1"/>
                          </a:solidFill>
                          <a:effectLst/>
                          <a:latin typeface="Meiryo UI" panose="020B0604030504040204" pitchFamily="50" charset="-128"/>
                          <a:ea typeface="Meiryo UI" panose="020B0604030504040204" pitchFamily="50" charset="-128"/>
                        </a:rPr>
                        <a:t>cekz001.exe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ctr" fontAlgn="ctr">
                        <a:buNone/>
                      </a:pPr>
                      <a:r>
                        <a:rPr lang="en-US" sz="1200" b="0" i="0" u="none" strike="noStrike">
                          <a:solidFill>
                            <a:schemeClr val="tx1"/>
                          </a:solidFill>
                          <a:effectLst/>
                          <a:latin typeface="Meiryo UI" panose="020B0604030504040204" pitchFamily="50" charset="-128"/>
                          <a:ea typeface="Meiryo UI" panose="020B0604030504040204" pitchFamily="50" charset="-128"/>
                        </a:rPr>
                        <a:t>36</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千葉（石）横串</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dirty="0">
                          <a:solidFill>
                            <a:schemeClr val="tx1"/>
                          </a:solidFill>
                          <a:effectLst/>
                          <a:latin typeface="Meiryo UI" panose="020B0604030504040204" pitchFamily="50" charset="-128"/>
                          <a:ea typeface="Meiryo UI" panose="020B0604030504040204" pitchFamily="50" charset="-128"/>
                        </a:rPr>
                        <a:t>　</a:t>
                      </a:r>
                      <a:r>
                        <a:rPr lang="en-US" sz="1100" b="0" i="0" u="none" strike="noStrike" dirty="0">
                          <a:solidFill>
                            <a:schemeClr val="tx1"/>
                          </a:solidFill>
                          <a:effectLst/>
                          <a:latin typeface="Meiryo UI" panose="020B0604030504040204" pitchFamily="50" charset="-128"/>
                          <a:ea typeface="Meiryo UI" panose="020B0604030504040204" pitchFamily="50" charset="-128"/>
                        </a:rPr>
                        <a:t>CCD1038.EXE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44663861"/>
                  </a:ext>
                </a:extLst>
              </a:tr>
            </a:tbl>
          </a:graphicData>
        </a:graphic>
      </p:graphicFrame>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
        <p:nvSpPr>
          <p:cNvPr id="4" name="スライド番号プレースホルダー 3">
            <a:extLst>
              <a:ext uri="{FF2B5EF4-FFF2-40B4-BE49-F238E27FC236}">
                <a16:creationId xmlns:a16="http://schemas.microsoft.com/office/drawing/2014/main" id="{95DA0B14-CB09-3B2C-CAC2-3F2B80C780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8</a:t>
            </a:fld>
            <a:endParaRPr kumimoji="1" lang="ja-JP" altLang="en-US" sz="700"/>
          </a:p>
        </p:txBody>
      </p:sp>
    </p:spTree>
    <p:extLst>
      <p:ext uri="{BB962C8B-B14F-4D97-AF65-F5344CB8AC3E}">
        <p14:creationId xmlns:p14="http://schemas.microsoft.com/office/powerpoint/2010/main" val="2965150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en-US" altLang="ja-JP">
                <a:latin typeface="游明朝"/>
                <a:ea typeface="游明朝"/>
              </a:rPr>
              <a:t>2-2</a:t>
            </a:r>
            <a:r>
              <a:rPr lang="ja-JP" altLang="en-US">
                <a:latin typeface="游明朝"/>
                <a:ea typeface="游明朝"/>
              </a:rPr>
              <a:t>．対象</a:t>
            </a:r>
            <a:r>
              <a:rPr kumimoji="1" lang="ja-JP" altLang="en-US">
                <a:latin typeface="游明朝"/>
                <a:ea typeface="游明朝"/>
              </a:rPr>
              <a:t>機能一覧</a:t>
            </a:r>
            <a:r>
              <a:rPr kumimoji="1" lang="en-US" altLang="ja-JP">
                <a:latin typeface="游明朝"/>
                <a:ea typeface="游明朝"/>
              </a:rPr>
              <a:t>( </a:t>
            </a:r>
            <a:r>
              <a:rPr lang="en-US" altLang="ja-JP">
                <a:latin typeface="游明朝"/>
                <a:ea typeface="游明朝"/>
              </a:rPr>
              <a:t>Java</a:t>
            </a:r>
            <a:r>
              <a:rPr lang="ja-JP" altLang="en-US">
                <a:latin typeface="游明朝"/>
                <a:ea typeface="游明朝"/>
              </a:rPr>
              <a:t>化 </a:t>
            </a:r>
            <a:r>
              <a:rPr kumimoji="1" lang="en-US" altLang="ja-JP">
                <a:latin typeface="游明朝"/>
                <a:ea typeface="游明朝"/>
              </a:rPr>
              <a:t>)</a:t>
            </a:r>
            <a:endParaRPr kumimoji="1" lang="ja-JP" altLang="en-US"/>
          </a:p>
        </p:txBody>
      </p:sp>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
        <p:nvSpPr>
          <p:cNvPr id="4" name="スライド番号プレースホルダー 3">
            <a:extLst>
              <a:ext uri="{FF2B5EF4-FFF2-40B4-BE49-F238E27FC236}">
                <a16:creationId xmlns:a16="http://schemas.microsoft.com/office/drawing/2014/main" id="{95DA0B14-CB09-3B2C-CAC2-3F2B80C780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9</a:t>
            </a:fld>
            <a:endParaRPr kumimoji="1" lang="ja-JP" altLang="en-US" sz="700"/>
          </a:p>
        </p:txBody>
      </p:sp>
      <p:graphicFrame>
        <p:nvGraphicFramePr>
          <p:cNvPr id="5" name="表 4">
            <a:extLst>
              <a:ext uri="{FF2B5EF4-FFF2-40B4-BE49-F238E27FC236}">
                <a16:creationId xmlns:a16="http://schemas.microsoft.com/office/drawing/2014/main" id="{13375678-1B1E-A341-AD11-5BA401916E73}"/>
              </a:ext>
            </a:extLst>
          </p:cNvPr>
          <p:cNvGraphicFramePr>
            <a:graphicFrameLocks noGrp="1"/>
          </p:cNvGraphicFramePr>
          <p:nvPr>
            <p:extLst>
              <p:ext uri="{D42A27DB-BD31-4B8C-83A1-F6EECF244321}">
                <p14:modId xmlns:p14="http://schemas.microsoft.com/office/powerpoint/2010/main" val="3943609249"/>
              </p:ext>
            </p:extLst>
          </p:nvPr>
        </p:nvGraphicFramePr>
        <p:xfrm>
          <a:off x="575400" y="803518"/>
          <a:ext cx="11030353" cy="5590871"/>
        </p:xfrm>
        <a:graphic>
          <a:graphicData uri="http://schemas.openxmlformats.org/drawingml/2006/table">
            <a:tbl>
              <a:tblPr firstRow="1" bandRow="1">
                <a:tableStyleId>{5940675A-B579-460E-94D1-54222C63F5DA}</a:tableStyleId>
              </a:tblPr>
              <a:tblGrid>
                <a:gridCol w="472564">
                  <a:extLst>
                    <a:ext uri="{9D8B030D-6E8A-4147-A177-3AD203B41FA5}">
                      <a16:colId xmlns:a16="http://schemas.microsoft.com/office/drawing/2014/main" val="2191046775"/>
                    </a:ext>
                  </a:extLst>
                </a:gridCol>
                <a:gridCol w="2270589">
                  <a:extLst>
                    <a:ext uri="{9D8B030D-6E8A-4147-A177-3AD203B41FA5}">
                      <a16:colId xmlns:a16="http://schemas.microsoft.com/office/drawing/2014/main" val="2791548711"/>
                    </a:ext>
                  </a:extLst>
                </a:gridCol>
                <a:gridCol w="2772000">
                  <a:extLst>
                    <a:ext uri="{9D8B030D-6E8A-4147-A177-3AD203B41FA5}">
                      <a16:colId xmlns:a16="http://schemas.microsoft.com/office/drawing/2014/main" val="1616917508"/>
                    </a:ext>
                  </a:extLst>
                </a:gridCol>
                <a:gridCol w="471600">
                  <a:extLst>
                    <a:ext uri="{9D8B030D-6E8A-4147-A177-3AD203B41FA5}">
                      <a16:colId xmlns:a16="http://schemas.microsoft.com/office/drawing/2014/main" val="233919114"/>
                    </a:ext>
                  </a:extLst>
                </a:gridCol>
                <a:gridCol w="2271600">
                  <a:extLst>
                    <a:ext uri="{9D8B030D-6E8A-4147-A177-3AD203B41FA5}">
                      <a16:colId xmlns:a16="http://schemas.microsoft.com/office/drawing/2014/main" val="1359045868"/>
                    </a:ext>
                  </a:extLst>
                </a:gridCol>
                <a:gridCol w="2772000">
                  <a:extLst>
                    <a:ext uri="{9D8B030D-6E8A-4147-A177-3AD203B41FA5}">
                      <a16:colId xmlns:a16="http://schemas.microsoft.com/office/drawing/2014/main" val="156472191"/>
                    </a:ext>
                  </a:extLst>
                </a:gridCol>
              </a:tblGrid>
              <a:tr h="322487">
                <a:tc>
                  <a:txBody>
                    <a:bodyPr/>
                    <a:lstStyle/>
                    <a:p>
                      <a:pPr algn="ctr"/>
                      <a:r>
                        <a:rPr kumimoji="1" lang="en-US" altLang="ja-JP" sz="1400" b="1">
                          <a:solidFill>
                            <a:schemeClr val="bg1"/>
                          </a:solidFill>
                          <a:latin typeface="+mn-ea"/>
                          <a:ea typeface="+mn-ea"/>
                        </a:rPr>
                        <a:t>No</a:t>
                      </a:r>
                      <a:endParaRPr kumimoji="1" lang="ja-JP" altLang="en-US"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機能名</a:t>
                      </a:r>
                      <a:endParaRPr kumimoji="1" lang="en-US" altLang="ja-JP"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mn-ea"/>
                          <a:ea typeface="+mn-ea"/>
                        </a:rPr>
                        <a:t>既存プログラム</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a:solidFill>
                            <a:schemeClr val="bg1"/>
                          </a:solidFill>
                          <a:latin typeface="+mn-ea"/>
                          <a:ea typeface="+mn-ea"/>
                        </a:rPr>
                        <a:t>No</a:t>
                      </a:r>
                      <a:endParaRPr kumimoji="1" lang="ja-JP" altLang="en-US"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n-ea"/>
                          <a:ea typeface="+mn-ea"/>
                        </a:rPr>
                        <a:t>機能名</a:t>
                      </a:r>
                      <a:endParaRPr kumimoji="1" lang="en-US" altLang="ja-JP" sz="1400" b="1">
                        <a:solidFill>
                          <a:schemeClr val="bg1"/>
                        </a:solidFill>
                        <a:latin typeface="+mn-ea"/>
                        <a:ea typeface="+mn-ea"/>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a:solidFill>
                            <a:schemeClr val="bg1"/>
                          </a:solidFill>
                          <a:latin typeface="+mn-ea"/>
                          <a:ea typeface="+mn-ea"/>
                        </a:rPr>
                        <a:t>既存プログラム</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37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千葉（石）潤滑油タンク在庫メンテ</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CEDZ020A.EXE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55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ケミカル管理</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2_</a:t>
                      </a:r>
                      <a:r>
                        <a:rPr lang="ja-JP" altLang="en-US" sz="1100" b="0" i="0" u="none" strike="noStrike">
                          <a:solidFill>
                            <a:srgbClr val="000000"/>
                          </a:solidFill>
                          <a:effectLst/>
                          <a:latin typeface="Meiryo UI" panose="020B0604030504040204" pitchFamily="50" charset="-128"/>
                          <a:ea typeface="Meiryo UI" panose="020B0604030504040204" pitchFamily="50" charset="-128"/>
                        </a:rPr>
                        <a:t>目標値入力画面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ケミカル管理</a:t>
                      </a:r>
                      <a:r>
                        <a:rPr lang="en-US" altLang="ja-JP" sz="1100" b="0" i="0" u="none" strike="noStrike">
                          <a:solidFill>
                            <a:srgbClr val="000000"/>
                          </a:solidFill>
                          <a:effectLst/>
                          <a:latin typeface="Meiryo UI"/>
                          <a:ea typeface="Meiryo UI"/>
                        </a:rPr>
                        <a:t>2_</a:t>
                      </a:r>
                      <a:r>
                        <a:rPr lang="ja-JP" altLang="en-US" sz="1100" b="0" i="0" u="none" strike="noStrike">
                          <a:solidFill>
                            <a:srgbClr val="000000"/>
                          </a:solidFill>
                          <a:effectLst/>
                          <a:latin typeface="Meiryo UI"/>
                          <a:ea typeface="Meiryo UI"/>
                        </a:rPr>
                        <a:t>目標値入力画面</a:t>
                      </a:r>
                      <a:r>
                        <a:rPr lang="en-US" altLang="ja-JP" sz="1100" b="0" i="0" u="none" strike="noStrike">
                          <a:solidFill>
                            <a:srgbClr val="000000"/>
                          </a:solidFill>
                          <a:effectLst/>
                          <a:latin typeface="Meiryo UI"/>
                          <a:ea typeface="Meiryo UI"/>
                        </a:rPr>
                        <a:t>.exe</a:t>
                      </a:r>
                      <a:r>
                        <a:rPr lang="en-US" sz="1100" b="0" i="0" u="none" strike="noStrike" noProof="0">
                          <a:solidFill>
                            <a:srgbClr val="000000"/>
                          </a:solidFill>
                          <a:effectLst/>
                          <a:latin typeface="Meiryo UI"/>
                        </a:rPr>
                        <a:t>（VB6）</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38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zh-TW" sz="1100" b="0" i="0" u="none" strike="noStrike">
                          <a:solidFill>
                            <a:srgbClr val="000000"/>
                          </a:solidFill>
                          <a:effectLst/>
                          <a:latin typeface="Meiryo UI" panose="020B0604030504040204" pitchFamily="50" charset="-128"/>
                          <a:ea typeface="Meiryo UI" panose="020B0604030504040204" pitchFamily="50" charset="-128"/>
                        </a:rPr>
                        <a:t>2 </a:t>
                      </a:r>
                      <a:r>
                        <a:rPr lang="zh-TW" altLang="en-US" sz="1100" b="0" i="0" u="none" strike="noStrike">
                          <a:solidFill>
                            <a:srgbClr val="000000"/>
                          </a:solidFill>
                          <a:effectLst/>
                          <a:latin typeface="Meiryo UI" panose="020B0604030504040204" pitchFamily="50" charset="-128"/>
                          <a:ea typeface="Meiryo UI" panose="020B0604030504040204" pitchFamily="50" charset="-128"/>
                        </a:rPr>
                        <a:t>千葉（石）操業情報</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CCD1041.EXE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56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TPHC Tools</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a:t>
                      </a:r>
                      <a:r>
                        <a:rPr lang="en-US" sz="1100" b="0" i="0" u="none" strike="noStrike">
                          <a:solidFill>
                            <a:srgbClr val="000000"/>
                          </a:solidFill>
                          <a:effectLst/>
                          <a:latin typeface="Meiryo UI"/>
                          <a:ea typeface="Meiryo UI"/>
                        </a:rPr>
                        <a:t>TPHCtools.exe</a:t>
                      </a:r>
                      <a:r>
                        <a:rPr lang="en-US" sz="1100" b="0" i="0" u="none" strike="noStrike" noProof="0">
                          <a:solidFill>
                            <a:srgbClr val="000000"/>
                          </a:solidFill>
                          <a:effectLst/>
                          <a:latin typeface="Meiryo UI"/>
                        </a:rPr>
                        <a:t>（VB6）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39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∟リカバリーメニュー画面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CCD1042.exe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200">
                          <a:latin typeface="Meiryo UI" panose="020B0604030504040204" pitchFamily="50" charset="-128"/>
                          <a:ea typeface="Meiryo UI" panose="020B0604030504040204" pitchFamily="50" charset="-128"/>
                        </a:rPr>
                        <a:t>57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err="1">
                          <a:solidFill>
                            <a:srgbClr val="000000"/>
                          </a:solidFill>
                          <a:effectLst/>
                          <a:latin typeface="Meiryo UI" panose="020B0604030504040204" pitchFamily="50" charset="-128"/>
                          <a:ea typeface="Meiryo UI" panose="020B0604030504040204" pitchFamily="50" charset="-128"/>
                        </a:rPr>
                        <a:t>Labman</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a:t>
                      </a:r>
                      <a:r>
                        <a:rPr lang="en-US" sz="1100" b="0" i="0" u="none" strike="noStrike">
                          <a:solidFill>
                            <a:srgbClr val="000000"/>
                          </a:solidFill>
                          <a:effectLst/>
                          <a:latin typeface="Meiryo UI"/>
                          <a:ea typeface="Meiryo UI"/>
                        </a:rPr>
                        <a:t>Labman.exe</a:t>
                      </a:r>
                      <a:r>
                        <a:rPr lang="en-US" sz="1100" b="0" i="0" u="none" strike="noStrike" noProof="0">
                          <a:solidFill>
                            <a:srgbClr val="000000"/>
                          </a:solidFill>
                          <a:effectLst/>
                          <a:latin typeface="Meiryo UI"/>
                        </a:rPr>
                        <a:t>（VB6）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∟自家燃使用量メニュー画面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CCD1033.exe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7073053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∟他システム通信メニュー画面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CCD1043.exe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40008370"/>
                  </a:ext>
                </a:extLst>
              </a:tr>
              <a:tr h="289296">
                <a:tc>
                  <a:txBody>
                    <a:bodyPr/>
                    <a:lstStyle/>
                    <a:p>
                      <a:pPr algn="ctr"/>
                      <a:r>
                        <a:rPr kumimoji="1" lang="en-US" altLang="ja-JP" sz="1200">
                          <a:latin typeface="Meiryo UI" panose="020B0604030504040204" pitchFamily="50" charset="-128"/>
                          <a:ea typeface="Meiryo UI" panose="020B0604030504040204" pitchFamily="50" charset="-128"/>
                        </a:rPr>
                        <a:t>42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PIMS</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データ削除画面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CCD1039.exe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16987722"/>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ja-JP" altLang="en-US" sz="1050" b="0" i="0" u="none" strike="noStrike">
                          <a:solidFill>
                            <a:srgbClr val="000000"/>
                          </a:solidFill>
                          <a:effectLst/>
                          <a:latin typeface="Meiryo UI" panose="020B0604030504040204" pitchFamily="50" charset="-128"/>
                          <a:ea typeface="Meiryo UI" panose="020B0604030504040204" pitchFamily="50" charset="-128"/>
                        </a:rPr>
                        <a:t>∟装置運転停止時間マスタメンテナンス</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CCD1040.exe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3113407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∟エラーメッセージ画面</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CCD1036.exe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4437572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45</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1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北海道製（ログオン画面有り）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90693248"/>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46</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千葉（石）（ログオン画面有り）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23696066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47</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3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千葉（化）（ログオン画面有り）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00033946"/>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48</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4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愛知事（ログオン画面有り）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50402894"/>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49</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5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徳山西（ログオン画面有り）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32634347"/>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50</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altLang="ja-JP" sz="1100" b="0" i="0" u="none" strike="noStrike">
                          <a:solidFill>
                            <a:srgbClr val="000000"/>
                          </a:solidFill>
                          <a:effectLst/>
                          <a:latin typeface="Meiryo UI" panose="020B0604030504040204" pitchFamily="50" charset="-128"/>
                          <a:ea typeface="Meiryo UI" panose="020B0604030504040204" pitchFamily="50" charset="-128"/>
                        </a:rPr>
                        <a:t>6 </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徳山東（ログオン画面有り）</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ZZZY001.exe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50517173"/>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51</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新</a:t>
                      </a:r>
                      <a:r>
                        <a:rPr lang="en-US" altLang="ja-JP" sz="1100" b="0" i="0" u="none" strike="noStrike">
                          <a:solidFill>
                            <a:srgbClr val="000000"/>
                          </a:solidFill>
                          <a:effectLst/>
                          <a:latin typeface="Meiryo UI" panose="020B0604030504040204" pitchFamily="50" charset="-128"/>
                          <a:ea typeface="Meiryo UI" panose="020B0604030504040204" pitchFamily="50" charset="-128"/>
                        </a:rPr>
                        <a:t>IRIS</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マスタメンテツール</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chemeClr val="tx1"/>
                          </a:solidFill>
                          <a:effectLst/>
                          <a:latin typeface="Meiryo UI" panose="020B0604030504040204" pitchFamily="50" charset="-128"/>
                          <a:ea typeface="Meiryo UI" panose="020B0604030504040204" pitchFamily="50" charset="-128"/>
                        </a:rPr>
                        <a:t>　</a:t>
                      </a:r>
                      <a:r>
                        <a:rPr lang="en-US" sz="1100" b="0" i="0" u="none" strike="noStrike">
                          <a:solidFill>
                            <a:schemeClr val="tx1"/>
                          </a:solidFill>
                          <a:effectLst/>
                          <a:latin typeface="Meiryo UI" panose="020B0604030504040204" pitchFamily="50" charset="-128"/>
                          <a:ea typeface="Meiryo UI" panose="020B0604030504040204" pitchFamily="50" charset="-128"/>
                        </a:rPr>
                        <a:t>AuthMnt.exe</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zh-TW"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44216965"/>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52</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ET_MENU_NEW</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a:t>
                      </a:r>
                      <a:r>
                        <a:rPr lang="en-US" sz="1100" b="0" i="0" u="none" strike="noStrike">
                          <a:solidFill>
                            <a:srgbClr val="000000"/>
                          </a:solidFill>
                          <a:effectLst/>
                          <a:latin typeface="Meiryo UI"/>
                          <a:ea typeface="Meiryo UI"/>
                        </a:rPr>
                        <a:t>ET_MENU_NEW.exe（VB6）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904326243"/>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53</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r>
                        <a:rPr lang="en-US" sz="1100" b="0" i="0" u="none" strike="noStrike">
                          <a:solidFill>
                            <a:srgbClr val="000000"/>
                          </a:solidFill>
                          <a:effectLst/>
                          <a:latin typeface="Meiryo UI" panose="020B0604030504040204" pitchFamily="50" charset="-128"/>
                          <a:ea typeface="Meiryo UI" panose="020B0604030504040204" pitchFamily="50" charset="-128"/>
                        </a:rPr>
                        <a:t>GT_ELE_COST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a:t>
                      </a:r>
                      <a:r>
                        <a:rPr lang="en-US" sz="1100" b="0" i="0" u="none" strike="noStrike">
                          <a:solidFill>
                            <a:srgbClr val="000000"/>
                          </a:solidFill>
                          <a:effectLst/>
                          <a:latin typeface="Meiryo UI"/>
                          <a:ea typeface="Meiryo UI"/>
                        </a:rPr>
                        <a:t>GT_ELE_COST.exe</a:t>
                      </a:r>
                      <a:r>
                        <a:rPr lang="en-US" sz="1100" b="0" i="0" u="none" strike="noStrike" noProof="0">
                          <a:solidFill>
                            <a:srgbClr val="000000"/>
                          </a:solidFill>
                          <a:effectLst/>
                          <a:latin typeface="Meiryo UI"/>
                        </a:rPr>
                        <a:t>（VB6）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ctr" fontAlgn="ctr">
                        <a:buNone/>
                      </a:pPr>
                      <a:endParaRPr lang="en-US" sz="12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1049269"/>
                  </a:ext>
                </a:extLst>
              </a:tr>
              <a:tr h="290238">
                <a:tc>
                  <a:txBody>
                    <a:bodyPr/>
                    <a:lstStyle/>
                    <a:p>
                      <a:pPr algn="ctr"/>
                      <a:r>
                        <a:rPr kumimoji="1" lang="en-US" altLang="ja-JP" sz="1200">
                          <a:latin typeface="Meiryo UI" panose="020B0604030504040204" pitchFamily="50" charset="-128"/>
                          <a:ea typeface="Meiryo UI" panose="020B0604030504040204" pitchFamily="50" charset="-128"/>
                        </a:rPr>
                        <a:t>54</a:t>
                      </a:r>
                      <a:endParaRPr kumimoji="1" lang="ja-JP" altLang="en-US" sz="1200">
                        <a:latin typeface="Meiryo UI" panose="020B0604030504040204" pitchFamily="50" charset="-128"/>
                        <a:ea typeface="Meiryo UI" panose="020B0604030504040204"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panose="020B0604030504040204" pitchFamily="50" charset="-128"/>
                          <a:ea typeface="Meiryo UI" panose="020B0604030504040204" pitchFamily="50" charset="-128"/>
                        </a:rPr>
                        <a:t>　ｶｳﾝﾀｰ照合</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ja-JP" altLang="en-US" sz="1100" b="0" i="0" u="none" strike="noStrike">
                          <a:solidFill>
                            <a:srgbClr val="000000"/>
                          </a:solidFill>
                          <a:effectLst/>
                          <a:latin typeface="Meiryo UI"/>
                          <a:ea typeface="Meiryo UI"/>
                        </a:rPr>
                        <a:t>　ｶｳﾝﾀｰ照合</a:t>
                      </a:r>
                      <a:r>
                        <a:rPr lang="en-US" altLang="ja-JP" sz="1100" b="0" i="0" u="none" strike="noStrike">
                          <a:solidFill>
                            <a:srgbClr val="000000"/>
                          </a:solidFill>
                          <a:effectLst/>
                          <a:latin typeface="Meiryo UI"/>
                          <a:ea typeface="Meiryo UI"/>
                        </a:rPr>
                        <a:t>.</a:t>
                      </a:r>
                      <a:r>
                        <a:rPr lang="en-US" sz="1100" b="0" i="0" u="none" strike="noStrike">
                          <a:solidFill>
                            <a:srgbClr val="000000"/>
                          </a:solidFill>
                          <a:effectLst/>
                          <a:latin typeface="Meiryo UI"/>
                          <a:ea typeface="Meiryo UI"/>
                        </a:rPr>
                        <a:t>exe</a:t>
                      </a:r>
                      <a:r>
                        <a:rPr lang="en-US" sz="1100" b="0" i="0" u="none" strike="noStrike" noProof="0">
                          <a:solidFill>
                            <a:srgbClr val="000000"/>
                          </a:solidFill>
                          <a:effectLst/>
                          <a:latin typeface="Meiryo UI"/>
                        </a:rPr>
                        <a:t>（VB6）</a:t>
                      </a:r>
                      <a:endParaRPr 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ctr" fontAlgn="ctr">
                        <a:buNone/>
                      </a:pPr>
                      <a:endParaRPr lang="en-US" sz="12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fontAlgn="ctr">
                        <a:buNone/>
                      </a:pP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44663861"/>
                  </a:ext>
                </a:extLst>
              </a:tr>
            </a:tbl>
          </a:graphicData>
        </a:graphic>
      </p:graphicFrame>
    </p:spTree>
    <p:extLst>
      <p:ext uri="{BB962C8B-B14F-4D97-AF65-F5344CB8AC3E}">
        <p14:creationId xmlns:p14="http://schemas.microsoft.com/office/powerpoint/2010/main" val="612894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12A48-A6B5-ED48-D874-75F806523A64}"/>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9028379-D6A8-7715-A483-040F5CED27ED}"/>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
        <p:nvSpPr>
          <p:cNvPr id="4" name="タイトル 3">
            <a:extLst>
              <a:ext uri="{FF2B5EF4-FFF2-40B4-BE49-F238E27FC236}">
                <a16:creationId xmlns:a16="http://schemas.microsoft.com/office/drawing/2014/main" id="{59785EBD-830E-28C9-46C9-46701BA1828E}"/>
              </a:ext>
            </a:extLst>
          </p:cNvPr>
          <p:cNvSpPr>
            <a:spLocks noGrp="1"/>
          </p:cNvSpPr>
          <p:nvPr>
            <p:ph type="title"/>
          </p:nvPr>
        </p:nvSpPr>
        <p:spPr/>
        <p:txBody>
          <a:bodyPr/>
          <a:lstStyle/>
          <a:p>
            <a:r>
              <a:rPr lang="ja-JP" altLang="en-US"/>
              <a:t>ウォーターフォール開発の進め方</a:t>
            </a:r>
            <a:endParaRPr kumimoji="1" lang="ja-JP" altLang="en-US"/>
          </a:p>
        </p:txBody>
      </p:sp>
    </p:spTree>
    <p:extLst>
      <p:ext uri="{BB962C8B-B14F-4D97-AF65-F5344CB8AC3E}">
        <p14:creationId xmlns:p14="http://schemas.microsoft.com/office/powerpoint/2010/main" val="3971372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4F3D2-3DBF-5621-87E8-24927754D8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C23065-9BB7-3350-BA5E-726A29FDBFDF}"/>
              </a:ext>
            </a:extLst>
          </p:cNvPr>
          <p:cNvSpPr>
            <a:spLocks noGrp="1"/>
          </p:cNvSpPr>
          <p:nvPr>
            <p:ph type="title"/>
          </p:nvPr>
        </p:nvSpPr>
        <p:spPr/>
        <p:txBody>
          <a:bodyPr/>
          <a:lstStyle/>
          <a:p>
            <a:r>
              <a:rPr lang="en-US" altLang="ja-JP"/>
              <a:t>3-1</a:t>
            </a:r>
            <a:r>
              <a:rPr lang="ja-JP" altLang="en-US"/>
              <a:t>．ウォーターフォール開発の作業概要</a:t>
            </a:r>
            <a:endParaRPr kumimoji="1" lang="ja-JP" altLang="en-US"/>
          </a:p>
        </p:txBody>
      </p:sp>
      <p:sp>
        <p:nvSpPr>
          <p:cNvPr id="5" name="フッター プレースホルダー 4">
            <a:extLst>
              <a:ext uri="{FF2B5EF4-FFF2-40B4-BE49-F238E27FC236}">
                <a16:creationId xmlns:a16="http://schemas.microsoft.com/office/drawing/2014/main" id="{8B9A1A40-00D9-6D1A-97B9-6990C6D8D1C2}"/>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4" name="コンテンツ プレースホルダー 6">
            <a:extLst>
              <a:ext uri="{FF2B5EF4-FFF2-40B4-BE49-F238E27FC236}">
                <a16:creationId xmlns:a16="http://schemas.microsoft.com/office/drawing/2014/main" id="{B8BB1181-8D6C-4D50-4C38-3B95B22AA763}"/>
              </a:ext>
            </a:extLst>
          </p:cNvPr>
          <p:cNvGraphicFramePr>
            <a:graphicFrameLocks/>
          </p:cNvGraphicFramePr>
          <p:nvPr>
            <p:extLst>
              <p:ext uri="{D42A27DB-BD31-4B8C-83A1-F6EECF244321}">
                <p14:modId xmlns:p14="http://schemas.microsoft.com/office/powerpoint/2010/main" val="4232838740"/>
              </p:ext>
            </p:extLst>
          </p:nvPr>
        </p:nvGraphicFramePr>
        <p:xfrm>
          <a:off x="576000" y="936000"/>
          <a:ext cx="11016000" cy="5275176"/>
        </p:xfrm>
        <a:graphic>
          <a:graphicData uri="http://schemas.openxmlformats.org/drawingml/2006/table">
            <a:tbl>
              <a:tblPr firstRow="1">
                <a:tableStyleId>{5C22544A-7EE6-4342-B048-85BDC9FD1C3A}</a:tableStyleId>
              </a:tblPr>
              <a:tblGrid>
                <a:gridCol w="2350462">
                  <a:extLst>
                    <a:ext uri="{9D8B030D-6E8A-4147-A177-3AD203B41FA5}">
                      <a16:colId xmlns:a16="http://schemas.microsoft.com/office/drawing/2014/main" val="20000"/>
                    </a:ext>
                  </a:extLst>
                </a:gridCol>
                <a:gridCol w="8665538">
                  <a:extLst>
                    <a:ext uri="{9D8B030D-6E8A-4147-A177-3AD203B41FA5}">
                      <a16:colId xmlns:a16="http://schemas.microsoft.com/office/drawing/2014/main" val="20001"/>
                    </a:ext>
                  </a:extLst>
                </a:gridCol>
              </a:tblGrid>
              <a:tr h="360000">
                <a:tc>
                  <a:txBody>
                    <a:bodyPr/>
                    <a:lstStyle/>
                    <a:p>
                      <a:r>
                        <a:rPr kumimoji="1" lang="ja-JP" altLang="en-US" sz="160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作業概要</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14397">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利害関係者とのヒアリング、要件の</a:t>
                      </a:r>
                      <a:r>
                        <a:rPr lang="ja-JP" altLang="en-US" sz="1600">
                          <a:latin typeface="+mn-ea"/>
                          <a:ea typeface="+mn-ea"/>
                        </a:rPr>
                        <a:t>再</a:t>
                      </a:r>
                      <a:r>
                        <a:rPr kumimoji="1" lang="ja-JP" altLang="en-US" sz="1600">
                          <a:latin typeface="+mn-ea"/>
                          <a:ea typeface="+mn-ea"/>
                        </a:rPr>
                        <a:t>確認、</a:t>
                      </a:r>
                      <a:r>
                        <a:rPr lang="ja-JP" altLang="en-US" sz="1600">
                          <a:latin typeface="+mn-ea"/>
                          <a:ea typeface="+mn-ea"/>
                        </a:rPr>
                        <a:t>未確定部分の</a:t>
                      </a:r>
                      <a:r>
                        <a:rPr kumimoji="1" lang="ja-JP" altLang="en-US" sz="1600">
                          <a:latin typeface="+mn-ea"/>
                          <a:ea typeface="+mn-ea"/>
                        </a:rPr>
                        <a:t>検討・決定を行います。</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要件定義書、業務フローの作成</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614397">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要件定義書の内容で基本設計書を作成します。</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アーキテクチャ設計やデータベース設計、各画面の項目などの設計をします。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614397">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機能単位</a:t>
                      </a:r>
                      <a:r>
                        <a:rPr kumimoji="1" lang="en-US" altLang="ja-JP" sz="1600">
                          <a:latin typeface="+mn-ea"/>
                          <a:ea typeface="+mn-ea"/>
                        </a:rPr>
                        <a:t>(API)</a:t>
                      </a:r>
                      <a:r>
                        <a:rPr kumimoji="1" lang="ja-JP" altLang="en-US" sz="1600">
                          <a:latin typeface="+mn-ea"/>
                          <a:ea typeface="+mn-ea"/>
                        </a:rPr>
                        <a:t>に分割し、設計します。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4397">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latinLnBrk="1"/>
                      <a:r>
                        <a:rPr kumimoji="1" lang="ja-JP" altLang="en-US" sz="1600">
                          <a:latin typeface="+mn-ea"/>
                          <a:ea typeface="+mn-ea"/>
                        </a:rPr>
                        <a:t>プログラミングを実施します。また、実装したプログラムが設計通りかを検証します。</a:t>
                      </a:r>
                      <a:endParaRPr lang="en-US" altLang="ja-JP" sz="1600">
                        <a:latin typeface="+mn-ea"/>
                        <a:ea typeface="+mn-ea"/>
                      </a:endParaRPr>
                    </a:p>
                    <a:p>
                      <a:pPr lvl="0" algn="l">
                        <a:buNone/>
                      </a:pPr>
                      <a:r>
                        <a:rPr lang="ja-JP" altLang="en-US" sz="1600">
                          <a:latin typeface="+mn-ea"/>
                          <a:ea typeface="+mn-ea"/>
                        </a:rPr>
                        <a:t>※</a:t>
                      </a:r>
                      <a:r>
                        <a:rPr kumimoji="1" lang="ja-JP" altLang="en-US" sz="1600">
                          <a:latin typeface="+mn-ea"/>
                          <a:ea typeface="+mn-ea"/>
                        </a:rPr>
                        <a:t>プログラム設計としてのドキュメント作成は実施しません。</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4397">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検証環境にて、結合テストを実施し、品質を検証します。</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614397">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本番環境にて、システムテストを実施し、機能、性能、セキュリティ等の要件を充足するかを検証します。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614397">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受入テストでの問合せの管理・対応を行います。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39893235"/>
                  </a:ext>
                </a:extLst>
              </a:tr>
              <a:tr h="614397">
                <a:tc>
                  <a:txBody>
                    <a:bodyPr/>
                    <a:lstStyle/>
                    <a:p>
                      <a:r>
                        <a:rPr kumimoji="1" lang="ja-JP" altLang="en-US" sz="1600" b="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システム稼働後の問合せの管理・対応を行います。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27847548"/>
                  </a:ext>
                </a:extLst>
              </a:tr>
            </a:tbl>
          </a:graphicData>
        </a:graphic>
      </p:graphicFrame>
      <p:sp>
        <p:nvSpPr>
          <p:cNvPr id="6" name="スライド番号プレースホルダー 3">
            <a:extLst>
              <a:ext uri="{FF2B5EF4-FFF2-40B4-BE49-F238E27FC236}">
                <a16:creationId xmlns:a16="http://schemas.microsoft.com/office/drawing/2014/main" id="{964A5454-BBA0-6E57-C3B3-63B794605CC4}"/>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Tree>
    <p:extLst>
      <p:ext uri="{BB962C8B-B14F-4D97-AF65-F5344CB8AC3E}">
        <p14:creationId xmlns:p14="http://schemas.microsoft.com/office/powerpoint/2010/main" val="2968533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B26A8-7EF9-6E61-68E5-E3D8929F4F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F128C7-1744-1092-FCB7-340BFA8674B9}"/>
              </a:ext>
            </a:extLst>
          </p:cNvPr>
          <p:cNvSpPr>
            <a:spLocks noGrp="1"/>
          </p:cNvSpPr>
          <p:nvPr>
            <p:ph type="title"/>
          </p:nvPr>
        </p:nvSpPr>
        <p:spPr/>
        <p:txBody>
          <a:bodyPr/>
          <a:lstStyle/>
          <a:p>
            <a:r>
              <a:rPr lang="en-US" altLang="ja-JP"/>
              <a:t>3</a:t>
            </a:r>
            <a:r>
              <a:rPr kumimoji="1" lang="en-US" altLang="ja-JP"/>
              <a:t>-2</a:t>
            </a:r>
            <a:r>
              <a:rPr lang="ja-JP" altLang="en-US"/>
              <a:t>．</a:t>
            </a:r>
            <a:r>
              <a:rPr kumimoji="1" lang="ja-JP" altLang="en-US"/>
              <a:t>「出光開発標準」への理解</a:t>
            </a:r>
          </a:p>
        </p:txBody>
      </p:sp>
      <p:sp>
        <p:nvSpPr>
          <p:cNvPr id="4" name="フッター プレースホルダー 3">
            <a:extLst>
              <a:ext uri="{FF2B5EF4-FFF2-40B4-BE49-F238E27FC236}">
                <a16:creationId xmlns:a16="http://schemas.microsoft.com/office/drawing/2014/main" id="{598D718A-D137-0130-4161-0399D4040646}"/>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925F3607-FB6A-73A3-0EA0-FD6DEE1853D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
        <p:nvSpPr>
          <p:cNvPr id="5" name="テキスト ボックス 4">
            <a:extLst>
              <a:ext uri="{FF2B5EF4-FFF2-40B4-BE49-F238E27FC236}">
                <a16:creationId xmlns:a16="http://schemas.microsoft.com/office/drawing/2014/main" id="{7D622E5B-89DC-35A1-58EE-F1C02E8F5E0F}"/>
              </a:ext>
            </a:extLst>
          </p:cNvPr>
          <p:cNvSpPr txBox="1"/>
          <p:nvPr/>
        </p:nvSpPr>
        <p:spPr>
          <a:xfrm>
            <a:off x="668867" y="837968"/>
            <a:ext cx="10948333" cy="830997"/>
          </a:xfrm>
          <a:prstGeom prst="rect">
            <a:avLst/>
          </a:prstGeom>
          <a:noFill/>
        </p:spPr>
        <p:txBody>
          <a:bodyPr wrap="square">
            <a:spAutoFit/>
          </a:bodyPr>
          <a:lstStyle/>
          <a:p>
            <a:r>
              <a:rPr lang="ja-JP" altLang="en-US" sz="1600">
                <a:latin typeface="+mn-ea"/>
              </a:rPr>
              <a:t>貴社業務に多数携わっておりますので、そこで培った貴社の「出光開発標準」に即した開発モデルにてシステムを構築いたします。</a:t>
            </a:r>
            <a:endParaRPr lang="en-US" altLang="ja-JP" sz="1600">
              <a:latin typeface="+mn-ea"/>
            </a:endParaRPr>
          </a:p>
          <a:p>
            <a:r>
              <a:rPr lang="ja-JP" altLang="en-US" sz="1600">
                <a:solidFill>
                  <a:srgbClr val="000000"/>
                </a:solidFill>
                <a:latin typeface="游ゴシック" panose="020B0400000000000000" pitchFamily="50" charset="-128"/>
                <a:ea typeface="游ゴシック" panose="020B0400000000000000" pitchFamily="50" charset="-128"/>
              </a:rPr>
              <a:t>貴社・弊社の両社において開発の最終目的とそこに至るまでの確認内容を明確にし、プロジェクトを進めます。</a:t>
            </a:r>
          </a:p>
        </p:txBody>
      </p:sp>
      <p:sp>
        <p:nvSpPr>
          <p:cNvPr id="7" name="角丸四角形 8">
            <a:extLst>
              <a:ext uri="{FF2B5EF4-FFF2-40B4-BE49-F238E27FC236}">
                <a16:creationId xmlns:a16="http://schemas.microsoft.com/office/drawing/2014/main" id="{05C33CA4-FA3D-49AB-D2AF-81E960F3C43C}"/>
              </a:ext>
            </a:extLst>
          </p:cNvPr>
          <p:cNvSpPr/>
          <p:nvPr/>
        </p:nvSpPr>
        <p:spPr>
          <a:xfrm>
            <a:off x="783798" y="1804266"/>
            <a:ext cx="2546156" cy="576000"/>
          </a:xfrm>
          <a:prstGeom prst="roundRect">
            <a:avLst>
              <a:gd name="adj" fmla="val 11024"/>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目的・成果物の明確化</a:t>
            </a:r>
            <a:endParaRPr kumimoji="1" lang="ja-JP" altLang="en-US" b="1">
              <a:latin typeface="游ゴシック" panose="020B0400000000000000" pitchFamily="50" charset="-128"/>
              <a:ea typeface="游ゴシック" panose="020B0400000000000000" pitchFamily="50" charset="-128"/>
            </a:endParaRPr>
          </a:p>
        </p:txBody>
      </p:sp>
      <p:sp>
        <p:nvSpPr>
          <p:cNvPr id="8" name="角丸四角形 9">
            <a:extLst>
              <a:ext uri="{FF2B5EF4-FFF2-40B4-BE49-F238E27FC236}">
                <a16:creationId xmlns:a16="http://schemas.microsoft.com/office/drawing/2014/main" id="{B6E7E130-71A4-243F-CDEF-4325FA41E596}"/>
              </a:ext>
            </a:extLst>
          </p:cNvPr>
          <p:cNvSpPr/>
          <p:nvPr/>
        </p:nvSpPr>
        <p:spPr>
          <a:xfrm>
            <a:off x="8861260" y="1804266"/>
            <a:ext cx="2546156" cy="576000"/>
          </a:xfrm>
          <a:prstGeom prst="roundRect">
            <a:avLst>
              <a:gd name="adj" fmla="val 11024"/>
            </a:avLst>
          </a:prstGeom>
          <a:solidFill>
            <a:schemeClr val="accent6"/>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工程完了基準の統一</a:t>
            </a:r>
            <a:endParaRPr kumimoji="1" lang="ja-JP" altLang="en-US" b="1">
              <a:latin typeface="游ゴシック" panose="020B0400000000000000" pitchFamily="50" charset="-128"/>
              <a:ea typeface="游ゴシック" panose="020B0400000000000000" pitchFamily="50" charset="-128"/>
            </a:endParaRPr>
          </a:p>
        </p:txBody>
      </p:sp>
      <p:sp>
        <p:nvSpPr>
          <p:cNvPr id="10" name="角丸四角形 10">
            <a:extLst>
              <a:ext uri="{FF2B5EF4-FFF2-40B4-BE49-F238E27FC236}">
                <a16:creationId xmlns:a16="http://schemas.microsoft.com/office/drawing/2014/main" id="{EBBC2442-6D5B-F5F8-64AB-6DA47E79FAC6}"/>
              </a:ext>
            </a:extLst>
          </p:cNvPr>
          <p:cNvSpPr/>
          <p:nvPr/>
        </p:nvSpPr>
        <p:spPr>
          <a:xfrm>
            <a:off x="3476286" y="1804266"/>
            <a:ext cx="2546156" cy="576000"/>
          </a:xfrm>
          <a:prstGeom prst="roundRect">
            <a:avLst>
              <a:gd name="adj" fmla="val 11024"/>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作業漏れの防止</a:t>
            </a:r>
            <a:endParaRPr kumimoji="1" lang="ja-JP" altLang="en-US" b="1">
              <a:latin typeface="游ゴシック" panose="020B0400000000000000" pitchFamily="50" charset="-128"/>
              <a:ea typeface="游ゴシック" panose="020B0400000000000000" pitchFamily="50" charset="-128"/>
            </a:endParaRPr>
          </a:p>
        </p:txBody>
      </p:sp>
      <p:sp>
        <p:nvSpPr>
          <p:cNvPr id="11" name="角丸四角形 11">
            <a:extLst>
              <a:ext uri="{FF2B5EF4-FFF2-40B4-BE49-F238E27FC236}">
                <a16:creationId xmlns:a16="http://schemas.microsoft.com/office/drawing/2014/main" id="{6FD8CDD2-5151-1FB9-CDF7-087128A69DAA}"/>
              </a:ext>
            </a:extLst>
          </p:cNvPr>
          <p:cNvSpPr/>
          <p:nvPr/>
        </p:nvSpPr>
        <p:spPr>
          <a:xfrm>
            <a:off x="6168773" y="1804266"/>
            <a:ext cx="2546156" cy="576000"/>
          </a:xfrm>
          <a:prstGeom prst="roundRect">
            <a:avLst>
              <a:gd name="adj" fmla="val 11024"/>
            </a:avLst>
          </a:prstGeom>
          <a:solidFill>
            <a:schemeClr val="accent4"/>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b="1">
                <a:latin typeface="游ゴシック" panose="020B0400000000000000" pitchFamily="50" charset="-128"/>
                <a:ea typeface="游ゴシック" panose="020B0400000000000000" pitchFamily="50" charset="-128"/>
              </a:rPr>
              <a:t>役割分担の明確化</a:t>
            </a:r>
            <a:endParaRPr kumimoji="1" lang="ja-JP" altLang="en-US" b="1">
              <a:latin typeface="游ゴシック" panose="020B0400000000000000" pitchFamily="50" charset="-128"/>
              <a:ea typeface="游ゴシック" panose="020B0400000000000000" pitchFamily="50" charset="-128"/>
            </a:endParaRPr>
          </a:p>
        </p:txBody>
      </p:sp>
      <p:grpSp>
        <p:nvGrpSpPr>
          <p:cNvPr id="12" name="グループ化 11">
            <a:extLst>
              <a:ext uri="{FF2B5EF4-FFF2-40B4-BE49-F238E27FC236}">
                <a16:creationId xmlns:a16="http://schemas.microsoft.com/office/drawing/2014/main" id="{C240ED77-6459-D900-BF57-375E2A970C26}"/>
              </a:ext>
            </a:extLst>
          </p:cNvPr>
          <p:cNvGrpSpPr/>
          <p:nvPr/>
        </p:nvGrpSpPr>
        <p:grpSpPr>
          <a:xfrm>
            <a:off x="783797" y="2488266"/>
            <a:ext cx="10623618" cy="2880000"/>
            <a:chOff x="215999" y="2700000"/>
            <a:chExt cx="8712000" cy="2880000"/>
          </a:xfrm>
        </p:grpSpPr>
        <p:sp>
          <p:nvSpPr>
            <p:cNvPr id="13" name="正方形/長方形 12">
              <a:extLst>
                <a:ext uri="{FF2B5EF4-FFF2-40B4-BE49-F238E27FC236}">
                  <a16:creationId xmlns:a16="http://schemas.microsoft.com/office/drawing/2014/main" id="{A38090F9-B794-F08D-DD1C-9AEABF463CCC}"/>
                </a:ext>
              </a:extLst>
            </p:cNvPr>
            <p:cNvSpPr/>
            <p:nvPr/>
          </p:nvSpPr>
          <p:spPr>
            <a:xfrm>
              <a:off x="215999" y="2700000"/>
              <a:ext cx="8712000" cy="2880000"/>
            </a:xfrm>
            <a:prstGeom prst="rect">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a:latin typeface="游ゴシック" panose="020B0400000000000000" pitchFamily="50" charset="-128"/>
                <a:ea typeface="游ゴシック" panose="020B0400000000000000" pitchFamily="50" charset="-128"/>
              </a:endParaRPr>
            </a:p>
          </p:txBody>
        </p:sp>
        <p:cxnSp>
          <p:nvCxnSpPr>
            <p:cNvPr id="14" name="直線コネクタ 13">
              <a:extLst>
                <a:ext uri="{FF2B5EF4-FFF2-40B4-BE49-F238E27FC236}">
                  <a16:creationId xmlns:a16="http://schemas.microsoft.com/office/drawing/2014/main" id="{4F02B78F-8097-70F3-0B10-EDFC13A41B99}"/>
                </a:ext>
              </a:extLst>
            </p:cNvPr>
            <p:cNvCxnSpPr/>
            <p:nvPr/>
          </p:nvCxnSpPr>
          <p:spPr>
            <a:xfrm>
              <a:off x="2958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A9B293E6-7530-D44C-D647-7F54A009D68E}"/>
                </a:ext>
              </a:extLst>
            </p:cNvPr>
            <p:cNvCxnSpPr/>
            <p:nvPr/>
          </p:nvCxnSpPr>
          <p:spPr>
            <a:xfrm flipH="1">
              <a:off x="5334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67CFC5B8-F9DD-2AB3-8CF7-F1A6B975FFE6}"/>
                </a:ext>
              </a:extLst>
            </p:cNvPr>
            <p:cNvSpPr txBox="1"/>
            <p:nvPr/>
          </p:nvSpPr>
          <p:spPr>
            <a:xfrm>
              <a:off x="2520000" y="3600001"/>
              <a:ext cx="1476000" cy="360000"/>
            </a:xfrm>
            <a:prstGeom prst="rect">
              <a:avLst/>
            </a:prstGeom>
            <a:noFill/>
          </p:spPr>
          <p:txBody>
            <a:bodyPr wrap="none" rtlCol="0" anchor="ctr">
              <a:noAutofit/>
            </a:bodyPr>
            <a:lstStyle/>
            <a:p>
              <a:pPr algn="r"/>
              <a:r>
                <a:rPr kumimoji="1" lang="ja-JP" altLang="en-US" sz="1600" b="1">
                  <a:latin typeface="游ゴシック" panose="020B0400000000000000" pitchFamily="50" charset="-128"/>
                  <a:ea typeface="游ゴシック" panose="020B0400000000000000" pitchFamily="50" charset="-128"/>
                </a:rPr>
                <a:t>基本設計</a:t>
              </a:r>
              <a:r>
                <a:rPr kumimoji="1" lang="en-US" altLang="ja-JP" sz="1600" b="1">
                  <a:latin typeface="游ゴシック" panose="020B0400000000000000" pitchFamily="50" charset="-128"/>
                  <a:ea typeface="游ゴシック" panose="020B0400000000000000" pitchFamily="50" charset="-128"/>
                </a:rPr>
                <a:t>(UI)</a:t>
              </a:r>
              <a:endParaRPr kumimoji="1" lang="ja-JP" altLang="en-US" sz="1600" b="1">
                <a:latin typeface="游ゴシック" panose="020B0400000000000000" pitchFamily="50" charset="-128"/>
                <a:ea typeface="游ゴシック" panose="020B0400000000000000" pitchFamily="50" charset="-128"/>
              </a:endParaRPr>
            </a:p>
          </p:txBody>
        </p:sp>
        <p:sp>
          <p:nvSpPr>
            <p:cNvPr id="17" name="テキスト ボックス 16">
              <a:extLst>
                <a:ext uri="{FF2B5EF4-FFF2-40B4-BE49-F238E27FC236}">
                  <a16:creationId xmlns:a16="http://schemas.microsoft.com/office/drawing/2014/main" id="{5665279F-BC32-73B3-D786-8AB08184B617}"/>
                </a:ext>
              </a:extLst>
            </p:cNvPr>
            <p:cNvSpPr txBox="1"/>
            <p:nvPr/>
          </p:nvSpPr>
          <p:spPr>
            <a:xfrm>
              <a:off x="3132000" y="4176000"/>
              <a:ext cx="1476000" cy="360000"/>
            </a:xfrm>
            <a:prstGeom prst="rect">
              <a:avLst/>
            </a:prstGeom>
            <a:noFill/>
          </p:spPr>
          <p:txBody>
            <a:bodyPr wrap="none" rtlCol="0" anchor="ctr">
              <a:noAutofit/>
            </a:bodyPr>
            <a:lstStyle/>
            <a:p>
              <a:pPr algn="r"/>
              <a:r>
                <a:rPr lang="ja-JP" altLang="en-US" sz="1600" b="1">
                  <a:latin typeface="游ゴシック" panose="020B0400000000000000" pitchFamily="50" charset="-128"/>
                  <a:ea typeface="游ゴシック" panose="020B0400000000000000" pitchFamily="50" charset="-128"/>
                </a:rPr>
                <a:t>詳細設計</a:t>
              </a:r>
              <a:r>
                <a:rPr lang="en-US" altLang="ja-JP" sz="1600" b="1">
                  <a:latin typeface="游ゴシック" panose="020B0400000000000000" pitchFamily="50" charset="-128"/>
                  <a:ea typeface="游ゴシック" panose="020B0400000000000000" pitchFamily="50" charset="-128"/>
                </a:rPr>
                <a:t>(SS)</a:t>
              </a:r>
              <a:endParaRPr kumimoji="1" lang="ja-JP" altLang="en-US" sz="1600" b="1">
                <a:latin typeface="游ゴシック" panose="020B0400000000000000" pitchFamily="50" charset="-128"/>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EF260C18-EE9A-6006-7168-45709BD3F45C}"/>
                </a:ext>
              </a:extLst>
            </p:cNvPr>
            <p:cNvSpPr txBox="1"/>
            <p:nvPr/>
          </p:nvSpPr>
          <p:spPr>
            <a:xfrm>
              <a:off x="6084000" y="4176000"/>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機能単体テスト</a:t>
              </a:r>
              <a:r>
                <a:rPr lang="en-US" altLang="ja-JP" sz="1600" b="1">
                  <a:latin typeface="游ゴシック" panose="020B0400000000000000" pitchFamily="50" charset="-128"/>
                  <a:ea typeface="游ゴシック" panose="020B0400000000000000" pitchFamily="50" charset="-128"/>
                </a:rPr>
                <a:t>(UT)</a:t>
              </a:r>
              <a:endParaRPr kumimoji="1" lang="ja-JP" altLang="en-US" sz="1600" b="1">
                <a:latin typeface="游ゴシック" panose="020B0400000000000000" pitchFamily="50" charset="-128"/>
                <a:ea typeface="游ゴシック" panose="020B0400000000000000" pitchFamily="50" charset="-128"/>
              </a:endParaRPr>
            </a:p>
          </p:txBody>
        </p:sp>
        <p:sp>
          <p:nvSpPr>
            <p:cNvPr id="21" name="テキスト ボックス 20">
              <a:extLst>
                <a:ext uri="{FF2B5EF4-FFF2-40B4-BE49-F238E27FC236}">
                  <a16:creationId xmlns:a16="http://schemas.microsoft.com/office/drawing/2014/main" id="{8E29B9AA-6CFE-FE95-FE4F-90A410AE76B5}"/>
                </a:ext>
              </a:extLst>
            </p:cNvPr>
            <p:cNvSpPr txBox="1"/>
            <p:nvPr/>
          </p:nvSpPr>
          <p:spPr>
            <a:xfrm>
              <a:off x="6660000" y="3600001"/>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結合テスト</a:t>
              </a:r>
              <a:r>
                <a:rPr lang="en-US" altLang="ja-JP" sz="1600" b="1">
                  <a:latin typeface="游ゴシック" panose="020B0400000000000000" pitchFamily="50" charset="-128"/>
                  <a:ea typeface="游ゴシック" panose="020B0400000000000000" pitchFamily="50" charset="-128"/>
                </a:rPr>
                <a:t>(IT)</a:t>
              </a:r>
              <a:endParaRPr kumimoji="1" lang="ja-JP" altLang="en-US" sz="1600" b="1">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9E1D059F-22ED-A36A-D522-F0E475D07E74}"/>
                </a:ext>
              </a:extLst>
            </p:cNvPr>
            <p:cNvSpPr txBox="1"/>
            <p:nvPr/>
          </p:nvSpPr>
          <p:spPr>
            <a:xfrm>
              <a:off x="432000" y="2808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業務</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EE10FC91-30B2-3664-DCA3-9A6BA8B1597F}"/>
                </a:ext>
              </a:extLst>
            </p:cNvPr>
            <p:cNvSpPr txBox="1"/>
            <p:nvPr/>
          </p:nvSpPr>
          <p:spPr>
            <a:xfrm>
              <a:off x="432000" y="3384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システム</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4" name="テキスト ボックス 23">
              <a:extLst>
                <a:ext uri="{FF2B5EF4-FFF2-40B4-BE49-F238E27FC236}">
                  <a16:creationId xmlns:a16="http://schemas.microsoft.com/office/drawing/2014/main" id="{23E6F165-F299-2430-C422-2E67CA8DDC54}"/>
                </a:ext>
              </a:extLst>
            </p:cNvPr>
            <p:cNvSpPr txBox="1"/>
            <p:nvPr/>
          </p:nvSpPr>
          <p:spPr>
            <a:xfrm>
              <a:off x="432000" y="3960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プロセス</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cxnSp>
          <p:nvCxnSpPr>
            <p:cNvPr id="25" name="直線コネクタ 24">
              <a:extLst>
                <a:ext uri="{FF2B5EF4-FFF2-40B4-BE49-F238E27FC236}">
                  <a16:creationId xmlns:a16="http://schemas.microsoft.com/office/drawing/2014/main" id="{97E73E66-5AFB-EB3B-C440-EBDB153C5749}"/>
                </a:ext>
              </a:extLst>
            </p:cNvPr>
            <p:cNvCxnSpPr/>
            <p:nvPr/>
          </p:nvCxnSpPr>
          <p:spPr>
            <a:xfrm>
              <a:off x="431999" y="3384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B3323EC1-1236-0B70-4394-4F58079C7CEE}"/>
                </a:ext>
              </a:extLst>
            </p:cNvPr>
            <p:cNvCxnSpPr/>
            <p:nvPr/>
          </p:nvCxnSpPr>
          <p:spPr>
            <a:xfrm>
              <a:off x="432000" y="3960001"/>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2FC0F5F-9AF3-F1DF-E9D7-3DF622EB8C64}"/>
                </a:ext>
              </a:extLst>
            </p:cNvPr>
            <p:cNvCxnSpPr/>
            <p:nvPr/>
          </p:nvCxnSpPr>
          <p:spPr>
            <a:xfrm>
              <a:off x="432000" y="4536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1C3F7B8-4DBE-CA8C-E47A-C639497DF160}"/>
                </a:ext>
              </a:extLst>
            </p:cNvPr>
            <p:cNvSpPr txBox="1"/>
            <p:nvPr/>
          </p:nvSpPr>
          <p:spPr>
            <a:xfrm>
              <a:off x="1944000" y="3024000"/>
              <a:ext cx="1476000" cy="360000"/>
            </a:xfrm>
            <a:prstGeom prst="rect">
              <a:avLst/>
            </a:prstGeom>
            <a:noFill/>
          </p:spPr>
          <p:txBody>
            <a:bodyPr wrap="none" rtlCol="0" anchor="ctr">
              <a:noAutofit/>
            </a:bodyPr>
            <a:lstStyle/>
            <a:p>
              <a:pPr algn="r"/>
              <a:r>
                <a:rPr kumimoji="1" lang="ja-JP" altLang="en-US" sz="1600" b="1">
                  <a:latin typeface="游ゴシック" panose="020B0400000000000000" pitchFamily="50" charset="-128"/>
                  <a:ea typeface="游ゴシック" panose="020B0400000000000000" pitchFamily="50" charset="-128"/>
                </a:rPr>
                <a:t>要件定義</a:t>
              </a:r>
              <a:r>
                <a:rPr kumimoji="1" lang="en-US" altLang="ja-JP" sz="1600" b="1">
                  <a:latin typeface="游ゴシック" panose="020B0400000000000000" pitchFamily="50" charset="-128"/>
                  <a:ea typeface="游ゴシック" panose="020B0400000000000000" pitchFamily="50" charset="-128"/>
                </a:rPr>
                <a:t>(SA)</a:t>
              </a:r>
              <a:endParaRPr kumimoji="1" lang="ja-JP" altLang="en-US" sz="1600" b="1">
                <a:latin typeface="游ゴシック" panose="020B0400000000000000" pitchFamily="50" charset="-128"/>
                <a:ea typeface="游ゴシック" panose="020B0400000000000000" pitchFamily="50" charset="-128"/>
              </a:endParaRPr>
            </a:p>
          </p:txBody>
        </p:sp>
        <p:sp>
          <p:nvSpPr>
            <p:cNvPr id="29" name="テキスト ボックス 28">
              <a:extLst>
                <a:ext uri="{FF2B5EF4-FFF2-40B4-BE49-F238E27FC236}">
                  <a16:creationId xmlns:a16="http://schemas.microsoft.com/office/drawing/2014/main" id="{6730BDBD-A325-2889-D819-54E047AF54C3}"/>
                </a:ext>
              </a:extLst>
            </p:cNvPr>
            <p:cNvSpPr txBox="1"/>
            <p:nvPr/>
          </p:nvSpPr>
          <p:spPr>
            <a:xfrm>
              <a:off x="7236000" y="3024000"/>
              <a:ext cx="1476000" cy="360000"/>
            </a:xfrm>
            <a:prstGeom prst="rect">
              <a:avLst/>
            </a:prstGeom>
            <a:noFill/>
          </p:spPr>
          <p:txBody>
            <a:bodyPr wrap="none" rtlCol="0" anchor="ctr">
              <a:noAutofit/>
            </a:bodyPr>
            <a:lstStyle/>
            <a:p>
              <a:r>
                <a:rPr lang="ja-JP" altLang="en-US" sz="1600" b="1">
                  <a:latin typeface="游ゴシック" panose="020B0400000000000000" pitchFamily="50" charset="-128"/>
                  <a:ea typeface="游ゴシック" panose="020B0400000000000000" pitchFamily="50" charset="-128"/>
                </a:rPr>
                <a:t>システムテスト</a:t>
              </a:r>
              <a:r>
                <a:rPr lang="en-US" altLang="ja-JP" sz="1600" b="1">
                  <a:latin typeface="游ゴシック" panose="020B0400000000000000" pitchFamily="50" charset="-128"/>
                  <a:ea typeface="游ゴシック" panose="020B0400000000000000" pitchFamily="50" charset="-128"/>
                </a:rPr>
                <a:t>(ST)</a:t>
              </a:r>
              <a:endParaRPr kumimoji="1" lang="ja-JP" altLang="en-US" sz="1600" b="1">
                <a:latin typeface="游ゴシック" panose="020B0400000000000000" pitchFamily="50" charset="-128"/>
                <a:ea typeface="游ゴシック" panose="020B0400000000000000" pitchFamily="50" charset="-128"/>
              </a:endParaRPr>
            </a:p>
          </p:txBody>
        </p:sp>
        <p:sp>
          <p:nvSpPr>
            <p:cNvPr id="30" name="テキスト ボックス 29">
              <a:extLst>
                <a:ext uri="{FF2B5EF4-FFF2-40B4-BE49-F238E27FC236}">
                  <a16:creationId xmlns:a16="http://schemas.microsoft.com/office/drawing/2014/main" id="{FE2A819E-CDB8-9994-AD30-D2590880F60B}"/>
                </a:ext>
              </a:extLst>
            </p:cNvPr>
            <p:cNvSpPr txBox="1"/>
            <p:nvPr/>
          </p:nvSpPr>
          <p:spPr>
            <a:xfrm>
              <a:off x="4736873" y="4927524"/>
              <a:ext cx="1476000" cy="360000"/>
            </a:xfrm>
            <a:prstGeom prst="rect">
              <a:avLst/>
            </a:prstGeom>
            <a:noFill/>
          </p:spPr>
          <p:txBody>
            <a:bodyPr wrap="none" rtlCol="0" anchor="ctr">
              <a:noAutofit/>
            </a:bodyPr>
            <a:lstStyle/>
            <a:p>
              <a:pPr algn="ctr"/>
              <a:r>
                <a:rPr lang="ja-JP" altLang="en-US" sz="1600" b="1">
                  <a:latin typeface="游ゴシック" panose="020B0400000000000000" pitchFamily="50" charset="-128"/>
                  <a:ea typeface="游ゴシック" panose="020B0400000000000000" pitchFamily="50" charset="-128"/>
                </a:rPr>
                <a:t>製造</a:t>
              </a:r>
              <a:r>
                <a:rPr lang="en-US" altLang="ja-JP" sz="1600" b="1">
                  <a:latin typeface="游ゴシック" panose="020B0400000000000000" pitchFamily="50" charset="-128"/>
                  <a:ea typeface="游ゴシック" panose="020B0400000000000000" pitchFamily="50" charset="-128"/>
                </a:rPr>
                <a:t>(PG)</a:t>
              </a:r>
              <a:r>
                <a:rPr lang="ja-JP" altLang="en-US" sz="1600" b="1">
                  <a:latin typeface="游ゴシック" panose="020B0400000000000000" pitchFamily="50" charset="-128"/>
                  <a:ea typeface="游ゴシック" panose="020B0400000000000000" pitchFamily="50" charset="-128"/>
                </a:rPr>
                <a:t>＋ユニットテスト</a:t>
              </a:r>
              <a:endParaRPr kumimoji="1" lang="ja-JP" altLang="en-US" sz="1600" b="1">
                <a:latin typeface="游ゴシック" panose="020B0400000000000000" pitchFamily="50" charset="-128"/>
                <a:ea typeface="游ゴシック" panose="020B0400000000000000" pitchFamily="50" charset="-128"/>
              </a:endParaRPr>
            </a:p>
          </p:txBody>
        </p:sp>
        <p:cxnSp>
          <p:nvCxnSpPr>
            <p:cNvPr id="31" name="直線矢印コネクタ 30">
              <a:extLst>
                <a:ext uri="{FF2B5EF4-FFF2-40B4-BE49-F238E27FC236}">
                  <a16:creationId xmlns:a16="http://schemas.microsoft.com/office/drawing/2014/main" id="{253E9C6E-9A64-F46F-AD5E-8325997CA7D6}"/>
                </a:ext>
              </a:extLst>
            </p:cNvPr>
            <p:cNvCxnSpPr/>
            <p:nvPr/>
          </p:nvCxnSpPr>
          <p:spPr>
            <a:xfrm>
              <a:off x="3562885" y="3204000"/>
              <a:ext cx="352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55BACB8C-B877-E120-D2EA-89C4113511C8}"/>
                </a:ext>
              </a:extLst>
            </p:cNvPr>
            <p:cNvCxnSpPr/>
            <p:nvPr/>
          </p:nvCxnSpPr>
          <p:spPr>
            <a:xfrm>
              <a:off x="4176000" y="3780474"/>
              <a:ext cx="226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A9FCDF1C-DB3E-45CC-FDA9-6C5B2F4624F2}"/>
                </a:ext>
              </a:extLst>
            </p:cNvPr>
            <p:cNvCxnSpPr/>
            <p:nvPr/>
          </p:nvCxnSpPr>
          <p:spPr>
            <a:xfrm>
              <a:off x="4824000" y="4356000"/>
              <a:ext cx="100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B5D4E2E5-87B3-28D6-EFD4-18A2ED3501EE}"/>
                </a:ext>
              </a:extLst>
            </p:cNvPr>
            <p:cNvSpPr txBox="1"/>
            <p:nvPr/>
          </p:nvSpPr>
          <p:spPr>
            <a:xfrm>
              <a:off x="4333694" y="2880000"/>
              <a:ext cx="2002335" cy="324000"/>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利用者による妥当性確認</a:t>
              </a:r>
            </a:p>
          </p:txBody>
        </p:sp>
        <p:sp>
          <p:nvSpPr>
            <p:cNvPr id="35" name="テキスト ボックス 34">
              <a:extLst>
                <a:ext uri="{FF2B5EF4-FFF2-40B4-BE49-F238E27FC236}">
                  <a16:creationId xmlns:a16="http://schemas.microsoft.com/office/drawing/2014/main" id="{448A885B-2DE7-A7E8-1DD2-CD2DBDCEF47F}"/>
                </a:ext>
              </a:extLst>
            </p:cNvPr>
            <p:cNvSpPr txBox="1"/>
            <p:nvPr/>
          </p:nvSpPr>
          <p:spPr>
            <a:xfrm>
              <a:off x="4583430" y="3456000"/>
              <a:ext cx="1497544" cy="338554"/>
            </a:xfrm>
            <a:prstGeom prst="rect">
              <a:avLst/>
            </a:prstGeom>
            <a:noFill/>
          </p:spPr>
          <p:txBody>
            <a:bodyPr wrap="none" rtlCol="0">
              <a:spAutoFit/>
            </a:bodyPr>
            <a:lstStyle/>
            <a:p>
              <a:pPr algn="ct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設計者による検証</a:t>
              </a:r>
            </a:p>
          </p:txBody>
        </p:sp>
        <p:sp>
          <p:nvSpPr>
            <p:cNvPr id="36" name="テキスト ボックス 35">
              <a:extLst>
                <a:ext uri="{FF2B5EF4-FFF2-40B4-BE49-F238E27FC236}">
                  <a16:creationId xmlns:a16="http://schemas.microsoft.com/office/drawing/2014/main" id="{92495317-29FB-7E18-4892-9D9E7774F614}"/>
                </a:ext>
              </a:extLst>
            </p:cNvPr>
            <p:cNvSpPr txBox="1"/>
            <p:nvPr/>
          </p:nvSpPr>
          <p:spPr>
            <a:xfrm>
              <a:off x="4578113" y="4032000"/>
              <a:ext cx="1497544" cy="338554"/>
            </a:xfrm>
            <a:prstGeom prst="rect">
              <a:avLst/>
            </a:prstGeom>
            <a:noFill/>
          </p:spPr>
          <p:txBody>
            <a:bodyPr wrap="none" rtlCol="0">
              <a:spAutoFit/>
            </a:bodyPr>
            <a:lstStyle/>
            <a:p>
              <a:pPr algn="ctr"/>
              <a:r>
                <a:rPr lang="ja-JP" altLang="en-US" sz="1600">
                  <a:solidFill>
                    <a:schemeClr val="accent3">
                      <a:lumMod val="50000"/>
                    </a:schemeClr>
                  </a:solidFill>
                  <a:latin typeface="游ゴシック" panose="020B0400000000000000" pitchFamily="50" charset="-128"/>
                  <a:ea typeface="游ゴシック" panose="020B0400000000000000" pitchFamily="50" charset="-128"/>
                </a:rPr>
                <a:t>開発</a:t>
              </a:r>
              <a:r>
                <a:rPr kumimoji="1" lang="ja-JP" altLang="en-US" sz="1600">
                  <a:solidFill>
                    <a:schemeClr val="accent3">
                      <a:lumMod val="50000"/>
                    </a:schemeClr>
                  </a:solidFill>
                  <a:latin typeface="游ゴシック" panose="020B0400000000000000" pitchFamily="50" charset="-128"/>
                  <a:ea typeface="游ゴシック" panose="020B0400000000000000" pitchFamily="50" charset="-128"/>
                </a:rPr>
                <a:t>者による検証</a:t>
              </a:r>
            </a:p>
          </p:txBody>
        </p:sp>
        <p:sp>
          <p:nvSpPr>
            <p:cNvPr id="37" name="テキスト ボックス 36">
              <a:extLst>
                <a:ext uri="{FF2B5EF4-FFF2-40B4-BE49-F238E27FC236}">
                  <a16:creationId xmlns:a16="http://schemas.microsoft.com/office/drawing/2014/main" id="{0B4AAB43-D868-021E-AAE5-26ADABC1024E}"/>
                </a:ext>
              </a:extLst>
            </p:cNvPr>
            <p:cNvSpPr txBox="1"/>
            <p:nvPr/>
          </p:nvSpPr>
          <p:spPr>
            <a:xfrm>
              <a:off x="431999" y="4536000"/>
              <a:ext cx="1080000" cy="360000"/>
            </a:xfrm>
            <a:prstGeom prst="rect">
              <a:avLst/>
            </a:prstGeom>
            <a:noFill/>
          </p:spPr>
          <p:txBody>
            <a:bodyPr wrap="none" rtlCol="0" anchor="ctr">
              <a:noAutofit/>
            </a:bodyPr>
            <a:lstStyle/>
            <a:p>
              <a:r>
                <a:rPr lang="ja-JP" altLang="en-US" b="1">
                  <a:solidFill>
                    <a:schemeClr val="accent1">
                      <a:lumMod val="50000"/>
                    </a:schemeClr>
                  </a:solidFill>
                  <a:latin typeface="游ゴシック" panose="020B0400000000000000" pitchFamily="50" charset="-128"/>
                  <a:ea typeface="游ゴシック" panose="020B0400000000000000" pitchFamily="50" charset="-128"/>
                </a:rPr>
                <a:t>機能</a:t>
              </a:r>
              <a:endParaRPr kumimoji="1" lang="ja-JP" altLang="en-US" b="1">
                <a:solidFill>
                  <a:schemeClr val="accent1">
                    <a:lumMod val="50000"/>
                  </a:schemeClr>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103985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CADD-9E6F-BA28-32DB-A30C2A93859E}"/>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E1705095-67A6-7C9E-47DF-5363A8C3E9F4}"/>
              </a:ext>
            </a:extLst>
          </p:cNvPr>
          <p:cNvSpPr txBox="1"/>
          <p:nvPr/>
        </p:nvSpPr>
        <p:spPr>
          <a:xfrm>
            <a:off x="576000" y="936000"/>
            <a:ext cx="11041200" cy="691128"/>
          </a:xfrm>
          <a:prstGeom prst="rect">
            <a:avLst/>
          </a:prstGeom>
          <a:noFill/>
        </p:spPr>
        <p:txBody>
          <a:bodyPr wrap="square" lIns="108000" tIns="72000" rIns="108000" bIns="72000" rtlCol="0" anchor="t">
            <a:noAutofit/>
          </a:bodyPr>
          <a:lstStyle/>
          <a:p>
            <a:r>
              <a:rPr kumimoji="1" lang="ja-JP" altLang="en-US" sz="1600">
                <a:latin typeface="+mn-ea"/>
              </a:rPr>
              <a:t>以下の品質指標に則り、品質の評価および分析を実施します。</a:t>
            </a:r>
            <a:endParaRPr kumimoji="1" lang="en-US" altLang="ja-JP" sz="1600">
              <a:latin typeface="+mn-ea"/>
            </a:endParaRPr>
          </a:p>
          <a:p>
            <a:r>
              <a:rPr kumimoji="1" lang="en-US" altLang="ja-JP" sz="1600">
                <a:latin typeface="+mn-ea"/>
              </a:rPr>
              <a:t>※IPA</a:t>
            </a:r>
            <a:r>
              <a:rPr kumimoji="1" lang="ja-JP" altLang="en-US" sz="1600">
                <a:latin typeface="+mn-ea"/>
              </a:rPr>
              <a:t>発行の「ソフトウェア開発分析データ集</a:t>
            </a:r>
            <a:r>
              <a:rPr kumimoji="1" lang="en-US" altLang="ja-JP" sz="1600">
                <a:latin typeface="+mn-ea"/>
              </a:rPr>
              <a:t>2022</a:t>
            </a:r>
            <a:r>
              <a:rPr kumimoji="1" lang="ja-JP" altLang="en-US" sz="1600">
                <a:latin typeface="+mn-ea"/>
              </a:rPr>
              <a:t>」による各統計値を参考といたします。</a:t>
            </a:r>
          </a:p>
        </p:txBody>
      </p:sp>
      <p:sp>
        <p:nvSpPr>
          <p:cNvPr id="2" name="タイトル 1">
            <a:extLst>
              <a:ext uri="{FF2B5EF4-FFF2-40B4-BE49-F238E27FC236}">
                <a16:creationId xmlns:a16="http://schemas.microsoft.com/office/drawing/2014/main" id="{FA3EA09D-8B92-4168-E6F2-666F5B640DCA}"/>
              </a:ext>
            </a:extLst>
          </p:cNvPr>
          <p:cNvSpPr>
            <a:spLocks noGrp="1"/>
          </p:cNvSpPr>
          <p:nvPr>
            <p:ph type="title"/>
          </p:nvPr>
        </p:nvSpPr>
        <p:spPr/>
        <p:txBody>
          <a:bodyPr/>
          <a:lstStyle/>
          <a:p>
            <a:r>
              <a:rPr kumimoji="1" lang="en-US" altLang="ja-JP"/>
              <a:t>3-3</a:t>
            </a:r>
            <a:r>
              <a:rPr kumimoji="1" lang="ja-JP" altLang="en-US"/>
              <a:t>．品質目標</a:t>
            </a:r>
          </a:p>
        </p:txBody>
      </p:sp>
      <p:sp>
        <p:nvSpPr>
          <p:cNvPr id="4" name="フッター プレースホルダー 3">
            <a:extLst>
              <a:ext uri="{FF2B5EF4-FFF2-40B4-BE49-F238E27FC236}">
                <a16:creationId xmlns:a16="http://schemas.microsoft.com/office/drawing/2014/main" id="{1E663E79-10A5-1BFD-902A-71393A245494}"/>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734652FB-A35D-4816-4891-09C5A8648B61}"/>
              </a:ext>
            </a:extLst>
          </p:cNvPr>
          <p:cNvGraphicFramePr>
            <a:graphicFrameLocks/>
          </p:cNvGraphicFramePr>
          <p:nvPr/>
        </p:nvGraphicFramePr>
        <p:xfrm>
          <a:off x="575400" y="1627128"/>
          <a:ext cx="11041199" cy="4135046"/>
        </p:xfrm>
        <a:graphic>
          <a:graphicData uri="http://schemas.openxmlformats.org/drawingml/2006/table">
            <a:tbl>
              <a:tblPr firstRow="1" bandRow="1">
                <a:tableStyleId>{3B4B98B0-60AC-42C2-AFA5-B58CD77FA1E5}</a:tableStyleId>
              </a:tblPr>
              <a:tblGrid>
                <a:gridCol w="700540">
                  <a:extLst>
                    <a:ext uri="{9D8B030D-6E8A-4147-A177-3AD203B41FA5}">
                      <a16:colId xmlns:a16="http://schemas.microsoft.com/office/drawing/2014/main" val="20000"/>
                    </a:ext>
                  </a:extLst>
                </a:gridCol>
                <a:gridCol w="1648329">
                  <a:extLst>
                    <a:ext uri="{9D8B030D-6E8A-4147-A177-3AD203B41FA5}">
                      <a16:colId xmlns:a16="http://schemas.microsoft.com/office/drawing/2014/main" val="20003"/>
                    </a:ext>
                  </a:extLst>
                </a:gridCol>
                <a:gridCol w="2553078">
                  <a:extLst>
                    <a:ext uri="{9D8B030D-6E8A-4147-A177-3AD203B41FA5}">
                      <a16:colId xmlns:a16="http://schemas.microsoft.com/office/drawing/2014/main" val="2022646445"/>
                    </a:ext>
                  </a:extLst>
                </a:gridCol>
                <a:gridCol w="2534970">
                  <a:extLst>
                    <a:ext uri="{9D8B030D-6E8A-4147-A177-3AD203B41FA5}">
                      <a16:colId xmlns:a16="http://schemas.microsoft.com/office/drawing/2014/main" val="1186915876"/>
                    </a:ext>
                  </a:extLst>
                </a:gridCol>
                <a:gridCol w="3604282">
                  <a:extLst>
                    <a:ext uri="{9D8B030D-6E8A-4147-A177-3AD203B41FA5}">
                      <a16:colId xmlns:a16="http://schemas.microsoft.com/office/drawing/2014/main" val="20001"/>
                    </a:ext>
                  </a:extLst>
                </a:gridCol>
              </a:tblGrid>
              <a:tr h="328891">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b="1" u="none" strike="noStrike" kern="1200" cap="none" normalizeH="0" baseline="0">
                          <a:ln>
                            <a:noFill/>
                          </a:ln>
                          <a:solidFill>
                            <a:schemeClr val="bg1"/>
                          </a:solidFill>
                          <a:effectLst/>
                          <a:latin typeface="+mn-ea"/>
                          <a:ea typeface="+mn-ea"/>
                          <a:cs typeface="Meiryo UI" pitchFamily="50" charset="-128"/>
                        </a:rPr>
                        <a:t>No</a:t>
                      </a:r>
                      <a:endParaRPr kumimoji="0" lang="ja-JP" altLang="en-US" sz="1600" b="1" u="none" strike="noStrike" kern="1200" cap="none" normalizeH="0" baseline="0">
                        <a:ln>
                          <a:noFill/>
                        </a:ln>
                        <a:solidFill>
                          <a:schemeClr val="bg1"/>
                        </a:solidFill>
                        <a:effectLst/>
                        <a:latin typeface="+mn-ea"/>
                        <a:ea typeface="+mn-ea"/>
                        <a:cs typeface="Meiryo UI" pitchFamily="50" charset="-128"/>
                      </a:endParaRPr>
                    </a:p>
                  </a:txBody>
                  <a:tcPr marL="90014" marR="90014" marT="46800" marB="46800" anchor="ctr" horzOverflow="overflow">
                    <a:solidFill>
                      <a:schemeClr val="accent1"/>
                    </a:solidFill>
                  </a:tcPr>
                </a:tc>
                <a:tc>
                  <a:txBody>
                    <a:bodyPr/>
                    <a:lstStyle/>
                    <a:p>
                      <a:r>
                        <a:rPr kumimoji="1" lang="ja-JP" altLang="en-US" sz="1600" b="1" kern="1200">
                          <a:solidFill>
                            <a:schemeClr val="bg1"/>
                          </a:solidFill>
                          <a:latin typeface="+mn-ea"/>
                          <a:ea typeface="+mn-ea"/>
                          <a:cs typeface="+mn-cs"/>
                        </a:rPr>
                        <a:t>工程</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測定値</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単位・測定方法</a:t>
                      </a:r>
                    </a:p>
                  </a:txBody>
                  <a:tcPr marL="90014" marR="90014" marT="46800" marB="46800" anchor="ctr" horzOverflow="overflow">
                    <a:solidFill>
                      <a:schemeClr val="accent1"/>
                    </a:solidFill>
                  </a:tcPr>
                </a:tc>
                <a:tc>
                  <a:txBody>
                    <a:bodyPr/>
                    <a:lstStyle/>
                    <a:p>
                      <a:pPr marL="342900" marR="0" lvl="0" indent="-34290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b="1" u="none" strike="noStrike" kern="1200" cap="none" normalizeH="0" baseline="0">
                          <a:ln>
                            <a:noFill/>
                          </a:ln>
                          <a:solidFill>
                            <a:schemeClr val="bg1"/>
                          </a:solidFill>
                          <a:effectLst/>
                          <a:latin typeface="+mn-ea"/>
                          <a:ea typeface="+mn-ea"/>
                          <a:cs typeface="Meiryo UI" pitchFamily="50" charset="-128"/>
                        </a:rPr>
                        <a:t>目標値</a:t>
                      </a:r>
                    </a:p>
                  </a:txBody>
                  <a:tcPr marL="90014" marR="90014" marT="46800" marB="46800" anchor="ctr" horzOverflow="overflow">
                    <a:solidFill>
                      <a:schemeClr val="accent1"/>
                    </a:solidFill>
                  </a:tcPr>
                </a:tc>
                <a:extLst>
                  <a:ext uri="{0D108BD9-81ED-4DB2-BD59-A6C34878D82A}">
                    <a16:rowId xmlns:a16="http://schemas.microsoft.com/office/drawing/2014/main" val="10000"/>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1</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基本設計</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a:ln>
                            <a:noFill/>
                          </a:ln>
                          <a:solidFill>
                            <a:schemeClr val="tx1"/>
                          </a:solidFill>
                          <a:effectLst/>
                          <a:latin typeface="+mn-ea"/>
                          <a:ea typeface="+mn-ea"/>
                          <a:cs typeface="Meiryo UI" pitchFamily="50" charset="-128"/>
                        </a:rPr>
                        <a:t>/</a:t>
                      </a:r>
                      <a:r>
                        <a:rPr kumimoji="1" lang="ja-JP" altLang="en-US" sz="1600" b="0" i="0" u="none" strike="noStrike" kern="1200" cap="none" normalizeH="0" baseline="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0.139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0.982</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51281576"/>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2</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詳細設計</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レビュー工数密度</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1" lang="ja-JP" altLang="en-US" sz="1600" b="0" i="0" u="none" strike="noStrike" kern="1200" cap="none" normalizeH="0" baseline="0">
                          <a:ln>
                            <a:noFill/>
                          </a:ln>
                          <a:solidFill>
                            <a:schemeClr val="tx1"/>
                          </a:solidFill>
                          <a:effectLst/>
                          <a:latin typeface="+mn-ea"/>
                          <a:ea typeface="+mn-ea"/>
                          <a:cs typeface="Meiryo UI" pitchFamily="50" charset="-128"/>
                        </a:rPr>
                        <a:t>人時</a:t>
                      </a:r>
                      <a:r>
                        <a:rPr kumimoji="1" lang="en-US" altLang="ja-JP" sz="1600" b="0" i="0" u="none" strike="noStrike" kern="1200" cap="none" normalizeH="0" baseline="0">
                          <a:ln>
                            <a:noFill/>
                          </a:ln>
                          <a:solidFill>
                            <a:schemeClr val="tx1"/>
                          </a:solidFill>
                          <a:effectLst/>
                          <a:latin typeface="+mn-ea"/>
                          <a:ea typeface="+mn-ea"/>
                          <a:cs typeface="Meiryo UI" pitchFamily="50" charset="-128"/>
                        </a:rPr>
                        <a:t>/</a:t>
                      </a:r>
                      <a:r>
                        <a:rPr kumimoji="1" lang="ja-JP" altLang="en-US" sz="1600" b="0" i="0" u="none" strike="noStrike" kern="1200" cap="none" normalizeH="0" baseline="0">
                          <a:ln>
                            <a:noFill/>
                          </a:ln>
                          <a:solidFill>
                            <a:schemeClr val="tx1"/>
                          </a:solidFill>
                          <a:effectLst/>
                          <a:latin typeface="+mn-ea"/>
                          <a:ea typeface="+mn-ea"/>
                          <a:cs typeface="Meiryo UI" pitchFamily="50" charset="-128"/>
                        </a:rPr>
                        <a:t>ページ</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0.119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0.713</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2571163849"/>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3</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単体テスト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レビュー実施率</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a:t>
                      </a:r>
                      <a:r>
                        <a:rPr kumimoji="0" lang="ja-JP" altLang="en-US" sz="1600" u="none" strike="noStrike" kern="1200" cap="none" normalizeH="0" baseline="0">
                          <a:ln>
                            <a:noFill/>
                          </a:ln>
                          <a:solidFill>
                            <a:schemeClr val="tx1"/>
                          </a:solidFill>
                          <a:effectLst/>
                          <a:latin typeface="+mn-ea"/>
                          <a:ea typeface="+mn-ea"/>
                          <a:cs typeface="Meiryo UI" pitchFamily="50" charset="-128"/>
                        </a:rPr>
                        <a:t>タスク数</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1</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extLst>
                  <a:ext uri="{0D108BD9-81ED-4DB2-BD59-A6C34878D82A}">
                    <a16:rowId xmlns:a16="http://schemas.microsoft.com/office/drawing/2014/main" val="10001"/>
                  </a:ext>
                </a:extLst>
              </a:tr>
              <a:tr h="545501">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4</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17.84</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79.84</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598672516"/>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5</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結合テスト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0.650</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2.613</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929609212"/>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6</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テストケース密度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4.69</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21.57</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1089545675"/>
                  </a:ext>
                </a:extLst>
              </a:tr>
              <a:tr h="538534">
                <a:tc>
                  <a:txBody>
                    <a:bodyPr/>
                    <a:lstStyle/>
                    <a:p>
                      <a:pPr marL="0" marR="0" lvl="0" indent="0" algn="ctr"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en-US" altLang="ja-JP" sz="1600" u="none" strike="noStrike" kern="1200" cap="none" normalizeH="0" baseline="0">
                          <a:ln>
                            <a:noFill/>
                          </a:ln>
                          <a:solidFill>
                            <a:schemeClr val="tx1"/>
                          </a:solidFill>
                          <a:effectLst/>
                          <a:latin typeface="+mn-ea"/>
                          <a:ea typeface="+mn-ea"/>
                          <a:cs typeface="Meiryo UI" pitchFamily="50" charset="-128"/>
                        </a:rPr>
                        <a:t>7</a:t>
                      </a:r>
                      <a:endParaRPr kumimoji="0" lang="ja-JP" altLang="en-US"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ja-JP" altLang="en-US" sz="1600" u="none" strike="noStrike" kern="1200" cap="none" normalizeH="0" baseline="0">
                          <a:ln>
                            <a:noFill/>
                          </a:ln>
                          <a:solidFill>
                            <a:schemeClr val="tx1"/>
                          </a:solidFill>
                          <a:effectLst/>
                          <a:latin typeface="+mn-ea"/>
                          <a:ea typeface="+mn-ea"/>
                          <a:cs typeface="Meiryo UI" pitchFamily="50" charset="-128"/>
                        </a:rPr>
                        <a:t>システムテスト</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バグ密度</a:t>
                      </a:r>
                      <a:endParaRPr kumimoji="0" lang="en-US" altLang="ja-JP" sz="1600" u="none" strike="noStrike" kern="1200" cap="none" normalizeH="0" baseline="0">
                        <a:ln>
                          <a:noFill/>
                        </a:ln>
                        <a:solidFill>
                          <a:schemeClr val="tx1"/>
                        </a:solidFill>
                        <a:effectLst/>
                        <a:latin typeface="+mn-ea"/>
                        <a:ea typeface="+mn-ea"/>
                        <a:cs typeface="Meiryo UI" pitchFamily="50" charset="-128"/>
                      </a:endParaRP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pPr>
                      <a:r>
                        <a:rPr kumimoji="0" lang="ja-JP" altLang="en-US" sz="1600" u="none" strike="noStrike" kern="1200" cap="none" normalizeH="0" baseline="0">
                          <a:ln>
                            <a:noFill/>
                          </a:ln>
                          <a:solidFill>
                            <a:schemeClr val="tx1"/>
                          </a:solidFill>
                          <a:effectLst/>
                          <a:latin typeface="+mn-ea"/>
                          <a:ea typeface="+mn-ea"/>
                          <a:cs typeface="Meiryo UI" pitchFamily="50" charset="-128"/>
                        </a:rPr>
                        <a:t>件</a:t>
                      </a:r>
                      <a:r>
                        <a:rPr kumimoji="0" lang="en-US" altLang="ja-JP" sz="1600" u="none" strike="noStrike" kern="1200" cap="none" normalizeH="0" baseline="0">
                          <a:ln>
                            <a:noFill/>
                          </a:ln>
                          <a:solidFill>
                            <a:schemeClr val="tx1"/>
                          </a:solidFill>
                          <a:effectLst/>
                          <a:latin typeface="+mn-ea"/>
                          <a:ea typeface="+mn-ea"/>
                          <a:cs typeface="Meiryo UI" pitchFamily="50" charset="-128"/>
                        </a:rPr>
                        <a:t>/KSLOC</a:t>
                      </a:r>
                    </a:p>
                  </a:txBody>
                  <a:tcPr marL="90014" marR="90014" marT="36000" marB="36000" horzOverflow="overflow"/>
                </a:tc>
                <a:tc>
                  <a:txBody>
                    <a:bodyPr/>
                    <a:lstStyle/>
                    <a:p>
                      <a:pPr marL="0" marR="0" lvl="0" indent="0" algn="l" defTabSz="914400" rtl="0" eaLnBrk="1" fontAlgn="ctr" latinLnBrk="0" hangingPunct="1">
                        <a:lnSpc>
                          <a:spcPct val="100000"/>
                        </a:lnSpc>
                        <a:spcBef>
                          <a:spcPct val="0"/>
                        </a:spcBef>
                        <a:spcAft>
                          <a:spcPct val="0"/>
                        </a:spcAft>
                        <a:buClr>
                          <a:srgbClr val="9C244A"/>
                        </a:buClr>
                        <a:buSzTx/>
                        <a:buFont typeface="Wingdings" pitchFamily="2" charset="2"/>
                        <a:buNone/>
                        <a:tabLst/>
                        <a:defRPr/>
                      </a:pPr>
                      <a:r>
                        <a:rPr kumimoji="0" lang="en-US" altLang="ja-JP" sz="1600" u="none" strike="noStrike" kern="1200" cap="none" normalizeH="0" baseline="0">
                          <a:ln>
                            <a:noFill/>
                          </a:ln>
                          <a:solidFill>
                            <a:schemeClr val="tx1"/>
                          </a:solidFill>
                          <a:effectLst/>
                          <a:latin typeface="+mn-ea"/>
                          <a:ea typeface="+mn-ea"/>
                          <a:cs typeface="Meiryo UI" pitchFamily="50" charset="-128"/>
                        </a:rPr>
                        <a:t>0.092</a:t>
                      </a:r>
                      <a:r>
                        <a:rPr kumimoji="0" lang="ja-JP" altLang="en-US" sz="1600" u="none" strike="noStrike" kern="1200" cap="none" normalizeH="0" baseline="0">
                          <a:ln>
                            <a:noFill/>
                          </a:ln>
                          <a:solidFill>
                            <a:schemeClr val="tx1"/>
                          </a:solidFill>
                          <a:effectLst/>
                          <a:latin typeface="+mn-ea"/>
                          <a:ea typeface="+mn-ea"/>
                          <a:cs typeface="Meiryo UI" pitchFamily="50" charset="-128"/>
                        </a:rPr>
                        <a:t>以上</a:t>
                      </a:r>
                      <a:r>
                        <a:rPr kumimoji="0" lang="en-US" altLang="ja-JP" sz="1600" u="none" strike="noStrike" kern="1200" cap="none" normalizeH="0" baseline="0">
                          <a:ln>
                            <a:noFill/>
                          </a:ln>
                          <a:solidFill>
                            <a:schemeClr val="tx1"/>
                          </a:solidFill>
                          <a:effectLst/>
                          <a:latin typeface="+mn-ea"/>
                          <a:ea typeface="+mn-ea"/>
                          <a:cs typeface="Meiryo UI" pitchFamily="50" charset="-128"/>
                        </a:rPr>
                        <a:t>0.829</a:t>
                      </a:r>
                      <a:r>
                        <a:rPr kumimoji="0" lang="ja-JP" altLang="en-US" sz="1600" u="none" strike="noStrike" kern="1200" cap="none" normalizeH="0" baseline="0">
                          <a:ln>
                            <a:noFill/>
                          </a:ln>
                          <a:solidFill>
                            <a:schemeClr val="tx1"/>
                          </a:solidFill>
                          <a:effectLst/>
                          <a:latin typeface="+mn-ea"/>
                          <a:ea typeface="+mn-ea"/>
                          <a:cs typeface="Meiryo UI" pitchFamily="50" charset="-128"/>
                        </a:rPr>
                        <a:t>以下</a:t>
                      </a:r>
                    </a:p>
                  </a:txBody>
                  <a:tcPr marL="90014" marR="90014" marT="36000" marB="36000" horzOverflow="overflow"/>
                </a:tc>
                <a:extLst>
                  <a:ext uri="{0D108BD9-81ED-4DB2-BD59-A6C34878D82A}">
                    <a16:rowId xmlns:a16="http://schemas.microsoft.com/office/drawing/2014/main" val="72493567"/>
                  </a:ext>
                </a:extLst>
              </a:tr>
            </a:tbl>
          </a:graphicData>
        </a:graphic>
      </p:graphicFrame>
      <p:sp>
        <p:nvSpPr>
          <p:cNvPr id="3" name="スライド番号プレースホルダー 3">
            <a:extLst>
              <a:ext uri="{FF2B5EF4-FFF2-40B4-BE49-F238E27FC236}">
                <a16:creationId xmlns:a16="http://schemas.microsoft.com/office/drawing/2014/main" id="{A049C7E2-21BF-C27F-EAB5-CE13DDC31FB5}"/>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410533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8F458-96C4-914B-3AD2-76D72D8ADC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A63786-D3E4-8CEC-D8C5-B8127CDA6ABA}"/>
              </a:ext>
            </a:extLst>
          </p:cNvPr>
          <p:cNvSpPr>
            <a:spLocks noGrp="1"/>
          </p:cNvSpPr>
          <p:nvPr>
            <p:ph type="title"/>
          </p:nvPr>
        </p:nvSpPr>
        <p:spPr/>
        <p:txBody>
          <a:bodyPr/>
          <a:lstStyle/>
          <a:p>
            <a:r>
              <a:rPr kumimoji="1" lang="en-US" altLang="ja-JP"/>
              <a:t>3-4</a:t>
            </a:r>
            <a:r>
              <a:rPr kumimoji="1" lang="ja-JP" altLang="en-US"/>
              <a:t>．品質管理①（レビュー）</a:t>
            </a:r>
          </a:p>
        </p:txBody>
      </p:sp>
      <p:sp>
        <p:nvSpPr>
          <p:cNvPr id="4" name="フッター プレースホルダー 3">
            <a:extLst>
              <a:ext uri="{FF2B5EF4-FFF2-40B4-BE49-F238E27FC236}">
                <a16:creationId xmlns:a16="http://schemas.microsoft.com/office/drawing/2014/main" id="{8D4A32C6-27F4-6279-203F-A17B44BAC783}"/>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6D81EDC2-FBAA-C609-8C43-E5AC84EB0E43}"/>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14</a:t>
            </a:fld>
            <a:endParaRPr kumimoji="1" lang="ja-JP" altLang="en-US" sz="700"/>
          </a:p>
        </p:txBody>
      </p:sp>
      <p:sp>
        <p:nvSpPr>
          <p:cNvPr id="7" name="テキスト ボックス 6">
            <a:extLst>
              <a:ext uri="{FF2B5EF4-FFF2-40B4-BE49-F238E27FC236}">
                <a16:creationId xmlns:a16="http://schemas.microsoft.com/office/drawing/2014/main" id="{9C6AFBDE-553B-580B-9865-4CFDB141B871}"/>
              </a:ext>
            </a:extLst>
          </p:cNvPr>
          <p:cNvSpPr txBox="1"/>
          <p:nvPr/>
        </p:nvSpPr>
        <p:spPr>
          <a:xfrm>
            <a:off x="1162800" y="1190797"/>
            <a:ext cx="10332000" cy="360000"/>
          </a:xfrm>
          <a:prstGeom prst="rect">
            <a:avLst/>
          </a:prstGeom>
          <a:noFill/>
        </p:spPr>
        <p:txBody>
          <a:bodyPr wrap="square" lIns="108000" rIns="108000" rtlCol="0" anchor="ctr">
            <a:noAutofit/>
          </a:bodyPr>
          <a:lstStyle/>
          <a:p>
            <a:r>
              <a:rPr kumimoji="1" lang="ja-JP" altLang="en-US" b="1">
                <a:solidFill>
                  <a:schemeClr val="tx1">
                    <a:lumMod val="75000"/>
                    <a:lumOff val="25000"/>
                  </a:schemeClr>
                </a:solidFill>
                <a:latin typeface="+mn-ea"/>
              </a:rPr>
              <a:t>弊社内局面レビューによる承認</a:t>
            </a:r>
          </a:p>
        </p:txBody>
      </p:sp>
      <p:sp>
        <p:nvSpPr>
          <p:cNvPr id="8" name="テキスト ボックス 7">
            <a:extLst>
              <a:ext uri="{FF2B5EF4-FFF2-40B4-BE49-F238E27FC236}">
                <a16:creationId xmlns:a16="http://schemas.microsoft.com/office/drawing/2014/main" id="{DF368951-E6BC-0D61-A592-9C22E9BFC1E0}"/>
              </a:ext>
            </a:extLst>
          </p:cNvPr>
          <p:cNvSpPr txBox="1"/>
          <p:nvPr/>
        </p:nvSpPr>
        <p:spPr>
          <a:xfrm>
            <a:off x="1162800" y="3198407"/>
            <a:ext cx="10332000" cy="360000"/>
          </a:xfrm>
          <a:prstGeom prst="rect">
            <a:avLst/>
          </a:prstGeom>
          <a:noFill/>
        </p:spPr>
        <p:txBody>
          <a:bodyPr wrap="square" lIns="108000" rIns="108000" rtlCol="0" anchor="ctr">
            <a:noAutofit/>
          </a:bodyPr>
          <a:lstStyle/>
          <a:p>
            <a:r>
              <a:rPr lang="ja-JP" altLang="en-US" b="1">
                <a:solidFill>
                  <a:schemeClr val="tx1">
                    <a:lumMod val="75000"/>
                    <a:lumOff val="25000"/>
                  </a:schemeClr>
                </a:solidFill>
                <a:latin typeface="+mn-ea"/>
              </a:rPr>
              <a:t>貴社レビューの定期的な実施</a:t>
            </a:r>
            <a:endParaRPr kumimoji="1" lang="ja-JP" altLang="en-US" b="1">
              <a:solidFill>
                <a:schemeClr val="tx1">
                  <a:lumMod val="75000"/>
                  <a:lumOff val="25000"/>
                </a:schemeClr>
              </a:solidFill>
              <a:latin typeface="+mn-ea"/>
            </a:endParaRPr>
          </a:p>
        </p:txBody>
      </p:sp>
      <p:sp>
        <p:nvSpPr>
          <p:cNvPr id="10" name="テキスト ボックス 9">
            <a:extLst>
              <a:ext uri="{FF2B5EF4-FFF2-40B4-BE49-F238E27FC236}">
                <a16:creationId xmlns:a16="http://schemas.microsoft.com/office/drawing/2014/main" id="{C5B716BB-1D91-3DEC-2B78-CB118A7BAC35}"/>
              </a:ext>
            </a:extLst>
          </p:cNvPr>
          <p:cNvSpPr txBox="1"/>
          <p:nvPr/>
        </p:nvSpPr>
        <p:spPr>
          <a:xfrm>
            <a:off x="694800" y="3702406"/>
            <a:ext cx="10800000" cy="1052389"/>
          </a:xfrm>
          <a:prstGeom prst="rect">
            <a:avLst/>
          </a:prstGeom>
          <a:noFill/>
        </p:spPr>
        <p:txBody>
          <a:bodyPr wrap="square" lIns="108000" tIns="45720" rIns="108000" bIns="45720" rtlCol="0" anchor="t">
            <a:noAutofit/>
          </a:bodyPr>
          <a:lstStyle/>
          <a:p>
            <a:r>
              <a:rPr lang="ja-JP" altLang="en-US" sz="1600" b="1">
                <a:solidFill>
                  <a:srgbClr val="0000FF"/>
                </a:solidFill>
                <a:latin typeface="游ゴシック"/>
                <a:ea typeface="游ゴシック"/>
              </a:rPr>
              <a:t>仕様認識の齟齬、手戻りを防止</a:t>
            </a:r>
            <a:r>
              <a:rPr lang="ja-JP" altLang="en-US" sz="1600">
                <a:latin typeface="游ゴシック"/>
                <a:ea typeface="游ゴシック"/>
              </a:rPr>
              <a:t>を目的として、各工程の終了時には、必ず貴社のレビューを定期的に実施いただき、両社間の認識合わせをさせていただいた上で作業を進めることといたします。特に上流工程（要件定義および設計）でのレビューにより検出した問題は、テスト工程以降で発覚する場合と比べ、対応工数が大きく削減されると考えますため、密にレビューの実施をさせていただければと考えております。</a:t>
            </a:r>
            <a:endParaRPr lang="en-US" altLang="ja-JP" sz="1600">
              <a:latin typeface="游ゴシック"/>
              <a:ea typeface="游ゴシック"/>
            </a:endParaRPr>
          </a:p>
        </p:txBody>
      </p:sp>
      <p:sp>
        <p:nvSpPr>
          <p:cNvPr id="11" name="楕円 10">
            <a:extLst>
              <a:ext uri="{FF2B5EF4-FFF2-40B4-BE49-F238E27FC236}">
                <a16:creationId xmlns:a16="http://schemas.microsoft.com/office/drawing/2014/main" id="{8DBE8A56-A456-943E-4CF6-25CAF35ED5BA}"/>
              </a:ext>
            </a:extLst>
          </p:cNvPr>
          <p:cNvSpPr>
            <a:spLocks/>
          </p:cNvSpPr>
          <p:nvPr/>
        </p:nvSpPr>
        <p:spPr>
          <a:xfrm>
            <a:off x="696000" y="1154797"/>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2" name="楕円 11">
            <a:extLst>
              <a:ext uri="{FF2B5EF4-FFF2-40B4-BE49-F238E27FC236}">
                <a16:creationId xmlns:a16="http://schemas.microsoft.com/office/drawing/2014/main" id="{5770467B-651C-7178-14C6-C9E865A4E927}"/>
              </a:ext>
            </a:extLst>
          </p:cNvPr>
          <p:cNvSpPr>
            <a:spLocks/>
          </p:cNvSpPr>
          <p:nvPr/>
        </p:nvSpPr>
        <p:spPr>
          <a:xfrm>
            <a:off x="696000" y="3162407"/>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
        <p:nvSpPr>
          <p:cNvPr id="13" name="テキスト ボックス 29">
            <a:extLst>
              <a:ext uri="{FF2B5EF4-FFF2-40B4-BE49-F238E27FC236}">
                <a16:creationId xmlns:a16="http://schemas.microsoft.com/office/drawing/2014/main" id="{DF54245D-293A-BD90-B1E8-9AA2FE49F19B}"/>
              </a:ext>
            </a:extLst>
          </p:cNvPr>
          <p:cNvSpPr txBox="1"/>
          <p:nvPr/>
        </p:nvSpPr>
        <p:spPr>
          <a:xfrm>
            <a:off x="672000" y="1689204"/>
            <a:ext cx="10800000" cy="792000"/>
          </a:xfrm>
          <a:prstGeom prst="rect">
            <a:avLst/>
          </a:prstGeom>
          <a:noFill/>
        </p:spPr>
        <p:txBody>
          <a:bodyPr wrap="square" lIns="108000" rIns="10800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ja-JP" altLang="en-US" sz="1600">
                <a:latin typeface="+mn-ea"/>
              </a:rPr>
              <a:t>弊社品質向上委員会で定めている「品質保証基本方針」に従い、弊社内での局面レビューを実施することで、</a:t>
            </a:r>
            <a:r>
              <a:rPr lang="ja-JP" altLang="en-US" sz="1600" b="1">
                <a:solidFill>
                  <a:srgbClr val="0000FF"/>
                </a:solidFill>
              </a:rPr>
              <a:t>システムエグゼとして品質の担保</a:t>
            </a:r>
            <a:r>
              <a:rPr lang="ja-JP" altLang="en-US" sz="1600"/>
              <a:t>を図ります。</a:t>
            </a:r>
            <a:r>
              <a:rPr lang="ja-JP" altLang="en-US" sz="1600">
                <a:latin typeface="+mn-ea"/>
              </a:rPr>
              <a:t>また、規定されたプロセスに則り、プロジェクトを進めることにより、</a:t>
            </a:r>
            <a:r>
              <a:rPr lang="en-US" altLang="zh-TW" sz="1600">
                <a:latin typeface="游ゴシック" panose="020B0400000000000000" pitchFamily="50" charset="-128"/>
                <a:ea typeface="游ゴシック" panose="020B0400000000000000" pitchFamily="50" charset="-128"/>
              </a:rPr>
              <a:t>P</a:t>
            </a:r>
            <a:r>
              <a:rPr lang="zh-TW" altLang="en-US" sz="1600">
                <a:latin typeface="游ゴシック" panose="020B0400000000000000" pitchFamily="50" charset="-128"/>
                <a:ea typeface="游ゴシック" panose="020B0400000000000000" pitchFamily="50" charset="-128"/>
              </a:rPr>
              <a:t>（計画）</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D</a:t>
            </a:r>
            <a:r>
              <a:rPr lang="zh-TW" altLang="en-US" sz="1600">
                <a:latin typeface="游ゴシック" panose="020B0400000000000000" pitchFamily="50" charset="-128"/>
                <a:ea typeface="游ゴシック" panose="020B0400000000000000" pitchFamily="50" charset="-128"/>
              </a:rPr>
              <a:t>（実行）</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C</a:t>
            </a:r>
            <a:r>
              <a:rPr lang="zh-TW" altLang="en-US" sz="1600">
                <a:latin typeface="游ゴシック" panose="020B0400000000000000" pitchFamily="50" charset="-128"/>
                <a:ea typeface="游ゴシック" panose="020B0400000000000000" pitchFamily="50" charset="-128"/>
              </a:rPr>
              <a:t>（</a:t>
            </a:r>
            <a:r>
              <a:rPr lang="ja-JP" altLang="en-US" sz="1600">
                <a:latin typeface="游ゴシック" panose="020B0400000000000000" pitchFamily="50" charset="-128"/>
                <a:ea typeface="游ゴシック" panose="020B0400000000000000" pitchFamily="50" charset="-128"/>
              </a:rPr>
              <a:t>検証</a:t>
            </a:r>
            <a:r>
              <a:rPr lang="zh-TW" altLang="en-US" sz="1600">
                <a:latin typeface="游ゴシック" panose="020B0400000000000000" pitchFamily="50" charset="-128"/>
                <a:ea typeface="游ゴシック" panose="020B0400000000000000" pitchFamily="50" charset="-128"/>
              </a:rPr>
              <a:t>）</a:t>
            </a:r>
            <a:r>
              <a:rPr lang="ja-JP" altLang="en-US" sz="1600">
                <a:latin typeface="游ゴシック" panose="020B0400000000000000" pitchFamily="50" charset="-128"/>
                <a:ea typeface="游ゴシック" panose="020B0400000000000000" pitchFamily="50" charset="-128"/>
              </a:rPr>
              <a:t>・</a:t>
            </a:r>
            <a:r>
              <a:rPr lang="en-US" altLang="zh-TW" sz="1600">
                <a:latin typeface="游ゴシック" panose="020B0400000000000000" pitchFamily="50" charset="-128"/>
                <a:ea typeface="游ゴシック" panose="020B0400000000000000" pitchFamily="50" charset="-128"/>
              </a:rPr>
              <a:t>A</a:t>
            </a:r>
            <a:r>
              <a:rPr lang="zh-TW" altLang="en-US" sz="1600">
                <a:latin typeface="游ゴシック" panose="020B0400000000000000" pitchFamily="50" charset="-128"/>
                <a:ea typeface="游ゴシック" panose="020B0400000000000000" pitchFamily="50" charset="-128"/>
              </a:rPr>
              <a:t>（改善）</a:t>
            </a:r>
            <a:r>
              <a:rPr lang="ja-JP" altLang="en-US" sz="1600">
                <a:latin typeface="+mn-ea"/>
                <a:ea typeface="游ゴシック" panose="020B0400000000000000" pitchFamily="50" charset="-128"/>
              </a:rPr>
              <a:t>を</a:t>
            </a:r>
            <a:r>
              <a:rPr lang="ja-JP" altLang="en-US" sz="1600">
                <a:latin typeface="+mn-ea"/>
              </a:rPr>
              <a:t>徹底し、</a:t>
            </a:r>
            <a:r>
              <a:rPr lang="ja-JP" altLang="en-US" sz="1600" b="1">
                <a:solidFill>
                  <a:srgbClr val="0000FF"/>
                </a:solidFill>
                <a:latin typeface="+mn-ea"/>
              </a:rPr>
              <a:t>継続的な品質強化活動</a:t>
            </a:r>
            <a:r>
              <a:rPr lang="ja-JP" altLang="en-US" sz="1600">
                <a:latin typeface="+mn-ea"/>
              </a:rPr>
              <a:t>につなげてまいります。</a:t>
            </a:r>
          </a:p>
        </p:txBody>
      </p:sp>
    </p:spTree>
    <p:extLst>
      <p:ext uri="{BB962C8B-B14F-4D97-AF65-F5344CB8AC3E}">
        <p14:creationId xmlns:p14="http://schemas.microsoft.com/office/powerpoint/2010/main" val="574986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ECC7-446B-9AE7-17C0-64E88854BE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29830A-A6DA-E061-238F-A58898C4E264}"/>
              </a:ext>
            </a:extLst>
          </p:cNvPr>
          <p:cNvSpPr>
            <a:spLocks noGrp="1"/>
          </p:cNvSpPr>
          <p:nvPr>
            <p:ph type="title"/>
          </p:nvPr>
        </p:nvSpPr>
        <p:spPr/>
        <p:txBody>
          <a:bodyPr/>
          <a:lstStyle/>
          <a:p>
            <a:r>
              <a:rPr lang="en-US" altLang="ja-JP"/>
              <a:t>3</a:t>
            </a:r>
            <a:r>
              <a:rPr kumimoji="1" lang="en-US" altLang="ja-JP"/>
              <a:t>-5</a:t>
            </a:r>
            <a:r>
              <a:rPr kumimoji="1" lang="ja-JP" altLang="en-US"/>
              <a:t>．品質管理②（製造・テスト）</a:t>
            </a:r>
          </a:p>
        </p:txBody>
      </p:sp>
      <p:sp>
        <p:nvSpPr>
          <p:cNvPr id="4" name="フッター プレースホルダー 3">
            <a:extLst>
              <a:ext uri="{FF2B5EF4-FFF2-40B4-BE49-F238E27FC236}">
                <a16:creationId xmlns:a16="http://schemas.microsoft.com/office/drawing/2014/main" id="{45DB197C-E308-E2A0-CEC9-DF317715F5DA}"/>
              </a:ext>
            </a:extLst>
          </p:cNvPr>
          <p:cNvSpPr>
            <a:spLocks noGrp="1"/>
          </p:cNvSpPr>
          <p:nvPr>
            <p:ph type="ftr" sz="quarter" idx="11"/>
          </p:nvPr>
        </p:nvSpPr>
        <p:spPr/>
        <p:txBody>
          <a:bodyPr/>
          <a:lstStyle/>
          <a:p>
            <a:r>
              <a:rPr lang="en-US" altLang="ja-JP"/>
              <a:t>Copyright © SystemEXE,Inc All Rights Reserved.</a:t>
            </a:r>
          </a:p>
        </p:txBody>
      </p:sp>
      <p:sp>
        <p:nvSpPr>
          <p:cNvPr id="5" name="スライド番号プレースホルダー 3">
            <a:extLst>
              <a:ext uri="{FF2B5EF4-FFF2-40B4-BE49-F238E27FC236}">
                <a16:creationId xmlns:a16="http://schemas.microsoft.com/office/drawing/2014/main" id="{7AB39FD5-9344-79B0-E3BE-7B234A2A46E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15</a:t>
            </a:fld>
            <a:endParaRPr kumimoji="1" lang="ja-JP" altLang="en-US" sz="700"/>
          </a:p>
        </p:txBody>
      </p:sp>
      <p:sp>
        <p:nvSpPr>
          <p:cNvPr id="7" name="テキスト ボックス 6">
            <a:extLst>
              <a:ext uri="{FF2B5EF4-FFF2-40B4-BE49-F238E27FC236}">
                <a16:creationId xmlns:a16="http://schemas.microsoft.com/office/drawing/2014/main" id="{30EA0A18-243F-E3F5-972F-48C6EF6D2965}"/>
              </a:ext>
            </a:extLst>
          </p:cNvPr>
          <p:cNvSpPr txBox="1"/>
          <p:nvPr/>
        </p:nvSpPr>
        <p:spPr>
          <a:xfrm>
            <a:off x="694800" y="1027302"/>
            <a:ext cx="10250840" cy="5298085"/>
          </a:xfrm>
          <a:prstGeom prst="rect">
            <a:avLst/>
          </a:prstGeom>
          <a:noFill/>
        </p:spPr>
        <p:txBody>
          <a:bodyPr wrap="square" lIns="108000" rIns="108000" rtlCol="0" anchor="t">
            <a:noAutofit/>
          </a:bodyPr>
          <a:lstStyle/>
          <a:p>
            <a:pPr marL="0" lvl="2">
              <a:tabLst>
                <a:tab pos="990600" algn="l"/>
              </a:tabLst>
            </a:pPr>
            <a:r>
              <a:rPr lang="ja-JP" altLang="en-US" b="1">
                <a:latin typeface="+mn-ea"/>
              </a:rPr>
              <a:t>　　製造の品質管理</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基本設計と並行して</a:t>
            </a:r>
            <a:r>
              <a:rPr lang="ja-JP" altLang="en-US" sz="1600" b="1">
                <a:solidFill>
                  <a:srgbClr val="0000FF"/>
                </a:solidFill>
                <a:latin typeface="+mn-ea"/>
              </a:rPr>
              <a:t>標準化分析</a:t>
            </a:r>
            <a:r>
              <a:rPr lang="ja-JP" altLang="en-US" sz="1600">
                <a:latin typeface="+mn-ea"/>
              </a:rPr>
              <a:t>を実施し、共通機能の設計・製造・テストを業務機能に先行して行います。 </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共通機能は</a:t>
            </a:r>
            <a:r>
              <a:rPr lang="ja-JP" altLang="en-US" sz="1600" b="1">
                <a:solidFill>
                  <a:srgbClr val="0000FF"/>
                </a:solidFill>
                <a:latin typeface="+mn-ea"/>
              </a:rPr>
              <a:t>フレームワーク</a:t>
            </a:r>
            <a:r>
              <a:rPr lang="ja-JP" altLang="en-US" sz="1600">
                <a:latin typeface="+mn-ea"/>
              </a:rPr>
              <a:t>や</a:t>
            </a:r>
            <a:r>
              <a:rPr lang="ja-JP" altLang="en-US" sz="1600" b="1">
                <a:solidFill>
                  <a:srgbClr val="0000FF"/>
                </a:solidFill>
                <a:latin typeface="+mn-ea"/>
              </a:rPr>
              <a:t>共通部品</a:t>
            </a:r>
            <a:r>
              <a:rPr lang="ja-JP" altLang="en-US" sz="1600">
                <a:latin typeface="+mn-ea"/>
              </a:rPr>
              <a:t>、</a:t>
            </a:r>
            <a:r>
              <a:rPr lang="ja-JP" altLang="en-US" sz="1600" b="1">
                <a:solidFill>
                  <a:srgbClr val="0000FF"/>
                </a:solidFill>
                <a:latin typeface="+mn-ea"/>
              </a:rPr>
              <a:t>共通サービス</a:t>
            </a:r>
            <a:r>
              <a:rPr lang="ja-JP" altLang="en-US" sz="1600">
                <a:latin typeface="+mn-ea"/>
              </a:rPr>
              <a:t>として提供することで、コーディング・テスト量を軽減し、一定の品質を担保します。</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a:t>
            </a:r>
            <a:r>
              <a:rPr lang="ja-JP" altLang="en-US" sz="1600" b="1">
                <a:solidFill>
                  <a:srgbClr val="0000FF"/>
                </a:solidFill>
                <a:latin typeface="+mn-ea"/>
              </a:rPr>
              <a:t>開発標準</a:t>
            </a:r>
            <a:r>
              <a:rPr lang="ja-JP" altLang="en-US" sz="1600">
                <a:latin typeface="+mn-ea"/>
              </a:rPr>
              <a:t>（実装規約、フレームワーク／共通部品を前提とした製造手順の定義など）を策定し、開発前に</a:t>
            </a:r>
            <a:br>
              <a:rPr lang="en-US" altLang="ja-JP" sz="1600">
                <a:latin typeface="+mn-ea"/>
              </a:rPr>
            </a:br>
            <a:r>
              <a:rPr lang="ja-JP" altLang="en-US" sz="1600">
                <a:latin typeface="+mn-ea"/>
              </a:rPr>
              <a:t> メンバーへの教育を実施します。</a:t>
            </a:r>
            <a:endParaRPr lang="en-US" altLang="ja-JP" sz="1600">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 </a:t>
            </a:r>
            <a:r>
              <a:rPr lang="ja-JP" altLang="en-US" sz="1600" b="1">
                <a:solidFill>
                  <a:srgbClr val="0000FF"/>
                </a:solidFill>
                <a:latin typeface="+mn-ea"/>
              </a:rPr>
              <a:t>コーディング規約</a:t>
            </a:r>
            <a:r>
              <a:rPr lang="ja-JP" altLang="en-US" sz="1600">
                <a:latin typeface="+mn-ea"/>
              </a:rPr>
              <a:t>の定義と、</a:t>
            </a:r>
            <a:r>
              <a:rPr lang="ja-JP" altLang="en-US" sz="1600" b="1">
                <a:solidFill>
                  <a:srgbClr val="0000FF"/>
                </a:solidFill>
                <a:latin typeface="+mn-ea"/>
              </a:rPr>
              <a:t>サンプル提供</a:t>
            </a:r>
            <a:r>
              <a:rPr lang="ja-JP" altLang="en-US" sz="1600">
                <a:latin typeface="+mn-ea"/>
              </a:rPr>
              <a:t>により、品質のばらつきやシステム内の不統一を抑制します。</a:t>
            </a:r>
            <a:endParaRPr lang="en-US" altLang="ja-JP" sz="1600">
              <a:latin typeface="+mn-ea"/>
            </a:endParaRPr>
          </a:p>
          <a:p>
            <a:pPr marL="0" lvl="2">
              <a:spcBef>
                <a:spcPts val="1200"/>
              </a:spcBef>
              <a:tabLst>
                <a:tab pos="990600" algn="l"/>
              </a:tabLst>
            </a:pPr>
            <a:endParaRPr lang="en-US" altLang="ja-JP" sz="1600">
              <a:latin typeface="+mn-ea"/>
            </a:endParaRPr>
          </a:p>
          <a:p>
            <a:pPr marL="0" lvl="2">
              <a:spcBef>
                <a:spcPts val="1200"/>
              </a:spcBef>
              <a:tabLst>
                <a:tab pos="990600" algn="l"/>
              </a:tabLst>
            </a:pPr>
            <a:r>
              <a:rPr lang="ja-JP" altLang="en-US" sz="1600" b="1">
                <a:latin typeface="+mn-ea"/>
              </a:rPr>
              <a:t>　　</a:t>
            </a:r>
            <a:r>
              <a:rPr lang="ja-JP" altLang="en-US" b="1">
                <a:latin typeface="+mn-ea"/>
              </a:rPr>
              <a:t>テストの品質管理</a:t>
            </a:r>
            <a:endParaRPr lang="en-US" altLang="ja-JP" b="1">
              <a:latin typeface="+mn-ea"/>
            </a:endParaRPr>
          </a:p>
          <a:p>
            <a:pPr marL="285750" lvl="2" indent="-285750">
              <a:spcBef>
                <a:spcPts val="1200"/>
              </a:spcBef>
              <a:buFont typeface="Wingdings" panose="05000000000000000000" pitchFamily="2" charset="2"/>
              <a:buChar char="ü"/>
              <a:tabLst>
                <a:tab pos="990600" algn="l"/>
              </a:tabLst>
            </a:pPr>
            <a:r>
              <a:rPr lang="ja-JP" altLang="en-US" sz="1600">
                <a:latin typeface="+mn-ea"/>
              </a:rPr>
              <a:t>基本設計工程にて、</a:t>
            </a:r>
            <a:r>
              <a:rPr lang="ja-JP" altLang="en-US" sz="1600" b="1">
                <a:solidFill>
                  <a:srgbClr val="0000FF"/>
                </a:solidFill>
                <a:latin typeface="+mn-ea"/>
              </a:rPr>
              <a:t>全体テスト計画</a:t>
            </a:r>
            <a:r>
              <a:rPr lang="ja-JP" altLang="en-US" sz="1600">
                <a:latin typeface="+mn-ea"/>
              </a:rPr>
              <a:t>を策定し、各テスト工程の方針・目的、範囲、環境等を決定します。</a:t>
            </a:r>
          </a:p>
          <a:p>
            <a:pPr marL="285750" lvl="2" indent="-285750">
              <a:spcBef>
                <a:spcPts val="1200"/>
              </a:spcBef>
              <a:buFont typeface="Wingdings" panose="05000000000000000000" pitchFamily="2" charset="2"/>
              <a:buChar char="ü"/>
              <a:tabLst>
                <a:tab pos="990600" algn="l"/>
              </a:tabLst>
            </a:pPr>
            <a:r>
              <a:rPr lang="ja-JP" altLang="en-US" sz="1600">
                <a:latin typeface="+mn-ea"/>
              </a:rPr>
              <a:t>全体テスト計画を元に、各テスト工程ごとに</a:t>
            </a:r>
            <a:r>
              <a:rPr lang="ja-JP" altLang="en-US" sz="1600" b="1">
                <a:solidFill>
                  <a:srgbClr val="0000FF"/>
                </a:solidFill>
                <a:latin typeface="+mn-ea"/>
              </a:rPr>
              <a:t>詳細テスト計画</a:t>
            </a:r>
            <a:r>
              <a:rPr lang="ja-JP" altLang="en-US" sz="1600">
                <a:latin typeface="+mn-ea"/>
              </a:rPr>
              <a:t>を策定します。</a:t>
            </a:r>
          </a:p>
          <a:p>
            <a:pPr marL="285750" lvl="2" indent="-285750">
              <a:spcBef>
                <a:spcPts val="1200"/>
              </a:spcBef>
              <a:buFont typeface="Wingdings" panose="05000000000000000000" pitchFamily="2" charset="2"/>
              <a:buChar char="ü"/>
              <a:tabLst>
                <a:tab pos="990600" algn="l"/>
              </a:tabLst>
            </a:pPr>
            <a:r>
              <a:rPr lang="ja-JP" altLang="en-US" sz="1600">
                <a:latin typeface="+mn-ea"/>
              </a:rPr>
              <a:t>テスト計画には主に下記を定義し、</a:t>
            </a:r>
            <a:r>
              <a:rPr lang="ja-JP" altLang="en-US" sz="1600" b="1">
                <a:solidFill>
                  <a:srgbClr val="0000FF"/>
                </a:solidFill>
                <a:latin typeface="+mn-ea"/>
              </a:rPr>
              <a:t>品質基準</a:t>
            </a:r>
            <a:r>
              <a:rPr lang="ja-JP" altLang="en-US" sz="1600">
                <a:latin typeface="+mn-ea"/>
              </a:rPr>
              <a:t>（テスト網羅度・不具合検出度</a:t>
            </a:r>
            <a:r>
              <a:rPr lang="en-US" altLang="ja-JP" sz="1600">
                <a:latin typeface="+mn-ea"/>
              </a:rPr>
              <a:t>/</a:t>
            </a:r>
            <a:r>
              <a:rPr lang="ja-JP" altLang="en-US" sz="1600">
                <a:latin typeface="+mn-ea"/>
              </a:rPr>
              <a:t>収束曲線）を満たすことで</a:t>
            </a:r>
            <a:br>
              <a:rPr lang="ja-JP" altLang="en-US" sz="1600">
                <a:latin typeface="+mn-ea"/>
              </a:rPr>
            </a:br>
            <a:r>
              <a:rPr lang="ja-JP" altLang="en-US" sz="1600">
                <a:latin typeface="+mn-ea"/>
              </a:rPr>
              <a:t>品質を保証します。</a:t>
            </a:r>
            <a:br>
              <a:rPr lang="en-US" altLang="ja-JP" sz="1600">
                <a:latin typeface="+mn-ea"/>
              </a:rPr>
            </a:br>
            <a:r>
              <a:rPr lang="ja-JP" altLang="en-US" sz="1600">
                <a:latin typeface="+mn-ea"/>
              </a:rPr>
              <a:t>テストケース・テストデータ作成基準、エビデンス取得基準、テスト着手・終了条件、テスト実施フロー、</a:t>
            </a:r>
            <a:br>
              <a:rPr lang="en-US" altLang="ja-JP" sz="1600">
                <a:latin typeface="+mn-ea"/>
              </a:rPr>
            </a:br>
            <a:r>
              <a:rPr lang="ja-JP" altLang="en-US" sz="1600">
                <a:latin typeface="+mn-ea"/>
              </a:rPr>
              <a:t>不具合発生の品質基準値、障害分析と対応方法</a:t>
            </a:r>
          </a:p>
        </p:txBody>
      </p:sp>
      <p:sp>
        <p:nvSpPr>
          <p:cNvPr id="8" name="楕円 7">
            <a:extLst>
              <a:ext uri="{FF2B5EF4-FFF2-40B4-BE49-F238E27FC236}">
                <a16:creationId xmlns:a16="http://schemas.microsoft.com/office/drawing/2014/main" id="{1545CD3B-B9B6-C339-4C31-1FC736A7F128}"/>
              </a:ext>
            </a:extLst>
          </p:cNvPr>
          <p:cNvSpPr>
            <a:spLocks/>
          </p:cNvSpPr>
          <p:nvPr/>
        </p:nvSpPr>
        <p:spPr>
          <a:xfrm>
            <a:off x="720000" y="970771"/>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1</a:t>
            </a:r>
            <a:endParaRPr kumimoji="1" lang="ja-JP" altLang="en-US" sz="1600" b="1">
              <a:latin typeface="+mn-ea"/>
            </a:endParaRPr>
          </a:p>
        </p:txBody>
      </p:sp>
      <p:sp>
        <p:nvSpPr>
          <p:cNvPr id="10" name="楕円 9">
            <a:extLst>
              <a:ext uri="{FF2B5EF4-FFF2-40B4-BE49-F238E27FC236}">
                <a16:creationId xmlns:a16="http://schemas.microsoft.com/office/drawing/2014/main" id="{3C9612AC-DC82-A974-5708-864C6715D5BC}"/>
              </a:ext>
            </a:extLst>
          </p:cNvPr>
          <p:cNvSpPr>
            <a:spLocks/>
          </p:cNvSpPr>
          <p:nvPr/>
        </p:nvSpPr>
        <p:spPr>
          <a:xfrm>
            <a:off x="694800" y="3874496"/>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a:latin typeface="+mn-ea"/>
              </a:rPr>
              <a:t>2</a:t>
            </a:r>
            <a:endParaRPr kumimoji="1" lang="ja-JP" altLang="en-US" sz="1600" b="1">
              <a:latin typeface="+mn-ea"/>
            </a:endParaRPr>
          </a:p>
        </p:txBody>
      </p:sp>
    </p:spTree>
    <p:extLst>
      <p:ext uri="{BB962C8B-B14F-4D97-AF65-F5344CB8AC3E}">
        <p14:creationId xmlns:p14="http://schemas.microsoft.com/office/powerpoint/2010/main" val="364906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2252-3147-38F1-9A05-B8EEA1684F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7E1B7E-442E-6CAB-D18D-A13BD7AF3944}"/>
              </a:ext>
            </a:extLst>
          </p:cNvPr>
          <p:cNvSpPr>
            <a:spLocks noGrp="1"/>
          </p:cNvSpPr>
          <p:nvPr>
            <p:ph type="title"/>
          </p:nvPr>
        </p:nvSpPr>
        <p:spPr/>
        <p:txBody>
          <a:bodyPr/>
          <a:lstStyle/>
          <a:p>
            <a:r>
              <a:rPr lang="en-US" altLang="ja-JP"/>
              <a:t>3-6</a:t>
            </a:r>
            <a:r>
              <a:rPr kumimoji="1" lang="ja-JP" altLang="en-US"/>
              <a:t>．スケジュール</a:t>
            </a:r>
            <a:r>
              <a:rPr lang="ja-JP" altLang="en-US"/>
              <a:t>案</a:t>
            </a:r>
            <a:endParaRPr kumimoji="1" lang="ja-JP" altLang="en-US"/>
          </a:p>
        </p:txBody>
      </p:sp>
      <p:sp>
        <p:nvSpPr>
          <p:cNvPr id="4" name="フッター プレースホルダー 3">
            <a:extLst>
              <a:ext uri="{FF2B5EF4-FFF2-40B4-BE49-F238E27FC236}">
                <a16:creationId xmlns:a16="http://schemas.microsoft.com/office/drawing/2014/main" id="{3C9ECFEC-CFC9-54B1-36B1-15994A9B84CA}"/>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B14F378B-A52C-775F-611F-885B1AE3CA13}"/>
              </a:ext>
            </a:extLst>
          </p:cNvPr>
          <p:cNvGraphicFramePr>
            <a:graphicFrameLocks noGrp="1"/>
          </p:cNvGraphicFramePr>
          <p:nvPr>
            <p:extLst>
              <p:ext uri="{D42A27DB-BD31-4B8C-83A1-F6EECF244321}">
                <p14:modId xmlns:p14="http://schemas.microsoft.com/office/powerpoint/2010/main" val="452108637"/>
              </p:ext>
            </p:extLst>
          </p:nvPr>
        </p:nvGraphicFramePr>
        <p:xfrm>
          <a:off x="576000" y="914403"/>
          <a:ext cx="11301962" cy="5328000"/>
        </p:xfrm>
        <a:graphic>
          <a:graphicData uri="http://schemas.openxmlformats.org/drawingml/2006/table">
            <a:tbl>
              <a:tblPr firstRow="1" bandRow="1">
                <a:tableStyleId>{2D5ABB26-0587-4C30-8999-92F81FD0307C}</a:tableStyleId>
              </a:tblPr>
              <a:tblGrid>
                <a:gridCol w="1059906">
                  <a:extLst>
                    <a:ext uri="{9D8B030D-6E8A-4147-A177-3AD203B41FA5}">
                      <a16:colId xmlns:a16="http://schemas.microsoft.com/office/drawing/2014/main" val="390000680"/>
                    </a:ext>
                  </a:extLst>
                </a:gridCol>
                <a:gridCol w="465548">
                  <a:extLst>
                    <a:ext uri="{9D8B030D-6E8A-4147-A177-3AD203B41FA5}">
                      <a16:colId xmlns:a16="http://schemas.microsoft.com/office/drawing/2014/main" val="2810377369"/>
                    </a:ext>
                  </a:extLst>
                </a:gridCol>
                <a:gridCol w="465548">
                  <a:extLst>
                    <a:ext uri="{9D8B030D-6E8A-4147-A177-3AD203B41FA5}">
                      <a16:colId xmlns:a16="http://schemas.microsoft.com/office/drawing/2014/main" val="1394774728"/>
                    </a:ext>
                  </a:extLst>
                </a:gridCol>
                <a:gridCol w="465548">
                  <a:extLst>
                    <a:ext uri="{9D8B030D-6E8A-4147-A177-3AD203B41FA5}">
                      <a16:colId xmlns:a16="http://schemas.microsoft.com/office/drawing/2014/main" val="534760887"/>
                    </a:ext>
                  </a:extLst>
                </a:gridCol>
                <a:gridCol w="465548">
                  <a:extLst>
                    <a:ext uri="{9D8B030D-6E8A-4147-A177-3AD203B41FA5}">
                      <a16:colId xmlns:a16="http://schemas.microsoft.com/office/drawing/2014/main" val="491088751"/>
                    </a:ext>
                  </a:extLst>
                </a:gridCol>
                <a:gridCol w="465548">
                  <a:extLst>
                    <a:ext uri="{9D8B030D-6E8A-4147-A177-3AD203B41FA5}">
                      <a16:colId xmlns:a16="http://schemas.microsoft.com/office/drawing/2014/main" val="814744698"/>
                    </a:ext>
                  </a:extLst>
                </a:gridCol>
                <a:gridCol w="465548">
                  <a:extLst>
                    <a:ext uri="{9D8B030D-6E8A-4147-A177-3AD203B41FA5}">
                      <a16:colId xmlns:a16="http://schemas.microsoft.com/office/drawing/2014/main" val="611941371"/>
                    </a:ext>
                  </a:extLst>
                </a:gridCol>
                <a:gridCol w="465548">
                  <a:extLst>
                    <a:ext uri="{9D8B030D-6E8A-4147-A177-3AD203B41FA5}">
                      <a16:colId xmlns:a16="http://schemas.microsoft.com/office/drawing/2014/main" val="1302714029"/>
                    </a:ext>
                  </a:extLst>
                </a:gridCol>
                <a:gridCol w="465548">
                  <a:extLst>
                    <a:ext uri="{9D8B030D-6E8A-4147-A177-3AD203B41FA5}">
                      <a16:colId xmlns:a16="http://schemas.microsoft.com/office/drawing/2014/main" val="4050933131"/>
                    </a:ext>
                  </a:extLst>
                </a:gridCol>
                <a:gridCol w="465548">
                  <a:extLst>
                    <a:ext uri="{9D8B030D-6E8A-4147-A177-3AD203B41FA5}">
                      <a16:colId xmlns:a16="http://schemas.microsoft.com/office/drawing/2014/main" val="4066967415"/>
                    </a:ext>
                  </a:extLst>
                </a:gridCol>
                <a:gridCol w="465548">
                  <a:extLst>
                    <a:ext uri="{9D8B030D-6E8A-4147-A177-3AD203B41FA5}">
                      <a16:colId xmlns:a16="http://schemas.microsoft.com/office/drawing/2014/main" val="2818331606"/>
                    </a:ext>
                  </a:extLst>
                </a:gridCol>
                <a:gridCol w="465548">
                  <a:extLst>
                    <a:ext uri="{9D8B030D-6E8A-4147-A177-3AD203B41FA5}">
                      <a16:colId xmlns:a16="http://schemas.microsoft.com/office/drawing/2014/main" val="4146179240"/>
                    </a:ext>
                  </a:extLst>
                </a:gridCol>
                <a:gridCol w="465548">
                  <a:extLst>
                    <a:ext uri="{9D8B030D-6E8A-4147-A177-3AD203B41FA5}">
                      <a16:colId xmlns:a16="http://schemas.microsoft.com/office/drawing/2014/main" val="728973432"/>
                    </a:ext>
                  </a:extLst>
                </a:gridCol>
                <a:gridCol w="465548">
                  <a:extLst>
                    <a:ext uri="{9D8B030D-6E8A-4147-A177-3AD203B41FA5}">
                      <a16:colId xmlns:a16="http://schemas.microsoft.com/office/drawing/2014/main" val="3881238287"/>
                    </a:ext>
                  </a:extLst>
                </a:gridCol>
                <a:gridCol w="465548">
                  <a:extLst>
                    <a:ext uri="{9D8B030D-6E8A-4147-A177-3AD203B41FA5}">
                      <a16:colId xmlns:a16="http://schemas.microsoft.com/office/drawing/2014/main" val="277738048"/>
                    </a:ext>
                  </a:extLst>
                </a:gridCol>
                <a:gridCol w="465548">
                  <a:extLst>
                    <a:ext uri="{9D8B030D-6E8A-4147-A177-3AD203B41FA5}">
                      <a16:colId xmlns:a16="http://schemas.microsoft.com/office/drawing/2014/main" val="2245800188"/>
                    </a:ext>
                  </a:extLst>
                </a:gridCol>
                <a:gridCol w="465548">
                  <a:extLst>
                    <a:ext uri="{9D8B030D-6E8A-4147-A177-3AD203B41FA5}">
                      <a16:colId xmlns:a16="http://schemas.microsoft.com/office/drawing/2014/main" val="3364924607"/>
                    </a:ext>
                  </a:extLst>
                </a:gridCol>
                <a:gridCol w="465548">
                  <a:extLst>
                    <a:ext uri="{9D8B030D-6E8A-4147-A177-3AD203B41FA5}">
                      <a16:colId xmlns:a16="http://schemas.microsoft.com/office/drawing/2014/main" val="1162656261"/>
                    </a:ext>
                  </a:extLst>
                </a:gridCol>
                <a:gridCol w="465548">
                  <a:extLst>
                    <a:ext uri="{9D8B030D-6E8A-4147-A177-3AD203B41FA5}">
                      <a16:colId xmlns:a16="http://schemas.microsoft.com/office/drawing/2014/main" val="4018854686"/>
                    </a:ext>
                  </a:extLst>
                </a:gridCol>
                <a:gridCol w="465548">
                  <a:extLst>
                    <a:ext uri="{9D8B030D-6E8A-4147-A177-3AD203B41FA5}">
                      <a16:colId xmlns:a16="http://schemas.microsoft.com/office/drawing/2014/main" val="884114068"/>
                    </a:ext>
                  </a:extLst>
                </a:gridCol>
                <a:gridCol w="465548">
                  <a:extLst>
                    <a:ext uri="{9D8B030D-6E8A-4147-A177-3AD203B41FA5}">
                      <a16:colId xmlns:a16="http://schemas.microsoft.com/office/drawing/2014/main" val="3069356078"/>
                    </a:ext>
                  </a:extLst>
                </a:gridCol>
                <a:gridCol w="465548">
                  <a:extLst>
                    <a:ext uri="{9D8B030D-6E8A-4147-A177-3AD203B41FA5}">
                      <a16:colId xmlns:a16="http://schemas.microsoft.com/office/drawing/2014/main" val="4199843941"/>
                    </a:ext>
                  </a:extLst>
                </a:gridCol>
                <a:gridCol w="465548">
                  <a:extLst>
                    <a:ext uri="{9D8B030D-6E8A-4147-A177-3AD203B41FA5}">
                      <a16:colId xmlns:a16="http://schemas.microsoft.com/office/drawing/2014/main" val="743787249"/>
                    </a:ext>
                  </a:extLst>
                </a:gridCol>
              </a:tblGrid>
              <a:tr h="360000">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2">
                  <a:txBody>
                    <a:bodyPr/>
                    <a:lstStyle/>
                    <a:p>
                      <a:pPr algn="ctr"/>
                      <a:r>
                        <a:rPr lang="en-US" altLang="ja-JP" sz="1600" b="1">
                          <a:solidFill>
                            <a:schemeClr val="bg1"/>
                          </a:solidFill>
                          <a:latin typeface="+mn-ea"/>
                          <a:ea typeface="+mn-ea"/>
                        </a:rPr>
                        <a:t>2026 - 2027</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60000">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4</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5</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6</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7</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8</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kumimoji="1" lang="en-US" altLang="ja-JP" sz="1600" b="1">
                          <a:solidFill>
                            <a:schemeClr val="bg1"/>
                          </a:solidFill>
                          <a:latin typeface="+mn-ea"/>
                          <a:ea typeface="+mn-ea"/>
                        </a:rPr>
                        <a:t>9</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10</a:t>
                      </a: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11</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12</a:t>
                      </a: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1</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2</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648000">
                <a:tc>
                  <a:txBody>
                    <a:bodyPr/>
                    <a:lstStyle/>
                    <a:p>
                      <a:r>
                        <a:rPr kumimoji="1" lang="ja-JP" altLang="en-US" sz="1200">
                          <a:latin typeface="+mn-ea"/>
                          <a:ea typeface="+mn-ea"/>
                        </a:rPr>
                        <a:t>契約形態</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06649569"/>
                  </a:ext>
                </a:extLst>
              </a:tr>
              <a:tr h="1080000">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980000">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900000">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pSp>
        <p:nvGrpSpPr>
          <p:cNvPr id="15" name="グループ化 14">
            <a:extLst>
              <a:ext uri="{FF2B5EF4-FFF2-40B4-BE49-F238E27FC236}">
                <a16:creationId xmlns:a16="http://schemas.microsoft.com/office/drawing/2014/main" id="{8E65E388-5065-E3BB-9589-025A6E8606C5}"/>
              </a:ext>
            </a:extLst>
          </p:cNvPr>
          <p:cNvGrpSpPr/>
          <p:nvPr/>
        </p:nvGrpSpPr>
        <p:grpSpPr>
          <a:xfrm>
            <a:off x="7901227" y="6384022"/>
            <a:ext cx="4221743" cy="372517"/>
            <a:chOff x="2744754" y="513955"/>
            <a:chExt cx="8514710" cy="360050"/>
          </a:xfrm>
        </p:grpSpPr>
        <p:sp>
          <p:nvSpPr>
            <p:cNvPr id="16" name="正方形/長方形 15">
              <a:extLst>
                <a:ext uri="{FF2B5EF4-FFF2-40B4-BE49-F238E27FC236}">
                  <a16:creationId xmlns:a16="http://schemas.microsoft.com/office/drawing/2014/main" id="{836CB94B-D248-FFE9-DA39-638F8966292D}"/>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F7D41A81-7C12-593E-A6C0-6C3295F6AB67}"/>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EC221F3C-3E5D-116E-B476-895060B88E19}"/>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9" name="角丸四角形 1">
              <a:extLst>
                <a:ext uri="{FF2B5EF4-FFF2-40B4-BE49-F238E27FC236}">
                  <a16:creationId xmlns:a16="http://schemas.microsoft.com/office/drawing/2014/main" id="{4B837D06-9977-50E0-1BCF-197C465FE2C6}"/>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graphicFrame>
        <p:nvGraphicFramePr>
          <p:cNvPr id="6" name="表 5">
            <a:extLst>
              <a:ext uri="{FF2B5EF4-FFF2-40B4-BE49-F238E27FC236}">
                <a16:creationId xmlns:a16="http://schemas.microsoft.com/office/drawing/2014/main" id="{7AF8AA22-62A8-5BC0-7304-792C9E62C8EE}"/>
              </a:ext>
            </a:extLst>
          </p:cNvPr>
          <p:cNvGraphicFramePr>
            <a:graphicFrameLocks noGrp="1"/>
          </p:cNvGraphicFramePr>
          <p:nvPr>
            <p:extLst>
              <p:ext uri="{D42A27DB-BD31-4B8C-83A1-F6EECF244321}">
                <p14:modId xmlns:p14="http://schemas.microsoft.com/office/powerpoint/2010/main" val="2645623494"/>
              </p:ext>
            </p:extLst>
          </p:nvPr>
        </p:nvGraphicFramePr>
        <p:xfrm>
          <a:off x="1639999" y="4041514"/>
          <a:ext cx="922629" cy="720000"/>
        </p:xfrm>
        <a:graphic>
          <a:graphicData uri="http://schemas.openxmlformats.org/drawingml/2006/table">
            <a:tbl>
              <a:tblPr firstRow="1" bandRow="1">
                <a:tableStyleId>{2D5ABB26-0587-4C30-8999-92F81FD0307C}</a:tableStyleId>
              </a:tblPr>
              <a:tblGrid>
                <a:gridCol w="922629">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要件定義</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8" name="表 7">
            <a:extLst>
              <a:ext uri="{FF2B5EF4-FFF2-40B4-BE49-F238E27FC236}">
                <a16:creationId xmlns:a16="http://schemas.microsoft.com/office/drawing/2014/main" id="{D3C83730-6F30-0CB3-4CF4-5B3B710D3F9F}"/>
              </a:ext>
            </a:extLst>
          </p:cNvPr>
          <p:cNvGraphicFramePr>
            <a:graphicFrameLocks noGrp="1"/>
          </p:cNvGraphicFramePr>
          <p:nvPr>
            <p:extLst>
              <p:ext uri="{D42A27DB-BD31-4B8C-83A1-F6EECF244321}">
                <p14:modId xmlns:p14="http://schemas.microsoft.com/office/powerpoint/2010/main" val="1299694709"/>
              </p:ext>
            </p:extLst>
          </p:nvPr>
        </p:nvGraphicFramePr>
        <p:xfrm>
          <a:off x="7218573" y="4041514"/>
          <a:ext cx="1862018" cy="720000"/>
        </p:xfrm>
        <a:graphic>
          <a:graphicData uri="http://schemas.openxmlformats.org/drawingml/2006/table">
            <a:tbl>
              <a:tblPr firstRow="1" bandRow="1">
                <a:tableStyleId>{2D5ABB26-0587-4C30-8999-92F81FD0307C}</a:tableStyleId>
              </a:tblPr>
              <a:tblGrid>
                <a:gridCol w="1862018">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結合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11" name="表 10">
            <a:extLst>
              <a:ext uri="{FF2B5EF4-FFF2-40B4-BE49-F238E27FC236}">
                <a16:creationId xmlns:a16="http://schemas.microsoft.com/office/drawing/2014/main" id="{66FB581D-A020-121C-E14C-151419D3B847}"/>
              </a:ext>
            </a:extLst>
          </p:cNvPr>
          <p:cNvGraphicFramePr>
            <a:graphicFrameLocks noGrp="1"/>
          </p:cNvGraphicFramePr>
          <p:nvPr>
            <p:extLst>
              <p:ext uri="{D42A27DB-BD31-4B8C-83A1-F6EECF244321}">
                <p14:modId xmlns:p14="http://schemas.microsoft.com/office/powerpoint/2010/main" val="1845532373"/>
              </p:ext>
            </p:extLst>
          </p:nvPr>
        </p:nvGraphicFramePr>
        <p:xfrm>
          <a:off x="9092744" y="4041514"/>
          <a:ext cx="919353" cy="720000"/>
        </p:xfrm>
        <a:graphic>
          <a:graphicData uri="http://schemas.openxmlformats.org/drawingml/2006/table">
            <a:tbl>
              <a:tblPr firstRow="1" bandRow="1">
                <a:tableStyleId>{2D5ABB26-0587-4C30-8999-92F81FD0307C}</a:tableStyleId>
              </a:tblPr>
              <a:tblGrid>
                <a:gridCol w="919353">
                  <a:extLst>
                    <a:ext uri="{9D8B030D-6E8A-4147-A177-3AD203B41FA5}">
                      <a16:colId xmlns:a16="http://schemas.microsoft.com/office/drawing/2014/main" val="2823374101"/>
                    </a:ext>
                  </a:extLst>
                </a:gridCol>
              </a:tblGrid>
              <a:tr h="720000">
                <a:tc>
                  <a:txBody>
                    <a:bodyPr/>
                    <a:lstStyle/>
                    <a:p>
                      <a:pPr algn="ctr"/>
                      <a:r>
                        <a:rPr kumimoji="1" lang="ja-JP" altLang="en-US" sz="1000" b="0">
                          <a:solidFill>
                            <a:schemeClr val="tx1"/>
                          </a:solidFill>
                          <a:latin typeface="+mn-ea"/>
                          <a:ea typeface="+mn-ea"/>
                        </a:rPr>
                        <a:t>システムテスト</a:t>
                      </a:r>
                      <a:endParaRPr kumimoji="1" lang="en-US" altLang="ja-JP" sz="10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2" name="表 41">
            <a:extLst>
              <a:ext uri="{FF2B5EF4-FFF2-40B4-BE49-F238E27FC236}">
                <a16:creationId xmlns:a16="http://schemas.microsoft.com/office/drawing/2014/main" id="{AF327CBF-7E71-02A6-9C69-F61CFDB509AD}"/>
              </a:ext>
            </a:extLst>
          </p:cNvPr>
          <p:cNvGraphicFramePr>
            <a:graphicFrameLocks noGrp="1"/>
          </p:cNvGraphicFramePr>
          <p:nvPr>
            <p:extLst>
              <p:ext uri="{D42A27DB-BD31-4B8C-83A1-F6EECF244321}">
                <p14:modId xmlns:p14="http://schemas.microsoft.com/office/powerpoint/2010/main" val="1244598819"/>
              </p:ext>
            </p:extLst>
          </p:nvPr>
        </p:nvGraphicFramePr>
        <p:xfrm>
          <a:off x="3520042" y="4041514"/>
          <a:ext cx="1845975" cy="720000"/>
        </p:xfrm>
        <a:graphic>
          <a:graphicData uri="http://schemas.openxmlformats.org/drawingml/2006/table">
            <a:tbl>
              <a:tblPr firstRow="1" bandRow="1">
                <a:tableStyleId>{2D5ABB26-0587-4C30-8999-92F81FD0307C}</a:tableStyleId>
              </a:tblPr>
              <a:tblGrid>
                <a:gridCol w="1845975">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詳細設計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7" name="表 6">
            <a:extLst>
              <a:ext uri="{FF2B5EF4-FFF2-40B4-BE49-F238E27FC236}">
                <a16:creationId xmlns:a16="http://schemas.microsoft.com/office/drawing/2014/main" id="{621B3B10-61C2-FB19-0917-8877017BD5A4}"/>
              </a:ext>
            </a:extLst>
          </p:cNvPr>
          <p:cNvGraphicFramePr>
            <a:graphicFrameLocks noGrp="1"/>
          </p:cNvGraphicFramePr>
          <p:nvPr>
            <p:extLst>
              <p:ext uri="{D42A27DB-BD31-4B8C-83A1-F6EECF244321}">
                <p14:modId xmlns:p14="http://schemas.microsoft.com/office/powerpoint/2010/main" val="1181615864"/>
              </p:ext>
            </p:extLst>
          </p:nvPr>
        </p:nvGraphicFramePr>
        <p:xfrm>
          <a:off x="5357306" y="4041514"/>
          <a:ext cx="1861266" cy="720000"/>
        </p:xfrm>
        <a:graphic>
          <a:graphicData uri="http://schemas.openxmlformats.org/drawingml/2006/table">
            <a:tbl>
              <a:tblPr firstRow="1" bandRow="1">
                <a:tableStyleId>{2D5ABB26-0587-4C30-8999-92F81FD0307C}</a:tableStyleId>
              </a:tblPr>
              <a:tblGrid>
                <a:gridCol w="1861266">
                  <a:extLst>
                    <a:ext uri="{9D8B030D-6E8A-4147-A177-3AD203B41FA5}">
                      <a16:colId xmlns:a16="http://schemas.microsoft.com/office/drawing/2014/main" val="1708186329"/>
                    </a:ext>
                  </a:extLst>
                </a:gridCol>
              </a:tblGrid>
              <a:tr h="720000">
                <a:tc>
                  <a:txBody>
                    <a:bodyPr/>
                    <a:lstStyle/>
                    <a:p>
                      <a:pPr algn="ctr"/>
                      <a:r>
                        <a:rPr kumimoji="1" lang="ja-JP" altLang="en-US" sz="1100" b="0">
                          <a:solidFill>
                            <a:schemeClr val="tx1"/>
                          </a:solidFill>
                          <a:latin typeface="+mn-ea"/>
                          <a:ea typeface="+mn-ea"/>
                        </a:rPr>
                        <a:t>製造～単体テスト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52" name="表 51">
            <a:extLst>
              <a:ext uri="{FF2B5EF4-FFF2-40B4-BE49-F238E27FC236}">
                <a16:creationId xmlns:a16="http://schemas.microsoft.com/office/drawing/2014/main" id="{52B240DB-23BA-B13D-1DA5-136CD1029935}"/>
              </a:ext>
            </a:extLst>
          </p:cNvPr>
          <p:cNvGraphicFramePr>
            <a:graphicFrameLocks noGrp="1"/>
          </p:cNvGraphicFramePr>
          <p:nvPr>
            <p:extLst>
              <p:ext uri="{D42A27DB-BD31-4B8C-83A1-F6EECF244321}">
                <p14:modId xmlns:p14="http://schemas.microsoft.com/office/powerpoint/2010/main" val="3642395467"/>
              </p:ext>
            </p:extLst>
          </p:nvPr>
        </p:nvGraphicFramePr>
        <p:xfrm>
          <a:off x="10022513" y="4041514"/>
          <a:ext cx="903986" cy="720000"/>
        </p:xfrm>
        <a:graphic>
          <a:graphicData uri="http://schemas.openxmlformats.org/drawingml/2006/table">
            <a:tbl>
              <a:tblPr firstRow="1" bandRow="1">
                <a:tableStyleId>{2D5ABB26-0587-4C30-8999-92F81FD0307C}</a:tableStyleId>
              </a:tblPr>
              <a:tblGrid>
                <a:gridCol w="90398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ユーザテスト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教育</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88790659-60CD-1D45-77AD-1BF5904152F4}"/>
              </a:ext>
            </a:extLst>
          </p:cNvPr>
          <p:cNvGraphicFramePr>
            <a:graphicFrameLocks noGrp="1"/>
          </p:cNvGraphicFramePr>
          <p:nvPr>
            <p:extLst>
              <p:ext uri="{D42A27DB-BD31-4B8C-83A1-F6EECF244321}">
                <p14:modId xmlns:p14="http://schemas.microsoft.com/office/powerpoint/2010/main" val="3059348750"/>
              </p:ext>
            </p:extLst>
          </p:nvPr>
        </p:nvGraphicFramePr>
        <p:xfrm>
          <a:off x="10936915" y="4041514"/>
          <a:ext cx="912276" cy="720000"/>
        </p:xfrm>
        <a:graphic>
          <a:graphicData uri="http://schemas.openxmlformats.org/drawingml/2006/table">
            <a:tbl>
              <a:tblPr firstRow="1" bandRow="1">
                <a:tableStyleId>{2D5ABB26-0587-4C30-8999-92F81FD0307C}</a:tableStyleId>
              </a:tblPr>
              <a:tblGrid>
                <a:gridCol w="91227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初期流動</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D11F4983-F3D5-4556-A4AF-EA3BE406526C}"/>
              </a:ext>
            </a:extLst>
          </p:cNvPr>
          <p:cNvSpPr txBox="1"/>
          <p:nvPr/>
        </p:nvSpPr>
        <p:spPr>
          <a:xfrm>
            <a:off x="1685970" y="1770150"/>
            <a:ext cx="164095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0" name="テキスト ボックス 39">
            <a:extLst>
              <a:ext uri="{FF2B5EF4-FFF2-40B4-BE49-F238E27FC236}">
                <a16:creationId xmlns:a16="http://schemas.microsoft.com/office/drawing/2014/main" id="{6ED9CDD7-0BA5-2290-1644-9BBE810C9F4A}"/>
              </a:ext>
            </a:extLst>
          </p:cNvPr>
          <p:cNvSpPr txBox="1"/>
          <p:nvPr/>
        </p:nvSpPr>
        <p:spPr>
          <a:xfrm>
            <a:off x="2909963" y="1792046"/>
            <a:ext cx="2817884"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請負契約</a:t>
            </a:r>
          </a:p>
        </p:txBody>
      </p:sp>
      <p:cxnSp>
        <p:nvCxnSpPr>
          <p:cNvPr id="44" name="直線矢印コネクタ 43">
            <a:extLst>
              <a:ext uri="{FF2B5EF4-FFF2-40B4-BE49-F238E27FC236}">
                <a16:creationId xmlns:a16="http://schemas.microsoft.com/office/drawing/2014/main" id="{1691A272-19A3-12A8-007D-6AA22F01FFBE}"/>
              </a:ext>
            </a:extLst>
          </p:cNvPr>
          <p:cNvCxnSpPr>
            <a:cxnSpLocks/>
          </p:cNvCxnSpPr>
          <p:nvPr/>
        </p:nvCxnSpPr>
        <p:spPr>
          <a:xfrm>
            <a:off x="1673571" y="2112438"/>
            <a:ext cx="1832314"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F6EBA984-C4FD-94E2-79CA-1A6F09B3CF8A}"/>
              </a:ext>
            </a:extLst>
          </p:cNvPr>
          <p:cNvCxnSpPr>
            <a:cxnSpLocks/>
          </p:cNvCxnSpPr>
          <p:nvPr/>
        </p:nvCxnSpPr>
        <p:spPr>
          <a:xfrm>
            <a:off x="3520042" y="2110638"/>
            <a:ext cx="5469810" cy="90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43F69AF3-CF73-67CA-4FA9-10549A173981}"/>
              </a:ext>
            </a:extLst>
          </p:cNvPr>
          <p:cNvSpPr txBox="1"/>
          <p:nvPr/>
        </p:nvSpPr>
        <p:spPr>
          <a:xfrm>
            <a:off x="8818778" y="1776167"/>
            <a:ext cx="2166802" cy="288147"/>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契約③</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50" name="直線矢印コネクタ 49">
            <a:extLst>
              <a:ext uri="{FF2B5EF4-FFF2-40B4-BE49-F238E27FC236}">
                <a16:creationId xmlns:a16="http://schemas.microsoft.com/office/drawing/2014/main" id="{8BF0F46D-DF06-6999-760D-F6379FCEBB23}"/>
              </a:ext>
            </a:extLst>
          </p:cNvPr>
          <p:cNvCxnSpPr>
            <a:cxnSpLocks/>
          </p:cNvCxnSpPr>
          <p:nvPr/>
        </p:nvCxnSpPr>
        <p:spPr>
          <a:xfrm>
            <a:off x="9092744" y="2111538"/>
            <a:ext cx="1833755"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2" name="矢印: 五方向 11">
            <a:extLst>
              <a:ext uri="{FF2B5EF4-FFF2-40B4-BE49-F238E27FC236}">
                <a16:creationId xmlns:a16="http://schemas.microsoft.com/office/drawing/2014/main" id="{E1F063FA-9EC8-AE1A-DA2F-3BB408AAB63D}"/>
              </a:ext>
            </a:extLst>
          </p:cNvPr>
          <p:cNvSpPr/>
          <p:nvPr/>
        </p:nvSpPr>
        <p:spPr>
          <a:xfrm>
            <a:off x="3506774" y="3471586"/>
            <a:ext cx="6515738"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開発フェーズ</a:t>
            </a:r>
          </a:p>
        </p:txBody>
      </p:sp>
      <p:sp>
        <p:nvSpPr>
          <p:cNvPr id="13" name="矢印: 五方向 12">
            <a:extLst>
              <a:ext uri="{FF2B5EF4-FFF2-40B4-BE49-F238E27FC236}">
                <a16:creationId xmlns:a16="http://schemas.microsoft.com/office/drawing/2014/main" id="{58371B8D-CFAD-6690-606F-D841F50F8550}"/>
              </a:ext>
            </a:extLst>
          </p:cNvPr>
          <p:cNvSpPr/>
          <p:nvPr/>
        </p:nvSpPr>
        <p:spPr>
          <a:xfrm>
            <a:off x="10004016" y="3467887"/>
            <a:ext cx="963047"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導入</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フェーズ</a:t>
            </a:r>
          </a:p>
        </p:txBody>
      </p:sp>
      <p:sp>
        <p:nvSpPr>
          <p:cNvPr id="20" name="矢印: 五方向 19">
            <a:extLst>
              <a:ext uri="{FF2B5EF4-FFF2-40B4-BE49-F238E27FC236}">
                <a16:creationId xmlns:a16="http://schemas.microsoft.com/office/drawing/2014/main" id="{7A15B279-76BE-3040-3B8C-99E828848335}"/>
              </a:ext>
            </a:extLst>
          </p:cNvPr>
          <p:cNvSpPr/>
          <p:nvPr/>
        </p:nvSpPr>
        <p:spPr>
          <a:xfrm>
            <a:off x="10953026" y="3479348"/>
            <a:ext cx="924935"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運用</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保守</a:t>
            </a:r>
          </a:p>
        </p:txBody>
      </p:sp>
      <p:graphicFrame>
        <p:nvGraphicFramePr>
          <p:cNvPr id="3" name="表 2">
            <a:extLst>
              <a:ext uri="{FF2B5EF4-FFF2-40B4-BE49-F238E27FC236}">
                <a16:creationId xmlns:a16="http://schemas.microsoft.com/office/drawing/2014/main" id="{76D85EE3-7263-DE9E-D82C-A232FA34F91F}"/>
              </a:ext>
            </a:extLst>
          </p:cNvPr>
          <p:cNvGraphicFramePr>
            <a:graphicFrameLocks noGrp="1"/>
          </p:cNvGraphicFramePr>
          <p:nvPr>
            <p:extLst>
              <p:ext uri="{D42A27DB-BD31-4B8C-83A1-F6EECF244321}">
                <p14:modId xmlns:p14="http://schemas.microsoft.com/office/powerpoint/2010/main" val="1082558498"/>
              </p:ext>
            </p:extLst>
          </p:nvPr>
        </p:nvGraphicFramePr>
        <p:xfrm>
          <a:off x="2574486" y="4041514"/>
          <a:ext cx="935396" cy="720000"/>
        </p:xfrm>
        <a:graphic>
          <a:graphicData uri="http://schemas.openxmlformats.org/drawingml/2006/table">
            <a:tbl>
              <a:tblPr firstRow="1" bandRow="1">
                <a:tableStyleId>{2D5ABB26-0587-4C30-8999-92F81FD0307C}</a:tableStyleId>
              </a:tblPr>
              <a:tblGrid>
                <a:gridCol w="935396">
                  <a:extLst>
                    <a:ext uri="{9D8B030D-6E8A-4147-A177-3AD203B41FA5}">
                      <a16:colId xmlns:a16="http://schemas.microsoft.com/office/drawing/2014/main" val="2823374101"/>
                    </a:ext>
                  </a:extLst>
                </a:gridCol>
              </a:tblGrid>
              <a:tr h="720000">
                <a:tc>
                  <a:txBody>
                    <a:bodyPr/>
                    <a:lstStyle/>
                    <a:p>
                      <a:pPr algn="ctr"/>
                      <a:r>
                        <a:rPr kumimoji="1" lang="ja-JP" altLang="en-US" sz="1100" b="0">
                          <a:solidFill>
                            <a:schemeClr val="tx1"/>
                          </a:solidFill>
                          <a:latin typeface="+mn-ea"/>
                          <a:ea typeface="+mn-ea"/>
                        </a:rPr>
                        <a:t>基本設計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22" name="スライド番号プレースホルダー 3">
            <a:extLst>
              <a:ext uri="{FF2B5EF4-FFF2-40B4-BE49-F238E27FC236}">
                <a16:creationId xmlns:a16="http://schemas.microsoft.com/office/drawing/2014/main" id="{681CD31E-52BB-61B7-EC7B-30E0B773CC5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16</a:t>
            </a:fld>
            <a:endParaRPr kumimoji="1" lang="ja-JP" altLang="en-US" sz="700"/>
          </a:p>
        </p:txBody>
      </p:sp>
      <p:sp>
        <p:nvSpPr>
          <p:cNvPr id="5" name="矢印: 五方向 4">
            <a:extLst>
              <a:ext uri="{FF2B5EF4-FFF2-40B4-BE49-F238E27FC236}">
                <a16:creationId xmlns:a16="http://schemas.microsoft.com/office/drawing/2014/main" id="{DB2A7DDC-0D88-21DD-FDCA-6A560DBD0CE9}"/>
              </a:ext>
            </a:extLst>
          </p:cNvPr>
          <p:cNvSpPr/>
          <p:nvPr/>
        </p:nvSpPr>
        <p:spPr>
          <a:xfrm>
            <a:off x="1650639" y="3447093"/>
            <a:ext cx="1869883" cy="586948"/>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a:solidFill>
                  <a:schemeClr val="tx1">
                    <a:lumMod val="75000"/>
                    <a:lumOff val="25000"/>
                  </a:schemeClr>
                </a:solidFill>
              </a:rPr>
              <a:t>要件定義・</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基本設計</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フェーズ</a:t>
            </a:r>
          </a:p>
        </p:txBody>
      </p:sp>
      <p:sp>
        <p:nvSpPr>
          <p:cNvPr id="24" name="テキスト ボックス 23">
            <a:extLst>
              <a:ext uri="{FF2B5EF4-FFF2-40B4-BE49-F238E27FC236}">
                <a16:creationId xmlns:a16="http://schemas.microsoft.com/office/drawing/2014/main" id="{5BB93F0C-6FA6-32A9-D039-6698C158A6D0}"/>
              </a:ext>
            </a:extLst>
          </p:cNvPr>
          <p:cNvSpPr txBox="1"/>
          <p:nvPr/>
        </p:nvSpPr>
        <p:spPr>
          <a:xfrm>
            <a:off x="10463251" y="1644751"/>
            <a:ext cx="2166802" cy="503590"/>
          </a:xfrm>
          <a:prstGeom prst="rect">
            <a:avLst/>
          </a:prstGeom>
          <a:no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契約④</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a:t>
            </a:r>
            <a:endPar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endParaRPr>
          </a:p>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a:t>
            </a:r>
          </a:p>
        </p:txBody>
      </p:sp>
      <p:cxnSp>
        <p:nvCxnSpPr>
          <p:cNvPr id="30" name="直線矢印コネクタ 29">
            <a:extLst>
              <a:ext uri="{FF2B5EF4-FFF2-40B4-BE49-F238E27FC236}">
                <a16:creationId xmlns:a16="http://schemas.microsoft.com/office/drawing/2014/main" id="{5564499D-A006-507D-21E8-38827C47D49F}"/>
              </a:ext>
            </a:extLst>
          </p:cNvPr>
          <p:cNvCxnSpPr>
            <a:cxnSpLocks/>
          </p:cNvCxnSpPr>
          <p:nvPr/>
        </p:nvCxnSpPr>
        <p:spPr>
          <a:xfrm>
            <a:off x="11023947" y="2110638"/>
            <a:ext cx="839858" cy="90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A1C86E13-9BE5-8865-80C2-EB4CF8CB7BAA}"/>
              </a:ext>
            </a:extLst>
          </p:cNvPr>
          <p:cNvSpPr txBox="1"/>
          <p:nvPr/>
        </p:nvSpPr>
        <p:spPr>
          <a:xfrm>
            <a:off x="1553656" y="2311104"/>
            <a:ext cx="1151277"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★キックオフ</a:t>
            </a:r>
            <a:endParaRPr kumimoji="1" lang="en-US" altLang="ja-JP" sz="1100">
              <a:latin typeface="游ゴシック" panose="020B0400000000000000" pitchFamily="50" charset="-128"/>
              <a:ea typeface="游ゴシック" panose="020B0400000000000000" pitchFamily="50" charset="-128"/>
            </a:endParaRPr>
          </a:p>
        </p:txBody>
      </p:sp>
      <p:sp>
        <p:nvSpPr>
          <p:cNvPr id="33" name="テキスト ボックス 32">
            <a:extLst>
              <a:ext uri="{FF2B5EF4-FFF2-40B4-BE49-F238E27FC236}">
                <a16:creationId xmlns:a16="http://schemas.microsoft.com/office/drawing/2014/main" id="{54171B8D-725E-7BB0-C608-5CD4D46954EE}"/>
              </a:ext>
            </a:extLst>
          </p:cNvPr>
          <p:cNvSpPr txBox="1"/>
          <p:nvPr/>
        </p:nvSpPr>
        <p:spPr>
          <a:xfrm>
            <a:off x="1382586" y="2923827"/>
            <a:ext cx="2997937"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▲要件定義・基本設計フェーズ契約締結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34" name="テキスト ボックス 33">
            <a:extLst>
              <a:ext uri="{FF2B5EF4-FFF2-40B4-BE49-F238E27FC236}">
                <a16:creationId xmlns:a16="http://schemas.microsoft.com/office/drawing/2014/main" id="{3628CBA1-D05A-0C59-B4A4-D314472F72B5}"/>
              </a:ext>
            </a:extLst>
          </p:cNvPr>
          <p:cNvSpPr txBox="1"/>
          <p:nvPr/>
        </p:nvSpPr>
        <p:spPr>
          <a:xfrm>
            <a:off x="2411269" y="2495565"/>
            <a:ext cx="997389"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★要件確定</a:t>
            </a:r>
            <a:endParaRPr kumimoji="1" lang="en-US" altLang="ja-JP" sz="1100">
              <a:latin typeface="游ゴシック" panose="020B0400000000000000" pitchFamily="50" charset="-128"/>
              <a:ea typeface="游ゴシック" panose="020B0400000000000000" pitchFamily="50" charset="-128"/>
            </a:endParaRPr>
          </a:p>
        </p:txBody>
      </p:sp>
      <p:sp>
        <p:nvSpPr>
          <p:cNvPr id="37" name="テキスト ボックス 36">
            <a:extLst>
              <a:ext uri="{FF2B5EF4-FFF2-40B4-BE49-F238E27FC236}">
                <a16:creationId xmlns:a16="http://schemas.microsoft.com/office/drawing/2014/main" id="{42FFFA64-904E-308B-45F4-606665532D24}"/>
              </a:ext>
            </a:extLst>
          </p:cNvPr>
          <p:cNvSpPr txBox="1"/>
          <p:nvPr/>
        </p:nvSpPr>
        <p:spPr>
          <a:xfrm>
            <a:off x="3311183" y="2713250"/>
            <a:ext cx="997388" cy="276999"/>
          </a:xfrm>
          <a:prstGeom prst="rect">
            <a:avLst/>
          </a:prstGeom>
          <a:noFill/>
        </p:spPr>
        <p:txBody>
          <a:bodyPr wrap="none" rtlCol="0" anchor="t">
            <a:spAutoFit/>
          </a:bodyPr>
          <a:lstStyle/>
          <a:p>
            <a:pPr algn="ctr"/>
            <a:r>
              <a:rPr kumimoji="1" lang="ja-JP" altLang="en-US" sz="1200">
                <a:latin typeface="游ゴシック" panose="020B0400000000000000" pitchFamily="50" charset="-128"/>
                <a:ea typeface="游ゴシック" panose="020B0400000000000000" pitchFamily="50" charset="-128"/>
              </a:rPr>
              <a:t> ★仕様確定</a:t>
            </a:r>
            <a:endParaRPr kumimoji="1" lang="en-US" altLang="ja-JP" sz="1100">
              <a:latin typeface="游ゴシック" panose="020B0400000000000000" pitchFamily="50" charset="-128"/>
              <a:ea typeface="游ゴシック" panose="020B0400000000000000" pitchFamily="50" charset="-128"/>
            </a:endParaRPr>
          </a:p>
        </p:txBody>
      </p:sp>
      <p:sp>
        <p:nvSpPr>
          <p:cNvPr id="38" name="テキスト ボックス 37">
            <a:extLst>
              <a:ext uri="{FF2B5EF4-FFF2-40B4-BE49-F238E27FC236}">
                <a16:creationId xmlns:a16="http://schemas.microsoft.com/office/drawing/2014/main" id="{419C4E09-BB0F-08DF-4E77-832099B1ED49}"/>
              </a:ext>
            </a:extLst>
          </p:cNvPr>
          <p:cNvSpPr txBox="1"/>
          <p:nvPr/>
        </p:nvSpPr>
        <p:spPr>
          <a:xfrm>
            <a:off x="10800945" y="3120918"/>
            <a:ext cx="1459054" cy="276999"/>
          </a:xfrm>
          <a:prstGeom prst="rect">
            <a:avLst/>
          </a:prstGeom>
          <a:noFill/>
        </p:spPr>
        <p:txBody>
          <a:bodyPr wrap="none" rtlCol="0" anchor="t">
            <a:spAutoFit/>
          </a:bodyPr>
          <a:lstStyle/>
          <a:p>
            <a:r>
              <a:rPr kumimoji="1" lang="ja-JP" altLang="en-US" sz="1200">
                <a:latin typeface="游ゴシック" panose="020B0400000000000000" pitchFamily="50" charset="-128"/>
                <a:ea typeface="游ゴシック" panose="020B0400000000000000" pitchFamily="50" charset="-128"/>
              </a:rPr>
              <a:t> ▲保守・運用開始</a:t>
            </a:r>
            <a:endParaRPr kumimoji="1" lang="en-US" altLang="ja-JP" sz="1100">
              <a:latin typeface="游ゴシック" panose="020B0400000000000000" pitchFamily="50" charset="-128"/>
              <a:ea typeface="游ゴシック" panose="020B0400000000000000" pitchFamily="50" charset="-128"/>
            </a:endParaRPr>
          </a:p>
        </p:txBody>
      </p:sp>
      <p:sp>
        <p:nvSpPr>
          <p:cNvPr id="43" name="テキスト ボックス 42">
            <a:extLst>
              <a:ext uri="{FF2B5EF4-FFF2-40B4-BE49-F238E27FC236}">
                <a16:creationId xmlns:a16="http://schemas.microsoft.com/office/drawing/2014/main" id="{75BCFBBE-C2C9-67F5-0F62-877DDFD8002D}"/>
              </a:ext>
            </a:extLst>
          </p:cNvPr>
          <p:cNvSpPr txBox="1"/>
          <p:nvPr/>
        </p:nvSpPr>
        <p:spPr>
          <a:xfrm>
            <a:off x="8284450" y="3013285"/>
            <a:ext cx="1920718"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▲導入フェーズ契約締結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5" name="テキスト ボックス 44">
            <a:extLst>
              <a:ext uri="{FF2B5EF4-FFF2-40B4-BE49-F238E27FC236}">
                <a16:creationId xmlns:a16="http://schemas.microsoft.com/office/drawing/2014/main" id="{8705FCA5-110A-54D3-C0D2-D1F8C13E0F86}"/>
              </a:ext>
            </a:extLst>
          </p:cNvPr>
          <p:cNvSpPr txBox="1"/>
          <p:nvPr/>
        </p:nvSpPr>
        <p:spPr>
          <a:xfrm>
            <a:off x="10542735" y="2896215"/>
            <a:ext cx="1305165"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▲保守契約締結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47" name="テキスト ボックス 46">
            <a:extLst>
              <a:ext uri="{FF2B5EF4-FFF2-40B4-BE49-F238E27FC236}">
                <a16:creationId xmlns:a16="http://schemas.microsoft.com/office/drawing/2014/main" id="{72E0FC0A-A746-9878-EAD4-DD638DF17BD8}"/>
              </a:ext>
            </a:extLst>
          </p:cNvPr>
          <p:cNvSpPr txBox="1"/>
          <p:nvPr/>
        </p:nvSpPr>
        <p:spPr>
          <a:xfrm>
            <a:off x="8832834" y="2495564"/>
            <a:ext cx="646331" cy="276999"/>
          </a:xfrm>
          <a:prstGeom prst="rect">
            <a:avLst/>
          </a:prstGeom>
          <a:noFill/>
        </p:spPr>
        <p:txBody>
          <a:bodyPr wrap="none" rtlCol="0" anchor="t">
            <a:spAutoFit/>
          </a:bodyPr>
          <a:lstStyle/>
          <a:p>
            <a:r>
              <a:rPr kumimoji="1" lang="ja-JP" altLang="en-US" sz="1200" b="1">
                <a:solidFill>
                  <a:srgbClr val="FF0000"/>
                </a:solidFill>
                <a:latin typeface="游ゴシック" panose="020B0400000000000000" pitchFamily="50" charset="-128"/>
                <a:ea typeface="游ゴシック" panose="020B0400000000000000" pitchFamily="50" charset="-128"/>
              </a:rPr>
              <a:t>▲検収</a:t>
            </a:r>
            <a:endParaRPr kumimoji="1" lang="en-US" altLang="ja-JP" sz="1100" b="1">
              <a:solidFill>
                <a:srgbClr val="FF0000"/>
              </a:solidFill>
              <a:latin typeface="游ゴシック" panose="020B0400000000000000" pitchFamily="50" charset="-128"/>
              <a:ea typeface="游ゴシック" panose="020B0400000000000000" pitchFamily="50" charset="-128"/>
            </a:endParaRPr>
          </a:p>
        </p:txBody>
      </p:sp>
      <p:graphicFrame>
        <p:nvGraphicFramePr>
          <p:cNvPr id="35" name="表 34">
            <a:extLst>
              <a:ext uri="{FF2B5EF4-FFF2-40B4-BE49-F238E27FC236}">
                <a16:creationId xmlns:a16="http://schemas.microsoft.com/office/drawing/2014/main" id="{29225C49-BD32-F4C6-C63A-186D5A26DCBF}"/>
              </a:ext>
            </a:extLst>
          </p:cNvPr>
          <p:cNvGraphicFramePr>
            <a:graphicFrameLocks noGrp="1"/>
          </p:cNvGraphicFramePr>
          <p:nvPr>
            <p:extLst>
              <p:ext uri="{D42A27DB-BD31-4B8C-83A1-F6EECF244321}">
                <p14:modId xmlns:p14="http://schemas.microsoft.com/office/powerpoint/2010/main" val="3372881835"/>
              </p:ext>
            </p:extLst>
          </p:nvPr>
        </p:nvGraphicFramePr>
        <p:xfrm>
          <a:off x="2585916" y="5456864"/>
          <a:ext cx="1365500" cy="648000"/>
        </p:xfrm>
        <a:graphic>
          <a:graphicData uri="http://schemas.openxmlformats.org/drawingml/2006/table">
            <a:tbl>
              <a:tblPr firstRow="1" bandRow="1">
                <a:tableStyleId>{2D5ABB26-0587-4C30-8999-92F81FD0307C}</a:tableStyleId>
              </a:tblPr>
              <a:tblGrid>
                <a:gridCol w="1365500">
                  <a:extLst>
                    <a:ext uri="{9D8B030D-6E8A-4147-A177-3AD203B41FA5}">
                      <a16:colId xmlns:a16="http://schemas.microsoft.com/office/drawing/2014/main" val="2823374101"/>
                    </a:ext>
                  </a:extLst>
                </a:gridCol>
              </a:tblGrid>
              <a:tr h="648000">
                <a:tc>
                  <a:txBody>
                    <a:bodyPr/>
                    <a:lstStyle/>
                    <a:p>
                      <a:pPr algn="ctr"/>
                      <a:r>
                        <a:rPr kumimoji="1" lang="en-US" altLang="ja-JP" sz="1100" b="0">
                          <a:solidFill>
                            <a:schemeClr val="tx1"/>
                          </a:solidFill>
                          <a:latin typeface="+mn-ea"/>
                          <a:ea typeface="+mn-ea"/>
                        </a:rPr>
                        <a:t>Azure</a:t>
                      </a:r>
                    </a:p>
                    <a:p>
                      <a:pPr algn="ctr"/>
                      <a:r>
                        <a:rPr kumimoji="1" lang="ja-JP" altLang="en-US" sz="1100" b="0">
                          <a:solidFill>
                            <a:schemeClr val="tx1"/>
                          </a:solidFill>
                          <a:latin typeface="+mn-ea"/>
                          <a:ea typeface="+mn-ea"/>
                        </a:rPr>
                        <a:t>環境構築</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sp>
        <p:nvSpPr>
          <p:cNvPr id="36" name="テキスト ボックス 35">
            <a:extLst>
              <a:ext uri="{FF2B5EF4-FFF2-40B4-BE49-F238E27FC236}">
                <a16:creationId xmlns:a16="http://schemas.microsoft.com/office/drawing/2014/main" id="{C9125EAF-6A58-3960-27BB-A4FC8F0A7850}"/>
              </a:ext>
            </a:extLst>
          </p:cNvPr>
          <p:cNvSpPr txBox="1"/>
          <p:nvPr/>
        </p:nvSpPr>
        <p:spPr>
          <a:xfrm>
            <a:off x="3193679" y="3132485"/>
            <a:ext cx="1920719" cy="276999"/>
          </a:xfrm>
          <a:prstGeom prst="rect">
            <a:avLst/>
          </a:prstGeom>
          <a:noFill/>
        </p:spPr>
        <p:txBody>
          <a:bodyPr wrap="none" rtlCol="0" anchor="t">
            <a:spAutoFit/>
          </a:bodyPr>
          <a:lstStyle/>
          <a:p>
            <a:pPr algn="ctr"/>
            <a:r>
              <a:rPr kumimoji="1" lang="ja-JP" altLang="en-US" sz="1200">
                <a:solidFill>
                  <a:srgbClr val="008000"/>
                </a:solidFill>
                <a:latin typeface="游ゴシック" panose="020B0400000000000000" pitchFamily="50" charset="-128"/>
                <a:ea typeface="游ゴシック" panose="020B0400000000000000" pitchFamily="50" charset="-128"/>
              </a:rPr>
              <a:t> ▲開発フェーズ契約締結</a:t>
            </a:r>
            <a:endParaRPr kumimoji="1" lang="en-US" altLang="ja-JP" sz="1100">
              <a:solidFill>
                <a:srgbClr val="008000"/>
              </a:solidFill>
              <a:latin typeface="游ゴシック" panose="020B0400000000000000" pitchFamily="50" charset="-128"/>
              <a:ea typeface="游ゴシック" panose="020B0400000000000000" pitchFamily="50" charset="-128"/>
            </a:endParaRPr>
          </a:p>
        </p:txBody>
      </p:sp>
      <p:sp>
        <p:nvSpPr>
          <p:cNvPr id="54" name="テキスト ボックス 53">
            <a:extLst>
              <a:ext uri="{FF2B5EF4-FFF2-40B4-BE49-F238E27FC236}">
                <a16:creationId xmlns:a16="http://schemas.microsoft.com/office/drawing/2014/main" id="{A5BF7F86-DEF7-3D23-5202-563A9D4D319E}"/>
              </a:ext>
            </a:extLst>
          </p:cNvPr>
          <p:cNvSpPr txBox="1"/>
          <p:nvPr/>
        </p:nvSpPr>
        <p:spPr>
          <a:xfrm>
            <a:off x="9924924" y="2668833"/>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a:t>
            </a:r>
            <a:endParaRPr kumimoji="1" lang="en-US" altLang="ja-JP" sz="1100">
              <a:latin typeface="游ゴシック" panose="020B0400000000000000" pitchFamily="50" charset="-128"/>
              <a:ea typeface="游ゴシック" panose="020B0400000000000000" pitchFamily="50" charset="-128"/>
            </a:endParaRPr>
          </a:p>
        </p:txBody>
      </p:sp>
      <p:sp>
        <p:nvSpPr>
          <p:cNvPr id="55" name="テキスト ボックス 54">
            <a:extLst>
              <a:ext uri="{FF2B5EF4-FFF2-40B4-BE49-F238E27FC236}">
                <a16:creationId xmlns:a16="http://schemas.microsoft.com/office/drawing/2014/main" id="{34B6C60F-B866-9C0A-16E2-513D201C0797}"/>
              </a:ext>
            </a:extLst>
          </p:cNvPr>
          <p:cNvSpPr txBox="1"/>
          <p:nvPr/>
        </p:nvSpPr>
        <p:spPr>
          <a:xfrm>
            <a:off x="9684550" y="2295677"/>
            <a:ext cx="1557403" cy="276999"/>
          </a:xfrm>
          <a:prstGeom prst="rect">
            <a:avLst/>
          </a:prstGeom>
          <a:noFill/>
        </p:spPr>
        <p:txBody>
          <a:bodyPr wrap="square" rtlCol="0" anchor="t">
            <a:spAutoFit/>
          </a:bodyPr>
          <a:lstStyle/>
          <a:p>
            <a:pPr algn="r"/>
            <a:r>
              <a:rPr kumimoji="1" lang="ja-JP" altLang="en-US" sz="1200">
                <a:latin typeface="游ゴシック" panose="020B0400000000000000" pitchFamily="50" charset="-128"/>
              </a:rPr>
              <a:t>▲</a:t>
            </a:r>
            <a:r>
              <a:rPr kumimoji="1" lang="ja-JP" altLang="en-US" sz="1200">
                <a:latin typeface="游ゴシック" panose="020B0400000000000000" pitchFamily="50" charset="-128"/>
                <a:ea typeface="游ゴシック" panose="020B0400000000000000" pitchFamily="50" charset="-128"/>
              </a:rPr>
              <a:t>リリース判定</a:t>
            </a:r>
            <a:endParaRPr kumimoji="1" lang="en-US" altLang="ja-JP" sz="110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710341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61AC2-25E7-E787-333E-1B5F11F05599}"/>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D6A26857-4AF9-6C0F-3296-065EA97A8F3E}"/>
              </a:ext>
            </a:extLst>
          </p:cNvPr>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a:latin typeface="游ゴシック"/>
                <a:ea typeface="游ゴシック"/>
              </a:rPr>
              <a:t>貴社との会議体につきましては、以下の会議を開催し、進捗管理・各種調整作業・課題解決等を実施します。</a:t>
            </a:r>
            <a:br>
              <a:rPr kumimoji="1" lang="ja-JP" altLang="en-US" sz="1600">
                <a:latin typeface="游ゴシック"/>
                <a:ea typeface="游ゴシック"/>
              </a:rPr>
            </a:br>
            <a:r>
              <a:rPr kumimoji="1" lang="ja-JP" altLang="en-US" sz="1600">
                <a:latin typeface="游ゴシック"/>
                <a:ea typeface="游ゴシック"/>
              </a:rPr>
              <a:t>貴社との会議体は、対面会議および</a:t>
            </a:r>
            <a:r>
              <a:rPr kumimoji="1" lang="en-US" altLang="ja-JP" sz="1600">
                <a:latin typeface="游ゴシック"/>
                <a:ea typeface="游ゴシック"/>
              </a:rPr>
              <a:t>WEB</a:t>
            </a:r>
            <a:r>
              <a:rPr kumimoji="1" lang="ja-JP" altLang="en-US" sz="1600">
                <a:latin typeface="游ゴシック"/>
                <a:ea typeface="游ゴシック"/>
              </a:rPr>
              <a:t>会議を会議体の特性に応じて使い分けることとします。</a:t>
            </a:r>
            <a:br>
              <a:rPr kumimoji="1" lang="ja-JP" altLang="en-US" sz="1600">
                <a:latin typeface="游ゴシック"/>
                <a:ea typeface="游ゴシック"/>
              </a:rPr>
            </a:br>
            <a:r>
              <a:rPr kumimoji="1" lang="en-US" altLang="ja-JP" sz="1600">
                <a:latin typeface="游ゴシック"/>
                <a:ea typeface="游ゴシック"/>
              </a:rPr>
              <a:t>※WEB</a:t>
            </a:r>
            <a:r>
              <a:rPr kumimoji="1" lang="ja-JP" altLang="en-US" sz="1600">
                <a:latin typeface="游ゴシック"/>
                <a:ea typeface="游ゴシック"/>
              </a:rPr>
              <a:t>会議の予定であっても、状況に応じて対面での会議を開催します。</a:t>
            </a:r>
          </a:p>
        </p:txBody>
      </p:sp>
      <p:sp>
        <p:nvSpPr>
          <p:cNvPr id="2" name="タイトル 1">
            <a:extLst>
              <a:ext uri="{FF2B5EF4-FFF2-40B4-BE49-F238E27FC236}">
                <a16:creationId xmlns:a16="http://schemas.microsoft.com/office/drawing/2014/main" id="{5E88FC77-3B7F-4FFF-ABEA-3891E016BB8A}"/>
              </a:ext>
            </a:extLst>
          </p:cNvPr>
          <p:cNvSpPr>
            <a:spLocks noGrp="1"/>
          </p:cNvSpPr>
          <p:nvPr>
            <p:ph type="title"/>
          </p:nvPr>
        </p:nvSpPr>
        <p:spPr/>
        <p:txBody>
          <a:bodyPr/>
          <a:lstStyle/>
          <a:p>
            <a:r>
              <a:rPr kumimoji="1" lang="en-US" altLang="ja-JP"/>
              <a:t>3-7</a:t>
            </a:r>
            <a:r>
              <a:rPr kumimoji="1" lang="ja-JP" altLang="en-US"/>
              <a:t>．会議体</a:t>
            </a:r>
          </a:p>
        </p:txBody>
      </p:sp>
      <p:sp>
        <p:nvSpPr>
          <p:cNvPr id="4" name="フッター プレースホルダー 3">
            <a:extLst>
              <a:ext uri="{FF2B5EF4-FFF2-40B4-BE49-F238E27FC236}">
                <a16:creationId xmlns:a16="http://schemas.microsoft.com/office/drawing/2014/main" id="{1DBD5E17-7E95-BDA5-2DED-3447C28C10AD}"/>
              </a:ext>
            </a:extLst>
          </p:cNvPr>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a:extLst>
              <a:ext uri="{FF2B5EF4-FFF2-40B4-BE49-F238E27FC236}">
                <a16:creationId xmlns:a16="http://schemas.microsoft.com/office/drawing/2014/main" id="{4F98FCB3-C730-C554-3FF9-F3B1F69497DB}"/>
              </a:ext>
            </a:extLst>
          </p:cNvPr>
          <p:cNvGraphicFramePr>
            <a:graphicFrameLocks/>
          </p:cNvGraphicFramePr>
          <p:nvPr>
            <p:extLst>
              <p:ext uri="{D42A27DB-BD31-4B8C-83A1-F6EECF244321}">
                <p14:modId xmlns:p14="http://schemas.microsoft.com/office/powerpoint/2010/main" val="610923628"/>
              </p:ext>
            </p:extLst>
          </p:nvPr>
        </p:nvGraphicFramePr>
        <p:xfrm>
          <a:off x="575999" y="1944000"/>
          <a:ext cx="11041199" cy="3459840"/>
        </p:xfrm>
        <a:graphic>
          <a:graphicData uri="http://schemas.openxmlformats.org/drawingml/2006/table">
            <a:tbl>
              <a:tblPr firstRow="1" bandRow="1">
                <a:tableStyleId>{3B4B98B0-60AC-42C2-AFA5-B58CD77FA1E5}</a:tableStyleId>
              </a:tblPr>
              <a:tblGrid>
                <a:gridCol w="2121019">
                  <a:extLst>
                    <a:ext uri="{9D8B030D-6E8A-4147-A177-3AD203B41FA5}">
                      <a16:colId xmlns:a16="http://schemas.microsoft.com/office/drawing/2014/main" val="20000"/>
                    </a:ext>
                  </a:extLst>
                </a:gridCol>
                <a:gridCol w="1333806">
                  <a:extLst>
                    <a:ext uri="{9D8B030D-6E8A-4147-A177-3AD203B41FA5}">
                      <a16:colId xmlns:a16="http://schemas.microsoft.com/office/drawing/2014/main" val="20003"/>
                    </a:ext>
                  </a:extLst>
                </a:gridCol>
                <a:gridCol w="1082352">
                  <a:extLst>
                    <a:ext uri="{9D8B030D-6E8A-4147-A177-3AD203B41FA5}">
                      <a16:colId xmlns:a16="http://schemas.microsoft.com/office/drawing/2014/main" val="2022646445"/>
                    </a:ext>
                  </a:extLst>
                </a:gridCol>
                <a:gridCol w="1112133">
                  <a:extLst>
                    <a:ext uri="{9D8B030D-6E8A-4147-A177-3AD203B41FA5}">
                      <a16:colId xmlns:a16="http://schemas.microsoft.com/office/drawing/2014/main" val="1186915876"/>
                    </a:ext>
                  </a:extLst>
                </a:gridCol>
                <a:gridCol w="5391889">
                  <a:extLst>
                    <a:ext uri="{9D8B030D-6E8A-4147-A177-3AD203B41FA5}">
                      <a16:colId xmlns:a16="http://schemas.microsoft.com/office/drawing/2014/main" val="20001"/>
                    </a:ext>
                  </a:extLst>
                </a:gridCol>
              </a:tblGrid>
              <a:tr h="417600">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会議名</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開催頻度</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会議形態</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主催</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内容</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extLst>
                  <a:ext uri="{0D108BD9-81ED-4DB2-BD59-A6C34878D82A}">
                    <a16:rowId xmlns:a16="http://schemas.microsoft.com/office/drawing/2014/main" val="10000"/>
                  </a:ext>
                </a:extLst>
              </a:tr>
              <a:tr h="752046">
                <a:tc>
                  <a:txBody>
                    <a:bodyPr/>
                    <a:lstStyle/>
                    <a:p>
                      <a:r>
                        <a:rPr kumimoji="1" lang="ja-JP" altLang="en-US" sz="1600">
                          <a:latin typeface="游ゴシック" panose="020B0400000000000000" pitchFamily="50" charset="-128"/>
                          <a:ea typeface="游ゴシック" panose="020B0400000000000000" pitchFamily="50" charset="-128"/>
                        </a:rPr>
                        <a:t>キックオフ会議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pPr algn="ctr"/>
                      <a:r>
                        <a:rPr kumimoji="1" lang="ja-JP" altLang="en-US" sz="1600">
                          <a:latin typeface="游ゴシック" panose="020B0400000000000000" pitchFamily="50" charset="-128"/>
                          <a:ea typeface="游ゴシック" panose="020B0400000000000000" pitchFamily="50" charset="-128"/>
                        </a:rPr>
                        <a:t>開始時</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mn-ea"/>
                        </a:rPr>
                        <a:t>WEB</a:t>
                      </a:r>
                      <a:r>
                        <a:rPr kumimoji="1" lang="ja-JP" altLang="en-US" sz="1600">
                          <a:latin typeface="游ゴシック" panose="020B0400000000000000" pitchFamily="50" charset="-128"/>
                          <a:ea typeface="+mn-ea"/>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貴社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プロジェクトの進め方、体制、成果物等の認識合わせおよび各種周知事項の共有</a:t>
                      </a:r>
                    </a:p>
                  </a:txBody>
                  <a:tcPr marL="72000" marR="72000" marT="36000" marB="36000" anchor="ctr"/>
                </a:tc>
                <a:extLst>
                  <a:ext uri="{0D108BD9-81ED-4DB2-BD59-A6C34878D82A}">
                    <a16:rowId xmlns:a16="http://schemas.microsoft.com/office/drawing/2014/main" val="51281576"/>
                  </a:ext>
                </a:extLst>
              </a:tr>
              <a:tr h="523827">
                <a:tc>
                  <a:txBody>
                    <a:bodyPr/>
                    <a:lstStyle/>
                    <a:p>
                      <a:r>
                        <a:rPr kumimoji="1" lang="ja-JP" altLang="en-US" sz="1600">
                          <a:latin typeface="游ゴシック" panose="020B0400000000000000" pitchFamily="50" charset="-128"/>
                          <a:ea typeface="游ゴシック" panose="020B0400000000000000" pitchFamily="50" charset="-128"/>
                        </a:rPr>
                        <a:t>進捗会議（定例）</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週次</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プロジェクトの進捗状況、遅延時のリカバリ方法検討、作業予定の確認、連絡事項の周知</a:t>
                      </a:r>
                    </a:p>
                  </a:txBody>
                  <a:tcPr marL="72000" marR="72000" marT="36000" marB="36000" anchor="ctr"/>
                </a:tc>
                <a:extLst>
                  <a:ext uri="{0D108BD9-81ED-4DB2-BD59-A6C34878D82A}">
                    <a16:rowId xmlns:a16="http://schemas.microsoft.com/office/drawing/2014/main" val="10001"/>
                  </a:ext>
                </a:extLst>
              </a:tr>
              <a:tr h="523827">
                <a:tc>
                  <a:txBody>
                    <a:bodyPr/>
                    <a:lstStyle/>
                    <a:p>
                      <a:r>
                        <a:rPr kumimoji="1" lang="ja-JP" altLang="en-US" sz="1600">
                          <a:latin typeface="游ゴシック" panose="020B0400000000000000" pitchFamily="50" charset="-128"/>
                          <a:ea typeface="游ゴシック" panose="020B0400000000000000" pitchFamily="50" charset="-128"/>
                        </a:rPr>
                        <a:t>課題検討会議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週次</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各種課題の検討</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解決、リスクの把握</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対応方法検討</a:t>
                      </a:r>
                      <a:endParaRPr kumimoji="1" lang="en-US" altLang="ja-JP" sz="1600">
                        <a:latin typeface="游ゴシック" panose="020B0400000000000000" pitchFamily="50" charset="-128"/>
                        <a:ea typeface="游ゴシック" panose="020B0400000000000000"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 進捗会議と同時開催</a:t>
                      </a:r>
                    </a:p>
                  </a:txBody>
                  <a:tcPr marL="72000" marR="72000" marT="36000" marB="36000" anchor="ctr"/>
                </a:tc>
                <a:extLst>
                  <a:ext uri="{0D108BD9-81ED-4DB2-BD59-A6C34878D82A}">
                    <a16:rowId xmlns:a16="http://schemas.microsoft.com/office/drawing/2014/main" val="1929609212"/>
                  </a:ext>
                </a:extLst>
              </a:tr>
              <a:tr h="523827">
                <a:tc>
                  <a:txBody>
                    <a:bodyPr/>
                    <a:lstStyle/>
                    <a:p>
                      <a:r>
                        <a:rPr kumimoji="1" lang="ja-JP" altLang="en-US" sz="1600">
                          <a:latin typeface="游ゴシック" panose="020B0400000000000000" pitchFamily="50" charset="-128"/>
                          <a:ea typeface="游ゴシック" panose="020B0400000000000000" pitchFamily="50" charset="-128"/>
                        </a:rPr>
                        <a:t>レビュー会議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各工程</a:t>
                      </a:r>
                      <a:endParaRPr kumimoji="1" lang="en-US" altLang="ja-JP" sz="160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完了時</a:t>
                      </a:r>
                    </a:p>
                  </a:txBody>
                  <a:tcPr marL="72000" marR="72000" marT="36000" marB="36000" anchor="ctr"/>
                </a:tc>
                <a:tc>
                  <a:txBody>
                    <a:bodyPr/>
                    <a:lstStyle/>
                    <a:p>
                      <a:pPr marL="0" marR="0" lvl="0" indent="0" algn="ctr" defTabSz="914400">
                        <a:lnSpc>
                          <a:spcPct val="100000"/>
                        </a:lnSpc>
                        <a:spcBef>
                          <a:spcPts val="0"/>
                        </a:spcBef>
                        <a:spcAft>
                          <a:spcPts val="0"/>
                        </a:spcAft>
                        <a:buNone/>
                        <a:tabLst/>
                        <a:defRPr/>
                      </a:pPr>
                      <a:r>
                        <a:rPr lang="en-US" altLang="ja-JP" sz="1600" b="0" i="0" u="none" strike="noStrike" noProof="0">
                          <a:solidFill>
                            <a:srgbClr val="000000"/>
                          </a:solidFill>
                          <a:latin typeface="游ゴシック"/>
                        </a:rPr>
                        <a:t>WEB</a:t>
                      </a:r>
                      <a:r>
                        <a:rPr lang="ja-JP" sz="1600" b="0" i="0" u="none" strike="noStrike" noProof="0">
                          <a:solidFill>
                            <a:srgbClr val="000000"/>
                          </a:solidFill>
                          <a:latin typeface="游ゴシック"/>
                          <a:ea typeface="游ゴシック"/>
                        </a:rPr>
                        <a:t>会議</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游ゴシック"/>
                          <a:ea typeface="游ゴシック"/>
                        </a:rPr>
                        <a:t>各</a:t>
                      </a:r>
                      <a:r>
                        <a:rPr kumimoji="1" lang="ja-JP" altLang="en-US" sz="1600">
                          <a:latin typeface="游ゴシック"/>
                          <a:ea typeface="游ゴシック"/>
                        </a:rPr>
                        <a:t>工程のレビューおよび工程完了判定</a:t>
                      </a:r>
                    </a:p>
                  </a:txBody>
                  <a:tcPr marL="72000" marR="72000" marT="36000" marB="36000" anchor="ctr"/>
                </a:tc>
                <a:extLst>
                  <a:ext uri="{0D108BD9-81ED-4DB2-BD59-A6C34878D82A}">
                    <a16:rowId xmlns:a16="http://schemas.microsoft.com/office/drawing/2014/main" val="4056392115"/>
                  </a:ext>
                </a:extLst>
              </a:tr>
              <a:tr h="523827">
                <a:tc>
                  <a:txBody>
                    <a:bodyPr/>
                    <a:lstStyle/>
                    <a:p>
                      <a:r>
                        <a:rPr kumimoji="1" lang="ja-JP" altLang="en-US" sz="1600">
                          <a:latin typeface="游ゴシック"/>
                          <a:ea typeface="游ゴシック"/>
                        </a:rPr>
                        <a:t>要件</a:t>
                      </a:r>
                      <a:r>
                        <a:rPr lang="ja-JP" altLang="en-US" sz="1600">
                          <a:latin typeface="游ゴシック"/>
                          <a:ea typeface="游ゴシック"/>
                        </a:rPr>
                        <a:t>検討</a:t>
                      </a:r>
                      <a:r>
                        <a:rPr kumimoji="1" lang="ja-JP" altLang="en-US" sz="1600">
                          <a:latin typeface="游ゴシック"/>
                          <a:ea typeface="游ゴシック"/>
                        </a:rPr>
                        <a:t>会議</a:t>
                      </a:r>
                      <a:endParaRPr kumimoji="1" lang="en-US" altLang="ja-JP" sz="1600" b="0">
                        <a:latin typeface="游ゴシック"/>
                        <a:ea typeface="游ゴシック"/>
                      </a:endParaRPr>
                    </a:p>
                  </a:txBody>
                  <a:tcPr marT="36000" marB="36000" anchor="ctr"/>
                </a:tc>
                <a:tc>
                  <a:txBody>
                    <a:bodyPr/>
                    <a:lstStyle/>
                    <a:p>
                      <a:pPr algn="ctr"/>
                      <a:r>
                        <a:rPr lang="ja-JP" altLang="en-US" sz="1600">
                          <a:latin typeface="游ゴシック"/>
                          <a:ea typeface="游ゴシック"/>
                        </a:rPr>
                        <a:t>週2回～</a:t>
                      </a:r>
                      <a:endParaRPr kumimoji="1" lang="en-US" altLang="ja-JP" sz="1600">
                        <a:latin typeface="游ゴシック"/>
                        <a:ea typeface="游ゴシック"/>
                      </a:endParaRP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弊社</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algn="l"/>
                      <a:r>
                        <a:rPr lang="ja-JP" altLang="en-US" sz="1600">
                          <a:latin typeface="游ゴシック"/>
                          <a:ea typeface="游ゴシック"/>
                        </a:rPr>
                        <a:t>不足事項の整理および確認</a:t>
                      </a:r>
                    </a:p>
                    <a:p>
                      <a:pPr lvl="0" algn="l">
                        <a:buNone/>
                      </a:pPr>
                      <a:r>
                        <a:rPr lang="ja-JP" altLang="en-US" sz="1600">
                          <a:latin typeface="游ゴシック"/>
                          <a:ea typeface="游ゴシック"/>
                        </a:rPr>
                        <a:t>業務ヒアリング・業務フロー確認</a:t>
                      </a:r>
                    </a:p>
                  </a:txBody>
                  <a:tcPr marL="72000" marR="72000" marT="36000" marB="36000" anchor="ctr"/>
                </a:tc>
                <a:extLst>
                  <a:ext uri="{0D108BD9-81ED-4DB2-BD59-A6C34878D82A}">
                    <a16:rowId xmlns:a16="http://schemas.microsoft.com/office/drawing/2014/main" val="3243259142"/>
                  </a:ext>
                </a:extLst>
              </a:tr>
            </a:tbl>
          </a:graphicData>
        </a:graphic>
      </p:graphicFrame>
      <p:sp>
        <p:nvSpPr>
          <p:cNvPr id="3" name="スライド番号プレースホルダー 3">
            <a:extLst>
              <a:ext uri="{FF2B5EF4-FFF2-40B4-BE49-F238E27FC236}">
                <a16:creationId xmlns:a16="http://schemas.microsoft.com/office/drawing/2014/main" id="{908A269C-96C2-23E1-8592-F94608BA50C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17</a:t>
            </a:fld>
            <a:endParaRPr kumimoji="1" lang="ja-JP" altLang="en-US" sz="700"/>
          </a:p>
        </p:txBody>
      </p:sp>
    </p:spTree>
    <p:extLst>
      <p:ext uri="{BB962C8B-B14F-4D97-AF65-F5344CB8AC3E}">
        <p14:creationId xmlns:p14="http://schemas.microsoft.com/office/powerpoint/2010/main" val="206295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CD78-C27B-404E-EB80-3D2B8B66D2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065B-2F8B-F0D5-5B04-79E2FD7160BB}"/>
              </a:ext>
            </a:extLst>
          </p:cNvPr>
          <p:cNvSpPr>
            <a:spLocks noGrp="1"/>
          </p:cNvSpPr>
          <p:nvPr>
            <p:ph type="title"/>
          </p:nvPr>
        </p:nvSpPr>
        <p:spPr/>
        <p:txBody>
          <a:bodyPr/>
          <a:lstStyle/>
          <a:p>
            <a:r>
              <a:rPr lang="en-US" altLang="ja-JP"/>
              <a:t>3-8</a:t>
            </a:r>
            <a:r>
              <a:rPr kumimoji="1" lang="ja-JP" altLang="en-US"/>
              <a:t>．体制</a:t>
            </a:r>
          </a:p>
        </p:txBody>
      </p:sp>
      <p:sp>
        <p:nvSpPr>
          <p:cNvPr id="4" name="フッター プレースホルダー 3">
            <a:extLst>
              <a:ext uri="{FF2B5EF4-FFF2-40B4-BE49-F238E27FC236}">
                <a16:creationId xmlns:a16="http://schemas.microsoft.com/office/drawing/2014/main" id="{70A0DD85-93E1-8A00-0CC2-ED0215C8439F}"/>
              </a:ext>
            </a:extLst>
          </p:cNvPr>
          <p:cNvSpPr>
            <a:spLocks noGrp="1"/>
          </p:cNvSpPr>
          <p:nvPr>
            <p:ph type="ftr" sz="quarter" idx="11"/>
          </p:nvPr>
        </p:nvSpPr>
        <p:spPr/>
        <p:txBody>
          <a:bodyPr/>
          <a:lstStyle/>
          <a:p>
            <a:r>
              <a:rPr lang="en-US" altLang="ja-JP"/>
              <a:t>Copyright © </a:t>
            </a:r>
            <a:r>
              <a:rPr lang="en-US" altLang="ja-JP" err="1"/>
              <a:t>SystemEXE,Inc</a:t>
            </a:r>
            <a:r>
              <a:rPr lang="en-US" altLang="ja-JP"/>
              <a:t> All Rights Reserved.</a:t>
            </a:r>
          </a:p>
        </p:txBody>
      </p:sp>
      <p:sp>
        <p:nvSpPr>
          <p:cNvPr id="24" name="正方形/長方形 23">
            <a:extLst>
              <a:ext uri="{FF2B5EF4-FFF2-40B4-BE49-F238E27FC236}">
                <a16:creationId xmlns:a16="http://schemas.microsoft.com/office/drawing/2014/main" id="{9981E65E-52D1-06E7-B62C-88E5C962C4BB}"/>
              </a:ext>
            </a:extLst>
          </p:cNvPr>
          <p:cNvSpPr/>
          <p:nvPr/>
        </p:nvSpPr>
        <p:spPr>
          <a:xfrm>
            <a:off x="575998" y="1297411"/>
            <a:ext cx="5899422"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endParaRPr kumimoji="1" lang="ja-JP" altLang="en-US" sz="1400">
              <a:solidFill>
                <a:schemeClr val="tx1"/>
              </a:solidFill>
              <a:latin typeface="+mn-ea"/>
            </a:endParaRPr>
          </a:p>
        </p:txBody>
      </p:sp>
      <p:sp>
        <p:nvSpPr>
          <p:cNvPr id="30" name="四角形: 上の 2 つの角を丸める 29">
            <a:extLst>
              <a:ext uri="{FF2B5EF4-FFF2-40B4-BE49-F238E27FC236}">
                <a16:creationId xmlns:a16="http://schemas.microsoft.com/office/drawing/2014/main" id="{E49C9C00-4C88-3DED-AD78-80F24A61AE28}"/>
              </a:ext>
            </a:extLst>
          </p:cNvPr>
          <p:cNvSpPr/>
          <p:nvPr/>
        </p:nvSpPr>
        <p:spPr>
          <a:xfrm>
            <a:off x="575999" y="937411"/>
            <a:ext cx="5899421"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出光興産様</a:t>
            </a:r>
          </a:p>
        </p:txBody>
      </p:sp>
      <p:cxnSp>
        <p:nvCxnSpPr>
          <p:cNvPr id="34" name="直線コネクタ 33">
            <a:extLst>
              <a:ext uri="{FF2B5EF4-FFF2-40B4-BE49-F238E27FC236}">
                <a16:creationId xmlns:a16="http://schemas.microsoft.com/office/drawing/2014/main" id="{804F6137-3497-2C14-7346-DC041DFD9FE0}"/>
              </a:ext>
            </a:extLst>
          </p:cNvPr>
          <p:cNvCxnSpPr>
            <a:cxnSpLocks/>
            <a:stCxn id="12" idx="0"/>
          </p:cNvCxnSpPr>
          <p:nvPr/>
        </p:nvCxnSpPr>
        <p:spPr>
          <a:xfrm flipV="1">
            <a:off x="3597738" y="2066834"/>
            <a:ext cx="0" cy="50532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AD9E013-F686-2FD1-698C-D175FBC3E2BC}"/>
              </a:ext>
            </a:extLst>
          </p:cNvPr>
          <p:cNvSpPr/>
          <p:nvPr/>
        </p:nvSpPr>
        <p:spPr>
          <a:xfrm>
            <a:off x="6744448" y="1297410"/>
            <a:ext cx="4875154"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mn-ea"/>
            </a:endParaRPr>
          </a:p>
        </p:txBody>
      </p:sp>
      <p:sp>
        <p:nvSpPr>
          <p:cNvPr id="39" name="四角形: 上の 2 つの角を丸める 38">
            <a:extLst>
              <a:ext uri="{FF2B5EF4-FFF2-40B4-BE49-F238E27FC236}">
                <a16:creationId xmlns:a16="http://schemas.microsoft.com/office/drawing/2014/main" id="{E8F7F3A3-58F5-FEA7-E58E-7F9FDD0E2C69}"/>
              </a:ext>
            </a:extLst>
          </p:cNvPr>
          <p:cNvSpPr/>
          <p:nvPr/>
        </p:nvSpPr>
        <p:spPr>
          <a:xfrm>
            <a:off x="6744447" y="937411"/>
            <a:ext cx="4875155"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a:latin typeface="+mn-ea"/>
              </a:rPr>
              <a:t>システムエグゼ</a:t>
            </a:r>
          </a:p>
        </p:txBody>
      </p:sp>
      <p:grpSp>
        <p:nvGrpSpPr>
          <p:cNvPr id="40" name="グループ化 39">
            <a:extLst>
              <a:ext uri="{FF2B5EF4-FFF2-40B4-BE49-F238E27FC236}">
                <a16:creationId xmlns:a16="http://schemas.microsoft.com/office/drawing/2014/main" id="{7D45572A-6564-039D-42E2-D100FDD3A02A}"/>
              </a:ext>
            </a:extLst>
          </p:cNvPr>
          <p:cNvGrpSpPr/>
          <p:nvPr/>
        </p:nvGrpSpPr>
        <p:grpSpPr>
          <a:xfrm>
            <a:off x="7048358" y="1513413"/>
            <a:ext cx="1814985" cy="559820"/>
            <a:chOff x="4655954" y="1512000"/>
            <a:chExt cx="3738953" cy="720000"/>
          </a:xfrm>
        </p:grpSpPr>
        <p:sp>
          <p:nvSpPr>
            <p:cNvPr id="41" name="正方形/長方形 40">
              <a:extLst>
                <a:ext uri="{FF2B5EF4-FFF2-40B4-BE49-F238E27FC236}">
                  <a16:creationId xmlns:a16="http://schemas.microsoft.com/office/drawing/2014/main" id="{DA37A262-DC47-433A-D740-78DB9C3C8698}"/>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プロジェクト責任者</a:t>
              </a:r>
              <a:endParaRPr kumimoji="1" lang="ja-JP" altLang="en-US" sz="1400">
                <a:solidFill>
                  <a:schemeClr val="tx1"/>
                </a:solidFill>
                <a:latin typeface="+mn-ea"/>
              </a:endParaRPr>
            </a:p>
          </p:txBody>
        </p:sp>
        <p:sp>
          <p:nvSpPr>
            <p:cNvPr id="42" name="正方形/長方形 41">
              <a:extLst>
                <a:ext uri="{FF2B5EF4-FFF2-40B4-BE49-F238E27FC236}">
                  <a16:creationId xmlns:a16="http://schemas.microsoft.com/office/drawing/2014/main" id="{C0DF0B83-0B92-5F58-76C3-3F69C4A13F42}"/>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mn-ea"/>
                </a:rPr>
                <a:t>川名翔太</a:t>
              </a:r>
            </a:p>
          </p:txBody>
        </p:sp>
      </p:grpSp>
      <p:grpSp>
        <p:nvGrpSpPr>
          <p:cNvPr id="43" name="グループ化 42">
            <a:extLst>
              <a:ext uri="{FF2B5EF4-FFF2-40B4-BE49-F238E27FC236}">
                <a16:creationId xmlns:a16="http://schemas.microsoft.com/office/drawing/2014/main" id="{FEA875BE-D9E8-79FD-65C7-EFEA23812683}"/>
              </a:ext>
            </a:extLst>
          </p:cNvPr>
          <p:cNvGrpSpPr/>
          <p:nvPr/>
        </p:nvGrpSpPr>
        <p:grpSpPr>
          <a:xfrm>
            <a:off x="7048357" y="3747169"/>
            <a:ext cx="1814985" cy="559820"/>
            <a:chOff x="4655954" y="2520000"/>
            <a:chExt cx="3738953" cy="720000"/>
          </a:xfrm>
        </p:grpSpPr>
        <p:sp>
          <p:nvSpPr>
            <p:cNvPr id="44" name="正方形/長方形 43">
              <a:extLst>
                <a:ext uri="{FF2B5EF4-FFF2-40B4-BE49-F238E27FC236}">
                  <a16:creationId xmlns:a16="http://schemas.microsoft.com/office/drawing/2014/main" id="{3CF23CE0-1398-0291-3AD6-E7C70ED5F6E6}"/>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a:solidFill>
                    <a:schemeClr val="tx1"/>
                  </a:solidFill>
                  <a:latin typeface="+mn-ea"/>
                </a:rPr>
                <a:t>PM</a:t>
              </a:r>
              <a:endParaRPr kumimoji="1" lang="ja-JP" altLang="en-US" sz="1400">
                <a:solidFill>
                  <a:schemeClr val="tx1"/>
                </a:solidFill>
                <a:latin typeface="+mn-ea"/>
              </a:endParaRPr>
            </a:p>
          </p:txBody>
        </p:sp>
        <p:sp>
          <p:nvSpPr>
            <p:cNvPr id="47" name="正方形/長方形 46">
              <a:extLst>
                <a:ext uri="{FF2B5EF4-FFF2-40B4-BE49-F238E27FC236}">
                  <a16:creationId xmlns:a16="http://schemas.microsoft.com/office/drawing/2014/main" id="{2E8D1934-EA8D-35FD-4885-FB50A09461F7}"/>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dirty="0">
                  <a:solidFill>
                    <a:srgbClr val="333333"/>
                  </a:solidFill>
                  <a:latin typeface="+mn-ea"/>
                </a:rPr>
                <a:t>藤崎弘己</a:t>
              </a:r>
              <a:r>
                <a:rPr lang="en-US" altLang="ja-JP" sz="1400" dirty="0">
                  <a:solidFill>
                    <a:srgbClr val="333333"/>
                  </a:solidFill>
                  <a:latin typeface="+mn-ea"/>
                </a:rPr>
                <a:t>(</a:t>
              </a:r>
              <a:r>
                <a:rPr lang="ja-JP" altLang="en-US" sz="1400" dirty="0">
                  <a:solidFill>
                    <a:srgbClr val="333333"/>
                  </a:solidFill>
                  <a:latin typeface="+mn-ea"/>
                </a:rPr>
                <a:t>仮</a:t>
              </a:r>
              <a:r>
                <a:rPr lang="en-US" altLang="ja-JP" sz="1400" dirty="0">
                  <a:solidFill>
                    <a:srgbClr val="333333"/>
                  </a:solidFill>
                  <a:latin typeface="+mn-ea"/>
                </a:rPr>
                <a:t>)</a:t>
              </a:r>
              <a:endParaRPr lang="ja-JP" altLang="en-US" sz="1400" dirty="0">
                <a:solidFill>
                  <a:srgbClr val="333333"/>
                </a:solidFill>
                <a:latin typeface="+mn-ea"/>
              </a:endParaRPr>
            </a:p>
          </p:txBody>
        </p:sp>
      </p:grpSp>
      <p:cxnSp>
        <p:nvCxnSpPr>
          <p:cNvPr id="48" name="直線コネクタ 47">
            <a:extLst>
              <a:ext uri="{FF2B5EF4-FFF2-40B4-BE49-F238E27FC236}">
                <a16:creationId xmlns:a16="http://schemas.microsoft.com/office/drawing/2014/main" id="{B02D2D4D-3924-332F-F7F5-F534F737B379}"/>
              </a:ext>
            </a:extLst>
          </p:cNvPr>
          <p:cNvCxnSpPr>
            <a:cxnSpLocks/>
            <a:endCxn id="44" idx="0"/>
          </p:cNvCxnSpPr>
          <p:nvPr/>
        </p:nvCxnSpPr>
        <p:spPr>
          <a:xfrm flipH="1">
            <a:off x="7955848" y="2073231"/>
            <a:ext cx="4" cy="167393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73ACBD6B-7455-0EDD-4932-D0A6D9353ACF}"/>
              </a:ext>
            </a:extLst>
          </p:cNvPr>
          <p:cNvGrpSpPr/>
          <p:nvPr/>
        </p:nvGrpSpPr>
        <p:grpSpPr>
          <a:xfrm>
            <a:off x="9506939" y="2464489"/>
            <a:ext cx="1547336" cy="559820"/>
            <a:chOff x="768000" y="1440000"/>
            <a:chExt cx="2880000" cy="720000"/>
          </a:xfrm>
        </p:grpSpPr>
        <p:sp>
          <p:nvSpPr>
            <p:cNvPr id="57" name="正方形/長方形 56">
              <a:extLst>
                <a:ext uri="{FF2B5EF4-FFF2-40B4-BE49-F238E27FC236}">
                  <a16:creationId xmlns:a16="http://schemas.microsoft.com/office/drawing/2014/main" id="{FF55B776-4E02-0991-7001-3D3AA5FC8656}"/>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mn-ea"/>
                </a:rPr>
                <a:t>営業</a:t>
              </a:r>
              <a:endParaRPr kumimoji="1" lang="ja-JP" altLang="en-US" sz="1400">
                <a:solidFill>
                  <a:schemeClr val="tx1"/>
                </a:solidFill>
                <a:latin typeface="+mn-ea"/>
              </a:endParaRPr>
            </a:p>
          </p:txBody>
        </p:sp>
        <p:sp>
          <p:nvSpPr>
            <p:cNvPr id="58" name="正方形/長方形 57">
              <a:extLst>
                <a:ext uri="{FF2B5EF4-FFF2-40B4-BE49-F238E27FC236}">
                  <a16:creationId xmlns:a16="http://schemas.microsoft.com/office/drawing/2014/main" id="{010B5056-28F7-F4B8-3F4A-01D74EE5E06C}"/>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mn-ea"/>
                </a:rPr>
                <a:t>髙浦 祐朗</a:t>
              </a:r>
            </a:p>
          </p:txBody>
        </p:sp>
      </p:grpSp>
      <p:cxnSp>
        <p:nvCxnSpPr>
          <p:cNvPr id="59" name="直線コネクタ 58">
            <a:extLst>
              <a:ext uri="{FF2B5EF4-FFF2-40B4-BE49-F238E27FC236}">
                <a16:creationId xmlns:a16="http://schemas.microsoft.com/office/drawing/2014/main" id="{6C5BF4C1-2748-3C2D-D135-958049E0D3B7}"/>
              </a:ext>
            </a:extLst>
          </p:cNvPr>
          <p:cNvCxnSpPr>
            <a:cxnSpLocks/>
            <a:stCxn id="87" idx="0"/>
            <a:endCxn id="47" idx="2"/>
          </p:cNvCxnSpPr>
          <p:nvPr/>
        </p:nvCxnSpPr>
        <p:spPr>
          <a:xfrm flipH="1" flipV="1">
            <a:off x="7955851" y="4306989"/>
            <a:ext cx="4007" cy="36118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F9B8D69-5C51-0F59-7C7B-B4AA7FED1961}"/>
              </a:ext>
            </a:extLst>
          </p:cNvPr>
          <p:cNvGrpSpPr/>
          <p:nvPr/>
        </p:nvGrpSpPr>
        <p:grpSpPr>
          <a:xfrm>
            <a:off x="2579180" y="1507014"/>
            <a:ext cx="2037111" cy="559819"/>
            <a:chOff x="719999" y="2016000"/>
            <a:chExt cx="2304000" cy="720000"/>
          </a:xfrm>
        </p:grpSpPr>
        <p:sp>
          <p:nvSpPr>
            <p:cNvPr id="62" name="正方形/長方形 61">
              <a:extLst>
                <a:ext uri="{FF2B5EF4-FFF2-40B4-BE49-F238E27FC236}">
                  <a16:creationId xmlns:a16="http://schemas.microsoft.com/office/drawing/2014/main" id="{9E968649-4ED0-C9BB-7812-383B64DDA856}"/>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n-ea"/>
              </a:endParaRPr>
            </a:p>
          </p:txBody>
        </p:sp>
        <p:sp>
          <p:nvSpPr>
            <p:cNvPr id="63" name="正方形/長方形 62">
              <a:extLst>
                <a:ext uri="{FF2B5EF4-FFF2-40B4-BE49-F238E27FC236}">
                  <a16:creationId xmlns:a16="http://schemas.microsoft.com/office/drawing/2014/main" id="{361B9BA4-8F54-97D7-E684-51F2467ABD38}"/>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latin typeface="+mn-ea"/>
                </a:rPr>
                <a:t>プロジェクト責任者</a:t>
              </a:r>
            </a:p>
          </p:txBody>
        </p:sp>
        <p:sp>
          <p:nvSpPr>
            <p:cNvPr id="64" name="正方形/長方形 63">
              <a:extLst>
                <a:ext uri="{FF2B5EF4-FFF2-40B4-BE49-F238E27FC236}">
                  <a16:creationId xmlns:a16="http://schemas.microsoft.com/office/drawing/2014/main" id="{E73CD72B-6DA5-068C-262A-4401C4D9DA54}"/>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mn-ea"/>
                </a:rPr>
                <a:t>澤田様</a:t>
              </a:r>
              <a:endParaRPr lang="en-US" altLang="ja-JP" sz="1400">
                <a:solidFill>
                  <a:schemeClr val="tx1"/>
                </a:solidFill>
                <a:latin typeface="+mn-ea"/>
              </a:endParaRPr>
            </a:p>
          </p:txBody>
        </p:sp>
      </p:grpSp>
      <p:cxnSp>
        <p:nvCxnSpPr>
          <p:cNvPr id="72" name="直線コネクタ 71">
            <a:extLst>
              <a:ext uri="{FF2B5EF4-FFF2-40B4-BE49-F238E27FC236}">
                <a16:creationId xmlns:a16="http://schemas.microsoft.com/office/drawing/2014/main" id="{73A7776E-EDE7-9544-B058-8773197D39DB}"/>
              </a:ext>
            </a:extLst>
          </p:cNvPr>
          <p:cNvCxnSpPr>
            <a:cxnSpLocks/>
            <a:endCxn id="58" idx="1"/>
          </p:cNvCxnSpPr>
          <p:nvPr/>
        </p:nvCxnSpPr>
        <p:spPr>
          <a:xfrm>
            <a:off x="7955848" y="2875352"/>
            <a:ext cx="155109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4320A7A-4E78-AB2E-0A05-B82174F939B7}"/>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latin typeface="+mn-ea"/>
              </a:rPr>
              <a:t> 表記の体制には、弊社の協力会社の要員を含みます。</a:t>
            </a:r>
            <a:endParaRPr kumimoji="1" lang="en-US" altLang="ja-JP" sz="1400">
              <a:latin typeface="+mn-ea"/>
            </a:endParaRPr>
          </a:p>
          <a:p>
            <a:pPr marL="171450" indent="-171450">
              <a:buFont typeface="游ゴシック" panose="020B0400000000000000" pitchFamily="50" charset="-128"/>
              <a:buChar char="※"/>
            </a:pPr>
            <a:r>
              <a:rPr kumimoji="1" lang="ja-JP" altLang="en-US" sz="1400">
                <a:latin typeface="+mn-ea"/>
                <a:cs typeface="メイリオ" pitchFamily="50" charset="-128"/>
              </a:rPr>
              <a:t> メンバー</a:t>
            </a:r>
            <a:r>
              <a:rPr lang="ja-JP" altLang="en-US" sz="1400">
                <a:latin typeface="+mn-ea"/>
                <a:cs typeface="メイリオ" pitchFamily="50" charset="-128"/>
              </a:rPr>
              <a:t>については、状況により変更が発生する場合がございます。</a:t>
            </a:r>
            <a:endParaRPr lang="en-US" altLang="ja-JP" sz="1400">
              <a:latin typeface="+mn-ea"/>
              <a:cs typeface="メイリオ" pitchFamily="50" charset="-128"/>
            </a:endParaRPr>
          </a:p>
        </p:txBody>
      </p:sp>
      <p:grpSp>
        <p:nvGrpSpPr>
          <p:cNvPr id="80" name="グループ化 79">
            <a:extLst>
              <a:ext uri="{FF2B5EF4-FFF2-40B4-BE49-F238E27FC236}">
                <a16:creationId xmlns:a16="http://schemas.microsoft.com/office/drawing/2014/main" id="{246F0BDE-F499-6864-1CEA-70DB2389728C}"/>
              </a:ext>
            </a:extLst>
          </p:cNvPr>
          <p:cNvGrpSpPr/>
          <p:nvPr/>
        </p:nvGrpSpPr>
        <p:grpSpPr>
          <a:xfrm>
            <a:off x="9506939" y="1507018"/>
            <a:ext cx="1547336" cy="559820"/>
            <a:chOff x="8544000" y="2232000"/>
            <a:chExt cx="2880000" cy="720000"/>
          </a:xfrm>
        </p:grpSpPr>
        <p:sp>
          <p:nvSpPr>
            <p:cNvPr id="81" name="正方形/長方形 80">
              <a:extLst>
                <a:ext uri="{FF2B5EF4-FFF2-40B4-BE49-F238E27FC236}">
                  <a16:creationId xmlns:a16="http://schemas.microsoft.com/office/drawing/2014/main" id="{D49D4550-B88E-9FBF-3574-39A081350AC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mn-ea"/>
                </a:rPr>
                <a:t>品質保証</a:t>
              </a:r>
            </a:p>
          </p:txBody>
        </p:sp>
        <p:sp>
          <p:nvSpPr>
            <p:cNvPr id="82" name="正方形/長方形 81">
              <a:extLst>
                <a:ext uri="{FF2B5EF4-FFF2-40B4-BE49-F238E27FC236}">
                  <a16:creationId xmlns:a16="http://schemas.microsoft.com/office/drawing/2014/main" id="{7011170F-99B2-45A0-5B70-3BA6915D24FC}"/>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ja-JP" altLang="en-US" sz="1400">
                  <a:solidFill>
                    <a:schemeClr val="tx1"/>
                  </a:solidFill>
                  <a:latin typeface="+mn-ea"/>
                </a:rPr>
                <a:t>品質向上委員会</a:t>
              </a:r>
              <a:endParaRPr lang="en-US" altLang="ja-JP" sz="1400">
                <a:solidFill>
                  <a:schemeClr val="tx1"/>
                </a:solidFill>
                <a:latin typeface="+mn-ea"/>
              </a:endParaRPr>
            </a:p>
          </p:txBody>
        </p:sp>
      </p:grpSp>
      <p:grpSp>
        <p:nvGrpSpPr>
          <p:cNvPr id="14" name="グループ化 13">
            <a:extLst>
              <a:ext uri="{FF2B5EF4-FFF2-40B4-BE49-F238E27FC236}">
                <a16:creationId xmlns:a16="http://schemas.microsoft.com/office/drawing/2014/main" id="{DDA90344-18AB-3A2A-E52C-87B67DFD8143}"/>
              </a:ext>
            </a:extLst>
          </p:cNvPr>
          <p:cNvGrpSpPr/>
          <p:nvPr/>
        </p:nvGrpSpPr>
        <p:grpSpPr>
          <a:xfrm>
            <a:off x="7048357" y="4668170"/>
            <a:ext cx="1818992" cy="1163566"/>
            <a:chOff x="6215483" y="4414071"/>
            <a:chExt cx="2597723" cy="2244744"/>
          </a:xfrm>
        </p:grpSpPr>
        <p:sp>
          <p:nvSpPr>
            <p:cNvPr id="87" name="正方形/長方形 86">
              <a:extLst>
                <a:ext uri="{FF2B5EF4-FFF2-40B4-BE49-F238E27FC236}">
                  <a16:creationId xmlns:a16="http://schemas.microsoft.com/office/drawing/2014/main" id="{E326D6E4-DC31-1435-808A-3B0131517697}"/>
                </a:ext>
              </a:extLst>
            </p:cNvPr>
            <p:cNvSpPr/>
            <p:nvPr/>
          </p:nvSpPr>
          <p:spPr>
            <a:xfrm>
              <a:off x="6221210" y="4414071"/>
              <a:ext cx="2591996" cy="539991"/>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spcAft>
                  <a:spcPts val="600"/>
                </a:spcAft>
              </a:pPr>
              <a:r>
                <a:rPr kumimoji="1" lang="ja-JP" altLang="en-US" sz="1400">
                  <a:solidFill>
                    <a:schemeClr val="tx1"/>
                  </a:solidFill>
                  <a:latin typeface="+mn-ea"/>
                </a:rPr>
                <a:t>メンバー</a:t>
              </a:r>
            </a:p>
          </p:txBody>
        </p:sp>
        <p:sp>
          <p:nvSpPr>
            <p:cNvPr id="88" name="正方形/長方形 87">
              <a:extLst>
                <a:ext uri="{FF2B5EF4-FFF2-40B4-BE49-F238E27FC236}">
                  <a16:creationId xmlns:a16="http://schemas.microsoft.com/office/drawing/2014/main" id="{358B10C0-7217-1F66-B3D7-FBF916B25408}"/>
                </a:ext>
              </a:extLst>
            </p:cNvPr>
            <p:cNvSpPr/>
            <p:nvPr/>
          </p:nvSpPr>
          <p:spPr>
            <a:xfrm>
              <a:off x="6215483" y="4871425"/>
              <a:ext cx="2591996" cy="178739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spcAft>
                  <a:spcPts val="600"/>
                </a:spcAft>
              </a:pPr>
              <a:r>
                <a:rPr lang="en-US" altLang="ja-JP" sz="1400">
                  <a:solidFill>
                    <a:schemeClr val="tx1"/>
                  </a:solidFill>
                  <a:latin typeface="+mn-ea"/>
                </a:rPr>
                <a:t>TBD</a:t>
              </a:r>
            </a:p>
            <a:p>
              <a:pPr algn="ctr">
                <a:spcAft>
                  <a:spcPts val="600"/>
                </a:spcAft>
              </a:pPr>
              <a:r>
                <a:rPr lang="ja-JP" altLang="en-US" sz="1400" kern="0">
                  <a:solidFill>
                    <a:prstClr val="black"/>
                  </a:solidFill>
                  <a:latin typeface="+mn-ea"/>
                </a:rPr>
                <a:t>ブリッジ</a:t>
              </a:r>
              <a:r>
                <a:rPr lang="en-US" altLang="ja-JP" sz="1400" kern="0">
                  <a:solidFill>
                    <a:schemeClr val="tx1"/>
                  </a:solidFill>
                  <a:latin typeface="+mn-ea"/>
                </a:rPr>
                <a:t>SE</a:t>
              </a:r>
            </a:p>
            <a:p>
              <a:pPr lvl="0" algn="ctr" defTabSz="914400">
                <a:defRPr/>
              </a:pPr>
              <a:r>
                <a:rPr lang="ja-JP" altLang="en-US" sz="1400" kern="0">
                  <a:solidFill>
                    <a:schemeClr val="tx1"/>
                  </a:solidFill>
                  <a:latin typeface="+mn-ea"/>
                </a:rPr>
                <a:t>オフショア</a:t>
              </a:r>
              <a:endParaRPr lang="en-US" altLang="ja-JP" sz="1400" kern="0">
                <a:solidFill>
                  <a:prstClr val="black"/>
                </a:solidFill>
                <a:latin typeface="+mn-ea"/>
              </a:endParaRPr>
            </a:p>
          </p:txBody>
        </p:sp>
      </p:grpSp>
      <p:sp>
        <p:nvSpPr>
          <p:cNvPr id="12" name="正方形/長方形 11">
            <a:extLst>
              <a:ext uri="{FF2B5EF4-FFF2-40B4-BE49-F238E27FC236}">
                <a16:creationId xmlns:a16="http://schemas.microsoft.com/office/drawing/2014/main" id="{4BE8B883-A622-80E0-591D-30454989A35B}"/>
              </a:ext>
            </a:extLst>
          </p:cNvPr>
          <p:cNvSpPr/>
          <p:nvPr/>
        </p:nvSpPr>
        <p:spPr>
          <a:xfrm>
            <a:off x="2579181" y="2572162"/>
            <a:ext cx="2037113" cy="53494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dirty="0">
                <a:solidFill>
                  <a:schemeClr val="tx1"/>
                </a:solidFill>
                <a:latin typeface="+mn-ea"/>
              </a:rPr>
              <a:t>PM</a:t>
            </a:r>
            <a:endParaRPr kumimoji="1" lang="ja-JP" altLang="en-US" sz="1400" dirty="0">
              <a:solidFill>
                <a:schemeClr val="tx1"/>
              </a:solidFill>
              <a:latin typeface="+mn-ea"/>
            </a:endParaRPr>
          </a:p>
        </p:txBody>
      </p:sp>
      <p:sp>
        <p:nvSpPr>
          <p:cNvPr id="109" name="スライド番号プレースホルダー 3">
            <a:extLst>
              <a:ext uri="{FF2B5EF4-FFF2-40B4-BE49-F238E27FC236}">
                <a16:creationId xmlns:a16="http://schemas.microsoft.com/office/drawing/2014/main" id="{BE0FAD37-1CEB-90BF-F8BC-9C686A13CB82}"/>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18</a:t>
            </a:fld>
            <a:endParaRPr kumimoji="1" lang="ja-JP" altLang="en-US" sz="700"/>
          </a:p>
        </p:txBody>
      </p:sp>
      <p:grpSp>
        <p:nvGrpSpPr>
          <p:cNvPr id="36" name="グループ化 35">
            <a:extLst>
              <a:ext uri="{FF2B5EF4-FFF2-40B4-BE49-F238E27FC236}">
                <a16:creationId xmlns:a16="http://schemas.microsoft.com/office/drawing/2014/main" id="{74BE4F1A-CB53-048B-FB84-5853BC955DAB}"/>
              </a:ext>
            </a:extLst>
          </p:cNvPr>
          <p:cNvGrpSpPr/>
          <p:nvPr/>
        </p:nvGrpSpPr>
        <p:grpSpPr>
          <a:xfrm>
            <a:off x="695243" y="3569049"/>
            <a:ext cx="1043640" cy="559820"/>
            <a:chOff x="719999" y="2952000"/>
            <a:chExt cx="2304000" cy="720000"/>
          </a:xfrm>
        </p:grpSpPr>
        <p:sp>
          <p:nvSpPr>
            <p:cNvPr id="37" name="正方形/長方形 36">
              <a:extLst>
                <a:ext uri="{FF2B5EF4-FFF2-40B4-BE49-F238E27FC236}">
                  <a16:creationId xmlns:a16="http://schemas.microsoft.com/office/drawing/2014/main" id="{6047EE92-E8BB-2DBA-0F69-181A834BA675}"/>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各拠点</a:t>
              </a:r>
            </a:p>
          </p:txBody>
        </p:sp>
        <p:sp>
          <p:nvSpPr>
            <p:cNvPr id="45" name="正方形/長方形 44">
              <a:extLst>
                <a:ext uri="{FF2B5EF4-FFF2-40B4-BE49-F238E27FC236}">
                  <a16:creationId xmlns:a16="http://schemas.microsoft.com/office/drawing/2014/main" id="{92676E90-1279-4030-7671-A3F47384D57B}"/>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担当者様</a:t>
              </a:r>
              <a:endParaRPr lang="en-US" altLang="ja-JP" sz="1400">
                <a:solidFill>
                  <a:schemeClr val="tx1"/>
                </a:solidFill>
                <a:latin typeface="+mn-ea"/>
              </a:endParaRPr>
            </a:p>
          </p:txBody>
        </p:sp>
      </p:grpSp>
      <p:sp>
        <p:nvSpPr>
          <p:cNvPr id="50" name="正方形/長方形 49">
            <a:extLst>
              <a:ext uri="{FF2B5EF4-FFF2-40B4-BE49-F238E27FC236}">
                <a16:creationId xmlns:a16="http://schemas.microsoft.com/office/drawing/2014/main" id="{426508EE-2ADE-384D-8539-61519118E192}"/>
              </a:ext>
            </a:extLst>
          </p:cNvPr>
          <p:cNvSpPr/>
          <p:nvPr/>
        </p:nvSpPr>
        <p:spPr>
          <a:xfrm>
            <a:off x="2579180" y="3580644"/>
            <a:ext cx="2037113" cy="548225"/>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latin typeface="+mn-ea"/>
              </a:rPr>
              <a:t>担当者</a:t>
            </a:r>
          </a:p>
        </p:txBody>
      </p:sp>
      <p:cxnSp>
        <p:nvCxnSpPr>
          <p:cNvPr id="52" name="直線コネクタ 51">
            <a:extLst>
              <a:ext uri="{FF2B5EF4-FFF2-40B4-BE49-F238E27FC236}">
                <a16:creationId xmlns:a16="http://schemas.microsoft.com/office/drawing/2014/main" id="{53C5D386-012F-B920-5ECE-044F4C5EC6EF}"/>
              </a:ext>
            </a:extLst>
          </p:cNvPr>
          <p:cNvCxnSpPr>
            <a:cxnSpLocks/>
            <a:endCxn id="50" idx="0"/>
          </p:cNvCxnSpPr>
          <p:nvPr/>
        </p:nvCxnSpPr>
        <p:spPr>
          <a:xfrm flipH="1">
            <a:off x="3597737" y="3107111"/>
            <a:ext cx="1" cy="47353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5593296-E647-B47B-D1F7-01FC1089A4AE}"/>
              </a:ext>
            </a:extLst>
          </p:cNvPr>
          <p:cNvCxnSpPr>
            <a:cxnSpLocks/>
            <a:stCxn id="45" idx="3"/>
          </p:cNvCxnSpPr>
          <p:nvPr/>
        </p:nvCxnSpPr>
        <p:spPr>
          <a:xfrm flipV="1">
            <a:off x="1738883" y="3975640"/>
            <a:ext cx="840297"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131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1F3F8-B380-BFAB-A2FF-5F50DF959A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F81390-A44E-CCDA-DCDF-286F47E61DA2}"/>
              </a:ext>
            </a:extLst>
          </p:cNvPr>
          <p:cNvSpPr>
            <a:spLocks noGrp="1"/>
          </p:cNvSpPr>
          <p:nvPr>
            <p:ph type="title"/>
          </p:nvPr>
        </p:nvSpPr>
        <p:spPr/>
        <p:txBody>
          <a:bodyPr/>
          <a:lstStyle/>
          <a:p>
            <a:r>
              <a:rPr lang="en-US" altLang="ja-JP"/>
              <a:t>3-9</a:t>
            </a:r>
            <a:r>
              <a:rPr kumimoji="1" lang="ja-JP" altLang="en-US"/>
              <a:t>．役割および責任・権限</a:t>
            </a:r>
          </a:p>
        </p:txBody>
      </p:sp>
      <p:sp>
        <p:nvSpPr>
          <p:cNvPr id="4" name="フッター プレースホルダー 3">
            <a:extLst>
              <a:ext uri="{FF2B5EF4-FFF2-40B4-BE49-F238E27FC236}">
                <a16:creationId xmlns:a16="http://schemas.microsoft.com/office/drawing/2014/main" id="{BFE40D89-F5DE-857A-47F5-E2FAB8C655FC}"/>
              </a:ext>
            </a:extLst>
          </p:cNvPr>
          <p:cNvSpPr>
            <a:spLocks noGrp="1"/>
          </p:cNvSpPr>
          <p:nvPr>
            <p:ph type="ftr" sz="quarter" idx="11"/>
          </p:nvPr>
        </p:nvSpPr>
        <p:spPr/>
        <p:txBody>
          <a:bodyPr/>
          <a:lstStyle/>
          <a:p>
            <a:r>
              <a:rPr lang="en-US" altLang="ja-JP"/>
              <a:t>Copyright © SystemEXE,Inc All Rights Reserved.</a:t>
            </a:r>
          </a:p>
        </p:txBody>
      </p:sp>
      <p:sp>
        <p:nvSpPr>
          <p:cNvPr id="3" name="スライド番号プレースホルダー 3">
            <a:extLst>
              <a:ext uri="{FF2B5EF4-FFF2-40B4-BE49-F238E27FC236}">
                <a16:creationId xmlns:a16="http://schemas.microsoft.com/office/drawing/2014/main" id="{76C0EF26-D9F9-3A93-96F1-E76E6816B62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19</a:t>
            </a:fld>
            <a:endParaRPr kumimoji="1" lang="ja-JP" altLang="en-US" sz="700"/>
          </a:p>
        </p:txBody>
      </p:sp>
      <p:graphicFrame>
        <p:nvGraphicFramePr>
          <p:cNvPr id="6" name="コンテンツ プレースホルダー 5">
            <a:extLst>
              <a:ext uri="{FF2B5EF4-FFF2-40B4-BE49-F238E27FC236}">
                <a16:creationId xmlns:a16="http://schemas.microsoft.com/office/drawing/2014/main" id="{7A3D85B5-5C12-D3E4-86FF-2A45B0260640}"/>
              </a:ext>
            </a:extLst>
          </p:cNvPr>
          <p:cNvGraphicFramePr>
            <a:graphicFrameLocks/>
          </p:cNvGraphicFramePr>
          <p:nvPr>
            <p:extLst>
              <p:ext uri="{D42A27DB-BD31-4B8C-83A1-F6EECF244321}">
                <p14:modId xmlns:p14="http://schemas.microsoft.com/office/powerpoint/2010/main" val="1303352419"/>
              </p:ext>
            </p:extLst>
          </p:nvPr>
        </p:nvGraphicFramePr>
        <p:xfrm>
          <a:off x="576000" y="1276181"/>
          <a:ext cx="11041199" cy="3474720"/>
        </p:xfrm>
        <a:graphic>
          <a:graphicData uri="http://schemas.openxmlformats.org/drawingml/2006/table">
            <a:tbl>
              <a:tblPr firstRow="1" bandRow="1">
                <a:tableStyleId>{3B4B98B0-60AC-42C2-AFA5-B58CD77FA1E5}</a:tableStyleId>
              </a:tblPr>
              <a:tblGrid>
                <a:gridCol w="2111216">
                  <a:extLst>
                    <a:ext uri="{9D8B030D-6E8A-4147-A177-3AD203B41FA5}">
                      <a16:colId xmlns:a16="http://schemas.microsoft.com/office/drawing/2014/main" val="3739787443"/>
                    </a:ext>
                  </a:extLst>
                </a:gridCol>
                <a:gridCol w="8929983">
                  <a:extLst>
                    <a:ext uri="{9D8B030D-6E8A-4147-A177-3AD203B41FA5}">
                      <a16:colId xmlns:a16="http://schemas.microsoft.com/office/drawing/2014/main" val="1167101293"/>
                    </a:ext>
                  </a:extLst>
                </a:gridCol>
              </a:tblGrid>
              <a:tr h="207092">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役割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tc>
                  <a:txBody>
                    <a:bodyPr/>
                    <a:lstStyle/>
                    <a:p>
                      <a:r>
                        <a:rPr kumimoji="1" lang="ja-JP" altLang="en-US" sz="1600">
                          <a:solidFill>
                            <a:schemeClr val="bg1"/>
                          </a:solidFill>
                          <a:latin typeface="游ゴシック" panose="020B0400000000000000" pitchFamily="50" charset="-128"/>
                          <a:ea typeface="游ゴシック" panose="020B0400000000000000" pitchFamily="50" charset="-128"/>
                        </a:rPr>
                        <a:t>作業範囲</a:t>
                      </a:r>
                      <a:endParaRPr kumimoji="1" lang="ja-JP" altLang="en-US" sz="1600" b="1">
                        <a:solidFill>
                          <a:schemeClr val="bg1"/>
                        </a:solidFill>
                        <a:latin typeface="游ゴシック" panose="020B0400000000000000" pitchFamily="50" charset="-128"/>
                        <a:ea typeface="游ゴシック" panose="020B0400000000000000" pitchFamily="50" charset="-128"/>
                      </a:endParaRPr>
                    </a:p>
                  </a:txBody>
                  <a:tcPr anchor="ctr">
                    <a:solidFill>
                      <a:schemeClr val="accent1"/>
                    </a:solidFill>
                  </a:tcPr>
                </a:tc>
                <a:extLst>
                  <a:ext uri="{0D108BD9-81ED-4DB2-BD59-A6C34878D82A}">
                    <a16:rowId xmlns:a16="http://schemas.microsoft.com/office/drawing/2014/main" val="3449912314"/>
                  </a:ext>
                </a:extLst>
              </a:tr>
              <a:tr h="357704">
                <a:tc>
                  <a:txBody>
                    <a:bodyPr/>
                    <a:lstStyle/>
                    <a:p>
                      <a:r>
                        <a:rPr kumimoji="1" lang="ja-JP" altLang="en-US" sz="1600">
                          <a:latin typeface="游ゴシック" panose="020B0400000000000000" pitchFamily="50" charset="-128"/>
                          <a:ea typeface="游ゴシック" panose="020B0400000000000000" pitchFamily="50" charset="-128"/>
                        </a:rPr>
                        <a:t>プロジェクト責任者</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全体方針と優先度を決定し承認する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予算・納期・体制の最終責任を負う</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tab pos="179388" algn="l"/>
                        </a:tabLst>
                      </a:pPr>
                      <a:r>
                        <a:rPr kumimoji="0" lang="ja-JP" altLang="en-US" sz="1600" u="none" strike="noStrike" cap="none" normalizeH="0" baseline="0">
                          <a:ln>
                            <a:noFill/>
                          </a:ln>
                          <a:effectLst/>
                          <a:latin typeface="游ゴシック" panose="020B0400000000000000" pitchFamily="50" charset="-128"/>
                          <a:ea typeface="+mn-ea"/>
                        </a:rPr>
                        <a:t>重要意思決定とエスカレーションを裁定する</a:t>
                      </a:r>
                      <a:endParaRPr kumimoji="0" lang="ja-JP" altLang="en-US" sz="1600" b="0" i="1"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1960948427"/>
                  </a:ext>
                </a:extLst>
              </a:tr>
              <a:tr h="809541">
                <a:tc>
                  <a:txBody>
                    <a:bodyPr/>
                    <a:lstStyle/>
                    <a:p>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r>
                        <a:rPr kumimoji="1" lang="ja-JP" altLang="en-US" sz="1600">
                          <a:latin typeface="游ゴシック" panose="020B0400000000000000" pitchFamily="50" charset="-128"/>
                          <a:ea typeface="游ゴシック" panose="020B0400000000000000" pitchFamily="50" charset="-128"/>
                        </a:rPr>
                        <a:t>マネージャー</a:t>
                      </a:r>
                      <a:endParaRPr kumimoji="1" lang="en-US" altLang="ja-JP" sz="1600">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目標・範囲・予算・スケジュールを統制する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進行管理（品質・変更・課題・リスク・構成）を徹底する</a:t>
                      </a: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決定事項の周知と関係者コミュニケーションを設計する</a:t>
                      </a:r>
                      <a:endParaRPr kumimoji="0" lang="en-US" altLang="ja-JP" sz="16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185347885"/>
                  </a:ext>
                </a:extLst>
              </a:tr>
              <a:tr h="207092">
                <a:tc>
                  <a:txBody>
                    <a:bodyPr/>
                    <a:lstStyle/>
                    <a:p>
                      <a:r>
                        <a:rPr kumimoji="1" lang="ja-JP" altLang="en-US" sz="1600">
                          <a:latin typeface="游ゴシック" panose="020B0400000000000000" pitchFamily="50" charset="-128"/>
                          <a:ea typeface="游ゴシック" panose="020B0400000000000000" pitchFamily="50" charset="-128"/>
                        </a:rPr>
                        <a:t>メンバー</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u="none" strike="noStrike" cap="none" normalizeH="0" baseline="0">
                          <a:ln>
                            <a:noFill/>
                          </a:ln>
                          <a:effectLst/>
                          <a:latin typeface="游ゴシック" panose="020B0400000000000000" pitchFamily="50" charset="-128"/>
                          <a:ea typeface="+mn-ea"/>
                        </a:rPr>
                        <a:t>各リーダー指示に基づき設計・実装・テストを遂行する</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54760582"/>
                  </a:ext>
                </a:extLst>
              </a:tr>
              <a:tr h="207092">
                <a:tc>
                  <a:txBody>
                    <a:bodyPr/>
                    <a:lstStyle/>
                    <a:p>
                      <a:r>
                        <a:rPr kumimoji="1" lang="ja-JP" altLang="en-US" sz="1600">
                          <a:solidFill>
                            <a:schemeClr val="tx1"/>
                          </a:solidFill>
                          <a:latin typeface="游ゴシック" panose="020B0400000000000000" pitchFamily="50" charset="-128"/>
                          <a:ea typeface="游ゴシック" panose="020B0400000000000000" pitchFamily="50" charset="-128"/>
                        </a:rPr>
                        <a:t>品質保証</a:t>
                      </a:r>
                    </a:p>
                  </a:txBody>
                  <a:tcPr anchor="ctr"/>
                </a:tc>
                <a:tc>
                  <a:txBody>
                    <a:bodyPr/>
                    <a:lstStyle/>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局面レビューの実施する</a:t>
                      </a:r>
                      <a:endParaRPr kumimoji="0" lang="en-US" altLang="ja-JP"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179388" marR="0" lvl="0" indent="-179388" algn="l" defTabSz="914400" rtl="0" eaLnBrk="1" fontAlgn="base" latinLnBrk="0" hangingPunct="1">
                        <a:lnSpc>
                          <a:spcPct val="100000"/>
                        </a:lnSpc>
                        <a:spcBef>
                          <a:spcPct val="0"/>
                        </a:spcBef>
                        <a:spcAft>
                          <a:spcPct val="0"/>
                        </a:spcAft>
                        <a:buClrTx/>
                        <a:buSzTx/>
                        <a:buFont typeface="Arial" panose="020B0604020202020204" pitchFamily="34" charset="0"/>
                        <a:buChar char="•"/>
                        <a:tabLst/>
                      </a:pPr>
                      <a:r>
                        <a:rPr kumimoji="0" lang="ja-JP" altLang="en-US" sz="1600" b="0" i="0" u="none" strike="noStrike" cap="none" normalizeH="0" baseline="0">
                          <a:ln>
                            <a:noFill/>
                          </a:ln>
                          <a:solidFill>
                            <a:schemeClr val="tx1"/>
                          </a:solidFill>
                          <a:effectLst/>
                          <a:latin typeface="游ゴシック" panose="020B0400000000000000" pitchFamily="50" charset="-128"/>
                          <a:ea typeface="+mn-ea"/>
                          <a:cs typeface="Meiryo UI" pitchFamily="50" charset="-128"/>
                        </a:rPr>
                        <a:t>品質改善活動の支援する</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423428347"/>
                  </a:ext>
                </a:extLst>
              </a:tr>
              <a:tr h="207092">
                <a:tc>
                  <a:txBody>
                    <a:bodyPr/>
                    <a:lstStyle/>
                    <a:p>
                      <a:r>
                        <a:rPr kumimoji="1" lang="ja-JP" altLang="en-US" sz="1600">
                          <a:latin typeface="游ゴシック" panose="020B0400000000000000" pitchFamily="50" charset="-128"/>
                          <a:ea typeface="游ゴシック" panose="020B0400000000000000" pitchFamily="50" charset="-128"/>
                        </a:rPr>
                        <a:t>営業</a:t>
                      </a:r>
                      <a:endParaRPr kumimoji="1" lang="ja-JP" altLang="en-US" sz="1600">
                        <a:solidFill>
                          <a:schemeClr val="tx1"/>
                        </a:solidFill>
                        <a:latin typeface="游ゴシック" panose="020B0400000000000000" pitchFamily="50" charset="-128"/>
                        <a:ea typeface="游ゴシック" panose="020B0400000000000000" pitchFamily="50" charset="-128"/>
                      </a:endParaRPr>
                    </a:p>
                  </a:txBody>
                  <a:tcPr anchor="ctr"/>
                </a:tc>
                <a:tc>
                  <a:txBody>
                    <a:bodyPr/>
                    <a:lstStyle/>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契約管理（条件調整、契約書締結、変更契約）を担当する</a:t>
                      </a:r>
                    </a:p>
                    <a:p>
                      <a:pPr marL="179388" marR="0" lvl="0" indent="-1793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600" u="none" strike="noStrike" cap="none" normalizeH="0" baseline="0">
                          <a:ln>
                            <a:noFill/>
                          </a:ln>
                          <a:effectLst/>
                          <a:latin typeface="游ゴシック" panose="020B0400000000000000" pitchFamily="50" charset="-128"/>
                          <a:ea typeface="+mn-ea"/>
                        </a:rPr>
                        <a:t>顧客窓口としてクレーム対応を行う</a:t>
                      </a:r>
                      <a:endParaRPr kumimoji="0" lang="ja-JP" altLang="en-US" sz="16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144000" anchor="ctr"/>
                </a:tc>
                <a:extLst>
                  <a:ext uri="{0D108BD9-81ED-4DB2-BD59-A6C34878D82A}">
                    <a16:rowId xmlns:a16="http://schemas.microsoft.com/office/drawing/2014/main" val="2318722808"/>
                  </a:ext>
                </a:extLst>
              </a:tr>
            </a:tbl>
          </a:graphicData>
        </a:graphic>
      </p:graphicFrame>
      <p:sp>
        <p:nvSpPr>
          <p:cNvPr id="7" name="テキスト ボックス 6">
            <a:extLst>
              <a:ext uri="{FF2B5EF4-FFF2-40B4-BE49-F238E27FC236}">
                <a16:creationId xmlns:a16="http://schemas.microsoft.com/office/drawing/2014/main" id="{C74E8F55-EE8B-C620-463C-38E8741671E5}"/>
              </a:ext>
            </a:extLst>
          </p:cNvPr>
          <p:cNvSpPr txBox="1">
            <a:spLocks/>
          </p:cNvSpPr>
          <p:nvPr/>
        </p:nvSpPr>
        <p:spPr>
          <a:xfrm>
            <a:off x="575999" y="936000"/>
            <a:ext cx="11041199" cy="382481"/>
          </a:xfrm>
          <a:prstGeom prst="roundRect">
            <a:avLst>
              <a:gd name="adj" fmla="val 11024"/>
            </a:avLst>
          </a:prstGeom>
          <a:noFill/>
        </p:spPr>
        <p:txBody>
          <a:bodyPr wrap="square" rtlCol="0">
            <a:noAutofit/>
          </a:bodyPr>
          <a:lstStyle/>
          <a:p>
            <a:r>
              <a:rPr lang="ja-JP" altLang="en-US" sz="1600">
                <a:latin typeface="+mn-ea"/>
              </a:rPr>
              <a:t>体制について</a:t>
            </a:r>
            <a:r>
              <a:rPr kumimoji="1" lang="ja-JP" altLang="en-US" sz="1600">
                <a:latin typeface="+mn-ea"/>
              </a:rPr>
              <a:t>、</a:t>
            </a:r>
            <a:r>
              <a:rPr lang="ja-JP" altLang="en-US" sz="1600">
                <a:latin typeface="游ゴシック" panose="020B0400000000000000" pitchFamily="50" charset="-128"/>
              </a:rPr>
              <a:t>下記の通り役割と作業範囲を定めます。</a:t>
            </a:r>
          </a:p>
        </p:txBody>
      </p:sp>
    </p:spTree>
    <p:extLst>
      <p:ext uri="{BB962C8B-B14F-4D97-AF65-F5344CB8AC3E}">
        <p14:creationId xmlns:p14="http://schemas.microsoft.com/office/powerpoint/2010/main" val="33298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88734-AB75-0245-BBC1-D642780282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77C6D0-17BB-062A-8367-801CF8E25641}"/>
              </a:ext>
            </a:extLst>
          </p:cNvPr>
          <p:cNvSpPr>
            <a:spLocks noGrp="1"/>
          </p:cNvSpPr>
          <p:nvPr>
            <p:ph type="title"/>
          </p:nvPr>
        </p:nvSpPr>
        <p:spPr/>
        <p:txBody>
          <a:bodyPr/>
          <a:lstStyle/>
          <a:p>
            <a:r>
              <a:rPr lang="en-US" altLang="ja-JP"/>
              <a:t>3-10</a:t>
            </a:r>
            <a:r>
              <a:rPr lang="ja-JP" altLang="en-US"/>
              <a:t>．納品物</a:t>
            </a:r>
            <a:endParaRPr kumimoji="1" lang="ja-JP" altLang="en-US"/>
          </a:p>
        </p:txBody>
      </p:sp>
      <p:sp>
        <p:nvSpPr>
          <p:cNvPr id="5" name="フッター プレースホルダー 4">
            <a:extLst>
              <a:ext uri="{FF2B5EF4-FFF2-40B4-BE49-F238E27FC236}">
                <a16:creationId xmlns:a16="http://schemas.microsoft.com/office/drawing/2014/main" id="{4C1B3F2F-FE5D-A98E-47C7-7E3D5DA751F2}"/>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8" name="コンテンツ プレースホルダー 6">
            <a:extLst>
              <a:ext uri="{FF2B5EF4-FFF2-40B4-BE49-F238E27FC236}">
                <a16:creationId xmlns:a16="http://schemas.microsoft.com/office/drawing/2014/main" id="{4567851D-75F9-E10E-54F6-2F4FAB9DAE2A}"/>
              </a:ext>
            </a:extLst>
          </p:cNvPr>
          <p:cNvGraphicFramePr>
            <a:graphicFrameLocks/>
          </p:cNvGraphicFramePr>
          <p:nvPr>
            <p:extLst>
              <p:ext uri="{D42A27DB-BD31-4B8C-83A1-F6EECF244321}">
                <p14:modId xmlns:p14="http://schemas.microsoft.com/office/powerpoint/2010/main" val="945596804"/>
              </p:ext>
            </p:extLst>
          </p:nvPr>
        </p:nvGraphicFramePr>
        <p:xfrm>
          <a:off x="576000" y="936000"/>
          <a:ext cx="11052000" cy="4583400"/>
        </p:xfrm>
        <a:graphic>
          <a:graphicData uri="http://schemas.openxmlformats.org/drawingml/2006/table">
            <a:tbl>
              <a:tblPr firstRow="1">
                <a:tableStyleId>{5C22544A-7EE6-4342-B048-85BDC9FD1C3A}</a:tableStyleId>
              </a:tblPr>
              <a:tblGrid>
                <a:gridCol w="3600000">
                  <a:extLst>
                    <a:ext uri="{9D8B030D-6E8A-4147-A177-3AD203B41FA5}">
                      <a16:colId xmlns:a16="http://schemas.microsoft.com/office/drawing/2014/main" val="20000"/>
                    </a:ext>
                  </a:extLst>
                </a:gridCol>
                <a:gridCol w="7452000">
                  <a:extLst>
                    <a:ext uri="{9D8B030D-6E8A-4147-A177-3AD203B41FA5}">
                      <a16:colId xmlns:a16="http://schemas.microsoft.com/office/drawing/2014/main" val="20001"/>
                    </a:ext>
                  </a:extLst>
                </a:gridCol>
              </a:tblGrid>
              <a:tr h="265439">
                <a:tc>
                  <a:txBody>
                    <a:bodyPr/>
                    <a:lstStyle/>
                    <a:p>
                      <a:r>
                        <a:rPr kumimoji="1" lang="ja-JP" altLang="en-US" sz="1600" b="1">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b="1">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828000">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mn-ea"/>
                          <a:ea typeface="+mn-ea"/>
                        </a:rPr>
                        <a:t>要件定義書（機能要件、非機能要件）</a:t>
                      </a:r>
                      <a:endParaRPr kumimoji="1" lang="en-US" altLang="ja-JP" sz="1600" b="0" i="0" u="none" strike="noStrike" baseline="0" noProof="0">
                        <a:solidFill>
                          <a:srgbClr val="000000"/>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mn-ea"/>
                          <a:ea typeface="+mn-ea"/>
                        </a:rPr>
                        <a:t>業務フロー</a:t>
                      </a:r>
                      <a:r>
                        <a:rPr kumimoji="1" lang="ja-JP" altLang="en-US" sz="1600" b="0">
                          <a:latin typeface="+mn-ea"/>
                          <a:ea typeface="+mn-ea"/>
                        </a:rPr>
                        <a:t>、</a:t>
                      </a:r>
                      <a:r>
                        <a:rPr lang="ja-JP" altLang="en-US" sz="1600" b="0">
                          <a:latin typeface="+mn-ea"/>
                          <a:ea typeface="+mn-ea"/>
                        </a:rPr>
                        <a:t>テスト計画書</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7"/>
                  </a:ext>
                </a:extLst>
              </a:tr>
              <a:tr h="570020">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画面一覧、画面項目定義書、アプリケーション処理方式</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9"/>
                  </a:ext>
                </a:extLst>
              </a:tr>
              <a:tr h="570020">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API</a:t>
                      </a:r>
                      <a:r>
                        <a:rPr kumimoji="1" lang="ja-JP" altLang="en-US" sz="1600" b="0" i="0" u="none" strike="noStrike" kern="1200" baseline="0">
                          <a:solidFill>
                            <a:schemeClr val="tx1"/>
                          </a:solidFill>
                          <a:latin typeface="+mn-ea"/>
                          <a:ea typeface="+mn-ea"/>
                          <a:cs typeface="+mn-cs"/>
                        </a:rPr>
                        <a:t>詳細設計書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93713132"/>
                  </a:ext>
                </a:extLst>
              </a:tr>
              <a:tr h="570020">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b="0">
                          <a:latin typeface="+mn-ea"/>
                          <a:ea typeface="+mn-ea"/>
                        </a:rPr>
                        <a:t>プログラムソース</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3"/>
                  </a:ext>
                </a:extLst>
              </a:tr>
              <a:tr h="570020">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結合テスト仕様書兼成績書、ユーザー操作マニュアル（仮）</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4"/>
                  </a:ext>
                </a:extLst>
              </a:tr>
              <a:tr h="570020">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システムテスト仕様書兼成績書、ユーザー操作マニュアル（最終版）</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5"/>
                  </a:ext>
                </a:extLst>
              </a:tr>
              <a:tr h="570020">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受入テスト問合せ管理表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9576139"/>
                  </a:ext>
                </a:extLst>
              </a:tr>
            </a:tbl>
          </a:graphicData>
        </a:graphic>
      </p:graphicFrame>
      <p:sp>
        <p:nvSpPr>
          <p:cNvPr id="3" name="スライド番号プレースホルダー 3">
            <a:extLst>
              <a:ext uri="{FF2B5EF4-FFF2-40B4-BE49-F238E27FC236}">
                <a16:creationId xmlns:a16="http://schemas.microsoft.com/office/drawing/2014/main" id="{5979CF7D-897E-066C-AB4E-C7B20BDED9E6}"/>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20</a:t>
            </a:fld>
            <a:endParaRPr kumimoji="1" lang="ja-JP" altLang="en-US" sz="700"/>
          </a:p>
        </p:txBody>
      </p:sp>
    </p:spTree>
    <p:extLst>
      <p:ext uri="{BB962C8B-B14F-4D97-AF65-F5344CB8AC3E}">
        <p14:creationId xmlns:p14="http://schemas.microsoft.com/office/powerpoint/2010/main" val="892140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3670DF5-B581-47DF-2255-5381E9620CE3}"/>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E76955FA-0968-556D-6105-DFFEFFCAF4DB}"/>
              </a:ext>
            </a:extLst>
          </p:cNvPr>
          <p:cNvSpPr>
            <a:spLocks noGrp="1"/>
          </p:cNvSpPr>
          <p:nvPr>
            <p:ph type="title"/>
          </p:nvPr>
        </p:nvSpPr>
        <p:spPr/>
        <p:txBody>
          <a:bodyPr/>
          <a:lstStyle/>
          <a:p>
            <a:r>
              <a:rPr lang="ja-JP" altLang="en-US"/>
              <a:t>お見積り</a:t>
            </a:r>
            <a:endParaRPr kumimoji="1" lang="ja-JP" altLang="en-US"/>
          </a:p>
        </p:txBody>
      </p:sp>
    </p:spTree>
    <p:extLst>
      <p:ext uri="{BB962C8B-B14F-4D97-AF65-F5344CB8AC3E}">
        <p14:creationId xmlns:p14="http://schemas.microsoft.com/office/powerpoint/2010/main" val="2389340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79BD-6EFE-21D9-99F1-3977114A8C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681C58-BA49-C35A-E619-B522362B4B58}"/>
              </a:ext>
            </a:extLst>
          </p:cNvPr>
          <p:cNvSpPr>
            <a:spLocks noGrp="1"/>
          </p:cNvSpPr>
          <p:nvPr>
            <p:ph type="title"/>
          </p:nvPr>
        </p:nvSpPr>
        <p:spPr/>
        <p:txBody>
          <a:bodyPr/>
          <a:lstStyle/>
          <a:p>
            <a:r>
              <a:rPr lang="en-US" altLang="ja-JP"/>
              <a:t>4</a:t>
            </a:r>
            <a:r>
              <a:rPr kumimoji="1" lang="en-US" altLang="ja-JP"/>
              <a:t>-1</a:t>
            </a:r>
            <a:r>
              <a:rPr kumimoji="1" lang="ja-JP" altLang="en-US"/>
              <a:t>．お見積り</a:t>
            </a:r>
          </a:p>
        </p:txBody>
      </p:sp>
      <p:sp>
        <p:nvSpPr>
          <p:cNvPr id="4" name="フッター プレースホルダー 3">
            <a:extLst>
              <a:ext uri="{FF2B5EF4-FFF2-40B4-BE49-F238E27FC236}">
                <a16:creationId xmlns:a16="http://schemas.microsoft.com/office/drawing/2014/main" id="{84F88753-BC59-35F1-49C5-A229E9EAFA26}"/>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8B880FE2-3F07-5F95-567F-3174E10F3ED1}"/>
              </a:ext>
            </a:extLst>
          </p:cNvPr>
          <p:cNvGraphicFramePr>
            <a:graphicFrameLocks noGrp="1"/>
          </p:cNvGraphicFramePr>
          <p:nvPr>
            <p:extLst>
              <p:ext uri="{D42A27DB-BD31-4B8C-83A1-F6EECF244321}">
                <p14:modId xmlns:p14="http://schemas.microsoft.com/office/powerpoint/2010/main" val="3648126964"/>
              </p:ext>
            </p:extLst>
          </p:nvPr>
        </p:nvGraphicFramePr>
        <p:xfrm>
          <a:off x="516000" y="936000"/>
          <a:ext cx="11159999" cy="4707840"/>
        </p:xfrm>
        <a:graphic>
          <a:graphicData uri="http://schemas.openxmlformats.org/drawingml/2006/table">
            <a:tbl>
              <a:tblPr firstRow="1" bandRow="1">
                <a:tableStyleId>{2D5ABB26-0587-4C30-8999-92F81FD0307C}</a:tableStyleId>
              </a:tblPr>
              <a:tblGrid>
                <a:gridCol w="440526">
                  <a:extLst>
                    <a:ext uri="{9D8B030D-6E8A-4147-A177-3AD203B41FA5}">
                      <a16:colId xmlns:a16="http://schemas.microsoft.com/office/drawing/2014/main" val="233225342"/>
                    </a:ext>
                  </a:extLst>
                </a:gridCol>
                <a:gridCol w="1288733">
                  <a:extLst>
                    <a:ext uri="{9D8B030D-6E8A-4147-A177-3AD203B41FA5}">
                      <a16:colId xmlns:a16="http://schemas.microsoft.com/office/drawing/2014/main" val="568014644"/>
                    </a:ext>
                  </a:extLst>
                </a:gridCol>
                <a:gridCol w="1122630">
                  <a:extLst>
                    <a:ext uri="{9D8B030D-6E8A-4147-A177-3AD203B41FA5}">
                      <a16:colId xmlns:a16="http://schemas.microsoft.com/office/drawing/2014/main" val="711513500"/>
                    </a:ext>
                  </a:extLst>
                </a:gridCol>
                <a:gridCol w="1883121">
                  <a:extLst>
                    <a:ext uri="{9D8B030D-6E8A-4147-A177-3AD203B41FA5}">
                      <a16:colId xmlns:a16="http://schemas.microsoft.com/office/drawing/2014/main" val="3608806225"/>
                    </a:ext>
                  </a:extLst>
                </a:gridCol>
                <a:gridCol w="2842788">
                  <a:extLst>
                    <a:ext uri="{9D8B030D-6E8A-4147-A177-3AD203B41FA5}">
                      <a16:colId xmlns:a16="http://schemas.microsoft.com/office/drawing/2014/main" val="4260495519"/>
                    </a:ext>
                  </a:extLst>
                </a:gridCol>
                <a:gridCol w="1526412">
                  <a:extLst>
                    <a:ext uri="{9D8B030D-6E8A-4147-A177-3AD203B41FA5}">
                      <a16:colId xmlns:a16="http://schemas.microsoft.com/office/drawing/2014/main" val="2565051978"/>
                    </a:ext>
                  </a:extLst>
                </a:gridCol>
                <a:gridCol w="2055789">
                  <a:extLst>
                    <a:ext uri="{9D8B030D-6E8A-4147-A177-3AD203B41FA5}">
                      <a16:colId xmlns:a16="http://schemas.microsoft.com/office/drawing/2014/main" val="2912004341"/>
                    </a:ext>
                  </a:extLst>
                </a:gridCol>
              </a:tblGrid>
              <a:tr h="360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開発工程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88000">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5,060,000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1,400,000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6,460,000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88000">
                <a:tc rowSpan="5">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詳細設計</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製造</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単体テスト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6.6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9,220,000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7.7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8,470,000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7,000,000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29.3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33,730,000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88000">
                <a:tc rowSpan="3">
                  <a:txBody>
                    <a:bodyPr/>
                    <a:lstStyle/>
                    <a:p>
                      <a:pPr algn="ctr" rtl="0" fontAlgn="ctr"/>
                      <a:r>
                        <a:rPr lang="en-US" altLang="ja-JP" sz="1600" b="0" i="0" u="none" strike="noStrike">
                          <a:solidFill>
                            <a:srgbClr val="000000"/>
                          </a:solidFill>
                          <a:effectLst/>
                          <a:latin typeface="+mn-ea"/>
                          <a:ea typeface="+mn-ea"/>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システムテスト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5,060,000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554512"/>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1,400,000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688465"/>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6,460,000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36363478"/>
                  </a:ext>
                </a:extLst>
              </a:tr>
              <a:tr h="288000">
                <a:tc rowSpan="3">
                  <a:txBody>
                    <a:bodyPr/>
                    <a:lstStyle/>
                    <a:p>
                      <a:pPr algn="ctr" rtl="0" fontAlgn="ctr"/>
                      <a:r>
                        <a:rPr lang="en-US" altLang="ja-JP" sz="1600" b="0" i="0" u="none" strike="noStrike">
                          <a:solidFill>
                            <a:srgbClr val="000000"/>
                          </a:solidFill>
                          <a:effectLst/>
                          <a:latin typeface="+mn-ea"/>
                          <a:ea typeface="+mn-ea"/>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受入テスト支援</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2,530,000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536486"/>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700,000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730907"/>
                  </a:ext>
                </a:extLst>
              </a:tr>
              <a:tr h="288000">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2.8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3,230,000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38431764"/>
                  </a:ext>
                </a:extLst>
              </a:tr>
              <a:tr h="288000">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43.3</a:t>
                      </a: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人月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49,880,000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6" name="スライド番号プレースホルダー 3">
            <a:extLst>
              <a:ext uri="{FF2B5EF4-FFF2-40B4-BE49-F238E27FC236}">
                <a16:creationId xmlns:a16="http://schemas.microsoft.com/office/drawing/2014/main" id="{56EF6269-EB4C-99A1-5D3E-920593724EDF}"/>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22</a:t>
            </a:fld>
            <a:endParaRPr kumimoji="1" lang="ja-JP" altLang="en-US" sz="700"/>
          </a:p>
        </p:txBody>
      </p:sp>
    </p:spTree>
    <p:extLst>
      <p:ext uri="{BB962C8B-B14F-4D97-AF65-F5344CB8AC3E}">
        <p14:creationId xmlns:p14="http://schemas.microsoft.com/office/powerpoint/2010/main" val="960822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56DE28E-57E5-A2C3-577C-1AD560DDF812}"/>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AA851CD9-9913-3762-7174-D4567AFEEBE5}"/>
              </a:ext>
            </a:extLst>
          </p:cNvPr>
          <p:cNvSpPr>
            <a:spLocks noGrp="1"/>
          </p:cNvSpPr>
          <p:nvPr>
            <p:ph type="title"/>
          </p:nvPr>
        </p:nvSpPr>
        <p:spPr/>
        <p:txBody>
          <a:bodyPr/>
          <a:lstStyle/>
          <a:p>
            <a:r>
              <a:rPr lang="ja-JP" altLang="en-US"/>
              <a:t>概算お見積り</a:t>
            </a:r>
            <a:r>
              <a:rPr lang="en-US" altLang="ja-JP"/>
              <a:t>(</a:t>
            </a:r>
            <a:r>
              <a:rPr lang="ja-JP" altLang="en-US"/>
              <a:t>運用・保守</a:t>
            </a:r>
            <a:r>
              <a:rPr lang="en-US" altLang="ja-JP"/>
              <a:t>)</a:t>
            </a:r>
            <a:endParaRPr kumimoji="1" lang="ja-JP" altLang="en-US"/>
          </a:p>
        </p:txBody>
      </p:sp>
    </p:spTree>
    <p:extLst>
      <p:ext uri="{BB962C8B-B14F-4D97-AF65-F5344CB8AC3E}">
        <p14:creationId xmlns:p14="http://schemas.microsoft.com/office/powerpoint/2010/main" val="3254451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D086D-F58B-EC4B-693B-28BDC98D23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E70C52-B1E4-2C7E-5EB0-A0277EC9EC59}"/>
              </a:ext>
            </a:extLst>
          </p:cNvPr>
          <p:cNvSpPr>
            <a:spLocks noGrp="1"/>
          </p:cNvSpPr>
          <p:nvPr>
            <p:ph type="title"/>
          </p:nvPr>
        </p:nvSpPr>
        <p:spPr/>
        <p:txBody>
          <a:bodyPr/>
          <a:lstStyle/>
          <a:p>
            <a:r>
              <a:rPr lang="en-US" altLang="ja-JP"/>
              <a:t>5</a:t>
            </a:r>
            <a:r>
              <a:rPr kumimoji="1" lang="en-US" altLang="ja-JP"/>
              <a:t>-1</a:t>
            </a:r>
            <a:r>
              <a:rPr kumimoji="1" lang="ja-JP" altLang="en-US"/>
              <a:t>．</a:t>
            </a:r>
            <a:r>
              <a:rPr lang="ja-JP" altLang="en-US"/>
              <a:t>概算</a:t>
            </a:r>
            <a:r>
              <a:rPr kumimoji="1" lang="ja-JP" altLang="en-US"/>
              <a:t>お見積り（運用</a:t>
            </a:r>
            <a:r>
              <a:rPr lang="ja-JP" altLang="en-US"/>
              <a:t>・</a:t>
            </a:r>
            <a:r>
              <a:rPr kumimoji="1" lang="ja-JP" altLang="en-US"/>
              <a:t>保守）</a:t>
            </a:r>
          </a:p>
        </p:txBody>
      </p:sp>
      <p:sp>
        <p:nvSpPr>
          <p:cNvPr id="4" name="フッター プレースホルダー 3">
            <a:extLst>
              <a:ext uri="{FF2B5EF4-FFF2-40B4-BE49-F238E27FC236}">
                <a16:creationId xmlns:a16="http://schemas.microsoft.com/office/drawing/2014/main" id="{3436EFCC-EA41-1C9B-B9A6-ED1DE93D9331}"/>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FB050304-A886-0018-86D5-A1E10AFD94CE}"/>
              </a:ext>
            </a:extLst>
          </p:cNvPr>
          <p:cNvGraphicFramePr>
            <a:graphicFrameLocks noGrp="1"/>
          </p:cNvGraphicFramePr>
          <p:nvPr>
            <p:extLst>
              <p:ext uri="{D42A27DB-BD31-4B8C-83A1-F6EECF244321}">
                <p14:modId xmlns:p14="http://schemas.microsoft.com/office/powerpoint/2010/main" val="1911364869"/>
              </p:ext>
            </p:extLst>
          </p:nvPr>
        </p:nvGraphicFramePr>
        <p:xfrm>
          <a:off x="516000" y="936000"/>
          <a:ext cx="11041201" cy="2045188"/>
        </p:xfrm>
        <a:graphic>
          <a:graphicData uri="http://schemas.openxmlformats.org/drawingml/2006/table">
            <a:tbl>
              <a:tblPr firstRow="1" bandRow="1">
                <a:tableStyleId>{2D5ABB26-0587-4C30-8999-92F81FD0307C}</a:tableStyleId>
              </a:tblPr>
              <a:tblGrid>
                <a:gridCol w="484583">
                  <a:extLst>
                    <a:ext uri="{9D8B030D-6E8A-4147-A177-3AD203B41FA5}">
                      <a16:colId xmlns:a16="http://schemas.microsoft.com/office/drawing/2014/main" val="233225342"/>
                    </a:ext>
                  </a:extLst>
                </a:gridCol>
                <a:gridCol w="1417618">
                  <a:extLst>
                    <a:ext uri="{9D8B030D-6E8A-4147-A177-3AD203B41FA5}">
                      <a16:colId xmlns:a16="http://schemas.microsoft.com/office/drawing/2014/main" val="568014644"/>
                    </a:ext>
                  </a:extLst>
                </a:gridCol>
                <a:gridCol w="1374329">
                  <a:extLst>
                    <a:ext uri="{9D8B030D-6E8A-4147-A177-3AD203B41FA5}">
                      <a16:colId xmlns:a16="http://schemas.microsoft.com/office/drawing/2014/main" val="3608806225"/>
                    </a:ext>
                  </a:extLst>
                </a:gridCol>
                <a:gridCol w="3824216">
                  <a:extLst>
                    <a:ext uri="{9D8B030D-6E8A-4147-A177-3AD203B41FA5}">
                      <a16:colId xmlns:a16="http://schemas.microsoft.com/office/drawing/2014/main" val="4260495519"/>
                    </a:ext>
                  </a:extLst>
                </a:gridCol>
                <a:gridCol w="1762644">
                  <a:extLst>
                    <a:ext uri="{9D8B030D-6E8A-4147-A177-3AD203B41FA5}">
                      <a16:colId xmlns:a16="http://schemas.microsoft.com/office/drawing/2014/main" val="2565051978"/>
                    </a:ext>
                  </a:extLst>
                </a:gridCol>
                <a:gridCol w="2177811">
                  <a:extLst>
                    <a:ext uri="{9D8B030D-6E8A-4147-A177-3AD203B41FA5}">
                      <a16:colId xmlns:a16="http://schemas.microsoft.com/office/drawing/2014/main" val="2912004341"/>
                    </a:ext>
                  </a:extLst>
                </a:gridCol>
              </a:tblGrid>
              <a:tr h="396000">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概要</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工数（人月）</a:t>
                      </a:r>
                      <a:r>
                        <a:rPr lang="en-US" altLang="ja-JP" sz="1600" b="1" i="0" u="none" strike="noStrike">
                          <a:solidFill>
                            <a:srgbClr val="FFFFFF"/>
                          </a:solidFill>
                          <a:effectLst/>
                          <a:latin typeface="+mn-ea"/>
                          <a:ea typeface="+mn-ea"/>
                        </a:rPr>
                        <a:t>/</a:t>
                      </a:r>
                      <a:r>
                        <a:rPr lang="ja-JP" altLang="en-US" sz="1600" b="1" i="0" u="none" strike="noStrike">
                          <a:solidFill>
                            <a:srgbClr val="FFFFFF"/>
                          </a:solidFill>
                          <a:effectLst/>
                          <a:latin typeface="+mn-ea"/>
                          <a:ea typeface="+mn-ea"/>
                        </a:rPr>
                        <a:t>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824594">
                <a:tc>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ctr" rtl="0" fontAlgn="ctr"/>
                      <a:r>
                        <a:rPr lang="ja-JP" altLang="en-US" sz="1600" b="0" i="0" u="none" strike="noStrike">
                          <a:solidFill>
                            <a:srgbClr val="000000"/>
                          </a:solidFill>
                          <a:effectLst/>
                          <a:latin typeface="+mn-ea"/>
                          <a:ea typeface="+mn-ea"/>
                        </a:rPr>
                        <a:t>運用保守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初期流動（</a:t>
                      </a:r>
                      <a:r>
                        <a:rPr lang="en-US" altLang="ja-JP" sz="1600" b="0" i="0" u="none" strike="noStrike">
                          <a:solidFill>
                            <a:srgbClr val="000000"/>
                          </a:solidFill>
                          <a:effectLst/>
                          <a:latin typeface="+mn-ea"/>
                          <a:ea typeface="+mn-ea"/>
                        </a:rPr>
                        <a:t>2027</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2</a:t>
                      </a:r>
                      <a:r>
                        <a:rPr lang="ja-JP" altLang="en-US" sz="1600" b="0" i="0" u="none" strike="noStrike">
                          <a:solidFill>
                            <a:srgbClr val="000000"/>
                          </a:solidFill>
                          <a:effectLst/>
                          <a:latin typeface="+mn-ea"/>
                          <a:ea typeface="+mn-ea"/>
                        </a:rPr>
                        <a:t>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824594">
                <a:tc>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通常保守（</a:t>
                      </a:r>
                      <a:r>
                        <a:rPr lang="en-US" altLang="ja-JP" sz="1600" b="0" i="0" u="none" strike="noStrike">
                          <a:solidFill>
                            <a:srgbClr val="000000"/>
                          </a:solidFill>
                          <a:effectLst/>
                          <a:latin typeface="+mn-ea"/>
                          <a:ea typeface="+mn-ea"/>
                        </a:rPr>
                        <a:t>2027</a:t>
                      </a:r>
                      <a:r>
                        <a:rPr lang="ja-JP" altLang="en-US" sz="1600" b="0" i="0" u="none" strike="noStrike">
                          <a:solidFill>
                            <a:srgbClr val="000000"/>
                          </a:solidFill>
                          <a:effectLst/>
                          <a:latin typeface="+mn-ea"/>
                          <a:ea typeface="+mn-ea"/>
                        </a:rPr>
                        <a:t>年</a:t>
                      </a:r>
                      <a:r>
                        <a:rPr lang="en-US" altLang="ja-JP" sz="1600" b="0" i="0" u="none" strike="noStrike">
                          <a:solidFill>
                            <a:srgbClr val="000000"/>
                          </a:solidFill>
                          <a:effectLst/>
                          <a:latin typeface="+mn-ea"/>
                          <a:ea typeface="+mn-ea"/>
                        </a:rPr>
                        <a:t>3</a:t>
                      </a:r>
                      <a:r>
                        <a:rPr lang="ja-JP" altLang="en-US" sz="1600" b="0" i="0" u="none" strike="noStrike">
                          <a:solidFill>
                            <a:srgbClr val="000000"/>
                          </a:solidFill>
                          <a:effectLst/>
                          <a:latin typeface="+mn-ea"/>
                          <a:ea typeface="+mn-ea"/>
                        </a:rPr>
                        <a:t>月以降）</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bl>
          </a:graphicData>
        </a:graphic>
      </p:graphicFrame>
      <p:sp>
        <p:nvSpPr>
          <p:cNvPr id="6" name="スライド番号プレースホルダー 3">
            <a:extLst>
              <a:ext uri="{FF2B5EF4-FFF2-40B4-BE49-F238E27FC236}">
                <a16:creationId xmlns:a16="http://schemas.microsoft.com/office/drawing/2014/main" id="{F67BB589-4969-4028-7270-CA23CF0BE25B}"/>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24</a:t>
            </a:fld>
            <a:endParaRPr kumimoji="1" lang="ja-JP" altLang="en-US" sz="700"/>
          </a:p>
        </p:txBody>
      </p:sp>
    </p:spTree>
    <p:extLst>
      <p:ext uri="{BB962C8B-B14F-4D97-AF65-F5344CB8AC3E}">
        <p14:creationId xmlns:p14="http://schemas.microsoft.com/office/powerpoint/2010/main" val="1201671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95198-BB9E-4719-3415-BF35C77BBC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2BA19AE-6CD1-A1B5-EA44-A73F24F16C3D}"/>
              </a:ext>
            </a:extLst>
          </p:cNvPr>
          <p:cNvSpPr>
            <a:spLocks noGrp="1"/>
          </p:cNvSpPr>
          <p:nvPr>
            <p:ph type="title"/>
          </p:nvPr>
        </p:nvSpPr>
        <p:spPr/>
        <p:txBody>
          <a:bodyPr/>
          <a:lstStyle/>
          <a:p>
            <a:r>
              <a:rPr lang="en-US" altLang="ja-JP"/>
              <a:t>5-2</a:t>
            </a:r>
            <a:r>
              <a:rPr lang="ja-JP" altLang="en-US"/>
              <a:t>．サポート内容</a:t>
            </a:r>
            <a:endParaRPr kumimoji="1" lang="ja-JP" altLang="en-US"/>
          </a:p>
        </p:txBody>
      </p:sp>
      <p:sp>
        <p:nvSpPr>
          <p:cNvPr id="5" name="フッター プレースホルダー 4">
            <a:extLst>
              <a:ext uri="{FF2B5EF4-FFF2-40B4-BE49-F238E27FC236}">
                <a16:creationId xmlns:a16="http://schemas.microsoft.com/office/drawing/2014/main" id="{85EF879E-39EB-D0EC-9C88-01D7CD35D7A8}"/>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28555423-EC9B-1F4F-7F98-C67B4561AF81}"/>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25</a:t>
            </a:fld>
            <a:endParaRPr kumimoji="1" lang="ja-JP" altLang="en-US" sz="700"/>
          </a:p>
        </p:txBody>
      </p:sp>
      <p:grpSp>
        <p:nvGrpSpPr>
          <p:cNvPr id="7" name="グループ化 6">
            <a:extLst>
              <a:ext uri="{FF2B5EF4-FFF2-40B4-BE49-F238E27FC236}">
                <a16:creationId xmlns:a16="http://schemas.microsoft.com/office/drawing/2014/main" id="{11361CAB-A30C-8A3E-3BAF-BD0A54E85354}"/>
              </a:ext>
            </a:extLst>
          </p:cNvPr>
          <p:cNvGrpSpPr/>
          <p:nvPr/>
        </p:nvGrpSpPr>
        <p:grpSpPr>
          <a:xfrm>
            <a:off x="3783061" y="954001"/>
            <a:ext cx="3436850" cy="5327999"/>
            <a:chOff x="3168000" y="1152000"/>
            <a:chExt cx="2772000" cy="5327999"/>
          </a:xfrm>
        </p:grpSpPr>
        <p:cxnSp>
          <p:nvCxnSpPr>
            <p:cNvPr id="8" name="直線コネクタ 7">
              <a:extLst>
                <a:ext uri="{FF2B5EF4-FFF2-40B4-BE49-F238E27FC236}">
                  <a16:creationId xmlns:a16="http://schemas.microsoft.com/office/drawing/2014/main" id="{95979449-1970-53FC-3910-8EB987235769}"/>
                </a:ext>
              </a:extLst>
            </p:cNvPr>
            <p:cNvCxnSpPr/>
            <p:nvPr/>
          </p:nvCxnSpPr>
          <p:spPr>
            <a:xfrm>
              <a:off x="3168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BDEEDC0-12CA-303D-A13C-80C1EBC69F6A}"/>
                </a:ext>
              </a:extLst>
            </p:cNvPr>
            <p:cNvSpPr txBox="1"/>
            <p:nvPr/>
          </p:nvSpPr>
          <p:spPr>
            <a:xfrm>
              <a:off x="3240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受付時間</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10" name="テキスト ボックス 9">
              <a:extLst>
                <a:ext uri="{FF2B5EF4-FFF2-40B4-BE49-F238E27FC236}">
                  <a16:creationId xmlns:a16="http://schemas.microsoft.com/office/drawing/2014/main" id="{F716FA11-AD7C-1254-07AF-B3E570FA6A2A}"/>
                </a:ext>
              </a:extLst>
            </p:cNvPr>
            <p:cNvSpPr txBox="1"/>
            <p:nvPr/>
          </p:nvSpPr>
          <p:spPr>
            <a:xfrm>
              <a:off x="3240000" y="1511999"/>
              <a:ext cx="2700000" cy="4968000"/>
            </a:xfrm>
            <a:prstGeom prst="rect">
              <a:avLst/>
            </a:prstGeom>
            <a:noFill/>
          </p:spPr>
          <p:txBody>
            <a:bodyPr wrap="square" rtlCol="0">
              <a:noAutofit/>
            </a:bodyPr>
            <a:lstStyle/>
            <a:p>
              <a:pPr>
                <a:spcBef>
                  <a:spcPts val="600"/>
                </a:spcBef>
              </a:pPr>
              <a:r>
                <a:rPr kumimoji="1" lang="ja-JP" altLang="en-US" sz="1400" b="1">
                  <a:latin typeface="+mn-ea"/>
                </a:rPr>
                <a:t>通常時</a:t>
              </a:r>
              <a:r>
                <a:rPr lang="ja-JP" altLang="en-US" sz="1400" b="1">
                  <a:latin typeface="+mn-ea"/>
                </a:rPr>
                <a:t>お問い合わせ</a:t>
              </a:r>
              <a:r>
                <a:rPr kumimoji="1" lang="ja-JP" altLang="en-US" sz="1400" b="1">
                  <a:latin typeface="+mn-ea"/>
                </a:rPr>
                <a:t>受付時間</a:t>
              </a:r>
              <a:endParaRPr lang="en-US" altLang="ja-JP" sz="1400" b="1">
                <a:latin typeface="+mn-ea"/>
              </a:endParaRPr>
            </a:p>
            <a:p>
              <a:pPr>
                <a:spcBef>
                  <a:spcPts val="600"/>
                </a:spcBef>
              </a:pPr>
              <a:r>
                <a:rPr lang="ja-JP" altLang="en-US" sz="1400">
                  <a:latin typeface="+mn-ea"/>
                </a:rPr>
                <a:t>平日（月曜日～金曜日）の </a:t>
              </a:r>
              <a:endParaRPr lang="en-US" altLang="ja-JP" sz="1400">
                <a:latin typeface="+mn-ea"/>
              </a:endParaRPr>
            </a:p>
            <a:p>
              <a:pPr>
                <a:spcBef>
                  <a:spcPts val="600"/>
                </a:spcBef>
              </a:pPr>
              <a:r>
                <a:rPr lang="en-US" altLang="ja-JP" sz="1400">
                  <a:latin typeface="+mn-ea"/>
                </a:rPr>
                <a:t>9:00 </a:t>
              </a:r>
              <a:r>
                <a:rPr lang="ja-JP" altLang="en-US" sz="1400">
                  <a:latin typeface="+mn-ea"/>
                </a:rPr>
                <a:t>～ </a:t>
              </a:r>
              <a:r>
                <a:rPr lang="en-US" altLang="ja-JP" sz="1400">
                  <a:latin typeface="+mn-ea"/>
                </a:rPr>
                <a:t>17:30</a:t>
              </a:r>
            </a:p>
            <a:p>
              <a:pPr marL="285750" indent="-285750">
                <a:spcBef>
                  <a:spcPts val="600"/>
                </a:spcBef>
                <a:buFont typeface="游ゴシック" panose="020B0400000000000000" pitchFamily="50" charset="-128"/>
                <a:buChar char="※"/>
              </a:pPr>
              <a:r>
                <a:rPr lang="ja-JP" altLang="en-US" sz="1400">
                  <a:latin typeface="+mn-ea"/>
                </a:rPr>
                <a:t>土曜日、日曜日、祝日、年末年始は除きます。</a:t>
              </a:r>
              <a:endParaRPr lang="en-US" altLang="ja-JP" sz="1400">
                <a:latin typeface="+mn-ea"/>
              </a:endParaRPr>
            </a:p>
            <a:p>
              <a:pPr marL="285750" indent="-285750">
                <a:spcBef>
                  <a:spcPts val="600"/>
                </a:spcBef>
                <a:buFont typeface="游ゴシック" panose="020B0400000000000000" pitchFamily="50" charset="-128"/>
                <a:buChar char="※"/>
              </a:pPr>
              <a:endParaRPr lang="en-US" altLang="ja-JP" sz="1400">
                <a:latin typeface="+mn-ea"/>
              </a:endParaRPr>
            </a:p>
            <a:p>
              <a:pPr>
                <a:spcBef>
                  <a:spcPts val="600"/>
                </a:spcBef>
              </a:pPr>
              <a:r>
                <a:rPr lang="ja-JP" altLang="en-US" sz="1400" b="1">
                  <a:latin typeface="+mn-ea"/>
                </a:rPr>
                <a:t>緊急時のお問い合わせについて</a:t>
              </a:r>
              <a:endParaRPr lang="en-US" altLang="ja-JP" sz="1400" b="1">
                <a:latin typeface="+mn-ea"/>
              </a:endParaRPr>
            </a:p>
            <a:p>
              <a:pPr>
                <a:spcBef>
                  <a:spcPts val="600"/>
                </a:spcBef>
              </a:pPr>
              <a:r>
                <a:rPr lang="ja-JP" altLang="en-US" sz="1400">
                  <a:latin typeface="+mn-ea"/>
                </a:rPr>
                <a:t>緊急時におきましては、上記時間帯を問わず受け付けいたしますが、状況により対応できない場合がございます。</a:t>
              </a:r>
              <a:endParaRPr lang="en-US" altLang="ja-JP" sz="1400">
                <a:latin typeface="+mn-ea"/>
              </a:endParaRPr>
            </a:p>
            <a:p>
              <a:pPr>
                <a:spcBef>
                  <a:spcPts val="600"/>
                </a:spcBef>
              </a:pPr>
              <a:r>
                <a:rPr lang="ja-JP" altLang="en-US" sz="1400">
                  <a:latin typeface="+mn-ea"/>
                </a:rPr>
                <a:t>非常事態発生時において、作業が必要となった場合は、保守担当者が自宅から専用に準備した機器により、リモート接続にてメンテナンスを実施することも可能です。</a:t>
              </a:r>
            </a:p>
            <a:p>
              <a:pPr>
                <a:spcBef>
                  <a:spcPts val="600"/>
                </a:spcBef>
              </a:pPr>
              <a:br>
                <a:rPr lang="ja-JP" altLang="en-US" sz="1400">
                  <a:latin typeface="+mn-ea"/>
                </a:rPr>
              </a:br>
              <a:endParaRPr kumimoji="1" lang="ja-JP" altLang="en-US" sz="1400">
                <a:latin typeface="+mn-ea"/>
              </a:endParaRPr>
            </a:p>
          </p:txBody>
        </p:sp>
      </p:grpSp>
      <p:grpSp>
        <p:nvGrpSpPr>
          <p:cNvPr id="11" name="グループ化 10">
            <a:extLst>
              <a:ext uri="{FF2B5EF4-FFF2-40B4-BE49-F238E27FC236}">
                <a16:creationId xmlns:a16="http://schemas.microsoft.com/office/drawing/2014/main" id="{A397CE09-61DF-1230-C7B9-96293E5FC023}"/>
              </a:ext>
            </a:extLst>
          </p:cNvPr>
          <p:cNvGrpSpPr/>
          <p:nvPr/>
        </p:nvGrpSpPr>
        <p:grpSpPr>
          <a:xfrm>
            <a:off x="7386131" y="954001"/>
            <a:ext cx="4231069" cy="5327999"/>
            <a:chOff x="6192000" y="1152000"/>
            <a:chExt cx="2772000" cy="5327999"/>
          </a:xfrm>
        </p:grpSpPr>
        <p:cxnSp>
          <p:nvCxnSpPr>
            <p:cNvPr id="12" name="直線コネクタ 11">
              <a:extLst>
                <a:ext uri="{FF2B5EF4-FFF2-40B4-BE49-F238E27FC236}">
                  <a16:creationId xmlns:a16="http://schemas.microsoft.com/office/drawing/2014/main" id="{3E2B0C0B-A0F4-4A96-DA2F-54392FD9E837}"/>
                </a:ext>
              </a:extLst>
            </p:cNvPr>
            <p:cNvCxnSpPr/>
            <p:nvPr/>
          </p:nvCxnSpPr>
          <p:spPr>
            <a:xfrm>
              <a:off x="6192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96271E72-1831-8DAF-9524-FA8D81A265A8}"/>
                </a:ext>
              </a:extLst>
            </p:cNvPr>
            <p:cNvSpPr txBox="1"/>
            <p:nvPr/>
          </p:nvSpPr>
          <p:spPr>
            <a:xfrm>
              <a:off x="6264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panose="020B0400000000000000" pitchFamily="50" charset="-128"/>
                  <a:ea typeface="游ゴシック" panose="020B0400000000000000" pitchFamily="50" charset="-128"/>
                </a:rPr>
                <a:t>作業範囲</a:t>
              </a:r>
              <a:endParaRPr kumimoji="1" lang="ja-JP" altLang="en-US" sz="1600" b="1">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4" name="テキスト ボックス 13">
              <a:extLst>
                <a:ext uri="{FF2B5EF4-FFF2-40B4-BE49-F238E27FC236}">
                  <a16:creationId xmlns:a16="http://schemas.microsoft.com/office/drawing/2014/main" id="{71093063-840D-9B8F-7D37-554728853DE1}"/>
                </a:ext>
              </a:extLst>
            </p:cNvPr>
            <p:cNvSpPr txBox="1"/>
            <p:nvPr/>
          </p:nvSpPr>
          <p:spPr>
            <a:xfrm>
              <a:off x="6264000" y="1511999"/>
              <a:ext cx="2700000" cy="4968000"/>
            </a:xfrm>
            <a:prstGeom prst="rect">
              <a:avLst/>
            </a:prstGeom>
            <a:noFill/>
          </p:spPr>
          <p:txBody>
            <a:bodyPr wrap="square" rtlCol="0">
              <a:noAutofit/>
            </a:bodyPr>
            <a:lstStyle/>
            <a:p>
              <a:pPr>
                <a:spcBef>
                  <a:spcPts val="600"/>
                </a:spcBef>
              </a:pPr>
              <a:r>
                <a:rPr lang="ja-JP" altLang="en-US" sz="1400" b="1">
                  <a:latin typeface="+mn-ea"/>
                </a:rPr>
                <a:t>お問い合わせ対応</a:t>
              </a:r>
            </a:p>
            <a:p>
              <a:pPr>
                <a:spcBef>
                  <a:spcPts val="600"/>
                </a:spcBef>
              </a:pPr>
              <a:r>
                <a:rPr lang="ja-JP" altLang="en-US" sz="1400">
                  <a:latin typeface="+mn-ea"/>
                </a:rPr>
                <a:t>各種お問い合わせに対し対応いたします。電話、メール、その他貴社利用ツールでのお問い合わせを受け付けます。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障害対応・不具合要望対応</a:t>
              </a:r>
            </a:p>
            <a:p>
              <a:pPr>
                <a:spcBef>
                  <a:spcPts val="600"/>
                </a:spcBef>
              </a:pPr>
              <a:r>
                <a:rPr lang="ja-JP" altLang="en-US" sz="1400">
                  <a:latin typeface="+mn-ea"/>
                </a:rPr>
                <a:t>障害発生時の復旧作業を実施または支援します。また、不具合や発覚時や要望受け付け時は貴社と協議の上、改善作業を実施します。対応規模が大きい場合は別途見積をした上でご相談させていただきます。</a:t>
              </a:r>
              <a:endParaRPr lang="en-US" altLang="ja-JP" sz="1400">
                <a:latin typeface="+mn-ea"/>
              </a:endParaRPr>
            </a:p>
            <a:p>
              <a:pPr>
                <a:spcBef>
                  <a:spcPts val="600"/>
                </a:spcBef>
              </a:pPr>
              <a:endParaRPr lang="ja-JP" altLang="en-US" sz="1400">
                <a:latin typeface="+mn-ea"/>
              </a:endParaRPr>
            </a:p>
            <a:p>
              <a:pPr>
                <a:spcBef>
                  <a:spcPts val="600"/>
                </a:spcBef>
              </a:pPr>
              <a:r>
                <a:rPr lang="ja-JP" altLang="en-US" sz="1400" b="1">
                  <a:latin typeface="+mn-ea"/>
                </a:rPr>
                <a:t>資源の維持</a:t>
              </a:r>
              <a:endParaRPr lang="en-US" altLang="ja-JP" sz="1400" b="1">
                <a:latin typeface="+mn-ea"/>
              </a:endParaRPr>
            </a:p>
            <a:p>
              <a:pPr>
                <a:spcBef>
                  <a:spcPts val="600"/>
                </a:spcBef>
              </a:pPr>
              <a:r>
                <a:rPr lang="ja-JP" altLang="en-US" sz="1400">
                  <a:latin typeface="+mn-ea"/>
                </a:rPr>
                <a:t>ドキュメントについては、貴社標準の保管環境を利用させていただき維持します。また、変更が発生した際は、都度、最新化を実施します。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作業報告</a:t>
              </a:r>
            </a:p>
            <a:p>
              <a:pPr>
                <a:spcBef>
                  <a:spcPts val="600"/>
                </a:spcBef>
              </a:pPr>
              <a:r>
                <a:rPr lang="ja-JP" altLang="en-US" sz="1400">
                  <a:latin typeface="+mn-ea"/>
                </a:rPr>
                <a:t>月</a:t>
              </a:r>
              <a:r>
                <a:rPr lang="en-US" altLang="ja-JP" sz="1400">
                  <a:latin typeface="+mn-ea"/>
                </a:rPr>
                <a:t>1</a:t>
              </a:r>
              <a:r>
                <a:rPr lang="ja-JP" altLang="en-US" sz="1400">
                  <a:latin typeface="+mn-ea"/>
                </a:rPr>
                <a:t>回、保守作業報告会を開催し、保守作業報告書を提出します。</a:t>
              </a:r>
              <a:endParaRPr kumimoji="1" lang="ja-JP" altLang="en-US" sz="1400">
                <a:latin typeface="+mn-ea"/>
              </a:endParaRPr>
            </a:p>
          </p:txBody>
        </p:sp>
      </p:grpSp>
      <p:grpSp>
        <p:nvGrpSpPr>
          <p:cNvPr id="15" name="グループ化 14">
            <a:extLst>
              <a:ext uri="{FF2B5EF4-FFF2-40B4-BE49-F238E27FC236}">
                <a16:creationId xmlns:a16="http://schemas.microsoft.com/office/drawing/2014/main" id="{96A97D67-EF83-07DE-D281-8BD957196593}"/>
              </a:ext>
            </a:extLst>
          </p:cNvPr>
          <p:cNvGrpSpPr/>
          <p:nvPr/>
        </p:nvGrpSpPr>
        <p:grpSpPr>
          <a:xfrm>
            <a:off x="492758" y="954000"/>
            <a:ext cx="3120732" cy="5328001"/>
            <a:chOff x="144000" y="1008000"/>
            <a:chExt cx="2772000" cy="5158723"/>
          </a:xfrm>
        </p:grpSpPr>
        <p:grpSp>
          <p:nvGrpSpPr>
            <p:cNvPr id="16" name="グループ化 15">
              <a:extLst>
                <a:ext uri="{FF2B5EF4-FFF2-40B4-BE49-F238E27FC236}">
                  <a16:creationId xmlns:a16="http://schemas.microsoft.com/office/drawing/2014/main" id="{BE3A5299-7040-FC50-B366-32AE3115A82E}"/>
                </a:ext>
              </a:extLst>
            </p:cNvPr>
            <p:cNvGrpSpPr/>
            <p:nvPr/>
          </p:nvGrpSpPr>
          <p:grpSpPr>
            <a:xfrm>
              <a:off x="144000" y="1008000"/>
              <a:ext cx="2772000" cy="720000"/>
              <a:chOff x="144000" y="1152000"/>
              <a:chExt cx="2772000" cy="720000"/>
            </a:xfrm>
          </p:grpSpPr>
          <p:cxnSp>
            <p:nvCxnSpPr>
              <p:cNvPr id="21" name="直線コネクタ 20">
                <a:extLst>
                  <a:ext uri="{FF2B5EF4-FFF2-40B4-BE49-F238E27FC236}">
                    <a16:creationId xmlns:a16="http://schemas.microsoft.com/office/drawing/2014/main" id="{F76B89B3-1949-C5F5-ADA5-5CE8DE47D93F}"/>
                  </a:ext>
                </a:extLst>
              </p:cNvPr>
              <p:cNvCxnSpPr/>
              <p:nvPr/>
            </p:nvCxnSpPr>
            <p:spPr>
              <a:xfrm>
                <a:off x="144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E50023F4-CD57-E89B-C6B0-16E5FCCC490C}"/>
                  </a:ext>
                </a:extLst>
              </p:cNvPr>
              <p:cNvSpPr txBox="1"/>
              <p:nvPr/>
            </p:nvSpPr>
            <p:spPr>
              <a:xfrm>
                <a:off x="216000" y="1152000"/>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対象範囲</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2A467660-12E5-4A6A-6A33-342C9B8DAD5B}"/>
                  </a:ext>
                </a:extLst>
              </p:cNvPr>
              <p:cNvSpPr txBox="1"/>
              <p:nvPr/>
            </p:nvSpPr>
            <p:spPr>
              <a:xfrm>
                <a:off x="216000" y="1512000"/>
                <a:ext cx="2700000" cy="360000"/>
              </a:xfrm>
              <a:prstGeom prst="rect">
                <a:avLst/>
              </a:prstGeom>
              <a:noFill/>
            </p:spPr>
            <p:txBody>
              <a:bodyPr wrap="square" rtlCol="0">
                <a:noAutofit/>
              </a:bodyPr>
              <a:lstStyle/>
              <a:p>
                <a:pPr>
                  <a:spcBef>
                    <a:spcPts val="600"/>
                  </a:spcBef>
                </a:pPr>
                <a:r>
                  <a:rPr kumimoji="1" lang="ja-JP" altLang="en-US" sz="1400" b="1">
                    <a:latin typeface="+mn-ea"/>
                  </a:rPr>
                  <a:t>本システム（</a:t>
                </a:r>
                <a:r>
                  <a:rPr kumimoji="1" lang="en-US" altLang="ja-JP" sz="1400" b="1">
                    <a:latin typeface="+mn-ea"/>
                  </a:rPr>
                  <a:t>MA-ADS(XenApp</a:t>
                </a:r>
                <a:r>
                  <a:rPr kumimoji="1" lang="ja-JP" altLang="en-US" sz="1400" b="1">
                    <a:latin typeface="+mn-ea"/>
                  </a:rPr>
                  <a:t>内アプリ</a:t>
                </a:r>
                <a:r>
                  <a:rPr kumimoji="1" lang="en-US" altLang="ja-JP" sz="1400" b="1">
                    <a:latin typeface="+mn-ea"/>
                  </a:rPr>
                  <a:t>)Web</a:t>
                </a:r>
                <a:r>
                  <a:rPr kumimoji="1" lang="ja-JP" altLang="en-US" sz="1400" b="1">
                    <a:latin typeface="+mn-ea"/>
                  </a:rPr>
                  <a:t>アプリ化）</a:t>
                </a:r>
                <a:endParaRPr kumimoji="1" lang="en-US" altLang="ja-JP" sz="1400" b="1">
                  <a:latin typeface="+mn-ea"/>
                </a:endParaRPr>
              </a:p>
            </p:txBody>
          </p:sp>
        </p:grpSp>
        <p:grpSp>
          <p:nvGrpSpPr>
            <p:cNvPr id="17" name="グループ化 16">
              <a:extLst>
                <a:ext uri="{FF2B5EF4-FFF2-40B4-BE49-F238E27FC236}">
                  <a16:creationId xmlns:a16="http://schemas.microsoft.com/office/drawing/2014/main" id="{61AB89EF-6F51-D5B8-19D1-93442F816EAC}"/>
                </a:ext>
              </a:extLst>
            </p:cNvPr>
            <p:cNvGrpSpPr/>
            <p:nvPr/>
          </p:nvGrpSpPr>
          <p:grpSpPr>
            <a:xfrm>
              <a:off x="144000" y="3054868"/>
              <a:ext cx="2772000" cy="3111855"/>
              <a:chOff x="144000" y="3198868"/>
              <a:chExt cx="2772000" cy="3111855"/>
            </a:xfrm>
          </p:grpSpPr>
          <p:cxnSp>
            <p:nvCxnSpPr>
              <p:cNvPr id="18" name="直線コネクタ 17">
                <a:extLst>
                  <a:ext uri="{FF2B5EF4-FFF2-40B4-BE49-F238E27FC236}">
                    <a16:creationId xmlns:a16="http://schemas.microsoft.com/office/drawing/2014/main" id="{BDAD1398-B66F-E4BD-6762-07BEF3203BFE}"/>
                  </a:ext>
                </a:extLst>
              </p:cNvPr>
              <p:cNvCxnSpPr/>
              <p:nvPr/>
            </p:nvCxnSpPr>
            <p:spPr>
              <a:xfrm>
                <a:off x="144000" y="3198868"/>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6C308C06-E425-EC11-5A26-CB93643A6CE5}"/>
                  </a:ext>
                </a:extLst>
              </p:cNvPr>
              <p:cNvSpPr txBox="1"/>
              <p:nvPr/>
            </p:nvSpPr>
            <p:spPr>
              <a:xfrm>
                <a:off x="216000" y="3198868"/>
                <a:ext cx="2664000" cy="338554"/>
              </a:xfrm>
              <a:prstGeom prst="rect">
                <a:avLst/>
              </a:prstGeom>
              <a:noFill/>
            </p:spPr>
            <p:txBody>
              <a:bodyPr wrap="square" rtlCol="0">
                <a:spAutoFit/>
              </a:bodyPr>
              <a:lstStyle/>
              <a:p>
                <a:r>
                  <a:rPr lang="ja-JP" altLang="en-US" sz="1600" b="1">
                    <a:solidFill>
                      <a:schemeClr val="accent1">
                        <a:lumMod val="50000"/>
                      </a:schemeClr>
                    </a:solidFill>
                    <a:latin typeface="游ゴシック 本文"/>
                    <a:ea typeface="游ゴシック" panose="020B0400000000000000" pitchFamily="50" charset="-128"/>
                  </a:rPr>
                  <a:t>保守体制</a:t>
                </a:r>
                <a:endParaRPr kumimoji="1" lang="ja-JP" altLang="en-US" sz="1600" b="1">
                  <a:solidFill>
                    <a:schemeClr val="accent1">
                      <a:lumMod val="50000"/>
                    </a:schemeClr>
                  </a:solidFill>
                  <a:latin typeface="游ゴシック 本文"/>
                  <a:ea typeface="游ゴシック" panose="020B0400000000000000" pitchFamily="50" charset="-128"/>
                </a:endParaRPr>
              </a:p>
            </p:txBody>
          </p:sp>
          <p:sp>
            <p:nvSpPr>
              <p:cNvPr id="20" name="テキスト ボックス 19">
                <a:extLst>
                  <a:ext uri="{FF2B5EF4-FFF2-40B4-BE49-F238E27FC236}">
                    <a16:creationId xmlns:a16="http://schemas.microsoft.com/office/drawing/2014/main" id="{6CEB4D21-9965-1181-4248-845D96DABE6A}"/>
                  </a:ext>
                </a:extLst>
              </p:cNvPr>
              <p:cNvSpPr txBox="1"/>
              <p:nvPr/>
            </p:nvSpPr>
            <p:spPr>
              <a:xfrm>
                <a:off x="216000" y="3537422"/>
                <a:ext cx="2700000" cy="2773301"/>
              </a:xfrm>
              <a:prstGeom prst="rect">
                <a:avLst/>
              </a:prstGeom>
              <a:noFill/>
            </p:spPr>
            <p:txBody>
              <a:bodyPr wrap="square" rtlCol="0">
                <a:noAutofit/>
              </a:bodyPr>
              <a:lstStyle/>
              <a:p>
                <a:pPr>
                  <a:spcBef>
                    <a:spcPts val="600"/>
                  </a:spcBef>
                </a:pPr>
                <a:r>
                  <a:rPr kumimoji="1" lang="ja-JP" altLang="en-US" sz="1400" b="1">
                    <a:latin typeface="+mn-ea"/>
                  </a:rPr>
                  <a:t>要員</a:t>
                </a:r>
                <a:endParaRPr kumimoji="1" lang="en-US" altLang="ja-JP" sz="1400" b="1">
                  <a:latin typeface="+mn-ea"/>
                </a:endParaRPr>
              </a:p>
              <a:p>
                <a:pPr>
                  <a:spcBef>
                    <a:spcPts val="600"/>
                  </a:spcBef>
                </a:pPr>
                <a:r>
                  <a:rPr lang="ja-JP" altLang="en-US" sz="1400">
                    <a:latin typeface="+mn-ea"/>
                  </a:rPr>
                  <a:t>保守担当の要員としては、</a:t>
                </a:r>
                <a:endParaRPr lang="en-US" altLang="ja-JP" sz="1400">
                  <a:latin typeface="+mn-ea"/>
                </a:endParaRPr>
              </a:p>
              <a:p>
                <a:pPr>
                  <a:spcBef>
                    <a:spcPts val="600"/>
                  </a:spcBef>
                </a:pPr>
                <a:r>
                  <a:rPr lang="ja-JP" altLang="en-US" sz="1400">
                    <a:latin typeface="+mn-ea"/>
                  </a:rPr>
                  <a:t>実作業者</a:t>
                </a:r>
                <a:r>
                  <a:rPr lang="en-US" altLang="ja-JP" sz="1400">
                    <a:latin typeface="+mn-ea"/>
                  </a:rPr>
                  <a:t>1</a:t>
                </a:r>
                <a:r>
                  <a:rPr lang="ja-JP" altLang="en-US" sz="1400">
                    <a:latin typeface="+mn-ea"/>
                  </a:rPr>
                  <a:t>～</a:t>
                </a:r>
                <a:r>
                  <a:rPr lang="en-US" altLang="ja-JP" sz="1400">
                    <a:latin typeface="+mn-ea"/>
                  </a:rPr>
                  <a:t>2</a:t>
                </a:r>
                <a:r>
                  <a:rPr lang="ja-JP" altLang="en-US" sz="1400">
                    <a:latin typeface="+mn-ea"/>
                  </a:rPr>
                  <a:t>名配置します。</a:t>
                </a:r>
                <a:endParaRPr lang="en-US" altLang="ja-JP" sz="1400">
                  <a:latin typeface="+mn-ea"/>
                </a:endParaRPr>
              </a:p>
              <a:p>
                <a:pPr>
                  <a:spcBef>
                    <a:spcPts val="600"/>
                  </a:spcBef>
                </a:pPr>
                <a:endParaRPr lang="en-US" altLang="ja-JP" sz="1400">
                  <a:latin typeface="+mn-ea"/>
                </a:endParaRPr>
              </a:p>
              <a:p>
                <a:pPr>
                  <a:spcBef>
                    <a:spcPts val="600"/>
                  </a:spcBef>
                </a:pPr>
                <a:r>
                  <a:rPr lang="ja-JP" altLang="en-US" sz="1400" b="1">
                    <a:latin typeface="+mn-ea"/>
                  </a:rPr>
                  <a:t>作業場所</a:t>
                </a:r>
                <a:endParaRPr lang="en-US" altLang="ja-JP" sz="1400" b="1">
                  <a:latin typeface="+mn-ea"/>
                </a:endParaRPr>
              </a:p>
              <a:p>
                <a:pPr>
                  <a:spcBef>
                    <a:spcPts val="600"/>
                  </a:spcBef>
                </a:pPr>
                <a:r>
                  <a:rPr lang="ja-JP" altLang="en-US" sz="1400">
                    <a:latin typeface="+mn-ea"/>
                  </a:rPr>
                  <a:t>作業場所は、弊社オフィス内（在宅勤務含む）、再委託先のオフィス内（在宅勤務含む）とし、必要に応じてリモート接続にて、貴社環境に接続し作業します。</a:t>
                </a:r>
                <a:endParaRPr lang="en-US" altLang="ja-JP" sz="1400">
                  <a:latin typeface="+mn-ea"/>
                </a:endParaRPr>
              </a:p>
            </p:txBody>
          </p:sp>
        </p:grpSp>
      </p:grpSp>
    </p:spTree>
    <p:extLst>
      <p:ext uri="{BB962C8B-B14F-4D97-AF65-F5344CB8AC3E}">
        <p14:creationId xmlns:p14="http://schemas.microsoft.com/office/powerpoint/2010/main" val="3648234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F82ADE1-6475-2815-2817-0D776E39DC0E}"/>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FE564022-2487-2828-E59F-26ED1ED68271}"/>
              </a:ext>
            </a:extLst>
          </p:cNvPr>
          <p:cNvSpPr>
            <a:spLocks noGrp="1"/>
          </p:cNvSpPr>
          <p:nvPr>
            <p:ph type="title"/>
          </p:nvPr>
        </p:nvSpPr>
        <p:spPr/>
        <p:txBody>
          <a:bodyPr/>
          <a:lstStyle/>
          <a:p>
            <a:r>
              <a:rPr kumimoji="1" lang="ja-JP" altLang="ja-JP" sz="3200" b="0" kern="1200">
                <a:solidFill>
                  <a:srgbClr val="9A3B5D"/>
                </a:solidFill>
                <a:effectLst/>
                <a:latin typeface="游明朝" panose="02020400000000000000" pitchFamily="18" charset="-128"/>
                <a:ea typeface="游明朝" panose="02020400000000000000" pitchFamily="18" charset="-128"/>
                <a:cs typeface="+mj-cs"/>
              </a:rPr>
              <a:t>お見積り前提条件</a:t>
            </a:r>
            <a:endParaRPr kumimoji="1" lang="ja-JP" altLang="en-US"/>
          </a:p>
        </p:txBody>
      </p:sp>
    </p:spTree>
    <p:extLst>
      <p:ext uri="{BB962C8B-B14F-4D97-AF65-F5344CB8AC3E}">
        <p14:creationId xmlns:p14="http://schemas.microsoft.com/office/powerpoint/2010/main" val="1717012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563E-73D9-7457-76D3-F4FF9D5011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1507F-D843-BA3F-D5B9-B45C79BD6154}"/>
              </a:ext>
            </a:extLst>
          </p:cNvPr>
          <p:cNvSpPr>
            <a:spLocks noGrp="1"/>
          </p:cNvSpPr>
          <p:nvPr>
            <p:ph type="title"/>
          </p:nvPr>
        </p:nvSpPr>
        <p:spPr/>
        <p:txBody>
          <a:bodyPr/>
          <a:lstStyle/>
          <a:p>
            <a:r>
              <a:rPr lang="en-US" altLang="ja-JP">
                <a:latin typeface="游明朝"/>
                <a:ea typeface="游明朝"/>
              </a:rPr>
              <a:t>6-1</a:t>
            </a:r>
            <a:r>
              <a:rPr kumimoji="1" lang="ja-JP" altLang="en-US">
                <a:latin typeface="游明朝"/>
                <a:ea typeface="游明朝"/>
              </a:rPr>
              <a:t>．</a:t>
            </a:r>
            <a:r>
              <a:rPr lang="ja-JP" altLang="en-US">
                <a:latin typeface="游明朝"/>
                <a:ea typeface="游明朝"/>
              </a:rPr>
              <a:t>お見積</a:t>
            </a:r>
            <a:r>
              <a:rPr kumimoji="1" lang="ja-JP" altLang="en-US">
                <a:latin typeface="游明朝"/>
                <a:ea typeface="游明朝"/>
              </a:rPr>
              <a:t>り前提条件</a:t>
            </a:r>
          </a:p>
        </p:txBody>
      </p:sp>
      <p:sp>
        <p:nvSpPr>
          <p:cNvPr id="4" name="フッター プレースホルダー 3">
            <a:extLst>
              <a:ext uri="{FF2B5EF4-FFF2-40B4-BE49-F238E27FC236}">
                <a16:creationId xmlns:a16="http://schemas.microsoft.com/office/drawing/2014/main" id="{B9A0B4E4-BDD5-929C-7738-7C7D2D817C1D}"/>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6AE8CC45-2A20-B6E7-E20B-802E66F6B3D5}"/>
              </a:ext>
            </a:extLst>
          </p:cNvPr>
          <p:cNvSpPr txBox="1">
            <a:spLocks/>
          </p:cNvSpPr>
          <p:nvPr/>
        </p:nvSpPr>
        <p:spPr>
          <a:xfrm>
            <a:off x="576000" y="936000"/>
            <a:ext cx="11052000" cy="403192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a:latin typeface="+mn-ea"/>
                <a:ea typeface="+mn-ea"/>
              </a:rPr>
              <a:t>お見積り金額はすべて税抜きでの記載となります。</a:t>
            </a:r>
            <a:endParaRPr lang="ja-JP" altLang="en-US" sz="1400" b="0" i="0" u="none" strike="noStrike" baseline="0">
              <a:solidFill>
                <a:srgbClr val="000000"/>
              </a:solidFill>
              <a:latin typeface="+mn-ea"/>
              <a:ea typeface="+mn-ea"/>
            </a:endParaRPr>
          </a:p>
          <a:p>
            <a:r>
              <a:rPr lang="ja-JP" altLang="en-US" sz="1400">
                <a:solidFill>
                  <a:srgbClr val="FF0000"/>
                </a:solidFill>
                <a:latin typeface="+mn-ea"/>
                <a:ea typeface="+mn-ea"/>
              </a:rPr>
              <a:t>下記については本お見積もりには含まれておりません。</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モバイル・タブレット対応</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脆弱性診断の実施費用</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データ移行</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ハードウェア、ネットワーク、ミドルウェア、クラウド環境の調達費用および利用料、設定作業等</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既存マクロ</a:t>
            </a:r>
            <a:r>
              <a:rPr lang="en-US" altLang="ja-JP" sz="1400">
                <a:solidFill>
                  <a:srgbClr val="FF0000"/>
                </a:solidFill>
                <a:latin typeface="+mn-ea"/>
                <a:ea typeface="+mn-ea"/>
              </a:rPr>
              <a:t>(VBA</a:t>
            </a:r>
            <a:r>
              <a:rPr lang="ja-JP" altLang="en-US" sz="1400">
                <a:solidFill>
                  <a:srgbClr val="FF0000"/>
                </a:solidFill>
                <a:latin typeface="+mn-ea"/>
                <a:ea typeface="+mn-ea"/>
              </a:rPr>
              <a:t>等</a:t>
            </a:r>
            <a:r>
              <a:rPr lang="en-US" altLang="ja-JP" sz="1400">
                <a:solidFill>
                  <a:srgbClr val="FF0000"/>
                </a:solidFill>
                <a:latin typeface="+mn-ea"/>
                <a:ea typeface="+mn-ea"/>
              </a:rPr>
              <a:t>)</a:t>
            </a:r>
            <a:r>
              <a:rPr lang="ja-JP" altLang="en-US" sz="1400">
                <a:solidFill>
                  <a:srgbClr val="FF0000"/>
                </a:solidFill>
                <a:latin typeface="+mn-ea"/>
                <a:ea typeface="+mn-ea"/>
              </a:rPr>
              <a:t>の改修・移行</a:t>
            </a:r>
            <a:endParaRPr lang="en-US" altLang="ja-JP" sz="1400">
              <a:solidFill>
                <a:srgbClr val="FF0000"/>
              </a:solidFill>
              <a:latin typeface="+mn-ea"/>
              <a:ea typeface="+mn-ea"/>
            </a:endParaRPr>
          </a:p>
          <a:p>
            <a:pPr lvl="1">
              <a:buFont typeface="Wingdings" panose="05000000000000000000" pitchFamily="2" charset="2"/>
              <a:buChar char="ü"/>
            </a:pPr>
            <a:r>
              <a:rPr lang="ja-JP" altLang="en-US" sz="1400">
                <a:solidFill>
                  <a:srgbClr val="FF0000"/>
                </a:solidFill>
                <a:latin typeface="+mn-ea"/>
                <a:ea typeface="+mn-ea"/>
              </a:rPr>
              <a:t>既存バッチ</a:t>
            </a:r>
            <a:r>
              <a:rPr lang="ja-JP" altLang="en-US" sz="1400">
                <a:solidFill>
                  <a:srgbClr val="FF0000"/>
                </a:solidFill>
                <a:latin typeface="+mn-ea"/>
              </a:rPr>
              <a:t>の改修・移行</a:t>
            </a:r>
            <a:endParaRPr lang="en-US" altLang="ja-JP" sz="1400">
              <a:solidFill>
                <a:srgbClr val="FF0000"/>
              </a:solidFill>
              <a:latin typeface="+mn-ea"/>
              <a:ea typeface="+mn-ea"/>
            </a:endParaRPr>
          </a:p>
          <a:p>
            <a:r>
              <a:rPr lang="ja-JP" altLang="en-US" sz="1400">
                <a:latin typeface="+mn-ea"/>
                <a:ea typeface="+mn-ea"/>
              </a:rPr>
              <a:t>ドキュメントは弊社フォーマットでの作成を前提とし、別フォーマットで作成する場合は別途協議といたします。</a:t>
            </a:r>
          </a:p>
          <a:p>
            <a:r>
              <a:rPr lang="ja-JP" altLang="en-US" sz="1400">
                <a:latin typeface="+mn-ea"/>
                <a:ea typeface="+mn-ea"/>
              </a:rPr>
              <a:t>作業場所は、打合せを除き、原則弊社オフィス内（在宅勤務含む）といたします。</a:t>
            </a:r>
            <a:endParaRPr lang="en-US" altLang="ja-JP" sz="1400">
              <a:latin typeface="+mn-ea"/>
              <a:ea typeface="+mn-ea"/>
            </a:endParaRPr>
          </a:p>
          <a:p>
            <a:r>
              <a:rPr lang="ja-JP" altLang="en-US" sz="1400">
                <a:latin typeface="+mn-ea"/>
                <a:ea typeface="+mn-ea"/>
              </a:rPr>
              <a:t>東京２３区以外でのオフィスや事業所等での作業につきましては、交通費・宿泊費を別途ご請求といたします。</a:t>
            </a:r>
            <a:endParaRPr lang="en-US" altLang="ja-JP" sz="1400">
              <a:latin typeface="+mn-ea"/>
              <a:ea typeface="+mn-ea"/>
            </a:endParaRPr>
          </a:p>
          <a:p>
            <a:r>
              <a:rPr lang="ja-JP" altLang="en-US" sz="1400">
                <a:latin typeface="+mn-ea"/>
                <a:ea typeface="+mn-ea"/>
              </a:rPr>
              <a:t>瑕疵担保責任期間は検収日より１年間とします。（検収日より</a:t>
            </a:r>
            <a:r>
              <a:rPr lang="en-US" altLang="ja-JP" sz="1400">
                <a:latin typeface="+mn-ea"/>
                <a:ea typeface="+mn-ea"/>
              </a:rPr>
              <a:t>1</a:t>
            </a:r>
            <a:r>
              <a:rPr lang="ja-JP" altLang="en-US" sz="1400">
                <a:latin typeface="+mn-ea"/>
                <a:ea typeface="+mn-ea"/>
              </a:rPr>
              <a:t>年間に限り契約不適合責任を追及できることとします。）</a:t>
            </a:r>
            <a:endParaRPr lang="en-US" altLang="ja-JP" sz="1400">
              <a:latin typeface="+mn-ea"/>
              <a:ea typeface="+mn-ea"/>
            </a:endParaRPr>
          </a:p>
          <a:p>
            <a:r>
              <a:rPr lang="ja-JP" altLang="en-US" sz="1400">
                <a:latin typeface="+mn-ea"/>
                <a:ea typeface="+mn-ea"/>
              </a:rPr>
              <a:t>作業の一部を弊社パートナー会社へ再委託させていただく場合がございます。再委託先は、弊社グループ会社であるシステムエグゼベトナムを含みます。</a:t>
            </a:r>
            <a:endParaRPr lang="en-US" altLang="ja-JP" sz="1400">
              <a:latin typeface="+mn-ea"/>
              <a:ea typeface="+mn-ea"/>
            </a:endParaRPr>
          </a:p>
          <a:p>
            <a:r>
              <a:rPr lang="ja-JP" altLang="en-US" sz="1400">
                <a:latin typeface="+mn-ea"/>
                <a:ea typeface="+mn-ea"/>
              </a:rPr>
              <a:t>上記諸条件および本提案書に記載のない諸条件</a:t>
            </a:r>
            <a:r>
              <a:rPr lang="en-US" altLang="ja-JP" sz="1400">
                <a:latin typeface="+mn-ea"/>
                <a:ea typeface="+mn-ea"/>
              </a:rPr>
              <a:t>/</a:t>
            </a:r>
            <a:r>
              <a:rPr lang="ja-JP" altLang="en-US" sz="1400">
                <a:latin typeface="+mn-ea"/>
                <a:ea typeface="+mn-ea"/>
              </a:rPr>
              <a:t>作業内容につきましては、別途ご相談の上、決定させていただきます。</a:t>
            </a:r>
            <a:endParaRPr lang="en-US" altLang="ja-JP" sz="1400">
              <a:latin typeface="+mn-ea"/>
              <a:ea typeface="+mn-ea"/>
            </a:endParaRPr>
          </a:p>
        </p:txBody>
      </p:sp>
      <p:sp>
        <p:nvSpPr>
          <p:cNvPr id="3" name="スライド番号プレースホルダー 3">
            <a:extLst>
              <a:ext uri="{FF2B5EF4-FFF2-40B4-BE49-F238E27FC236}">
                <a16:creationId xmlns:a16="http://schemas.microsoft.com/office/drawing/2014/main" id="{4F9FFC9A-15D2-3D18-639E-0C85624B9EF0}"/>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27</a:t>
            </a:fld>
            <a:endParaRPr kumimoji="1" lang="ja-JP" altLang="en-US" sz="700"/>
          </a:p>
        </p:txBody>
      </p:sp>
    </p:spTree>
    <p:extLst>
      <p:ext uri="{BB962C8B-B14F-4D97-AF65-F5344CB8AC3E}">
        <p14:creationId xmlns:p14="http://schemas.microsoft.com/office/powerpoint/2010/main" val="2513257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007898E-48FB-2BC5-5EB1-090B080FB6DC}"/>
              </a:ext>
            </a:extLst>
          </p:cNvPr>
          <p:cNvSpPr>
            <a:spLocks noGrp="1"/>
          </p:cNvSpPr>
          <p:nvPr>
            <p:ph type="ftr" sz="quarter" idx="11"/>
          </p:nvPr>
        </p:nvSpPr>
        <p:spPr/>
        <p:txBody>
          <a:bodyPr/>
          <a:lstStyle/>
          <a:p>
            <a:r>
              <a:rPr lang="en-US"/>
              <a:t>Copyright © SystemEXE,Inc All Rights Reserved.</a:t>
            </a:r>
          </a:p>
        </p:txBody>
      </p:sp>
      <p:sp>
        <p:nvSpPr>
          <p:cNvPr id="3" name="タイトル 2">
            <a:extLst>
              <a:ext uri="{FF2B5EF4-FFF2-40B4-BE49-F238E27FC236}">
                <a16:creationId xmlns:a16="http://schemas.microsoft.com/office/drawing/2014/main" id="{E314A2DD-299E-0C12-F684-BAB0EB6A29D8}"/>
              </a:ext>
            </a:extLst>
          </p:cNvPr>
          <p:cNvSpPr>
            <a:spLocks noGrp="1"/>
          </p:cNvSpPr>
          <p:nvPr>
            <p:ph type="title"/>
          </p:nvPr>
        </p:nvSpPr>
        <p:spPr/>
        <p:txBody>
          <a:bodyPr/>
          <a:lstStyle/>
          <a:p>
            <a:r>
              <a:rPr kumimoji="1" lang="ja-JP" altLang="ja-JP" sz="3200" b="0" kern="1200">
                <a:solidFill>
                  <a:srgbClr val="9A3B5D"/>
                </a:solidFill>
                <a:effectLst/>
                <a:latin typeface="游明朝" panose="02020400000000000000" pitchFamily="18" charset="-128"/>
                <a:ea typeface="游明朝" panose="02020400000000000000" pitchFamily="18" charset="-128"/>
                <a:cs typeface="+mj-cs"/>
              </a:rPr>
              <a:t>弊社情報</a:t>
            </a:r>
            <a:endParaRPr kumimoji="1" lang="ja-JP" altLang="en-US"/>
          </a:p>
        </p:txBody>
      </p:sp>
    </p:spTree>
    <p:extLst>
      <p:ext uri="{BB962C8B-B14F-4D97-AF65-F5344CB8AC3E}">
        <p14:creationId xmlns:p14="http://schemas.microsoft.com/office/powerpoint/2010/main" val="14380392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C62C3-9372-E805-89F1-55BE7F66CB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648F7D-D578-7FB0-AA31-AB55F9D40891}"/>
              </a:ext>
            </a:extLst>
          </p:cNvPr>
          <p:cNvSpPr>
            <a:spLocks noGrp="1"/>
          </p:cNvSpPr>
          <p:nvPr>
            <p:ph type="title"/>
          </p:nvPr>
        </p:nvSpPr>
        <p:spPr/>
        <p:txBody>
          <a:bodyPr/>
          <a:lstStyle/>
          <a:p>
            <a:r>
              <a:rPr lang="en-US" altLang="ja-JP">
                <a:latin typeface="游明朝"/>
                <a:ea typeface="游明朝"/>
              </a:rPr>
              <a:t>7-1</a:t>
            </a:r>
            <a:r>
              <a:rPr lang="ja-JP" altLang="en-US">
                <a:latin typeface="游明朝"/>
                <a:ea typeface="游明朝"/>
              </a:rPr>
              <a:t>．弊社概要①</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2BECB683-AE78-7FFC-069B-EF8F249FDAAB}"/>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FC122E66-C7F4-2D7E-63C5-B19558C8919C}"/>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29</a:t>
            </a:fld>
            <a:endParaRPr kumimoji="1" lang="ja-JP" altLang="en-US" sz="700"/>
          </a:p>
        </p:txBody>
      </p:sp>
      <p:graphicFrame>
        <p:nvGraphicFramePr>
          <p:cNvPr id="4" name="コンテンツ プレースホルダー 7">
            <a:extLst>
              <a:ext uri="{FF2B5EF4-FFF2-40B4-BE49-F238E27FC236}">
                <a16:creationId xmlns:a16="http://schemas.microsoft.com/office/drawing/2014/main" id="{795F264D-352A-14F7-3305-B89F47D53D80}"/>
              </a:ext>
            </a:extLst>
          </p:cNvPr>
          <p:cNvGraphicFramePr>
            <a:graphicFrameLocks/>
          </p:cNvGraphicFramePr>
          <p:nvPr>
            <p:extLst>
              <p:ext uri="{D42A27DB-BD31-4B8C-83A1-F6EECF244321}">
                <p14:modId xmlns:p14="http://schemas.microsoft.com/office/powerpoint/2010/main" val="1022728516"/>
              </p:ext>
            </p:extLst>
          </p:nvPr>
        </p:nvGraphicFramePr>
        <p:xfrm>
          <a:off x="508722" y="993608"/>
          <a:ext cx="5861545" cy="5184000"/>
        </p:xfrm>
        <a:graphic>
          <a:graphicData uri="http://schemas.openxmlformats.org/drawingml/2006/table">
            <a:tbl>
              <a:tblPr firstRow="1" bandRow="1"/>
              <a:tblGrid>
                <a:gridCol w="1440000">
                  <a:extLst>
                    <a:ext uri="{9D8B030D-6E8A-4147-A177-3AD203B41FA5}">
                      <a16:colId xmlns:a16="http://schemas.microsoft.com/office/drawing/2014/main" val="3234578392"/>
                    </a:ext>
                  </a:extLst>
                </a:gridCol>
                <a:gridCol w="1482635">
                  <a:extLst>
                    <a:ext uri="{9D8B030D-6E8A-4147-A177-3AD203B41FA5}">
                      <a16:colId xmlns:a16="http://schemas.microsoft.com/office/drawing/2014/main" val="3687508247"/>
                    </a:ext>
                  </a:extLst>
                </a:gridCol>
                <a:gridCol w="1149131">
                  <a:extLst>
                    <a:ext uri="{9D8B030D-6E8A-4147-A177-3AD203B41FA5}">
                      <a16:colId xmlns:a16="http://schemas.microsoft.com/office/drawing/2014/main" val="1416225269"/>
                    </a:ext>
                  </a:extLst>
                </a:gridCol>
                <a:gridCol w="1789779">
                  <a:extLst>
                    <a:ext uri="{9D8B030D-6E8A-4147-A177-3AD203B41FA5}">
                      <a16:colId xmlns:a16="http://schemas.microsoft.com/office/drawing/2014/main" val="2608253652"/>
                    </a:ext>
                  </a:extLst>
                </a:gridCol>
              </a:tblGrid>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商号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株式会社システムエグゼ</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967273096"/>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本社所在地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a:t>
                      </a:r>
                      <a:r>
                        <a:rPr kumimoji="1" lang="en-US" altLang="ja-JP" sz="1400">
                          <a:latin typeface="+mn-ea"/>
                          <a:ea typeface="+mn-ea"/>
                        </a:rPr>
                        <a:t>103-0022</a:t>
                      </a:r>
                    </a:p>
                    <a:p>
                      <a:r>
                        <a:rPr kumimoji="1" lang="ja-JP" altLang="en-US" sz="1400">
                          <a:latin typeface="+mn-ea"/>
                          <a:ea typeface="+mn-ea"/>
                        </a:rPr>
                        <a:t>東京都中央区日本橋室町三丁目４番４号</a:t>
                      </a:r>
                      <a:endParaRPr kumimoji="1" lang="en-US" altLang="ja-JP" sz="1400">
                        <a:latin typeface="+mn-ea"/>
                        <a:ea typeface="+mn-ea"/>
                      </a:endParaRPr>
                    </a:p>
                    <a:p>
                      <a:r>
                        <a:rPr kumimoji="1" lang="ja-JP" altLang="en-US" sz="1400">
                          <a:latin typeface="+mn-ea"/>
                          <a:ea typeface="+mn-ea"/>
                        </a:rPr>
                        <a:t>ＯＶＯＬ日本橋ビル７階</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hMerge="1">
                  <a:txBody>
                    <a:bodyPr/>
                    <a:lstStyle/>
                    <a:p>
                      <a:endParaRPr kumimoji="1" lang="ja-JP" altLang="en-US" sz="1600">
                        <a:latin typeface="游ゴシック" panose="020B0400000000000000" pitchFamily="50" charset="-128"/>
                        <a:ea typeface="游ゴシック" panose="020B0400000000000000" pitchFamily="50" charset="-128"/>
                      </a:endParaRPr>
                    </a:p>
                  </a:txBody>
                  <a:tcPr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533683915"/>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電話番号</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en-US" altLang="ja-JP" sz="1400">
                          <a:latin typeface="+mn-ea"/>
                          <a:ea typeface="+mn-ea"/>
                        </a:rPr>
                        <a:t>03-5299-5351</a:t>
                      </a:r>
                      <a:r>
                        <a:rPr kumimoji="1" lang="ja-JP" altLang="en-US" sz="1400">
                          <a:latin typeface="+mn-ea"/>
                          <a:ea typeface="+mn-ea"/>
                        </a:rPr>
                        <a:t>（代表）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endParaRPr kumimoji="1" lang="ja-JP" altLang="en-US" sz="16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361790"/>
                  </a:ext>
                </a:extLst>
              </a:tr>
              <a:tr h="864000">
                <a:tc>
                  <a:txBody>
                    <a:bodyPr/>
                    <a:lstStyle/>
                    <a:p>
                      <a:r>
                        <a:rPr kumimoji="1" lang="ja-JP" altLang="en-US" sz="1400">
                          <a:latin typeface="+mn-ea"/>
                          <a:ea typeface="+mn-ea"/>
                        </a:rPr>
                        <a:t>ホームページ</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gridSpan="3">
                  <a:txBody>
                    <a:bodyPr/>
                    <a:lstStyle/>
                    <a:p>
                      <a:r>
                        <a:rPr kumimoji="1" lang="en-US" altLang="ja-JP" sz="1400">
                          <a:latin typeface="+mn-ea"/>
                          <a:ea typeface="+mn-ea"/>
                        </a:rPr>
                        <a:t>https://www.system-exe.co.jp/</a:t>
                      </a:r>
                      <a:endParaRPr kumimoji="1" lang="ja-JP" altLang="en-US"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hMerge="1">
                  <a:txBody>
                    <a:bodyPr/>
                    <a:lstStyle/>
                    <a:p>
                      <a:endParaRPr kumimoji="1" lang="ja-JP" altLang="en-US"/>
                    </a:p>
                  </a:txBody>
                  <a:tcP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266838"/>
                  </a:ext>
                </a:extLst>
              </a:tr>
              <a:tr h="864000">
                <a:tc>
                  <a:txBody>
                    <a:bodyPr/>
                    <a:lstStyle/>
                    <a:p>
                      <a:r>
                        <a:rPr kumimoji="1" lang="ja-JP" altLang="en-US" sz="1400">
                          <a:latin typeface="+mn-ea"/>
                          <a:ea typeface="+mn-ea"/>
                        </a:rPr>
                        <a:t>設立</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1998</a:t>
                      </a:r>
                      <a:r>
                        <a:rPr kumimoji="1" lang="ja-JP" altLang="en-US" sz="1400">
                          <a:latin typeface="+mn-ea"/>
                          <a:ea typeface="+mn-ea"/>
                        </a:rPr>
                        <a:t>年</a:t>
                      </a:r>
                      <a:r>
                        <a:rPr kumimoji="1" lang="en-US" altLang="ja-JP" sz="1400">
                          <a:latin typeface="+mn-ea"/>
                          <a:ea typeface="+mn-ea"/>
                        </a:rPr>
                        <a:t>2</a:t>
                      </a:r>
                      <a:r>
                        <a:rPr kumimoji="1" lang="ja-JP" altLang="en-US" sz="1400">
                          <a:latin typeface="+mn-ea"/>
                          <a:ea typeface="+mn-ea"/>
                        </a:rPr>
                        <a:t>月</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資本金</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4</a:t>
                      </a:r>
                      <a:r>
                        <a:rPr kumimoji="1" lang="ja-JP" altLang="en-US" sz="1400">
                          <a:latin typeface="+mn-ea"/>
                          <a:ea typeface="+mn-ea"/>
                        </a:rPr>
                        <a:t>億</a:t>
                      </a:r>
                      <a:r>
                        <a:rPr kumimoji="1" lang="en-US" altLang="ja-JP" sz="1400">
                          <a:latin typeface="+mn-ea"/>
                          <a:ea typeface="+mn-ea"/>
                        </a:rPr>
                        <a:t>7</a:t>
                      </a:r>
                      <a:r>
                        <a:rPr kumimoji="1" lang="ja-JP" altLang="en-US" sz="1400">
                          <a:latin typeface="+mn-ea"/>
                          <a:ea typeface="+mn-ea"/>
                        </a:rPr>
                        <a:t>千</a:t>
                      </a:r>
                      <a:r>
                        <a:rPr kumimoji="1" lang="en-US" altLang="ja-JP" sz="1400">
                          <a:latin typeface="+mn-ea"/>
                          <a:ea typeface="+mn-ea"/>
                        </a:rPr>
                        <a:t>5</a:t>
                      </a:r>
                      <a:r>
                        <a:rPr kumimoji="1" lang="ja-JP" altLang="en-US" sz="1400">
                          <a:latin typeface="+mn-ea"/>
                          <a:ea typeface="+mn-ea"/>
                        </a:rPr>
                        <a:t>百万円</a:t>
                      </a:r>
                      <a:endParaRPr kumimoji="1" lang="en-US" altLang="ja-JP" sz="1400">
                        <a:latin typeface="+mn-ea"/>
                        <a:ea typeface="+mn-ea"/>
                      </a:endParaRP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3163110"/>
                  </a:ext>
                </a:extLst>
              </a:tr>
              <a:tr h="864000">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代表者</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r>
                        <a:rPr kumimoji="1" lang="ja-JP" altLang="en-US" sz="1400">
                          <a:latin typeface="+mn-ea"/>
                          <a:ea typeface="+mn-ea"/>
                        </a:rPr>
                        <a:t>大場 康次</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ja-JP" altLang="en-US" sz="1400">
                          <a:latin typeface="+mn-ea"/>
                          <a:ea typeface="+mn-ea"/>
                        </a:rPr>
                        <a:t>従業員数</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solidFill>
                      <a:srgbClr val="A5A5A5">
                        <a:lumMod val="20000"/>
                        <a:lumOff val="80000"/>
                      </a:srgbClr>
                    </a:solidFill>
                  </a:tcPr>
                </a:tc>
                <a:tc>
                  <a:txBody>
                    <a:bodyPr/>
                    <a:lstStyle/>
                    <a:p>
                      <a:r>
                        <a:rPr kumimoji="1" lang="en-US" altLang="ja-JP" sz="1400">
                          <a:latin typeface="+mn-ea"/>
                          <a:ea typeface="+mn-ea"/>
                        </a:rPr>
                        <a:t>701</a:t>
                      </a:r>
                      <a:r>
                        <a:rPr kumimoji="1" lang="ja-JP" altLang="en-US" sz="1400">
                          <a:latin typeface="+mn-ea"/>
                          <a:ea typeface="+mn-ea"/>
                        </a:rPr>
                        <a:t>名</a:t>
                      </a:r>
                      <a:endParaRPr kumimoji="1" lang="en-US" altLang="ja-JP" sz="1400">
                        <a:latin typeface="+mn-ea"/>
                        <a:ea typeface="+mn-ea"/>
                      </a:endParaRPr>
                    </a:p>
                    <a:p>
                      <a:r>
                        <a:rPr kumimoji="1" lang="ja-JP" altLang="en-US" sz="1200">
                          <a:latin typeface="+mn-ea"/>
                          <a:ea typeface="+mn-ea"/>
                        </a:rPr>
                        <a:t>（</a:t>
                      </a:r>
                      <a:r>
                        <a:rPr kumimoji="1" lang="en-US" altLang="ja-JP" sz="1200">
                          <a:latin typeface="+mn-ea"/>
                          <a:ea typeface="+mn-ea"/>
                        </a:rPr>
                        <a:t>2025</a:t>
                      </a:r>
                      <a:r>
                        <a:rPr kumimoji="1" lang="ja-JP" altLang="en-US" sz="1200">
                          <a:latin typeface="+mn-ea"/>
                          <a:ea typeface="+mn-ea"/>
                        </a:rPr>
                        <a:t>年</a:t>
                      </a:r>
                      <a:r>
                        <a:rPr kumimoji="1" lang="en-US" altLang="ja-JP" sz="1200">
                          <a:latin typeface="+mn-ea"/>
                          <a:ea typeface="+mn-ea"/>
                        </a:rPr>
                        <a:t>5</a:t>
                      </a:r>
                      <a:r>
                        <a:rPr kumimoji="1" lang="ja-JP" altLang="en-US" sz="1200">
                          <a:latin typeface="+mn-ea"/>
                          <a:ea typeface="+mn-ea"/>
                        </a:rPr>
                        <a:t>月</a:t>
                      </a:r>
                      <a:r>
                        <a:rPr kumimoji="1" lang="en-US" altLang="ja-JP" sz="1200">
                          <a:latin typeface="+mn-ea"/>
                          <a:ea typeface="+mn-ea"/>
                        </a:rPr>
                        <a:t>1</a:t>
                      </a:r>
                      <a:r>
                        <a:rPr kumimoji="1" lang="ja-JP" altLang="en-US" sz="1200">
                          <a:latin typeface="+mn-ea"/>
                          <a:ea typeface="+mn-ea"/>
                        </a:rPr>
                        <a:t>日現在）</a:t>
                      </a:r>
                    </a:p>
                  </a:txBody>
                  <a:tcPr anchor="ctr">
                    <a:lnL w="6350" cap="flat" cmpd="sng" algn="ctr">
                      <a:solidFill>
                        <a:srgbClr val="A5A5A5"/>
                      </a:solidFill>
                      <a:prstDash val="solid"/>
                      <a:round/>
                      <a:headEnd type="none" w="med" len="med"/>
                      <a:tailEnd type="none" w="med" len="med"/>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0855461"/>
                  </a:ext>
                </a:extLst>
              </a:tr>
            </a:tbl>
          </a:graphicData>
        </a:graphic>
      </p:graphicFrame>
      <p:graphicFrame>
        <p:nvGraphicFramePr>
          <p:cNvPr id="171" name="表 170">
            <a:extLst>
              <a:ext uri="{FF2B5EF4-FFF2-40B4-BE49-F238E27FC236}">
                <a16:creationId xmlns:a16="http://schemas.microsoft.com/office/drawing/2014/main" id="{21C6665E-5DC8-1874-110A-64F4062E7D0A}"/>
              </a:ext>
            </a:extLst>
          </p:cNvPr>
          <p:cNvGraphicFramePr>
            <a:graphicFrameLocks noGrp="1"/>
          </p:cNvGraphicFramePr>
          <p:nvPr>
            <p:extLst>
              <p:ext uri="{D42A27DB-BD31-4B8C-83A1-F6EECF244321}">
                <p14:modId xmlns:p14="http://schemas.microsoft.com/office/powerpoint/2010/main" val="13753183"/>
              </p:ext>
            </p:extLst>
          </p:nvPr>
        </p:nvGraphicFramePr>
        <p:xfrm>
          <a:off x="6705737" y="993608"/>
          <a:ext cx="4911463" cy="5348880"/>
        </p:xfrm>
        <a:graphic>
          <a:graphicData uri="http://schemas.openxmlformats.org/drawingml/2006/table">
            <a:tbl>
              <a:tblPr>
                <a:tableStyleId>{5C22544A-7EE6-4342-B048-85BDC9FD1C3A}</a:tableStyleId>
              </a:tblPr>
              <a:tblGrid>
                <a:gridCol w="1373034">
                  <a:extLst>
                    <a:ext uri="{9D8B030D-6E8A-4147-A177-3AD203B41FA5}">
                      <a16:colId xmlns:a16="http://schemas.microsoft.com/office/drawing/2014/main" val="20000"/>
                    </a:ext>
                  </a:extLst>
                </a:gridCol>
                <a:gridCol w="3538429">
                  <a:extLst>
                    <a:ext uri="{9D8B030D-6E8A-4147-A177-3AD203B41FA5}">
                      <a16:colId xmlns:a16="http://schemas.microsoft.com/office/drawing/2014/main" val="20001"/>
                    </a:ext>
                  </a:extLst>
                </a:gridCol>
              </a:tblGrid>
              <a:tr h="236880">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latin typeface="+mn-ea"/>
                          <a:ea typeface="+mn-ea"/>
                          <a:cs typeface="Meiryo" charset="-128"/>
                        </a:rPr>
                        <a:t>拠</a:t>
                      </a:r>
                      <a:r>
                        <a:rPr kumimoji="1" lang="en-US" altLang="ja-JP" sz="1200" b="0" i="0">
                          <a:latin typeface="+mn-ea"/>
                          <a:ea typeface="+mn-ea"/>
                          <a:cs typeface="Meiryo" charset="-128"/>
                        </a:rPr>
                        <a:t> </a:t>
                      </a:r>
                      <a:r>
                        <a:rPr kumimoji="1" lang="ja-JP" altLang="en-US" sz="1200" b="0" i="0">
                          <a:latin typeface="+mn-ea"/>
                          <a:ea typeface="+mn-ea"/>
                          <a:cs typeface="Meiryo" charset="-128"/>
                        </a:rPr>
                        <a:t>点</a:t>
                      </a:r>
                      <a:r>
                        <a:rPr kumimoji="1" lang="en-US" altLang="ja-JP" sz="1200" b="0" i="0">
                          <a:latin typeface="+mn-ea"/>
                          <a:ea typeface="+mn-ea"/>
                          <a:cs typeface="Meiryo" charset="-128"/>
                        </a:rPr>
                        <a:t> </a:t>
                      </a:r>
                      <a:r>
                        <a:rPr kumimoji="1" lang="ja-JP" altLang="en-US" sz="1200" b="0" i="0">
                          <a:latin typeface="+mn-ea"/>
                          <a:ea typeface="+mn-ea"/>
                          <a:cs typeface="Meiryo" charset="-128"/>
                        </a:rPr>
                        <a:t>一</a:t>
                      </a:r>
                      <a:r>
                        <a:rPr kumimoji="1" lang="en-US" altLang="ja-JP" sz="1200" b="0" i="0">
                          <a:latin typeface="+mn-ea"/>
                          <a:ea typeface="+mn-ea"/>
                          <a:cs typeface="Meiryo" charset="-128"/>
                        </a:rPr>
                        <a:t> </a:t>
                      </a:r>
                      <a:r>
                        <a:rPr kumimoji="1" lang="ja-JP" altLang="en-US" sz="1200" b="0" i="0">
                          <a:latin typeface="+mn-ea"/>
                          <a:ea typeface="+mn-ea"/>
                          <a:cs typeface="Meiryo" charset="-128"/>
                        </a:rPr>
                        <a:t>覧：</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just"/>
                      <a:endParaRPr kumimoji="1" lang="ja-JP" altLang="en-US" sz="900" b="0" i="0">
                        <a:latin typeface="Meiryo UI" charset="-128"/>
                        <a:ea typeface="Meiryo UI" charset="-128"/>
                        <a:cs typeface="Meiryo UI" charset="-128"/>
                      </a:endParaRPr>
                    </a:p>
                  </a:txBody>
                  <a:tcPr marL="0" marR="0" marT="90000" marB="90000">
                    <a:solidFill>
                      <a:schemeClr val="bg1"/>
                    </a:solidFill>
                  </a:tcPr>
                </a:tc>
                <a:extLst>
                  <a:ext uri="{0D108BD9-81ED-4DB2-BD59-A6C34878D82A}">
                    <a16:rowId xmlns:a16="http://schemas.microsoft.com/office/drawing/2014/main" val="10000"/>
                  </a:ext>
                </a:extLst>
              </a:tr>
              <a:tr h="485190">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本社</a:t>
                      </a:r>
                      <a:endParaRPr kumimoji="1" lang="en-US" altLang="ja-JP" sz="1200" b="0" i="0">
                        <a:solidFill>
                          <a:srgbClr val="323232"/>
                        </a:solidFill>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103-0022</a:t>
                      </a:r>
                    </a:p>
                    <a:p>
                      <a:pPr marL="0" marR="0" indent="0" algn="l" defTabSz="914400" rtl="0" eaLnBrk="1" fontAlgn="auto" latinLnBrk="0" hangingPunct="1">
                        <a:lnSpc>
                          <a:spcPct val="100000"/>
                        </a:lnSpc>
                        <a:spcBef>
                          <a:spcPts val="0"/>
                        </a:spcBef>
                        <a:spcAft>
                          <a:spcPts val="0"/>
                        </a:spcAft>
                        <a:buClrTx/>
                        <a:buSzTx/>
                        <a:buFontTx/>
                        <a:buNone/>
                        <a:tabLst/>
                        <a:defRPr/>
                      </a:pPr>
                      <a:r>
                        <a:rPr kumimoji="1" lang="zh-TW" altLang="en-US" sz="1200" b="0" i="0" kern="1200">
                          <a:solidFill>
                            <a:srgbClr val="323232"/>
                          </a:solidFill>
                          <a:effectLst/>
                          <a:latin typeface="+mn-ea"/>
                          <a:ea typeface="+mn-ea"/>
                          <a:cs typeface="Meiryo" charset="-128"/>
                        </a:rPr>
                        <a:t>東京都中央区日本橋室町</a:t>
                      </a:r>
                      <a:r>
                        <a:rPr kumimoji="1" lang="en-US" altLang="zh-TW" sz="1200" b="0" i="0" kern="1200">
                          <a:solidFill>
                            <a:srgbClr val="323232"/>
                          </a:solidFill>
                          <a:effectLst/>
                          <a:latin typeface="+mn-ea"/>
                          <a:ea typeface="+mn-ea"/>
                          <a:cs typeface="Meiryo" charset="-128"/>
                        </a:rPr>
                        <a:t>3</a:t>
                      </a:r>
                      <a:r>
                        <a:rPr kumimoji="1" lang="en-US" altLang="ja-JP" sz="1200" b="0" i="0" kern="1200">
                          <a:solidFill>
                            <a:srgbClr val="323232"/>
                          </a:solidFill>
                          <a:effectLst/>
                          <a:latin typeface="+mn-ea"/>
                          <a:ea typeface="+mn-ea"/>
                          <a:cs typeface="Meiryo" charset="-128"/>
                        </a:rPr>
                        <a:t>-4-4</a:t>
                      </a:r>
                      <a:r>
                        <a:rPr kumimoji="1" lang="ja-JP" altLang="en-US" sz="1200" b="0" i="0" kern="1200">
                          <a:solidFill>
                            <a:srgbClr val="323232"/>
                          </a:solidFill>
                          <a:effectLst/>
                          <a:latin typeface="+mn-ea"/>
                          <a:ea typeface="+mn-ea"/>
                          <a:cs typeface="Meiryo" charset="-128"/>
                        </a:rPr>
                        <a:t>　</a:t>
                      </a:r>
                      <a:r>
                        <a:rPr kumimoji="1" lang="en-US" altLang="ja-JP" sz="1200" b="0" i="0" kern="1200" baseline="0">
                          <a:solidFill>
                            <a:srgbClr val="323232"/>
                          </a:solidFill>
                          <a:effectLst/>
                          <a:latin typeface="+mn-ea"/>
                          <a:ea typeface="+mn-ea"/>
                          <a:cs typeface="Meiryo" charset="-128"/>
                        </a:rPr>
                        <a:t>OVOL</a:t>
                      </a:r>
                      <a:r>
                        <a:rPr kumimoji="1" lang="ja-JP" altLang="en-US" sz="1200" b="0" i="0" kern="1200" baseline="0">
                          <a:solidFill>
                            <a:srgbClr val="323232"/>
                          </a:solidFill>
                          <a:effectLst/>
                          <a:latin typeface="+mn-ea"/>
                          <a:ea typeface="+mn-ea"/>
                          <a:cs typeface="Meiryo" charset="-128"/>
                        </a:rPr>
                        <a:t>日本橋ビル</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kern="1200">
                          <a:solidFill>
                            <a:srgbClr val="323232"/>
                          </a:solidFill>
                          <a:effectLst/>
                          <a:latin typeface="+mn-ea"/>
                          <a:ea typeface="+mn-ea"/>
                          <a:cs typeface="Meiryo" charset="-128"/>
                        </a:rPr>
                        <a:t>TEL: 03-5299-5351</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FAX: 03-5299-5354</a:t>
                      </a:r>
                      <a:endParaRPr kumimoji="1" lang="ja-JP" altLang="ja-JP" sz="1200" b="0" i="0" kern="1200">
                        <a:solidFill>
                          <a:srgbClr val="323232"/>
                        </a:solidFill>
                        <a:effectLst/>
                        <a:latin typeface="+mn-ea"/>
                        <a:ea typeface="+mn-ea"/>
                        <a:cs typeface="Meiryo" charset="-128"/>
                      </a:endParaRPr>
                    </a:p>
                  </a:txBody>
                  <a:tcPr marL="0" marR="0" marT="81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京橋オフィス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104-0032</a:t>
                      </a:r>
                      <a:br>
                        <a:rPr kumimoji="1" lang="en-US" altLang="ja-JP" sz="1200" b="0" i="0" kern="1200">
                          <a:solidFill>
                            <a:srgbClr val="323232"/>
                          </a:solidFill>
                          <a:effectLst/>
                          <a:latin typeface="+mn-ea"/>
                          <a:ea typeface="+mn-ea"/>
                          <a:cs typeface="Meiryo" charset="-128"/>
                        </a:rPr>
                      </a:br>
                      <a:r>
                        <a:rPr kumimoji="1" lang="ja-JP" altLang="en-US" sz="1200" b="0" i="0" kern="1200">
                          <a:solidFill>
                            <a:srgbClr val="323232"/>
                          </a:solidFill>
                          <a:effectLst/>
                          <a:latin typeface="+mn-ea"/>
                          <a:ea typeface="+mn-ea"/>
                          <a:cs typeface="Meiryo" charset="-128"/>
                        </a:rPr>
                        <a:t>東京都中央区八丁堀</a:t>
                      </a:r>
                      <a:r>
                        <a:rPr kumimoji="1" lang="en-US" altLang="ja-JP" sz="1200" b="0" i="0" kern="1200">
                          <a:solidFill>
                            <a:srgbClr val="323232"/>
                          </a:solidFill>
                          <a:effectLst/>
                          <a:latin typeface="+mn-ea"/>
                          <a:ea typeface="+mn-ea"/>
                          <a:cs typeface="Meiryo" charset="-128"/>
                        </a:rPr>
                        <a:t>4-3-3</a:t>
                      </a:r>
                      <a:r>
                        <a:rPr kumimoji="1" lang="ja-JP" altLang="en-US" sz="1200" b="0" i="0" kern="120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Daiwa</a:t>
                      </a:r>
                      <a:r>
                        <a:rPr kumimoji="1" lang="ja-JP" altLang="en-US" sz="1200" b="0" i="0" kern="1200">
                          <a:solidFill>
                            <a:srgbClr val="323232"/>
                          </a:solidFill>
                          <a:effectLst/>
                          <a:latin typeface="+mn-ea"/>
                          <a:ea typeface="+mn-ea"/>
                          <a:cs typeface="Meiryo" charset="-128"/>
                        </a:rPr>
                        <a:t>京橋ビル</a:t>
                      </a:r>
                      <a:r>
                        <a:rPr kumimoji="1" lang="en-US" altLang="ja-JP" sz="1200" b="0" i="0" kern="1200" baseline="0">
                          <a:solidFill>
                            <a:srgbClr val="323232"/>
                          </a:solidFill>
                          <a:effectLst/>
                          <a:latin typeface="+mn-ea"/>
                          <a:ea typeface="+mn-ea"/>
                          <a:cs typeface="Meiryo" charset="-128"/>
                        </a:rPr>
                        <a:t> </a:t>
                      </a:r>
                      <a:r>
                        <a:rPr kumimoji="1" lang="en-US" altLang="ja-JP" sz="1200" b="0" i="0" kern="1200">
                          <a:solidFill>
                            <a:srgbClr val="323232"/>
                          </a:solidFill>
                          <a:effectLst/>
                          <a:latin typeface="+mn-ea"/>
                          <a:ea typeface="+mn-ea"/>
                          <a:cs typeface="Meiryo" charset="-128"/>
                        </a:rPr>
                        <a:t>8</a:t>
                      </a:r>
                      <a:r>
                        <a:rPr kumimoji="1" lang="ja-JP" altLang="en-US" sz="1200" b="0" i="0" kern="1200">
                          <a:solidFill>
                            <a:srgbClr val="323232"/>
                          </a:solidFill>
                          <a:effectLst/>
                          <a:latin typeface="+mn-ea"/>
                          <a:ea typeface="+mn-ea"/>
                          <a:cs typeface="Meiryo" charset="-128"/>
                        </a:rPr>
                        <a:t>階</a:t>
                      </a:r>
                      <a:endParaRPr kumimoji="1" lang="ja-JP"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府中オフィス</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baseline="0">
                          <a:solidFill>
                            <a:srgbClr val="323232"/>
                          </a:solidFill>
                          <a:latin typeface="+mn-ea"/>
                          <a:ea typeface="+mn-ea"/>
                          <a:cs typeface="Meiryo" charset="-128"/>
                        </a:rPr>
                        <a:t>183-0056</a:t>
                      </a:r>
                    </a:p>
                    <a:p>
                      <a:pPr algn="l"/>
                      <a:r>
                        <a:rPr kumimoji="1" lang="ja-JP" altLang="en-US" sz="1200" b="0" i="0">
                          <a:solidFill>
                            <a:srgbClr val="323232"/>
                          </a:solidFill>
                          <a:latin typeface="+mn-ea"/>
                          <a:ea typeface="+mn-ea"/>
                          <a:cs typeface="Meiryo" charset="-128"/>
                        </a:rPr>
                        <a:t>東京都府中市寿町</a:t>
                      </a:r>
                      <a:r>
                        <a:rPr kumimoji="1" lang="en-US" altLang="ja-JP" sz="1200" b="0" i="0">
                          <a:solidFill>
                            <a:srgbClr val="323232"/>
                          </a:solidFill>
                          <a:latin typeface="+mn-ea"/>
                          <a:ea typeface="+mn-ea"/>
                          <a:cs typeface="Meiryo" charset="-128"/>
                        </a:rPr>
                        <a:t>1-1-3</a:t>
                      </a:r>
                      <a:r>
                        <a:rPr kumimoji="1" lang="ja-JP" altLang="en-US" sz="1200" b="0" i="0">
                          <a:solidFill>
                            <a:srgbClr val="323232"/>
                          </a:solidFill>
                          <a:latin typeface="+mn-ea"/>
                          <a:ea typeface="+mn-ea"/>
                          <a:cs typeface="Meiryo" charset="-128"/>
                        </a:rPr>
                        <a:t>　三ツ木寿町ビル </a:t>
                      </a:r>
                      <a:r>
                        <a:rPr kumimoji="1" lang="en-US" altLang="ja-JP" sz="1200" b="0" i="0">
                          <a:solidFill>
                            <a:srgbClr val="323232"/>
                          </a:solidFill>
                          <a:latin typeface="+mn-ea"/>
                          <a:ea typeface="+mn-ea"/>
                          <a:cs typeface="Meiryo" charset="-128"/>
                        </a:rPr>
                        <a:t>6</a:t>
                      </a:r>
                      <a:r>
                        <a:rPr kumimoji="1" lang="ja-JP" altLang="en-US" sz="1200" b="0" i="0">
                          <a:solidFill>
                            <a:srgbClr val="323232"/>
                          </a:solidFill>
                          <a:latin typeface="+mn-ea"/>
                          <a:ea typeface="+mn-ea"/>
                          <a:cs typeface="Meiryo" charset="-128"/>
                        </a:rPr>
                        <a:t>階</a:t>
                      </a:r>
                      <a:endParaRPr kumimoji="1" lang="en-US" altLang="ja-JP" sz="1200" b="0" i="0">
                        <a:solidFill>
                          <a:srgbClr val="323232"/>
                        </a:solidFill>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9602">
                <a:tc>
                  <a:txBody>
                    <a:bodyPr/>
                    <a:lstStyle/>
                    <a:p>
                      <a:pPr algn="l"/>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千葉オフィス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260-0045</a:t>
                      </a: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kern="1200">
                          <a:solidFill>
                            <a:srgbClr val="323232"/>
                          </a:solidFill>
                          <a:effectLst/>
                          <a:latin typeface="+mn-ea"/>
                          <a:ea typeface="+mn-ea"/>
                          <a:cs typeface="Meiryo" charset="-128"/>
                        </a:rPr>
                        <a:t>千葉市中央区弁天</a:t>
                      </a:r>
                      <a:r>
                        <a:rPr kumimoji="1" lang="en-US" altLang="ja-JP" sz="1200" b="0" i="0" kern="1200">
                          <a:solidFill>
                            <a:srgbClr val="323232"/>
                          </a:solidFill>
                          <a:effectLst/>
                          <a:latin typeface="+mn-ea"/>
                          <a:ea typeface="+mn-ea"/>
                          <a:cs typeface="Meiryo" charset="-128"/>
                        </a:rPr>
                        <a:t>1-5-1</a:t>
                      </a:r>
                      <a:r>
                        <a:rPr kumimoji="1" lang="ja-JP" altLang="en-US" sz="1200" b="0" i="0" kern="1200">
                          <a:solidFill>
                            <a:srgbClr val="323232"/>
                          </a:solidFill>
                          <a:effectLst/>
                          <a:latin typeface="+mn-ea"/>
                          <a:ea typeface="+mn-ea"/>
                          <a:cs typeface="Meiryo" charset="-128"/>
                        </a:rPr>
                        <a:t>　オーパスビルディング </a:t>
                      </a:r>
                      <a:r>
                        <a:rPr kumimoji="1" lang="en-US" altLang="ja-JP" sz="1200" b="0" i="0" kern="1200">
                          <a:solidFill>
                            <a:srgbClr val="323232"/>
                          </a:solidFill>
                          <a:effectLst/>
                          <a:latin typeface="+mn-ea"/>
                          <a:ea typeface="+mn-ea"/>
                          <a:cs typeface="Meiryo" charset="-128"/>
                        </a:rPr>
                        <a:t>9</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横浜オフィス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chemeClr val="tx1"/>
                          </a:solidFill>
                          <a:latin typeface="+mn-ea"/>
                          <a:ea typeface="+mn-ea"/>
                          <a:cs typeface="Meiryo" charset="-128"/>
                        </a:rPr>
                        <a:t>〒</a:t>
                      </a:r>
                      <a:r>
                        <a:rPr kumimoji="1" lang="en-US" altLang="ja-JP" sz="1200" b="0" i="0">
                          <a:solidFill>
                            <a:schemeClr val="tx1"/>
                          </a:solidFill>
                          <a:latin typeface="+mn-ea"/>
                          <a:ea typeface="+mn-ea"/>
                          <a:cs typeface="Meiryo" charset="-128"/>
                        </a:rPr>
                        <a:t>220-0012</a:t>
                      </a:r>
                    </a:p>
                    <a:p>
                      <a:pPr algn="l"/>
                      <a:r>
                        <a:rPr kumimoji="1" lang="ja-JP" altLang="en-US" sz="1200" b="0" i="0">
                          <a:solidFill>
                            <a:schemeClr val="tx1"/>
                          </a:solidFill>
                          <a:latin typeface="+mn-ea"/>
                          <a:ea typeface="+mn-ea"/>
                          <a:cs typeface="Meiryo" charset="-128"/>
                        </a:rPr>
                        <a:t>神奈川県横浜市西区みなとみらい</a:t>
                      </a:r>
                      <a:r>
                        <a:rPr kumimoji="1" lang="en-US" altLang="ja-JP" sz="1200" b="0" i="0">
                          <a:solidFill>
                            <a:schemeClr val="tx1"/>
                          </a:solidFill>
                          <a:latin typeface="+mn-ea"/>
                          <a:ea typeface="+mn-ea"/>
                          <a:cs typeface="Meiryo" charset="-128"/>
                        </a:rPr>
                        <a:t>3-7-1</a:t>
                      </a:r>
                      <a:r>
                        <a:rPr kumimoji="1" lang="ja-JP" altLang="en-US" sz="1200" b="0" i="0">
                          <a:solidFill>
                            <a:schemeClr val="tx1"/>
                          </a:solidFill>
                          <a:latin typeface="+mn-ea"/>
                          <a:ea typeface="+mn-ea"/>
                          <a:cs typeface="Meiryo" charset="-128"/>
                        </a:rPr>
                        <a:t>　</a:t>
                      </a:r>
                      <a:endParaRPr kumimoji="1" lang="en-US" altLang="ja-JP" sz="1200" b="0" i="0">
                        <a:solidFill>
                          <a:schemeClr val="tx1"/>
                        </a:solidFill>
                        <a:latin typeface="+mn-ea"/>
                        <a:ea typeface="+mn-ea"/>
                        <a:cs typeface="Meiryo" charset="-128"/>
                      </a:endParaRPr>
                    </a:p>
                    <a:p>
                      <a:pPr algn="l"/>
                      <a:r>
                        <a:rPr kumimoji="1" lang="ja-JP" altLang="en-US" sz="1200" b="0" i="0">
                          <a:solidFill>
                            <a:schemeClr val="tx1"/>
                          </a:solidFill>
                          <a:latin typeface="+mn-ea"/>
                          <a:ea typeface="+mn-ea"/>
                          <a:cs typeface="Meiryo" charset="-128"/>
                        </a:rPr>
                        <a:t>オーシャンゲートみなとみらい</a:t>
                      </a:r>
                      <a:r>
                        <a:rPr kumimoji="1" lang="en-US" altLang="ja-JP" sz="1200" b="0" i="0">
                          <a:solidFill>
                            <a:schemeClr val="tx1"/>
                          </a:solidFill>
                          <a:latin typeface="+mn-ea"/>
                          <a:ea typeface="+mn-ea"/>
                          <a:cs typeface="Meiryo" charset="-128"/>
                        </a:rPr>
                        <a:t>8</a:t>
                      </a:r>
                      <a:r>
                        <a:rPr kumimoji="1" lang="ja-JP" altLang="en-US" sz="1200" b="0" i="0">
                          <a:solidFill>
                            <a:schemeClr val="tx1"/>
                          </a:solidFill>
                          <a:latin typeface="+mn-ea"/>
                          <a:ea typeface="+mn-ea"/>
                          <a:cs typeface="Meiryo" charset="-128"/>
                        </a:rPr>
                        <a:t>階（</a:t>
                      </a:r>
                      <a:r>
                        <a:rPr kumimoji="1" lang="en-US" altLang="ja-JP" sz="1200" b="0" i="0" err="1">
                          <a:solidFill>
                            <a:schemeClr val="tx1"/>
                          </a:solidFill>
                          <a:latin typeface="+mn-ea"/>
                          <a:ea typeface="+mn-ea"/>
                          <a:cs typeface="Meiryo" charset="-128"/>
                        </a:rPr>
                        <a:t>WeWork</a:t>
                      </a:r>
                      <a:r>
                        <a:rPr kumimoji="1" lang="ja-JP" altLang="en-US" sz="1200" b="0" i="0">
                          <a:solidFill>
                            <a:schemeClr val="tx1"/>
                          </a:solidFill>
                          <a:latin typeface="+mn-ea"/>
                          <a:ea typeface="+mn-ea"/>
                          <a:cs typeface="Meiryo" charset="-128"/>
                        </a:rPr>
                        <a:t>内）</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長野オフィス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390-0811 </a:t>
                      </a:r>
                    </a:p>
                    <a:p>
                      <a:pPr algn="l"/>
                      <a:r>
                        <a:rPr kumimoji="1" lang="ja-JP" altLang="en-US" sz="1200" b="0" i="0" kern="1200">
                          <a:solidFill>
                            <a:srgbClr val="323232"/>
                          </a:solidFill>
                          <a:effectLst/>
                          <a:latin typeface="+mn-ea"/>
                          <a:ea typeface="+mn-ea"/>
                          <a:cs typeface="Meiryo" charset="-128"/>
                        </a:rPr>
                        <a:t>長野県松本市中央</a:t>
                      </a:r>
                      <a:r>
                        <a:rPr kumimoji="1" lang="en-US" altLang="ja-JP" sz="1200" b="0" i="0" kern="1200">
                          <a:solidFill>
                            <a:srgbClr val="323232"/>
                          </a:solidFill>
                          <a:effectLst/>
                          <a:latin typeface="+mn-ea"/>
                          <a:ea typeface="+mn-ea"/>
                          <a:cs typeface="Meiryo" charset="-128"/>
                        </a:rPr>
                        <a:t>2-1-27</a:t>
                      </a:r>
                      <a:r>
                        <a:rPr kumimoji="1" lang="ja-JP" altLang="en-US" sz="1200" b="0" i="0" kern="1200">
                          <a:solidFill>
                            <a:srgbClr val="323232"/>
                          </a:solidFill>
                          <a:effectLst/>
                          <a:latin typeface="+mn-ea"/>
                          <a:ea typeface="+mn-ea"/>
                          <a:cs typeface="Meiryo" charset="-128"/>
                        </a:rPr>
                        <a:t>　松本本町第一生命ビルディング </a:t>
                      </a:r>
                      <a:r>
                        <a:rPr kumimoji="1" lang="en-US" altLang="ja-JP" sz="1200" b="0" i="0" kern="1200">
                          <a:solidFill>
                            <a:srgbClr val="323232"/>
                          </a:solidFill>
                          <a:effectLst/>
                          <a:latin typeface="+mn-ea"/>
                          <a:ea typeface="+mn-ea"/>
                          <a:cs typeface="Meiryo" charset="-128"/>
                        </a:rPr>
                        <a:t>7</a:t>
                      </a:r>
                      <a:r>
                        <a:rPr kumimoji="1" lang="ja-JP" altLang="en-US" sz="1200" b="0" i="0" kern="1200">
                          <a:solidFill>
                            <a:srgbClr val="323232"/>
                          </a:solidFill>
                          <a:effectLst/>
                          <a:latin typeface="+mn-ea"/>
                          <a:ea typeface="+mn-ea"/>
                          <a:cs typeface="Meiryo" charset="-128"/>
                        </a:rPr>
                        <a:t>階</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名古屋オフィス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en-US" sz="1200" b="0" i="0">
                          <a:solidFill>
                            <a:srgbClr val="323232"/>
                          </a:solidFill>
                          <a:latin typeface="+mn-ea"/>
                          <a:ea typeface="+mn-ea"/>
                          <a:cs typeface="Meiryo" charset="-128"/>
                        </a:rPr>
                        <a:t>〒</a:t>
                      </a:r>
                      <a:r>
                        <a:rPr kumimoji="1" lang="en-US" altLang="ja-JP" sz="1200" b="0" i="0">
                          <a:solidFill>
                            <a:srgbClr val="323232"/>
                          </a:solidFill>
                          <a:latin typeface="+mn-ea"/>
                          <a:ea typeface="+mn-ea"/>
                          <a:cs typeface="Meiryo" charset="-128"/>
                        </a:rPr>
                        <a:t>460-0003</a:t>
                      </a:r>
                    </a:p>
                    <a:p>
                      <a:pPr algn="l"/>
                      <a:r>
                        <a:rPr kumimoji="1" lang="ja-JP" altLang="en-US" sz="1200" b="0" i="0">
                          <a:solidFill>
                            <a:srgbClr val="323232"/>
                          </a:solidFill>
                          <a:latin typeface="+mn-ea"/>
                          <a:ea typeface="+mn-ea"/>
                          <a:cs typeface="Meiryo" charset="-128"/>
                        </a:rPr>
                        <a:t>愛知県名古屋市中区錦</a:t>
                      </a:r>
                      <a:r>
                        <a:rPr kumimoji="1" lang="en-US" altLang="ja-JP" sz="1200" b="0" i="0">
                          <a:solidFill>
                            <a:srgbClr val="323232"/>
                          </a:solidFill>
                          <a:latin typeface="+mn-ea"/>
                          <a:ea typeface="+mn-ea"/>
                          <a:cs typeface="Meiryo" charset="-128"/>
                        </a:rPr>
                        <a:t>2-20-8</a:t>
                      </a:r>
                      <a:r>
                        <a:rPr kumimoji="1" lang="ja-JP" altLang="en-US" sz="1200" b="0" i="0">
                          <a:solidFill>
                            <a:srgbClr val="323232"/>
                          </a:solidFill>
                          <a:latin typeface="+mn-ea"/>
                          <a:ea typeface="+mn-ea"/>
                          <a:cs typeface="Meiryo" charset="-128"/>
                        </a:rPr>
                        <a:t>　東栄ビル </a:t>
                      </a:r>
                      <a:r>
                        <a:rPr kumimoji="1" lang="en-US" altLang="ja-JP" sz="1200" b="0" i="0">
                          <a:solidFill>
                            <a:srgbClr val="323232"/>
                          </a:solidFill>
                          <a:latin typeface="+mn-ea"/>
                          <a:ea typeface="+mn-ea"/>
                          <a:cs typeface="Meiryo" charset="-128"/>
                        </a:rPr>
                        <a:t>7</a:t>
                      </a:r>
                      <a:r>
                        <a:rPr kumimoji="1" lang="ja-JP" altLang="en-US" sz="1200" b="0" i="0">
                          <a:solidFill>
                            <a:srgbClr val="323232"/>
                          </a:solidFill>
                          <a:latin typeface="+mn-ea"/>
                          <a:ea typeface="+mn-ea"/>
                          <a:cs typeface="Meiryo" charset="-128"/>
                        </a:rPr>
                        <a:t>階</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31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C00000"/>
                          </a:solidFill>
                          <a:latin typeface="+mn-ea"/>
                          <a:ea typeface="+mn-ea"/>
                          <a:cs typeface="Meiryo" charset="-128"/>
                        </a:rPr>
                        <a:t>■</a:t>
                      </a:r>
                      <a:r>
                        <a:rPr kumimoji="1" lang="ja-JP" altLang="en-US" sz="1200" b="0" i="0">
                          <a:solidFill>
                            <a:srgbClr val="323232"/>
                          </a:solidFill>
                          <a:latin typeface="+mn-ea"/>
                          <a:ea typeface="+mn-ea"/>
                          <a:cs typeface="Meiryo" charset="-128"/>
                        </a:rPr>
                        <a:t>関西オフィス</a:t>
                      </a: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kumimoji="1" lang="ja-JP" altLang="ja-JP" sz="1200" b="0" i="0" kern="1200">
                          <a:solidFill>
                            <a:srgbClr val="323232"/>
                          </a:solidFill>
                          <a:effectLst/>
                          <a:latin typeface="+mn-ea"/>
                          <a:ea typeface="+mn-ea"/>
                          <a:cs typeface="Meiryo" charset="-128"/>
                        </a:rPr>
                        <a:t>〒</a:t>
                      </a:r>
                      <a:r>
                        <a:rPr kumimoji="1" lang="en-US" altLang="ja-JP" sz="1200" b="0" i="0" kern="1200">
                          <a:solidFill>
                            <a:srgbClr val="323232"/>
                          </a:solidFill>
                          <a:effectLst/>
                          <a:latin typeface="+mn-ea"/>
                          <a:ea typeface="+mn-ea"/>
                          <a:cs typeface="Meiryo" charset="-128"/>
                        </a:rPr>
                        <a:t>530-0005</a:t>
                      </a:r>
                      <a:r>
                        <a:rPr kumimoji="1" lang="ja-JP" altLang="ja-JP" sz="1200" b="0" i="0" kern="1200">
                          <a:solidFill>
                            <a:srgbClr val="323232"/>
                          </a:solidFill>
                          <a:effectLst/>
                          <a:latin typeface="+mn-ea"/>
                          <a:ea typeface="+mn-ea"/>
                          <a:cs typeface="Meiryo" charset="-128"/>
                        </a:rPr>
                        <a:t> </a:t>
                      </a:r>
                      <a:endParaRPr kumimoji="1" lang="en-US" altLang="ja-JP" sz="1200" b="0" i="0" kern="1200">
                        <a:solidFill>
                          <a:srgbClr val="323232"/>
                        </a:solidFill>
                        <a:effectLst/>
                        <a:latin typeface="+mn-ea"/>
                        <a:ea typeface="+mn-ea"/>
                        <a:cs typeface="Meiryo" charset="-128"/>
                      </a:endParaRPr>
                    </a:p>
                    <a:p>
                      <a:pPr algn="l"/>
                      <a:r>
                        <a:rPr kumimoji="1" lang="ja-JP" altLang="en-US" sz="1200" b="0" i="0" kern="1200">
                          <a:solidFill>
                            <a:srgbClr val="323232"/>
                          </a:solidFill>
                          <a:effectLst/>
                          <a:latin typeface="+mn-ea"/>
                          <a:ea typeface="+mn-ea"/>
                          <a:cs typeface="Meiryo" charset="-128"/>
                        </a:rPr>
                        <a:t>大阪府大阪市北区中之島</a:t>
                      </a:r>
                      <a:r>
                        <a:rPr kumimoji="1" lang="en-US" altLang="ja-JP" sz="1200" b="0" i="0" kern="1200">
                          <a:solidFill>
                            <a:srgbClr val="323232"/>
                          </a:solidFill>
                          <a:effectLst/>
                          <a:latin typeface="+mn-ea"/>
                          <a:ea typeface="+mn-ea"/>
                          <a:cs typeface="Meiryo" charset="-128"/>
                        </a:rPr>
                        <a:t>3-3-3</a:t>
                      </a:r>
                      <a:r>
                        <a:rPr kumimoji="1" lang="ja-JP" altLang="en-US" sz="1200" b="0" i="0" kern="1200">
                          <a:solidFill>
                            <a:srgbClr val="323232"/>
                          </a:solidFill>
                          <a:effectLst/>
                          <a:latin typeface="+mn-ea"/>
                          <a:ea typeface="+mn-ea"/>
                          <a:cs typeface="Meiryo" charset="-128"/>
                        </a:rPr>
                        <a:t>　中之島三井ビルディング </a:t>
                      </a:r>
                      <a:r>
                        <a:rPr kumimoji="1" lang="en-US" altLang="ja-JP" sz="1200" b="0" i="0" kern="1200">
                          <a:solidFill>
                            <a:srgbClr val="323232"/>
                          </a:solidFill>
                          <a:effectLst/>
                          <a:latin typeface="+mn-ea"/>
                          <a:ea typeface="+mn-ea"/>
                          <a:cs typeface="Meiryo" charset="-128"/>
                        </a:rPr>
                        <a:t>20</a:t>
                      </a:r>
                      <a:r>
                        <a:rPr kumimoji="1" lang="ja-JP" altLang="en-US" sz="1200" b="0" i="0" kern="1200">
                          <a:solidFill>
                            <a:srgbClr val="323232"/>
                          </a:solidFill>
                          <a:effectLst/>
                          <a:latin typeface="+mn-ea"/>
                          <a:ea typeface="+mn-ea"/>
                          <a:cs typeface="Meiryo" charset="-128"/>
                        </a:rPr>
                        <a:t>階 </a:t>
                      </a:r>
                      <a:endParaRPr kumimoji="1" lang="en-US" altLang="ja-JP" sz="1200" b="0" i="0" kern="1200">
                        <a:solidFill>
                          <a:srgbClr val="323232"/>
                        </a:solidFill>
                        <a:effectLst/>
                        <a:latin typeface="+mn-ea"/>
                        <a:ea typeface="+mn-ea"/>
                        <a:cs typeface="Meiryo" charset="-128"/>
                      </a:endParaRPr>
                    </a:p>
                    <a:p>
                      <a:pPr algn="l"/>
                      <a:r>
                        <a:rPr kumimoji="1" lang="en-US" altLang="ja-JP" sz="1200" b="0" i="0" kern="1200">
                          <a:solidFill>
                            <a:srgbClr val="323232"/>
                          </a:solidFill>
                          <a:effectLst/>
                          <a:latin typeface="+mn-ea"/>
                          <a:ea typeface="+mn-ea"/>
                          <a:cs typeface="Meiryo" charset="-128"/>
                        </a:rPr>
                        <a:t>2006</a:t>
                      </a:r>
                      <a:r>
                        <a:rPr kumimoji="1" lang="ja-JP" altLang="en-US" sz="1200" b="0" i="0" kern="1200">
                          <a:solidFill>
                            <a:srgbClr val="323232"/>
                          </a:solidFill>
                          <a:effectLst/>
                          <a:latin typeface="+mn-ea"/>
                          <a:ea typeface="+mn-ea"/>
                          <a:cs typeface="Meiryo" charset="-128"/>
                        </a:rPr>
                        <a:t>号室</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0531223"/>
                  </a:ext>
                </a:extLst>
              </a:tr>
              <a:tr h="3396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1313A1"/>
                          </a:solidFill>
                          <a:latin typeface="+mn-ea"/>
                          <a:ea typeface="+mn-ea"/>
                          <a:cs typeface="Meiryo" charset="-128"/>
                        </a:rPr>
                        <a:t>■</a:t>
                      </a:r>
                      <a:r>
                        <a:rPr kumimoji="1" lang="ja-JP" altLang="en-US" sz="1200" b="0" i="0">
                          <a:solidFill>
                            <a:srgbClr val="323232"/>
                          </a:solidFill>
                          <a:latin typeface="+mn-ea"/>
                          <a:ea typeface="+mn-ea"/>
                          <a:cs typeface="Meiryo" charset="-128"/>
                        </a:rPr>
                        <a:t>システムエグゼ</a:t>
                      </a:r>
                      <a:endParaRPr kumimoji="1" lang="en-US" altLang="ja-JP" sz="1200" b="0" i="0">
                        <a:solidFill>
                          <a:srgbClr val="323232"/>
                        </a:solidFill>
                        <a:latin typeface="+mn-ea"/>
                        <a:ea typeface="+mn-ea"/>
                        <a:cs typeface="Meiryo"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a:solidFill>
                            <a:srgbClr val="323232"/>
                          </a:solidFill>
                          <a:latin typeface="+mn-ea"/>
                          <a:ea typeface="+mn-ea"/>
                          <a:cs typeface="Meiryo" charset="-128"/>
                        </a:rPr>
                        <a:t>　ベトナム　</a:t>
                      </a:r>
                      <a:endParaRPr kumimoji="1" lang="en-US" altLang="ja-JP" sz="1200" b="0" i="0" kern="1200">
                        <a:solidFill>
                          <a:srgbClr val="323232"/>
                        </a:solidFill>
                        <a:effectLst/>
                        <a:latin typeface="+mn-ea"/>
                        <a:ea typeface="+mn-ea"/>
                        <a:cs typeface="Meiryo" charset="-128"/>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2/F, E-Town 1, 364 Cong </a:t>
                      </a:r>
                      <a:r>
                        <a:rPr kumimoji="1" lang="en-US" altLang="ja-JP" sz="1200" b="0" err="1">
                          <a:solidFill>
                            <a:srgbClr val="323232"/>
                          </a:solidFill>
                          <a:latin typeface="+mn-ea"/>
                          <a:ea typeface="+mn-ea"/>
                          <a:cs typeface="Meiryo" panose="020B0604030504040204" pitchFamily="50" charset="-128"/>
                        </a:rPr>
                        <a:t>Hoa</a:t>
                      </a:r>
                      <a:r>
                        <a:rPr kumimoji="1" lang="en-US" altLang="ja-JP" sz="1200" b="0">
                          <a:solidFill>
                            <a:srgbClr val="323232"/>
                          </a:solidFill>
                          <a:latin typeface="+mn-ea"/>
                          <a:ea typeface="+mn-ea"/>
                          <a:cs typeface="Meiryo" panose="020B0604030504040204" pitchFamily="50" charset="-128"/>
                        </a:rPr>
                        <a:t> ST., Tan </a:t>
                      </a:r>
                      <a:r>
                        <a:rPr kumimoji="1" lang="en-US" altLang="ja-JP" sz="1200" b="0" err="1">
                          <a:solidFill>
                            <a:srgbClr val="323232"/>
                          </a:solidFill>
                          <a:latin typeface="+mn-ea"/>
                          <a:ea typeface="+mn-ea"/>
                          <a:cs typeface="Meiryo" panose="020B0604030504040204" pitchFamily="50" charset="-128"/>
                        </a:rPr>
                        <a:t>Binh</a:t>
                      </a:r>
                      <a:r>
                        <a:rPr kumimoji="1" lang="en-US" altLang="ja-JP" sz="1200" b="0">
                          <a:solidFill>
                            <a:srgbClr val="323232"/>
                          </a:solidFill>
                          <a:latin typeface="+mn-ea"/>
                          <a:ea typeface="+mn-ea"/>
                          <a:cs typeface="Meiryo" panose="020B0604030504040204" pitchFamily="50" charset="-128"/>
                        </a:rPr>
                        <a:t> Dist.,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a:solidFill>
                            <a:srgbClr val="323232"/>
                          </a:solidFill>
                          <a:latin typeface="+mn-ea"/>
                          <a:ea typeface="+mn-ea"/>
                          <a:cs typeface="Meiryo" panose="020B0604030504040204" pitchFamily="50" charset="-128"/>
                        </a:rPr>
                        <a:t>Ho Chi Minh City, VIETNAM</a:t>
                      </a:r>
                      <a:endParaRPr lang="ja-JP" altLang="ja-JP" sz="1200" b="0">
                        <a:solidFill>
                          <a:srgbClr val="323232"/>
                        </a:solidFill>
                        <a:latin typeface="+mn-ea"/>
                        <a:ea typeface="+mn-ea"/>
                      </a:endParaRPr>
                    </a:p>
                  </a:txBody>
                  <a:tcPr marL="0" marR="0" marT="27000" marB="27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200022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48D7E-0627-E1B4-00E3-358C0F4F54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393A7B-B759-DE92-F13E-5F0012861637}"/>
              </a:ext>
            </a:extLst>
          </p:cNvPr>
          <p:cNvSpPr>
            <a:spLocks noGrp="1"/>
          </p:cNvSpPr>
          <p:nvPr>
            <p:ph type="title"/>
          </p:nvPr>
        </p:nvSpPr>
        <p:spPr/>
        <p:txBody>
          <a:bodyPr/>
          <a:lstStyle/>
          <a:p>
            <a:r>
              <a:rPr lang="en-US" altLang="ja-JP">
                <a:latin typeface="游明朝"/>
                <a:ea typeface="游明朝"/>
              </a:rPr>
              <a:t>7-2</a:t>
            </a:r>
            <a:r>
              <a:rPr lang="ja-JP" altLang="en-US">
                <a:latin typeface="游明朝"/>
                <a:ea typeface="游明朝"/>
              </a:rPr>
              <a:t>．貴社プロジェクトにおける主な開発実績・規模</a:t>
            </a:r>
            <a:endParaRPr kumimoji="1" lang="ja-JP" altLang="en-US">
              <a:latin typeface="游明朝"/>
              <a:ea typeface="游明朝"/>
            </a:endParaRPr>
          </a:p>
        </p:txBody>
      </p:sp>
      <p:sp>
        <p:nvSpPr>
          <p:cNvPr id="5" name="フッター プレースホルダー 4">
            <a:extLst>
              <a:ext uri="{FF2B5EF4-FFF2-40B4-BE49-F238E27FC236}">
                <a16:creationId xmlns:a16="http://schemas.microsoft.com/office/drawing/2014/main" id="{8B639E57-6C45-D486-FC22-658B6E834F72}"/>
              </a:ext>
            </a:extLst>
          </p:cNvPr>
          <p:cNvSpPr>
            <a:spLocks noGrp="1"/>
          </p:cNvSpPr>
          <p:nvPr>
            <p:ph type="ftr" sz="quarter" idx="11"/>
          </p:nvPr>
        </p:nvSpPr>
        <p:spPr/>
        <p:txBody>
          <a:bodyPr/>
          <a:lstStyle/>
          <a:p>
            <a:r>
              <a:rPr lang="en-US" altLang="ja-JP"/>
              <a:t>Copyright © SystemEXE,Inc All Rights Reserved.</a:t>
            </a:r>
            <a:endParaRPr lang="ja-JP" altLang="en-US"/>
          </a:p>
        </p:txBody>
      </p:sp>
      <p:sp>
        <p:nvSpPr>
          <p:cNvPr id="3" name="スライド番号プレースホルダー 3">
            <a:extLst>
              <a:ext uri="{FF2B5EF4-FFF2-40B4-BE49-F238E27FC236}">
                <a16:creationId xmlns:a16="http://schemas.microsoft.com/office/drawing/2014/main" id="{9E076605-40FA-BE6D-C3BD-97FC6AAA1CCD}"/>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30</a:t>
            </a:fld>
            <a:endParaRPr kumimoji="1" lang="ja-JP" altLang="en-US" sz="700"/>
          </a:p>
        </p:txBody>
      </p:sp>
      <p:graphicFrame>
        <p:nvGraphicFramePr>
          <p:cNvPr id="4" name="表 3">
            <a:extLst>
              <a:ext uri="{FF2B5EF4-FFF2-40B4-BE49-F238E27FC236}">
                <a16:creationId xmlns:a16="http://schemas.microsoft.com/office/drawing/2014/main" id="{10B7530C-5627-A931-FBE6-AB25A3E9021E}"/>
              </a:ext>
            </a:extLst>
          </p:cNvPr>
          <p:cNvGraphicFramePr>
            <a:graphicFrameLocks noGrp="1"/>
          </p:cNvGraphicFramePr>
          <p:nvPr>
            <p:extLst>
              <p:ext uri="{D42A27DB-BD31-4B8C-83A1-F6EECF244321}">
                <p14:modId xmlns:p14="http://schemas.microsoft.com/office/powerpoint/2010/main" val="570584471"/>
              </p:ext>
            </p:extLst>
          </p:nvPr>
        </p:nvGraphicFramePr>
        <p:xfrm>
          <a:off x="575999" y="890863"/>
          <a:ext cx="11041198" cy="5427972"/>
        </p:xfrm>
        <a:graphic>
          <a:graphicData uri="http://schemas.openxmlformats.org/drawingml/2006/table">
            <a:tbl>
              <a:tblPr/>
              <a:tblGrid>
                <a:gridCol w="510701">
                  <a:extLst>
                    <a:ext uri="{9D8B030D-6E8A-4147-A177-3AD203B41FA5}">
                      <a16:colId xmlns:a16="http://schemas.microsoft.com/office/drawing/2014/main" val="20000"/>
                    </a:ext>
                  </a:extLst>
                </a:gridCol>
                <a:gridCol w="7122959">
                  <a:extLst>
                    <a:ext uri="{9D8B030D-6E8A-4147-A177-3AD203B41FA5}">
                      <a16:colId xmlns:a16="http://schemas.microsoft.com/office/drawing/2014/main" val="20002"/>
                    </a:ext>
                  </a:extLst>
                </a:gridCol>
                <a:gridCol w="1981386">
                  <a:extLst>
                    <a:ext uri="{9D8B030D-6E8A-4147-A177-3AD203B41FA5}">
                      <a16:colId xmlns:a16="http://schemas.microsoft.com/office/drawing/2014/main" val="20003"/>
                    </a:ext>
                  </a:extLst>
                </a:gridCol>
                <a:gridCol w="1426152">
                  <a:extLst>
                    <a:ext uri="{9D8B030D-6E8A-4147-A177-3AD203B41FA5}">
                      <a16:colId xmlns:a16="http://schemas.microsoft.com/office/drawing/2014/main" val="20005"/>
                    </a:ext>
                  </a:extLst>
                </a:gridCol>
              </a:tblGrid>
              <a:tr h="283043">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No</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プロジェクト概要</a:t>
                      </a:r>
                      <a:endParaRPr kumimoji="1" lang="en-US" altLang="ja-JP"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環境</a:t>
                      </a:r>
                      <a:endParaRPr kumimoji="1" lang="ja-JP" altLang="en-US" sz="1400" b="1" i="0"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開発規模</a:t>
                      </a:r>
                      <a:endParaRPr kumimoji="1" lang="en-US" altLang="ja-JP" sz="1400" b="1" u="none" strike="noStrike" cap="none" normalizeH="0" baseline="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anchor="ctr"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dk1"/>
                          </a:solidFill>
                          <a:effectLst/>
                          <a:latin typeface="游ゴシック" panose="020B0400000000000000" pitchFamily="50" charset="-128"/>
                          <a:ea typeface="游ゴシック" panose="020B0400000000000000" pitchFamily="50" charset="-128"/>
                          <a:cs typeface="Meiryo UI" pitchFamily="50" charset="-128"/>
                        </a:rPr>
                        <a:t>1</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製品倉庫システム再構築</a:t>
                      </a:r>
                      <a:endParaRPr kumimoji="1" lang="en-US" altLang="ja-JP"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70</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965346">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化学工場システム再構築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化学工場にて稼働する製造工程に関わる４つのシステムを統合。レガシー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Oracle11g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Oracle12c </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へのバージョンアップ対応も実施。</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Java</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 ASP,VB6</a:t>
                      </a: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170</a:t>
                      </a:r>
                      <a:r>
                        <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endParaRPr kumimoji="1" lang="en-US" altLang="ja-JP"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60929575"/>
                  </a:ext>
                </a:extLst>
              </a:tr>
              <a:tr h="787300">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3</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千葉品質管理システム再構築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化学工場にて稼働する品質管理に関わる５つのシステムを統合。レガシー</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085136893"/>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千葉運転管理システム構築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VB6.0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で構築されたシステムを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VB.NET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で再構築。</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2008 R2 + Windows7 </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から </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Windows Server 2016 + Windows10</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 への更新</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OS: Windows</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DB: Oracle</a:t>
                      </a:r>
                      <a:endParaRPr kumimoji="1" lang="ja-JP" altLang="en-US" sz="1400" b="0" i="0" u="none" strike="noStrike" cap="none" normalizeH="0" baseline="0">
                        <a:ln>
                          <a:noFill/>
                        </a:ln>
                        <a:solidFill>
                          <a:schemeClr val="tx1"/>
                        </a:solidFill>
                        <a:effectLst/>
                        <a:latin typeface="游ゴシック" panose="020B0400000000000000" pitchFamily="50" charset="-128"/>
                        <a:ea typeface="+mn-ea"/>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その他</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 VB6</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37695766"/>
                  </a:ext>
                </a:extLst>
              </a:tr>
              <a:tr h="756392">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ja-JP" altLang="en-US" sz="1400" b="0" u="sng">
                          <a:latin typeface="游ゴシック" panose="020B0400000000000000" pitchFamily="50" charset="-128"/>
                          <a:ea typeface="游ゴシック" panose="020B0400000000000000" pitchFamily="50" charset="-128"/>
                        </a:rPr>
                        <a:t>黒本ポータル構築</a:t>
                      </a:r>
                      <a:endParaRPr kumimoji="1" lang="en-US" altLang="ja-JP" sz="1400" b="0" u="sng">
                        <a:latin typeface="游ゴシック" panose="020B0400000000000000" pitchFamily="50" charset="-128"/>
                        <a:ea typeface="游ゴシック" panose="020B0400000000000000"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日々の点検業務で使用している点検表（冊子＜黒本＞）を</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Web</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化</a:t>
                      </a:r>
                      <a:endPar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mn-ea"/>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20</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029561531"/>
                  </a:ext>
                </a:extLst>
              </a:tr>
              <a:tr h="742788">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6</a:t>
                      </a:r>
                      <a:endPar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indent="0">
                        <a:spcBef>
                          <a:spcPts val="0"/>
                        </a:spcBef>
                        <a:buFont typeface="Wingdings" panose="05000000000000000000" pitchFamily="2" charset="2"/>
                        <a:buNone/>
                      </a:pPr>
                      <a:r>
                        <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IFC</a:t>
                      </a:r>
                      <a:r>
                        <a:rPr kumimoji="1" lang="ja-JP" altLang="en-US"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生産委託ポータル構築</a:t>
                      </a:r>
                      <a:endParaRPr kumimoji="1" lang="en-US" altLang="ja-JP" sz="1400" b="0" u="sng"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indent="0">
                        <a:spcBef>
                          <a:spcPts val="0"/>
                        </a:spcBef>
                        <a:buFont typeface="Wingdings" panose="05000000000000000000" pitchFamily="2" charset="2"/>
                        <a:buNone/>
                      </a:pP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製造委託先に向けて、購買発注</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オーダー</a:t>
                      </a:r>
                      <a:r>
                        <a:rPr kumimoji="1" lang="en-US" altLang="ja-JP" sz="1400" b="0" u="none" strike="noStrike" cap="none" normalizeH="0" baseline="0">
                          <a:ln>
                            <a:noFill/>
                          </a:ln>
                          <a:effectLst/>
                          <a:latin typeface="游ゴシック" panose="020B0400000000000000" pitchFamily="50" charset="-128"/>
                          <a:ea typeface="+mn-ea"/>
                          <a:cs typeface="Meiryo UI" panose="020B0604030504040204" pitchFamily="50" charset="-128"/>
                        </a:rPr>
                        <a:t>)</a:t>
                      </a:r>
                      <a:r>
                        <a:rPr kumimoji="1" lang="ja-JP" altLang="en-US" sz="1400" b="0" u="none" strike="noStrike" cap="none" normalizeH="0" baseline="0">
                          <a:ln>
                            <a:noFill/>
                          </a:ln>
                          <a:effectLst/>
                          <a:latin typeface="游ゴシック" panose="020B0400000000000000" pitchFamily="50" charset="-128"/>
                          <a:ea typeface="+mn-ea"/>
                          <a:cs typeface="Meiryo UI" panose="020B0604030504040204" pitchFamily="50" charset="-128"/>
                        </a:rPr>
                        <a:t>業務をポータルシステムを構築</a:t>
                      </a:r>
                      <a:endPar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Linux</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MySQL</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Java</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dk1"/>
                          </a:solidFill>
                          <a:latin typeface="Calibri" panose="020F0502020204030204"/>
                        </a:defRPr>
                      </a:lvl1pPr>
                      <a:lvl2pPr marL="457200" algn="l" defTabSz="914400" rtl="0" eaLnBrk="1" latinLnBrk="0" hangingPunct="1">
                        <a:defRPr kumimoji="1" sz="1800" kern="1200">
                          <a:solidFill>
                            <a:schemeClr val="dk1"/>
                          </a:solidFill>
                          <a:latin typeface="Calibri" panose="020F0502020204030204"/>
                        </a:defRPr>
                      </a:lvl2pPr>
                      <a:lvl3pPr marL="914400" algn="l" defTabSz="914400" rtl="0" eaLnBrk="1" latinLnBrk="0" hangingPunct="1">
                        <a:defRPr kumimoji="1" sz="1800" kern="1200">
                          <a:solidFill>
                            <a:schemeClr val="dk1"/>
                          </a:solidFill>
                          <a:latin typeface="Calibri" panose="020F0502020204030204"/>
                        </a:defRPr>
                      </a:lvl3pPr>
                      <a:lvl4pPr marL="1371600" algn="l" defTabSz="914400" rtl="0" eaLnBrk="1" latinLnBrk="0" hangingPunct="1">
                        <a:defRPr kumimoji="1" sz="1800" kern="1200">
                          <a:solidFill>
                            <a:schemeClr val="dk1"/>
                          </a:solidFill>
                          <a:latin typeface="Calibri" panose="020F0502020204030204"/>
                        </a:defRPr>
                      </a:lvl4pPr>
                      <a:lvl5pPr marL="1828800" algn="l" defTabSz="914400" rtl="0" eaLnBrk="1" latinLnBrk="0" hangingPunct="1">
                        <a:defRPr kumimoji="1" sz="1800" kern="1200">
                          <a:solidFill>
                            <a:schemeClr val="dk1"/>
                          </a:solidFill>
                          <a:latin typeface="Calibri" panose="020F0502020204030204"/>
                        </a:defRPr>
                      </a:lvl5pPr>
                      <a:lvl6pPr marL="2286000" algn="l" defTabSz="914400" rtl="0" eaLnBrk="1" latinLnBrk="0" hangingPunct="1">
                        <a:defRPr kumimoji="1" sz="1800" kern="1200">
                          <a:solidFill>
                            <a:schemeClr val="dk1"/>
                          </a:solidFill>
                          <a:latin typeface="Calibri" panose="020F0502020204030204"/>
                        </a:defRPr>
                      </a:lvl6pPr>
                      <a:lvl7pPr marL="2743200" algn="l" defTabSz="914400" rtl="0" eaLnBrk="1" latinLnBrk="0" hangingPunct="1">
                        <a:defRPr kumimoji="1" sz="1800" kern="1200">
                          <a:solidFill>
                            <a:schemeClr val="dk1"/>
                          </a:solidFill>
                          <a:latin typeface="Calibri" panose="020F0502020204030204"/>
                        </a:defRPr>
                      </a:lvl7pPr>
                      <a:lvl8pPr marL="3200400" algn="l" defTabSz="914400" rtl="0" eaLnBrk="1" latinLnBrk="0" hangingPunct="1">
                        <a:defRPr kumimoji="1" sz="1800" kern="1200">
                          <a:solidFill>
                            <a:schemeClr val="dk1"/>
                          </a:solidFill>
                          <a:latin typeface="Calibri" panose="020F0502020204030204"/>
                        </a:defRPr>
                      </a:lvl8pPr>
                      <a:lvl9pPr marL="3657600" algn="l" defTabSz="914400" rtl="0" eaLnBrk="1" latinLnBrk="0" hangingPunct="1">
                        <a:defRPr kumimoji="1" sz="1800" kern="1200">
                          <a:solidFill>
                            <a:schemeClr val="dk1"/>
                          </a:solidFill>
                          <a:latin typeface="Calibri" panose="020F0502020204030204"/>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21</a:t>
                      </a:r>
                      <a:r>
                        <a:rPr kumimoji="1" lang="ja-JP" altLang="en-US" sz="1400" b="0" i="0" u="none" strike="noStrike" cap="none" normalizeH="0" baseline="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ysClr val="window" lastClr="FFFFFF">
                          <a:lumMod val="75000"/>
                        </a:sysClr>
                      </a:solidFill>
                      <a:prstDash val="solid"/>
                      <a:round/>
                      <a:headEnd type="none" w="med" len="med"/>
                      <a:tailEnd type="none" w="med" len="med"/>
                    </a:lnL>
                    <a:lnR w="6350" cap="flat" cmpd="sng" algn="ctr">
                      <a:solidFill>
                        <a:sysClr val="window" lastClr="FFFFFF">
                          <a:lumMod val="75000"/>
                        </a:sys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441170676"/>
                  </a:ext>
                </a:extLst>
              </a:tr>
            </a:tbl>
          </a:graphicData>
        </a:graphic>
      </p:graphicFrame>
    </p:spTree>
    <p:extLst>
      <p:ext uri="{BB962C8B-B14F-4D97-AF65-F5344CB8AC3E}">
        <p14:creationId xmlns:p14="http://schemas.microsoft.com/office/powerpoint/2010/main" val="39048287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a:latin typeface="游明朝"/>
                <a:ea typeface="游明朝"/>
              </a:rPr>
              <a:t>7-3</a:t>
            </a:r>
            <a:r>
              <a:rPr lang="ja-JP" altLang="en-US">
                <a:latin typeface="游明朝"/>
                <a:ea typeface="游明朝"/>
              </a:rPr>
              <a:t>．貴社</a:t>
            </a:r>
            <a:r>
              <a:rPr kumimoji="1" lang="ja-JP" altLang="en-US">
                <a:latin typeface="游明朝"/>
                <a:ea typeface="游明朝"/>
              </a:rPr>
              <a:t>プロジェクトにおける主な開発実績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3928069585"/>
              </p:ext>
            </p:extLst>
          </p:nvPr>
        </p:nvGraphicFramePr>
        <p:xfrm>
          <a:off x="575400" y="864000"/>
          <a:ext cx="11041200" cy="514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8096880">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海外企業情報取得アプリケーション開発</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期末報奨金計算機能再構築</a:t>
                      </a:r>
                      <a:endParaRPr kumimoji="1" lang="en-US" altLang="ja-JP" sz="12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黒本電子化に伴うシステム開発（黒本ポータル）</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3886788"/>
                  </a:ext>
                </a:extLst>
              </a:tr>
              <a:tr h="396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販売系業務システム</a:t>
                      </a:r>
                      <a:r>
                        <a:rPr kumimoji="1" lang="en-US" altLang="ja-JP" sz="1400">
                          <a:latin typeface="+mn-ea"/>
                          <a:ea typeface="+mn-ea"/>
                        </a:rPr>
                        <a:t>HUB</a:t>
                      </a:r>
                      <a:r>
                        <a:rPr kumimoji="1" lang="ja-JP" altLang="en-US" sz="1400">
                          <a:latin typeface="+mn-ea"/>
                          <a:ea typeface="+mn-ea"/>
                        </a:rPr>
                        <a:t>処理　　</a:t>
                      </a:r>
                      <a:r>
                        <a:rPr kumimoji="1" lang="en-US" altLang="ja-JP" sz="1400">
                          <a:latin typeface="+mn-ea"/>
                          <a:ea typeface="+mn-ea"/>
                        </a:rPr>
                        <a:t>※</a:t>
                      </a:r>
                      <a:r>
                        <a:rPr kumimoji="1" lang="ja-JP" altLang="en-US" sz="1400">
                          <a:latin typeface="+mn-ea"/>
                          <a:ea typeface="+mn-ea"/>
                        </a:rPr>
                        <a:t>構築中</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千葉運転管理システム構築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MES</a:t>
                      </a:r>
                      <a:r>
                        <a:rPr kumimoji="1" lang="ja-JP" altLang="en-US" sz="1400">
                          <a:latin typeface="+mn-ea"/>
                          <a:ea typeface="+mn-ea"/>
                        </a:rPr>
                        <a:t>システム更新</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出光資格総合サイト構築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2433833"/>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IFC</a:t>
                      </a:r>
                      <a:r>
                        <a:rPr kumimoji="1" lang="ja-JP" altLang="en-US" sz="1400">
                          <a:latin typeface="+mn-ea"/>
                          <a:ea typeface="+mn-ea"/>
                        </a:rPr>
                        <a:t>生産委託ポータル構築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560635"/>
                  </a:ext>
                </a:extLst>
              </a:tr>
              <a:tr h="396000">
                <a:tc>
                  <a:txBody>
                    <a:bodyPr/>
                    <a:lstStyle/>
                    <a:p>
                      <a:pPr algn="ctr"/>
                      <a:r>
                        <a:rPr kumimoji="1" lang="en-US" altLang="ja-JP" sz="1400">
                          <a:latin typeface="+mn-ea"/>
                          <a:ea typeface="+mn-ea"/>
                        </a:rPr>
                        <a:t>9</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海上入出荷計画業務システム構築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latin typeface="+mn-ea"/>
                          <a:ea typeface="+mn-ea"/>
                        </a:rPr>
                        <a:t>10</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製品倉庫システム再構築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latin typeface="+mn-ea"/>
                          <a:ea typeface="+mn-ea"/>
                        </a:rPr>
                        <a:t>11</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化学工場システム再構築</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741956"/>
                  </a:ext>
                </a:extLst>
              </a:tr>
              <a:tr h="396000">
                <a:tc>
                  <a:txBody>
                    <a:bodyPr/>
                    <a:lstStyle/>
                    <a:p>
                      <a:pPr algn="ctr"/>
                      <a:r>
                        <a:rPr kumimoji="1" lang="en-US" altLang="ja-JP" sz="1400">
                          <a:latin typeface="+mn-ea"/>
                          <a:ea typeface="+mn-ea"/>
                        </a:rPr>
                        <a:t>12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千葉品質管理システム再構築</a:t>
                      </a:r>
                      <a:endParaRPr kumimoji="1" lang="en-US" altLang="ja-JP"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bl>
          </a:graphicData>
        </a:graphic>
      </p:graphicFrame>
      <p:sp>
        <p:nvSpPr>
          <p:cNvPr id="4" name="フッター プレースホルダー 3">
            <a:extLst>
              <a:ext uri="{FF2B5EF4-FFF2-40B4-BE49-F238E27FC236}">
                <a16:creationId xmlns:a16="http://schemas.microsoft.com/office/drawing/2014/main" id="{C20C1020-3505-41DC-7906-BBA4A8E00907}"/>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D506ABF-FC2A-CFCC-D248-D2C7F03A9DB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31</a:t>
            </a:fld>
            <a:endParaRPr kumimoji="1" lang="ja-JP" altLang="en-US" sz="700"/>
          </a:p>
        </p:txBody>
      </p:sp>
    </p:spTree>
    <p:extLst>
      <p:ext uri="{BB962C8B-B14F-4D97-AF65-F5344CB8AC3E}">
        <p14:creationId xmlns:p14="http://schemas.microsoft.com/office/powerpoint/2010/main" val="1269496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a:latin typeface="游明朝"/>
                <a:ea typeface="游明朝"/>
              </a:rPr>
              <a:t>7-4</a:t>
            </a:r>
            <a:r>
              <a:rPr lang="ja-JP" altLang="en-US">
                <a:latin typeface="游明朝"/>
                <a:ea typeface="游明朝"/>
              </a:rPr>
              <a:t>．貴社</a:t>
            </a:r>
            <a:r>
              <a:rPr kumimoji="1" lang="ja-JP" altLang="en-US">
                <a:latin typeface="游明朝"/>
                <a:ea typeface="游明朝"/>
              </a:rPr>
              <a:t>プロジェクトにおける主な運用保守実績</a:t>
            </a:r>
          </a:p>
        </p:txBody>
      </p:sp>
      <p:graphicFrame>
        <p:nvGraphicFramePr>
          <p:cNvPr id="7" name="表 4">
            <a:extLst>
              <a:ext uri="{FF2B5EF4-FFF2-40B4-BE49-F238E27FC236}">
                <a16:creationId xmlns:a16="http://schemas.microsoft.com/office/drawing/2014/main" id="{BB6B71FF-5C15-68C7-E9F5-F540AF6E8B10}"/>
              </a:ext>
            </a:extLst>
          </p:cNvPr>
          <p:cNvGraphicFramePr>
            <a:graphicFrameLocks noGrp="1"/>
          </p:cNvGraphicFramePr>
          <p:nvPr>
            <p:extLst>
              <p:ext uri="{D42A27DB-BD31-4B8C-83A1-F6EECF244321}">
                <p14:modId xmlns:p14="http://schemas.microsoft.com/office/powerpoint/2010/main" val="4073754085"/>
              </p:ext>
            </p:extLst>
          </p:nvPr>
        </p:nvGraphicFramePr>
        <p:xfrm>
          <a:off x="576000" y="864000"/>
          <a:ext cx="11041200" cy="5544000"/>
        </p:xfrm>
        <a:graphic>
          <a:graphicData uri="http://schemas.openxmlformats.org/drawingml/2006/table">
            <a:tbl>
              <a:tblPr firstRow="1" bandRow="1">
                <a:tableStyleId>{5C22544A-7EE6-4342-B048-85BDC9FD1C3A}</a:tableStyleId>
              </a:tblPr>
              <a:tblGrid>
                <a:gridCol w="736079">
                  <a:extLst>
                    <a:ext uri="{9D8B030D-6E8A-4147-A177-3AD203B41FA5}">
                      <a16:colId xmlns:a16="http://schemas.microsoft.com/office/drawing/2014/main" val="788139100"/>
                    </a:ext>
                  </a:extLst>
                </a:gridCol>
                <a:gridCol w="8096881">
                  <a:extLst>
                    <a:ext uri="{9D8B030D-6E8A-4147-A177-3AD203B41FA5}">
                      <a16:colId xmlns:a16="http://schemas.microsoft.com/office/drawing/2014/main" val="3829192621"/>
                    </a:ext>
                  </a:extLst>
                </a:gridCol>
                <a:gridCol w="2208240">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solidFill>
                            <a:schemeClr val="tx1"/>
                          </a:solidFill>
                          <a:latin typeface="+mn-ea"/>
                          <a:ea typeface="+mn-ea"/>
                        </a:rPr>
                        <a:t>１</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海外企業情報サイトおよび債権管理等</a:t>
                      </a:r>
                      <a:r>
                        <a:rPr kumimoji="1" lang="en-US" altLang="ja-JP" sz="1400">
                          <a:solidFill>
                            <a:schemeClr val="tx1"/>
                          </a:solidFill>
                          <a:latin typeface="+mn-ea"/>
                          <a:ea typeface="+mn-ea"/>
                        </a:rPr>
                        <a:t>Excel</a:t>
                      </a:r>
                      <a:r>
                        <a:rPr kumimoji="1" lang="ja-JP" altLang="en-US" sz="1400">
                          <a:solidFill>
                            <a:schemeClr val="tx1"/>
                          </a:solidFill>
                          <a:latin typeface="+mn-ea"/>
                          <a:ea typeface="+mn-ea"/>
                        </a:rPr>
                        <a:t>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ja-JP" altLang="en-US" sz="1400">
                          <a:solidFill>
                            <a:schemeClr val="tx1"/>
                          </a:solidFill>
                          <a:latin typeface="+mn-ea"/>
                          <a:ea typeface="+mn-ea"/>
                        </a:rPr>
                        <a:t>２</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黒本ポータル保守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solidFill>
                            <a:schemeClr val="tx1"/>
                          </a:solidFill>
                          <a:latin typeface="+mn-ea"/>
                          <a:ea typeface="+mn-ea"/>
                        </a:rPr>
                        <a:t>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期末報奨金システム保守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3201294"/>
                  </a:ext>
                </a:extLst>
              </a:tr>
              <a:tr h="396000">
                <a:tc>
                  <a:txBody>
                    <a:bodyPr/>
                    <a:lstStyle/>
                    <a:p>
                      <a:pPr algn="ctr"/>
                      <a:r>
                        <a:rPr kumimoji="1" lang="en-US" altLang="ja-JP" sz="1400">
                          <a:solidFill>
                            <a:schemeClr val="tx1"/>
                          </a:solidFill>
                          <a:latin typeface="+mn-ea"/>
                          <a:ea typeface="+mn-ea"/>
                        </a:rPr>
                        <a:t>4</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IFC</a:t>
                      </a:r>
                      <a:r>
                        <a:rPr kumimoji="1" lang="ja-JP" altLang="en-US" sz="1400">
                          <a:solidFill>
                            <a:schemeClr val="tx1"/>
                          </a:solidFill>
                          <a:latin typeface="+mn-ea"/>
                          <a:ea typeface="+mn-ea"/>
                        </a:rPr>
                        <a:t>生産委託ポータル保守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業務変革二課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750968"/>
                  </a:ext>
                </a:extLst>
              </a:tr>
              <a:tr h="396000">
                <a:tc>
                  <a:txBody>
                    <a:bodyPr/>
                    <a:lstStyle/>
                    <a:p>
                      <a:pPr algn="ctr"/>
                      <a:r>
                        <a:rPr kumimoji="1" lang="en-US" altLang="ja-JP" sz="1400">
                          <a:solidFill>
                            <a:schemeClr val="tx1"/>
                          </a:solidFill>
                          <a:latin typeface="+mn-ea"/>
                          <a:ea typeface="+mn-ea"/>
                        </a:rPr>
                        <a:t>5</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MES</a:t>
                      </a:r>
                      <a:r>
                        <a:rPr kumimoji="1" lang="ja-JP" altLang="en-US" sz="1400">
                          <a:solidFill>
                            <a:schemeClr val="tx1"/>
                          </a:solidFill>
                          <a:latin typeface="+mn-ea"/>
                          <a:ea typeface="+mn-ea"/>
                        </a:rPr>
                        <a:t>システム 保守・運用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040990"/>
                  </a:ext>
                </a:extLst>
              </a:tr>
              <a:tr h="396000">
                <a:tc>
                  <a:txBody>
                    <a:bodyPr/>
                    <a:lstStyle/>
                    <a:p>
                      <a:pPr algn="ctr"/>
                      <a:r>
                        <a:rPr kumimoji="1" lang="en-US" altLang="ja-JP" sz="1400">
                          <a:solidFill>
                            <a:schemeClr val="tx1"/>
                          </a:solidFill>
                          <a:latin typeface="+mn-ea"/>
                          <a:ea typeface="+mn-ea"/>
                        </a:rPr>
                        <a:t>6</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千葉運転管理システム保守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0549527"/>
                  </a:ext>
                </a:extLst>
              </a:tr>
              <a:tr h="396000">
                <a:tc>
                  <a:txBody>
                    <a:bodyPr/>
                    <a:lstStyle/>
                    <a:p>
                      <a:pPr algn="ctr"/>
                      <a:r>
                        <a:rPr kumimoji="1" lang="en-US" altLang="ja-JP" sz="1400">
                          <a:solidFill>
                            <a:schemeClr val="tx1"/>
                          </a:solidFill>
                          <a:latin typeface="+mn-ea"/>
                          <a:ea typeface="+mn-ea"/>
                        </a:rPr>
                        <a:t>7</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海外バーコードシステム保守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35848"/>
                  </a:ext>
                </a:extLst>
              </a:tr>
              <a:tr h="396000">
                <a:tc>
                  <a:txBody>
                    <a:bodyPr/>
                    <a:lstStyle/>
                    <a:p>
                      <a:pPr algn="ctr"/>
                      <a:r>
                        <a:rPr kumimoji="1" lang="en-US" altLang="ja-JP" sz="1400">
                          <a:solidFill>
                            <a:schemeClr val="tx1"/>
                          </a:solidFill>
                          <a:latin typeface="+mn-ea"/>
                          <a:ea typeface="+mn-ea"/>
                        </a:rPr>
                        <a:t>8</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出光総合資格サイト保守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7162782"/>
                  </a:ext>
                </a:extLst>
              </a:tr>
              <a:tr h="396000">
                <a:tc>
                  <a:txBody>
                    <a:bodyPr/>
                    <a:lstStyle/>
                    <a:p>
                      <a:pPr algn="ctr"/>
                      <a:r>
                        <a:rPr kumimoji="1" lang="en-US" altLang="ja-JP" sz="1400">
                          <a:solidFill>
                            <a:schemeClr val="tx1"/>
                          </a:solidFill>
                          <a:latin typeface="+mn-ea"/>
                          <a:ea typeface="+mn-ea"/>
                        </a:rPr>
                        <a:t>9</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研究所・工場系システム保守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r h="396000">
                <a:tc>
                  <a:txBody>
                    <a:bodyPr/>
                    <a:lstStyle/>
                    <a:p>
                      <a:pPr algn="ctr"/>
                      <a:r>
                        <a:rPr kumimoji="1" lang="en-US" altLang="ja-JP" sz="1400">
                          <a:solidFill>
                            <a:schemeClr val="tx1"/>
                          </a:solidFill>
                          <a:latin typeface="+mn-ea"/>
                          <a:ea typeface="+mn-ea"/>
                        </a:rPr>
                        <a:t>10</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業務変革四課</a:t>
                      </a:r>
                      <a:r>
                        <a:rPr kumimoji="1" lang="en-US" altLang="ja-JP" sz="1400">
                          <a:solidFill>
                            <a:schemeClr val="tx1"/>
                          </a:solidFill>
                          <a:latin typeface="+mn-ea"/>
                          <a:ea typeface="+mn-ea"/>
                        </a:rPr>
                        <a:t>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4966302"/>
                  </a:ext>
                </a:extLst>
              </a:tr>
              <a:tr h="396000">
                <a:tc>
                  <a:txBody>
                    <a:bodyPr/>
                    <a:lstStyle/>
                    <a:p>
                      <a:pPr algn="ctr"/>
                      <a:r>
                        <a:rPr kumimoji="1" lang="en-US" altLang="ja-JP" sz="1400">
                          <a:solidFill>
                            <a:schemeClr val="tx1"/>
                          </a:solidFill>
                          <a:latin typeface="+mn-ea"/>
                          <a:ea typeface="+mn-ea"/>
                        </a:rPr>
                        <a:t>11</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海上入出荷計画業務システム保守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solidFill>
                            <a:schemeClr val="tx1"/>
                          </a:solidFill>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9760635"/>
                  </a:ext>
                </a:extLst>
              </a:tr>
              <a:tr h="396000">
                <a:tc>
                  <a:txBody>
                    <a:bodyPr/>
                    <a:lstStyle/>
                    <a:p>
                      <a:pPr algn="ctr"/>
                      <a:r>
                        <a:rPr kumimoji="1" lang="en-US" altLang="ja-JP" sz="1400">
                          <a:solidFill>
                            <a:schemeClr val="tx1"/>
                          </a:solidFill>
                          <a:latin typeface="+mn-ea"/>
                          <a:ea typeface="+mn-ea"/>
                        </a:rPr>
                        <a:t>12</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solidFill>
                            <a:schemeClr val="tx1"/>
                          </a:solidFill>
                          <a:latin typeface="+mn-ea"/>
                          <a:ea typeface="+mn-ea"/>
                        </a:rPr>
                        <a:t>IDM</a:t>
                      </a:r>
                      <a:r>
                        <a:rPr kumimoji="1" lang="ja-JP" altLang="en-US" sz="1400">
                          <a:solidFill>
                            <a:schemeClr val="tx1"/>
                          </a:solidFill>
                          <a:latin typeface="+mn-ea"/>
                          <a:ea typeface="+mn-ea"/>
                        </a:rPr>
                        <a:t>システム保守</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ﾃﾞｼﾞﾀﾙﾌﾟﾗｯﾄﾌｫｰﾑ課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3072616"/>
                  </a:ext>
                </a:extLst>
              </a:tr>
              <a:tr h="396000">
                <a:tc>
                  <a:txBody>
                    <a:bodyPr/>
                    <a:lstStyle/>
                    <a:p>
                      <a:pPr algn="ctr"/>
                      <a:r>
                        <a:rPr kumimoji="1" lang="en-US" altLang="ja-JP" sz="1400">
                          <a:solidFill>
                            <a:schemeClr val="tx1"/>
                          </a:solidFill>
                          <a:latin typeface="+mn-ea"/>
                          <a:ea typeface="+mn-ea"/>
                        </a:rPr>
                        <a:t>13</a:t>
                      </a:r>
                      <a:endParaRPr kumimoji="1" lang="ja-JP" altLang="en-US" sz="1400">
                        <a:solidFill>
                          <a:schemeClr val="tx1"/>
                        </a:solidFill>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次期</a:t>
                      </a:r>
                      <a:r>
                        <a:rPr kumimoji="1" lang="en-US" altLang="ja-JP" sz="1400">
                          <a:solidFill>
                            <a:schemeClr val="tx1"/>
                          </a:solidFill>
                          <a:latin typeface="+mn-ea"/>
                          <a:ea typeface="+mn-ea"/>
                        </a:rPr>
                        <a:t>POS DB</a:t>
                      </a:r>
                      <a:r>
                        <a:rPr kumimoji="1" lang="ja-JP" altLang="en-US" sz="1400">
                          <a:solidFill>
                            <a:schemeClr val="tx1"/>
                          </a:solidFill>
                          <a:latin typeface="+mn-ea"/>
                          <a:ea typeface="+mn-ea"/>
                        </a:rPr>
                        <a:t>保守・技術支援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a:r>
                        <a:rPr kumimoji="1" lang="ja-JP" altLang="en-US" sz="1400">
                          <a:solidFill>
                            <a:schemeClr val="tx1"/>
                          </a:solidFill>
                          <a:latin typeface="+mn-ea"/>
                          <a:ea typeface="+mn-ea"/>
                        </a:rPr>
                        <a:t>販売部</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1200483"/>
                  </a:ext>
                </a:extLst>
              </a:tr>
            </a:tbl>
          </a:graphicData>
        </a:graphic>
      </p:graphicFrame>
      <p:sp>
        <p:nvSpPr>
          <p:cNvPr id="4" name="フッター プレースホルダー 3">
            <a:extLst>
              <a:ext uri="{FF2B5EF4-FFF2-40B4-BE49-F238E27FC236}">
                <a16:creationId xmlns:a16="http://schemas.microsoft.com/office/drawing/2014/main" id="{98E6C16D-46A3-7266-8BC4-518CBBE2D829}"/>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06A08549-0263-F7BF-CFC6-BCFA3F717A09}"/>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32</a:t>
            </a:fld>
            <a:endParaRPr kumimoji="1" lang="ja-JP" altLang="en-US" sz="700"/>
          </a:p>
        </p:txBody>
      </p:sp>
    </p:spTree>
    <p:extLst>
      <p:ext uri="{BB962C8B-B14F-4D97-AF65-F5344CB8AC3E}">
        <p14:creationId xmlns:p14="http://schemas.microsoft.com/office/powerpoint/2010/main" val="1490667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AFBB-40C2-496D-B346-2F35D7574253}"/>
              </a:ext>
            </a:extLst>
          </p:cNvPr>
          <p:cNvSpPr>
            <a:spLocks noGrp="1"/>
          </p:cNvSpPr>
          <p:nvPr>
            <p:ph type="title"/>
          </p:nvPr>
        </p:nvSpPr>
        <p:spPr/>
        <p:txBody>
          <a:bodyPr/>
          <a:lstStyle/>
          <a:p>
            <a:r>
              <a:rPr lang="en-US" altLang="ja-JP">
                <a:latin typeface="游明朝"/>
                <a:ea typeface="游明朝"/>
              </a:rPr>
              <a:t>7-5</a:t>
            </a:r>
            <a:r>
              <a:rPr lang="ja-JP" altLang="en-US">
                <a:latin typeface="游明朝"/>
                <a:ea typeface="游明朝"/>
              </a:rPr>
              <a:t>．貴社</a:t>
            </a:r>
            <a:r>
              <a:rPr kumimoji="1" lang="ja-JP" altLang="en-US">
                <a:latin typeface="游明朝"/>
                <a:ea typeface="游明朝"/>
              </a:rPr>
              <a:t>プロジェクトにおける主な派遣・準委任参画実績</a:t>
            </a:r>
          </a:p>
        </p:txBody>
      </p:sp>
      <p:sp>
        <p:nvSpPr>
          <p:cNvPr id="3" name="フッター プレースホルダー 3">
            <a:extLst>
              <a:ext uri="{FF2B5EF4-FFF2-40B4-BE49-F238E27FC236}">
                <a16:creationId xmlns:a16="http://schemas.microsoft.com/office/drawing/2014/main" id="{79C659F8-0B0A-2447-6154-EEAA1DE2E7E0}"/>
              </a:ext>
            </a:extLst>
          </p:cNvPr>
          <p:cNvSpPr>
            <a:spLocks noGrp="1"/>
          </p:cNvSpPr>
          <p:nvPr>
            <p:ph type="ftr" sz="quarter" idx="11"/>
          </p:nvPr>
        </p:nvSpPr>
        <p:spPr>
          <a:xfrm>
            <a:off x="3036000" y="6552000"/>
            <a:ext cx="6120000" cy="216000"/>
          </a:xfrm>
        </p:spPr>
        <p:txBody>
          <a:bodyPr/>
          <a:lstStyle/>
          <a:p>
            <a:r>
              <a:rPr lang="en-US" altLang="ja-JP"/>
              <a:t>Copyright © </a:t>
            </a:r>
            <a:r>
              <a:rPr lang="en-US" altLang="ja-JP" err="1"/>
              <a:t>SystemEXE,Inc</a:t>
            </a:r>
            <a:r>
              <a:rPr lang="en-US" altLang="ja-JP"/>
              <a:t> All Rights Reserved.</a:t>
            </a:r>
          </a:p>
        </p:txBody>
      </p:sp>
      <p:sp>
        <p:nvSpPr>
          <p:cNvPr id="5" name="スライド番号プレースホルダー 3">
            <a:extLst>
              <a:ext uri="{FF2B5EF4-FFF2-40B4-BE49-F238E27FC236}">
                <a16:creationId xmlns:a16="http://schemas.microsoft.com/office/drawing/2014/main" id="{FBCFA1A0-6C61-2C00-25FA-43F3CAFDA257}"/>
              </a:ext>
            </a:extLst>
          </p:cNvPr>
          <p:cNvSpPr>
            <a:spLocks noGrp="1"/>
          </p:cNvSpPr>
          <p:nvPr>
            <p:ph type="sldNum" sz="quarter" idx="12"/>
          </p:nvPr>
        </p:nvSpPr>
        <p:spPr>
          <a:xfrm>
            <a:off x="10752000" y="6552000"/>
            <a:ext cx="1440000" cy="216000"/>
          </a:xfrm>
        </p:spPr>
        <p:txBody>
          <a:bodyPr/>
          <a:lstStyle/>
          <a:p>
            <a:fld id="{26CA5134-5AAC-D342-B763-43605FECB385}" type="slidenum">
              <a:rPr kumimoji="1" lang="ja-JP" altLang="en-US" smtClean="0"/>
              <a:pPr/>
              <a:t>33</a:t>
            </a:fld>
            <a:endParaRPr kumimoji="1" lang="ja-JP" altLang="en-US" sz="700"/>
          </a:p>
        </p:txBody>
      </p:sp>
      <p:graphicFrame>
        <p:nvGraphicFramePr>
          <p:cNvPr id="4" name="表 4">
            <a:extLst>
              <a:ext uri="{FF2B5EF4-FFF2-40B4-BE49-F238E27FC236}">
                <a16:creationId xmlns:a16="http://schemas.microsoft.com/office/drawing/2014/main" id="{935529FD-45E0-889D-F8CA-D3A26146E78C}"/>
              </a:ext>
            </a:extLst>
          </p:cNvPr>
          <p:cNvGraphicFramePr>
            <a:graphicFrameLocks noGrp="1"/>
          </p:cNvGraphicFramePr>
          <p:nvPr>
            <p:extLst>
              <p:ext uri="{D42A27DB-BD31-4B8C-83A1-F6EECF244321}">
                <p14:modId xmlns:p14="http://schemas.microsoft.com/office/powerpoint/2010/main" val="3267135493"/>
              </p:ext>
            </p:extLst>
          </p:nvPr>
        </p:nvGraphicFramePr>
        <p:xfrm>
          <a:off x="576000" y="864000"/>
          <a:ext cx="11041200" cy="3708000"/>
        </p:xfrm>
        <a:graphic>
          <a:graphicData uri="http://schemas.openxmlformats.org/drawingml/2006/table">
            <a:tbl>
              <a:tblPr firstRow="1" bandRow="1">
                <a:tableStyleId>{5C22544A-7EE6-4342-B048-85BDC9FD1C3A}</a:tableStyleId>
              </a:tblPr>
              <a:tblGrid>
                <a:gridCol w="736080">
                  <a:extLst>
                    <a:ext uri="{9D8B030D-6E8A-4147-A177-3AD203B41FA5}">
                      <a16:colId xmlns:a16="http://schemas.microsoft.com/office/drawing/2014/main" val="788139100"/>
                    </a:ext>
                  </a:extLst>
                </a:gridCol>
                <a:gridCol w="7419544">
                  <a:extLst>
                    <a:ext uri="{9D8B030D-6E8A-4147-A177-3AD203B41FA5}">
                      <a16:colId xmlns:a16="http://schemas.microsoft.com/office/drawing/2014/main" val="3829192621"/>
                    </a:ext>
                  </a:extLst>
                </a:gridCol>
                <a:gridCol w="2885576">
                  <a:extLst>
                    <a:ext uri="{9D8B030D-6E8A-4147-A177-3AD203B41FA5}">
                      <a16:colId xmlns:a16="http://schemas.microsoft.com/office/drawing/2014/main" val="1020064100"/>
                    </a:ext>
                  </a:extLst>
                </a:gridCol>
              </a:tblGrid>
              <a:tr h="396000">
                <a:tc>
                  <a:txBody>
                    <a:bodyPr/>
                    <a:lstStyle/>
                    <a:p>
                      <a:pPr algn="ctr"/>
                      <a:r>
                        <a:rPr kumimoji="1" lang="en-US" altLang="ja-JP" sz="1400">
                          <a:latin typeface="+mn-ea"/>
                          <a:ea typeface="+mn-ea"/>
                        </a:rPr>
                        <a:t>#</a:t>
                      </a:r>
                      <a:endParaRPr kumimoji="1" lang="ja-JP" altLang="en-US" sz="1400">
                        <a:latin typeface="+mn-ea"/>
                        <a:ea typeface="+mn-ea"/>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案件名</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kumimoji="1" lang="ja-JP" altLang="en-US" sz="1400">
                          <a:latin typeface="+mn-ea"/>
                          <a:ea typeface="+mn-ea"/>
                        </a:rPr>
                        <a:t>ご対応部署</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681146360"/>
                  </a:ext>
                </a:extLst>
              </a:tr>
              <a:tr h="396000">
                <a:tc>
                  <a:txBody>
                    <a:bodyPr/>
                    <a:lstStyle/>
                    <a:p>
                      <a:pPr algn="ctr"/>
                      <a:r>
                        <a:rPr kumimoji="1" lang="ja-JP" altLang="en-US" sz="1400">
                          <a:latin typeface="+mn-ea"/>
                          <a:ea typeface="+mn-ea"/>
                        </a:rPr>
                        <a:t>１</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統合マスタ基盤構築支援</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38100" cmpd="sng">
                      <a:noFill/>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7974386"/>
                  </a:ext>
                </a:extLst>
              </a:tr>
              <a:tr h="396000">
                <a:tc>
                  <a:txBody>
                    <a:bodyPr/>
                    <a:lstStyle/>
                    <a:p>
                      <a:pPr algn="ctr"/>
                      <a:r>
                        <a:rPr kumimoji="1" lang="en-US" altLang="ja-JP" sz="1400">
                          <a:latin typeface="+mn-ea"/>
                          <a:ea typeface="+mn-ea"/>
                        </a:rPr>
                        <a:t>2</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燃料油</a:t>
                      </a:r>
                      <a:r>
                        <a:rPr kumimoji="1" lang="en-US" altLang="ja-JP" sz="1400">
                          <a:latin typeface="+mn-ea"/>
                          <a:ea typeface="+mn-ea"/>
                        </a:rPr>
                        <a:t>ADF</a:t>
                      </a:r>
                      <a:r>
                        <a:rPr kumimoji="1" lang="ja-JP" altLang="en-US" sz="1400">
                          <a:latin typeface="+mn-ea"/>
                          <a:ea typeface="+mn-ea"/>
                        </a:rPr>
                        <a:t>関連開発支援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業務変革一課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5560948"/>
                  </a:ext>
                </a:extLst>
              </a:tr>
              <a:tr h="396000">
                <a:tc>
                  <a:txBody>
                    <a:bodyPr/>
                    <a:lstStyle/>
                    <a:p>
                      <a:pPr algn="ctr"/>
                      <a:r>
                        <a:rPr kumimoji="1" lang="en-US" altLang="ja-JP" sz="1400">
                          <a:latin typeface="+mn-ea"/>
                          <a:ea typeface="+mn-ea"/>
                        </a:rPr>
                        <a:t>3</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Azure</a:t>
                      </a:r>
                      <a:r>
                        <a:rPr kumimoji="1" lang="ja-JP" altLang="en-US" sz="1400">
                          <a:latin typeface="+mn-ea"/>
                          <a:ea typeface="+mn-ea"/>
                        </a:rPr>
                        <a:t> </a:t>
                      </a:r>
                      <a:r>
                        <a:rPr kumimoji="1" lang="en-US" altLang="ja-JP" sz="1400">
                          <a:latin typeface="+mn-ea"/>
                          <a:ea typeface="+mn-ea"/>
                        </a:rPr>
                        <a:t>Synapse</a:t>
                      </a:r>
                      <a:r>
                        <a:rPr kumimoji="1" lang="ja-JP" altLang="en-US" sz="1400">
                          <a:latin typeface="+mn-ea"/>
                          <a:ea typeface="+mn-ea"/>
                        </a:rPr>
                        <a:t>基盤運用支援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業務変革三課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81087585"/>
                  </a:ext>
                </a:extLst>
              </a:tr>
              <a:tr h="540000">
                <a:tc>
                  <a:txBody>
                    <a:bodyPr/>
                    <a:lstStyle/>
                    <a:p>
                      <a:pPr algn="ctr"/>
                      <a:r>
                        <a:rPr kumimoji="1" lang="en-US" altLang="ja-JP" sz="1400">
                          <a:latin typeface="+mn-ea"/>
                          <a:ea typeface="+mn-ea"/>
                        </a:rPr>
                        <a:t>4</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業務変革四課における開発・保守・運用に関わる業務</a:t>
                      </a:r>
                      <a:endParaRPr kumimoji="1" lang="en-US" altLang="ja-JP" sz="1400">
                        <a:latin typeface="+mn-ea"/>
                        <a:ea typeface="+mn-ea"/>
                      </a:endParaRPr>
                    </a:p>
                    <a:p>
                      <a:pPr algn="l"/>
                      <a:r>
                        <a:rPr kumimoji="1" lang="ja-JP" altLang="en-US" sz="1400">
                          <a:latin typeface="+mn-ea"/>
                          <a:ea typeface="+mn-ea"/>
                        </a:rPr>
                        <a:t>　</a:t>
                      </a:r>
                      <a:r>
                        <a:rPr kumimoji="1" lang="en-US" altLang="ja-JP" sz="1400">
                          <a:latin typeface="+mn-ea"/>
                          <a:ea typeface="+mn-ea"/>
                        </a:rPr>
                        <a:t>※</a:t>
                      </a:r>
                      <a:r>
                        <a:rPr kumimoji="1" lang="ja-JP" altLang="en-US" sz="1400">
                          <a:latin typeface="+mn-ea"/>
                          <a:ea typeface="+mn-ea"/>
                        </a:rPr>
                        <a:t>青井・河名・植木・滝田が貴社社員代替として従事</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694972"/>
                  </a:ext>
                </a:extLst>
              </a:tr>
              <a:tr h="396000">
                <a:tc>
                  <a:txBody>
                    <a:bodyPr/>
                    <a:lstStyle/>
                    <a:p>
                      <a:pPr algn="ctr"/>
                      <a:r>
                        <a:rPr kumimoji="1" lang="en-US" altLang="ja-JP" sz="1400">
                          <a:latin typeface="+mn-ea"/>
                          <a:ea typeface="+mn-ea"/>
                        </a:rPr>
                        <a:t>5</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en-US" altLang="ja-JP" sz="1400">
                          <a:latin typeface="+mn-ea"/>
                          <a:ea typeface="+mn-ea"/>
                        </a:rPr>
                        <a:t>DX</a:t>
                      </a:r>
                      <a:r>
                        <a:rPr kumimoji="1" lang="ja-JP" altLang="en-US" sz="1400">
                          <a:latin typeface="+mn-ea"/>
                          <a:ea typeface="+mn-ea"/>
                        </a:rPr>
                        <a:t>業務支援、</a:t>
                      </a:r>
                      <a:r>
                        <a:rPr kumimoji="1" lang="en-US" altLang="ja-JP" sz="1400">
                          <a:latin typeface="+mn-ea"/>
                          <a:ea typeface="+mn-ea"/>
                        </a:rPr>
                        <a:t>SDM</a:t>
                      </a:r>
                      <a:r>
                        <a:rPr kumimoji="1" lang="ja-JP" altLang="en-US" sz="1400">
                          <a:latin typeface="+mn-ea"/>
                          <a:ea typeface="+mn-ea"/>
                        </a:rPr>
                        <a:t>くん新機能開発要員</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業務変革四課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386390"/>
                  </a:ext>
                </a:extLst>
              </a:tr>
              <a:tr h="396000">
                <a:tc>
                  <a:txBody>
                    <a:bodyPr/>
                    <a:lstStyle/>
                    <a:p>
                      <a:pPr algn="ctr"/>
                      <a:r>
                        <a:rPr kumimoji="1" lang="en-US" altLang="ja-JP" sz="1400">
                          <a:latin typeface="+mn-ea"/>
                          <a:ea typeface="+mn-ea"/>
                        </a:rPr>
                        <a:t>6</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デジタルプラットフォーム課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193168"/>
                  </a:ext>
                </a:extLst>
              </a:tr>
              <a:tr h="396000">
                <a:tc>
                  <a:txBody>
                    <a:bodyPr/>
                    <a:lstStyle/>
                    <a:p>
                      <a:pPr algn="ctr"/>
                      <a:r>
                        <a:rPr kumimoji="1" lang="en-US" altLang="ja-JP" sz="1400">
                          <a:latin typeface="+mn-ea"/>
                          <a:ea typeface="+mn-ea"/>
                        </a:rPr>
                        <a:t>7</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a:latin typeface="+mn-ea"/>
                          <a:ea typeface="+mn-ea"/>
                        </a:rPr>
                        <a:t>生成</a:t>
                      </a:r>
                      <a:r>
                        <a:rPr kumimoji="1" lang="en-US" altLang="ja-JP" sz="1400">
                          <a:latin typeface="+mn-ea"/>
                          <a:ea typeface="+mn-ea"/>
                        </a:rPr>
                        <a:t>AI</a:t>
                      </a:r>
                      <a:r>
                        <a:rPr kumimoji="1" lang="ja-JP" altLang="en-US" sz="1400">
                          <a:latin typeface="+mn-ea"/>
                          <a:ea typeface="+mn-ea"/>
                        </a:rPr>
                        <a:t>に関するシステム開発支援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mn-ea"/>
                          <a:ea typeface="+mn-ea"/>
                        </a:rPr>
                        <a:t>DX</a:t>
                      </a:r>
                      <a:r>
                        <a:rPr kumimoji="1" lang="ja-JP" altLang="en-US" sz="1400">
                          <a:latin typeface="+mn-ea"/>
                          <a:ea typeface="+mn-ea"/>
                        </a:rPr>
                        <a:t>技術戦略課</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2743070"/>
                  </a:ext>
                </a:extLst>
              </a:tr>
              <a:tr h="396000">
                <a:tc>
                  <a:txBody>
                    <a:bodyPr/>
                    <a:lstStyle/>
                    <a:p>
                      <a:pPr algn="ctr"/>
                      <a:r>
                        <a:rPr kumimoji="1" lang="en-US" altLang="ja-JP" sz="1400">
                          <a:latin typeface="+mn-ea"/>
                          <a:ea typeface="+mn-ea"/>
                        </a:rPr>
                        <a:t>8</a:t>
                      </a:r>
                      <a:endParaRPr kumimoji="1" lang="ja-JP" altLang="en-US" sz="1400">
                        <a:latin typeface="+mn-ea"/>
                        <a:ea typeface="+mn-ea"/>
                      </a:endParaRP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操業システム革新グループ業務支援</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kumimoji="1" lang="ja-JP" altLang="en-US" sz="1400">
                          <a:latin typeface="+mn-ea"/>
                          <a:ea typeface="+mn-ea"/>
                        </a:rPr>
                        <a:t>生産技術センター</a:t>
                      </a:r>
                    </a:p>
                  </a:txBody>
                  <a:tcPr anchor="ctr">
                    <a:lnL w="12700" cmpd="sng">
                      <a:noFill/>
                    </a:lnL>
                    <a:lnR w="12700" cmpd="sng">
                      <a:noFill/>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793563"/>
                  </a:ext>
                </a:extLst>
              </a:tr>
            </a:tbl>
          </a:graphicData>
        </a:graphic>
      </p:graphicFrame>
    </p:spTree>
    <p:extLst>
      <p:ext uri="{BB962C8B-B14F-4D97-AF65-F5344CB8AC3E}">
        <p14:creationId xmlns:p14="http://schemas.microsoft.com/office/powerpoint/2010/main" val="2819955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1"/>
          </p:nvPr>
        </p:nvSpPr>
        <p:spPr/>
        <p:txBody>
          <a:bodyPr/>
          <a:lstStyle/>
          <a:p>
            <a:r>
              <a:rPr lang="en-US"/>
              <a:t>Copyright © SystemEXE,Inc All Rights Reserved.</a:t>
            </a:r>
          </a:p>
        </p:txBody>
      </p:sp>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担当：池野貴明、髙浦祐朗</a:t>
            </a:r>
          </a:p>
        </p:txBody>
      </p:sp>
      <p:sp>
        <p:nvSpPr>
          <p:cNvPr id="7" name="テキスト プレースホルダー 6"/>
          <p:cNvSpPr>
            <a:spLocks noGrp="1"/>
          </p:cNvSpPr>
          <p:nvPr>
            <p:ph type="body" sz="quarter" idx="15"/>
          </p:nvPr>
        </p:nvSpPr>
        <p:spPr/>
        <p:txBody>
          <a:bodyPr/>
          <a:lstStyle/>
          <a:p>
            <a:r>
              <a:rPr lang="en-US" altLang="ja-JP"/>
              <a:t>TEL</a:t>
            </a:r>
            <a:r>
              <a:rPr lang="ja-JP" altLang="en-US"/>
              <a:t>：</a:t>
            </a:r>
            <a:r>
              <a:rPr lang="en-US" altLang="ja-JP"/>
              <a:t> 03-5299-5351</a:t>
            </a:r>
            <a:endParaRPr lang="ja-JP" altLang="en-US"/>
          </a:p>
        </p:txBody>
      </p:sp>
      <p:sp>
        <p:nvSpPr>
          <p:cNvPr id="8" name="テキスト プレースホルダー 7"/>
          <p:cNvSpPr>
            <a:spLocks noGrp="1"/>
          </p:cNvSpPr>
          <p:nvPr>
            <p:ph type="body" sz="quarter" idx="16"/>
          </p:nvPr>
        </p:nvSpPr>
        <p:spPr/>
        <p:txBody>
          <a:bodyPr/>
          <a:lstStyle/>
          <a:p>
            <a:r>
              <a:rPr lang="en-US" altLang="ja-JP"/>
              <a:t>Mail</a:t>
            </a:r>
            <a:r>
              <a:rPr lang="ja-JP" altLang="en-US"/>
              <a:t>：</a:t>
            </a:r>
            <a:r>
              <a:rPr lang="en-US" altLang="ja-JP"/>
              <a:t> takaaki.ikeno@system-exe.jp</a:t>
            </a:r>
          </a:p>
          <a:p>
            <a:r>
              <a:rPr lang="ja-JP" altLang="en-US"/>
              <a:t>　　　</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https://www.system-exe.co.jp</a:t>
            </a:r>
            <a:endParaRPr kumimoji="1" lang="ja-JP" altLang="en-US"/>
          </a:p>
        </p:txBody>
      </p:sp>
      <p:sp>
        <p:nvSpPr>
          <p:cNvPr id="10" name="テキスト プレースホルダー 9"/>
          <p:cNvSpPr>
            <a:spLocks noGrp="1"/>
          </p:cNvSpPr>
          <p:nvPr>
            <p:ph type="body" sz="quarter" idx="18"/>
          </p:nvPr>
        </p:nvSpPr>
        <p:spPr>
          <a:xfrm>
            <a:off x="1920000" y="4944000"/>
            <a:ext cx="3936000" cy="577569"/>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b7644d4de02ded20394603be2720d07a">
  <xsd:schema xmlns:xsd="http://www.w3.org/2001/XMLSchema" xmlns:xs="http://www.w3.org/2001/XMLSchema" xmlns:p="http://schemas.microsoft.com/office/2006/metadata/properties" xmlns:ns2="2fd442da-66a9-4fa6-ba31-eb0d54ad1381" targetNamespace="http://schemas.microsoft.com/office/2006/metadata/properties" ma:root="true" ma:fieldsID="2cb02ba061cb2e2c8687b0626190540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A36ABA-2685-402D-BDEE-89B997F5D663}"/>
</file>

<file path=customXml/itemProps2.xml><?xml version="1.0" encoding="utf-8"?>
<ds:datastoreItem xmlns:ds="http://schemas.openxmlformats.org/officeDocument/2006/customXml" ds:itemID="{96D4756C-7B3C-4F66-935C-AB37B76449CD}">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6B460F5-A58E-476A-A48E-BDB354E063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TotalTime>
  <Words>4824</Words>
  <Application>Microsoft Office PowerPoint</Application>
  <PresentationFormat>ワイド画面</PresentationFormat>
  <Paragraphs>964</Paragraphs>
  <Slides>35</Slides>
  <Notes>11</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35</vt:i4>
      </vt:variant>
    </vt:vector>
  </HeadingPairs>
  <TitlesOfParts>
    <vt:vector size="45" baseType="lpstr">
      <vt:lpstr>Meiryo UI</vt:lpstr>
      <vt:lpstr>游ゴシック</vt:lpstr>
      <vt:lpstr>游ゴシック</vt:lpstr>
      <vt:lpstr>Yu Gothic Medium</vt:lpstr>
      <vt:lpstr>游ゴシック 本文</vt:lpstr>
      <vt:lpstr>游明朝</vt:lpstr>
      <vt:lpstr>Arial</vt:lpstr>
      <vt:lpstr>Calibri</vt:lpstr>
      <vt:lpstr>Wingdings</vt:lpstr>
      <vt:lpstr>Office テーマ</vt:lpstr>
      <vt:lpstr>PowerPoint プレゼンテーション</vt:lpstr>
      <vt:lpstr>PowerPoint プレゼンテーション</vt:lpstr>
      <vt:lpstr>目次</vt:lpstr>
      <vt:lpstr>ご提案のポイント</vt:lpstr>
      <vt:lpstr>1-1．現状の課題と実現したい姿(EXEの理解)</vt:lpstr>
      <vt:lpstr>1-2．システム化の範囲</vt:lpstr>
      <vt:lpstr>1-3．弊社の強み</vt:lpstr>
      <vt:lpstr>開発範囲</vt:lpstr>
      <vt:lpstr>2-1．対象機能一覧( Java化 )</vt:lpstr>
      <vt:lpstr>2-2．対象機能一覧( Java化 )</vt:lpstr>
      <vt:lpstr>ウォーターフォール開発の進め方</vt:lpstr>
      <vt:lpstr>3-1．ウォーターフォール開発の作業概要</vt:lpstr>
      <vt:lpstr>3-2．「出光開発標準」への理解</vt:lpstr>
      <vt:lpstr>3-3．品質目標</vt:lpstr>
      <vt:lpstr>3-4．品質管理①（レビュー）</vt:lpstr>
      <vt:lpstr>3-5．品質管理②（製造・テスト）</vt:lpstr>
      <vt:lpstr>3-6．スケジュール案</vt:lpstr>
      <vt:lpstr>3-7．会議体</vt:lpstr>
      <vt:lpstr>3-8．体制</vt:lpstr>
      <vt:lpstr>3-9．役割および責任・権限</vt:lpstr>
      <vt:lpstr>3-10．納品物</vt:lpstr>
      <vt:lpstr>お見積り</vt:lpstr>
      <vt:lpstr>4-1．お見積り</vt:lpstr>
      <vt:lpstr>概算お見積り(運用・保守)</vt:lpstr>
      <vt:lpstr>5-1．概算お見積り（運用・保守）</vt:lpstr>
      <vt:lpstr>5-2．サポート内容</vt:lpstr>
      <vt:lpstr>お見積り前提条件</vt:lpstr>
      <vt:lpstr>6-1．お見積り前提条件</vt:lpstr>
      <vt:lpstr>弊社情報</vt:lpstr>
      <vt:lpstr>7-1．弊社概要①</vt:lpstr>
      <vt:lpstr>7-2．貴社プロジェクトにおける主な開発実績・規模</vt:lpstr>
      <vt:lpstr>7-3．貴社プロジェクトにおける主な開発実績</vt:lpstr>
      <vt:lpstr>7-4．貴社プロジェクトにおける主な運用保守実績</vt:lpstr>
      <vt:lpstr>7-5．貴社プロジェクトにおける主な派遣・準委任参画実績</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池野貴明</cp:lastModifiedBy>
  <cp:revision>4</cp:revision>
  <dcterms:created xsi:type="dcterms:W3CDTF">2021-02-05T06:36:21Z</dcterms:created>
  <dcterms:modified xsi:type="dcterms:W3CDTF">2025-11-27T02:13:21Z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