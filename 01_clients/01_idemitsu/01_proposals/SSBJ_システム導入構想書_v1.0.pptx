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3" r:id="rId4"/>
  </p:sldMasterIdLst>
  <p:notesMasterIdLst>
    <p:notesMasterId r:id="rId44"/>
  </p:notesMasterIdLst>
  <p:sldIdLst>
    <p:sldId id="2147472692" r:id="rId5"/>
    <p:sldId id="271" r:id="rId6"/>
    <p:sldId id="273" r:id="rId7"/>
    <p:sldId id="286" r:id="rId8"/>
    <p:sldId id="264" r:id="rId9"/>
    <p:sldId id="283" r:id="rId10"/>
    <p:sldId id="275" r:id="rId11"/>
    <p:sldId id="282" r:id="rId12"/>
    <p:sldId id="263" r:id="rId13"/>
    <p:sldId id="2147483618" r:id="rId14"/>
    <p:sldId id="265" r:id="rId15"/>
    <p:sldId id="267" r:id="rId16"/>
    <p:sldId id="258" r:id="rId17"/>
    <p:sldId id="2147483646" r:id="rId18"/>
    <p:sldId id="2147483614" r:id="rId19"/>
    <p:sldId id="2147483647" r:id="rId20"/>
    <p:sldId id="277" r:id="rId21"/>
    <p:sldId id="2147483619" r:id="rId22"/>
    <p:sldId id="256" r:id="rId23"/>
    <p:sldId id="266" r:id="rId24"/>
    <p:sldId id="2147483617" r:id="rId25"/>
    <p:sldId id="2147376050" r:id="rId26"/>
    <p:sldId id="262" r:id="rId27"/>
    <p:sldId id="287" r:id="rId28"/>
    <p:sldId id="261" r:id="rId29"/>
    <p:sldId id="279" r:id="rId30"/>
    <p:sldId id="276" r:id="rId31"/>
    <p:sldId id="268" r:id="rId32"/>
    <p:sldId id="272" r:id="rId33"/>
    <p:sldId id="2147483642" r:id="rId34"/>
    <p:sldId id="274" r:id="rId35"/>
    <p:sldId id="260" r:id="rId36"/>
    <p:sldId id="2147483637" r:id="rId37"/>
    <p:sldId id="2147483640" r:id="rId38"/>
    <p:sldId id="278" r:id="rId39"/>
    <p:sldId id="2147483589" r:id="rId40"/>
    <p:sldId id="259" r:id="rId41"/>
    <p:sldId id="280" r:id="rId42"/>
    <p:sldId id="2147483638" r:id="rId43"/>
  </p:sldIdLst>
  <p:sldSz cx="9144000" cy="6858000" type="screen4x3"/>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2909534-B9D9-4E7F-B877-949BD95F5D87}">
          <p14:sldIdLst>
            <p14:sldId id="2147472692"/>
            <p14:sldId id="271"/>
          </p14:sldIdLst>
        </p14:section>
        <p14:section name="1. ESGシステム導入の背景・課題" id="{11AB7830-0CC5-4AE2-92A0-538D90D842B4}">
          <p14:sldIdLst>
            <p14:sldId id="273"/>
            <p14:sldId id="286"/>
            <p14:sldId id="264"/>
            <p14:sldId id="283"/>
          </p14:sldIdLst>
        </p14:section>
        <p14:section name="2. ESGシステム構築によって実現したい状態" id="{4CDE18F0-08DA-4678-808A-DC27F6389251}">
          <p14:sldIdLst>
            <p14:sldId id="275"/>
            <p14:sldId id="282"/>
            <p14:sldId id="263"/>
            <p14:sldId id="2147483618"/>
          </p14:sldIdLst>
        </p14:section>
        <p14:section name="3. 導入アプローチ・ロードマップ" id="{CB858DA5-EF83-45C1-B3A2-D86007B4A0DA}">
          <p14:sldIdLst>
            <p14:sldId id="265"/>
            <p14:sldId id="267"/>
            <p14:sldId id="258"/>
            <p14:sldId id="2147483646"/>
            <p14:sldId id="2147483614"/>
            <p14:sldId id="2147483647"/>
          </p14:sldIdLst>
        </p14:section>
        <p14:section name="4. 新ESGシステムとしての主な要件" id="{6DAE90FA-CA7A-458B-B0E8-7CCAC4784309}">
          <p14:sldIdLst>
            <p14:sldId id="277"/>
            <p14:sldId id="2147483619"/>
            <p14:sldId id="256"/>
            <p14:sldId id="266"/>
            <p14:sldId id="2147483617"/>
            <p14:sldId id="2147376050"/>
            <p14:sldId id="262"/>
            <p14:sldId id="287"/>
            <p14:sldId id="261"/>
            <p14:sldId id="279"/>
          </p14:sldIdLst>
        </p14:section>
        <p14:section name="5. ESGシステム導入に向けた周辺タスク" id="{315ED9C3-10AE-430A-A71C-236FC00E0D06}">
          <p14:sldIdLst>
            <p14:sldId id="276"/>
            <p14:sldId id="268"/>
            <p14:sldId id="272"/>
            <p14:sldId id="2147483642"/>
            <p14:sldId id="274"/>
          </p14:sldIdLst>
        </p14:section>
        <p14:section name="6. 新ESGシステムにおける機能要求・非機能要求" id="{B94834FA-82A8-4202-9E80-55C3509F28CB}">
          <p14:sldIdLst>
            <p14:sldId id="260"/>
          </p14:sldIdLst>
        </p14:section>
        <p14:section name="7. RFP提出先候補ソリューション" id="{89F5F710-2608-42DF-A510-A0330FBDA4E1}">
          <p14:sldIdLst>
            <p14:sldId id="2147483637"/>
            <p14:sldId id="2147483640"/>
          </p14:sldIdLst>
        </p14:section>
        <p14:section name="8. Appendix" id="{84ABF1F6-165D-49D9-A8F0-AB189C59537E}">
          <p14:sldIdLst>
            <p14:sldId id="278"/>
            <p14:sldId id="2147483589"/>
            <p14:sldId id="259"/>
            <p14:sldId id="280"/>
            <p14:sldId id="2147483638"/>
          </p14:sldIdLst>
        </p14:section>
      </p14:sectionLst>
    </p:ext>
    <p:ext uri="{EFAFB233-063F-42B5-8137-9DF3F51BA10A}">
      <p15:sldGuideLst xmlns:p15="http://schemas.microsoft.com/office/powerpoint/2012/main">
        <p15:guide id="1" orient="horz" pos="1842"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8D645B4D-0AFA-7984-6C81-1F1CB1391683}" name="Yamashita, Naoya" initials="NY" userId="S::naoyamashita@tohmatsu.co.jp::d8bf10c0-a636-40aa-9084-c4de726fe444" providerId="AD"/>
  <p188:author id="{A210B27A-1F1E-CB5E-F096-E48E82B4B98C}" name="Harada, Riku 4" initials="RH" userId="S::rharada4@tohmatsu.co.jp::c6a0246f-83d9-484f-bb94-cd7d864ed23e" providerId="AD"/>
  <p188:author id="{B6792483-7119-B8E8-45D9-9FCD99A39352}" name="Ishibashi, Asako" initials="IA" userId="S::asako.ishibashi@tohmatsu.co.jp::8e557517-b232-426e-bb7a-fc2838c4a386" providerId="AD"/>
  <p188:author id="{290355E3-F8A5-FE48-61DD-A2E0EC33C8F9}" name="Masaki Kurita" initials="MK" userId="Masaki Kurit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44546A"/>
    <a:srgbClr val="C55A11"/>
    <a:srgbClr val="00B0F0"/>
    <a:srgbClr val="F4BEEC"/>
    <a:srgbClr val="D9F5FF"/>
    <a:srgbClr val="DA291C"/>
    <a:srgbClr val="86BC25"/>
    <a:srgbClr val="EEF7E9"/>
    <a:srgbClr val="BAE3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AF45DF-5EC5-4E85-A7A8-0DDA8A731F4A}" v="3" dt="2025-08-19T01:16:50.148"/>
  </p1510:revLst>
</p1510:revInfo>
</file>

<file path=ppt/tableStyles.xml><?xml version="1.0" encoding="utf-8"?>
<a:tblStyleLst xmlns:a="http://schemas.openxmlformats.org/drawingml/2006/main" def="{5C22544A-7EE6-4342-B048-85BDC9FD1C3A}">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4" d="100"/>
          <a:sy n="104" d="100"/>
        </p:scale>
        <p:origin x="1824" y="114"/>
      </p:cViewPr>
      <p:guideLst>
        <p:guide orient="horz" pos="184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2918831" cy="495029"/>
          </a:xfrm>
          <a:prstGeom prst="rect">
            <a:avLst/>
          </a:prstGeom>
        </p:spPr>
        <p:txBody>
          <a:bodyPr vert="horz" lIns="90644" tIns="45322" rIns="90644" bIns="45322"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4" y="1"/>
            <a:ext cx="2918831" cy="495029"/>
          </a:xfrm>
          <a:prstGeom prst="rect">
            <a:avLst/>
          </a:prstGeom>
        </p:spPr>
        <p:txBody>
          <a:bodyPr vert="horz" lIns="90644" tIns="45322" rIns="90644" bIns="45322" rtlCol="0"/>
          <a:lstStyle>
            <a:lvl1pPr algn="r">
              <a:defRPr sz="1200"/>
            </a:lvl1pPr>
          </a:lstStyle>
          <a:p>
            <a:fld id="{5F9FF120-A316-0848-898C-5F096073A265}" type="datetimeFigureOut">
              <a:rPr kumimoji="1" lang="ja-JP" altLang="en-US" smtClean="0"/>
              <a:t>2025/9/3</a:t>
            </a:fld>
            <a:endParaRPr kumimoji="1" lang="ja-JP" altLang="en-US"/>
          </a:p>
        </p:txBody>
      </p:sp>
      <p:sp>
        <p:nvSpPr>
          <p:cNvPr id="4" name="スライド イメージ プレースホルダー 3"/>
          <p:cNvSpPr>
            <a:spLocks noGrp="1" noRot="1" noChangeAspect="1"/>
          </p:cNvSpPr>
          <p:nvPr>
            <p:ph type="sldImg" idx="2"/>
          </p:nvPr>
        </p:nvSpPr>
        <p:spPr>
          <a:xfrm>
            <a:off x="1147763" y="1233488"/>
            <a:ext cx="4440237" cy="3330575"/>
          </a:xfrm>
          <a:prstGeom prst="rect">
            <a:avLst/>
          </a:prstGeom>
          <a:noFill/>
          <a:ln w="12700">
            <a:solidFill>
              <a:prstClr val="black"/>
            </a:solidFill>
          </a:ln>
        </p:spPr>
        <p:txBody>
          <a:bodyPr vert="horz" lIns="90644" tIns="45322" rIns="90644" bIns="45322" rtlCol="0" anchor="ctr"/>
          <a:lstStyle/>
          <a:p>
            <a:endParaRPr lang="ja-JP" altLang="en-US"/>
          </a:p>
        </p:txBody>
      </p:sp>
      <p:sp>
        <p:nvSpPr>
          <p:cNvPr id="5" name="ノート プレースホルダー 4"/>
          <p:cNvSpPr>
            <a:spLocks noGrp="1"/>
          </p:cNvSpPr>
          <p:nvPr>
            <p:ph type="body" sz="quarter" idx="3"/>
          </p:nvPr>
        </p:nvSpPr>
        <p:spPr>
          <a:xfrm>
            <a:off x="673577" y="4748164"/>
            <a:ext cx="5388610" cy="3884860"/>
          </a:xfrm>
          <a:prstGeom prst="rect">
            <a:avLst/>
          </a:prstGeom>
        </p:spPr>
        <p:txBody>
          <a:bodyPr vert="horz" lIns="90644" tIns="45322" rIns="90644" bIns="45322"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0644" tIns="45322" rIns="90644" bIns="45322"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4" y="9371286"/>
            <a:ext cx="2918831" cy="495028"/>
          </a:xfrm>
          <a:prstGeom prst="rect">
            <a:avLst/>
          </a:prstGeom>
        </p:spPr>
        <p:txBody>
          <a:bodyPr vert="horz" lIns="90644" tIns="45322" rIns="90644" bIns="45322" rtlCol="0" anchor="b"/>
          <a:lstStyle>
            <a:lvl1pPr algn="r">
              <a:defRPr sz="1200"/>
            </a:lvl1pPr>
          </a:lstStyle>
          <a:p>
            <a:fld id="{C92DF984-7E53-D84E-AC3B-72FE35197BB6}" type="slidenum">
              <a:rPr kumimoji="1" lang="ja-JP" altLang="en-US" smtClean="0"/>
              <a:t>‹#›</a:t>
            </a:fld>
            <a:endParaRPr kumimoji="1" lang="ja-JP" altLang="en-US"/>
          </a:p>
        </p:txBody>
      </p:sp>
    </p:spTree>
    <p:extLst>
      <p:ext uri="{BB962C8B-B14F-4D97-AF65-F5344CB8AC3E}">
        <p14:creationId xmlns:p14="http://schemas.microsoft.com/office/powerpoint/2010/main" val="130643272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92DF984-7E53-D84E-AC3B-72FE35197BB6}" type="slidenum">
              <a:rPr kumimoji="1" lang="ja-JP" altLang="en-US" smtClean="0"/>
              <a:t>15</a:t>
            </a:fld>
            <a:endParaRPr kumimoji="1" lang="ja-JP" altLang="en-US"/>
          </a:p>
        </p:txBody>
      </p:sp>
    </p:spTree>
    <p:extLst>
      <p:ext uri="{BB962C8B-B14F-4D97-AF65-F5344CB8AC3E}">
        <p14:creationId xmlns:p14="http://schemas.microsoft.com/office/powerpoint/2010/main" val="1385161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9DE1C-04AE-9903-DF42-4292753FCC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55B887D-4879-605E-F084-63E6533068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326038-67B6-4F1C-64E2-B22A15CC54E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23656F7-E083-D238-9574-9A4E31666226}"/>
              </a:ext>
            </a:extLst>
          </p:cNvPr>
          <p:cNvSpPr>
            <a:spLocks noGrp="1"/>
          </p:cNvSpPr>
          <p:nvPr>
            <p:ph type="sldNum" sz="quarter" idx="5"/>
          </p:nvPr>
        </p:nvSpPr>
        <p:spPr/>
        <p:txBody>
          <a:bodyPr/>
          <a:lstStyle/>
          <a:p>
            <a:fld id="{C92DF984-7E53-D84E-AC3B-72FE35197BB6}" type="slidenum">
              <a:rPr kumimoji="1" lang="ja-JP" altLang="en-US" smtClean="0"/>
              <a:t>22</a:t>
            </a:fld>
            <a:endParaRPr kumimoji="1" lang="ja-JP" altLang="en-US"/>
          </a:p>
        </p:txBody>
      </p:sp>
    </p:spTree>
    <p:extLst>
      <p:ext uri="{BB962C8B-B14F-4D97-AF65-F5344CB8AC3E}">
        <p14:creationId xmlns:p14="http://schemas.microsoft.com/office/powerpoint/2010/main" val="3892180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92DF984-7E53-D84E-AC3B-72FE35197BB6}" type="slidenum">
              <a:rPr kumimoji="1" lang="ja-JP" altLang="en-US" smtClean="0"/>
              <a:t>25</a:t>
            </a:fld>
            <a:endParaRPr kumimoji="1" lang="ja-JP" altLang="en-US"/>
          </a:p>
        </p:txBody>
      </p:sp>
    </p:spTree>
    <p:extLst>
      <p:ext uri="{BB962C8B-B14F-4D97-AF65-F5344CB8AC3E}">
        <p14:creationId xmlns:p14="http://schemas.microsoft.com/office/powerpoint/2010/main" val="28047545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pic>
        <p:nvPicPr>
          <p:cNvPr id="8" name="図 7" descr="スクリーンショット, 鳥, 花 が含まれている画像&#10;&#10;自動的に生成された説明">
            <a:extLst>
              <a:ext uri="{FF2B5EF4-FFF2-40B4-BE49-F238E27FC236}">
                <a16:creationId xmlns:a16="http://schemas.microsoft.com/office/drawing/2014/main" id="{16CE98C3-47F0-9A4D-97B8-459EDC445E28}"/>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noChangeAspect="1"/>
          </p:cNvSpPr>
          <p:nvPr>
            <p:ph type="ctrTitle"/>
          </p:nvPr>
        </p:nvSpPr>
        <p:spPr>
          <a:xfrm>
            <a:off x="1908001" y="2916000"/>
            <a:ext cx="6480000" cy="432000"/>
          </a:xfrm>
        </p:spPr>
        <p:txBody>
          <a:bodyPr vert="horz" lIns="0" tIns="72000" rIns="0" bIns="0" numCol="1" anchor="ctr" anchorCtr="0">
            <a:noAutofit/>
          </a:bodyPr>
          <a:lstStyle>
            <a:lvl1pPr algn="l">
              <a:defRPr sz="3000" b="0" i="0">
                <a:latin typeface="Meiryo" panose="020B0604030504040204" pitchFamily="34" charset="-128"/>
                <a:ea typeface="Meiryo" panose="020B0604030504040204" pitchFamily="34"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1908000" y="3420000"/>
            <a:ext cx="6480000" cy="324000"/>
          </a:xfrm>
        </p:spPr>
        <p:txBody>
          <a:bodyPr lIns="0" tIns="72000" rIns="0" bIns="0" anchor="ctr" anchorCtr="0">
            <a:noAutofit/>
          </a:bodyPr>
          <a:lstStyle>
            <a:lvl1pPr marL="0" indent="0" algn="l">
              <a:buNone/>
              <a:defRPr sz="2400" b="0" i="0">
                <a:latin typeface="Meiryo" panose="020B0604030504040204" pitchFamily="34" charset="-128"/>
                <a:ea typeface="Meiryo"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noChangeAspect="1"/>
          </p:cNvSpPr>
          <p:nvPr>
            <p:ph type="dt" sz="half" idx="10"/>
          </p:nvPr>
        </p:nvSpPr>
        <p:spPr>
          <a:xfrm>
            <a:off x="3492000" y="5400000"/>
            <a:ext cx="2160000" cy="288000"/>
          </a:xfrm>
        </p:spPr>
        <p:txBody>
          <a:bodyPr lIns="0" tIns="36000" rIns="0" bIns="0" anchor="ctr"/>
          <a:lstStyle>
            <a:lvl1pPr algn="ctr">
              <a:defRPr sz="1700" b="0" i="0">
                <a:solidFill>
                  <a:schemeClr val="tx1"/>
                </a:solidFill>
                <a:latin typeface="Meiryo" panose="020B0604030504040204" pitchFamily="34" charset="-128"/>
                <a:ea typeface="Meiryo" panose="020B0604030504040204" pitchFamily="34" charset="-128"/>
              </a:defRPr>
            </a:lvl1pPr>
          </a:lstStyle>
          <a:p>
            <a:endParaRPr kumimoji="1" lang="ja-JP" altLang="en-US"/>
          </a:p>
        </p:txBody>
      </p:sp>
    </p:spTree>
    <p:extLst>
      <p:ext uri="{BB962C8B-B14F-4D97-AF65-F5344CB8AC3E}">
        <p14:creationId xmlns:p14="http://schemas.microsoft.com/office/powerpoint/2010/main" val="28052871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タイトルのみ">
    <p:spTree>
      <p:nvGrpSpPr>
        <p:cNvPr id="1" name=""/>
        <p:cNvGrpSpPr/>
        <p:nvPr/>
      </p:nvGrpSpPr>
      <p:grpSpPr>
        <a:xfrm>
          <a:off x="0" y="0"/>
          <a:ext cx="0" cy="0"/>
          <a:chOff x="0" y="0"/>
          <a:chExt cx="0" cy="0"/>
        </a:xfrm>
      </p:grpSpPr>
      <p:pic>
        <p:nvPicPr>
          <p:cNvPr id="4" name="図 3" descr="スクリーンショット が含まれている画像&#10;&#10;自動的に生成された説明">
            <a:extLst>
              <a:ext uri="{FF2B5EF4-FFF2-40B4-BE49-F238E27FC236}">
                <a16:creationId xmlns:a16="http://schemas.microsoft.com/office/drawing/2014/main" id="{BDB12FB3-01CF-9C46-ABA3-CE2AF3627729}"/>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1116000" y="360000"/>
            <a:ext cx="7703999" cy="360000"/>
          </a:xfrm>
        </p:spPr>
        <p:txBody>
          <a:bodyPr lIns="0" tIns="72000" rIns="0" bIns="0">
            <a:noAutofit/>
          </a:bodyPr>
          <a:lstStyle>
            <a:lvl1pPr>
              <a:defRPr sz="2400" b="0" i="0">
                <a:latin typeface="Meiryo" panose="020B0604030504040204" pitchFamily="34" charset="-128"/>
                <a:ea typeface="Meiryo" panose="020B0604030504040204" pitchFamily="34" charset="-128"/>
              </a:defRPr>
            </a:lvl1pPr>
          </a:lstStyle>
          <a:p>
            <a:r>
              <a:rPr lang="ja-JP" altLang="en-US"/>
              <a:t>マスター タイトルの書式設定</a:t>
            </a:r>
            <a:endParaRPr lang="en-US"/>
          </a:p>
        </p:txBody>
      </p:sp>
      <p:sp>
        <p:nvSpPr>
          <p:cNvPr id="5" name="Slide Number Placeholder 4"/>
          <p:cNvSpPr>
            <a:spLocks noGrp="1"/>
          </p:cNvSpPr>
          <p:nvPr>
            <p:ph type="sldNum" sz="quarter" idx="12"/>
          </p:nvPr>
        </p:nvSpPr>
        <p:spPr>
          <a:xfrm>
            <a:off x="8532000" y="6624000"/>
            <a:ext cx="432000" cy="144000"/>
          </a:xfrm>
        </p:spPr>
        <p:txBody>
          <a:bodyPr lIns="0" tIns="0" rIns="0" bIns="0"/>
          <a:lstStyle>
            <a:lvl1pPr algn="r">
              <a:defRPr sz="800" b="0" i="0">
                <a:solidFill>
                  <a:schemeClr val="tx1"/>
                </a:solidFill>
                <a:latin typeface="Meiryo" panose="020B0604030504040204" pitchFamily="34" charset="-128"/>
                <a:ea typeface="Meiryo" panose="020B0604030504040204" pitchFamily="34" charset="-128"/>
              </a:defRPr>
            </a:lvl1pPr>
          </a:lstStyle>
          <a:p>
            <a:fld id="{59F857F7-C215-C24D-8BD9-19720E902953}" type="slidenum">
              <a:rPr kumimoji="1" lang="ja-JP" altLang="en-US" smtClean="0"/>
              <a:pPr/>
              <a:t>‹#›</a:t>
            </a:fld>
            <a:endParaRPr kumimoji="1" lang="ja-JP" altLang="en-US"/>
          </a:p>
        </p:txBody>
      </p:sp>
      <p:sp>
        <p:nvSpPr>
          <p:cNvPr id="8" name="テキスト プレースホルダー 7">
            <a:extLst>
              <a:ext uri="{FF2B5EF4-FFF2-40B4-BE49-F238E27FC236}">
                <a16:creationId xmlns:a16="http://schemas.microsoft.com/office/drawing/2014/main" id="{C22A8134-AC29-15B5-B937-50728FA231D6}"/>
              </a:ext>
            </a:extLst>
          </p:cNvPr>
          <p:cNvSpPr>
            <a:spLocks noGrp="1"/>
          </p:cNvSpPr>
          <p:nvPr>
            <p:ph type="body" sz="quarter" idx="13"/>
          </p:nvPr>
        </p:nvSpPr>
        <p:spPr>
          <a:xfrm>
            <a:off x="1116001" y="888637"/>
            <a:ext cx="7704150" cy="591820"/>
          </a:xfrm>
        </p:spPr>
        <p:txBody>
          <a:bodyPr>
            <a:normAutofit/>
          </a:bodyPr>
          <a:lstStyle>
            <a:lvl1pPr marL="228600" indent="-228600">
              <a:buFont typeface="Wingdings" panose="05000000000000000000" pitchFamily="2" charset="2"/>
              <a:buChar char="n"/>
              <a:defRPr sz="1400">
                <a:latin typeface="Meiryo UI" panose="020B0604030504040204" pitchFamily="50" charset="-128"/>
                <a:ea typeface="Meiryo UI" panose="020B0604030504040204" pitchFamily="50" charset="-128"/>
              </a:defRPr>
            </a:lvl1pPr>
          </a:lstStyle>
          <a:p>
            <a:pPr lvl="0"/>
            <a:endParaRPr kumimoji="1" lang="ja-JP" altLang="en-US"/>
          </a:p>
        </p:txBody>
      </p:sp>
    </p:spTree>
    <p:extLst>
      <p:ext uri="{BB962C8B-B14F-4D97-AF65-F5344CB8AC3E}">
        <p14:creationId xmlns:p14="http://schemas.microsoft.com/office/powerpoint/2010/main" val="346652996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4" name="図 3" descr="スクリーンショット が含まれている画像&#10;&#10;自動的に生成された説明">
            <a:extLst>
              <a:ext uri="{FF2B5EF4-FFF2-40B4-BE49-F238E27FC236}">
                <a16:creationId xmlns:a16="http://schemas.microsoft.com/office/drawing/2014/main" id="{BDB12FB3-01CF-9C46-ABA3-CE2AF3627729}"/>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1116000" y="360000"/>
            <a:ext cx="7703999" cy="360000"/>
          </a:xfrm>
        </p:spPr>
        <p:txBody>
          <a:bodyPr lIns="0" tIns="72000" rIns="0" bIns="0">
            <a:noAutofit/>
          </a:bodyPr>
          <a:lstStyle>
            <a:lvl1pPr>
              <a:defRPr sz="2400" b="0" i="0">
                <a:latin typeface="Meiryo" panose="020B0604030504040204" pitchFamily="34" charset="-128"/>
                <a:ea typeface="Meiryo" panose="020B0604030504040204" pitchFamily="34" charset="-128"/>
              </a:defRPr>
            </a:lvl1pPr>
          </a:lstStyle>
          <a:p>
            <a:r>
              <a:rPr lang="ja-JP" altLang="en-US"/>
              <a:t>マスター タイトルの書式設定</a:t>
            </a:r>
            <a:endParaRPr lang="en-US"/>
          </a:p>
        </p:txBody>
      </p:sp>
      <p:sp>
        <p:nvSpPr>
          <p:cNvPr id="5" name="Slide Number Placeholder 4"/>
          <p:cNvSpPr>
            <a:spLocks noGrp="1"/>
          </p:cNvSpPr>
          <p:nvPr>
            <p:ph type="sldNum" sz="quarter" idx="12"/>
          </p:nvPr>
        </p:nvSpPr>
        <p:spPr>
          <a:xfrm>
            <a:off x="8532000" y="6624000"/>
            <a:ext cx="432000" cy="144000"/>
          </a:xfrm>
        </p:spPr>
        <p:txBody>
          <a:bodyPr lIns="0" tIns="0" rIns="0" bIns="0"/>
          <a:lstStyle>
            <a:lvl1pPr algn="r">
              <a:defRPr sz="800" b="0" i="0">
                <a:solidFill>
                  <a:schemeClr val="tx1"/>
                </a:solidFill>
                <a:latin typeface="Meiryo" panose="020B0604030504040204" pitchFamily="34" charset="-128"/>
                <a:ea typeface="Meiryo" panose="020B0604030504040204" pitchFamily="34" charset="-128"/>
              </a:defRPr>
            </a:lvl1pPr>
          </a:lstStyle>
          <a:p>
            <a:fld id="{59F857F7-C215-C24D-8BD9-19720E902953}" type="slidenum">
              <a:rPr kumimoji="1" lang="ja-JP" altLang="en-US" smtClean="0"/>
              <a:pPr/>
              <a:t>‹#›</a:t>
            </a:fld>
            <a:endParaRPr kumimoji="1" lang="ja-JP" altLang="en-US"/>
          </a:p>
        </p:txBody>
      </p:sp>
    </p:spTree>
    <p:extLst>
      <p:ext uri="{BB962C8B-B14F-4D97-AF65-F5344CB8AC3E}">
        <p14:creationId xmlns:p14="http://schemas.microsoft.com/office/powerpoint/2010/main" val="2735173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②） タイトルのみ_出所・脚注なし_A4">
    <p:spTree>
      <p:nvGrpSpPr>
        <p:cNvPr id="1" name=""/>
        <p:cNvGrpSpPr/>
        <p:nvPr/>
      </p:nvGrpSpPr>
      <p:grpSpPr>
        <a:xfrm>
          <a:off x="0" y="0"/>
          <a:ext cx="0" cy="0"/>
          <a:chOff x="0" y="0"/>
          <a:chExt cx="0" cy="0"/>
        </a:xfrm>
      </p:grpSpPr>
      <p:graphicFrame>
        <p:nvGraphicFramePr>
          <p:cNvPr id="6" name="オブジェクト 5" hidden="1"/>
          <p:cNvGraphicFramePr>
            <a:graphicFrameLocks noChangeAspect="1"/>
          </p:cNvGraphicFramePr>
          <p:nvPr userDrawn="1">
            <p:custDataLst>
              <p:tags r:id="rId1"/>
            </p:custDataLst>
            <p:extLst>
              <p:ext uri="{D42A27DB-BD31-4B8C-83A1-F6EECF244321}">
                <p14:modId xmlns:p14="http://schemas.microsoft.com/office/powerpoint/2010/main" val="2580058167"/>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563" imgH="564" progId="TCLayout.ActiveDocument.1">
                  <p:embed/>
                </p:oleObj>
              </mc:Choice>
              <mc:Fallback>
                <p:oleObj name="think-cell スライド" r:id="rId3" imgW="563" imgH="564" progId="TCLayout.ActiveDocument.1">
                  <p:embed/>
                  <p:pic>
                    <p:nvPicPr>
                      <p:cNvPr id="6" name="オブジェクト 5"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baseline="0">
                <a:solidFill>
                  <a:schemeClr val="tx1"/>
                </a:solidFill>
                <a:latin typeface="+mn-lt"/>
                <a:ea typeface="+mn-ea"/>
                <a:cs typeface="+mn-cs"/>
                <a:sym typeface="+mn-lt"/>
              </a:defRPr>
            </a:lvl1pPr>
          </a:lstStyle>
          <a:p>
            <a:fld id="{56E56C22-CD92-4A50-AAD1-E2171E0619BD}" type="slidenum">
              <a:rPr lang="ja-JP" altLang="en-US" smtClean="0"/>
              <a:pPr/>
              <a:t>‹#›</a:t>
            </a:fld>
            <a:endParaRPr lang="ja-JP" altLang="en-US"/>
          </a:p>
        </p:txBody>
      </p:sp>
      <p:sp>
        <p:nvSpPr>
          <p:cNvPr id="7" name="テキスト プレースホルダ 5">
            <a:extLst>
              <a:ext uri="{FF2B5EF4-FFF2-40B4-BE49-F238E27FC236}">
                <a16:creationId xmlns:a16="http://schemas.microsoft.com/office/drawing/2014/main" id="{C750C47F-6A5E-43DA-810C-7BA23EF874CD}"/>
              </a:ext>
            </a:extLst>
          </p:cNvPr>
          <p:cNvSpPr>
            <a:spLocks noGrp="1"/>
          </p:cNvSpPr>
          <p:nvPr>
            <p:ph type="body" sz="quarter" idx="14" hasCustomPrompt="1"/>
          </p:nvPr>
        </p:nvSpPr>
        <p:spPr bwMode="gray">
          <a:xfrm>
            <a:off x="385915" y="180000"/>
            <a:ext cx="8374154" cy="615600"/>
          </a:xfrm>
          <a:prstGeom prst="rect">
            <a:avLst/>
          </a:prstGeom>
        </p:spPr>
        <p:txBody>
          <a:bodyPr vert="horz" lIns="0" tIns="0" rIns="0" bIns="0" rtlCol="0" anchor="b" anchorCtr="0">
            <a:noAutofit/>
          </a:bodyPr>
          <a:lstStyle>
            <a:lvl1pPr fontAlgn="auto">
              <a:spcAft>
                <a:spcPts val="0"/>
              </a:spcAft>
              <a:defRPr lang="ja-JP" altLang="en-US" sz="1846" b="1" dirty="0">
                <a:latin typeface="+mj-lt"/>
                <a:ea typeface="+mj-ea"/>
                <a:cs typeface="+mj-cs"/>
              </a:defRPr>
            </a:lvl1pPr>
          </a:lstStyle>
          <a:p>
            <a:pPr fontAlgn="auto">
              <a:spcAft>
                <a:spcPts val="0"/>
              </a:spcAft>
            </a:pPr>
            <a:r>
              <a:rPr lang="ja-JP" altLang="en-US"/>
              <a:t>スライドタイトル（入力が必要）</a:t>
            </a:r>
          </a:p>
        </p:txBody>
      </p:sp>
      <p:sp>
        <p:nvSpPr>
          <p:cNvPr id="8" name="タイトル 1">
            <a:extLst>
              <a:ext uri="{FF2B5EF4-FFF2-40B4-BE49-F238E27FC236}">
                <a16:creationId xmlns:a16="http://schemas.microsoft.com/office/drawing/2014/main" id="{8EC76EA4-3538-4F0B-A615-1FFF84AA1871}"/>
              </a:ext>
            </a:extLst>
          </p:cNvPr>
          <p:cNvSpPr>
            <a:spLocks noGrp="1"/>
          </p:cNvSpPr>
          <p:nvPr>
            <p:ph type="title" hasCustomPrompt="1"/>
          </p:nvPr>
        </p:nvSpPr>
        <p:spPr bwMode="gray">
          <a:xfrm>
            <a:off x="384923" y="846000"/>
            <a:ext cx="8374154" cy="615600"/>
          </a:xfrm>
        </p:spPr>
        <p:txBody>
          <a:bodyPr vert="horz" lIns="0" tIns="0" rIns="0" bIns="0" rtlCol="0" anchor="t">
            <a:noAutofit/>
          </a:bodyPr>
          <a:lstStyle>
            <a:lvl1pPr>
              <a:defRPr lang="ja-JP" altLang="en-US" sz="1662" b="0" baseline="0" dirty="0">
                <a:solidFill>
                  <a:schemeClr val="tx2"/>
                </a:solidFill>
                <a:latin typeface="+mn-lt"/>
                <a:ea typeface="+mn-ea"/>
                <a:cs typeface="+mn-cs"/>
                <a:sym typeface="+mn-lt"/>
              </a:defRPr>
            </a:lvl1pPr>
          </a:lstStyle>
          <a:p>
            <a:pPr lvl="0"/>
            <a:r>
              <a:rPr kumimoji="1" lang="ja-JP" altLang="en-US"/>
              <a:t>キーメッセージ（オプション）</a:t>
            </a:r>
          </a:p>
        </p:txBody>
      </p:sp>
    </p:spTree>
    <p:extLst>
      <p:ext uri="{BB962C8B-B14F-4D97-AF65-F5344CB8AC3E}">
        <p14:creationId xmlns:p14="http://schemas.microsoft.com/office/powerpoint/2010/main" val="548392392"/>
      </p:ext>
    </p:extLst>
  </p:cSld>
  <p:clrMapOvr>
    <a:masterClrMapping/>
  </p:clrMapOvr>
  <p:extLst>
    <p:ext uri="{DCECCB84-F9BA-43D5-87BE-67443E8EF086}">
      <p15:sldGuideLst xmlns:p15="http://schemas.microsoft.com/office/powerpoint/2012/main">
        <p15:guide id="1" pos="512">
          <p15:clr>
            <a:srgbClr val="FBAE40"/>
          </p15:clr>
        </p15:guide>
        <p15:guide id="2" pos="572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F857F7-C215-C24D-8BD9-19720E902953}" type="slidenum">
              <a:rPr kumimoji="1" lang="ja-JP" altLang="en-US" smtClean="0"/>
              <a:t>‹#›</a:t>
            </a:fld>
            <a:endParaRPr kumimoji="1" lang="ja-JP" altLang="en-US"/>
          </a:p>
        </p:txBody>
      </p:sp>
    </p:spTree>
    <p:extLst>
      <p:ext uri="{BB962C8B-B14F-4D97-AF65-F5344CB8AC3E}">
        <p14:creationId xmlns:p14="http://schemas.microsoft.com/office/powerpoint/2010/main" val="273824600"/>
      </p:ext>
    </p:extLst>
  </p:cSld>
  <p:clrMap bg1="lt1" tx1="dk1" bg2="lt2" tx2="dk2" accent1="accent1" accent2="accent2" accent3="accent3" accent4="accent4" accent5="accent5" accent6="accent6" hlink="hlink" folHlink="folHlink"/>
  <p:sldLayoutIdLst>
    <p:sldLayoutId id="2147483684" r:id="rId1"/>
    <p:sldLayoutId id="2147483687" r:id="rId2"/>
    <p:sldLayoutId id="2147483685" r:id="rId3"/>
    <p:sldLayoutId id="2147483686" r:id="rId4"/>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A21CC89-E000-8E2A-1D3F-CFACEE021F0E}"/>
              </a:ext>
            </a:extLst>
          </p:cNvPr>
          <p:cNvSpPr>
            <a:spLocks noGrp="1"/>
          </p:cNvSpPr>
          <p:nvPr>
            <p:ph type="ctrTitle"/>
          </p:nvPr>
        </p:nvSpPr>
        <p:spPr>
          <a:xfrm>
            <a:off x="1904301" y="2740930"/>
            <a:ext cx="6795082" cy="963273"/>
          </a:xfrm>
        </p:spPr>
        <p:txBody>
          <a:bodyPr/>
          <a:lstStyle/>
          <a:p>
            <a:r>
              <a:rPr kumimoji="0" lang="ja-JP" altLang="en-US" sz="2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n-cs"/>
                <a:sym typeface="+mn-lt"/>
              </a:rPr>
              <a:t>システム導入構想書</a:t>
            </a:r>
            <a:endParaRPr lang="ja-JP" altLang="en-US" sz="2800">
              <a:latin typeface="Meiryo UI" panose="020B0604030504040204" pitchFamily="50" charset="-128"/>
              <a:ea typeface="Meiryo UI" panose="020B0604030504040204" pitchFamily="50" charset="-128"/>
            </a:endParaRPr>
          </a:p>
        </p:txBody>
      </p:sp>
      <p:sp>
        <p:nvSpPr>
          <p:cNvPr id="2" name="タイトル 3">
            <a:extLst>
              <a:ext uri="{FF2B5EF4-FFF2-40B4-BE49-F238E27FC236}">
                <a16:creationId xmlns:a16="http://schemas.microsoft.com/office/drawing/2014/main" id="{B1DFEE34-A2AB-2FE6-0D8E-08E33175E907}"/>
              </a:ext>
            </a:extLst>
          </p:cNvPr>
          <p:cNvSpPr txBox="1">
            <a:spLocks/>
          </p:cNvSpPr>
          <p:nvPr/>
        </p:nvSpPr>
        <p:spPr>
          <a:xfrm>
            <a:off x="6694416" y="3968319"/>
            <a:ext cx="2004968" cy="420944"/>
          </a:xfrm>
          <a:prstGeom prst="rect">
            <a:avLst/>
          </a:prstGeom>
        </p:spPr>
        <p:txBody>
          <a:bodyPr vert="horz" lIns="0" tIns="72000" rIns="0" bIns="0" numCol="1" rtlCol="0" anchor="ctr" anchorCtr="0">
            <a:noAutofit/>
          </a:bodyPr>
          <a:lstStyle>
            <a:lvl1pPr algn="l" defTabSz="914400" rtl="0" eaLnBrk="1" latinLnBrk="0" hangingPunct="1">
              <a:lnSpc>
                <a:spcPct val="90000"/>
              </a:lnSpc>
              <a:spcBef>
                <a:spcPct val="0"/>
              </a:spcBef>
              <a:buNone/>
              <a:defRPr kumimoji="1" sz="3000" b="0" i="0" kern="1200">
                <a:solidFill>
                  <a:schemeClr val="tx1"/>
                </a:solidFill>
                <a:latin typeface="Meiryo" panose="020B0604030504040204" pitchFamily="34" charset="-128"/>
                <a:ea typeface="Meiryo" panose="020B0604030504040204" pitchFamily="34" charset="-128"/>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Meiryo UI"/>
                <a:ea typeface="Meiryo UI"/>
              </a:rPr>
              <a:t>2025</a:t>
            </a:r>
            <a:r>
              <a:rPr kumimoji="1" lang="ja-JP" altLang="en-US" sz="1600" b="0" i="0" u="none" strike="noStrike" kern="1200" cap="none" spc="0" normalizeH="0" baseline="0" noProof="0">
                <a:ln>
                  <a:noFill/>
                </a:ln>
                <a:solidFill>
                  <a:prstClr val="black"/>
                </a:solidFill>
                <a:effectLst/>
                <a:uLnTx/>
                <a:uFillTx/>
                <a:latin typeface="Meiryo UI"/>
                <a:ea typeface="Meiryo UI"/>
              </a:rPr>
              <a:t>年</a:t>
            </a:r>
            <a:r>
              <a:rPr lang="en-US" altLang="ja-JP" sz="1600" dirty="0">
                <a:solidFill>
                  <a:prstClr val="black"/>
                </a:solidFill>
                <a:latin typeface="Meiryo UI"/>
                <a:ea typeface="Meiryo UI"/>
              </a:rPr>
              <a:t>8</a:t>
            </a:r>
            <a:r>
              <a:rPr kumimoji="1" lang="ja-JP" altLang="en-US" sz="1600" b="0" i="0" u="none" strike="noStrike" kern="1200" cap="none" spc="0" normalizeH="0" baseline="0" noProof="0">
                <a:ln>
                  <a:noFill/>
                </a:ln>
                <a:solidFill>
                  <a:prstClr val="black"/>
                </a:solidFill>
                <a:effectLst/>
                <a:uLnTx/>
                <a:uFillTx/>
                <a:latin typeface="Meiryo UI"/>
                <a:ea typeface="Meiryo UI"/>
              </a:rPr>
              <a:t>月</a:t>
            </a:r>
            <a:r>
              <a:rPr lang="ja-JP" altLang="en-US" sz="1600">
                <a:solidFill>
                  <a:prstClr val="black"/>
                </a:solidFill>
                <a:latin typeface="Meiryo UI"/>
                <a:ea typeface="Meiryo UI"/>
              </a:rPr>
              <a:t>19</a:t>
            </a:r>
            <a:r>
              <a:rPr kumimoji="1" lang="ja-JP" altLang="en-US" sz="1600" b="0" i="0" u="none" strike="noStrike" kern="1200" cap="none" spc="0" normalizeH="0" baseline="0" noProof="0">
                <a:ln>
                  <a:noFill/>
                </a:ln>
                <a:solidFill>
                  <a:prstClr val="black"/>
                </a:solidFill>
                <a:effectLst/>
                <a:uLnTx/>
                <a:uFillTx/>
                <a:latin typeface="Meiryo UI"/>
                <a:ea typeface="Meiryo UI"/>
              </a:rPr>
              <a:t>日時点</a:t>
            </a:r>
          </a:p>
        </p:txBody>
      </p:sp>
    </p:spTree>
    <p:extLst>
      <p:ext uri="{BB962C8B-B14F-4D97-AF65-F5344CB8AC3E}">
        <p14:creationId xmlns:p14="http://schemas.microsoft.com/office/powerpoint/2010/main" val="1935071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A3B405-2877-0C4D-162B-EFD183881974}"/>
              </a:ext>
            </a:extLst>
          </p:cNvPr>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システム導入構想書　目次</a:t>
            </a:r>
          </a:p>
        </p:txBody>
      </p:sp>
      <p:sp>
        <p:nvSpPr>
          <p:cNvPr id="3" name="スライド番号プレースホルダー 2">
            <a:extLst>
              <a:ext uri="{FF2B5EF4-FFF2-40B4-BE49-F238E27FC236}">
                <a16:creationId xmlns:a16="http://schemas.microsoft.com/office/drawing/2014/main" id="{98F5FF8A-1C63-1FA0-EF5B-428E18478FEF}"/>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9F857F7-C215-C24D-8BD9-19720E902953}" type="slidenum">
              <a:rPr kumimoji="1" lang="ja-JP" altLang="en-US" sz="8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51FEDC41-AC7C-7554-8178-10946B664F3A}"/>
              </a:ext>
            </a:extLst>
          </p:cNvPr>
          <p:cNvGraphicFramePr>
            <a:graphicFrameLocks noGrp="1"/>
          </p:cNvGraphicFramePr>
          <p:nvPr>
            <p:extLst>
              <p:ext uri="{D42A27DB-BD31-4B8C-83A1-F6EECF244321}">
                <p14:modId xmlns:p14="http://schemas.microsoft.com/office/powerpoint/2010/main" val="2231379016"/>
              </p:ext>
            </p:extLst>
          </p:nvPr>
        </p:nvGraphicFramePr>
        <p:xfrm>
          <a:off x="370691" y="1242531"/>
          <a:ext cx="5135922" cy="3744000"/>
        </p:xfrm>
        <a:graphic>
          <a:graphicData uri="http://schemas.openxmlformats.org/drawingml/2006/table">
            <a:tbl>
              <a:tblPr/>
              <a:tblGrid>
                <a:gridCol w="4343922">
                  <a:extLst>
                    <a:ext uri="{9D8B030D-6E8A-4147-A177-3AD203B41FA5}">
                      <a16:colId xmlns:a16="http://schemas.microsoft.com/office/drawing/2014/main" val="3818292942"/>
                    </a:ext>
                  </a:extLst>
                </a:gridCol>
                <a:gridCol w="792000">
                  <a:extLst>
                    <a:ext uri="{9D8B030D-6E8A-4147-A177-3AD203B41FA5}">
                      <a16:colId xmlns:a16="http://schemas.microsoft.com/office/drawing/2014/main" val="174868791"/>
                    </a:ext>
                  </a:extLst>
                </a:gridCol>
              </a:tblGrid>
              <a:tr h="468000">
                <a:tc>
                  <a:txBody>
                    <a:bodyPr/>
                    <a:lstStyle/>
                    <a:p>
                      <a:r>
                        <a:rPr lang="en-US" altLang="ja-JP" sz="1400">
                          <a:latin typeface="Meiryo UI" panose="020B0604030504040204" pitchFamily="50" charset="-128"/>
                          <a:ea typeface="Meiryo UI" panose="020B0604030504040204" pitchFamily="50" charset="-128"/>
                        </a:rPr>
                        <a:t>1. ESG</a:t>
                      </a:r>
                      <a:r>
                        <a:rPr lang="ja-JP" altLang="en-US" sz="1400">
                          <a:latin typeface="Meiryo UI" panose="020B0604030504040204" pitchFamily="50" charset="-128"/>
                          <a:ea typeface="Meiryo UI" panose="020B0604030504040204" pitchFamily="50" charset="-128"/>
                        </a:rPr>
                        <a:t>システム導入の背景・課題</a:t>
                      </a:r>
                      <a:endParaRPr lang="en-US" altLang="ja-JP" sz="1400" b="0">
                        <a:latin typeface="Meiryo UI" panose="020B0604030504040204" pitchFamily="50" charset="-128"/>
                        <a:ea typeface="Meiryo UI" panose="020B0604030504040204" pitchFamily="50" charset="-128"/>
                        <a:cs typeface="+mn-cs"/>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P.3</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00210297"/>
                  </a:ext>
                </a:extLst>
              </a:tr>
              <a:tr h="468000">
                <a:tc>
                  <a:txBody>
                    <a:bodyPr/>
                    <a:lstStyle/>
                    <a:p>
                      <a:r>
                        <a:rPr lang="en-US" altLang="ja-JP" sz="1400" b="0">
                          <a:latin typeface="Meiryo UI" panose="020B0604030504040204" pitchFamily="50" charset="-128"/>
                          <a:ea typeface="Meiryo UI" panose="020B0604030504040204" pitchFamily="50" charset="-128"/>
                          <a:cs typeface="+mn-cs"/>
                        </a:rPr>
                        <a:t>2. ESG</a:t>
                      </a:r>
                      <a:r>
                        <a:rPr lang="ja-JP" altLang="en-US" sz="1400" b="0">
                          <a:latin typeface="Meiryo UI" panose="020B0604030504040204" pitchFamily="50" charset="-128"/>
                          <a:ea typeface="Meiryo UI" panose="020B0604030504040204" pitchFamily="50" charset="-128"/>
                          <a:cs typeface="+mn-cs"/>
                        </a:rPr>
                        <a:t>システム構築によって実現したい状態</a:t>
                      </a:r>
                      <a:endParaRPr lang="en-US" altLang="ja-JP" sz="1400" b="0">
                        <a:latin typeface="Meiryo UI" panose="020B0604030504040204" pitchFamily="50" charset="-128"/>
                        <a:ea typeface="Meiryo UI" panose="020B0604030504040204" pitchFamily="50" charset="-128"/>
                        <a:cs typeface="+mn-cs"/>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P.7</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7260318"/>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latin typeface="Meiryo UI" panose="020B0604030504040204" pitchFamily="50" charset="-128"/>
                          <a:ea typeface="Meiryo UI" panose="020B0604030504040204" pitchFamily="50" charset="-128"/>
                        </a:rPr>
                        <a:t>3. </a:t>
                      </a:r>
                      <a:r>
                        <a:rPr kumimoji="1" lang="ja-JP" altLang="en-US" sz="1400">
                          <a:latin typeface="Meiryo UI" panose="020B0604030504040204" pitchFamily="50" charset="-128"/>
                          <a:ea typeface="Meiryo UI" panose="020B0604030504040204" pitchFamily="50" charset="-128"/>
                        </a:rPr>
                        <a:t>導入アプローチ・ロードマップ</a:t>
                      </a:r>
                      <a:endParaRPr kumimoji="1" lang="en-US" altLang="ja-JP" sz="1400">
                        <a:latin typeface="Meiryo UI" panose="020B0604030504040204" pitchFamily="50" charset="-128"/>
                        <a:ea typeface="Meiryo UI" panose="020B0604030504040204" pitchFamily="50" charset="-128"/>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P.11</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1414680"/>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latin typeface="Meiryo UI" panose="020B0604030504040204" pitchFamily="50" charset="-128"/>
                          <a:ea typeface="Meiryo UI" panose="020B0604030504040204" pitchFamily="50" charset="-128"/>
                        </a:rPr>
                        <a:t>4. </a:t>
                      </a:r>
                      <a:r>
                        <a:rPr kumimoji="1" lang="ja-JP" altLang="en-US" sz="1400">
                          <a:latin typeface="Meiryo UI" panose="020B0604030504040204" pitchFamily="50" charset="-128"/>
                          <a:ea typeface="Meiryo UI" panose="020B0604030504040204" pitchFamily="50" charset="-128"/>
                        </a:rPr>
                        <a:t>新</a:t>
                      </a:r>
                      <a:r>
                        <a:rPr kumimoji="1" lang="en-US" altLang="ja-JP" sz="1400">
                          <a:latin typeface="Meiryo UI" panose="020B0604030504040204" pitchFamily="50" charset="-128"/>
                          <a:ea typeface="Meiryo UI" panose="020B0604030504040204" pitchFamily="50" charset="-128"/>
                        </a:rPr>
                        <a:t>ESG</a:t>
                      </a:r>
                      <a:r>
                        <a:rPr kumimoji="1" lang="ja-JP" altLang="en-US" sz="1400">
                          <a:latin typeface="Meiryo UI" panose="020B0604030504040204" pitchFamily="50" charset="-128"/>
                          <a:ea typeface="Meiryo UI" panose="020B0604030504040204" pitchFamily="50" charset="-128"/>
                        </a:rPr>
                        <a:t>システムとしての主な要件</a:t>
                      </a:r>
                      <a:endParaRPr kumimoji="1" lang="en-US" altLang="ja-JP" sz="1400">
                        <a:latin typeface="Meiryo UI" panose="020B0604030504040204" pitchFamily="50" charset="-128"/>
                        <a:ea typeface="Meiryo UI" panose="020B0604030504040204" pitchFamily="50" charset="-128"/>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P.17</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2478425"/>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0"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n-cs"/>
                          <a:sym typeface="+mn-lt"/>
                        </a:rPr>
                        <a:t>5. ESG</a:t>
                      </a:r>
                      <a:r>
                        <a:rPr kumimoji="0"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n-cs"/>
                          <a:sym typeface="+mn-lt"/>
                        </a:rPr>
                        <a:t>システム導入に向けた周辺タスク</a:t>
                      </a:r>
                      <a:endParaRPr kumimoji="1" lang="en-US" altLang="ja-JP" sz="1400">
                        <a:latin typeface="Meiryo UI" panose="020B0604030504040204" pitchFamily="50" charset="-128"/>
                        <a:ea typeface="Meiryo UI" panose="020B0604030504040204" pitchFamily="50" charset="-128"/>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 </a:t>
                      </a:r>
                      <a:r>
                        <a:rPr kumimoji="0"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P.27</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4885345"/>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latin typeface="Meiryo UI" panose="020B0604030504040204" pitchFamily="50" charset="-128"/>
                          <a:ea typeface="Meiryo UI" panose="020B0604030504040204" pitchFamily="50" charset="-128"/>
                        </a:rPr>
                        <a:t>6. </a:t>
                      </a:r>
                      <a:r>
                        <a:rPr kumimoji="1" lang="ja-JP" altLang="en-US" sz="1400">
                          <a:latin typeface="Meiryo UI" panose="020B0604030504040204" pitchFamily="50" charset="-128"/>
                          <a:ea typeface="Meiryo UI" panose="020B0604030504040204" pitchFamily="50" charset="-128"/>
                        </a:rPr>
                        <a:t>新</a:t>
                      </a:r>
                      <a:r>
                        <a:rPr kumimoji="1" lang="en-US" altLang="ja-JP" sz="1400">
                          <a:latin typeface="Meiryo UI" panose="020B0604030504040204" pitchFamily="50" charset="-128"/>
                          <a:ea typeface="Meiryo UI" panose="020B0604030504040204" pitchFamily="50" charset="-128"/>
                        </a:rPr>
                        <a:t>ESG</a:t>
                      </a:r>
                      <a:r>
                        <a:rPr kumimoji="1" lang="ja-JP" altLang="en-US" sz="1400">
                          <a:latin typeface="Meiryo UI" panose="020B0604030504040204" pitchFamily="50" charset="-128"/>
                          <a:ea typeface="Meiryo UI" panose="020B0604030504040204" pitchFamily="50" charset="-128"/>
                        </a:rPr>
                        <a:t>システムにおける機能要求・非機能要求</a:t>
                      </a:r>
                      <a:endParaRPr kumimoji="1" lang="en-US" altLang="ja-JP" sz="1400">
                        <a:latin typeface="Meiryo UI" panose="020B0604030504040204" pitchFamily="50" charset="-128"/>
                        <a:ea typeface="Meiryo UI" panose="020B0604030504040204" pitchFamily="50" charset="-128"/>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P.32</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13649852"/>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latin typeface="Meiryo UI" panose="020B0604030504040204" pitchFamily="50" charset="-128"/>
                          <a:ea typeface="Meiryo UI" panose="020B0604030504040204" pitchFamily="50" charset="-128"/>
                        </a:rPr>
                        <a:t>7. RFP</a:t>
                      </a:r>
                      <a:r>
                        <a:rPr kumimoji="1" lang="ja-JP" altLang="en-US" sz="1400">
                          <a:latin typeface="Meiryo UI" panose="020B0604030504040204" pitchFamily="50" charset="-128"/>
                          <a:ea typeface="Meiryo UI" panose="020B0604030504040204" pitchFamily="50" charset="-128"/>
                        </a:rPr>
                        <a:t>提出先候補ソリューション</a:t>
                      </a:r>
                      <a:endParaRPr kumimoji="1" lang="en-US" altLang="ja-JP" sz="1400">
                        <a:latin typeface="Meiryo UI" panose="020B0604030504040204" pitchFamily="50" charset="-128"/>
                        <a:ea typeface="Meiryo UI" panose="020B0604030504040204" pitchFamily="50" charset="-128"/>
                      </a:endParaRP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P.33</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3887981"/>
                  </a:ext>
                </a:extLst>
              </a:tr>
              <a:tr h="468000">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4127500" algn="r"/>
                        </a:tabLst>
                        <a:defRPr/>
                      </a:pPr>
                      <a:r>
                        <a:rPr kumimoji="1" lang="en-US" altLang="ja-JP" sz="1400">
                          <a:latin typeface="Meiryo UI" panose="020B0604030504040204" pitchFamily="50" charset="-128"/>
                          <a:ea typeface="Meiryo UI" panose="020B0604030504040204" pitchFamily="50" charset="-128"/>
                        </a:rPr>
                        <a:t>8. Appendix</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r" defTabSz="990564"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sym typeface="+mn-lt"/>
                        </a:rPr>
                        <a:t>P.35</a:t>
                      </a:r>
                    </a:p>
                  </a:txBody>
                  <a:tcPr marL="72000" marR="72000" marT="72000" marB="72000" anchor="ctr" horzOverflow="overflow">
                    <a:lnL cap="flat">
                      <a:noFill/>
                    </a:lnL>
                    <a:lnR cap="flat">
                      <a:noFill/>
                    </a:lnR>
                    <a:lnT w="12700" cap="flat" cmpd="sng" algn="ctr">
                      <a:solidFill>
                        <a:srgbClr val="75787B"/>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11573671"/>
                  </a:ext>
                </a:extLst>
              </a:tr>
            </a:tbl>
          </a:graphicData>
        </a:graphic>
      </p:graphicFrame>
    </p:spTree>
    <p:extLst>
      <p:ext uri="{BB962C8B-B14F-4D97-AF65-F5344CB8AC3E}">
        <p14:creationId xmlns:p14="http://schemas.microsoft.com/office/powerpoint/2010/main" val="379290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049E0-24C6-1818-946B-2795AEBC0D02}"/>
              </a:ext>
            </a:extLst>
          </p:cNvPr>
          <p:cNvSpPr>
            <a:spLocks noGrp="1"/>
          </p:cNvSpPr>
          <p:nvPr>
            <p:ph type="title"/>
          </p:nvPr>
        </p:nvSpPr>
        <p:spPr>
          <a:xfrm>
            <a:off x="1116000" y="3042380"/>
            <a:ext cx="7703999" cy="360000"/>
          </a:xfrm>
        </p:spPr>
        <p:txBody>
          <a:bodyPr/>
          <a:lstStyle/>
          <a:p>
            <a:r>
              <a:rPr lang="en-US" altLang="ja-JP" sz="2400">
                <a:latin typeface="Meiryo UI" panose="020B0604030504040204" pitchFamily="50" charset="-128"/>
                <a:ea typeface="Meiryo UI" panose="020B0604030504040204" pitchFamily="50" charset="-128"/>
              </a:rPr>
              <a:t>1. ESG</a:t>
            </a:r>
            <a:r>
              <a:rPr lang="ja-JP" altLang="en-US" sz="2400">
                <a:latin typeface="Meiryo UI" panose="020B0604030504040204" pitchFamily="50" charset="-128"/>
                <a:ea typeface="Meiryo UI" panose="020B0604030504040204" pitchFamily="50" charset="-128"/>
              </a:rPr>
              <a:t>システム導入の背景・課題</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3DB55F1-1B8C-13AB-1DBE-1F30F08B6A0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23533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矢印: 五方向 13">
            <a:extLst>
              <a:ext uri="{FF2B5EF4-FFF2-40B4-BE49-F238E27FC236}">
                <a16:creationId xmlns:a16="http://schemas.microsoft.com/office/drawing/2014/main" id="{C1ED1A84-0152-0F93-E590-C8993EFD5C81}"/>
              </a:ext>
            </a:extLst>
          </p:cNvPr>
          <p:cNvSpPr/>
          <p:nvPr/>
        </p:nvSpPr>
        <p:spPr>
          <a:xfrm>
            <a:off x="211667" y="1475019"/>
            <a:ext cx="4360333" cy="3896966"/>
          </a:xfrm>
          <a:prstGeom prst="homePlate">
            <a:avLst>
              <a:gd name="adj" fmla="val 247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5" name="矢印: 五方向 14">
            <a:extLst>
              <a:ext uri="{FF2B5EF4-FFF2-40B4-BE49-F238E27FC236}">
                <a16:creationId xmlns:a16="http://schemas.microsoft.com/office/drawing/2014/main" id="{036ACD8F-FB33-4297-4089-9709E704353C}"/>
              </a:ext>
            </a:extLst>
          </p:cNvPr>
          <p:cNvSpPr/>
          <p:nvPr/>
        </p:nvSpPr>
        <p:spPr>
          <a:xfrm flipH="1">
            <a:off x="4557515" y="1456180"/>
            <a:ext cx="4360333" cy="3896966"/>
          </a:xfrm>
          <a:prstGeom prst="homePlate">
            <a:avLst>
              <a:gd name="adj" fmla="val 250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6" name="四角形: 角を丸くする 15">
            <a:extLst>
              <a:ext uri="{FF2B5EF4-FFF2-40B4-BE49-F238E27FC236}">
                <a16:creationId xmlns:a16="http://schemas.microsoft.com/office/drawing/2014/main" id="{3E1E6E90-8BDA-9121-22BF-A2A3A0C674E0}"/>
              </a:ext>
            </a:extLst>
          </p:cNvPr>
          <p:cNvSpPr/>
          <p:nvPr/>
        </p:nvSpPr>
        <p:spPr>
          <a:xfrm>
            <a:off x="3640189" y="2708920"/>
            <a:ext cx="1866142" cy="1297174"/>
          </a:xfrm>
          <a:prstGeom prst="roundRect">
            <a:avLst/>
          </a:prstGeom>
          <a:solidFill>
            <a:schemeClr val="bg1">
              <a:lumMod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b="1">
                <a:solidFill>
                  <a:schemeClr val="bg1"/>
                </a:solidFill>
                <a:latin typeface="Meiryo UI" panose="020B0604030504040204" pitchFamily="50" charset="-128"/>
                <a:ea typeface="Meiryo UI" panose="020B0604030504040204" pitchFamily="50" charset="-128"/>
              </a:rPr>
              <a:t>従前から収集している</a:t>
            </a:r>
            <a:r>
              <a:rPr kumimoji="1" lang="en-US" altLang="ja-JP" sz="1400" b="1">
                <a:solidFill>
                  <a:schemeClr val="bg1"/>
                </a:solidFill>
                <a:latin typeface="Meiryo UI" panose="020B0604030504040204" pitchFamily="50" charset="-128"/>
                <a:ea typeface="Meiryo UI" panose="020B0604030504040204" pitchFamily="50" charset="-128"/>
              </a:rPr>
              <a:t>GHG</a:t>
            </a:r>
            <a:r>
              <a:rPr kumimoji="1" lang="ja-JP" altLang="en-US" sz="1400" b="1">
                <a:solidFill>
                  <a:schemeClr val="bg1"/>
                </a:solidFill>
                <a:latin typeface="Meiryo UI" panose="020B0604030504040204" pitchFamily="50" charset="-128"/>
                <a:ea typeface="Meiryo UI" panose="020B0604030504040204" pitchFamily="50" charset="-128"/>
              </a:rPr>
              <a:t>領域を中心に、</a:t>
            </a:r>
            <a:r>
              <a:rPr kumimoji="1" lang="en-US" altLang="ja-JP" sz="1400" b="1" u="sng">
                <a:solidFill>
                  <a:schemeClr val="bg1"/>
                </a:solidFill>
                <a:latin typeface="Meiryo UI" panose="020B0604030504040204" pitchFamily="50" charset="-128"/>
                <a:ea typeface="Meiryo UI" panose="020B0604030504040204" pitchFamily="50" charset="-128"/>
              </a:rPr>
              <a:t>SSBJ</a:t>
            </a:r>
            <a:r>
              <a:rPr kumimoji="1" lang="ja-JP" altLang="en-US" sz="1400" b="1" u="sng">
                <a:solidFill>
                  <a:schemeClr val="bg1"/>
                </a:solidFill>
                <a:latin typeface="Meiryo UI" panose="020B0604030504040204" pitchFamily="50" charset="-128"/>
                <a:ea typeface="Meiryo UI" panose="020B0604030504040204" pitchFamily="50" charset="-128"/>
              </a:rPr>
              <a:t>強制適用までに業務・システム体制を整備</a:t>
            </a:r>
            <a:r>
              <a:rPr kumimoji="1" lang="ja-JP" altLang="en-US" sz="1400" b="1">
                <a:solidFill>
                  <a:schemeClr val="bg1"/>
                </a:solidFill>
                <a:latin typeface="Meiryo UI" panose="020B0604030504040204" pitchFamily="50" charset="-128"/>
                <a:ea typeface="Meiryo UI" panose="020B0604030504040204" pitchFamily="50" charset="-128"/>
              </a:rPr>
              <a:t>する必要がある</a:t>
            </a:r>
          </a:p>
        </p:txBody>
      </p:sp>
      <p:sp>
        <p:nvSpPr>
          <p:cNvPr id="2" name="タイトル 1">
            <a:extLst>
              <a:ext uri="{FF2B5EF4-FFF2-40B4-BE49-F238E27FC236}">
                <a16:creationId xmlns:a16="http://schemas.microsoft.com/office/drawing/2014/main" id="{F6A61A43-8D99-D3A0-B25C-584AD8F26808}"/>
              </a:ext>
            </a:extLst>
          </p:cNvPr>
          <p:cNvSpPr>
            <a:spLocks noGrp="1"/>
          </p:cNvSpPr>
          <p:nvPr>
            <p:ph type="title"/>
          </p:nvPr>
        </p:nvSpPr>
        <p:spPr/>
        <p:txBody>
          <a:bodyPr vert="horz" lIns="0" tIns="72000" rIns="0" bIns="0" rtlCol="0" anchor="ctr">
            <a:noAutofit/>
          </a:bodyPr>
          <a:lstStyle/>
          <a:p>
            <a:r>
              <a:rPr lang="ja-JP" altLang="en-US">
                <a:latin typeface="Meiryo UI" panose="020B0604030504040204" pitchFamily="50" charset="-128"/>
                <a:ea typeface="Meiryo UI" panose="020B0604030504040204" pitchFamily="50" charset="-128"/>
              </a:rPr>
              <a:t>システム検討プロジェクトの位置づけ</a:t>
            </a:r>
          </a:p>
        </p:txBody>
      </p:sp>
      <p:sp>
        <p:nvSpPr>
          <p:cNvPr id="3" name="スライド番号プレースホルダー 2">
            <a:extLst>
              <a:ext uri="{FF2B5EF4-FFF2-40B4-BE49-F238E27FC236}">
                <a16:creationId xmlns:a16="http://schemas.microsoft.com/office/drawing/2014/main" id="{5AE7224F-8A70-9119-C94E-86988397AF61}"/>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4</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68BD73A1-205B-5571-5DA7-5FCBB89BD79E}"/>
              </a:ext>
            </a:extLst>
          </p:cNvPr>
          <p:cNvSpPr>
            <a:spLocks noGrp="1"/>
          </p:cNvSpPr>
          <p:nvPr>
            <p:ph type="body" sz="quarter" idx="13"/>
          </p:nvPr>
        </p:nvSpPr>
        <p:spPr/>
        <p:txBody>
          <a:bodyPr/>
          <a:lstStyle/>
          <a:p>
            <a:r>
              <a:rPr kumimoji="1" lang="ja-JP" altLang="en-US"/>
              <a:t>本プロジェクトは、</a:t>
            </a:r>
            <a:r>
              <a:rPr kumimoji="1" lang="en-US" altLang="ja-JP"/>
              <a:t>FY27</a:t>
            </a:r>
            <a:r>
              <a:rPr kumimoji="1" lang="ja-JP" altLang="en-US"/>
              <a:t>より強制適用される</a:t>
            </a:r>
            <a:r>
              <a:rPr kumimoji="1" lang="en-US" altLang="ja-JP"/>
              <a:t>SSBJ</a:t>
            </a:r>
            <a:r>
              <a:rPr kumimoji="1" lang="ja-JP" altLang="en-US"/>
              <a:t>開示に向け、</a:t>
            </a:r>
            <a:r>
              <a:rPr kumimoji="1" lang="en-US" altLang="ja-JP"/>
              <a:t>GHG</a:t>
            </a:r>
            <a:r>
              <a:rPr kumimoji="1" lang="ja-JP" altLang="en-US"/>
              <a:t>領域を中心としたシステムでのデータ収集体制構築が必要不可欠となっている</a:t>
            </a:r>
          </a:p>
        </p:txBody>
      </p:sp>
      <p:sp>
        <p:nvSpPr>
          <p:cNvPr id="17" name="四角形: 角を丸くする 16">
            <a:extLst>
              <a:ext uri="{FF2B5EF4-FFF2-40B4-BE49-F238E27FC236}">
                <a16:creationId xmlns:a16="http://schemas.microsoft.com/office/drawing/2014/main" id="{BC3129CD-EAFB-C3B0-A393-6AC6CF9D46BA}"/>
              </a:ext>
            </a:extLst>
          </p:cNvPr>
          <p:cNvSpPr/>
          <p:nvPr/>
        </p:nvSpPr>
        <p:spPr>
          <a:xfrm>
            <a:off x="474597" y="1696893"/>
            <a:ext cx="3103141" cy="27932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サステナビリティ開示基準の動向</a:t>
            </a:r>
            <a:endParaRPr kumimoji="1" lang="en-US" altLang="ja-JP" sz="1200" b="1">
              <a:solidFill>
                <a:schemeClr val="bg1"/>
              </a:solidFill>
              <a:latin typeface="Meiryo UI" panose="020B0604030504040204" pitchFamily="50" charset="-128"/>
              <a:ea typeface="Meiryo UI" panose="020B0604030504040204" pitchFamily="50" charset="-128"/>
            </a:endParaRPr>
          </a:p>
        </p:txBody>
      </p:sp>
      <p:sp>
        <p:nvSpPr>
          <p:cNvPr id="18" name="四角形: 角を丸くする 17">
            <a:extLst>
              <a:ext uri="{FF2B5EF4-FFF2-40B4-BE49-F238E27FC236}">
                <a16:creationId xmlns:a16="http://schemas.microsoft.com/office/drawing/2014/main" id="{9985DD36-CA43-81CE-2885-E2AAA6E18C0D}"/>
              </a:ext>
            </a:extLst>
          </p:cNvPr>
          <p:cNvSpPr/>
          <p:nvPr/>
        </p:nvSpPr>
        <p:spPr>
          <a:xfrm>
            <a:off x="5549142" y="1696893"/>
            <a:ext cx="3103141" cy="27932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出光における状況</a:t>
            </a:r>
            <a:endParaRPr kumimoji="1" lang="en-US" altLang="ja-JP" sz="1200" b="1">
              <a:solidFill>
                <a:schemeClr val="bg1"/>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86D8BE7C-7D0D-52BF-15C2-BC266E21B491}"/>
              </a:ext>
            </a:extLst>
          </p:cNvPr>
          <p:cNvSpPr/>
          <p:nvPr/>
        </p:nvSpPr>
        <p:spPr>
          <a:xfrm>
            <a:off x="5560503" y="2261558"/>
            <a:ext cx="3104282" cy="715381"/>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eiryo UI" panose="020B0604030504040204" pitchFamily="50" charset="-128"/>
                <a:ea typeface="Meiryo UI" panose="020B0604030504040204" pitchFamily="50" charset="-128"/>
              </a:rPr>
              <a:t>出光における</a:t>
            </a:r>
            <a:r>
              <a:rPr kumimoji="1" lang="en-US" altLang="ja-JP" sz="1200" b="1" u="sng">
                <a:solidFill>
                  <a:schemeClr val="tx1"/>
                </a:solidFill>
                <a:latin typeface="Meiryo UI" panose="020B0604030504040204" pitchFamily="50" charset="-128"/>
                <a:ea typeface="Meiryo UI" panose="020B0604030504040204" pitchFamily="50" charset="-128"/>
              </a:rPr>
              <a:t>SSBJ</a:t>
            </a:r>
            <a:r>
              <a:rPr kumimoji="1" lang="ja-JP" altLang="en-US" sz="1200" b="1" u="sng">
                <a:solidFill>
                  <a:schemeClr val="tx1"/>
                </a:solidFill>
                <a:latin typeface="Meiryo UI" panose="020B0604030504040204" pitchFamily="50" charset="-128"/>
                <a:ea typeface="Meiryo UI" panose="020B0604030504040204" pitchFamily="50" charset="-128"/>
              </a:rPr>
              <a:t>適用は</a:t>
            </a:r>
            <a:r>
              <a:rPr kumimoji="1" lang="en-US" altLang="ja-JP" sz="1200" b="1" u="sng">
                <a:solidFill>
                  <a:schemeClr val="tx1"/>
                </a:solidFill>
                <a:latin typeface="Meiryo UI" panose="020B0604030504040204" pitchFamily="50" charset="-128"/>
                <a:ea typeface="Meiryo UI" panose="020B0604030504040204" pitchFamily="50" charset="-128"/>
              </a:rPr>
              <a:t>FY27</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2027</a:t>
            </a:r>
            <a:r>
              <a:rPr kumimoji="1" lang="ja-JP" altLang="en-US" sz="1200">
                <a:solidFill>
                  <a:schemeClr val="tx1"/>
                </a:solidFill>
                <a:latin typeface="Meiryo UI" panose="020B0604030504040204" pitchFamily="50" charset="-128"/>
                <a:ea typeface="Meiryo UI" panose="020B0604030504040204" pitchFamily="50" charset="-128"/>
              </a:rPr>
              <a:t>年</a:t>
            </a:r>
            <a:r>
              <a:rPr kumimoji="1" lang="en-US" altLang="ja-JP" sz="1200">
                <a:solidFill>
                  <a:schemeClr val="tx1"/>
                </a:solidFill>
                <a:latin typeface="Meiryo UI" panose="020B0604030504040204" pitchFamily="50" charset="-128"/>
                <a:ea typeface="Meiryo UI" panose="020B0604030504040204" pitchFamily="50" charset="-128"/>
              </a:rPr>
              <a:t>4</a:t>
            </a:r>
            <a:r>
              <a:rPr kumimoji="1" lang="ja-JP" altLang="en-US" sz="1200">
                <a:solidFill>
                  <a:schemeClr val="tx1"/>
                </a:solidFill>
                <a:latin typeface="Meiryo UI" panose="020B0604030504040204" pitchFamily="50" charset="-128"/>
                <a:ea typeface="Meiryo UI" panose="020B0604030504040204" pitchFamily="50" charset="-128"/>
              </a:rPr>
              <a:t>月</a:t>
            </a:r>
            <a:r>
              <a:rPr kumimoji="1" lang="en-US" altLang="ja-JP" sz="1200">
                <a:solidFill>
                  <a:schemeClr val="tx1"/>
                </a:solidFill>
                <a:latin typeface="Meiryo UI" panose="020B0604030504040204" pitchFamily="50" charset="-128"/>
                <a:ea typeface="Meiryo UI" panose="020B0604030504040204" pitchFamily="50" charset="-128"/>
              </a:rPr>
              <a:t>1</a:t>
            </a:r>
            <a:r>
              <a:rPr kumimoji="1" lang="ja-JP" altLang="en-US" sz="1200">
                <a:solidFill>
                  <a:schemeClr val="tx1"/>
                </a:solidFill>
                <a:latin typeface="Meiryo UI" panose="020B0604030504040204" pitchFamily="50" charset="-128"/>
                <a:ea typeface="Meiryo UI" panose="020B0604030504040204" pitchFamily="50" charset="-128"/>
              </a:rPr>
              <a:t>日以降）である</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341C8E05-B333-9CE4-E101-8F9CD93A3E48}"/>
              </a:ext>
            </a:extLst>
          </p:cNvPr>
          <p:cNvSpPr/>
          <p:nvPr/>
        </p:nvSpPr>
        <p:spPr>
          <a:xfrm>
            <a:off x="5560384" y="2021747"/>
            <a:ext cx="3103141" cy="245913"/>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Meiryo UI" panose="020B0604030504040204" pitchFamily="50" charset="-128"/>
                <a:ea typeface="Meiryo UI" panose="020B0604030504040204" pitchFamily="50" charset="-128"/>
              </a:rPr>
              <a:t>出光への</a:t>
            </a:r>
            <a:r>
              <a:rPr kumimoji="1" lang="en-US" altLang="ja-JP" sz="1200" b="1">
                <a:solidFill>
                  <a:schemeClr val="tx1"/>
                </a:solidFill>
                <a:latin typeface="Meiryo UI" panose="020B0604030504040204" pitchFamily="50" charset="-128"/>
                <a:ea typeface="Meiryo UI" panose="020B0604030504040204" pitchFamily="50" charset="-128"/>
              </a:rPr>
              <a:t>SSBJ</a:t>
            </a:r>
            <a:r>
              <a:rPr kumimoji="1" lang="ja-JP" altLang="en-US" sz="1200" b="1">
                <a:solidFill>
                  <a:schemeClr val="tx1"/>
                </a:solidFill>
                <a:latin typeface="Meiryo UI" panose="020B0604030504040204" pitchFamily="50" charset="-128"/>
                <a:ea typeface="Meiryo UI" panose="020B0604030504040204" pitchFamily="50" charset="-128"/>
              </a:rPr>
              <a:t>適用時期</a:t>
            </a:r>
          </a:p>
        </p:txBody>
      </p:sp>
      <p:sp>
        <p:nvSpPr>
          <p:cNvPr id="20" name="正方形/長方形 19">
            <a:extLst>
              <a:ext uri="{FF2B5EF4-FFF2-40B4-BE49-F238E27FC236}">
                <a16:creationId xmlns:a16="http://schemas.microsoft.com/office/drawing/2014/main" id="{5A83E19B-0F60-E559-E60F-987A9751E870}"/>
              </a:ext>
            </a:extLst>
          </p:cNvPr>
          <p:cNvSpPr/>
          <p:nvPr/>
        </p:nvSpPr>
        <p:spPr>
          <a:xfrm>
            <a:off x="5560503" y="4481816"/>
            <a:ext cx="3104282" cy="715381"/>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eiryo UI" panose="020B0604030504040204" pitchFamily="50" charset="-128"/>
                <a:ea typeface="Meiryo UI" panose="020B0604030504040204" pitchFamily="50" charset="-128"/>
              </a:rPr>
              <a:t>欧州</a:t>
            </a:r>
            <a:r>
              <a:rPr kumimoji="1" lang="en-US" altLang="ja-JP" sz="1200">
                <a:solidFill>
                  <a:schemeClr val="tx1"/>
                </a:solidFill>
                <a:latin typeface="Meiryo UI" panose="020B0604030504040204" pitchFamily="50" charset="-128"/>
                <a:ea typeface="Meiryo UI" panose="020B0604030504040204" pitchFamily="50" charset="-128"/>
              </a:rPr>
              <a:t>CSRD</a:t>
            </a:r>
            <a:r>
              <a:rPr kumimoji="1" lang="ja-JP" altLang="en-US" sz="1200">
                <a:solidFill>
                  <a:schemeClr val="tx1"/>
                </a:solidFill>
                <a:latin typeface="Meiryo UI" panose="020B0604030504040204" pitchFamily="50" charset="-128"/>
                <a:ea typeface="Meiryo UI" panose="020B0604030504040204" pitchFamily="50" charset="-128"/>
              </a:rPr>
              <a:t>や</a:t>
            </a:r>
            <a:r>
              <a:rPr kumimoji="1" lang="en-US" altLang="ja-JP" sz="1200">
                <a:solidFill>
                  <a:schemeClr val="tx1"/>
                </a:solidFill>
                <a:latin typeface="Meiryo UI" panose="020B0604030504040204" pitchFamily="50" charset="-128"/>
                <a:ea typeface="Meiryo UI" panose="020B0604030504040204" pitchFamily="50" charset="-128"/>
              </a:rPr>
              <a:t>SSBJ</a:t>
            </a:r>
            <a:r>
              <a:rPr kumimoji="1" lang="ja-JP" altLang="en-US" sz="1200">
                <a:solidFill>
                  <a:schemeClr val="tx1"/>
                </a:solidFill>
                <a:latin typeface="Meiryo UI" panose="020B0604030504040204" pitchFamily="50" charset="-128"/>
                <a:ea typeface="Meiryo UI" panose="020B0604030504040204" pitchFamily="50" charset="-128"/>
              </a:rPr>
              <a:t>の他、各国の法規制への適用に向けた具体的な対応に着手するにあたり、</a:t>
            </a:r>
            <a:r>
              <a:rPr kumimoji="1" lang="en-US" altLang="ja-JP" sz="1200" b="1" u="sng">
                <a:solidFill>
                  <a:schemeClr val="tx1"/>
                </a:solidFill>
                <a:latin typeface="Meiryo UI" panose="020B0604030504040204" pitchFamily="50" charset="-128"/>
                <a:ea typeface="Meiryo UI" panose="020B0604030504040204" pitchFamily="50" charset="-128"/>
              </a:rPr>
              <a:t>2024</a:t>
            </a:r>
            <a:r>
              <a:rPr kumimoji="1" lang="ja-JP" altLang="en-US" sz="1200" b="1" u="sng">
                <a:solidFill>
                  <a:schemeClr val="tx1"/>
                </a:solidFill>
                <a:latin typeface="Meiryo UI" panose="020B0604030504040204" pitchFamily="50" charset="-128"/>
                <a:ea typeface="Meiryo UI" panose="020B0604030504040204" pitchFamily="50" charset="-128"/>
              </a:rPr>
              <a:t>年</a:t>
            </a:r>
            <a:r>
              <a:rPr kumimoji="1" lang="en-US" altLang="ja-JP" sz="1200" b="1" u="sng">
                <a:solidFill>
                  <a:schemeClr val="tx1"/>
                </a:solidFill>
                <a:latin typeface="Meiryo UI" panose="020B0604030504040204" pitchFamily="50" charset="-128"/>
                <a:ea typeface="Meiryo UI" panose="020B0604030504040204" pitchFamily="50" charset="-128"/>
              </a:rPr>
              <a:t>1</a:t>
            </a:r>
            <a:r>
              <a:rPr kumimoji="1" lang="ja-JP" altLang="en-US" sz="1200" b="1" u="sng">
                <a:solidFill>
                  <a:schemeClr val="tx1"/>
                </a:solidFill>
                <a:latin typeface="Meiryo UI" panose="020B0604030504040204" pitchFamily="50" charset="-128"/>
                <a:ea typeface="Meiryo UI" panose="020B0604030504040204" pitchFamily="50" charset="-128"/>
              </a:rPr>
              <a:t>月からプロジェクトを開始</a:t>
            </a:r>
            <a:r>
              <a:rPr kumimoji="1" lang="ja-JP" altLang="en-US" sz="1200">
                <a:solidFill>
                  <a:schemeClr val="tx1"/>
                </a:solidFill>
                <a:latin typeface="Meiryo UI" panose="020B0604030504040204" pitchFamily="50" charset="-128"/>
                <a:ea typeface="Meiryo UI" panose="020B0604030504040204" pitchFamily="50" charset="-128"/>
              </a:rPr>
              <a:t>している</a:t>
            </a:r>
          </a:p>
        </p:txBody>
      </p:sp>
      <p:sp>
        <p:nvSpPr>
          <p:cNvPr id="21" name="正方形/長方形 20">
            <a:extLst>
              <a:ext uri="{FF2B5EF4-FFF2-40B4-BE49-F238E27FC236}">
                <a16:creationId xmlns:a16="http://schemas.microsoft.com/office/drawing/2014/main" id="{D9FA7344-DD8A-44E3-24DD-CC2FB5A35778}"/>
              </a:ext>
            </a:extLst>
          </p:cNvPr>
          <p:cNvSpPr/>
          <p:nvPr/>
        </p:nvSpPr>
        <p:spPr>
          <a:xfrm>
            <a:off x="5560384" y="4235903"/>
            <a:ext cx="3103141" cy="245913"/>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Meiryo UI" panose="020B0604030504040204" pitchFamily="50" charset="-128"/>
                <a:ea typeface="Meiryo UI" panose="020B0604030504040204" pitchFamily="50" charset="-128"/>
              </a:rPr>
              <a:t>開示対応に向けたプロジェクトの状況</a:t>
            </a:r>
          </a:p>
        </p:txBody>
      </p:sp>
      <p:sp>
        <p:nvSpPr>
          <p:cNvPr id="22" name="正方形/長方形 21">
            <a:extLst>
              <a:ext uri="{FF2B5EF4-FFF2-40B4-BE49-F238E27FC236}">
                <a16:creationId xmlns:a16="http://schemas.microsoft.com/office/drawing/2014/main" id="{0EA30FE1-4226-767D-2E11-494EA81312BF}"/>
              </a:ext>
            </a:extLst>
          </p:cNvPr>
          <p:cNvSpPr/>
          <p:nvPr/>
        </p:nvSpPr>
        <p:spPr>
          <a:xfrm>
            <a:off x="5560503" y="3371687"/>
            <a:ext cx="3104282" cy="715381"/>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eiryo UI" panose="020B0604030504040204" pitchFamily="50" charset="-128"/>
                <a:ea typeface="Meiryo UI" panose="020B0604030504040204" pitchFamily="50" charset="-128"/>
              </a:rPr>
              <a:t>出光では環境報告は今後新規対応が必要な</a:t>
            </a:r>
            <a:r>
              <a:rPr kumimoji="1" lang="en-US" altLang="ja-JP" sz="1200">
                <a:solidFill>
                  <a:schemeClr val="tx1"/>
                </a:solidFill>
                <a:latin typeface="Meiryo UI" panose="020B0604030504040204" pitchFamily="50" charset="-128"/>
                <a:ea typeface="Meiryo UI" panose="020B0604030504040204" pitchFamily="50" charset="-128"/>
              </a:rPr>
              <a:t>SSBJ</a:t>
            </a:r>
            <a:r>
              <a:rPr kumimoji="1" lang="ja-JP" altLang="en-US" sz="1200">
                <a:solidFill>
                  <a:schemeClr val="tx1"/>
                </a:solidFill>
                <a:latin typeface="Meiryo UI" panose="020B0604030504040204" pitchFamily="50" charset="-128"/>
                <a:ea typeface="Meiryo UI" panose="020B0604030504040204" pitchFamily="50" charset="-128"/>
              </a:rPr>
              <a:t>以外にも、</a:t>
            </a:r>
            <a:r>
              <a:rPr kumimoji="1" lang="ja-JP" altLang="en-US" sz="1200" b="1" u="sng">
                <a:solidFill>
                  <a:schemeClr val="tx1"/>
                </a:solidFill>
                <a:latin typeface="Meiryo UI" panose="020B0604030504040204" pitchFamily="50" charset="-128"/>
                <a:ea typeface="Meiryo UI" panose="020B0604030504040204" pitchFamily="50" charset="-128"/>
              </a:rPr>
              <a:t>従前から温対法や</a:t>
            </a:r>
            <a:r>
              <a:rPr kumimoji="1" lang="en-US" altLang="ja-JP" sz="1200" b="1" u="sng">
                <a:solidFill>
                  <a:schemeClr val="tx1"/>
                </a:solidFill>
                <a:latin typeface="Meiryo UI" panose="020B0604030504040204" pitchFamily="50" charset="-128"/>
                <a:ea typeface="Meiryo UI" panose="020B0604030504040204" pitchFamily="50" charset="-128"/>
              </a:rPr>
              <a:t>GX</a:t>
            </a:r>
            <a:r>
              <a:rPr kumimoji="1" lang="ja-JP" altLang="en-US" sz="1200" b="1" u="sng">
                <a:solidFill>
                  <a:schemeClr val="tx1"/>
                </a:solidFill>
                <a:latin typeface="Meiryo UI" panose="020B0604030504040204" pitchFamily="50" charset="-128"/>
                <a:ea typeface="Meiryo UI" panose="020B0604030504040204" pitchFamily="50" charset="-128"/>
              </a:rPr>
              <a:t>リーグに対応</a:t>
            </a:r>
            <a:r>
              <a:rPr kumimoji="1" lang="ja-JP" altLang="en-US" sz="1200">
                <a:solidFill>
                  <a:schemeClr val="tx1"/>
                </a:solidFill>
                <a:latin typeface="Meiryo UI" panose="020B0604030504040204" pitchFamily="50" charset="-128"/>
                <a:ea typeface="Meiryo UI" panose="020B0604030504040204" pitchFamily="50" charset="-128"/>
              </a:rPr>
              <a:t>をしている</a:t>
            </a:r>
          </a:p>
        </p:txBody>
      </p:sp>
      <p:sp>
        <p:nvSpPr>
          <p:cNvPr id="23" name="正方形/長方形 22">
            <a:extLst>
              <a:ext uri="{FF2B5EF4-FFF2-40B4-BE49-F238E27FC236}">
                <a16:creationId xmlns:a16="http://schemas.microsoft.com/office/drawing/2014/main" id="{E25D7AA4-ADAC-5FF5-4C3B-043601424D6C}"/>
              </a:ext>
            </a:extLst>
          </p:cNvPr>
          <p:cNvSpPr/>
          <p:nvPr/>
        </p:nvSpPr>
        <p:spPr>
          <a:xfrm>
            <a:off x="5560384" y="3129510"/>
            <a:ext cx="3103141" cy="245913"/>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Meiryo UI" panose="020B0604030504040204" pitchFamily="50" charset="-128"/>
                <a:ea typeface="Meiryo UI" panose="020B0604030504040204" pitchFamily="50" charset="-128"/>
              </a:rPr>
              <a:t>外部開示への対応状況</a:t>
            </a:r>
          </a:p>
        </p:txBody>
      </p:sp>
      <p:sp>
        <p:nvSpPr>
          <p:cNvPr id="24" name="正方形/長方形 23">
            <a:extLst>
              <a:ext uri="{FF2B5EF4-FFF2-40B4-BE49-F238E27FC236}">
                <a16:creationId xmlns:a16="http://schemas.microsoft.com/office/drawing/2014/main" id="{1B7877F0-FE22-940B-DB5E-85CABC7A89FF}"/>
              </a:ext>
            </a:extLst>
          </p:cNvPr>
          <p:cNvSpPr/>
          <p:nvPr/>
        </p:nvSpPr>
        <p:spPr>
          <a:xfrm>
            <a:off x="476034" y="2504391"/>
            <a:ext cx="3104282" cy="952172"/>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eiryo UI" panose="020B0604030504040204" pitchFamily="50" charset="-128"/>
                <a:ea typeface="Meiryo UI" panose="020B0604030504040204" pitchFamily="50" charset="-128"/>
              </a:rPr>
              <a:t>日本における非財務情報／サステナビリティ情報の開示基準は、</a:t>
            </a:r>
            <a:r>
              <a:rPr kumimoji="1" lang="en-US" altLang="ja-JP" sz="1200" b="1" u="sng">
                <a:solidFill>
                  <a:schemeClr val="tx1"/>
                </a:solidFill>
                <a:latin typeface="Meiryo UI" panose="020B0604030504040204" pitchFamily="50" charset="-128"/>
                <a:ea typeface="Meiryo UI" panose="020B0604030504040204" pitchFamily="50" charset="-128"/>
              </a:rPr>
              <a:t>2025</a:t>
            </a:r>
            <a:r>
              <a:rPr kumimoji="1" lang="ja-JP" altLang="en-US" sz="1200" b="1" u="sng">
                <a:solidFill>
                  <a:schemeClr val="tx1"/>
                </a:solidFill>
                <a:latin typeface="Meiryo UI" panose="020B0604030504040204" pitchFamily="50" charset="-128"/>
                <a:ea typeface="Meiryo UI" panose="020B0604030504040204" pitchFamily="50" charset="-128"/>
              </a:rPr>
              <a:t>年</a:t>
            </a:r>
            <a:r>
              <a:rPr kumimoji="1" lang="en-US" altLang="ja-JP" sz="1200" b="1" u="sng">
                <a:solidFill>
                  <a:schemeClr val="tx1"/>
                </a:solidFill>
                <a:latin typeface="Meiryo UI" panose="020B0604030504040204" pitchFamily="50" charset="-128"/>
                <a:ea typeface="Meiryo UI" panose="020B0604030504040204" pitchFamily="50" charset="-128"/>
              </a:rPr>
              <a:t>3</a:t>
            </a:r>
            <a:r>
              <a:rPr kumimoji="1" lang="ja-JP" altLang="en-US" sz="1200" b="1" u="sng">
                <a:solidFill>
                  <a:schemeClr val="tx1"/>
                </a:solidFill>
                <a:latin typeface="Meiryo UI" panose="020B0604030504040204" pitchFamily="50" charset="-128"/>
                <a:ea typeface="Meiryo UI" panose="020B0604030504040204" pitchFamily="50" charset="-128"/>
              </a:rPr>
              <a:t>月に</a:t>
            </a:r>
            <a:r>
              <a:rPr kumimoji="1" lang="en-US" altLang="ja-JP" sz="1200" b="1" u="sng">
                <a:solidFill>
                  <a:schemeClr val="tx1"/>
                </a:solidFill>
                <a:latin typeface="Meiryo UI" panose="020B0604030504040204" pitchFamily="50" charset="-128"/>
                <a:ea typeface="Meiryo UI" panose="020B0604030504040204" pitchFamily="50" charset="-128"/>
              </a:rPr>
              <a:t>SSBJ</a:t>
            </a:r>
            <a:r>
              <a:rPr kumimoji="1" lang="ja-JP" altLang="en-US" sz="1200" b="1" u="sng">
                <a:solidFill>
                  <a:schemeClr val="tx1"/>
                </a:solidFill>
                <a:latin typeface="Meiryo UI" panose="020B0604030504040204" pitchFamily="50" charset="-128"/>
                <a:ea typeface="Meiryo UI" panose="020B0604030504040204" pitchFamily="50" charset="-128"/>
              </a:rPr>
              <a:t>基準が最終化され、「一般開示基準」「気候変動開示基準」が公表</a:t>
            </a:r>
            <a:r>
              <a:rPr kumimoji="1" lang="ja-JP" altLang="en-US" sz="1200">
                <a:solidFill>
                  <a:schemeClr val="tx1"/>
                </a:solidFill>
                <a:latin typeface="Meiryo UI" panose="020B0604030504040204" pitchFamily="50" charset="-128"/>
                <a:ea typeface="Meiryo UI" panose="020B0604030504040204" pitchFamily="50" charset="-128"/>
              </a:rPr>
              <a:t>された</a:t>
            </a:r>
          </a:p>
        </p:txBody>
      </p:sp>
      <p:sp>
        <p:nvSpPr>
          <p:cNvPr id="25" name="正方形/長方形 24">
            <a:extLst>
              <a:ext uri="{FF2B5EF4-FFF2-40B4-BE49-F238E27FC236}">
                <a16:creationId xmlns:a16="http://schemas.microsoft.com/office/drawing/2014/main" id="{12CD0082-E3CE-74CB-5EE6-3C879BAB1EE7}"/>
              </a:ext>
            </a:extLst>
          </p:cNvPr>
          <p:cNvSpPr/>
          <p:nvPr/>
        </p:nvSpPr>
        <p:spPr>
          <a:xfrm>
            <a:off x="476034" y="3838173"/>
            <a:ext cx="3104282" cy="952172"/>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eiryo UI" panose="020B0604030504040204" pitchFamily="50" charset="-128"/>
                <a:ea typeface="Meiryo UI" panose="020B0604030504040204" pitchFamily="50" charset="-128"/>
              </a:rPr>
              <a:t>金融審議会において</a:t>
            </a:r>
            <a:r>
              <a:rPr kumimoji="1" lang="en-US" altLang="ja-JP" sz="1200">
                <a:solidFill>
                  <a:schemeClr val="tx1"/>
                </a:solidFill>
                <a:latin typeface="Meiryo UI" panose="020B0604030504040204" pitchFamily="50" charset="-128"/>
                <a:ea typeface="Meiryo UI" panose="020B0604030504040204" pitchFamily="50" charset="-128"/>
              </a:rPr>
              <a:t>2025</a:t>
            </a:r>
            <a:r>
              <a:rPr kumimoji="1" lang="ja-JP" altLang="en-US" sz="1200">
                <a:solidFill>
                  <a:schemeClr val="tx1"/>
                </a:solidFill>
                <a:latin typeface="Meiryo UI" panose="020B0604030504040204" pitchFamily="50" charset="-128"/>
                <a:ea typeface="Meiryo UI" panose="020B0604030504040204" pitchFamily="50" charset="-128"/>
              </a:rPr>
              <a:t>年</a:t>
            </a:r>
            <a:r>
              <a:rPr kumimoji="1" lang="en-US" altLang="ja-JP" sz="1200">
                <a:solidFill>
                  <a:schemeClr val="tx1"/>
                </a:solidFill>
                <a:latin typeface="Meiryo UI" panose="020B0604030504040204" pitchFamily="50" charset="-128"/>
                <a:ea typeface="Meiryo UI" panose="020B0604030504040204" pitchFamily="50" charset="-128"/>
              </a:rPr>
              <a:t>3</a:t>
            </a:r>
            <a:r>
              <a:rPr kumimoji="1" lang="ja-JP" altLang="en-US" sz="1200">
                <a:solidFill>
                  <a:schemeClr val="tx1"/>
                </a:solidFill>
                <a:latin typeface="Meiryo UI" panose="020B0604030504040204" pitchFamily="50" charset="-128"/>
                <a:ea typeface="Meiryo UI" panose="020B0604030504040204" pitchFamily="50" charset="-128"/>
              </a:rPr>
              <a:t>月期から適用可能の方向で議論中であり、</a:t>
            </a:r>
            <a:r>
              <a:rPr kumimoji="1" lang="en-US" altLang="ja-JP" sz="1200" b="1" u="sng">
                <a:solidFill>
                  <a:schemeClr val="tx1"/>
                </a:solidFill>
                <a:latin typeface="Meiryo UI" panose="020B0604030504040204" pitchFamily="50" charset="-128"/>
                <a:ea typeface="Meiryo UI" panose="020B0604030504040204" pitchFamily="50" charset="-128"/>
              </a:rPr>
              <a:t>2027</a:t>
            </a:r>
            <a:r>
              <a:rPr kumimoji="1" lang="ja-JP" altLang="en-US" sz="1200" b="1" u="sng">
                <a:solidFill>
                  <a:schemeClr val="tx1"/>
                </a:solidFill>
                <a:latin typeface="Meiryo UI" panose="020B0604030504040204" pitchFamily="50" charset="-128"/>
                <a:ea typeface="Meiryo UI" panose="020B0604030504040204" pitchFamily="50" charset="-128"/>
              </a:rPr>
              <a:t>年</a:t>
            </a:r>
            <a:r>
              <a:rPr kumimoji="1" lang="en-US" altLang="ja-JP" sz="1200" b="1" u="sng">
                <a:solidFill>
                  <a:schemeClr val="tx1"/>
                </a:solidFill>
                <a:latin typeface="Meiryo UI" panose="020B0604030504040204" pitchFamily="50" charset="-128"/>
                <a:ea typeface="Meiryo UI" panose="020B0604030504040204" pitchFamily="50" charset="-128"/>
              </a:rPr>
              <a:t>3</a:t>
            </a:r>
            <a:r>
              <a:rPr kumimoji="1" lang="ja-JP" altLang="en-US" sz="1200" b="1" u="sng">
                <a:solidFill>
                  <a:schemeClr val="tx1"/>
                </a:solidFill>
                <a:latin typeface="Meiryo UI" panose="020B0604030504040204" pitchFamily="50" charset="-128"/>
                <a:ea typeface="Meiryo UI" panose="020B0604030504040204" pitchFamily="50" charset="-128"/>
              </a:rPr>
              <a:t>月期の強制適用開始後、適用対象となる企業は順次拡大</a:t>
            </a:r>
            <a:r>
              <a:rPr kumimoji="1" lang="ja-JP" altLang="en-US" sz="1200">
                <a:solidFill>
                  <a:schemeClr val="tx1"/>
                </a:solidFill>
                <a:latin typeface="Meiryo UI" panose="020B0604030504040204" pitchFamily="50" charset="-128"/>
                <a:ea typeface="Meiryo UI" panose="020B0604030504040204" pitchFamily="50" charset="-128"/>
              </a:rPr>
              <a:t>される見込み</a:t>
            </a:r>
          </a:p>
        </p:txBody>
      </p:sp>
      <p:sp>
        <p:nvSpPr>
          <p:cNvPr id="27" name="正方形/長方形 26">
            <a:extLst>
              <a:ext uri="{FF2B5EF4-FFF2-40B4-BE49-F238E27FC236}">
                <a16:creationId xmlns:a16="http://schemas.microsoft.com/office/drawing/2014/main" id="{67D79791-2B06-0F8A-FD65-6602FC583BC8}"/>
              </a:ext>
            </a:extLst>
          </p:cNvPr>
          <p:cNvSpPr/>
          <p:nvPr/>
        </p:nvSpPr>
        <p:spPr>
          <a:xfrm>
            <a:off x="477175" y="2264194"/>
            <a:ext cx="3103141" cy="244800"/>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Meiryo UI" panose="020B0604030504040204" pitchFamily="50" charset="-128"/>
                <a:ea typeface="Meiryo UI" panose="020B0604030504040204" pitchFamily="50" charset="-128"/>
              </a:rPr>
              <a:t>日本における</a:t>
            </a:r>
            <a:r>
              <a:rPr kumimoji="1" lang="en-US" altLang="ja-JP" sz="1200" b="1">
                <a:solidFill>
                  <a:schemeClr val="tx1"/>
                </a:solidFill>
                <a:latin typeface="Meiryo UI" panose="020B0604030504040204" pitchFamily="50" charset="-128"/>
                <a:ea typeface="Meiryo UI" panose="020B0604030504040204" pitchFamily="50" charset="-128"/>
              </a:rPr>
              <a:t>SSBJ</a:t>
            </a:r>
            <a:r>
              <a:rPr kumimoji="1" lang="ja-JP" altLang="en-US" sz="1200" b="1">
                <a:solidFill>
                  <a:schemeClr val="tx1"/>
                </a:solidFill>
                <a:latin typeface="Meiryo UI" panose="020B0604030504040204" pitchFamily="50" charset="-128"/>
                <a:ea typeface="Meiryo UI" panose="020B0604030504040204" pitchFamily="50" charset="-128"/>
              </a:rPr>
              <a:t>開示</a:t>
            </a:r>
          </a:p>
        </p:txBody>
      </p:sp>
      <p:sp>
        <p:nvSpPr>
          <p:cNvPr id="28" name="正方形/長方形 27">
            <a:extLst>
              <a:ext uri="{FF2B5EF4-FFF2-40B4-BE49-F238E27FC236}">
                <a16:creationId xmlns:a16="http://schemas.microsoft.com/office/drawing/2014/main" id="{0405850C-8ECC-F31B-2E17-1EA964A3C46D}"/>
              </a:ext>
            </a:extLst>
          </p:cNvPr>
          <p:cNvSpPr/>
          <p:nvPr/>
        </p:nvSpPr>
        <p:spPr>
          <a:xfrm>
            <a:off x="475915" y="3595610"/>
            <a:ext cx="3103141" cy="245913"/>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Meiryo UI" panose="020B0604030504040204" pitchFamily="50" charset="-128"/>
                <a:ea typeface="Meiryo UI" panose="020B0604030504040204" pitchFamily="50" charset="-128"/>
              </a:rPr>
              <a:t>SSBJ</a:t>
            </a:r>
            <a:r>
              <a:rPr kumimoji="1" lang="ja-JP" altLang="en-US" sz="1200" b="1">
                <a:solidFill>
                  <a:schemeClr val="tx1"/>
                </a:solidFill>
                <a:latin typeface="Meiryo UI" panose="020B0604030504040204" pitchFamily="50" charset="-128"/>
                <a:ea typeface="Meiryo UI" panose="020B0604030504040204" pitchFamily="50" charset="-128"/>
              </a:rPr>
              <a:t>適用時期</a:t>
            </a:r>
          </a:p>
        </p:txBody>
      </p:sp>
      <p:sp>
        <p:nvSpPr>
          <p:cNvPr id="30" name="正方形/長方形 29">
            <a:extLst>
              <a:ext uri="{FF2B5EF4-FFF2-40B4-BE49-F238E27FC236}">
                <a16:creationId xmlns:a16="http://schemas.microsoft.com/office/drawing/2014/main" id="{4E089AC2-2F60-87BC-87D3-FDECD1D0642B}"/>
              </a:ext>
            </a:extLst>
          </p:cNvPr>
          <p:cNvSpPr/>
          <p:nvPr/>
        </p:nvSpPr>
        <p:spPr>
          <a:xfrm>
            <a:off x="474598" y="2264194"/>
            <a:ext cx="228136" cy="241200"/>
          </a:xfrm>
          <a:prstGeom prst="rect">
            <a:avLst/>
          </a:prstGeom>
          <a:solidFill>
            <a:schemeClr val="accent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1</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A2E130CF-5714-2089-9A53-520262DEB40F}"/>
              </a:ext>
            </a:extLst>
          </p:cNvPr>
          <p:cNvSpPr/>
          <p:nvPr/>
        </p:nvSpPr>
        <p:spPr>
          <a:xfrm>
            <a:off x="474598" y="3595609"/>
            <a:ext cx="228136" cy="241200"/>
          </a:xfrm>
          <a:prstGeom prst="rect">
            <a:avLst/>
          </a:prstGeom>
          <a:solidFill>
            <a:schemeClr val="accent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2</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33" name="二等辺三角形 32">
            <a:extLst>
              <a:ext uri="{FF2B5EF4-FFF2-40B4-BE49-F238E27FC236}">
                <a16:creationId xmlns:a16="http://schemas.microsoft.com/office/drawing/2014/main" id="{52619CFF-BD9E-BA06-6978-7AFA9A3B91A2}"/>
              </a:ext>
            </a:extLst>
          </p:cNvPr>
          <p:cNvSpPr/>
          <p:nvPr/>
        </p:nvSpPr>
        <p:spPr>
          <a:xfrm rot="10800000">
            <a:off x="3230203" y="5473472"/>
            <a:ext cx="2683594" cy="21017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23094200-76CE-60BA-CDF0-15FD146E93F6}"/>
              </a:ext>
            </a:extLst>
          </p:cNvPr>
          <p:cNvSpPr/>
          <p:nvPr/>
        </p:nvSpPr>
        <p:spPr>
          <a:xfrm>
            <a:off x="383112" y="5759958"/>
            <a:ext cx="8348804" cy="5836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rgbClr val="C00000"/>
                </a:solidFill>
                <a:latin typeface="Meiryo UI" panose="020B0604030504040204" pitchFamily="50" charset="-128"/>
                <a:ea typeface="Meiryo UI" panose="020B0604030504040204" pitchFamily="50" charset="-128"/>
              </a:rPr>
              <a:t>本プロジェクトでは</a:t>
            </a:r>
            <a:r>
              <a:rPr kumimoji="1" lang="en-US" altLang="ja-JP" b="1">
                <a:solidFill>
                  <a:srgbClr val="C00000"/>
                </a:solidFill>
                <a:latin typeface="Meiryo UI" panose="020B0604030504040204" pitchFamily="50" charset="-128"/>
                <a:ea typeface="Meiryo UI" panose="020B0604030504040204" pitchFamily="50" charset="-128"/>
              </a:rPr>
              <a:t>SSBJ</a:t>
            </a:r>
            <a:r>
              <a:rPr kumimoji="1" lang="ja-JP" altLang="en-US" b="1">
                <a:solidFill>
                  <a:srgbClr val="C00000"/>
                </a:solidFill>
                <a:latin typeface="Meiryo UI" panose="020B0604030504040204" pitchFamily="50" charset="-128"/>
                <a:ea typeface="Meiryo UI" panose="020B0604030504040204" pitchFamily="50" charset="-128"/>
              </a:rPr>
              <a:t>基準に沿った情報開示対応に主眼を置き、</a:t>
            </a:r>
          </a:p>
          <a:p>
            <a:pPr algn="ctr"/>
            <a:r>
              <a:rPr kumimoji="1" lang="ja-JP" altLang="en-US" b="1">
                <a:solidFill>
                  <a:srgbClr val="C00000"/>
                </a:solidFill>
                <a:latin typeface="Meiryo UI" panose="020B0604030504040204" pitchFamily="50" charset="-128"/>
                <a:ea typeface="Meiryo UI" panose="020B0604030504040204" pitchFamily="50" charset="-128"/>
              </a:rPr>
              <a:t>特に</a:t>
            </a:r>
            <a:r>
              <a:rPr kumimoji="1" lang="en-US" altLang="ja-JP" b="1">
                <a:solidFill>
                  <a:srgbClr val="C00000"/>
                </a:solidFill>
                <a:latin typeface="Meiryo UI" panose="020B0604030504040204" pitchFamily="50" charset="-128"/>
                <a:ea typeface="Meiryo UI" panose="020B0604030504040204" pitchFamily="50" charset="-128"/>
              </a:rPr>
              <a:t>GHG</a:t>
            </a:r>
            <a:r>
              <a:rPr kumimoji="1" lang="ja-JP" altLang="en-US" b="1">
                <a:solidFill>
                  <a:srgbClr val="C00000"/>
                </a:solidFill>
                <a:latin typeface="Meiryo UI" panose="020B0604030504040204" pitchFamily="50" charset="-128"/>
                <a:ea typeface="Meiryo UI" panose="020B0604030504040204" pitchFamily="50" charset="-128"/>
              </a:rPr>
              <a:t>排出量に関するデータ収集体制の構築を中心としシステム化を検討</a:t>
            </a:r>
          </a:p>
        </p:txBody>
      </p:sp>
      <p:sp>
        <p:nvSpPr>
          <p:cNvPr id="35" name="正方形/長方形 34">
            <a:extLst>
              <a:ext uri="{FF2B5EF4-FFF2-40B4-BE49-F238E27FC236}">
                <a16:creationId xmlns:a16="http://schemas.microsoft.com/office/drawing/2014/main" id="{A5DADEBE-B238-C12F-0C7B-4BE706957ED6}"/>
              </a:ext>
            </a:extLst>
          </p:cNvPr>
          <p:cNvSpPr/>
          <p:nvPr/>
        </p:nvSpPr>
        <p:spPr>
          <a:xfrm>
            <a:off x="5559124" y="2021746"/>
            <a:ext cx="228136" cy="242177"/>
          </a:xfrm>
          <a:prstGeom prst="rect">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1</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02D9CF9E-5374-F067-940E-4DDB15EE620F}"/>
              </a:ext>
            </a:extLst>
          </p:cNvPr>
          <p:cNvSpPr/>
          <p:nvPr/>
        </p:nvSpPr>
        <p:spPr>
          <a:xfrm>
            <a:off x="211667" y="1475019"/>
            <a:ext cx="904333" cy="15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100" b="1">
                <a:solidFill>
                  <a:schemeClr val="tx1"/>
                </a:solidFill>
                <a:latin typeface="Meiryo UI" panose="020B0604030504040204" pitchFamily="50" charset="-128"/>
                <a:ea typeface="Meiryo UI" panose="020B0604030504040204" pitchFamily="50" charset="-128"/>
              </a:rPr>
              <a:t>外部要因</a:t>
            </a:r>
          </a:p>
        </p:txBody>
      </p:sp>
      <p:sp>
        <p:nvSpPr>
          <p:cNvPr id="37" name="正方形/長方形 36">
            <a:extLst>
              <a:ext uri="{FF2B5EF4-FFF2-40B4-BE49-F238E27FC236}">
                <a16:creationId xmlns:a16="http://schemas.microsoft.com/office/drawing/2014/main" id="{D30ACE57-D78B-661A-3790-507E2BD5C43E}"/>
              </a:ext>
            </a:extLst>
          </p:cNvPr>
          <p:cNvSpPr/>
          <p:nvPr/>
        </p:nvSpPr>
        <p:spPr>
          <a:xfrm>
            <a:off x="8013514" y="1475019"/>
            <a:ext cx="904333" cy="15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ja-JP" altLang="en-US" sz="1100" b="1">
                <a:solidFill>
                  <a:schemeClr val="tx1"/>
                </a:solidFill>
                <a:latin typeface="Meiryo UI" panose="020B0604030504040204" pitchFamily="50" charset="-128"/>
                <a:ea typeface="Meiryo UI" panose="020B0604030504040204" pitchFamily="50" charset="-128"/>
              </a:rPr>
              <a:t>内部要因</a:t>
            </a:r>
          </a:p>
        </p:txBody>
      </p:sp>
      <p:sp>
        <p:nvSpPr>
          <p:cNvPr id="38" name="正方形/長方形 37">
            <a:extLst>
              <a:ext uri="{FF2B5EF4-FFF2-40B4-BE49-F238E27FC236}">
                <a16:creationId xmlns:a16="http://schemas.microsoft.com/office/drawing/2014/main" id="{1B5052C8-B873-A29A-896A-9560F9C992BF}"/>
              </a:ext>
            </a:extLst>
          </p:cNvPr>
          <p:cNvSpPr/>
          <p:nvPr/>
        </p:nvSpPr>
        <p:spPr>
          <a:xfrm>
            <a:off x="5559124" y="3129509"/>
            <a:ext cx="228136" cy="242177"/>
          </a:xfrm>
          <a:prstGeom prst="rect">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2</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516A9D05-296A-D5A5-2330-08D8D353881F}"/>
              </a:ext>
            </a:extLst>
          </p:cNvPr>
          <p:cNvSpPr/>
          <p:nvPr/>
        </p:nvSpPr>
        <p:spPr>
          <a:xfrm>
            <a:off x="5559124" y="4235902"/>
            <a:ext cx="228136" cy="242177"/>
          </a:xfrm>
          <a:prstGeom prst="rect">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3</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8" name="楕円 7">
            <a:extLst>
              <a:ext uri="{FF2B5EF4-FFF2-40B4-BE49-F238E27FC236}">
                <a16:creationId xmlns:a16="http://schemas.microsoft.com/office/drawing/2014/main" id="{44AF3442-F1DE-C551-932F-65DCB4A6A4D2}"/>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2265811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03A5BE2-0357-1126-FFBC-1DCF0EBCAB9B}"/>
              </a:ext>
            </a:extLst>
          </p:cNvPr>
          <p:cNvSpPr/>
          <p:nvPr/>
        </p:nvSpPr>
        <p:spPr>
          <a:xfrm>
            <a:off x="2915999" y="2583310"/>
            <a:ext cx="5831997" cy="350998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869EDB96-6B16-AEBF-7B11-44CEC3276548}"/>
              </a:ext>
            </a:extLst>
          </p:cNvPr>
          <p:cNvSpPr/>
          <p:nvPr/>
        </p:nvSpPr>
        <p:spPr>
          <a:xfrm>
            <a:off x="2953575" y="2633415"/>
            <a:ext cx="4716002" cy="2019585"/>
          </a:xfrm>
          <a:prstGeom prst="rect">
            <a:avLst/>
          </a:prstGeom>
          <a:solidFill>
            <a:schemeClr val="accent2">
              <a:lumMod val="20000"/>
              <a:lumOff val="80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DCA1F59E-9387-378A-25FF-41E9C19CAC5D}"/>
              </a:ext>
            </a:extLst>
          </p:cNvPr>
          <p:cNvSpPr/>
          <p:nvPr/>
        </p:nvSpPr>
        <p:spPr>
          <a:xfrm>
            <a:off x="2988000" y="2691551"/>
            <a:ext cx="1944000" cy="233450"/>
          </a:xfrm>
          <a:prstGeom prst="rect">
            <a:avLst/>
          </a:prstGeom>
          <a:solidFill>
            <a:schemeClr val="accent6">
              <a:lumMod val="20000"/>
              <a:lumOff val="80000"/>
            </a:schemeClr>
          </a:solidFill>
          <a:ln w="28575">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50" b="1">
                <a:solidFill>
                  <a:schemeClr val="tx1"/>
                </a:solidFill>
                <a:latin typeface="Meiryo UI" panose="020B0604030504040204" pitchFamily="50" charset="-128"/>
                <a:ea typeface="Meiryo UI" panose="020B0604030504040204" pitchFamily="50" charset="-128"/>
              </a:rPr>
              <a:t>GXL</a:t>
            </a:r>
            <a:r>
              <a:rPr kumimoji="1" lang="ja-JP" altLang="en-US" sz="1050" b="1">
                <a:solidFill>
                  <a:schemeClr val="tx1"/>
                </a:solidFill>
                <a:latin typeface="Meiryo UI" panose="020B0604030504040204" pitchFamily="50" charset="-128"/>
                <a:ea typeface="Meiryo UI" panose="020B0604030504040204" pitchFamily="50" charset="-128"/>
              </a:rPr>
              <a:t>：本体＋四日市・東亜</a:t>
            </a:r>
          </a:p>
        </p:txBody>
      </p:sp>
      <p:graphicFrame>
        <p:nvGraphicFramePr>
          <p:cNvPr id="5" name="表 4">
            <a:extLst>
              <a:ext uri="{FF2B5EF4-FFF2-40B4-BE49-F238E27FC236}">
                <a16:creationId xmlns:a16="http://schemas.microsoft.com/office/drawing/2014/main" id="{09B5A519-5CB2-7B6D-03FC-77FEF95B1628}"/>
              </a:ext>
            </a:extLst>
          </p:cNvPr>
          <p:cNvGraphicFramePr>
            <a:graphicFrameLocks noGrp="1"/>
          </p:cNvGraphicFramePr>
          <p:nvPr>
            <p:extLst>
              <p:ext uri="{D42A27DB-BD31-4B8C-83A1-F6EECF244321}">
                <p14:modId xmlns:p14="http://schemas.microsoft.com/office/powerpoint/2010/main" val="2864082311"/>
              </p:ext>
            </p:extLst>
          </p:nvPr>
        </p:nvGraphicFramePr>
        <p:xfrm>
          <a:off x="296575" y="1447752"/>
          <a:ext cx="8451422" cy="4717550"/>
        </p:xfrm>
        <a:graphic>
          <a:graphicData uri="http://schemas.openxmlformats.org/drawingml/2006/table">
            <a:tbl>
              <a:tblPr firstRow="1" bandRow="1">
                <a:tableStyleId>{5C22544A-7EE6-4342-B048-85BDC9FD1C3A}</a:tableStyleId>
              </a:tblPr>
              <a:tblGrid>
                <a:gridCol w="861260">
                  <a:extLst>
                    <a:ext uri="{9D8B030D-6E8A-4147-A177-3AD203B41FA5}">
                      <a16:colId xmlns:a16="http://schemas.microsoft.com/office/drawing/2014/main" val="2657223060"/>
                    </a:ext>
                  </a:extLst>
                </a:gridCol>
                <a:gridCol w="861260">
                  <a:extLst>
                    <a:ext uri="{9D8B030D-6E8A-4147-A177-3AD203B41FA5}">
                      <a16:colId xmlns:a16="http://schemas.microsoft.com/office/drawing/2014/main" val="894104896"/>
                    </a:ext>
                  </a:extLst>
                </a:gridCol>
                <a:gridCol w="861260">
                  <a:extLst>
                    <a:ext uri="{9D8B030D-6E8A-4147-A177-3AD203B41FA5}">
                      <a16:colId xmlns:a16="http://schemas.microsoft.com/office/drawing/2014/main" val="3449615554"/>
                    </a:ext>
                  </a:extLst>
                </a:gridCol>
                <a:gridCol w="533422">
                  <a:extLst>
                    <a:ext uri="{9D8B030D-6E8A-4147-A177-3AD203B41FA5}">
                      <a16:colId xmlns:a16="http://schemas.microsoft.com/office/drawing/2014/main" val="3966691820"/>
                    </a:ext>
                  </a:extLst>
                </a:gridCol>
                <a:gridCol w="533422">
                  <a:extLst>
                    <a:ext uri="{9D8B030D-6E8A-4147-A177-3AD203B41FA5}">
                      <a16:colId xmlns:a16="http://schemas.microsoft.com/office/drawing/2014/main" val="2746454703"/>
                    </a:ext>
                  </a:extLst>
                </a:gridCol>
                <a:gridCol w="533422">
                  <a:extLst>
                    <a:ext uri="{9D8B030D-6E8A-4147-A177-3AD203B41FA5}">
                      <a16:colId xmlns:a16="http://schemas.microsoft.com/office/drawing/2014/main" val="2295183593"/>
                    </a:ext>
                  </a:extLst>
                </a:gridCol>
                <a:gridCol w="533422">
                  <a:extLst>
                    <a:ext uri="{9D8B030D-6E8A-4147-A177-3AD203B41FA5}">
                      <a16:colId xmlns:a16="http://schemas.microsoft.com/office/drawing/2014/main" val="2426537633"/>
                    </a:ext>
                  </a:extLst>
                </a:gridCol>
                <a:gridCol w="533422">
                  <a:extLst>
                    <a:ext uri="{9D8B030D-6E8A-4147-A177-3AD203B41FA5}">
                      <a16:colId xmlns:a16="http://schemas.microsoft.com/office/drawing/2014/main" val="1696547357"/>
                    </a:ext>
                  </a:extLst>
                </a:gridCol>
                <a:gridCol w="533422">
                  <a:extLst>
                    <a:ext uri="{9D8B030D-6E8A-4147-A177-3AD203B41FA5}">
                      <a16:colId xmlns:a16="http://schemas.microsoft.com/office/drawing/2014/main" val="3146754455"/>
                    </a:ext>
                  </a:extLst>
                </a:gridCol>
                <a:gridCol w="533422">
                  <a:extLst>
                    <a:ext uri="{9D8B030D-6E8A-4147-A177-3AD203B41FA5}">
                      <a16:colId xmlns:a16="http://schemas.microsoft.com/office/drawing/2014/main" val="4001268365"/>
                    </a:ext>
                  </a:extLst>
                </a:gridCol>
                <a:gridCol w="533422">
                  <a:extLst>
                    <a:ext uri="{9D8B030D-6E8A-4147-A177-3AD203B41FA5}">
                      <a16:colId xmlns:a16="http://schemas.microsoft.com/office/drawing/2014/main" val="1528597089"/>
                    </a:ext>
                  </a:extLst>
                </a:gridCol>
                <a:gridCol w="533422">
                  <a:extLst>
                    <a:ext uri="{9D8B030D-6E8A-4147-A177-3AD203B41FA5}">
                      <a16:colId xmlns:a16="http://schemas.microsoft.com/office/drawing/2014/main" val="2115156618"/>
                    </a:ext>
                  </a:extLst>
                </a:gridCol>
                <a:gridCol w="533422">
                  <a:extLst>
                    <a:ext uri="{9D8B030D-6E8A-4147-A177-3AD203B41FA5}">
                      <a16:colId xmlns:a16="http://schemas.microsoft.com/office/drawing/2014/main" val="4175803360"/>
                    </a:ext>
                  </a:extLst>
                </a:gridCol>
                <a:gridCol w="533422">
                  <a:extLst>
                    <a:ext uri="{9D8B030D-6E8A-4147-A177-3AD203B41FA5}">
                      <a16:colId xmlns:a16="http://schemas.microsoft.com/office/drawing/2014/main" val="1971737446"/>
                    </a:ext>
                  </a:extLst>
                </a:gridCol>
              </a:tblGrid>
              <a:tr h="253621">
                <a:tc rowSpan="2" gridSpan="3">
                  <a:txBody>
                    <a:bodyPr/>
                    <a:lstStyle/>
                    <a:p>
                      <a:endParaRPr kumimoji="1" lang="ja-JP" altLang="en-US" sz="1050">
                        <a:latin typeface="Meiryo UI" panose="020B0604030504040204" pitchFamily="50" charset="-128"/>
                        <a:ea typeface="Meiryo UI" panose="020B0604030504040204" pitchFamily="50" charset="-128"/>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ap="flat" cmpd="sng" algn="ctr">
                      <a:solidFill>
                        <a:schemeClr val="bg1"/>
                      </a:solidFill>
                      <a:prstDash val="solid"/>
                      <a:round/>
                      <a:headEnd type="none" w="med" len="med"/>
                      <a:tailEnd type="none" w="med" len="med"/>
                    </a:lnTlToBr>
                    <a:solidFill>
                      <a:schemeClr val="bg1">
                        <a:lumMod val="50000"/>
                      </a:schemeClr>
                    </a:solidFill>
                  </a:tcPr>
                </a:tc>
                <a:tc rowSpan="2" hMerge="1">
                  <a:txBody>
                    <a:bodyPr/>
                    <a:lstStyle/>
                    <a:p>
                      <a:endParaRPr kumimoji="1" lang="ja-JP" altLang="en-US" sz="1050"/>
                    </a:p>
                  </a:txBody>
                  <a:tcPr>
                    <a:lnTlToBr w="12700" cap="flat" cmpd="sng" algn="ctr">
                      <a:solidFill>
                        <a:schemeClr val="bg1"/>
                      </a:solidFill>
                      <a:prstDash val="solid"/>
                      <a:round/>
                      <a:headEnd type="none" w="med" len="med"/>
                      <a:tailEnd type="none" w="med" len="med"/>
                    </a:lnTlToBr>
                    <a:solidFill>
                      <a:schemeClr val="bg1">
                        <a:lumMod val="50000"/>
                      </a:schemeClr>
                    </a:solidFill>
                  </a:tcPr>
                </a:tc>
                <a:tc rowSpan="2" hMerge="1">
                  <a:txBody>
                    <a:bodyPr/>
                    <a:lstStyle/>
                    <a:p>
                      <a:endParaRPr kumimoji="1" lang="ja-JP" altLang="en-US" sz="1050"/>
                    </a:p>
                  </a:txBody>
                  <a:tcPr>
                    <a:lnTlToBr w="12700" cap="flat" cmpd="sng" algn="ctr">
                      <a:solidFill>
                        <a:schemeClr val="bg1"/>
                      </a:solidFill>
                      <a:prstDash val="solid"/>
                      <a:round/>
                      <a:headEnd type="none" w="med" len="med"/>
                      <a:tailEnd type="none" w="med" len="med"/>
                    </a:lnTlToBr>
                    <a:solidFill>
                      <a:schemeClr val="bg1">
                        <a:lumMod val="50000"/>
                      </a:schemeClr>
                    </a:solidFill>
                  </a:tcPr>
                </a:tc>
                <a:tc gridSpan="10">
                  <a:txBody>
                    <a:bodyPr/>
                    <a:lstStyle/>
                    <a:p>
                      <a:pPr algn="ctr"/>
                      <a:r>
                        <a:rPr kumimoji="1" lang="ja-JP" altLang="en-US" sz="1000">
                          <a:latin typeface="Meiryo UI" panose="020B0604030504040204" pitchFamily="50" charset="-128"/>
                          <a:ea typeface="Meiryo UI" panose="020B0604030504040204" pitchFamily="50" charset="-128"/>
                        </a:rPr>
                        <a:t>国内</a:t>
                      </a: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hMerge="1">
                  <a:txBody>
                    <a:bodyPr/>
                    <a:lstStyle/>
                    <a:p>
                      <a:pPr algn="ctr"/>
                      <a:endParaRPr kumimoji="1" lang="ja-JP" altLang="en-US" sz="1000"/>
                    </a:p>
                  </a:txBody>
                  <a:tcPr vert="eaVert" anchor="ctr">
                    <a:solidFill>
                      <a:schemeClr val="bg1">
                        <a:lumMod val="50000"/>
                      </a:schemeClr>
                    </a:solidFill>
                  </a:tcPr>
                </a:tc>
                <a:tc>
                  <a:txBody>
                    <a:bodyPr/>
                    <a:lstStyle/>
                    <a:p>
                      <a:pPr algn="ctr"/>
                      <a:r>
                        <a:rPr kumimoji="1" lang="ja-JP" altLang="en-US" sz="1000">
                          <a:latin typeface="Meiryo UI" panose="020B0604030504040204" pitchFamily="50" charset="-128"/>
                          <a:ea typeface="Meiryo UI" panose="020B0604030504040204" pitchFamily="50" charset="-128"/>
                        </a:rPr>
                        <a:t>海外</a:t>
                      </a:r>
                    </a:p>
                  </a:txBody>
                  <a:tcPr anchor="ctr">
                    <a:lnB w="1270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51958452"/>
                  </a:ext>
                </a:extLst>
              </a:tr>
              <a:tr h="908441">
                <a:tc gridSpan="3" vMerge="1">
                  <a:txBody>
                    <a:bodyPr/>
                    <a:lstStyle/>
                    <a:p>
                      <a:endParaRPr kumimoji="1" lang="ja-JP" altLang="en-US" sz="1050"/>
                    </a:p>
                  </a:txBody>
                  <a:tcPr>
                    <a:lnTlToBr w="12700" cap="flat" cmpd="sng" algn="ctr">
                      <a:solidFill>
                        <a:schemeClr val="bg1"/>
                      </a:solidFill>
                      <a:prstDash val="solid"/>
                      <a:round/>
                      <a:headEnd type="none" w="med" len="med"/>
                      <a:tailEnd type="none" w="med" len="med"/>
                    </a:lnTlToBr>
                    <a:solidFill>
                      <a:schemeClr val="bg1">
                        <a:lumMod val="50000"/>
                      </a:schemeClr>
                    </a:solidFill>
                  </a:tcPr>
                </a:tc>
                <a:tc hMerge="1" vMerge="1">
                  <a:txBody>
                    <a:bodyPr/>
                    <a:lstStyle/>
                    <a:p>
                      <a:endParaRPr kumimoji="1" lang="ja-JP" altLang="en-US"/>
                    </a:p>
                  </a:txBody>
                  <a:tcPr/>
                </a:tc>
                <a:tc hMerge="1" vMerge="1">
                  <a:txBody>
                    <a:bodyPr/>
                    <a:lstStyle/>
                    <a:p>
                      <a:endParaRPr kumimoji="1" lang="ja-JP" altLang="en-US"/>
                    </a:p>
                  </a:txBody>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出光興産</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西部石油</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昭和四日市</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東亜石油</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ソーラー</a:t>
                      </a:r>
                      <a:endParaRPr kumimoji="1" lang="en-US" altLang="ja-JP" sz="1000">
                        <a:solidFill>
                          <a:schemeClr val="bg1"/>
                        </a:solidFill>
                        <a:latin typeface="Meiryo UI" panose="020B0604030504040204" pitchFamily="50" charset="-128"/>
                        <a:ea typeface="Meiryo UI" panose="020B0604030504040204" pitchFamily="50" charset="-128"/>
                      </a:endParaRPr>
                    </a:p>
                    <a:p>
                      <a:pPr algn="ctr"/>
                      <a:r>
                        <a:rPr kumimoji="1" lang="ja-JP" altLang="en-US" sz="1000">
                          <a:solidFill>
                            <a:schemeClr val="bg1"/>
                          </a:solidFill>
                          <a:latin typeface="Meiryo UI" panose="020B0604030504040204" pitchFamily="50" charset="-128"/>
                          <a:ea typeface="Meiryo UI" panose="020B0604030504040204" pitchFamily="50" charset="-128"/>
                        </a:rPr>
                        <a:t>フロンティア</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昭石化工　</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en-US" altLang="ja-JP" sz="1000">
                          <a:solidFill>
                            <a:schemeClr val="bg1"/>
                          </a:solidFill>
                          <a:latin typeface="Meiryo UI" panose="020B0604030504040204" pitchFamily="50" charset="-128"/>
                          <a:ea typeface="Meiryo UI" panose="020B0604030504040204" pitchFamily="50" charset="-128"/>
                        </a:rPr>
                        <a:t>SDS</a:t>
                      </a:r>
                    </a:p>
                    <a:p>
                      <a:pPr algn="ctr"/>
                      <a:r>
                        <a:rPr kumimoji="1" lang="ja-JP" altLang="en-US" sz="1000">
                          <a:solidFill>
                            <a:schemeClr val="bg1"/>
                          </a:solidFill>
                          <a:latin typeface="Meiryo UI" panose="020B0604030504040204" pitchFamily="50" charset="-128"/>
                          <a:ea typeface="Meiryo UI" panose="020B0604030504040204" pitchFamily="50" charset="-128"/>
                        </a:rPr>
                        <a:t>バイオテック</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出光</a:t>
                      </a:r>
                      <a:endParaRPr kumimoji="1" lang="en-US" altLang="ja-JP" sz="1000">
                        <a:solidFill>
                          <a:schemeClr val="bg1"/>
                        </a:solidFill>
                        <a:latin typeface="Meiryo UI" panose="020B0604030504040204" pitchFamily="50" charset="-128"/>
                        <a:ea typeface="Meiryo UI" panose="020B0604030504040204" pitchFamily="50" charset="-128"/>
                      </a:endParaRPr>
                    </a:p>
                    <a:p>
                      <a:pPr algn="ctr"/>
                      <a:r>
                        <a:rPr kumimoji="1" lang="ja-JP" altLang="en-US" sz="1000">
                          <a:solidFill>
                            <a:schemeClr val="bg1"/>
                          </a:solidFill>
                          <a:latin typeface="Meiryo UI" panose="020B0604030504040204" pitchFamily="50" charset="-128"/>
                          <a:ea typeface="Meiryo UI" panose="020B0604030504040204" pitchFamily="50" charset="-128"/>
                        </a:rPr>
                        <a:t>リテール販売</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出光</a:t>
                      </a:r>
                      <a:endParaRPr kumimoji="1" lang="en-US" altLang="ja-JP" sz="1000">
                        <a:solidFill>
                          <a:schemeClr val="bg1"/>
                        </a:solidFill>
                        <a:latin typeface="Meiryo UI" panose="020B0604030504040204" pitchFamily="50" charset="-128"/>
                        <a:ea typeface="Meiryo UI" panose="020B0604030504040204" pitchFamily="50" charset="-128"/>
                      </a:endParaRPr>
                    </a:p>
                    <a:p>
                      <a:pPr algn="ctr"/>
                      <a:r>
                        <a:rPr kumimoji="1" lang="ja-JP" altLang="en-US" sz="1000">
                          <a:solidFill>
                            <a:schemeClr val="bg1"/>
                          </a:solidFill>
                          <a:latin typeface="Meiryo UI" panose="020B0604030504040204" pitchFamily="50" charset="-128"/>
                          <a:ea typeface="Meiryo UI" panose="020B0604030504040204" pitchFamily="50" charset="-128"/>
                        </a:rPr>
                        <a:t>ユニテック</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その他子会社</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a:txBody>
                    <a:bodyPr/>
                    <a:lstStyle/>
                    <a:p>
                      <a:pPr algn="ctr"/>
                      <a:r>
                        <a:rPr kumimoji="1" lang="ja-JP" altLang="en-US" sz="1000">
                          <a:solidFill>
                            <a:schemeClr val="bg1"/>
                          </a:solidFill>
                          <a:latin typeface="Meiryo UI" panose="020B0604030504040204" pitchFamily="50" charset="-128"/>
                          <a:ea typeface="Meiryo UI" panose="020B0604030504040204" pitchFamily="50" charset="-128"/>
                        </a:rPr>
                        <a:t>海外子会社</a:t>
                      </a:r>
                    </a:p>
                  </a:txBody>
                  <a:tcPr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645838373"/>
                  </a:ext>
                </a:extLst>
              </a:tr>
              <a:tr h="370939">
                <a:tc rowSpan="7">
                  <a:txBody>
                    <a:bodyPr/>
                    <a:lstStyle/>
                    <a:p>
                      <a:pPr algn="ctr"/>
                      <a:r>
                        <a:rPr kumimoji="1" lang="en-US" altLang="ja-JP" sz="1200">
                          <a:latin typeface="Meiryo UI" panose="020B0604030504040204" pitchFamily="50" charset="-128"/>
                          <a:ea typeface="Meiryo UI" panose="020B0604030504040204" pitchFamily="50" charset="-128"/>
                        </a:rPr>
                        <a:t>GHG</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rowSpan="6">
                  <a:txBody>
                    <a:bodyPr/>
                    <a:lstStyle/>
                    <a:p>
                      <a:pPr algn="ctr"/>
                      <a:r>
                        <a:rPr kumimoji="1" lang="en-US" altLang="ja-JP" sz="1200">
                          <a:latin typeface="Meiryo UI" panose="020B0604030504040204" pitchFamily="50" charset="-128"/>
                          <a:ea typeface="Meiryo UI" panose="020B0604030504040204" pitchFamily="50" charset="-128"/>
                        </a:rPr>
                        <a:t>Scope</a:t>
                      </a:r>
                    </a:p>
                    <a:p>
                      <a:pPr algn="ctr"/>
                      <a:r>
                        <a:rPr kumimoji="1" lang="en-US" altLang="ja-JP" sz="1200">
                          <a:latin typeface="Meiryo UI" panose="020B0604030504040204" pitchFamily="50" charset="-128"/>
                          <a:ea typeface="Meiryo UI" panose="020B0604030504040204" pitchFamily="50" charset="-128"/>
                        </a:rPr>
                        <a:t>1,2</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r>
                        <a:rPr kumimoji="1" lang="en-US" altLang="ja-JP" sz="1200">
                          <a:latin typeface="Meiryo UI" panose="020B0604030504040204" pitchFamily="50" charset="-128"/>
                          <a:ea typeface="Meiryo UI" panose="020B0604030504040204" pitchFamily="50" charset="-128"/>
                        </a:rPr>
                        <a:t>CO2</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78219769"/>
                  </a:ext>
                </a:extLst>
              </a:tr>
              <a:tr h="370939">
                <a:tc vMerge="1">
                  <a:txBody>
                    <a:bodyPr/>
                    <a:lstStyle/>
                    <a:p>
                      <a:pPr algn="ctr"/>
                      <a:endParaRPr kumimoji="1" lang="ja-JP" altLang="en-US" sz="1400"/>
                    </a:p>
                  </a:txBody>
                  <a:tcPr anchor="ctr">
                    <a:solidFill>
                      <a:schemeClr val="accent6">
                        <a:lumMod val="20000"/>
                        <a:lumOff val="80000"/>
                      </a:schemeClr>
                    </a:solidFill>
                  </a:tcPr>
                </a:tc>
                <a:tc vMerge="1">
                  <a:txBody>
                    <a:bodyPr/>
                    <a:lstStyle/>
                    <a:p>
                      <a:pPr algn="ctr"/>
                      <a:endParaRPr kumimoji="1" lang="ja-JP" altLang="en-US" sz="1400"/>
                    </a:p>
                  </a:txBody>
                  <a:tcPr anchor="ctr">
                    <a:solidFill>
                      <a:schemeClr val="accent6">
                        <a:lumMod val="20000"/>
                        <a:lumOff val="80000"/>
                      </a:schemeClr>
                    </a:solidFill>
                  </a:tcPr>
                </a:tc>
                <a:tc>
                  <a:txBody>
                    <a:bodyPr/>
                    <a:lstStyle/>
                    <a:p>
                      <a:pPr algn="ctr"/>
                      <a:r>
                        <a:rPr kumimoji="1" lang="en-US" altLang="ja-JP" sz="1200">
                          <a:latin typeface="Meiryo UI" panose="020B0604030504040204" pitchFamily="50" charset="-128"/>
                          <a:ea typeface="Meiryo UI" panose="020B0604030504040204" pitchFamily="50" charset="-128"/>
                        </a:rPr>
                        <a:t>CH4</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885481015"/>
                  </a:ext>
                </a:extLst>
              </a:tr>
              <a:tr h="370939">
                <a:tc vMerge="1">
                  <a:txBody>
                    <a:bodyPr/>
                    <a:lstStyle/>
                    <a:p>
                      <a:pPr algn="ctr"/>
                      <a:endParaRPr kumimoji="1" lang="ja-JP" altLang="en-US" sz="1400"/>
                    </a:p>
                  </a:txBody>
                  <a:tcPr anchor="ctr">
                    <a:solidFill>
                      <a:schemeClr val="accent6">
                        <a:lumMod val="20000"/>
                        <a:lumOff val="80000"/>
                      </a:schemeClr>
                    </a:solidFill>
                  </a:tcPr>
                </a:tc>
                <a:tc vMerge="1">
                  <a:txBody>
                    <a:bodyPr/>
                    <a:lstStyle/>
                    <a:p>
                      <a:pPr algn="ctr"/>
                      <a:endParaRPr kumimoji="1" lang="ja-JP" altLang="en-US" sz="1400"/>
                    </a:p>
                  </a:txBody>
                  <a:tcPr anchor="ctr">
                    <a:solidFill>
                      <a:schemeClr val="accent6">
                        <a:lumMod val="20000"/>
                        <a:lumOff val="80000"/>
                      </a:schemeClr>
                    </a:solidFill>
                  </a:tcPr>
                </a:tc>
                <a:tc>
                  <a:txBody>
                    <a:bodyPr/>
                    <a:lstStyle/>
                    <a:p>
                      <a:pPr algn="ctr"/>
                      <a:r>
                        <a:rPr kumimoji="1" lang="en-US" altLang="ja-JP" sz="1200">
                          <a:latin typeface="Meiryo UI" panose="020B0604030504040204" pitchFamily="50" charset="-128"/>
                          <a:ea typeface="Meiryo UI" panose="020B0604030504040204" pitchFamily="50" charset="-128"/>
                        </a:rPr>
                        <a:t>N20</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869652048"/>
                  </a:ext>
                </a:extLst>
              </a:tr>
              <a:tr h="370939">
                <a:tc vMerge="1">
                  <a:txBody>
                    <a:bodyPr/>
                    <a:lstStyle/>
                    <a:p>
                      <a:pPr algn="ctr"/>
                      <a:endParaRPr kumimoji="1" lang="ja-JP" altLang="en-US" sz="1400"/>
                    </a:p>
                  </a:txBody>
                  <a:tcPr anchor="ctr">
                    <a:solidFill>
                      <a:schemeClr val="accent6">
                        <a:lumMod val="20000"/>
                        <a:lumOff val="80000"/>
                      </a:schemeClr>
                    </a:solidFill>
                  </a:tcPr>
                </a:tc>
                <a:tc vMerge="1">
                  <a:txBody>
                    <a:bodyPr/>
                    <a:lstStyle/>
                    <a:p>
                      <a:pPr algn="ctr"/>
                      <a:endParaRPr kumimoji="1" lang="ja-JP" altLang="en-US" sz="1400"/>
                    </a:p>
                  </a:txBody>
                  <a:tcPr anchor="ctr">
                    <a:solidFill>
                      <a:schemeClr val="accent6">
                        <a:lumMod val="20000"/>
                        <a:lumOff val="80000"/>
                      </a:schemeClr>
                    </a:solidFill>
                  </a:tcPr>
                </a:tc>
                <a:tc>
                  <a:txBody>
                    <a:bodyPr/>
                    <a:lstStyle/>
                    <a:p>
                      <a:pPr algn="ctr"/>
                      <a:r>
                        <a:rPr kumimoji="1" lang="en-US" altLang="ja-JP" sz="1200">
                          <a:latin typeface="Meiryo UI" panose="020B0604030504040204" pitchFamily="50" charset="-128"/>
                          <a:ea typeface="Meiryo UI" panose="020B0604030504040204" pitchFamily="50" charset="-128"/>
                        </a:rPr>
                        <a:t>HFC/PFC</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052373236"/>
                  </a:ext>
                </a:extLst>
              </a:tr>
              <a:tr h="370939">
                <a:tc vMerge="1">
                  <a:txBody>
                    <a:bodyPr/>
                    <a:lstStyle/>
                    <a:p>
                      <a:pPr algn="ctr"/>
                      <a:endParaRPr kumimoji="1" lang="ja-JP" altLang="en-US" sz="1400"/>
                    </a:p>
                  </a:txBody>
                  <a:tcPr anchor="ctr">
                    <a:solidFill>
                      <a:schemeClr val="accent6">
                        <a:lumMod val="20000"/>
                        <a:lumOff val="80000"/>
                      </a:schemeClr>
                    </a:solidFill>
                  </a:tcPr>
                </a:tc>
                <a:tc vMerge="1">
                  <a:txBody>
                    <a:bodyPr/>
                    <a:lstStyle/>
                    <a:p>
                      <a:pPr algn="ctr"/>
                      <a:endParaRPr kumimoji="1" lang="ja-JP" altLang="en-US" sz="1400"/>
                    </a:p>
                  </a:txBody>
                  <a:tcPr anchor="ctr">
                    <a:solidFill>
                      <a:schemeClr val="accent6">
                        <a:lumMod val="20000"/>
                        <a:lumOff val="80000"/>
                      </a:schemeClr>
                    </a:solidFill>
                  </a:tcPr>
                </a:tc>
                <a:tc>
                  <a:txBody>
                    <a:bodyPr/>
                    <a:lstStyle/>
                    <a:p>
                      <a:pPr algn="ctr"/>
                      <a:r>
                        <a:rPr kumimoji="1" lang="en-US" altLang="ja-JP" sz="1200">
                          <a:latin typeface="Meiryo UI" panose="020B0604030504040204" pitchFamily="50" charset="-128"/>
                          <a:ea typeface="Meiryo UI" panose="020B0604030504040204" pitchFamily="50" charset="-128"/>
                        </a:rPr>
                        <a:t>SF6</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32415972"/>
                  </a:ext>
                </a:extLst>
              </a:tr>
              <a:tr h="370939">
                <a:tc vMerge="1">
                  <a:txBody>
                    <a:bodyPr/>
                    <a:lstStyle/>
                    <a:p>
                      <a:pPr algn="ctr"/>
                      <a:endParaRPr kumimoji="1" lang="ja-JP" altLang="en-US" sz="1400"/>
                    </a:p>
                  </a:txBody>
                  <a:tcPr anchor="ctr">
                    <a:solidFill>
                      <a:schemeClr val="accent6">
                        <a:lumMod val="20000"/>
                        <a:lumOff val="80000"/>
                      </a:schemeClr>
                    </a:solidFill>
                  </a:tcPr>
                </a:tc>
                <a:tc vMerge="1">
                  <a:txBody>
                    <a:bodyPr/>
                    <a:lstStyle/>
                    <a:p>
                      <a:pPr algn="ctr"/>
                      <a:endParaRPr kumimoji="1" lang="ja-JP" altLang="en-US" sz="1400"/>
                    </a:p>
                  </a:txBody>
                  <a:tcPr anchor="ctr">
                    <a:solidFill>
                      <a:schemeClr val="accent6">
                        <a:lumMod val="20000"/>
                        <a:lumOff val="80000"/>
                      </a:schemeClr>
                    </a:solidFill>
                  </a:tcPr>
                </a:tc>
                <a:tc>
                  <a:txBody>
                    <a:bodyPr/>
                    <a:lstStyle/>
                    <a:p>
                      <a:pPr algn="ctr"/>
                      <a:r>
                        <a:rPr kumimoji="1" lang="en-US" altLang="ja-JP" sz="1200">
                          <a:latin typeface="Meiryo UI" panose="020B0604030504040204" pitchFamily="50" charset="-128"/>
                          <a:ea typeface="Meiryo UI" panose="020B0604030504040204" pitchFamily="50" charset="-128"/>
                        </a:rPr>
                        <a:t>NF3</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213056105"/>
                  </a:ext>
                </a:extLst>
              </a:tr>
              <a:tr h="370939">
                <a:tc vMerge="1">
                  <a:txBody>
                    <a:bodyPr/>
                    <a:lstStyle/>
                    <a:p>
                      <a:pPr algn="ctr"/>
                      <a:endParaRPr kumimoji="1" lang="ja-JP" altLang="en-US" sz="1400"/>
                    </a:p>
                  </a:txBody>
                  <a:tcPr anchor="ctr">
                    <a:solidFill>
                      <a:schemeClr val="accent6">
                        <a:lumMod val="20000"/>
                        <a:lumOff val="80000"/>
                      </a:schemeClr>
                    </a:solidFill>
                  </a:tcPr>
                </a:tc>
                <a:tc gridSpan="2">
                  <a:txBody>
                    <a:bodyPr/>
                    <a:lstStyle/>
                    <a:p>
                      <a:pPr algn="ctr"/>
                      <a:r>
                        <a:rPr kumimoji="1" lang="en-US" altLang="ja-JP" sz="1200">
                          <a:latin typeface="Meiryo UI" panose="020B0604030504040204" pitchFamily="50" charset="-128"/>
                          <a:ea typeface="Meiryo UI" panose="020B0604030504040204" pitchFamily="50" charset="-128"/>
                        </a:rPr>
                        <a:t>Scope3</a:t>
                      </a:r>
                      <a:endParaRPr kumimoji="1" lang="ja-JP" altLang="en-US" sz="1200">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hMerge="1">
                  <a:txBody>
                    <a:bodyPr/>
                    <a:lstStyle/>
                    <a:p>
                      <a:pPr algn="ctr"/>
                      <a:endParaRPr kumimoji="1" lang="ja-JP" altLang="en-US" sz="1400"/>
                    </a:p>
                  </a:txBody>
                  <a:tcPr anchor="ctr">
                    <a:solidFill>
                      <a:schemeClr val="accent6">
                        <a:lumMod val="20000"/>
                        <a:lumOff val="80000"/>
                      </a:schemeClr>
                    </a:solid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899162742"/>
                  </a:ext>
                </a:extLst>
              </a:tr>
              <a:tr h="483376">
                <a:tc gridSpan="3">
                  <a:txBody>
                    <a:bodyPr/>
                    <a:lstStyle/>
                    <a:p>
                      <a:pPr algn="ctr"/>
                      <a:r>
                        <a:rPr kumimoji="1" lang="en-US" altLang="ja-JP" sz="1200">
                          <a:latin typeface="Meiryo UI" panose="020B0604030504040204" pitchFamily="50" charset="-128"/>
                          <a:ea typeface="Meiryo UI" panose="020B0604030504040204" pitchFamily="50" charset="-128"/>
                        </a:rPr>
                        <a:t>GHG</a:t>
                      </a:r>
                      <a:r>
                        <a:rPr kumimoji="1" lang="ja-JP" altLang="en-US" sz="1200">
                          <a:latin typeface="Meiryo UI" panose="020B0604030504040204" pitchFamily="50" charset="-128"/>
                          <a:ea typeface="Meiryo UI" panose="020B0604030504040204" pitchFamily="50" charset="-128"/>
                        </a:rPr>
                        <a:t>以外環境</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hMerge="1">
                  <a:txBody>
                    <a:bodyPr/>
                    <a:lstStyle/>
                    <a:p>
                      <a:pPr algn="ctr"/>
                      <a:endParaRPr kumimoji="1" lang="ja-JP" altLang="en-US" sz="1400"/>
                    </a:p>
                  </a:txBody>
                  <a:tcPr anchor="ctr">
                    <a:solidFill>
                      <a:schemeClr val="accent2">
                        <a:lumMod val="20000"/>
                        <a:lumOff val="80000"/>
                      </a:schemeClr>
                    </a:solidFill>
                  </a:tcPr>
                </a:tc>
                <a:tc hMerge="1">
                  <a:txBody>
                    <a:bodyPr/>
                    <a:lstStyle/>
                    <a:p>
                      <a:pPr algn="ctr"/>
                      <a:endParaRPr kumimoji="1" lang="ja-JP" altLang="en-US" sz="1400"/>
                    </a:p>
                  </a:txBody>
                  <a:tcPr anchor="ctr">
                    <a:solidFill>
                      <a:schemeClr val="accent2">
                        <a:lumMod val="20000"/>
                        <a:lumOff val="80000"/>
                      </a:schemeClr>
                    </a:solid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4055830244"/>
                  </a:ext>
                </a:extLst>
              </a:tr>
              <a:tr h="475539">
                <a:tc gridSpan="3">
                  <a:txBody>
                    <a:bodyPr/>
                    <a:lstStyle/>
                    <a:p>
                      <a:pPr algn="ctr"/>
                      <a:r>
                        <a:rPr kumimoji="1" lang="ja-JP" altLang="en-US" sz="1200">
                          <a:latin typeface="Meiryo UI" panose="020B0604030504040204" pitchFamily="50" charset="-128"/>
                          <a:ea typeface="Meiryo UI" panose="020B0604030504040204" pitchFamily="50" charset="-128"/>
                        </a:rPr>
                        <a:t>人的資本</a:t>
                      </a:r>
                      <a:br>
                        <a:rPr kumimoji="1" lang="en-US" altLang="ja-JP" sz="1200">
                          <a:latin typeface="Meiryo UI" panose="020B0604030504040204" pitchFamily="50" charset="-128"/>
                          <a:ea typeface="Meiryo UI" panose="020B0604030504040204" pitchFamily="50" charset="-128"/>
                        </a:rPr>
                      </a:br>
                      <a:r>
                        <a:rPr kumimoji="1" lang="ja-JP" altLang="en-US" sz="1200">
                          <a:latin typeface="Meiryo UI" panose="020B0604030504040204" pitchFamily="50" charset="-128"/>
                          <a:ea typeface="Meiryo UI" panose="020B0604030504040204" pitchFamily="50" charset="-128"/>
                        </a:rPr>
                        <a:t>（人事系・労働安全系）</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lgn="ctr"/>
                      <a:endParaRPr kumimoji="1" lang="ja-JP" altLang="en-US" sz="1400"/>
                    </a:p>
                  </a:txBody>
                  <a:tcPr anchor="ctr">
                    <a:solidFill>
                      <a:schemeClr val="accent1">
                        <a:lumMod val="20000"/>
                        <a:lumOff val="80000"/>
                      </a:schemeClr>
                    </a:solidFill>
                  </a:tcPr>
                </a:tc>
                <a:tc hMerge="1">
                  <a:txBody>
                    <a:bodyPr/>
                    <a:lstStyle/>
                    <a:p>
                      <a:pPr algn="ctr"/>
                      <a:endParaRPr kumimoji="1" lang="ja-JP" altLang="en-US" sz="1400"/>
                    </a:p>
                  </a:txBody>
                  <a:tcPr anchor="ctr">
                    <a:solidFill>
                      <a:schemeClr val="accent1">
                        <a:lumMod val="20000"/>
                        <a:lumOff val="80000"/>
                      </a:schemeClr>
                    </a:solid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endParaRPr kumimoji="1" lang="ja-JP" altLang="en-US" sz="1050" b="1">
                        <a:latin typeface="Meiryo UI" panose="020B0604030504040204" pitchFamily="50" charset="-128"/>
                        <a:ea typeface="Meiryo UI" panose="020B0604030504040204"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596417"/>
                  </a:ext>
                </a:extLst>
              </a:tr>
            </a:tbl>
          </a:graphicData>
        </a:graphic>
      </p:graphicFrame>
      <p:sp>
        <p:nvSpPr>
          <p:cNvPr id="2" name="タイトル 1">
            <a:extLst>
              <a:ext uri="{FF2B5EF4-FFF2-40B4-BE49-F238E27FC236}">
                <a16:creationId xmlns:a16="http://schemas.microsoft.com/office/drawing/2014/main" id="{F805969B-3DD6-6900-961E-6AE31BB2C673}"/>
              </a:ext>
            </a:extLst>
          </p:cNvPr>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外部開示における開示対象マトリクス</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45791574-DE85-E127-3C38-ABDB7045D2B6}"/>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5</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872C8981-7F45-2E87-CB21-531F35E1EE0D}"/>
              </a:ext>
            </a:extLst>
          </p:cNvPr>
          <p:cNvSpPr>
            <a:spLocks noGrp="1"/>
          </p:cNvSpPr>
          <p:nvPr>
            <p:ph type="body" sz="quarter" idx="13"/>
          </p:nvPr>
        </p:nvSpPr>
        <p:spPr/>
        <p:txBody>
          <a:bodyPr/>
          <a:lstStyle/>
          <a:p>
            <a:r>
              <a:rPr kumimoji="1" lang="ja-JP" altLang="en-US"/>
              <a:t>今回出光興産として今後対応すべき法定外部開示フレームワークは</a:t>
            </a:r>
            <a:r>
              <a:rPr kumimoji="1" lang="en-US" altLang="ja-JP"/>
              <a:t>GXL</a:t>
            </a:r>
            <a:r>
              <a:rPr kumimoji="1" lang="ja-JP" altLang="en-US"/>
              <a:t>、温対法、</a:t>
            </a:r>
            <a:r>
              <a:rPr kumimoji="1" lang="en-US" altLang="ja-JP"/>
              <a:t>SSBJ</a:t>
            </a:r>
            <a:r>
              <a:rPr kumimoji="1" lang="ja-JP" altLang="en-US"/>
              <a:t>の</a:t>
            </a:r>
            <a:r>
              <a:rPr kumimoji="1" lang="en-US" altLang="ja-JP"/>
              <a:t>3</a:t>
            </a:r>
            <a:r>
              <a:rPr kumimoji="1" lang="ja-JP" altLang="en-US"/>
              <a:t>点</a:t>
            </a:r>
            <a:br>
              <a:rPr kumimoji="1" lang="en-US" altLang="ja-JP"/>
            </a:br>
            <a:r>
              <a:rPr kumimoji="1" lang="en-US" altLang="ja-JP"/>
              <a:t>(</a:t>
            </a:r>
            <a:r>
              <a:rPr kumimoji="1" lang="ja-JP" altLang="en-US"/>
              <a:t>上記のほか、</a:t>
            </a:r>
            <a:r>
              <a:rPr kumimoji="1" lang="en-US" altLang="ja-JP"/>
              <a:t>SSBJ</a:t>
            </a:r>
            <a:r>
              <a:rPr lang="ja-JP" altLang="en-US"/>
              <a:t>用データからデータブックも作成</a:t>
            </a:r>
            <a:r>
              <a:rPr kumimoji="1" lang="en-US" altLang="ja-JP"/>
              <a:t>)</a:t>
            </a:r>
          </a:p>
        </p:txBody>
      </p:sp>
      <p:sp>
        <p:nvSpPr>
          <p:cNvPr id="13" name="正方形/長方形 12">
            <a:extLst>
              <a:ext uri="{FF2B5EF4-FFF2-40B4-BE49-F238E27FC236}">
                <a16:creationId xmlns:a16="http://schemas.microsoft.com/office/drawing/2014/main" id="{0C6B2F57-B8BE-0488-24EA-62A781945D12}"/>
              </a:ext>
            </a:extLst>
          </p:cNvPr>
          <p:cNvSpPr/>
          <p:nvPr/>
        </p:nvSpPr>
        <p:spPr>
          <a:xfrm>
            <a:off x="3743638" y="2926780"/>
            <a:ext cx="3135875" cy="15549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Meiryo UI" panose="020B0604030504040204" pitchFamily="50" charset="-128"/>
                <a:ea typeface="Meiryo UI" panose="020B0604030504040204" pitchFamily="50" charset="-128"/>
              </a:rPr>
              <a:t>温対法：対象拠点（国内）</a:t>
            </a:r>
          </a:p>
        </p:txBody>
      </p:sp>
      <p:sp>
        <p:nvSpPr>
          <p:cNvPr id="14" name="正方形/長方形 13">
            <a:extLst>
              <a:ext uri="{FF2B5EF4-FFF2-40B4-BE49-F238E27FC236}">
                <a16:creationId xmlns:a16="http://schemas.microsoft.com/office/drawing/2014/main" id="{846BC6D7-8147-8995-1CAD-1FE2DE22978F}"/>
              </a:ext>
            </a:extLst>
          </p:cNvPr>
          <p:cNvSpPr/>
          <p:nvPr/>
        </p:nvSpPr>
        <p:spPr>
          <a:xfrm>
            <a:off x="3025394" y="4470979"/>
            <a:ext cx="4572362" cy="15549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a:solidFill>
                  <a:schemeClr val="tx1"/>
                </a:solidFill>
                <a:latin typeface="Meiryo UI" panose="020B0604030504040204" pitchFamily="50" charset="-128"/>
                <a:ea typeface="Meiryo UI" panose="020B0604030504040204" pitchFamily="50" charset="-128"/>
              </a:rPr>
              <a:t>SSBJ</a:t>
            </a:r>
            <a:r>
              <a:rPr kumimoji="1" lang="ja-JP" altLang="en-US" b="1">
                <a:solidFill>
                  <a:schemeClr val="tx1"/>
                </a:solidFill>
                <a:latin typeface="Meiryo UI" panose="020B0604030504040204" pitchFamily="50" charset="-128"/>
                <a:ea typeface="Meiryo UI" panose="020B0604030504040204" pitchFamily="50" charset="-128"/>
              </a:rPr>
              <a:t>：本体連結（国内外）</a:t>
            </a:r>
            <a:endParaRPr kumimoji="1" lang="en-US" altLang="ja-JP" b="1">
              <a:solidFill>
                <a:schemeClr val="tx1"/>
              </a:solidFill>
              <a:latin typeface="Meiryo UI" panose="020B0604030504040204" pitchFamily="50" charset="-128"/>
              <a:ea typeface="Meiryo UI" panose="020B0604030504040204" pitchFamily="50" charset="-128"/>
            </a:endParaRPr>
          </a:p>
          <a:p>
            <a:pPr algn="ctr"/>
            <a:r>
              <a:rPr kumimoji="1" lang="en-US" altLang="ja-JP" sz="1400" b="1">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GHG</a:t>
            </a:r>
            <a:r>
              <a:rPr kumimoji="1" lang="ja-JP" altLang="en-US" sz="1400">
                <a:solidFill>
                  <a:schemeClr val="tx1"/>
                </a:solidFill>
                <a:latin typeface="Meiryo UI" panose="020B0604030504040204" pitchFamily="50" charset="-128"/>
                <a:ea typeface="Meiryo UI" panose="020B0604030504040204" pitchFamily="50" charset="-128"/>
              </a:rPr>
              <a:t>以外環境、人的資本についてはマテリアリティ次第</a:t>
            </a:r>
          </a:p>
        </p:txBody>
      </p:sp>
      <p:sp>
        <p:nvSpPr>
          <p:cNvPr id="15" name="正方形/長方形 14">
            <a:extLst>
              <a:ext uri="{FF2B5EF4-FFF2-40B4-BE49-F238E27FC236}">
                <a16:creationId xmlns:a16="http://schemas.microsoft.com/office/drawing/2014/main" id="{82AE59A1-7BEA-6CB0-8DA7-3E1EDC0720E1}"/>
              </a:ext>
            </a:extLst>
          </p:cNvPr>
          <p:cNvSpPr/>
          <p:nvPr/>
        </p:nvSpPr>
        <p:spPr>
          <a:xfrm>
            <a:off x="1816858" y="1498151"/>
            <a:ext cx="930563" cy="710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400">
                <a:solidFill>
                  <a:schemeClr val="bg1"/>
                </a:solidFill>
                <a:latin typeface="Meiryo UI" panose="020B0604030504040204" pitchFamily="50" charset="-128"/>
                <a:ea typeface="Meiryo UI" panose="020B0604030504040204" pitchFamily="50" charset="-128"/>
              </a:rPr>
              <a:t>組織</a:t>
            </a:r>
          </a:p>
        </p:txBody>
      </p:sp>
      <p:sp>
        <p:nvSpPr>
          <p:cNvPr id="16" name="正方形/長方形 15">
            <a:extLst>
              <a:ext uri="{FF2B5EF4-FFF2-40B4-BE49-F238E27FC236}">
                <a16:creationId xmlns:a16="http://schemas.microsoft.com/office/drawing/2014/main" id="{1561DDBE-61FE-9814-0321-FA96C1CB25BB}"/>
              </a:ext>
            </a:extLst>
          </p:cNvPr>
          <p:cNvSpPr/>
          <p:nvPr/>
        </p:nvSpPr>
        <p:spPr>
          <a:xfrm>
            <a:off x="421014" y="1891320"/>
            <a:ext cx="1486986" cy="710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400">
                <a:solidFill>
                  <a:schemeClr val="bg1"/>
                </a:solidFill>
                <a:latin typeface="Meiryo UI" panose="020B0604030504040204" pitchFamily="50" charset="-128"/>
                <a:ea typeface="Meiryo UI" panose="020B0604030504040204" pitchFamily="50" charset="-128"/>
              </a:rPr>
              <a:t>データ種別</a:t>
            </a:r>
          </a:p>
        </p:txBody>
      </p:sp>
      <p:sp>
        <p:nvSpPr>
          <p:cNvPr id="10" name="楕円 9">
            <a:extLst>
              <a:ext uri="{FF2B5EF4-FFF2-40B4-BE49-F238E27FC236}">
                <a16:creationId xmlns:a16="http://schemas.microsoft.com/office/drawing/2014/main" id="{F2663FEF-35BF-D2A5-BFF9-6FC4D5BE032B}"/>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2511474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タイトル 1">
            <a:extLst>
              <a:ext uri="{FF2B5EF4-FFF2-40B4-BE49-F238E27FC236}">
                <a16:creationId xmlns:a16="http://schemas.microsoft.com/office/drawing/2014/main" id="{9C931E96-3FA4-C0D2-385A-9FC0410743AB}"/>
              </a:ext>
            </a:extLst>
          </p:cNvPr>
          <p:cNvSpPr>
            <a:spLocks noGrp="1"/>
          </p:cNvSpPr>
          <p:nvPr>
            <p:ph type="title"/>
          </p:nvPr>
        </p:nvSpPr>
        <p:spPr/>
        <p:txBody>
          <a:bodyPr vert="horz" lIns="0" tIns="72000" rIns="0" bIns="0" rtlCol="0" anchor="ctr">
            <a:noAutofit/>
          </a:bodyPr>
          <a:lstStyle/>
          <a:p>
            <a:r>
              <a:rPr lang="ja-JP" altLang="ja-JP">
                <a:latin typeface="Meiryo UI" panose="020B0604030504040204" pitchFamily="50" charset="-128"/>
                <a:ea typeface="Meiryo UI" panose="020B0604030504040204" pitchFamily="50" charset="-128"/>
              </a:rPr>
              <a:t>現状</a:t>
            </a:r>
            <a:r>
              <a:rPr lang="ja-JP" altLang="en-US">
                <a:latin typeface="Meiryo UI" panose="020B0604030504040204" pitchFamily="50" charset="-128"/>
                <a:ea typeface="Meiryo UI" panose="020B0604030504040204" pitchFamily="50" charset="-128"/>
              </a:rPr>
              <a:t>の</a:t>
            </a:r>
            <a:r>
              <a:rPr lang="ja-JP" altLang="ja-JP">
                <a:latin typeface="Meiryo UI" panose="020B0604030504040204" pitchFamily="50" charset="-128"/>
                <a:ea typeface="Meiryo UI" panose="020B0604030504040204" pitchFamily="50" charset="-128"/>
              </a:rPr>
              <a:t>課題</a:t>
            </a:r>
            <a:endParaRPr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2CAC1FF1-A896-D2CD-8F7B-5E1F51E338D0}"/>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6</a:t>
            </a:fld>
            <a:endParaRPr kumimoji="1" lang="ja-JP" altLang="en-US">
              <a:latin typeface="Meiryo UI" panose="020B0604030504040204" pitchFamily="50" charset="-128"/>
              <a:ea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73FCC0EB-783C-2F66-A2C7-4D6A03CA9D8F}"/>
              </a:ext>
            </a:extLst>
          </p:cNvPr>
          <p:cNvSpPr>
            <a:spLocks noGrp="1"/>
          </p:cNvSpPr>
          <p:nvPr>
            <p:ph type="body" sz="quarter" idx="13"/>
          </p:nvPr>
        </p:nvSpPr>
        <p:spPr/>
        <p:txBody>
          <a:bodyPr/>
          <a:lstStyle/>
          <a:p>
            <a:r>
              <a:rPr lang="ja-JP" altLang="en-US">
                <a:highlight>
                  <a:srgbClr val="FFFF00"/>
                </a:highlight>
              </a:rPr>
              <a:t>本プロジェクトにおいて、主要課題は</a:t>
            </a:r>
            <a:r>
              <a:rPr lang="en-US" altLang="ja-JP">
                <a:highlight>
                  <a:srgbClr val="FFFF00"/>
                </a:highlight>
              </a:rPr>
              <a:t>SSBJ</a:t>
            </a:r>
            <a:r>
              <a:rPr lang="ja-JP" altLang="en-US">
                <a:highlight>
                  <a:srgbClr val="FFFF00"/>
                </a:highlight>
              </a:rPr>
              <a:t>開示対応、報告プロセスの一本化、</a:t>
            </a:r>
            <a:r>
              <a:rPr lang="en-US" altLang="ja-JP">
                <a:highlight>
                  <a:srgbClr val="FFFF00"/>
                </a:highlight>
              </a:rPr>
              <a:t>GHG</a:t>
            </a:r>
            <a:r>
              <a:rPr lang="ja-JP" altLang="en-US">
                <a:highlight>
                  <a:srgbClr val="FFFF00"/>
                </a:highlight>
              </a:rPr>
              <a:t>算定業務の効率化の</a:t>
            </a:r>
            <a:r>
              <a:rPr lang="en-US" altLang="ja-JP">
                <a:highlight>
                  <a:srgbClr val="FFFF00"/>
                </a:highlight>
              </a:rPr>
              <a:t>3</a:t>
            </a:r>
            <a:r>
              <a:rPr lang="ja-JP" altLang="en-US">
                <a:highlight>
                  <a:srgbClr val="FFFF00"/>
                </a:highlight>
              </a:rPr>
              <a:t>点を認識している</a:t>
            </a:r>
          </a:p>
        </p:txBody>
      </p:sp>
      <p:sp>
        <p:nvSpPr>
          <p:cNvPr id="5" name="正方形/長方形 4">
            <a:extLst>
              <a:ext uri="{FF2B5EF4-FFF2-40B4-BE49-F238E27FC236}">
                <a16:creationId xmlns:a16="http://schemas.microsoft.com/office/drawing/2014/main" id="{ADBEBEAE-5C4E-D947-2616-358E22F48637}"/>
              </a:ext>
            </a:extLst>
          </p:cNvPr>
          <p:cNvSpPr/>
          <p:nvPr/>
        </p:nvSpPr>
        <p:spPr>
          <a:xfrm>
            <a:off x="4158565" y="1467887"/>
            <a:ext cx="2877139" cy="591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latin typeface="Meiryo UI" panose="020B0604030504040204" pitchFamily="50" charset="-128"/>
                <a:ea typeface="Meiryo UI" panose="020B0604030504040204" pitchFamily="50" charset="-128"/>
              </a:rPr>
              <a:t>現状の課題</a:t>
            </a:r>
          </a:p>
        </p:txBody>
      </p:sp>
      <p:sp>
        <p:nvSpPr>
          <p:cNvPr id="12" name="正方形/長方形 11">
            <a:extLst>
              <a:ext uri="{FF2B5EF4-FFF2-40B4-BE49-F238E27FC236}">
                <a16:creationId xmlns:a16="http://schemas.microsoft.com/office/drawing/2014/main" id="{162A081C-1FF5-C285-E798-7078A22A3583}"/>
              </a:ext>
            </a:extLst>
          </p:cNvPr>
          <p:cNvSpPr/>
          <p:nvPr/>
        </p:nvSpPr>
        <p:spPr>
          <a:xfrm>
            <a:off x="574308" y="1467887"/>
            <a:ext cx="1548524" cy="591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latin typeface="Meiryo UI" panose="020B0604030504040204" pitchFamily="50" charset="-128"/>
                <a:ea typeface="Meiryo UI" panose="020B0604030504040204" pitchFamily="50" charset="-128"/>
              </a:rPr>
              <a:t>課題テーマ</a:t>
            </a:r>
          </a:p>
        </p:txBody>
      </p:sp>
      <p:cxnSp>
        <p:nvCxnSpPr>
          <p:cNvPr id="18" name="直線コネクタ 17">
            <a:extLst>
              <a:ext uri="{FF2B5EF4-FFF2-40B4-BE49-F238E27FC236}">
                <a16:creationId xmlns:a16="http://schemas.microsoft.com/office/drawing/2014/main" id="{8E84F347-36FE-97CC-B7B2-D619CE1FFB18}"/>
              </a:ext>
            </a:extLst>
          </p:cNvPr>
          <p:cNvCxnSpPr>
            <a:cxnSpLocks/>
          </p:cNvCxnSpPr>
          <p:nvPr/>
        </p:nvCxnSpPr>
        <p:spPr>
          <a:xfrm>
            <a:off x="318376" y="1916832"/>
            <a:ext cx="206038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CA72AB37-331D-15E9-7222-BFA6A040197F}"/>
              </a:ext>
            </a:extLst>
          </p:cNvPr>
          <p:cNvCxnSpPr>
            <a:cxnSpLocks/>
          </p:cNvCxnSpPr>
          <p:nvPr/>
        </p:nvCxnSpPr>
        <p:spPr>
          <a:xfrm>
            <a:off x="2561968" y="1916832"/>
            <a:ext cx="61443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A6632E2D-3CB4-D6A4-5257-31E3A23ECEFA}"/>
              </a:ext>
            </a:extLst>
          </p:cNvPr>
          <p:cNvSpPr/>
          <p:nvPr/>
        </p:nvSpPr>
        <p:spPr>
          <a:xfrm>
            <a:off x="2490416" y="2056406"/>
            <a:ext cx="6217625" cy="11816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en-US" altLang="ja-JP" sz="1600">
                <a:solidFill>
                  <a:schemeClr val="tx1"/>
                </a:solidFill>
                <a:latin typeface="Meiryo UI" panose="020B0604030504040204" pitchFamily="50" charset="-128"/>
                <a:ea typeface="Meiryo UI" panose="020B0604030504040204" pitchFamily="50" charset="-128"/>
              </a:rPr>
              <a:t>GHG</a:t>
            </a:r>
            <a:r>
              <a:rPr kumimoji="1" lang="ja-JP" altLang="en-US" sz="1600">
                <a:solidFill>
                  <a:schemeClr val="tx1"/>
                </a:solidFill>
                <a:latin typeface="Meiryo UI" panose="020B0604030504040204" pitchFamily="50" charset="-128"/>
                <a:ea typeface="Meiryo UI" panose="020B0604030504040204" pitchFamily="50" charset="-128"/>
              </a:rPr>
              <a:t>排出量は温対法・</a:t>
            </a:r>
            <a:r>
              <a:rPr kumimoji="1" lang="en-US" altLang="ja-JP" sz="1600">
                <a:solidFill>
                  <a:schemeClr val="tx1"/>
                </a:solidFill>
                <a:latin typeface="Meiryo UI" panose="020B0604030504040204" pitchFamily="50" charset="-128"/>
                <a:ea typeface="Meiryo UI" panose="020B0604030504040204" pitchFamily="50" charset="-128"/>
              </a:rPr>
              <a:t>GX</a:t>
            </a:r>
            <a:r>
              <a:rPr kumimoji="1" lang="ja-JP" altLang="en-US" sz="1600">
                <a:solidFill>
                  <a:schemeClr val="tx1"/>
                </a:solidFill>
                <a:latin typeface="Meiryo UI" panose="020B0604030504040204" pitchFamily="50" charset="-128"/>
                <a:ea typeface="Meiryo UI" panose="020B0604030504040204" pitchFamily="50" charset="-128"/>
              </a:rPr>
              <a:t>リーグのみ対応しており、</a:t>
            </a:r>
            <a:r>
              <a:rPr kumimoji="1" lang="en-US" altLang="ja-JP" sz="1600" b="1" u="sng">
                <a:solidFill>
                  <a:schemeClr val="tx1"/>
                </a:solidFill>
                <a:latin typeface="Meiryo UI" panose="020B0604030504040204" pitchFamily="50" charset="-128"/>
                <a:ea typeface="Meiryo UI" panose="020B0604030504040204" pitchFamily="50" charset="-128"/>
              </a:rPr>
              <a:t>GHG</a:t>
            </a:r>
            <a:r>
              <a:rPr kumimoji="1" lang="ja-JP" altLang="en-US" sz="1600" b="1" u="sng">
                <a:solidFill>
                  <a:schemeClr val="tx1"/>
                </a:solidFill>
                <a:latin typeface="Meiryo UI" panose="020B0604030504040204" pitchFamily="50" charset="-128"/>
                <a:ea typeface="Meiryo UI" panose="020B0604030504040204" pitchFamily="50" charset="-128"/>
              </a:rPr>
              <a:t>プロトコルデータの収集体制が整備されていない</a:t>
            </a:r>
          </a:p>
        </p:txBody>
      </p:sp>
      <p:sp>
        <p:nvSpPr>
          <p:cNvPr id="14" name="正方形/長方形 13">
            <a:extLst>
              <a:ext uri="{FF2B5EF4-FFF2-40B4-BE49-F238E27FC236}">
                <a16:creationId xmlns:a16="http://schemas.microsoft.com/office/drawing/2014/main" id="{20DF269B-8CCD-81F2-37AC-363B4E308DE5}"/>
              </a:ext>
            </a:extLst>
          </p:cNvPr>
          <p:cNvSpPr/>
          <p:nvPr/>
        </p:nvSpPr>
        <p:spPr>
          <a:xfrm>
            <a:off x="318376" y="2056406"/>
            <a:ext cx="2061085" cy="11816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b="1">
                <a:solidFill>
                  <a:schemeClr val="bg1"/>
                </a:solidFill>
                <a:latin typeface="Meiryo UI" panose="020B0604030504040204" pitchFamily="50" charset="-128"/>
                <a:ea typeface="Meiryo UI" panose="020B0604030504040204" pitchFamily="50" charset="-128"/>
              </a:rPr>
              <a:t>SSBJ</a:t>
            </a:r>
            <a:r>
              <a:rPr kumimoji="1" lang="ja-JP" altLang="en-US" b="1">
                <a:solidFill>
                  <a:schemeClr val="bg1"/>
                </a:solidFill>
                <a:latin typeface="Meiryo UI" panose="020B0604030504040204" pitchFamily="50" charset="-128"/>
                <a:ea typeface="Meiryo UI" panose="020B0604030504040204" pitchFamily="50" charset="-128"/>
              </a:rPr>
              <a:t>開示対応</a:t>
            </a:r>
          </a:p>
        </p:txBody>
      </p:sp>
      <p:sp>
        <p:nvSpPr>
          <p:cNvPr id="6" name="正方形/長方形 5">
            <a:extLst>
              <a:ext uri="{FF2B5EF4-FFF2-40B4-BE49-F238E27FC236}">
                <a16:creationId xmlns:a16="http://schemas.microsoft.com/office/drawing/2014/main" id="{1B840CA1-DCD7-C87F-5164-46C9CA27A09B}"/>
              </a:ext>
            </a:extLst>
          </p:cNvPr>
          <p:cNvSpPr/>
          <p:nvPr/>
        </p:nvSpPr>
        <p:spPr>
          <a:xfrm>
            <a:off x="2490416" y="3518616"/>
            <a:ext cx="6217625" cy="11816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600" b="1" u="sng">
                <a:solidFill>
                  <a:schemeClr val="tx1"/>
                </a:solidFill>
                <a:latin typeface="Meiryo UI" panose="020B0604030504040204" pitchFamily="50" charset="-128"/>
                <a:ea typeface="Meiryo UI" panose="020B0604030504040204" pitchFamily="50" charset="-128"/>
              </a:rPr>
              <a:t>同じ環境系報告でも、温対法・</a:t>
            </a:r>
            <a:r>
              <a:rPr kumimoji="1" lang="en-US" altLang="ja-JP" sz="1600" b="1" u="sng">
                <a:solidFill>
                  <a:schemeClr val="tx1"/>
                </a:solidFill>
                <a:latin typeface="Meiryo UI" panose="020B0604030504040204" pitchFamily="50" charset="-128"/>
                <a:ea typeface="Meiryo UI" panose="020B0604030504040204" pitchFamily="50" charset="-128"/>
              </a:rPr>
              <a:t>GX</a:t>
            </a:r>
            <a:r>
              <a:rPr kumimoji="1" lang="ja-JP" altLang="en-US" sz="1600" b="1" u="sng">
                <a:solidFill>
                  <a:schemeClr val="tx1"/>
                </a:solidFill>
                <a:latin typeface="Meiryo UI" panose="020B0604030504040204" pitchFamily="50" charset="-128"/>
                <a:ea typeface="Meiryo UI" panose="020B0604030504040204" pitchFamily="50" charset="-128"/>
              </a:rPr>
              <a:t>リーグなどに収集プロセスが分かれている</a:t>
            </a:r>
          </a:p>
        </p:txBody>
      </p:sp>
      <p:sp>
        <p:nvSpPr>
          <p:cNvPr id="15" name="正方形/長方形 14">
            <a:extLst>
              <a:ext uri="{FF2B5EF4-FFF2-40B4-BE49-F238E27FC236}">
                <a16:creationId xmlns:a16="http://schemas.microsoft.com/office/drawing/2014/main" id="{88DF4028-ADD9-8C97-F689-445D59F19E79}"/>
              </a:ext>
            </a:extLst>
          </p:cNvPr>
          <p:cNvSpPr/>
          <p:nvPr/>
        </p:nvSpPr>
        <p:spPr>
          <a:xfrm>
            <a:off x="318376" y="3515844"/>
            <a:ext cx="2061085" cy="11816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b="1">
                <a:solidFill>
                  <a:schemeClr val="bg1"/>
                </a:solidFill>
                <a:latin typeface="Meiryo UI" panose="020B0604030504040204" pitchFamily="50" charset="-128"/>
                <a:ea typeface="Meiryo UI" panose="020B0604030504040204" pitchFamily="50" charset="-128"/>
              </a:rPr>
              <a:t>プロセス一本化</a:t>
            </a:r>
          </a:p>
        </p:txBody>
      </p:sp>
      <p:sp>
        <p:nvSpPr>
          <p:cNvPr id="7" name="正方形/長方形 6">
            <a:extLst>
              <a:ext uri="{FF2B5EF4-FFF2-40B4-BE49-F238E27FC236}">
                <a16:creationId xmlns:a16="http://schemas.microsoft.com/office/drawing/2014/main" id="{3EF00D9F-137A-FB0B-24D3-8B7F0B42B967}"/>
              </a:ext>
            </a:extLst>
          </p:cNvPr>
          <p:cNvSpPr/>
          <p:nvPr/>
        </p:nvSpPr>
        <p:spPr>
          <a:xfrm>
            <a:off x="2490416" y="4996116"/>
            <a:ext cx="6217625" cy="1163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600">
                <a:solidFill>
                  <a:schemeClr val="tx1"/>
                </a:solidFill>
                <a:latin typeface="Meiryo UI" panose="020B0604030504040204" pitchFamily="50" charset="-128"/>
                <a:ea typeface="Meiryo UI" panose="020B0604030504040204" pitchFamily="50" charset="-128"/>
              </a:rPr>
              <a:t>プロセスが分かれていることにより、</a:t>
            </a:r>
            <a:r>
              <a:rPr kumimoji="1" lang="ja-JP" altLang="en-US" sz="1600" b="1" u="sng">
                <a:solidFill>
                  <a:schemeClr val="tx1"/>
                </a:solidFill>
                <a:latin typeface="Meiryo UI" panose="020B0604030504040204" pitchFamily="50" charset="-128"/>
                <a:ea typeface="Meiryo UI" panose="020B0604030504040204" pitchFamily="50" charset="-128"/>
              </a:rPr>
              <a:t>データ収集～算定が重複しており、時間と手間を要している</a:t>
            </a:r>
            <a:endParaRPr kumimoji="1" lang="en-US" altLang="ja-JP" sz="1600" b="1" u="sng">
              <a:solidFill>
                <a:schemeClr val="tx1"/>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ACF1BC15-7FB1-8A42-45C7-FB26FAD4819E}"/>
              </a:ext>
            </a:extLst>
          </p:cNvPr>
          <p:cNvSpPr/>
          <p:nvPr/>
        </p:nvSpPr>
        <p:spPr>
          <a:xfrm>
            <a:off x="318376" y="4978054"/>
            <a:ext cx="2061085" cy="11816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b="1">
                <a:solidFill>
                  <a:schemeClr val="bg1"/>
                </a:solidFill>
                <a:latin typeface="Meiryo UI" panose="020B0604030504040204" pitchFamily="50" charset="-128"/>
                <a:ea typeface="Meiryo UI" panose="020B0604030504040204" pitchFamily="50" charset="-128"/>
              </a:rPr>
              <a:t>業務効率化</a:t>
            </a:r>
          </a:p>
        </p:txBody>
      </p:sp>
      <p:sp>
        <p:nvSpPr>
          <p:cNvPr id="25" name="楕円 24">
            <a:extLst>
              <a:ext uri="{FF2B5EF4-FFF2-40B4-BE49-F238E27FC236}">
                <a16:creationId xmlns:a16="http://schemas.microsoft.com/office/drawing/2014/main" id="{9D7C297D-CE74-07E8-20A9-52FA2C117F02}"/>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2" name="正方形/長方形 1">
            <a:extLst>
              <a:ext uri="{FF2B5EF4-FFF2-40B4-BE49-F238E27FC236}">
                <a16:creationId xmlns:a16="http://schemas.microsoft.com/office/drawing/2014/main" id="{B29FDF25-D763-EAE6-3D06-1DE44769050C}"/>
              </a:ext>
            </a:extLst>
          </p:cNvPr>
          <p:cNvSpPr/>
          <p:nvPr/>
        </p:nvSpPr>
        <p:spPr>
          <a:xfrm>
            <a:off x="232820" y="1965964"/>
            <a:ext cx="230533" cy="228653"/>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200">
                <a:solidFill>
                  <a:schemeClr val="bg1"/>
                </a:solidFill>
                <a:latin typeface="Meiryo UI" panose="020B0604030504040204" pitchFamily="50" charset="-128"/>
                <a:ea typeface="Meiryo UI" panose="020B0604030504040204" pitchFamily="50" charset="-128"/>
              </a:rPr>
              <a:t>1</a:t>
            </a:r>
            <a:endParaRPr kumimoji="1" lang="ja-JP" altLang="en-US" sz="1200">
              <a:solidFill>
                <a:schemeClr val="bg1"/>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BC2AFFCD-46CB-C144-2F5E-17B08834B92F}"/>
              </a:ext>
            </a:extLst>
          </p:cNvPr>
          <p:cNvSpPr/>
          <p:nvPr/>
        </p:nvSpPr>
        <p:spPr>
          <a:xfrm>
            <a:off x="223877" y="3404184"/>
            <a:ext cx="230533" cy="228653"/>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200">
                <a:solidFill>
                  <a:schemeClr val="bg1"/>
                </a:solidFill>
                <a:latin typeface="Meiryo UI" panose="020B0604030504040204" pitchFamily="50" charset="-128"/>
                <a:ea typeface="Meiryo UI" panose="020B0604030504040204" pitchFamily="50" charset="-128"/>
              </a:rPr>
              <a:t>2</a:t>
            </a:r>
            <a:endParaRPr kumimoji="1" lang="ja-JP" altLang="en-US" sz="1200">
              <a:solidFill>
                <a:schemeClr val="bg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85B9EC12-2DD2-5011-2E14-8BF5714E60BE}"/>
              </a:ext>
            </a:extLst>
          </p:cNvPr>
          <p:cNvSpPr/>
          <p:nvPr/>
        </p:nvSpPr>
        <p:spPr>
          <a:xfrm>
            <a:off x="223877" y="4860955"/>
            <a:ext cx="230533" cy="228653"/>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200">
                <a:solidFill>
                  <a:schemeClr val="bg1"/>
                </a:solidFill>
                <a:latin typeface="Meiryo UI" panose="020B0604030504040204" pitchFamily="50" charset="-128"/>
                <a:ea typeface="Meiryo UI" panose="020B0604030504040204" pitchFamily="50" charset="-128"/>
              </a:rPr>
              <a:t>3</a:t>
            </a:r>
            <a:endParaRPr kumimoji="1" lang="ja-JP" altLang="en-US" sz="1200">
              <a:solidFill>
                <a:schemeClr val="bg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097C7AA2-DAE4-0E03-59F4-AF183BB9C400}"/>
              </a:ext>
            </a:extLst>
          </p:cNvPr>
          <p:cNvSpPr/>
          <p:nvPr/>
        </p:nvSpPr>
        <p:spPr>
          <a:xfrm>
            <a:off x="6115179" y="117360"/>
            <a:ext cx="2632821" cy="34435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実現したい姿については後段で記載しているため、ここでは課題に絞って記載</a:t>
            </a:r>
          </a:p>
        </p:txBody>
      </p:sp>
    </p:spTree>
    <p:extLst>
      <p:ext uri="{BB962C8B-B14F-4D97-AF65-F5344CB8AC3E}">
        <p14:creationId xmlns:p14="http://schemas.microsoft.com/office/powerpoint/2010/main" val="1043643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049E0-24C6-1818-946B-2795AEBC0D02}"/>
              </a:ext>
            </a:extLst>
          </p:cNvPr>
          <p:cNvSpPr>
            <a:spLocks noGrp="1"/>
          </p:cNvSpPr>
          <p:nvPr>
            <p:ph type="title"/>
          </p:nvPr>
        </p:nvSpPr>
        <p:spPr>
          <a:xfrm>
            <a:off x="1116000" y="3042380"/>
            <a:ext cx="7703999" cy="360000"/>
          </a:xfrm>
        </p:spPr>
        <p:txBody>
          <a:bodyPr/>
          <a:lstStyle/>
          <a:p>
            <a:r>
              <a:rPr lang="en-US" altLang="ja-JP" sz="2400" b="0">
                <a:latin typeface="Meiryo UI" panose="020B0604030504040204" pitchFamily="50" charset="-128"/>
                <a:ea typeface="Meiryo UI" panose="020B0604030504040204" pitchFamily="50" charset="-128"/>
                <a:cs typeface="+mn-cs"/>
              </a:rPr>
              <a:t>2. ESG</a:t>
            </a:r>
            <a:r>
              <a:rPr lang="ja-JP" altLang="en-US" sz="2400" b="0">
                <a:latin typeface="Meiryo UI" panose="020B0604030504040204" pitchFamily="50" charset="-128"/>
                <a:ea typeface="Meiryo UI" panose="020B0604030504040204" pitchFamily="50" charset="-128"/>
                <a:cs typeface="+mn-cs"/>
              </a:rPr>
              <a:t>システム構築によって実現したい状態</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3DB55F1-1B8C-13AB-1DBE-1F30F08B6A0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7</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18801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タイトル 1">
            <a:extLst>
              <a:ext uri="{FF2B5EF4-FFF2-40B4-BE49-F238E27FC236}">
                <a16:creationId xmlns:a16="http://schemas.microsoft.com/office/drawing/2014/main" id="{9C931E96-3FA4-C0D2-385A-9FC0410743AB}"/>
              </a:ext>
            </a:extLst>
          </p:cNvPr>
          <p:cNvSpPr>
            <a:spLocks noGrp="1"/>
          </p:cNvSpPr>
          <p:nvPr>
            <p:ph type="title"/>
          </p:nvPr>
        </p:nvSpPr>
        <p:spPr/>
        <p:txBody>
          <a:bodyPr vert="horz" lIns="0" tIns="72000" rIns="0" bIns="0" rtlCol="0" anchor="ctr">
            <a:noAutofit/>
          </a:bodyPr>
          <a:lstStyle/>
          <a:p>
            <a:r>
              <a:rPr lang="ja-JP" altLang="ja-JP">
                <a:latin typeface="Meiryo UI" panose="020B0604030504040204" pitchFamily="50" charset="-128"/>
                <a:ea typeface="Meiryo UI" panose="020B0604030504040204" pitchFamily="50" charset="-128"/>
              </a:rPr>
              <a:t>現状</a:t>
            </a:r>
            <a:r>
              <a:rPr lang="ja-JP" altLang="en-US">
                <a:latin typeface="Meiryo UI" panose="020B0604030504040204" pitchFamily="50" charset="-128"/>
                <a:ea typeface="Meiryo UI" panose="020B0604030504040204" pitchFamily="50" charset="-128"/>
              </a:rPr>
              <a:t>の</a:t>
            </a:r>
            <a:r>
              <a:rPr lang="ja-JP" altLang="ja-JP">
                <a:latin typeface="Meiryo UI" panose="020B0604030504040204" pitchFamily="50" charset="-128"/>
                <a:ea typeface="Meiryo UI" panose="020B0604030504040204" pitchFamily="50" charset="-128"/>
              </a:rPr>
              <a:t>課題と実現したい姿</a:t>
            </a:r>
            <a:endParaRPr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2CAC1FF1-A896-D2CD-8F7B-5E1F51E338D0}"/>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8</a:t>
            </a:fld>
            <a:endParaRPr kumimoji="1" lang="ja-JP" altLang="en-US">
              <a:latin typeface="Meiryo UI" panose="020B0604030504040204" pitchFamily="50" charset="-128"/>
              <a:ea typeface="Meiryo UI" panose="020B0604030504040204" pitchFamily="50" charset="-128"/>
            </a:endParaRPr>
          </a:p>
        </p:txBody>
      </p:sp>
      <p:sp>
        <p:nvSpPr>
          <p:cNvPr id="19" name="テキスト プレースホルダー 18">
            <a:extLst>
              <a:ext uri="{FF2B5EF4-FFF2-40B4-BE49-F238E27FC236}">
                <a16:creationId xmlns:a16="http://schemas.microsoft.com/office/drawing/2014/main" id="{49D71040-3EF2-E23C-6B07-585432B98FAE}"/>
              </a:ext>
            </a:extLst>
          </p:cNvPr>
          <p:cNvSpPr>
            <a:spLocks noGrp="1"/>
          </p:cNvSpPr>
          <p:nvPr>
            <p:ph type="body" sz="quarter" idx="13"/>
          </p:nvPr>
        </p:nvSpPr>
        <p:spPr/>
        <p:txBody>
          <a:bodyPr>
            <a:noAutofit/>
          </a:bodyPr>
          <a:lstStyle/>
          <a:p>
            <a:r>
              <a:rPr lang="ja-JP" altLang="en-US">
                <a:highlight>
                  <a:srgbClr val="FFFF00"/>
                </a:highlight>
              </a:rPr>
              <a:t>本プロジェクトでは課題に対応するため、</a:t>
            </a:r>
            <a:r>
              <a:rPr lang="en-US" altLang="ja-JP">
                <a:highlight>
                  <a:srgbClr val="FFFF00"/>
                </a:highlight>
              </a:rPr>
              <a:t>SSBJ</a:t>
            </a:r>
            <a:r>
              <a:rPr lang="ja-JP" altLang="en-US">
                <a:highlight>
                  <a:srgbClr val="FFFF00"/>
                </a:highlight>
              </a:rPr>
              <a:t>開示基準に沿った業務・システムの体制とプロセスを整備すること、報告プロセスを一本化した基盤を構築すること、そして環境系報告の業務効率化することを目指す</a:t>
            </a:r>
          </a:p>
        </p:txBody>
      </p:sp>
      <p:sp>
        <p:nvSpPr>
          <p:cNvPr id="5" name="正方形/長方形 4">
            <a:extLst>
              <a:ext uri="{FF2B5EF4-FFF2-40B4-BE49-F238E27FC236}">
                <a16:creationId xmlns:a16="http://schemas.microsoft.com/office/drawing/2014/main" id="{ADBEBEAE-5C4E-D947-2616-358E22F48637}"/>
              </a:ext>
            </a:extLst>
          </p:cNvPr>
          <p:cNvSpPr/>
          <p:nvPr/>
        </p:nvSpPr>
        <p:spPr>
          <a:xfrm>
            <a:off x="1980610" y="1467887"/>
            <a:ext cx="2877139" cy="591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latin typeface="Meiryo UI" panose="020B0604030504040204" pitchFamily="50" charset="-128"/>
                <a:ea typeface="Meiryo UI" panose="020B0604030504040204" pitchFamily="50" charset="-128"/>
              </a:rPr>
              <a:t>現状の課題</a:t>
            </a:r>
          </a:p>
        </p:txBody>
      </p:sp>
      <p:sp>
        <p:nvSpPr>
          <p:cNvPr id="10" name="正方形/長方形 9">
            <a:extLst>
              <a:ext uri="{FF2B5EF4-FFF2-40B4-BE49-F238E27FC236}">
                <a16:creationId xmlns:a16="http://schemas.microsoft.com/office/drawing/2014/main" id="{BAC99DB9-7E1C-6840-C887-F414E6A27BA7}"/>
              </a:ext>
            </a:extLst>
          </p:cNvPr>
          <p:cNvSpPr/>
          <p:nvPr/>
        </p:nvSpPr>
        <p:spPr>
          <a:xfrm>
            <a:off x="4967999" y="1467887"/>
            <a:ext cx="3857625" cy="591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latin typeface="Meiryo UI" panose="020B0604030504040204" pitchFamily="50" charset="-128"/>
                <a:ea typeface="Meiryo UI" panose="020B0604030504040204" pitchFamily="50" charset="-128"/>
              </a:rPr>
              <a:t>実現したい姿</a:t>
            </a:r>
          </a:p>
        </p:txBody>
      </p:sp>
      <p:sp>
        <p:nvSpPr>
          <p:cNvPr id="12" name="正方形/長方形 11">
            <a:extLst>
              <a:ext uri="{FF2B5EF4-FFF2-40B4-BE49-F238E27FC236}">
                <a16:creationId xmlns:a16="http://schemas.microsoft.com/office/drawing/2014/main" id="{162A081C-1FF5-C285-E798-7078A22A3583}"/>
              </a:ext>
            </a:extLst>
          </p:cNvPr>
          <p:cNvSpPr/>
          <p:nvPr/>
        </p:nvSpPr>
        <p:spPr>
          <a:xfrm>
            <a:off x="318376" y="1467887"/>
            <a:ext cx="1548524" cy="591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latin typeface="Meiryo UI" panose="020B0604030504040204" pitchFamily="50" charset="-128"/>
                <a:ea typeface="Meiryo UI" panose="020B0604030504040204" pitchFamily="50" charset="-128"/>
              </a:rPr>
              <a:t>取組テーマ</a:t>
            </a:r>
          </a:p>
        </p:txBody>
      </p:sp>
      <p:cxnSp>
        <p:nvCxnSpPr>
          <p:cNvPr id="18" name="直線コネクタ 17">
            <a:extLst>
              <a:ext uri="{FF2B5EF4-FFF2-40B4-BE49-F238E27FC236}">
                <a16:creationId xmlns:a16="http://schemas.microsoft.com/office/drawing/2014/main" id="{8E84F347-36FE-97CC-B7B2-D619CE1FFB18}"/>
              </a:ext>
            </a:extLst>
          </p:cNvPr>
          <p:cNvCxnSpPr>
            <a:cxnSpLocks/>
          </p:cNvCxnSpPr>
          <p:nvPr/>
        </p:nvCxnSpPr>
        <p:spPr>
          <a:xfrm>
            <a:off x="318376" y="1916832"/>
            <a:ext cx="1548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CA72AB37-331D-15E9-7222-BFA6A040197F}"/>
              </a:ext>
            </a:extLst>
          </p:cNvPr>
          <p:cNvCxnSpPr>
            <a:cxnSpLocks/>
          </p:cNvCxnSpPr>
          <p:nvPr/>
        </p:nvCxnSpPr>
        <p:spPr>
          <a:xfrm>
            <a:off x="1980610" y="1916832"/>
            <a:ext cx="28764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8DF5FB48-AA88-29C8-72C8-EC487291516E}"/>
              </a:ext>
            </a:extLst>
          </p:cNvPr>
          <p:cNvCxnSpPr>
            <a:cxnSpLocks/>
          </p:cNvCxnSpPr>
          <p:nvPr/>
        </p:nvCxnSpPr>
        <p:spPr>
          <a:xfrm>
            <a:off x="4967999" y="1916832"/>
            <a:ext cx="38592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A6632E2D-3CB4-D6A4-5257-31E3A23ECEFA}"/>
              </a:ext>
            </a:extLst>
          </p:cNvPr>
          <p:cNvSpPr/>
          <p:nvPr/>
        </p:nvSpPr>
        <p:spPr>
          <a:xfrm>
            <a:off x="1980611" y="2056406"/>
            <a:ext cx="2877138" cy="11816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en-US" altLang="ja-JP" sz="1600">
                <a:solidFill>
                  <a:schemeClr val="tx1"/>
                </a:solidFill>
                <a:latin typeface="Meiryo UI" panose="020B0604030504040204" pitchFamily="50" charset="-128"/>
                <a:ea typeface="Meiryo UI" panose="020B0604030504040204" pitchFamily="50" charset="-128"/>
              </a:rPr>
              <a:t>GHG</a:t>
            </a:r>
            <a:r>
              <a:rPr kumimoji="1" lang="ja-JP" altLang="en-US" sz="1600">
                <a:solidFill>
                  <a:schemeClr val="tx1"/>
                </a:solidFill>
                <a:latin typeface="Meiryo UI" panose="020B0604030504040204" pitchFamily="50" charset="-128"/>
                <a:ea typeface="Meiryo UI" panose="020B0604030504040204" pitchFamily="50" charset="-128"/>
              </a:rPr>
              <a:t>排出量は温対法・</a:t>
            </a:r>
            <a:r>
              <a:rPr kumimoji="1" lang="en-US" altLang="ja-JP" sz="1600">
                <a:solidFill>
                  <a:schemeClr val="tx1"/>
                </a:solidFill>
                <a:latin typeface="Meiryo UI" panose="020B0604030504040204" pitchFamily="50" charset="-128"/>
                <a:ea typeface="Meiryo UI" panose="020B0604030504040204" pitchFamily="50" charset="-128"/>
              </a:rPr>
              <a:t>GX</a:t>
            </a:r>
            <a:r>
              <a:rPr kumimoji="1" lang="ja-JP" altLang="en-US" sz="1600">
                <a:solidFill>
                  <a:schemeClr val="tx1"/>
                </a:solidFill>
                <a:latin typeface="Meiryo UI" panose="020B0604030504040204" pitchFamily="50" charset="-128"/>
                <a:ea typeface="Meiryo UI" panose="020B0604030504040204" pitchFamily="50" charset="-128"/>
              </a:rPr>
              <a:t>リーグのみ対応しており、</a:t>
            </a:r>
            <a:r>
              <a:rPr kumimoji="1" lang="en-US" altLang="ja-JP" sz="1600">
                <a:solidFill>
                  <a:schemeClr val="tx1"/>
                </a:solidFill>
                <a:latin typeface="Meiryo UI" panose="020B0604030504040204" pitchFamily="50" charset="-128"/>
                <a:ea typeface="Meiryo UI" panose="020B0604030504040204" pitchFamily="50" charset="-128"/>
              </a:rPr>
              <a:t>GHG</a:t>
            </a:r>
            <a:r>
              <a:rPr kumimoji="1" lang="ja-JP" altLang="en-US" sz="1600">
                <a:solidFill>
                  <a:schemeClr val="tx1"/>
                </a:solidFill>
                <a:latin typeface="Meiryo UI" panose="020B0604030504040204" pitchFamily="50" charset="-128"/>
                <a:ea typeface="Meiryo UI" panose="020B0604030504040204" pitchFamily="50" charset="-128"/>
              </a:rPr>
              <a:t>プロトコルデータの収集体制が整備されていない</a:t>
            </a:r>
          </a:p>
        </p:txBody>
      </p:sp>
      <p:sp>
        <p:nvSpPr>
          <p:cNvPr id="13" name="正方形/長方形 12">
            <a:extLst>
              <a:ext uri="{FF2B5EF4-FFF2-40B4-BE49-F238E27FC236}">
                <a16:creationId xmlns:a16="http://schemas.microsoft.com/office/drawing/2014/main" id="{B8100F5F-D1EA-B181-AA1C-972EE7A5558E}"/>
              </a:ext>
            </a:extLst>
          </p:cNvPr>
          <p:cNvSpPr/>
          <p:nvPr/>
        </p:nvSpPr>
        <p:spPr>
          <a:xfrm>
            <a:off x="4967999" y="2056405"/>
            <a:ext cx="3857625" cy="1181653"/>
          </a:xfrm>
          <a:prstGeom prst="rect">
            <a:avLst/>
          </a:prstGeom>
          <a:solidFill>
            <a:schemeClr val="accent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en-US" altLang="ja-JP" sz="1600">
                <a:solidFill>
                  <a:schemeClr val="tx1"/>
                </a:solidFill>
                <a:latin typeface="Meiryo UI" panose="020B0604030504040204" pitchFamily="50" charset="-128"/>
                <a:ea typeface="Meiryo UI" panose="020B0604030504040204" pitchFamily="50" charset="-128"/>
              </a:rPr>
              <a:t>SSBJ</a:t>
            </a:r>
            <a:r>
              <a:rPr kumimoji="1" lang="ja-JP" altLang="en-US" sz="1600">
                <a:solidFill>
                  <a:schemeClr val="tx1"/>
                </a:solidFill>
                <a:latin typeface="Meiryo UI" panose="020B0604030504040204" pitchFamily="50" charset="-128"/>
                <a:ea typeface="Meiryo UI" panose="020B0604030504040204" pitchFamily="50" charset="-128"/>
              </a:rPr>
              <a:t>開示基準に沿った</a:t>
            </a:r>
            <a:r>
              <a:rPr kumimoji="1" lang="ja-JP" altLang="en-US" sz="1600" b="1" u="sng">
                <a:solidFill>
                  <a:schemeClr val="tx1"/>
                </a:solidFill>
                <a:latin typeface="Meiryo UI" panose="020B0604030504040204" pitchFamily="50" charset="-128"/>
                <a:ea typeface="Meiryo UI" panose="020B0604030504040204" pitchFamily="50" charset="-128"/>
              </a:rPr>
              <a:t>データ要件・内部統制要件・保証要件を満たす業務・システム体制及びプロセス</a:t>
            </a:r>
            <a:r>
              <a:rPr kumimoji="1" lang="ja-JP" altLang="en-US" sz="1600">
                <a:solidFill>
                  <a:schemeClr val="tx1"/>
                </a:solidFill>
                <a:latin typeface="Meiryo UI" panose="020B0604030504040204" pitchFamily="50" charset="-128"/>
                <a:ea typeface="Meiryo UI" panose="020B0604030504040204" pitchFamily="50" charset="-128"/>
              </a:rPr>
              <a:t>を構築する</a:t>
            </a:r>
          </a:p>
        </p:txBody>
      </p:sp>
      <p:sp>
        <p:nvSpPr>
          <p:cNvPr id="14" name="正方形/長方形 13">
            <a:extLst>
              <a:ext uri="{FF2B5EF4-FFF2-40B4-BE49-F238E27FC236}">
                <a16:creationId xmlns:a16="http://schemas.microsoft.com/office/drawing/2014/main" id="{20DF269B-8CCD-81F2-37AC-363B4E308DE5}"/>
              </a:ext>
            </a:extLst>
          </p:cNvPr>
          <p:cNvSpPr/>
          <p:nvPr/>
        </p:nvSpPr>
        <p:spPr>
          <a:xfrm>
            <a:off x="318376" y="2056406"/>
            <a:ext cx="1548524" cy="11816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b="1">
                <a:solidFill>
                  <a:schemeClr val="bg1"/>
                </a:solidFill>
                <a:latin typeface="Meiryo UI" panose="020B0604030504040204" pitchFamily="50" charset="-128"/>
                <a:ea typeface="Meiryo UI" panose="020B0604030504040204" pitchFamily="50" charset="-128"/>
              </a:rPr>
              <a:t>SSBJ</a:t>
            </a:r>
            <a:r>
              <a:rPr kumimoji="1" lang="ja-JP" altLang="en-US" b="1">
                <a:solidFill>
                  <a:schemeClr val="bg1"/>
                </a:solidFill>
                <a:latin typeface="Meiryo UI" panose="020B0604030504040204" pitchFamily="50" charset="-128"/>
                <a:ea typeface="Meiryo UI" panose="020B0604030504040204" pitchFamily="50" charset="-128"/>
              </a:rPr>
              <a:t>開示対応</a:t>
            </a:r>
          </a:p>
        </p:txBody>
      </p:sp>
      <p:sp>
        <p:nvSpPr>
          <p:cNvPr id="6" name="正方形/長方形 5">
            <a:extLst>
              <a:ext uri="{FF2B5EF4-FFF2-40B4-BE49-F238E27FC236}">
                <a16:creationId xmlns:a16="http://schemas.microsoft.com/office/drawing/2014/main" id="{1B840CA1-DCD7-C87F-5164-46C9CA27A09B}"/>
              </a:ext>
            </a:extLst>
          </p:cNvPr>
          <p:cNvSpPr/>
          <p:nvPr/>
        </p:nvSpPr>
        <p:spPr>
          <a:xfrm>
            <a:off x="1980611" y="3518616"/>
            <a:ext cx="2877138" cy="11816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600">
                <a:solidFill>
                  <a:schemeClr val="tx1"/>
                </a:solidFill>
                <a:latin typeface="Meiryo UI" panose="020B0604030504040204" pitchFamily="50" charset="-128"/>
                <a:ea typeface="Meiryo UI" panose="020B0604030504040204" pitchFamily="50" charset="-128"/>
              </a:rPr>
              <a:t>同じ環境系報告でも、温対法・</a:t>
            </a:r>
            <a:r>
              <a:rPr kumimoji="1" lang="en-US" altLang="ja-JP" sz="1600">
                <a:solidFill>
                  <a:schemeClr val="tx1"/>
                </a:solidFill>
                <a:latin typeface="Meiryo UI" panose="020B0604030504040204" pitchFamily="50" charset="-128"/>
                <a:ea typeface="Meiryo UI" panose="020B0604030504040204" pitchFamily="50" charset="-128"/>
              </a:rPr>
              <a:t>GX</a:t>
            </a:r>
            <a:r>
              <a:rPr kumimoji="1" lang="ja-JP" altLang="en-US" sz="1600">
                <a:solidFill>
                  <a:schemeClr val="tx1"/>
                </a:solidFill>
                <a:latin typeface="Meiryo UI" panose="020B0604030504040204" pitchFamily="50" charset="-128"/>
                <a:ea typeface="Meiryo UI" panose="020B0604030504040204" pitchFamily="50" charset="-128"/>
              </a:rPr>
              <a:t>リーグの収集プロセスが分かれている</a:t>
            </a:r>
          </a:p>
        </p:txBody>
      </p:sp>
      <p:sp>
        <p:nvSpPr>
          <p:cNvPr id="8" name="正方形/長方形 7">
            <a:extLst>
              <a:ext uri="{FF2B5EF4-FFF2-40B4-BE49-F238E27FC236}">
                <a16:creationId xmlns:a16="http://schemas.microsoft.com/office/drawing/2014/main" id="{0F0A0F18-E15D-4D8C-F0B5-495B6B592480}"/>
              </a:ext>
            </a:extLst>
          </p:cNvPr>
          <p:cNvSpPr/>
          <p:nvPr/>
        </p:nvSpPr>
        <p:spPr>
          <a:xfrm>
            <a:off x="4967999" y="3515844"/>
            <a:ext cx="3857625" cy="1181653"/>
          </a:xfrm>
          <a:prstGeom prst="rect">
            <a:avLst/>
          </a:prstGeom>
          <a:solidFill>
            <a:schemeClr val="accent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600">
                <a:solidFill>
                  <a:schemeClr val="tx1"/>
                </a:solidFill>
                <a:latin typeface="Meiryo UI" panose="020B0604030504040204" pitchFamily="50" charset="-128"/>
                <a:ea typeface="Meiryo UI" panose="020B0604030504040204" pitchFamily="50" charset="-128"/>
              </a:rPr>
              <a:t>今後の開示拡張を見据え、</a:t>
            </a:r>
            <a:r>
              <a:rPr kumimoji="1" lang="ja-JP" altLang="en-US" sz="1600" b="1" u="sng">
                <a:solidFill>
                  <a:schemeClr val="tx1"/>
                </a:solidFill>
                <a:latin typeface="Meiryo UI" panose="020B0604030504040204" pitchFamily="50" charset="-128"/>
                <a:ea typeface="Meiryo UI" panose="020B0604030504040204" pitchFamily="50" charset="-128"/>
              </a:rPr>
              <a:t>複数の開示対応プロセスを一本化</a:t>
            </a:r>
            <a:r>
              <a:rPr kumimoji="1" lang="ja-JP" altLang="en-US" sz="1600">
                <a:solidFill>
                  <a:schemeClr val="tx1"/>
                </a:solidFill>
                <a:latin typeface="Meiryo UI" panose="020B0604030504040204" pitchFamily="50" charset="-128"/>
                <a:ea typeface="Meiryo UI" panose="020B0604030504040204" pitchFamily="50" charset="-128"/>
              </a:rPr>
              <a:t>した業務・システム・データ基盤を構築する</a:t>
            </a:r>
            <a:br>
              <a:rPr kumimoji="1" lang="en-US" altLang="ja-JP" sz="1600">
                <a:solidFill>
                  <a:schemeClr val="tx1"/>
                </a:solidFill>
                <a:latin typeface="Meiryo UI" panose="020B0604030504040204" pitchFamily="50" charset="-128"/>
                <a:ea typeface="Meiryo UI" panose="020B0604030504040204" pitchFamily="50" charset="-128"/>
              </a:rPr>
            </a:br>
            <a:r>
              <a:rPr kumimoji="1" lang="en-US" altLang="ja-JP" sz="1200">
                <a:solidFill>
                  <a:schemeClr val="tx1"/>
                </a:solidFill>
                <a:highlight>
                  <a:srgbClr val="FFFF00"/>
                </a:highlight>
                <a:latin typeface="Meiryo UI" panose="020B0604030504040204" pitchFamily="50" charset="-128"/>
                <a:ea typeface="Meiryo UI" panose="020B0604030504040204" pitchFamily="50" charset="-128"/>
              </a:rPr>
              <a:t>※GXL</a:t>
            </a:r>
            <a:r>
              <a:rPr kumimoji="1" lang="ja-JP" altLang="en-US" sz="1200">
                <a:solidFill>
                  <a:schemeClr val="tx1"/>
                </a:solidFill>
                <a:highlight>
                  <a:srgbClr val="FFFF00"/>
                </a:highlight>
                <a:latin typeface="Meiryo UI" panose="020B0604030504040204" pitchFamily="50" charset="-128"/>
                <a:ea typeface="Meiryo UI" panose="020B0604030504040204" pitchFamily="50" charset="-128"/>
              </a:rPr>
              <a:t>については、新システムとしての対応ではなく、</a:t>
            </a:r>
            <a:r>
              <a:rPr kumimoji="1" lang="en-US" altLang="ja-JP" sz="1200">
                <a:solidFill>
                  <a:schemeClr val="tx1"/>
                </a:solidFill>
                <a:highlight>
                  <a:srgbClr val="FFFF00"/>
                </a:highlight>
                <a:latin typeface="Meiryo UI" panose="020B0604030504040204" pitchFamily="50" charset="-128"/>
                <a:ea typeface="Meiryo UI" panose="020B0604030504040204" pitchFamily="50" charset="-128"/>
              </a:rPr>
              <a:t>ETL</a:t>
            </a:r>
            <a:r>
              <a:rPr kumimoji="1" lang="ja-JP" altLang="en-US" sz="1200">
                <a:solidFill>
                  <a:schemeClr val="tx1"/>
                </a:solidFill>
                <a:highlight>
                  <a:srgbClr val="FFFF00"/>
                </a:highlight>
                <a:latin typeface="Meiryo UI" panose="020B0604030504040204" pitchFamily="50" charset="-128"/>
                <a:ea typeface="Meiryo UI" panose="020B0604030504040204" pitchFamily="50" charset="-128"/>
              </a:rPr>
              <a:t>ツールの導入など本取組全体を通して対応する方針とする</a:t>
            </a:r>
            <a:endParaRPr kumimoji="1" lang="ja-JP" altLang="en-US" sz="1600">
              <a:solidFill>
                <a:schemeClr val="tx1"/>
              </a:solidFill>
              <a:highlight>
                <a:srgbClr val="FFFF00"/>
              </a:highlight>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88DF4028-ADD9-8C97-F689-445D59F19E79}"/>
              </a:ext>
            </a:extLst>
          </p:cNvPr>
          <p:cNvSpPr/>
          <p:nvPr/>
        </p:nvSpPr>
        <p:spPr>
          <a:xfrm>
            <a:off x="318376" y="3515844"/>
            <a:ext cx="1548524" cy="11816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b="1">
                <a:solidFill>
                  <a:schemeClr val="bg1"/>
                </a:solidFill>
                <a:latin typeface="Meiryo UI" panose="020B0604030504040204" pitchFamily="50" charset="-128"/>
                <a:ea typeface="Meiryo UI" panose="020B0604030504040204" pitchFamily="50" charset="-128"/>
              </a:rPr>
              <a:t>プロセス一本化</a:t>
            </a:r>
          </a:p>
        </p:txBody>
      </p:sp>
      <p:sp>
        <p:nvSpPr>
          <p:cNvPr id="7" name="正方形/長方形 6">
            <a:extLst>
              <a:ext uri="{FF2B5EF4-FFF2-40B4-BE49-F238E27FC236}">
                <a16:creationId xmlns:a16="http://schemas.microsoft.com/office/drawing/2014/main" id="{3EF00D9F-137A-FB0B-24D3-8B7F0B42B967}"/>
              </a:ext>
            </a:extLst>
          </p:cNvPr>
          <p:cNvSpPr/>
          <p:nvPr/>
        </p:nvSpPr>
        <p:spPr>
          <a:xfrm>
            <a:off x="1980611" y="4996116"/>
            <a:ext cx="2877138" cy="106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600">
                <a:solidFill>
                  <a:schemeClr val="tx1"/>
                </a:solidFill>
                <a:latin typeface="Meiryo UI" panose="020B0604030504040204" pitchFamily="50" charset="-128"/>
                <a:ea typeface="Meiryo UI" panose="020B0604030504040204" pitchFamily="50" charset="-128"/>
              </a:rPr>
              <a:t>プロセスが分かれていることにより、データ収集～算定が重複しており、時間と手間を要している</a:t>
            </a:r>
            <a:endParaRPr kumimoji="1" lang="en-US" altLang="ja-JP" sz="1600">
              <a:solidFill>
                <a:schemeClr val="tx1"/>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5A56057E-9D71-0985-6DD3-EB69C421531E}"/>
              </a:ext>
            </a:extLst>
          </p:cNvPr>
          <p:cNvSpPr/>
          <p:nvPr/>
        </p:nvSpPr>
        <p:spPr>
          <a:xfrm>
            <a:off x="4967999" y="4978054"/>
            <a:ext cx="3857625" cy="1180800"/>
          </a:xfrm>
          <a:prstGeom prst="rect">
            <a:avLst/>
          </a:prstGeom>
          <a:solidFill>
            <a:schemeClr val="accent2">
              <a:lumMod val="20000"/>
              <a:lumOff val="8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en-US" altLang="ja-JP" sz="1600">
                <a:solidFill>
                  <a:schemeClr val="tx1"/>
                </a:solidFill>
                <a:latin typeface="Meiryo UI" panose="020B0604030504040204" pitchFamily="50" charset="-128"/>
                <a:ea typeface="Meiryo UI" panose="020B0604030504040204" pitchFamily="50" charset="-128"/>
              </a:rPr>
              <a:t>SSBJ</a:t>
            </a:r>
            <a:r>
              <a:rPr kumimoji="1" lang="ja-JP" altLang="en-US" sz="1600">
                <a:solidFill>
                  <a:schemeClr val="tx1"/>
                </a:solidFill>
                <a:latin typeface="Meiryo UI" panose="020B0604030504040204" pitchFamily="50" charset="-128"/>
                <a:ea typeface="Meiryo UI" panose="020B0604030504040204" pitchFamily="50" charset="-128"/>
              </a:rPr>
              <a:t>で拠点業務の追加負担を軽減すべく、</a:t>
            </a:r>
            <a:r>
              <a:rPr kumimoji="1" lang="ja-JP" altLang="en-US" sz="1600" b="1" u="sng">
                <a:solidFill>
                  <a:schemeClr val="tx1"/>
                </a:solidFill>
                <a:latin typeface="Meiryo UI" panose="020B0604030504040204" pitchFamily="50" charset="-128"/>
                <a:ea typeface="Meiryo UI" panose="020B0604030504040204" pitchFamily="50" charset="-128"/>
              </a:rPr>
              <a:t>環境系報告全般の報告業務効率化</a:t>
            </a:r>
            <a:r>
              <a:rPr kumimoji="1" lang="ja-JP" altLang="en-US" sz="1600">
                <a:solidFill>
                  <a:schemeClr val="tx1"/>
                </a:solidFill>
                <a:latin typeface="Meiryo UI" panose="020B0604030504040204" pitchFamily="50" charset="-128"/>
                <a:ea typeface="Meiryo UI" panose="020B0604030504040204" pitchFamily="50" charset="-128"/>
              </a:rPr>
              <a:t>を</a:t>
            </a:r>
            <a:br>
              <a:rPr kumimoji="1" lang="en-US" altLang="ja-JP" sz="1600">
                <a:solidFill>
                  <a:schemeClr val="tx1"/>
                </a:solidFill>
                <a:latin typeface="Meiryo UI" panose="020B0604030504040204" pitchFamily="50" charset="-128"/>
                <a:ea typeface="Meiryo UI" panose="020B0604030504040204" pitchFamily="50" charset="-128"/>
              </a:rPr>
            </a:br>
            <a:r>
              <a:rPr kumimoji="1" lang="ja-JP" altLang="en-US" sz="1600">
                <a:solidFill>
                  <a:schemeClr val="tx1"/>
                </a:solidFill>
                <a:latin typeface="Meiryo UI" panose="020B0604030504040204" pitchFamily="50" charset="-128"/>
                <a:ea typeface="Meiryo UI" panose="020B0604030504040204" pitchFamily="50" charset="-128"/>
              </a:rPr>
              <a:t>目指す</a:t>
            </a:r>
            <a:br>
              <a:rPr kumimoji="1" lang="en-US" altLang="ja-JP" sz="1600">
                <a:solidFill>
                  <a:schemeClr val="tx1"/>
                </a:solidFill>
                <a:latin typeface="Meiryo UI" panose="020B0604030504040204" pitchFamily="50" charset="-128"/>
                <a:ea typeface="Meiryo UI" panose="020B0604030504040204" pitchFamily="50" charset="-128"/>
              </a:rPr>
            </a:br>
            <a:r>
              <a:rPr kumimoji="1" lang="en-US" altLang="ja-JP" sz="1200">
                <a:solidFill>
                  <a:schemeClr val="tx1"/>
                </a:solidFill>
                <a:highlight>
                  <a:srgbClr val="FFFF00"/>
                </a:highlight>
                <a:latin typeface="Meiryo UI" panose="020B0604030504040204" pitchFamily="50" charset="-128"/>
                <a:ea typeface="Meiryo UI" panose="020B0604030504040204" pitchFamily="50" charset="-128"/>
              </a:rPr>
              <a:t>※GXL</a:t>
            </a:r>
            <a:r>
              <a:rPr kumimoji="1" lang="ja-JP" altLang="en-US" sz="1200">
                <a:solidFill>
                  <a:schemeClr val="tx1"/>
                </a:solidFill>
                <a:highlight>
                  <a:srgbClr val="FFFF00"/>
                </a:highlight>
                <a:latin typeface="Meiryo UI" panose="020B0604030504040204" pitchFamily="50" charset="-128"/>
                <a:ea typeface="Meiryo UI" panose="020B0604030504040204" pitchFamily="50" charset="-128"/>
              </a:rPr>
              <a:t>については、新システムとしての対応ではなく、</a:t>
            </a:r>
            <a:r>
              <a:rPr kumimoji="1" lang="en-US" altLang="ja-JP" sz="1200">
                <a:solidFill>
                  <a:schemeClr val="tx1"/>
                </a:solidFill>
                <a:highlight>
                  <a:srgbClr val="FFFF00"/>
                </a:highlight>
                <a:latin typeface="Meiryo UI" panose="020B0604030504040204" pitchFamily="50" charset="-128"/>
                <a:ea typeface="Meiryo UI" panose="020B0604030504040204" pitchFamily="50" charset="-128"/>
              </a:rPr>
              <a:t>ETL</a:t>
            </a:r>
            <a:r>
              <a:rPr kumimoji="1" lang="ja-JP" altLang="en-US" sz="1200">
                <a:solidFill>
                  <a:schemeClr val="tx1"/>
                </a:solidFill>
                <a:highlight>
                  <a:srgbClr val="FFFF00"/>
                </a:highlight>
                <a:latin typeface="Meiryo UI" panose="020B0604030504040204" pitchFamily="50" charset="-128"/>
                <a:ea typeface="Meiryo UI" panose="020B0604030504040204" pitchFamily="50" charset="-128"/>
              </a:rPr>
              <a:t>ツールの導入など本取組全体を通して対応する方針とする</a:t>
            </a:r>
            <a:endParaRPr kumimoji="1" lang="en-US" altLang="ja-JP" sz="1200">
              <a:solidFill>
                <a:schemeClr val="tx1"/>
              </a:solidFill>
              <a:highlight>
                <a:srgbClr val="FFFF00"/>
              </a:highlight>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ACF1BC15-7FB1-8A42-45C7-FB26FAD4819E}"/>
              </a:ext>
            </a:extLst>
          </p:cNvPr>
          <p:cNvSpPr/>
          <p:nvPr/>
        </p:nvSpPr>
        <p:spPr>
          <a:xfrm>
            <a:off x="318376" y="4978054"/>
            <a:ext cx="1548524" cy="11816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b="1">
                <a:solidFill>
                  <a:schemeClr val="bg1"/>
                </a:solidFill>
                <a:latin typeface="Meiryo UI" panose="020B0604030504040204" pitchFamily="50" charset="-128"/>
                <a:ea typeface="Meiryo UI" panose="020B0604030504040204" pitchFamily="50" charset="-128"/>
              </a:rPr>
              <a:t>業務効率化</a:t>
            </a:r>
          </a:p>
        </p:txBody>
      </p:sp>
      <p:sp>
        <p:nvSpPr>
          <p:cNvPr id="25" name="楕円 24">
            <a:extLst>
              <a:ext uri="{FF2B5EF4-FFF2-40B4-BE49-F238E27FC236}">
                <a16:creationId xmlns:a16="http://schemas.microsoft.com/office/drawing/2014/main" id="{9D7C297D-CE74-07E8-20A9-52FA2C117F02}"/>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2" name="正方形/長方形 1">
            <a:extLst>
              <a:ext uri="{FF2B5EF4-FFF2-40B4-BE49-F238E27FC236}">
                <a16:creationId xmlns:a16="http://schemas.microsoft.com/office/drawing/2014/main" id="{B29FDF25-D763-EAE6-3D06-1DE44769050C}"/>
              </a:ext>
            </a:extLst>
          </p:cNvPr>
          <p:cNvSpPr/>
          <p:nvPr/>
        </p:nvSpPr>
        <p:spPr>
          <a:xfrm>
            <a:off x="232820" y="1965964"/>
            <a:ext cx="230533" cy="228653"/>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200">
                <a:solidFill>
                  <a:schemeClr val="bg1"/>
                </a:solidFill>
                <a:latin typeface="Meiryo UI" panose="020B0604030504040204" pitchFamily="50" charset="-128"/>
                <a:ea typeface="Meiryo UI" panose="020B0604030504040204" pitchFamily="50" charset="-128"/>
              </a:rPr>
              <a:t>1</a:t>
            </a:r>
            <a:endParaRPr kumimoji="1" lang="ja-JP" altLang="en-US" sz="1200">
              <a:solidFill>
                <a:schemeClr val="bg1"/>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BC2AFFCD-46CB-C144-2F5E-17B08834B92F}"/>
              </a:ext>
            </a:extLst>
          </p:cNvPr>
          <p:cNvSpPr/>
          <p:nvPr/>
        </p:nvSpPr>
        <p:spPr>
          <a:xfrm>
            <a:off x="223877" y="3404184"/>
            <a:ext cx="230533" cy="228653"/>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200">
                <a:solidFill>
                  <a:schemeClr val="bg1"/>
                </a:solidFill>
                <a:latin typeface="Meiryo UI" panose="020B0604030504040204" pitchFamily="50" charset="-128"/>
                <a:ea typeface="Meiryo UI" panose="020B0604030504040204" pitchFamily="50" charset="-128"/>
              </a:rPr>
              <a:t>2</a:t>
            </a:r>
            <a:endParaRPr kumimoji="1" lang="ja-JP" altLang="en-US" sz="1200">
              <a:solidFill>
                <a:schemeClr val="bg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85B9EC12-2DD2-5011-2E14-8BF5714E60BE}"/>
              </a:ext>
            </a:extLst>
          </p:cNvPr>
          <p:cNvSpPr/>
          <p:nvPr/>
        </p:nvSpPr>
        <p:spPr>
          <a:xfrm>
            <a:off x="223877" y="4860955"/>
            <a:ext cx="230533" cy="228653"/>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200">
                <a:solidFill>
                  <a:schemeClr val="bg1"/>
                </a:solidFill>
                <a:latin typeface="Meiryo UI" panose="020B0604030504040204" pitchFamily="50" charset="-128"/>
                <a:ea typeface="Meiryo UI" panose="020B0604030504040204" pitchFamily="50" charset="-128"/>
              </a:rPr>
              <a:t>3</a:t>
            </a:r>
            <a:endParaRPr kumimoji="1" lang="ja-JP" altLang="en-US" sz="1200">
              <a:solidFill>
                <a:schemeClr val="bg1"/>
              </a:solidFill>
              <a:latin typeface="Meiryo UI" panose="020B0604030504040204" pitchFamily="50" charset="-128"/>
              <a:ea typeface="Meiryo UI" panose="020B0604030504040204" pitchFamily="50" charset="-128"/>
            </a:endParaRPr>
          </a:p>
        </p:txBody>
      </p:sp>
      <p:sp>
        <p:nvSpPr>
          <p:cNvPr id="22" name="四角形: 角を丸くする 21">
            <a:extLst>
              <a:ext uri="{FF2B5EF4-FFF2-40B4-BE49-F238E27FC236}">
                <a16:creationId xmlns:a16="http://schemas.microsoft.com/office/drawing/2014/main" id="{D2016463-7797-3777-D0FD-DF651BA62019}"/>
              </a:ext>
            </a:extLst>
          </p:cNvPr>
          <p:cNvSpPr/>
          <p:nvPr/>
        </p:nvSpPr>
        <p:spPr>
          <a:xfrm>
            <a:off x="6115179" y="117360"/>
            <a:ext cx="2632821" cy="34435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は新システムとしての対応ではない旨を記載</a:t>
            </a:r>
          </a:p>
        </p:txBody>
      </p:sp>
    </p:spTree>
    <p:extLst>
      <p:ext uri="{BB962C8B-B14F-4D97-AF65-F5344CB8AC3E}">
        <p14:creationId xmlns:p14="http://schemas.microsoft.com/office/powerpoint/2010/main" val="1843012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二等辺三角形 59">
            <a:extLst>
              <a:ext uri="{FF2B5EF4-FFF2-40B4-BE49-F238E27FC236}">
                <a16:creationId xmlns:a16="http://schemas.microsoft.com/office/drawing/2014/main" id="{9C3E7FE0-627F-A1AC-36FD-0C2B757C8116}"/>
              </a:ext>
            </a:extLst>
          </p:cNvPr>
          <p:cNvSpPr/>
          <p:nvPr/>
        </p:nvSpPr>
        <p:spPr>
          <a:xfrm rot="5400000">
            <a:off x="3069403" y="3964736"/>
            <a:ext cx="3100950" cy="23761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58" name="正方形/長方形 223">
            <a:extLst>
              <a:ext uri="{FF2B5EF4-FFF2-40B4-BE49-F238E27FC236}">
                <a16:creationId xmlns:a16="http://schemas.microsoft.com/office/drawing/2014/main" id="{C8301A74-3021-7FB2-D0E3-504BD261CCD6}"/>
              </a:ext>
            </a:extLst>
          </p:cNvPr>
          <p:cNvSpPr/>
          <p:nvPr/>
        </p:nvSpPr>
        <p:spPr bwMode="gray">
          <a:xfrm>
            <a:off x="3467394" y="2297081"/>
            <a:ext cx="816134" cy="1097709"/>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算定・報告</a:t>
            </a:r>
            <a:endParaRPr lang="en-US" altLang="ja-JP" sz="1050" b="1">
              <a:latin typeface="Meiryo UI" panose="020B0604030504040204" pitchFamily="50" charset="-128"/>
              <a:ea typeface="Meiryo UI" panose="020B0604030504040204" pitchFamily="50" charset="-128"/>
            </a:endParaRPr>
          </a:p>
          <a:p>
            <a:pPr defTabSz="1219170">
              <a:lnSpc>
                <a:spcPct val="106000"/>
              </a:lnSpc>
            </a:pPr>
            <a:r>
              <a:rPr lang="en-US" altLang="ja-JP" sz="1050" b="1">
                <a:latin typeface="Meiryo UI" panose="020B0604030504040204" pitchFamily="50" charset="-128"/>
                <a:ea typeface="Meiryo UI" panose="020B0604030504040204" pitchFamily="50" charset="-128"/>
              </a:rPr>
              <a:t>(GX</a:t>
            </a:r>
            <a:r>
              <a:rPr lang="ja-JP" altLang="en-US" sz="1050" b="1">
                <a:latin typeface="Meiryo UI" panose="020B0604030504040204" pitchFamily="50" charset="-128"/>
                <a:ea typeface="Meiryo UI" panose="020B0604030504040204" pitchFamily="50" charset="-128"/>
              </a:rPr>
              <a:t>リーグ</a:t>
            </a:r>
            <a:r>
              <a:rPr lang="en-US" altLang="ja-JP" sz="1050" b="1">
                <a:latin typeface="Meiryo UI" panose="020B0604030504040204" pitchFamily="50" charset="-128"/>
                <a:ea typeface="Meiryo UI" panose="020B0604030504040204" pitchFamily="50" charset="-128"/>
              </a:rPr>
              <a:t>)</a:t>
            </a:r>
          </a:p>
        </p:txBody>
      </p:sp>
      <p:sp>
        <p:nvSpPr>
          <p:cNvPr id="8" name="正方形/長方形 223">
            <a:extLst>
              <a:ext uri="{FF2B5EF4-FFF2-40B4-BE49-F238E27FC236}">
                <a16:creationId xmlns:a16="http://schemas.microsoft.com/office/drawing/2014/main" id="{031C548C-C8CA-BC45-4439-2F5ED9D866AC}"/>
              </a:ext>
            </a:extLst>
          </p:cNvPr>
          <p:cNvSpPr/>
          <p:nvPr/>
        </p:nvSpPr>
        <p:spPr bwMode="gray">
          <a:xfrm>
            <a:off x="323527" y="2288915"/>
            <a:ext cx="1223027" cy="2292213"/>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データ提供</a:t>
            </a:r>
          </a:p>
        </p:txBody>
      </p:sp>
      <p:sp>
        <p:nvSpPr>
          <p:cNvPr id="2" name="タイトル 1">
            <a:extLst>
              <a:ext uri="{FF2B5EF4-FFF2-40B4-BE49-F238E27FC236}">
                <a16:creationId xmlns:a16="http://schemas.microsoft.com/office/drawing/2014/main" id="{452A2DBE-B11E-6C9F-B321-4AD82E3987DA}"/>
              </a:ext>
            </a:extLst>
          </p:cNvPr>
          <p:cNvSpPr>
            <a:spLocks noGrp="1"/>
          </p:cNvSpPr>
          <p:nvPr>
            <p:ph type="title"/>
          </p:nvPr>
        </p:nvSpPr>
        <p:spPr/>
        <p:txBody>
          <a:bodyPr/>
          <a:lstStyle/>
          <a:p>
            <a:r>
              <a:rPr kumimoji="1" lang="en-US" altLang="ja-JP">
                <a:latin typeface="Meiryo UI" panose="020B0604030504040204" pitchFamily="50" charset="-128"/>
                <a:ea typeface="Meiryo UI" panose="020B0604030504040204" pitchFamily="50" charset="-128"/>
              </a:rPr>
              <a:t>ESG</a:t>
            </a:r>
            <a:r>
              <a:rPr kumimoji="1" lang="ja-JP" altLang="en-US">
                <a:latin typeface="Meiryo UI" panose="020B0604030504040204" pitchFamily="50" charset="-128"/>
                <a:ea typeface="Meiryo UI" panose="020B0604030504040204" pitchFamily="50" charset="-128"/>
              </a:rPr>
              <a:t>システム導入による課題解決コンセプト</a:t>
            </a:r>
          </a:p>
        </p:txBody>
      </p:sp>
      <p:sp>
        <p:nvSpPr>
          <p:cNvPr id="3" name="スライド番号プレースホルダー 2">
            <a:extLst>
              <a:ext uri="{FF2B5EF4-FFF2-40B4-BE49-F238E27FC236}">
                <a16:creationId xmlns:a16="http://schemas.microsoft.com/office/drawing/2014/main" id="{0FFCEFCC-D04A-BDD2-FDA4-6B717D0D3183}"/>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9</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C029823F-A0A0-3664-FBDD-19115172971F}"/>
              </a:ext>
            </a:extLst>
          </p:cNvPr>
          <p:cNvSpPr>
            <a:spLocks noGrp="1"/>
          </p:cNvSpPr>
          <p:nvPr>
            <p:ph type="body" sz="quarter" idx="13"/>
          </p:nvPr>
        </p:nvSpPr>
        <p:spPr/>
        <p:txBody>
          <a:bodyPr>
            <a:noAutofit/>
          </a:bodyPr>
          <a:lstStyle/>
          <a:p>
            <a:r>
              <a:rPr kumimoji="1" lang="ja-JP" altLang="en-US"/>
              <a:t>業務プロセスが報告書で分岐しているため</a:t>
            </a:r>
            <a:r>
              <a:rPr lang="ja-JP" altLang="en-US"/>
              <a:t>非効率化している現状から、</a:t>
            </a:r>
            <a:r>
              <a:rPr lang="en-US" altLang="ja-JP"/>
              <a:t>SSBJ</a:t>
            </a:r>
            <a:r>
              <a:rPr lang="ja-JP" altLang="en-US"/>
              <a:t>を含めて報告プロセスを一本化し、システムを使った統合管理とすることで業務効率化を図る</a:t>
            </a:r>
            <a:endParaRPr kumimoji="1" lang="ja-JP" altLang="en-US"/>
          </a:p>
        </p:txBody>
      </p:sp>
      <p:sp>
        <p:nvSpPr>
          <p:cNvPr id="5" name="Freeform 108">
            <a:extLst>
              <a:ext uri="{FF2B5EF4-FFF2-40B4-BE49-F238E27FC236}">
                <a16:creationId xmlns:a16="http://schemas.microsoft.com/office/drawing/2014/main" id="{DA293D0A-EBD0-E5AA-0F37-6E2B2D635616}"/>
              </a:ext>
            </a:extLst>
          </p:cNvPr>
          <p:cNvSpPr>
            <a:spLocks/>
          </p:cNvSpPr>
          <p:nvPr/>
        </p:nvSpPr>
        <p:spPr bwMode="auto">
          <a:xfrm>
            <a:off x="896436" y="2612909"/>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pic>
        <p:nvPicPr>
          <p:cNvPr id="6" name="Picture 185">
            <a:extLst>
              <a:ext uri="{FF2B5EF4-FFF2-40B4-BE49-F238E27FC236}">
                <a16:creationId xmlns:a16="http://schemas.microsoft.com/office/drawing/2014/main" id="{024E1DB7-A5CF-8DBA-FD33-4A0BB6D6336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53878" y="2755150"/>
            <a:ext cx="223206" cy="216000"/>
          </a:xfrm>
          <a:prstGeom prst="rect">
            <a:avLst/>
          </a:prstGeom>
        </p:spPr>
      </p:pic>
      <p:sp>
        <p:nvSpPr>
          <p:cNvPr id="9" name="正方形/長方形 8">
            <a:extLst>
              <a:ext uri="{FF2B5EF4-FFF2-40B4-BE49-F238E27FC236}">
                <a16:creationId xmlns:a16="http://schemas.microsoft.com/office/drawing/2014/main" id="{8DEC2949-E451-FC58-1AB4-074D062DF9B0}"/>
              </a:ext>
            </a:extLst>
          </p:cNvPr>
          <p:cNvSpPr/>
          <p:nvPr/>
        </p:nvSpPr>
        <p:spPr>
          <a:xfrm>
            <a:off x="714903" y="2928039"/>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製油所</a:t>
            </a:r>
            <a:r>
              <a:rPr kumimoji="1" lang="en-US" altLang="ja-JP" sz="800">
                <a:solidFill>
                  <a:schemeClr val="tx1"/>
                </a:solidFill>
                <a:latin typeface="Meiryo UI" panose="020B0604030504040204" pitchFamily="50" charset="-128"/>
                <a:ea typeface="Meiryo UI" panose="020B0604030504040204" pitchFamily="50" charset="-128"/>
              </a:rPr>
              <a:t>A</a:t>
            </a:r>
            <a:r>
              <a:rPr kumimoji="1" lang="ja-JP" altLang="en-US" sz="800">
                <a:solidFill>
                  <a:schemeClr val="tx1"/>
                </a:solidFill>
                <a:latin typeface="Meiryo UI" panose="020B0604030504040204" pitchFamily="50" charset="-128"/>
                <a:ea typeface="Meiryo UI" panose="020B0604030504040204" pitchFamily="50" charset="-128"/>
              </a:rPr>
              <a:t>担当者</a:t>
            </a:r>
          </a:p>
        </p:txBody>
      </p:sp>
      <p:sp>
        <p:nvSpPr>
          <p:cNvPr id="10" name="正方形/長方形 25">
            <a:extLst>
              <a:ext uri="{FF2B5EF4-FFF2-40B4-BE49-F238E27FC236}">
                <a16:creationId xmlns:a16="http://schemas.microsoft.com/office/drawing/2014/main" id="{6C768AEF-6615-938B-5121-CFC16B854BD4}"/>
              </a:ext>
            </a:extLst>
          </p:cNvPr>
          <p:cNvSpPr/>
          <p:nvPr/>
        </p:nvSpPr>
        <p:spPr bwMode="gray">
          <a:xfrm>
            <a:off x="323528" y="1530649"/>
            <a:ext cx="4159174" cy="196707"/>
          </a:xfrm>
          <a:prstGeom prst="rect">
            <a:avLst/>
          </a:prstGeom>
          <a:solidFill>
            <a:srgbClr val="75787B"/>
          </a:solidFill>
          <a:ln w="12700" algn="ctr">
            <a:solidFill>
              <a:srgbClr val="75787B"/>
            </a:solidFill>
            <a:miter lim="800000"/>
            <a:headEnd/>
            <a:tailEnd/>
          </a:ln>
        </p:spPr>
        <p:txBody>
          <a:bodyPr wrap="square" lIns="36000" tIns="36000" rIns="36000" bIns="36000" rtlCol="0" anchor="ctr"/>
          <a:lstStyle/>
          <a:p>
            <a:pPr algn="ctr" fontAlgn="auto">
              <a:spcBef>
                <a:spcPts val="0"/>
              </a:spcBef>
              <a:spcAft>
                <a:spcPts val="0"/>
              </a:spcAft>
              <a:defRPr/>
            </a:pPr>
            <a:r>
              <a:rPr lang="en-US" altLang="ja-JP" sz="1400" b="1" kern="0">
                <a:solidFill>
                  <a:srgbClr val="FFFFFF"/>
                </a:solidFill>
                <a:latin typeface="Meiryo UI" panose="020B0604030504040204" pitchFamily="50" charset="-128"/>
                <a:ea typeface="Meiryo UI" panose="020B0604030504040204" pitchFamily="50" charset="-128"/>
                <a:cs typeface="Meiryo" charset="-128"/>
              </a:rPr>
              <a:t>Before</a:t>
            </a:r>
            <a:endParaRPr lang="ja-JP" altLang="en-US" sz="1400" b="1" kern="0">
              <a:solidFill>
                <a:srgbClr val="FFFFFF"/>
              </a:solidFill>
              <a:latin typeface="Meiryo UI" panose="020B0604030504040204" pitchFamily="50" charset="-128"/>
              <a:ea typeface="Meiryo UI" panose="020B0604030504040204" pitchFamily="50" charset="-128"/>
              <a:cs typeface="Meiryo" charset="-128"/>
            </a:endParaRPr>
          </a:p>
        </p:txBody>
      </p:sp>
      <p:sp>
        <p:nvSpPr>
          <p:cNvPr id="11" name="正方形/長方形 25">
            <a:extLst>
              <a:ext uri="{FF2B5EF4-FFF2-40B4-BE49-F238E27FC236}">
                <a16:creationId xmlns:a16="http://schemas.microsoft.com/office/drawing/2014/main" id="{8E905C8D-2E2B-5200-13B7-661C1EEEC138}"/>
              </a:ext>
            </a:extLst>
          </p:cNvPr>
          <p:cNvSpPr/>
          <p:nvPr/>
        </p:nvSpPr>
        <p:spPr bwMode="gray">
          <a:xfrm>
            <a:off x="4661300" y="1530649"/>
            <a:ext cx="4148589" cy="196707"/>
          </a:xfrm>
          <a:prstGeom prst="rect">
            <a:avLst/>
          </a:prstGeom>
          <a:solidFill>
            <a:srgbClr val="C00000"/>
          </a:solidFill>
          <a:ln w="12700" algn="ctr">
            <a:noFill/>
            <a:miter lim="800000"/>
            <a:headEnd/>
            <a:tailEnd/>
          </a:ln>
        </p:spPr>
        <p:txBody>
          <a:bodyPr wrap="square" lIns="36000" tIns="36000" rIns="36000" bIns="36000" rtlCol="0" anchor="ctr"/>
          <a:lstStyle/>
          <a:p>
            <a:pPr algn="ctr" fontAlgn="auto">
              <a:spcBef>
                <a:spcPts val="0"/>
              </a:spcBef>
              <a:spcAft>
                <a:spcPts val="0"/>
              </a:spcAft>
              <a:defRPr/>
            </a:pPr>
            <a:r>
              <a:rPr lang="en-US" altLang="ja-JP" sz="1400" b="1" kern="0">
                <a:solidFill>
                  <a:srgbClr val="FFFFFF"/>
                </a:solidFill>
                <a:latin typeface="Meiryo UI" panose="020B0604030504040204" pitchFamily="50" charset="-128"/>
                <a:ea typeface="Meiryo UI" panose="020B0604030504040204" pitchFamily="50" charset="-128"/>
                <a:cs typeface="Meiryo" charset="-128"/>
              </a:rPr>
              <a:t>After</a:t>
            </a:r>
            <a:endParaRPr lang="ja-JP" altLang="en-US" sz="1400" b="1" kern="0">
              <a:solidFill>
                <a:srgbClr val="FFFFFF"/>
              </a:solidFill>
              <a:latin typeface="Meiryo UI" panose="020B0604030504040204" pitchFamily="50" charset="-128"/>
              <a:ea typeface="Meiryo UI" panose="020B0604030504040204" pitchFamily="50" charset="-128"/>
              <a:cs typeface="Meiryo" charset="-128"/>
            </a:endParaRPr>
          </a:p>
        </p:txBody>
      </p:sp>
      <p:sp>
        <p:nvSpPr>
          <p:cNvPr id="12" name="フローチャート: 磁気ディスク 11">
            <a:extLst>
              <a:ext uri="{FF2B5EF4-FFF2-40B4-BE49-F238E27FC236}">
                <a16:creationId xmlns:a16="http://schemas.microsoft.com/office/drawing/2014/main" id="{2319F6C1-C876-DD35-6B1A-40B5E5ED7810}"/>
              </a:ext>
            </a:extLst>
          </p:cNvPr>
          <p:cNvSpPr/>
          <p:nvPr/>
        </p:nvSpPr>
        <p:spPr>
          <a:xfrm>
            <a:off x="323528" y="2627568"/>
            <a:ext cx="516155" cy="285805"/>
          </a:xfrm>
          <a:prstGeom prst="flowChartMagneticDisk">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拠点</a:t>
            </a:r>
            <a:endParaRPr kumimoji="1" lang="en-US" altLang="ja-JP" sz="800">
              <a:solidFill>
                <a:schemeClr val="tx1"/>
              </a:solidFill>
              <a:latin typeface="Meiryo UI" panose="020B0604030504040204" pitchFamily="50" charset="-128"/>
              <a:ea typeface="Meiryo UI" panose="020B0604030504040204" pitchFamily="50" charset="-128"/>
            </a:endParaRPr>
          </a:p>
          <a:p>
            <a:pPr algn="ctr"/>
            <a:r>
              <a:rPr kumimoji="1" lang="ja-JP" altLang="en-US" sz="800">
                <a:solidFill>
                  <a:schemeClr val="tx1"/>
                </a:solidFill>
                <a:latin typeface="Meiryo UI" panose="020B0604030504040204" pitchFamily="50" charset="-128"/>
                <a:ea typeface="Meiryo UI" panose="020B0604030504040204" pitchFamily="50" charset="-128"/>
              </a:rPr>
              <a:t>システム</a:t>
            </a:r>
          </a:p>
        </p:txBody>
      </p:sp>
      <p:sp>
        <p:nvSpPr>
          <p:cNvPr id="14" name="正方形/長方形 223">
            <a:extLst>
              <a:ext uri="{FF2B5EF4-FFF2-40B4-BE49-F238E27FC236}">
                <a16:creationId xmlns:a16="http://schemas.microsoft.com/office/drawing/2014/main" id="{2826CCDE-D558-D1A5-EB80-BD1E49A39ED6}"/>
              </a:ext>
            </a:extLst>
          </p:cNvPr>
          <p:cNvSpPr/>
          <p:nvPr/>
        </p:nvSpPr>
        <p:spPr bwMode="gray">
          <a:xfrm>
            <a:off x="1768633" y="3703486"/>
            <a:ext cx="1440160" cy="863186"/>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データ収集</a:t>
            </a:r>
            <a:r>
              <a:rPr lang="en-US" altLang="ja-JP" sz="1050" b="1">
                <a:latin typeface="Meiryo UI" panose="020B0604030504040204" pitchFamily="50" charset="-128"/>
                <a:ea typeface="Meiryo UI" panose="020B0604030504040204" pitchFamily="50" charset="-128"/>
              </a:rPr>
              <a:t>(</a:t>
            </a:r>
            <a:r>
              <a:rPr lang="ja-JP" altLang="en-US" sz="1050" b="1">
                <a:latin typeface="Meiryo UI" panose="020B0604030504040204" pitchFamily="50" charset="-128"/>
                <a:ea typeface="Meiryo UI" panose="020B0604030504040204" pitchFamily="50" charset="-128"/>
              </a:rPr>
              <a:t>温対法</a:t>
            </a:r>
            <a:r>
              <a:rPr lang="en-US" altLang="ja-JP" sz="1050" b="1">
                <a:latin typeface="Meiryo UI" panose="020B0604030504040204" pitchFamily="50" charset="-128"/>
                <a:ea typeface="Meiryo UI" panose="020B0604030504040204" pitchFamily="50" charset="-128"/>
              </a:rPr>
              <a:t>)</a:t>
            </a:r>
          </a:p>
        </p:txBody>
      </p:sp>
      <p:sp>
        <p:nvSpPr>
          <p:cNvPr id="17" name="フローチャート: 磁気ディスク 16">
            <a:extLst>
              <a:ext uri="{FF2B5EF4-FFF2-40B4-BE49-F238E27FC236}">
                <a16:creationId xmlns:a16="http://schemas.microsoft.com/office/drawing/2014/main" id="{85D08514-F3BC-D604-F25E-80DA922034DD}"/>
              </a:ext>
            </a:extLst>
          </p:cNvPr>
          <p:cNvSpPr/>
          <p:nvPr/>
        </p:nvSpPr>
        <p:spPr>
          <a:xfrm>
            <a:off x="2230635" y="3949853"/>
            <a:ext cx="516155" cy="214730"/>
          </a:xfrm>
          <a:prstGeom prst="flowChartMagneticDisk">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a:solidFill>
                  <a:schemeClr val="tx1"/>
                </a:solidFill>
                <a:latin typeface="Meiryo UI" panose="020B0604030504040204" pitchFamily="50" charset="-128"/>
                <a:ea typeface="Meiryo UI" panose="020B0604030504040204" pitchFamily="50" charset="-128"/>
              </a:rPr>
              <a:t>GGX</a:t>
            </a:r>
            <a:endParaRPr kumimoji="1" lang="ja-JP" altLang="en-US" sz="800">
              <a:solidFill>
                <a:schemeClr val="tx1"/>
              </a:solidFill>
              <a:latin typeface="Meiryo UI" panose="020B0604030504040204" pitchFamily="50" charset="-128"/>
              <a:ea typeface="Meiryo UI" panose="020B0604030504040204" pitchFamily="50" charset="-128"/>
            </a:endParaRPr>
          </a:p>
        </p:txBody>
      </p:sp>
      <p:sp>
        <p:nvSpPr>
          <p:cNvPr id="19" name="Freeform 108">
            <a:extLst>
              <a:ext uri="{FF2B5EF4-FFF2-40B4-BE49-F238E27FC236}">
                <a16:creationId xmlns:a16="http://schemas.microsoft.com/office/drawing/2014/main" id="{952BFEE6-5661-31A8-684F-EB12028E49AE}"/>
              </a:ext>
            </a:extLst>
          </p:cNvPr>
          <p:cNvSpPr>
            <a:spLocks/>
          </p:cNvSpPr>
          <p:nvPr/>
        </p:nvSpPr>
        <p:spPr bwMode="auto">
          <a:xfrm>
            <a:off x="3048018" y="3517896"/>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22E5C677-07C8-2C07-20C8-8B9D9BAB2EA9}"/>
              </a:ext>
            </a:extLst>
          </p:cNvPr>
          <p:cNvSpPr/>
          <p:nvPr/>
        </p:nvSpPr>
        <p:spPr>
          <a:xfrm>
            <a:off x="2640730" y="3543909"/>
            <a:ext cx="516155"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安環</a:t>
            </a:r>
          </a:p>
        </p:txBody>
      </p:sp>
      <p:cxnSp>
        <p:nvCxnSpPr>
          <p:cNvPr id="32" name="直線矢印コネクタ 219">
            <a:extLst>
              <a:ext uri="{FF2B5EF4-FFF2-40B4-BE49-F238E27FC236}">
                <a16:creationId xmlns:a16="http://schemas.microsoft.com/office/drawing/2014/main" id="{61FD5B0C-CC17-BD88-9019-7DD053F06612}"/>
              </a:ext>
            </a:extLst>
          </p:cNvPr>
          <p:cNvCxnSpPr>
            <a:cxnSpLocks/>
            <a:stCxn id="6" idx="3"/>
            <a:endCxn id="17" idx="2"/>
          </p:cNvCxnSpPr>
          <p:nvPr/>
        </p:nvCxnSpPr>
        <p:spPr bwMode="gray">
          <a:xfrm>
            <a:off x="1277084" y="2863150"/>
            <a:ext cx="953551" cy="1194068"/>
          </a:xfrm>
          <a:prstGeom prst="bentConnector3">
            <a:avLst>
              <a:gd name="adj1" fmla="val 38935"/>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2" name="四角形: 角を丸くする 41">
            <a:extLst>
              <a:ext uri="{FF2B5EF4-FFF2-40B4-BE49-F238E27FC236}">
                <a16:creationId xmlns:a16="http://schemas.microsoft.com/office/drawing/2014/main" id="{BF62120C-B2C0-B27E-66BF-C1550C5DD18F}"/>
              </a:ext>
            </a:extLst>
          </p:cNvPr>
          <p:cNvSpPr/>
          <p:nvPr/>
        </p:nvSpPr>
        <p:spPr>
          <a:xfrm>
            <a:off x="432120" y="4710423"/>
            <a:ext cx="1005840" cy="296090"/>
          </a:xfrm>
          <a:prstGeom prst="round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700">
                <a:solidFill>
                  <a:schemeClr val="tx1"/>
                </a:solidFill>
                <a:latin typeface="Meiryo UI" panose="020B0604030504040204" pitchFamily="50" charset="-128"/>
                <a:ea typeface="Meiryo UI" panose="020B0604030504040204" pitchFamily="50" charset="-128"/>
              </a:rPr>
              <a:t>その他外部報告機関</a:t>
            </a:r>
            <a:endParaRPr kumimoji="1" lang="en-US" altLang="ja-JP" sz="700">
              <a:solidFill>
                <a:schemeClr val="tx1"/>
              </a:solidFill>
              <a:latin typeface="Meiryo UI" panose="020B0604030504040204" pitchFamily="50" charset="-128"/>
              <a:ea typeface="Meiryo UI" panose="020B0604030504040204" pitchFamily="50" charset="-128"/>
            </a:endParaRPr>
          </a:p>
          <a:p>
            <a:pPr algn="ctr"/>
            <a:r>
              <a:rPr kumimoji="1" lang="en-US" altLang="ja-JP" sz="700">
                <a:solidFill>
                  <a:schemeClr val="tx1"/>
                </a:solidFill>
                <a:latin typeface="Meiryo UI" panose="020B0604030504040204" pitchFamily="50" charset="-128"/>
                <a:ea typeface="Meiryo UI" panose="020B0604030504040204" pitchFamily="50" charset="-128"/>
              </a:rPr>
              <a:t>(</a:t>
            </a:r>
            <a:r>
              <a:rPr kumimoji="1" lang="zh-TW" altLang="en-US" sz="700">
                <a:solidFill>
                  <a:schemeClr val="tx1"/>
                </a:solidFill>
                <a:latin typeface="Meiryo UI" panose="020B0604030504040204" pitchFamily="50" charset="-128"/>
                <a:ea typeface="Meiryo UI" panose="020B0604030504040204" pitchFamily="50" charset="-128"/>
              </a:rPr>
              <a:t>指定統計</a:t>
            </a:r>
            <a:r>
              <a:rPr kumimoji="1" lang="ja-JP" altLang="en-US" sz="700">
                <a:solidFill>
                  <a:schemeClr val="tx1"/>
                </a:solidFill>
                <a:latin typeface="Meiryo UI" panose="020B0604030504040204" pitchFamily="50" charset="-128"/>
                <a:ea typeface="Meiryo UI" panose="020B0604030504040204" pitchFamily="50" charset="-128"/>
              </a:rPr>
              <a:t>・</a:t>
            </a:r>
            <a:r>
              <a:rPr kumimoji="1" lang="zh-TW" altLang="en-US" sz="700">
                <a:solidFill>
                  <a:schemeClr val="tx1"/>
                </a:solidFill>
                <a:latin typeface="Meiryo UI" panose="020B0604030504040204" pitchFamily="50" charset="-128"/>
                <a:ea typeface="Meiryo UI" panose="020B0604030504040204" pitchFamily="50" charset="-128"/>
              </a:rPr>
              <a:t>発受電月報</a:t>
            </a:r>
            <a:r>
              <a:rPr kumimoji="1" lang="ja-JP" altLang="en-US" sz="700">
                <a:solidFill>
                  <a:schemeClr val="tx1"/>
                </a:solidFill>
                <a:latin typeface="Meiryo UI" panose="020B0604030504040204" pitchFamily="50" charset="-128"/>
                <a:ea typeface="Meiryo UI" panose="020B0604030504040204" pitchFamily="50" charset="-128"/>
              </a:rPr>
              <a:t>等</a:t>
            </a:r>
            <a:r>
              <a:rPr kumimoji="1" lang="en-US" altLang="ja-JP" sz="700">
                <a:solidFill>
                  <a:schemeClr val="tx1"/>
                </a:solidFill>
                <a:latin typeface="Meiryo UI" panose="020B0604030504040204" pitchFamily="50" charset="-128"/>
                <a:ea typeface="Meiryo UI" panose="020B0604030504040204" pitchFamily="50" charset="-128"/>
              </a:rPr>
              <a:t>)</a:t>
            </a:r>
            <a:endParaRPr kumimoji="1" lang="ja-JP" altLang="en-US" sz="700">
              <a:solidFill>
                <a:schemeClr val="tx1"/>
              </a:solidFill>
              <a:latin typeface="Meiryo UI" panose="020B0604030504040204" pitchFamily="50" charset="-128"/>
              <a:ea typeface="Meiryo UI" panose="020B0604030504040204" pitchFamily="50" charset="-128"/>
            </a:endParaRPr>
          </a:p>
        </p:txBody>
      </p:sp>
      <p:sp>
        <p:nvSpPr>
          <p:cNvPr id="49" name="Freeform 108">
            <a:extLst>
              <a:ext uri="{FF2B5EF4-FFF2-40B4-BE49-F238E27FC236}">
                <a16:creationId xmlns:a16="http://schemas.microsoft.com/office/drawing/2014/main" id="{0FE8D01D-D099-CF36-FA29-381D9D2D5585}"/>
              </a:ext>
            </a:extLst>
          </p:cNvPr>
          <p:cNvSpPr>
            <a:spLocks/>
          </p:cNvSpPr>
          <p:nvPr/>
        </p:nvSpPr>
        <p:spPr bwMode="auto">
          <a:xfrm>
            <a:off x="896436" y="3140031"/>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pic>
        <p:nvPicPr>
          <p:cNvPr id="50" name="Picture 185">
            <a:extLst>
              <a:ext uri="{FF2B5EF4-FFF2-40B4-BE49-F238E27FC236}">
                <a16:creationId xmlns:a16="http://schemas.microsoft.com/office/drawing/2014/main" id="{8988400A-918F-343D-A132-6653711DD37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53878" y="3282272"/>
            <a:ext cx="223206" cy="216000"/>
          </a:xfrm>
          <a:prstGeom prst="rect">
            <a:avLst/>
          </a:prstGeom>
        </p:spPr>
      </p:pic>
      <p:sp>
        <p:nvSpPr>
          <p:cNvPr id="51" name="正方形/長方形 50">
            <a:extLst>
              <a:ext uri="{FF2B5EF4-FFF2-40B4-BE49-F238E27FC236}">
                <a16:creationId xmlns:a16="http://schemas.microsoft.com/office/drawing/2014/main" id="{4B11997C-300C-4740-1FF2-49787C2C5BD7}"/>
              </a:ext>
            </a:extLst>
          </p:cNvPr>
          <p:cNvSpPr/>
          <p:nvPr/>
        </p:nvSpPr>
        <p:spPr>
          <a:xfrm>
            <a:off x="714903" y="3455161"/>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拠点</a:t>
            </a:r>
            <a:r>
              <a:rPr kumimoji="1" lang="en-US" altLang="ja-JP" sz="800">
                <a:solidFill>
                  <a:schemeClr val="tx1"/>
                </a:solidFill>
                <a:latin typeface="Meiryo UI" panose="020B0604030504040204" pitchFamily="50" charset="-128"/>
                <a:ea typeface="Meiryo UI" panose="020B0604030504040204" pitchFamily="50" charset="-128"/>
              </a:rPr>
              <a:t>B</a:t>
            </a:r>
            <a:r>
              <a:rPr kumimoji="1" lang="ja-JP" altLang="en-US" sz="800">
                <a:solidFill>
                  <a:schemeClr val="tx1"/>
                </a:solidFill>
                <a:latin typeface="Meiryo UI" panose="020B0604030504040204" pitchFamily="50" charset="-128"/>
                <a:ea typeface="Meiryo UI" panose="020B0604030504040204" pitchFamily="50" charset="-128"/>
              </a:rPr>
              <a:t>担当者</a:t>
            </a:r>
          </a:p>
        </p:txBody>
      </p:sp>
      <p:sp>
        <p:nvSpPr>
          <p:cNvPr id="52" name="フローチャート: 磁気ディスク 51">
            <a:extLst>
              <a:ext uri="{FF2B5EF4-FFF2-40B4-BE49-F238E27FC236}">
                <a16:creationId xmlns:a16="http://schemas.microsoft.com/office/drawing/2014/main" id="{7822509A-BDFF-3A87-B34B-4924319221BE}"/>
              </a:ext>
            </a:extLst>
          </p:cNvPr>
          <p:cNvSpPr/>
          <p:nvPr/>
        </p:nvSpPr>
        <p:spPr>
          <a:xfrm>
            <a:off x="323528" y="3154690"/>
            <a:ext cx="516155" cy="285805"/>
          </a:xfrm>
          <a:prstGeom prst="flowChartMagneticDisk">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拠点</a:t>
            </a:r>
            <a:endParaRPr kumimoji="1" lang="en-US" altLang="ja-JP" sz="800">
              <a:solidFill>
                <a:schemeClr val="tx1"/>
              </a:solidFill>
              <a:latin typeface="Meiryo UI" panose="020B0604030504040204" pitchFamily="50" charset="-128"/>
              <a:ea typeface="Meiryo UI" panose="020B0604030504040204" pitchFamily="50" charset="-128"/>
            </a:endParaRPr>
          </a:p>
          <a:p>
            <a:pPr algn="ctr"/>
            <a:r>
              <a:rPr kumimoji="1" lang="ja-JP" altLang="en-US" sz="800">
                <a:solidFill>
                  <a:schemeClr val="tx1"/>
                </a:solidFill>
                <a:latin typeface="Meiryo UI" panose="020B0604030504040204" pitchFamily="50" charset="-128"/>
                <a:ea typeface="Meiryo UI" panose="020B0604030504040204" pitchFamily="50" charset="-128"/>
              </a:rPr>
              <a:t>システム</a:t>
            </a:r>
          </a:p>
        </p:txBody>
      </p:sp>
      <p:sp>
        <p:nvSpPr>
          <p:cNvPr id="53" name="Freeform 108">
            <a:extLst>
              <a:ext uri="{FF2B5EF4-FFF2-40B4-BE49-F238E27FC236}">
                <a16:creationId xmlns:a16="http://schemas.microsoft.com/office/drawing/2014/main" id="{29663D5C-6D95-AF1D-AE7A-BF23B14C0272}"/>
              </a:ext>
            </a:extLst>
          </p:cNvPr>
          <p:cNvSpPr>
            <a:spLocks/>
          </p:cNvSpPr>
          <p:nvPr/>
        </p:nvSpPr>
        <p:spPr bwMode="auto">
          <a:xfrm>
            <a:off x="896436" y="3666338"/>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pic>
        <p:nvPicPr>
          <p:cNvPr id="54" name="Picture 185">
            <a:extLst>
              <a:ext uri="{FF2B5EF4-FFF2-40B4-BE49-F238E27FC236}">
                <a16:creationId xmlns:a16="http://schemas.microsoft.com/office/drawing/2014/main" id="{D0C6E388-46B2-32F9-857E-1605BC4090A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53878" y="3808579"/>
            <a:ext cx="223206" cy="216000"/>
          </a:xfrm>
          <a:prstGeom prst="rect">
            <a:avLst/>
          </a:prstGeom>
        </p:spPr>
      </p:pic>
      <p:sp>
        <p:nvSpPr>
          <p:cNvPr id="55" name="正方形/長方形 54">
            <a:extLst>
              <a:ext uri="{FF2B5EF4-FFF2-40B4-BE49-F238E27FC236}">
                <a16:creationId xmlns:a16="http://schemas.microsoft.com/office/drawing/2014/main" id="{A26FE4E5-7B46-69AD-BEFF-3F89B5EBFA8D}"/>
              </a:ext>
            </a:extLst>
          </p:cNvPr>
          <p:cNvSpPr/>
          <p:nvPr/>
        </p:nvSpPr>
        <p:spPr>
          <a:xfrm>
            <a:off x="714903" y="3981468"/>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拠点</a:t>
            </a:r>
            <a:r>
              <a:rPr kumimoji="1" lang="en-US" altLang="ja-JP" sz="800">
                <a:solidFill>
                  <a:schemeClr val="tx1"/>
                </a:solidFill>
                <a:latin typeface="Meiryo UI" panose="020B0604030504040204" pitchFamily="50" charset="-128"/>
                <a:ea typeface="Meiryo UI" panose="020B0604030504040204" pitchFamily="50" charset="-128"/>
              </a:rPr>
              <a:t>C</a:t>
            </a:r>
            <a:r>
              <a:rPr kumimoji="1" lang="ja-JP" altLang="en-US" sz="800">
                <a:solidFill>
                  <a:schemeClr val="tx1"/>
                </a:solidFill>
                <a:latin typeface="Meiryo UI" panose="020B0604030504040204" pitchFamily="50" charset="-128"/>
                <a:ea typeface="Meiryo UI" panose="020B0604030504040204" pitchFamily="50" charset="-128"/>
              </a:rPr>
              <a:t>担当者</a:t>
            </a:r>
          </a:p>
        </p:txBody>
      </p:sp>
      <p:sp>
        <p:nvSpPr>
          <p:cNvPr id="57" name="正方形/長方形 56">
            <a:extLst>
              <a:ext uri="{FF2B5EF4-FFF2-40B4-BE49-F238E27FC236}">
                <a16:creationId xmlns:a16="http://schemas.microsoft.com/office/drawing/2014/main" id="{9FE1758C-E729-F107-25FB-9AE5A5CF815D}"/>
              </a:ext>
            </a:extLst>
          </p:cNvPr>
          <p:cNvSpPr/>
          <p:nvPr/>
        </p:nvSpPr>
        <p:spPr bwMode="gray">
          <a:xfrm>
            <a:off x="911883" y="4126111"/>
            <a:ext cx="230588" cy="344563"/>
          </a:xfrm>
          <a:prstGeom prst="rect">
            <a:avLst/>
          </a:prstGeom>
          <a:noFill/>
          <a:ln w="12700" algn="ctr">
            <a:no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a:t>
            </a:r>
          </a:p>
        </p:txBody>
      </p:sp>
      <p:sp>
        <p:nvSpPr>
          <p:cNvPr id="73" name="四角形: 角を丸くする 72">
            <a:extLst>
              <a:ext uri="{FF2B5EF4-FFF2-40B4-BE49-F238E27FC236}">
                <a16:creationId xmlns:a16="http://schemas.microsoft.com/office/drawing/2014/main" id="{3AE05D15-8A58-A3D8-3279-DE3E9347F283}"/>
              </a:ext>
            </a:extLst>
          </p:cNvPr>
          <p:cNvSpPr/>
          <p:nvPr/>
        </p:nvSpPr>
        <p:spPr>
          <a:xfrm>
            <a:off x="2031512" y="4303500"/>
            <a:ext cx="914400" cy="140555"/>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修正・問合せ</a:t>
            </a:r>
          </a:p>
        </p:txBody>
      </p:sp>
      <p:cxnSp>
        <p:nvCxnSpPr>
          <p:cNvPr id="74" name="直線矢印コネクタ 73">
            <a:extLst>
              <a:ext uri="{FF2B5EF4-FFF2-40B4-BE49-F238E27FC236}">
                <a16:creationId xmlns:a16="http://schemas.microsoft.com/office/drawing/2014/main" id="{208245AF-2259-BDE0-26A7-F0495E8E2564}"/>
              </a:ext>
            </a:extLst>
          </p:cNvPr>
          <p:cNvCxnSpPr>
            <a:cxnSpLocks/>
            <a:stCxn id="17" idx="3"/>
            <a:endCxn id="73" idx="0"/>
          </p:cNvCxnSpPr>
          <p:nvPr/>
        </p:nvCxnSpPr>
        <p:spPr bwMode="gray">
          <a:xfrm flipH="1">
            <a:off x="2488712" y="4164583"/>
            <a:ext cx="1" cy="138917"/>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5" name="直線矢印コネクタ 219">
            <a:extLst>
              <a:ext uri="{FF2B5EF4-FFF2-40B4-BE49-F238E27FC236}">
                <a16:creationId xmlns:a16="http://schemas.microsoft.com/office/drawing/2014/main" id="{8692A2A2-B08F-7346-0CBA-10562EDC8EF9}"/>
              </a:ext>
            </a:extLst>
          </p:cNvPr>
          <p:cNvCxnSpPr>
            <a:cxnSpLocks/>
            <a:stCxn id="50" idx="3"/>
            <a:endCxn id="17" idx="2"/>
          </p:cNvCxnSpPr>
          <p:nvPr/>
        </p:nvCxnSpPr>
        <p:spPr bwMode="gray">
          <a:xfrm>
            <a:off x="1277084" y="3390272"/>
            <a:ext cx="953551" cy="666946"/>
          </a:xfrm>
          <a:prstGeom prst="bentConnector3">
            <a:avLst>
              <a:gd name="adj1" fmla="val 38935"/>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8" name="直線矢印コネクタ 219">
            <a:extLst>
              <a:ext uri="{FF2B5EF4-FFF2-40B4-BE49-F238E27FC236}">
                <a16:creationId xmlns:a16="http://schemas.microsoft.com/office/drawing/2014/main" id="{059EBF58-BB5B-0812-A067-6239B42B8C74}"/>
              </a:ext>
            </a:extLst>
          </p:cNvPr>
          <p:cNvCxnSpPr>
            <a:cxnSpLocks/>
            <a:stCxn id="54" idx="3"/>
            <a:endCxn id="17" idx="2"/>
          </p:cNvCxnSpPr>
          <p:nvPr/>
        </p:nvCxnSpPr>
        <p:spPr bwMode="gray">
          <a:xfrm>
            <a:off x="1277084" y="3916579"/>
            <a:ext cx="953551" cy="140639"/>
          </a:xfrm>
          <a:prstGeom prst="bentConnector3">
            <a:avLst>
              <a:gd name="adj1" fmla="val 39583"/>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8" name="正方形/長方形 223">
            <a:extLst>
              <a:ext uri="{FF2B5EF4-FFF2-40B4-BE49-F238E27FC236}">
                <a16:creationId xmlns:a16="http://schemas.microsoft.com/office/drawing/2014/main" id="{96A1F02E-5FAA-C997-A481-7A6D46D6C3FB}"/>
              </a:ext>
            </a:extLst>
          </p:cNvPr>
          <p:cNvSpPr/>
          <p:nvPr/>
        </p:nvSpPr>
        <p:spPr bwMode="gray">
          <a:xfrm>
            <a:off x="1768633" y="2288915"/>
            <a:ext cx="1440160" cy="1121966"/>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データ収集</a:t>
            </a:r>
            <a:r>
              <a:rPr lang="en-US" altLang="ja-JP" sz="1050" b="1">
                <a:latin typeface="Meiryo UI" panose="020B0604030504040204" pitchFamily="50" charset="-128"/>
                <a:ea typeface="Meiryo UI" panose="020B0604030504040204" pitchFamily="50" charset="-128"/>
              </a:rPr>
              <a:t>(GX</a:t>
            </a:r>
            <a:r>
              <a:rPr lang="ja-JP" altLang="en-US" sz="1050" b="1">
                <a:latin typeface="Meiryo UI" panose="020B0604030504040204" pitchFamily="50" charset="-128"/>
                <a:ea typeface="Meiryo UI" panose="020B0604030504040204" pitchFamily="50" charset="-128"/>
              </a:rPr>
              <a:t>リーグ</a:t>
            </a:r>
            <a:r>
              <a:rPr lang="en-US" altLang="ja-JP" sz="1050" b="1">
                <a:latin typeface="Meiryo UI" panose="020B0604030504040204" pitchFamily="50" charset="-128"/>
                <a:ea typeface="Meiryo UI" panose="020B0604030504040204" pitchFamily="50" charset="-128"/>
              </a:rPr>
              <a:t>)</a:t>
            </a:r>
          </a:p>
        </p:txBody>
      </p:sp>
      <p:sp>
        <p:nvSpPr>
          <p:cNvPr id="100" name="正方形/長方形 99">
            <a:extLst>
              <a:ext uri="{FF2B5EF4-FFF2-40B4-BE49-F238E27FC236}">
                <a16:creationId xmlns:a16="http://schemas.microsoft.com/office/drawing/2014/main" id="{8E91AE7F-3BC3-A10B-E175-5C58E8EBE068}"/>
              </a:ext>
            </a:extLst>
          </p:cNvPr>
          <p:cNvSpPr/>
          <p:nvPr/>
        </p:nvSpPr>
        <p:spPr>
          <a:xfrm>
            <a:off x="2604520" y="2144868"/>
            <a:ext cx="516155"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800">
                <a:solidFill>
                  <a:schemeClr val="tx1"/>
                </a:solidFill>
                <a:latin typeface="Meiryo UI" panose="020B0604030504040204" pitchFamily="50" charset="-128"/>
                <a:ea typeface="Meiryo UI" panose="020B0604030504040204" pitchFamily="50" charset="-128"/>
              </a:rPr>
              <a:t>CNX</a:t>
            </a:r>
            <a:r>
              <a:rPr kumimoji="1" lang="ja-JP" altLang="en-US" sz="800">
                <a:solidFill>
                  <a:schemeClr val="tx1"/>
                </a:solidFill>
                <a:latin typeface="Meiryo UI" panose="020B0604030504040204" pitchFamily="50" charset="-128"/>
                <a:ea typeface="Meiryo UI" panose="020B0604030504040204" pitchFamily="50" charset="-128"/>
              </a:rPr>
              <a:t>戦略室</a:t>
            </a:r>
          </a:p>
        </p:txBody>
      </p:sp>
      <p:sp>
        <p:nvSpPr>
          <p:cNvPr id="101" name="四角形: 角を丸くする 100">
            <a:extLst>
              <a:ext uri="{FF2B5EF4-FFF2-40B4-BE49-F238E27FC236}">
                <a16:creationId xmlns:a16="http://schemas.microsoft.com/office/drawing/2014/main" id="{D9C9C211-01A7-99BD-EA3E-B1C8B2ADBE1C}"/>
              </a:ext>
            </a:extLst>
          </p:cNvPr>
          <p:cNvSpPr/>
          <p:nvPr/>
        </p:nvSpPr>
        <p:spPr>
          <a:xfrm>
            <a:off x="2031512" y="2543796"/>
            <a:ext cx="914400" cy="140555"/>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データ収集</a:t>
            </a:r>
          </a:p>
        </p:txBody>
      </p:sp>
      <p:cxnSp>
        <p:nvCxnSpPr>
          <p:cNvPr id="102" name="直線矢印コネクタ 101">
            <a:extLst>
              <a:ext uri="{FF2B5EF4-FFF2-40B4-BE49-F238E27FC236}">
                <a16:creationId xmlns:a16="http://schemas.microsoft.com/office/drawing/2014/main" id="{01384568-C6F7-A27E-9C22-DD4BD5A3CD95}"/>
              </a:ext>
            </a:extLst>
          </p:cNvPr>
          <p:cNvCxnSpPr>
            <a:cxnSpLocks/>
            <a:stCxn id="101" idx="2"/>
            <a:endCxn id="108" idx="0"/>
          </p:cNvCxnSpPr>
          <p:nvPr/>
        </p:nvCxnSpPr>
        <p:spPr bwMode="gray">
          <a:xfrm>
            <a:off x="2488712" y="2684351"/>
            <a:ext cx="1" cy="172518"/>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3" name="四角形: 角を丸くする 102">
            <a:extLst>
              <a:ext uri="{FF2B5EF4-FFF2-40B4-BE49-F238E27FC236}">
                <a16:creationId xmlns:a16="http://schemas.microsoft.com/office/drawing/2014/main" id="{30274C46-C84D-6713-4FA2-30C330B01FF7}"/>
              </a:ext>
            </a:extLst>
          </p:cNvPr>
          <p:cNvSpPr/>
          <p:nvPr/>
        </p:nvSpPr>
        <p:spPr>
          <a:xfrm>
            <a:off x="2031512" y="3215338"/>
            <a:ext cx="914400" cy="140555"/>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修正・問合せ</a:t>
            </a:r>
          </a:p>
        </p:txBody>
      </p:sp>
      <p:cxnSp>
        <p:nvCxnSpPr>
          <p:cNvPr id="104" name="直線矢印コネクタ 103">
            <a:extLst>
              <a:ext uri="{FF2B5EF4-FFF2-40B4-BE49-F238E27FC236}">
                <a16:creationId xmlns:a16="http://schemas.microsoft.com/office/drawing/2014/main" id="{4DEF845D-42A0-44D4-3907-542C5C8AC86A}"/>
              </a:ext>
            </a:extLst>
          </p:cNvPr>
          <p:cNvCxnSpPr>
            <a:cxnSpLocks/>
            <a:stCxn id="108" idx="2"/>
            <a:endCxn id="103" idx="0"/>
          </p:cNvCxnSpPr>
          <p:nvPr/>
        </p:nvCxnSpPr>
        <p:spPr bwMode="gray">
          <a:xfrm flipH="1">
            <a:off x="2488712" y="3072869"/>
            <a:ext cx="1" cy="142469"/>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5" name="四角形: 角を丸くする 104">
            <a:extLst>
              <a:ext uri="{FF2B5EF4-FFF2-40B4-BE49-F238E27FC236}">
                <a16:creationId xmlns:a16="http://schemas.microsoft.com/office/drawing/2014/main" id="{56E4DB58-16D1-BE66-09D3-EC412217C02D}"/>
              </a:ext>
            </a:extLst>
          </p:cNvPr>
          <p:cNvSpPr/>
          <p:nvPr/>
        </p:nvSpPr>
        <p:spPr>
          <a:xfrm>
            <a:off x="2443552" y="3068502"/>
            <a:ext cx="426575" cy="140555"/>
          </a:xfrm>
          <a:prstGeom prst="round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確認</a:t>
            </a:r>
          </a:p>
        </p:txBody>
      </p:sp>
      <p:sp>
        <p:nvSpPr>
          <p:cNvPr id="106" name="Freeform 108">
            <a:extLst>
              <a:ext uri="{FF2B5EF4-FFF2-40B4-BE49-F238E27FC236}">
                <a16:creationId xmlns:a16="http://schemas.microsoft.com/office/drawing/2014/main" id="{131CB9B4-E6F1-1CCE-F504-71DECBEFD3ED}"/>
              </a:ext>
            </a:extLst>
          </p:cNvPr>
          <p:cNvSpPr>
            <a:spLocks/>
          </p:cNvSpPr>
          <p:nvPr/>
        </p:nvSpPr>
        <p:spPr bwMode="auto">
          <a:xfrm>
            <a:off x="3060023" y="2095574"/>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pic>
        <p:nvPicPr>
          <p:cNvPr id="108" name="Picture 185">
            <a:extLst>
              <a:ext uri="{FF2B5EF4-FFF2-40B4-BE49-F238E27FC236}">
                <a16:creationId xmlns:a16="http://schemas.microsoft.com/office/drawing/2014/main" id="{557B7FFD-4BEA-C2DD-3A95-97FE3117E2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77110" y="2856869"/>
            <a:ext cx="223206" cy="216000"/>
          </a:xfrm>
          <a:prstGeom prst="rect">
            <a:avLst/>
          </a:prstGeom>
        </p:spPr>
      </p:pic>
      <p:sp>
        <p:nvSpPr>
          <p:cNvPr id="119" name="正方形/長方形 223">
            <a:extLst>
              <a:ext uri="{FF2B5EF4-FFF2-40B4-BE49-F238E27FC236}">
                <a16:creationId xmlns:a16="http://schemas.microsoft.com/office/drawing/2014/main" id="{2EB8D34F-4536-792B-70EE-204568E1F547}"/>
              </a:ext>
            </a:extLst>
          </p:cNvPr>
          <p:cNvSpPr/>
          <p:nvPr/>
        </p:nvSpPr>
        <p:spPr bwMode="gray">
          <a:xfrm>
            <a:off x="1768633" y="5322081"/>
            <a:ext cx="1440160" cy="865838"/>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データ収集</a:t>
            </a:r>
            <a:r>
              <a:rPr lang="en-US" altLang="ja-JP" sz="1050" b="1">
                <a:latin typeface="Meiryo UI" panose="020B0604030504040204" pitchFamily="50" charset="-128"/>
                <a:ea typeface="Meiryo UI" panose="020B0604030504040204" pitchFamily="50" charset="-128"/>
              </a:rPr>
              <a:t>(</a:t>
            </a:r>
            <a:r>
              <a:rPr lang="ja-JP" altLang="en-US" sz="1050" b="1">
                <a:latin typeface="Meiryo UI" panose="020B0604030504040204" pitchFamily="50" charset="-128"/>
                <a:ea typeface="Meiryo UI" panose="020B0604030504040204" pitchFamily="50" charset="-128"/>
              </a:rPr>
              <a:t>データブック</a:t>
            </a:r>
            <a:r>
              <a:rPr lang="en-US" altLang="ja-JP" sz="1050" b="1">
                <a:latin typeface="Meiryo UI" panose="020B0604030504040204" pitchFamily="50" charset="-128"/>
                <a:ea typeface="Meiryo UI" panose="020B0604030504040204" pitchFamily="50" charset="-128"/>
              </a:rPr>
              <a:t>)</a:t>
            </a:r>
          </a:p>
        </p:txBody>
      </p:sp>
      <p:sp>
        <p:nvSpPr>
          <p:cNvPr id="121" name="正方形/長方形 120">
            <a:extLst>
              <a:ext uri="{FF2B5EF4-FFF2-40B4-BE49-F238E27FC236}">
                <a16:creationId xmlns:a16="http://schemas.microsoft.com/office/drawing/2014/main" id="{ED1EB4BA-4401-14A0-DD7B-88CC6208B248}"/>
              </a:ext>
            </a:extLst>
          </p:cNvPr>
          <p:cNvSpPr/>
          <p:nvPr/>
        </p:nvSpPr>
        <p:spPr>
          <a:xfrm>
            <a:off x="2639618" y="5187049"/>
            <a:ext cx="516155"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サス室</a:t>
            </a:r>
          </a:p>
        </p:txBody>
      </p:sp>
      <p:sp>
        <p:nvSpPr>
          <p:cNvPr id="122" name="四角形: 角を丸くする 121">
            <a:extLst>
              <a:ext uri="{FF2B5EF4-FFF2-40B4-BE49-F238E27FC236}">
                <a16:creationId xmlns:a16="http://schemas.microsoft.com/office/drawing/2014/main" id="{1EFD3CC3-A185-007C-FF23-D1F3966E5A32}"/>
              </a:ext>
            </a:extLst>
          </p:cNvPr>
          <p:cNvSpPr/>
          <p:nvPr/>
        </p:nvSpPr>
        <p:spPr>
          <a:xfrm>
            <a:off x="2031512" y="5576962"/>
            <a:ext cx="914400" cy="140555"/>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データ収集</a:t>
            </a:r>
          </a:p>
        </p:txBody>
      </p:sp>
      <p:cxnSp>
        <p:nvCxnSpPr>
          <p:cNvPr id="123" name="直線矢印コネクタ 122">
            <a:extLst>
              <a:ext uri="{FF2B5EF4-FFF2-40B4-BE49-F238E27FC236}">
                <a16:creationId xmlns:a16="http://schemas.microsoft.com/office/drawing/2014/main" id="{159F86F2-FE69-F472-6573-7D6D120D8B66}"/>
              </a:ext>
            </a:extLst>
          </p:cNvPr>
          <p:cNvCxnSpPr>
            <a:cxnSpLocks/>
            <a:stCxn id="122" idx="2"/>
            <a:endCxn id="130" idx="0"/>
          </p:cNvCxnSpPr>
          <p:nvPr/>
        </p:nvCxnSpPr>
        <p:spPr bwMode="gray">
          <a:xfrm>
            <a:off x="2488712" y="5717517"/>
            <a:ext cx="1" cy="165547"/>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7" name="Freeform 108">
            <a:extLst>
              <a:ext uri="{FF2B5EF4-FFF2-40B4-BE49-F238E27FC236}">
                <a16:creationId xmlns:a16="http://schemas.microsoft.com/office/drawing/2014/main" id="{2F43B7E9-7953-82E5-1AE3-A2545937670F}"/>
              </a:ext>
            </a:extLst>
          </p:cNvPr>
          <p:cNvSpPr>
            <a:spLocks/>
          </p:cNvSpPr>
          <p:nvPr/>
        </p:nvSpPr>
        <p:spPr bwMode="auto">
          <a:xfrm>
            <a:off x="3060023" y="5064250"/>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pic>
        <p:nvPicPr>
          <p:cNvPr id="130" name="Picture 185">
            <a:extLst>
              <a:ext uri="{FF2B5EF4-FFF2-40B4-BE49-F238E27FC236}">
                <a16:creationId xmlns:a16="http://schemas.microsoft.com/office/drawing/2014/main" id="{C070C734-933B-3F1D-4F0F-52FBF7264B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77110" y="5883064"/>
            <a:ext cx="223206" cy="216000"/>
          </a:xfrm>
          <a:prstGeom prst="rect">
            <a:avLst/>
          </a:prstGeom>
        </p:spPr>
      </p:pic>
      <p:cxnSp>
        <p:nvCxnSpPr>
          <p:cNvPr id="134" name="直線矢印コネクタ 219">
            <a:extLst>
              <a:ext uri="{FF2B5EF4-FFF2-40B4-BE49-F238E27FC236}">
                <a16:creationId xmlns:a16="http://schemas.microsoft.com/office/drawing/2014/main" id="{02E34F1F-DF70-BAF3-30C8-07DC67C64F0D}"/>
              </a:ext>
            </a:extLst>
          </p:cNvPr>
          <p:cNvCxnSpPr>
            <a:cxnSpLocks/>
            <a:stCxn id="6" idx="3"/>
            <a:endCxn id="101" idx="1"/>
          </p:cNvCxnSpPr>
          <p:nvPr/>
        </p:nvCxnSpPr>
        <p:spPr bwMode="gray">
          <a:xfrm flipV="1">
            <a:off x="1277084" y="2614074"/>
            <a:ext cx="754428" cy="249076"/>
          </a:xfrm>
          <a:prstGeom prst="bentConnector3">
            <a:avLst>
              <a:gd name="adj1" fmla="val 50000"/>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7" name="直線矢印コネクタ 219">
            <a:extLst>
              <a:ext uri="{FF2B5EF4-FFF2-40B4-BE49-F238E27FC236}">
                <a16:creationId xmlns:a16="http://schemas.microsoft.com/office/drawing/2014/main" id="{25BBEB0B-EB77-2667-3F7B-25C3E14D7C17}"/>
              </a:ext>
            </a:extLst>
          </p:cNvPr>
          <p:cNvCxnSpPr>
            <a:cxnSpLocks/>
            <a:stCxn id="50" idx="3"/>
            <a:endCxn id="101" idx="1"/>
          </p:cNvCxnSpPr>
          <p:nvPr/>
        </p:nvCxnSpPr>
        <p:spPr bwMode="gray">
          <a:xfrm flipV="1">
            <a:off x="1277084" y="2614074"/>
            <a:ext cx="754428" cy="776198"/>
          </a:xfrm>
          <a:prstGeom prst="bentConnector3">
            <a:avLst>
              <a:gd name="adj1" fmla="val 50000"/>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1" name="直線矢印コネクタ 219">
            <a:extLst>
              <a:ext uri="{FF2B5EF4-FFF2-40B4-BE49-F238E27FC236}">
                <a16:creationId xmlns:a16="http://schemas.microsoft.com/office/drawing/2014/main" id="{497D7575-AAB8-F7E9-E5FB-FC897F26A2B5}"/>
              </a:ext>
            </a:extLst>
          </p:cNvPr>
          <p:cNvCxnSpPr>
            <a:cxnSpLocks/>
            <a:stCxn id="54" idx="3"/>
            <a:endCxn id="101" idx="1"/>
          </p:cNvCxnSpPr>
          <p:nvPr/>
        </p:nvCxnSpPr>
        <p:spPr bwMode="gray">
          <a:xfrm flipV="1">
            <a:off x="1277084" y="2614074"/>
            <a:ext cx="754428" cy="1302505"/>
          </a:xfrm>
          <a:prstGeom prst="bentConnector3">
            <a:avLst>
              <a:gd name="adj1" fmla="val 4918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9" name="正方形/長方形 158">
            <a:extLst>
              <a:ext uri="{FF2B5EF4-FFF2-40B4-BE49-F238E27FC236}">
                <a16:creationId xmlns:a16="http://schemas.microsoft.com/office/drawing/2014/main" id="{DE99599B-7BE6-C893-DDF2-DBF66F8362EA}"/>
              </a:ext>
            </a:extLst>
          </p:cNvPr>
          <p:cNvSpPr/>
          <p:nvPr/>
        </p:nvSpPr>
        <p:spPr>
          <a:xfrm>
            <a:off x="3635459" y="2176828"/>
            <a:ext cx="516155"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800">
                <a:solidFill>
                  <a:schemeClr val="tx1"/>
                </a:solidFill>
                <a:latin typeface="Meiryo UI" panose="020B0604030504040204" pitchFamily="50" charset="-128"/>
                <a:ea typeface="Meiryo UI" panose="020B0604030504040204" pitchFamily="50" charset="-128"/>
              </a:rPr>
              <a:t>CNX</a:t>
            </a:r>
            <a:r>
              <a:rPr kumimoji="1" lang="ja-JP" altLang="en-US" sz="800">
                <a:solidFill>
                  <a:schemeClr val="tx1"/>
                </a:solidFill>
                <a:latin typeface="Meiryo UI" panose="020B0604030504040204" pitchFamily="50" charset="-128"/>
                <a:ea typeface="Meiryo UI" panose="020B0604030504040204" pitchFamily="50" charset="-128"/>
              </a:rPr>
              <a:t>戦略室</a:t>
            </a:r>
          </a:p>
        </p:txBody>
      </p:sp>
      <p:sp>
        <p:nvSpPr>
          <p:cNvPr id="160" name="Freeform 108">
            <a:extLst>
              <a:ext uri="{FF2B5EF4-FFF2-40B4-BE49-F238E27FC236}">
                <a16:creationId xmlns:a16="http://schemas.microsoft.com/office/drawing/2014/main" id="{B00DED11-1EB1-49DA-D010-C7A405CE68A8}"/>
              </a:ext>
            </a:extLst>
          </p:cNvPr>
          <p:cNvSpPr>
            <a:spLocks/>
          </p:cNvSpPr>
          <p:nvPr/>
        </p:nvSpPr>
        <p:spPr bwMode="auto">
          <a:xfrm>
            <a:off x="4113520" y="2104344"/>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pic>
        <p:nvPicPr>
          <p:cNvPr id="163" name="Picture 185">
            <a:extLst>
              <a:ext uri="{FF2B5EF4-FFF2-40B4-BE49-F238E27FC236}">
                <a16:creationId xmlns:a16="http://schemas.microsoft.com/office/drawing/2014/main" id="{17169DCA-45AC-F1AD-DA6A-11B5FE42AEF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763858" y="2859785"/>
            <a:ext cx="223206" cy="216000"/>
          </a:xfrm>
          <a:prstGeom prst="rect">
            <a:avLst/>
          </a:prstGeom>
        </p:spPr>
      </p:pic>
      <p:sp>
        <p:nvSpPr>
          <p:cNvPr id="164" name="四角形: 角を丸くする 163">
            <a:extLst>
              <a:ext uri="{FF2B5EF4-FFF2-40B4-BE49-F238E27FC236}">
                <a16:creationId xmlns:a16="http://schemas.microsoft.com/office/drawing/2014/main" id="{F861A13C-1014-DE7D-AC44-EDA12A0CF6E8}"/>
              </a:ext>
            </a:extLst>
          </p:cNvPr>
          <p:cNvSpPr/>
          <p:nvPr/>
        </p:nvSpPr>
        <p:spPr>
          <a:xfrm>
            <a:off x="3914674" y="2901924"/>
            <a:ext cx="426575" cy="140555"/>
          </a:xfrm>
          <a:prstGeom prst="round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算定</a:t>
            </a:r>
          </a:p>
        </p:txBody>
      </p:sp>
      <p:sp>
        <p:nvSpPr>
          <p:cNvPr id="165" name="四角形: 角を丸くする 164">
            <a:extLst>
              <a:ext uri="{FF2B5EF4-FFF2-40B4-BE49-F238E27FC236}">
                <a16:creationId xmlns:a16="http://schemas.microsoft.com/office/drawing/2014/main" id="{F3A7A459-8048-E616-4981-99DA61155A64}"/>
              </a:ext>
            </a:extLst>
          </p:cNvPr>
          <p:cNvSpPr/>
          <p:nvPr/>
        </p:nvSpPr>
        <p:spPr>
          <a:xfrm>
            <a:off x="2443552" y="4173468"/>
            <a:ext cx="426575" cy="140555"/>
          </a:xfrm>
          <a:prstGeom prst="round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確認</a:t>
            </a:r>
          </a:p>
        </p:txBody>
      </p:sp>
      <p:cxnSp>
        <p:nvCxnSpPr>
          <p:cNvPr id="166" name="直線矢印コネクタ 219">
            <a:extLst>
              <a:ext uri="{FF2B5EF4-FFF2-40B4-BE49-F238E27FC236}">
                <a16:creationId xmlns:a16="http://schemas.microsoft.com/office/drawing/2014/main" id="{9357FE38-424E-58B6-5E74-E0741C71EC8F}"/>
              </a:ext>
            </a:extLst>
          </p:cNvPr>
          <p:cNvCxnSpPr>
            <a:cxnSpLocks/>
            <a:stCxn id="108" idx="3"/>
            <a:endCxn id="163" idx="1"/>
          </p:cNvCxnSpPr>
          <p:nvPr/>
        </p:nvCxnSpPr>
        <p:spPr bwMode="gray">
          <a:xfrm>
            <a:off x="2600316" y="2964869"/>
            <a:ext cx="1163542" cy="2916"/>
          </a:xfrm>
          <a:prstGeom prst="bentConnector3">
            <a:avLst>
              <a:gd name="adj1" fmla="val 50000"/>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1" name="四角形: 角を丸くする 170">
            <a:extLst>
              <a:ext uri="{FF2B5EF4-FFF2-40B4-BE49-F238E27FC236}">
                <a16:creationId xmlns:a16="http://schemas.microsoft.com/office/drawing/2014/main" id="{87239AFB-3CE2-6560-814E-F3DDB653B67F}"/>
              </a:ext>
            </a:extLst>
          </p:cNvPr>
          <p:cNvSpPr/>
          <p:nvPr/>
        </p:nvSpPr>
        <p:spPr>
          <a:xfrm>
            <a:off x="3533836" y="3213599"/>
            <a:ext cx="687003" cy="140555"/>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報告・開示</a:t>
            </a:r>
          </a:p>
        </p:txBody>
      </p:sp>
      <p:cxnSp>
        <p:nvCxnSpPr>
          <p:cNvPr id="172" name="直線矢印コネクタ 171">
            <a:extLst>
              <a:ext uri="{FF2B5EF4-FFF2-40B4-BE49-F238E27FC236}">
                <a16:creationId xmlns:a16="http://schemas.microsoft.com/office/drawing/2014/main" id="{FBE1B736-519D-8858-AD6B-00DEF9819EDA}"/>
              </a:ext>
            </a:extLst>
          </p:cNvPr>
          <p:cNvCxnSpPr>
            <a:cxnSpLocks/>
            <a:stCxn id="8" idx="2"/>
            <a:endCxn id="42" idx="0"/>
          </p:cNvCxnSpPr>
          <p:nvPr/>
        </p:nvCxnSpPr>
        <p:spPr bwMode="gray">
          <a:xfrm flipH="1">
            <a:off x="935040" y="4581128"/>
            <a:ext cx="1" cy="129295"/>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7" name="正方形/長方形 223">
            <a:extLst>
              <a:ext uri="{FF2B5EF4-FFF2-40B4-BE49-F238E27FC236}">
                <a16:creationId xmlns:a16="http://schemas.microsoft.com/office/drawing/2014/main" id="{A721BA6F-6D50-5F69-1FCE-EBEED5345514}"/>
              </a:ext>
            </a:extLst>
          </p:cNvPr>
          <p:cNvSpPr/>
          <p:nvPr/>
        </p:nvSpPr>
        <p:spPr bwMode="gray">
          <a:xfrm>
            <a:off x="323527" y="5070551"/>
            <a:ext cx="1223027" cy="1121966"/>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データ提供</a:t>
            </a:r>
          </a:p>
        </p:txBody>
      </p:sp>
      <p:sp>
        <p:nvSpPr>
          <p:cNvPr id="182" name="Freeform 108">
            <a:extLst>
              <a:ext uri="{FF2B5EF4-FFF2-40B4-BE49-F238E27FC236}">
                <a16:creationId xmlns:a16="http://schemas.microsoft.com/office/drawing/2014/main" id="{7B927C9B-F781-FFF0-FAAF-4BA6DA2D8503}"/>
              </a:ext>
            </a:extLst>
          </p:cNvPr>
          <p:cNvSpPr>
            <a:spLocks/>
          </p:cNvSpPr>
          <p:nvPr/>
        </p:nvSpPr>
        <p:spPr bwMode="auto">
          <a:xfrm>
            <a:off x="896436" y="5199229"/>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pic>
        <p:nvPicPr>
          <p:cNvPr id="183" name="Picture 185">
            <a:extLst>
              <a:ext uri="{FF2B5EF4-FFF2-40B4-BE49-F238E27FC236}">
                <a16:creationId xmlns:a16="http://schemas.microsoft.com/office/drawing/2014/main" id="{3A36B0D8-B2D1-D587-207D-9D9073B2D32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53878" y="5341470"/>
            <a:ext cx="223206" cy="216000"/>
          </a:xfrm>
          <a:prstGeom prst="rect">
            <a:avLst/>
          </a:prstGeom>
        </p:spPr>
      </p:pic>
      <p:sp>
        <p:nvSpPr>
          <p:cNvPr id="184" name="正方形/長方形 183">
            <a:extLst>
              <a:ext uri="{FF2B5EF4-FFF2-40B4-BE49-F238E27FC236}">
                <a16:creationId xmlns:a16="http://schemas.microsoft.com/office/drawing/2014/main" id="{55A9812E-5E7A-45A1-750D-DBB504873FED}"/>
              </a:ext>
            </a:extLst>
          </p:cNvPr>
          <p:cNvSpPr/>
          <p:nvPr/>
        </p:nvSpPr>
        <p:spPr>
          <a:xfrm>
            <a:off x="714903" y="5514359"/>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人事担当者</a:t>
            </a:r>
          </a:p>
        </p:txBody>
      </p:sp>
      <p:cxnSp>
        <p:nvCxnSpPr>
          <p:cNvPr id="185" name="直線矢印コネクタ 184">
            <a:extLst>
              <a:ext uri="{FF2B5EF4-FFF2-40B4-BE49-F238E27FC236}">
                <a16:creationId xmlns:a16="http://schemas.microsoft.com/office/drawing/2014/main" id="{66A4EEF4-5C06-2DB5-BE1A-0E70FBA9D7ED}"/>
              </a:ext>
            </a:extLst>
          </p:cNvPr>
          <p:cNvCxnSpPr>
            <a:cxnSpLocks/>
            <a:stCxn id="14" idx="2"/>
            <a:endCxn id="119" idx="0"/>
          </p:cNvCxnSpPr>
          <p:nvPr/>
        </p:nvCxnSpPr>
        <p:spPr bwMode="gray">
          <a:xfrm>
            <a:off x="2488713" y="4566672"/>
            <a:ext cx="0" cy="755409"/>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89" name="Freeform 108">
            <a:extLst>
              <a:ext uri="{FF2B5EF4-FFF2-40B4-BE49-F238E27FC236}">
                <a16:creationId xmlns:a16="http://schemas.microsoft.com/office/drawing/2014/main" id="{F34EF3A1-FCC4-3336-4D84-C7AE48435E6B}"/>
              </a:ext>
            </a:extLst>
          </p:cNvPr>
          <p:cNvSpPr>
            <a:spLocks/>
          </p:cNvSpPr>
          <p:nvPr/>
        </p:nvSpPr>
        <p:spPr bwMode="auto">
          <a:xfrm>
            <a:off x="896436" y="5686148"/>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pic>
        <p:nvPicPr>
          <p:cNvPr id="190" name="Picture 185">
            <a:extLst>
              <a:ext uri="{FF2B5EF4-FFF2-40B4-BE49-F238E27FC236}">
                <a16:creationId xmlns:a16="http://schemas.microsoft.com/office/drawing/2014/main" id="{05E3D708-572A-92A5-69CD-DE7AC8151DE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53878" y="5828389"/>
            <a:ext cx="223206" cy="216000"/>
          </a:xfrm>
          <a:prstGeom prst="rect">
            <a:avLst/>
          </a:prstGeom>
        </p:spPr>
      </p:pic>
      <p:sp>
        <p:nvSpPr>
          <p:cNvPr id="191" name="正方形/長方形 190">
            <a:extLst>
              <a:ext uri="{FF2B5EF4-FFF2-40B4-BE49-F238E27FC236}">
                <a16:creationId xmlns:a16="http://schemas.microsoft.com/office/drawing/2014/main" id="{667B48AF-520D-FBA7-D616-DA2C68A62C44}"/>
              </a:ext>
            </a:extLst>
          </p:cNvPr>
          <p:cNvSpPr/>
          <p:nvPr/>
        </p:nvSpPr>
        <p:spPr>
          <a:xfrm>
            <a:off x="714903" y="6001278"/>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労働安全担当者</a:t>
            </a:r>
          </a:p>
        </p:txBody>
      </p:sp>
      <p:cxnSp>
        <p:nvCxnSpPr>
          <p:cNvPr id="203" name="直線矢印コネクタ 219">
            <a:extLst>
              <a:ext uri="{FF2B5EF4-FFF2-40B4-BE49-F238E27FC236}">
                <a16:creationId xmlns:a16="http://schemas.microsoft.com/office/drawing/2014/main" id="{13F6BC27-1A93-C2B8-521B-86BEBD277CBA}"/>
              </a:ext>
            </a:extLst>
          </p:cNvPr>
          <p:cNvCxnSpPr>
            <a:cxnSpLocks/>
            <a:stCxn id="190" idx="3"/>
            <a:endCxn id="122" idx="1"/>
          </p:cNvCxnSpPr>
          <p:nvPr/>
        </p:nvCxnSpPr>
        <p:spPr bwMode="gray">
          <a:xfrm flipV="1">
            <a:off x="1277084" y="5647240"/>
            <a:ext cx="754428" cy="289149"/>
          </a:xfrm>
          <a:prstGeom prst="bentConnector3">
            <a:avLst>
              <a:gd name="adj1" fmla="val 57146"/>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7" name="四角形: 角を丸くする 206">
            <a:extLst>
              <a:ext uri="{FF2B5EF4-FFF2-40B4-BE49-F238E27FC236}">
                <a16:creationId xmlns:a16="http://schemas.microsoft.com/office/drawing/2014/main" id="{7A201130-D54D-6CD5-1350-130D96A1B925}"/>
              </a:ext>
            </a:extLst>
          </p:cNvPr>
          <p:cNvSpPr/>
          <p:nvPr/>
        </p:nvSpPr>
        <p:spPr>
          <a:xfrm>
            <a:off x="2095458" y="5794209"/>
            <a:ext cx="426575" cy="140555"/>
          </a:xfrm>
          <a:prstGeom prst="round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確認</a:t>
            </a:r>
          </a:p>
        </p:txBody>
      </p:sp>
      <p:cxnSp>
        <p:nvCxnSpPr>
          <p:cNvPr id="211" name="直線矢印コネクタ 219">
            <a:extLst>
              <a:ext uri="{FF2B5EF4-FFF2-40B4-BE49-F238E27FC236}">
                <a16:creationId xmlns:a16="http://schemas.microsoft.com/office/drawing/2014/main" id="{752342A6-A3D2-ACFD-BA6C-6ECB34C1A346}"/>
              </a:ext>
            </a:extLst>
          </p:cNvPr>
          <p:cNvCxnSpPr>
            <a:cxnSpLocks/>
            <a:stCxn id="54" idx="3"/>
            <a:endCxn id="122" idx="1"/>
          </p:cNvCxnSpPr>
          <p:nvPr/>
        </p:nvCxnSpPr>
        <p:spPr bwMode="gray">
          <a:xfrm>
            <a:off x="1277084" y="3916579"/>
            <a:ext cx="754428" cy="1730661"/>
          </a:xfrm>
          <a:prstGeom prst="bentConnector3">
            <a:avLst>
              <a:gd name="adj1" fmla="val 50000"/>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4" name="直線矢印コネクタ 213">
            <a:extLst>
              <a:ext uri="{FF2B5EF4-FFF2-40B4-BE49-F238E27FC236}">
                <a16:creationId xmlns:a16="http://schemas.microsoft.com/office/drawing/2014/main" id="{96D25A2E-0012-F71A-9FE1-04948EF96F3C}"/>
              </a:ext>
            </a:extLst>
          </p:cNvPr>
          <p:cNvCxnSpPr>
            <a:cxnSpLocks/>
            <a:stCxn id="163" idx="2"/>
            <a:endCxn id="171" idx="0"/>
          </p:cNvCxnSpPr>
          <p:nvPr/>
        </p:nvCxnSpPr>
        <p:spPr bwMode="gray">
          <a:xfrm>
            <a:off x="3875461" y="3075785"/>
            <a:ext cx="1877" cy="137814"/>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18" name="正方形/長方形 223">
            <a:extLst>
              <a:ext uri="{FF2B5EF4-FFF2-40B4-BE49-F238E27FC236}">
                <a16:creationId xmlns:a16="http://schemas.microsoft.com/office/drawing/2014/main" id="{3056FC21-94F0-0271-5BDB-7F2ED4F1AD3D}"/>
              </a:ext>
            </a:extLst>
          </p:cNvPr>
          <p:cNvSpPr/>
          <p:nvPr/>
        </p:nvSpPr>
        <p:spPr bwMode="gray">
          <a:xfrm>
            <a:off x="3467394" y="3549691"/>
            <a:ext cx="816134" cy="993357"/>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算定・報告</a:t>
            </a:r>
            <a:endParaRPr lang="en-US" altLang="ja-JP" sz="1050" b="1">
              <a:latin typeface="Meiryo UI" panose="020B0604030504040204" pitchFamily="50" charset="-128"/>
              <a:ea typeface="Meiryo UI" panose="020B0604030504040204" pitchFamily="50" charset="-128"/>
            </a:endParaRPr>
          </a:p>
          <a:p>
            <a:pPr defTabSz="1219170">
              <a:lnSpc>
                <a:spcPct val="106000"/>
              </a:lnSpc>
            </a:pPr>
            <a:r>
              <a:rPr lang="en-US" altLang="ja-JP" sz="1050" b="1">
                <a:latin typeface="Meiryo UI" panose="020B0604030504040204" pitchFamily="50" charset="-128"/>
                <a:ea typeface="Meiryo UI" panose="020B0604030504040204" pitchFamily="50" charset="-128"/>
              </a:rPr>
              <a:t>(</a:t>
            </a:r>
            <a:r>
              <a:rPr lang="ja-JP" altLang="en-US" sz="1050" b="1">
                <a:latin typeface="Meiryo UI" panose="020B0604030504040204" pitchFamily="50" charset="-128"/>
                <a:ea typeface="Meiryo UI" panose="020B0604030504040204" pitchFamily="50" charset="-128"/>
              </a:rPr>
              <a:t>温対法</a:t>
            </a:r>
            <a:r>
              <a:rPr lang="en-US" altLang="ja-JP" sz="1050" b="1">
                <a:latin typeface="Meiryo UI" panose="020B0604030504040204" pitchFamily="50" charset="-128"/>
                <a:ea typeface="Meiryo UI" panose="020B0604030504040204" pitchFamily="50" charset="-128"/>
              </a:rPr>
              <a:t>)</a:t>
            </a:r>
          </a:p>
        </p:txBody>
      </p:sp>
      <p:sp>
        <p:nvSpPr>
          <p:cNvPr id="219" name="正方形/長方形 218">
            <a:extLst>
              <a:ext uri="{FF2B5EF4-FFF2-40B4-BE49-F238E27FC236}">
                <a16:creationId xmlns:a16="http://schemas.microsoft.com/office/drawing/2014/main" id="{FCCE65B5-857A-775F-80CF-3DA8B846A090}"/>
              </a:ext>
            </a:extLst>
          </p:cNvPr>
          <p:cNvSpPr/>
          <p:nvPr/>
        </p:nvSpPr>
        <p:spPr>
          <a:xfrm>
            <a:off x="3766355" y="3406727"/>
            <a:ext cx="516155"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安環</a:t>
            </a:r>
          </a:p>
        </p:txBody>
      </p:sp>
      <p:pic>
        <p:nvPicPr>
          <p:cNvPr id="220" name="Picture 185">
            <a:extLst>
              <a:ext uri="{FF2B5EF4-FFF2-40B4-BE49-F238E27FC236}">
                <a16:creationId xmlns:a16="http://schemas.microsoft.com/office/drawing/2014/main" id="{07485E83-0D0D-6255-306F-ABF9790A5E2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763858" y="3945611"/>
            <a:ext cx="223206" cy="216000"/>
          </a:xfrm>
          <a:prstGeom prst="rect">
            <a:avLst/>
          </a:prstGeom>
        </p:spPr>
      </p:pic>
      <p:sp>
        <p:nvSpPr>
          <p:cNvPr id="221" name="四角形: 角を丸くする 220">
            <a:extLst>
              <a:ext uri="{FF2B5EF4-FFF2-40B4-BE49-F238E27FC236}">
                <a16:creationId xmlns:a16="http://schemas.microsoft.com/office/drawing/2014/main" id="{4EB1FB71-30C9-AB85-9BC9-B193A4B344F6}"/>
              </a:ext>
            </a:extLst>
          </p:cNvPr>
          <p:cNvSpPr/>
          <p:nvPr/>
        </p:nvSpPr>
        <p:spPr>
          <a:xfrm>
            <a:off x="3914674" y="3987750"/>
            <a:ext cx="426575" cy="140555"/>
          </a:xfrm>
          <a:prstGeom prst="round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算定</a:t>
            </a:r>
          </a:p>
        </p:txBody>
      </p:sp>
      <p:sp>
        <p:nvSpPr>
          <p:cNvPr id="222" name="四角形: 角を丸くする 221">
            <a:extLst>
              <a:ext uri="{FF2B5EF4-FFF2-40B4-BE49-F238E27FC236}">
                <a16:creationId xmlns:a16="http://schemas.microsoft.com/office/drawing/2014/main" id="{AA658B94-350E-5682-B36A-EE6D1A02097B}"/>
              </a:ext>
            </a:extLst>
          </p:cNvPr>
          <p:cNvSpPr/>
          <p:nvPr/>
        </p:nvSpPr>
        <p:spPr>
          <a:xfrm>
            <a:off x="3533836" y="4299425"/>
            <a:ext cx="687003" cy="140555"/>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報告・開示</a:t>
            </a:r>
          </a:p>
        </p:txBody>
      </p:sp>
      <p:cxnSp>
        <p:nvCxnSpPr>
          <p:cNvPr id="223" name="直線矢印コネクタ 222">
            <a:extLst>
              <a:ext uri="{FF2B5EF4-FFF2-40B4-BE49-F238E27FC236}">
                <a16:creationId xmlns:a16="http://schemas.microsoft.com/office/drawing/2014/main" id="{303EEECC-E58E-479E-1083-15824CCE440F}"/>
              </a:ext>
            </a:extLst>
          </p:cNvPr>
          <p:cNvCxnSpPr>
            <a:cxnSpLocks/>
            <a:stCxn id="220" idx="2"/>
            <a:endCxn id="222" idx="0"/>
          </p:cNvCxnSpPr>
          <p:nvPr/>
        </p:nvCxnSpPr>
        <p:spPr bwMode="gray">
          <a:xfrm>
            <a:off x="3875461" y="4161611"/>
            <a:ext cx="1877" cy="137814"/>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4" name="Freeform 108">
            <a:extLst>
              <a:ext uri="{FF2B5EF4-FFF2-40B4-BE49-F238E27FC236}">
                <a16:creationId xmlns:a16="http://schemas.microsoft.com/office/drawing/2014/main" id="{48F5B99F-5184-5AB1-A4BE-713251F08630}"/>
              </a:ext>
            </a:extLst>
          </p:cNvPr>
          <p:cNvSpPr>
            <a:spLocks/>
          </p:cNvSpPr>
          <p:nvPr/>
        </p:nvSpPr>
        <p:spPr bwMode="auto">
          <a:xfrm>
            <a:off x="4113520" y="3358713"/>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cxnSp>
        <p:nvCxnSpPr>
          <p:cNvPr id="225" name="直線矢印コネクタ 219">
            <a:extLst>
              <a:ext uri="{FF2B5EF4-FFF2-40B4-BE49-F238E27FC236}">
                <a16:creationId xmlns:a16="http://schemas.microsoft.com/office/drawing/2014/main" id="{1BB3A4B5-C7EB-3A0B-AE1F-78D8E549FC9C}"/>
              </a:ext>
            </a:extLst>
          </p:cNvPr>
          <p:cNvCxnSpPr>
            <a:cxnSpLocks/>
            <a:stCxn id="17" idx="4"/>
            <a:endCxn id="220" idx="1"/>
          </p:cNvCxnSpPr>
          <p:nvPr/>
        </p:nvCxnSpPr>
        <p:spPr bwMode="gray">
          <a:xfrm flipV="1">
            <a:off x="2746790" y="4053611"/>
            <a:ext cx="1017068" cy="3607"/>
          </a:xfrm>
          <a:prstGeom prst="bentConnector3">
            <a:avLst>
              <a:gd name="adj1" fmla="val 50000"/>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9" name="正方形/長方形 223">
            <a:extLst>
              <a:ext uri="{FF2B5EF4-FFF2-40B4-BE49-F238E27FC236}">
                <a16:creationId xmlns:a16="http://schemas.microsoft.com/office/drawing/2014/main" id="{4D36905E-2D3D-8C24-7C7F-479512E593A9}"/>
              </a:ext>
            </a:extLst>
          </p:cNvPr>
          <p:cNvSpPr/>
          <p:nvPr/>
        </p:nvSpPr>
        <p:spPr bwMode="gray">
          <a:xfrm>
            <a:off x="3467394" y="5189469"/>
            <a:ext cx="816134" cy="993357"/>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算定・報告</a:t>
            </a:r>
            <a:endParaRPr lang="en-US" altLang="ja-JP" sz="1050" b="1">
              <a:latin typeface="Meiryo UI" panose="020B0604030504040204" pitchFamily="50" charset="-128"/>
              <a:ea typeface="Meiryo UI" panose="020B0604030504040204" pitchFamily="50" charset="-128"/>
            </a:endParaRPr>
          </a:p>
          <a:p>
            <a:pPr defTabSz="1219170">
              <a:lnSpc>
                <a:spcPct val="106000"/>
              </a:lnSpc>
            </a:pPr>
            <a:r>
              <a:rPr lang="en-US" altLang="ja-JP" sz="1050" b="1">
                <a:latin typeface="Meiryo UI" panose="020B0604030504040204" pitchFamily="50" charset="-128"/>
                <a:ea typeface="Meiryo UI" panose="020B0604030504040204" pitchFamily="50" charset="-128"/>
              </a:rPr>
              <a:t>(</a:t>
            </a:r>
            <a:r>
              <a:rPr lang="ja-JP" altLang="en-US" sz="1050" b="1">
                <a:latin typeface="Meiryo UI" panose="020B0604030504040204" pitchFamily="50" charset="-128"/>
                <a:ea typeface="Meiryo UI" panose="020B0604030504040204" pitchFamily="50" charset="-128"/>
              </a:rPr>
              <a:t>データブック</a:t>
            </a:r>
            <a:r>
              <a:rPr lang="en-US" altLang="ja-JP" sz="1050" b="1">
                <a:latin typeface="Meiryo UI" panose="020B0604030504040204" pitchFamily="50" charset="-128"/>
                <a:ea typeface="Meiryo UI" panose="020B0604030504040204" pitchFamily="50" charset="-128"/>
              </a:rPr>
              <a:t>)</a:t>
            </a:r>
          </a:p>
        </p:txBody>
      </p:sp>
      <p:sp>
        <p:nvSpPr>
          <p:cNvPr id="230" name="正方形/長方形 229">
            <a:extLst>
              <a:ext uri="{FF2B5EF4-FFF2-40B4-BE49-F238E27FC236}">
                <a16:creationId xmlns:a16="http://schemas.microsoft.com/office/drawing/2014/main" id="{EFF94AA4-E0F7-041E-5660-6A2272C86287}"/>
              </a:ext>
            </a:extLst>
          </p:cNvPr>
          <p:cNvSpPr/>
          <p:nvPr/>
        </p:nvSpPr>
        <p:spPr>
          <a:xfrm>
            <a:off x="3721137" y="5058364"/>
            <a:ext cx="516155"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サス室</a:t>
            </a:r>
          </a:p>
        </p:txBody>
      </p:sp>
      <p:pic>
        <p:nvPicPr>
          <p:cNvPr id="231" name="Picture 185">
            <a:extLst>
              <a:ext uri="{FF2B5EF4-FFF2-40B4-BE49-F238E27FC236}">
                <a16:creationId xmlns:a16="http://schemas.microsoft.com/office/drawing/2014/main" id="{DFCDE3FF-E43D-562F-3BCF-42585EA34C0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763858" y="5585389"/>
            <a:ext cx="223206" cy="216000"/>
          </a:xfrm>
          <a:prstGeom prst="rect">
            <a:avLst/>
          </a:prstGeom>
        </p:spPr>
      </p:pic>
      <p:sp>
        <p:nvSpPr>
          <p:cNvPr id="232" name="四角形: 角を丸くする 231">
            <a:extLst>
              <a:ext uri="{FF2B5EF4-FFF2-40B4-BE49-F238E27FC236}">
                <a16:creationId xmlns:a16="http://schemas.microsoft.com/office/drawing/2014/main" id="{1158F892-A213-2030-6FBB-2B420707FF66}"/>
              </a:ext>
            </a:extLst>
          </p:cNvPr>
          <p:cNvSpPr/>
          <p:nvPr/>
        </p:nvSpPr>
        <p:spPr>
          <a:xfrm>
            <a:off x="3914674" y="5627528"/>
            <a:ext cx="426575" cy="140555"/>
          </a:xfrm>
          <a:prstGeom prst="round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算定</a:t>
            </a:r>
          </a:p>
        </p:txBody>
      </p:sp>
      <p:sp>
        <p:nvSpPr>
          <p:cNvPr id="233" name="四角形: 角を丸くする 232">
            <a:extLst>
              <a:ext uri="{FF2B5EF4-FFF2-40B4-BE49-F238E27FC236}">
                <a16:creationId xmlns:a16="http://schemas.microsoft.com/office/drawing/2014/main" id="{6B8ADF77-59C3-6901-7D47-1A38C5EC14A4}"/>
              </a:ext>
            </a:extLst>
          </p:cNvPr>
          <p:cNvSpPr/>
          <p:nvPr/>
        </p:nvSpPr>
        <p:spPr>
          <a:xfrm>
            <a:off x="3533836" y="5939203"/>
            <a:ext cx="687003" cy="140555"/>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報告・開示</a:t>
            </a:r>
          </a:p>
        </p:txBody>
      </p:sp>
      <p:cxnSp>
        <p:nvCxnSpPr>
          <p:cNvPr id="234" name="直線矢印コネクタ 233">
            <a:extLst>
              <a:ext uri="{FF2B5EF4-FFF2-40B4-BE49-F238E27FC236}">
                <a16:creationId xmlns:a16="http://schemas.microsoft.com/office/drawing/2014/main" id="{33347A9F-C84B-B4D1-A01F-46D4925D3BE4}"/>
              </a:ext>
            </a:extLst>
          </p:cNvPr>
          <p:cNvCxnSpPr>
            <a:cxnSpLocks/>
            <a:stCxn id="231" idx="2"/>
            <a:endCxn id="233" idx="0"/>
          </p:cNvCxnSpPr>
          <p:nvPr/>
        </p:nvCxnSpPr>
        <p:spPr bwMode="gray">
          <a:xfrm>
            <a:off x="3875461" y="5801389"/>
            <a:ext cx="1877" cy="137814"/>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35" name="Freeform 108">
            <a:extLst>
              <a:ext uri="{FF2B5EF4-FFF2-40B4-BE49-F238E27FC236}">
                <a16:creationId xmlns:a16="http://schemas.microsoft.com/office/drawing/2014/main" id="{A0A0E740-3CC4-A6A3-D97A-9423E0A0B6F5}"/>
              </a:ext>
            </a:extLst>
          </p:cNvPr>
          <p:cNvSpPr>
            <a:spLocks/>
          </p:cNvSpPr>
          <p:nvPr/>
        </p:nvSpPr>
        <p:spPr bwMode="auto">
          <a:xfrm>
            <a:off x="4113520" y="4998491"/>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cxnSp>
        <p:nvCxnSpPr>
          <p:cNvPr id="236" name="直線矢印コネクタ 219">
            <a:extLst>
              <a:ext uri="{FF2B5EF4-FFF2-40B4-BE49-F238E27FC236}">
                <a16:creationId xmlns:a16="http://schemas.microsoft.com/office/drawing/2014/main" id="{B823123E-A46B-B364-E60D-217CAFC28388}"/>
              </a:ext>
            </a:extLst>
          </p:cNvPr>
          <p:cNvCxnSpPr>
            <a:cxnSpLocks/>
            <a:stCxn id="130" idx="3"/>
            <a:endCxn id="231" idx="1"/>
          </p:cNvCxnSpPr>
          <p:nvPr/>
        </p:nvCxnSpPr>
        <p:spPr bwMode="gray">
          <a:xfrm flipV="1">
            <a:off x="2600316" y="5693389"/>
            <a:ext cx="1163542" cy="297675"/>
          </a:xfrm>
          <a:prstGeom prst="bentConnector3">
            <a:avLst>
              <a:gd name="adj1" fmla="val 50000"/>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65" name="正方形/長方形 223">
            <a:extLst>
              <a:ext uri="{FF2B5EF4-FFF2-40B4-BE49-F238E27FC236}">
                <a16:creationId xmlns:a16="http://schemas.microsoft.com/office/drawing/2014/main" id="{6FDCA185-9B52-16E2-CA0E-90E28A5B8833}"/>
              </a:ext>
            </a:extLst>
          </p:cNvPr>
          <p:cNvSpPr/>
          <p:nvPr/>
        </p:nvSpPr>
        <p:spPr bwMode="gray">
          <a:xfrm>
            <a:off x="1453874" y="3326234"/>
            <a:ext cx="67455" cy="131246"/>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endParaRPr lang="ja-JP" altLang="en-US" sz="1050" b="1">
              <a:latin typeface="Meiryo UI" panose="020B0604030504040204" pitchFamily="50" charset="-128"/>
              <a:ea typeface="Meiryo UI" panose="020B0604030504040204" pitchFamily="50" charset="-128"/>
            </a:endParaRPr>
          </a:p>
        </p:txBody>
      </p:sp>
      <p:sp>
        <p:nvSpPr>
          <p:cNvPr id="266" name="正方形/長方形 223">
            <a:extLst>
              <a:ext uri="{FF2B5EF4-FFF2-40B4-BE49-F238E27FC236}">
                <a16:creationId xmlns:a16="http://schemas.microsoft.com/office/drawing/2014/main" id="{C2D5AE13-A24D-B93E-F7BC-81FF8E5842E1}"/>
              </a:ext>
            </a:extLst>
          </p:cNvPr>
          <p:cNvSpPr/>
          <p:nvPr/>
        </p:nvSpPr>
        <p:spPr bwMode="gray">
          <a:xfrm>
            <a:off x="1453178" y="3868176"/>
            <a:ext cx="71095" cy="120745"/>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endParaRPr lang="ja-JP" altLang="en-US" sz="1050" b="1">
              <a:latin typeface="Meiryo UI" panose="020B0604030504040204" pitchFamily="50" charset="-128"/>
              <a:ea typeface="Meiryo UI" panose="020B0604030504040204" pitchFamily="50" charset="-128"/>
            </a:endParaRPr>
          </a:p>
        </p:txBody>
      </p:sp>
      <p:cxnSp>
        <p:nvCxnSpPr>
          <p:cNvPr id="255" name="直線矢印コネクタ 219">
            <a:extLst>
              <a:ext uri="{FF2B5EF4-FFF2-40B4-BE49-F238E27FC236}">
                <a16:creationId xmlns:a16="http://schemas.microsoft.com/office/drawing/2014/main" id="{DA0C779E-08EE-7B14-9594-E02611094427}"/>
              </a:ext>
            </a:extLst>
          </p:cNvPr>
          <p:cNvCxnSpPr>
            <a:cxnSpLocks/>
            <a:stCxn id="103" idx="1"/>
            <a:endCxn id="51" idx="3"/>
          </p:cNvCxnSpPr>
          <p:nvPr/>
        </p:nvCxnSpPr>
        <p:spPr bwMode="gray">
          <a:xfrm rot="10800000" flipV="1">
            <a:off x="1339452" y="3285616"/>
            <a:ext cx="692061" cy="246756"/>
          </a:xfrm>
          <a:prstGeom prst="bentConnector3">
            <a:avLst>
              <a:gd name="adj1" fmla="val 78770"/>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74" name="正方形/長方形 273">
            <a:extLst>
              <a:ext uri="{FF2B5EF4-FFF2-40B4-BE49-F238E27FC236}">
                <a16:creationId xmlns:a16="http://schemas.microsoft.com/office/drawing/2014/main" id="{59CE5D02-992D-CA42-1B53-4E1D61CFC356}"/>
              </a:ext>
            </a:extLst>
          </p:cNvPr>
          <p:cNvSpPr/>
          <p:nvPr/>
        </p:nvSpPr>
        <p:spPr>
          <a:xfrm>
            <a:off x="1598274" y="5379193"/>
            <a:ext cx="112048" cy="1296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cxnSp>
        <p:nvCxnSpPr>
          <p:cNvPr id="200" name="直線矢印コネクタ 219">
            <a:extLst>
              <a:ext uri="{FF2B5EF4-FFF2-40B4-BE49-F238E27FC236}">
                <a16:creationId xmlns:a16="http://schemas.microsoft.com/office/drawing/2014/main" id="{31111F9A-6A20-F57E-5D2C-18EE00891361}"/>
              </a:ext>
            </a:extLst>
          </p:cNvPr>
          <p:cNvCxnSpPr>
            <a:cxnSpLocks/>
            <a:stCxn id="183" idx="3"/>
            <a:endCxn id="122" idx="1"/>
          </p:cNvCxnSpPr>
          <p:nvPr/>
        </p:nvCxnSpPr>
        <p:spPr bwMode="gray">
          <a:xfrm>
            <a:off x="1277084" y="5449470"/>
            <a:ext cx="754428" cy="197770"/>
          </a:xfrm>
          <a:prstGeom prst="bentConnector3">
            <a:avLst>
              <a:gd name="adj1" fmla="val 5796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7" name="Picture 2" descr="「logo outlook」の画像検索結果">
            <a:extLst>
              <a:ext uri="{FF2B5EF4-FFF2-40B4-BE49-F238E27FC236}">
                <a16:creationId xmlns:a16="http://schemas.microsoft.com/office/drawing/2014/main" id="{E7A78E3E-970C-C0D7-328B-AD4392EAFDD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585556" y="2662195"/>
            <a:ext cx="164866" cy="131735"/>
          </a:xfrm>
          <a:prstGeom prst="rect">
            <a:avLst/>
          </a:prstGeom>
          <a:noFill/>
          <a:extLst>
            <a:ext uri="{909E8E84-426E-40DD-AFC4-6F175D3DCCD1}">
              <a14:hiddenFill xmlns:a14="http://schemas.microsoft.com/office/drawing/2010/main">
                <a:solidFill>
                  <a:srgbClr val="FFFFFF"/>
                </a:solidFill>
              </a14:hiddenFill>
            </a:ext>
          </a:extLst>
        </p:spPr>
      </p:pic>
      <p:pic>
        <p:nvPicPr>
          <p:cNvPr id="277" name="Picture 2" descr="「logo outlook」の画像検索結果">
            <a:extLst>
              <a:ext uri="{FF2B5EF4-FFF2-40B4-BE49-F238E27FC236}">
                <a16:creationId xmlns:a16="http://schemas.microsoft.com/office/drawing/2014/main" id="{3EFC06F5-2ED8-DFE0-CA9F-7C9A610EBA2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748523" y="5585389"/>
            <a:ext cx="164866" cy="131735"/>
          </a:xfrm>
          <a:prstGeom prst="rect">
            <a:avLst/>
          </a:prstGeom>
          <a:noFill/>
          <a:extLst>
            <a:ext uri="{909E8E84-426E-40DD-AFC4-6F175D3DCCD1}">
              <a14:hiddenFill xmlns:a14="http://schemas.microsoft.com/office/drawing/2010/main">
                <a:solidFill>
                  <a:srgbClr val="FFFFFF"/>
                </a:solidFill>
              </a14:hiddenFill>
            </a:ext>
          </a:extLst>
        </p:spPr>
      </p:pic>
      <p:sp>
        <p:nvSpPr>
          <p:cNvPr id="280" name="四角形: 角を丸くする 279">
            <a:extLst>
              <a:ext uri="{FF2B5EF4-FFF2-40B4-BE49-F238E27FC236}">
                <a16:creationId xmlns:a16="http://schemas.microsoft.com/office/drawing/2014/main" id="{C655A122-A6FB-8633-A1E5-0F4915870AC5}"/>
              </a:ext>
            </a:extLst>
          </p:cNvPr>
          <p:cNvSpPr/>
          <p:nvPr/>
        </p:nvSpPr>
        <p:spPr bwMode="gray">
          <a:xfrm>
            <a:off x="318850" y="1772168"/>
            <a:ext cx="2197552" cy="491110"/>
          </a:xfrm>
          <a:prstGeom prst="roundRect">
            <a:avLst/>
          </a:prstGeom>
          <a:solidFill>
            <a:schemeClr val="bg1"/>
          </a:solidFill>
          <a:ln w="12700" algn="ctr">
            <a:solidFill>
              <a:schemeClr val="accent1"/>
            </a:solid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300"/>
              </a:spcBef>
              <a:spcAft>
                <a:spcPts val="0"/>
              </a:spcAft>
              <a:buClrTx/>
              <a:buSzPct val="100000"/>
              <a:buFont typeface="Wingdings" panose="05000000000000000000" pitchFamily="2" charset="2"/>
              <a:buNone/>
              <a:tabLst/>
            </a:pPr>
            <a:r>
              <a:rPr kumimoji="1" lang="ja-JP" altLang="en-US" sz="1000">
                <a:latin typeface="Meiryo UI" panose="020B0604030504040204" pitchFamily="50" charset="-128"/>
                <a:ea typeface="Meiryo UI" panose="020B0604030504040204" pitchFamily="50" charset="-128"/>
              </a:rPr>
              <a:t>データの提出先が報告書ごとで分かれているため、それぞれに調整作業が発生し、非効率な</a:t>
            </a:r>
            <a:r>
              <a:rPr kumimoji="1" lang="en-US" altLang="ja-JP" sz="1000" b="1" u="sng">
                <a:solidFill>
                  <a:schemeClr val="accent1"/>
                </a:solidFill>
                <a:latin typeface="Meiryo UI" panose="020B0604030504040204" pitchFamily="50" charset="-128"/>
                <a:ea typeface="Meiryo UI" panose="020B0604030504040204" pitchFamily="50" charset="-128"/>
              </a:rPr>
              <a:t>Excel</a:t>
            </a:r>
            <a:r>
              <a:rPr kumimoji="1" lang="ja-JP" altLang="en-US" sz="1000" b="1" u="sng">
                <a:solidFill>
                  <a:schemeClr val="accent1"/>
                </a:solidFill>
                <a:latin typeface="Meiryo UI" panose="020B0604030504040204" pitchFamily="50" charset="-128"/>
                <a:ea typeface="Meiryo UI" panose="020B0604030504040204" pitchFamily="50" charset="-128"/>
              </a:rPr>
              <a:t>のバケツリレーとなっている</a:t>
            </a:r>
            <a:endParaRPr kumimoji="1" lang="en-US" altLang="ja-JP" sz="1000" b="1" u="sng">
              <a:solidFill>
                <a:schemeClr val="accent1"/>
              </a:solidFill>
              <a:latin typeface="Meiryo UI" panose="020B0604030504040204" pitchFamily="50" charset="-128"/>
              <a:ea typeface="Meiryo UI" panose="020B0604030504040204" pitchFamily="50" charset="-128"/>
            </a:endParaRPr>
          </a:p>
        </p:txBody>
      </p:sp>
      <p:cxnSp>
        <p:nvCxnSpPr>
          <p:cNvPr id="281" name="直線コネクタ 280">
            <a:extLst>
              <a:ext uri="{FF2B5EF4-FFF2-40B4-BE49-F238E27FC236}">
                <a16:creationId xmlns:a16="http://schemas.microsoft.com/office/drawing/2014/main" id="{01B96701-173D-B4F6-1700-FB805EA1EBCC}"/>
              </a:ext>
            </a:extLst>
          </p:cNvPr>
          <p:cNvCxnSpPr>
            <a:cxnSpLocks/>
            <a:stCxn id="280" idx="2"/>
          </p:cNvCxnSpPr>
          <p:nvPr/>
        </p:nvCxnSpPr>
        <p:spPr bwMode="gray">
          <a:xfrm>
            <a:off x="1417626" y="2263278"/>
            <a:ext cx="30725" cy="593591"/>
          </a:xfrm>
          <a:prstGeom prst="line">
            <a:avLst/>
          </a:prstGeom>
          <a:ln w="12700">
            <a:solidFill>
              <a:schemeClr val="accent1"/>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82" name="正方形/長方形 281">
            <a:extLst>
              <a:ext uri="{FF2B5EF4-FFF2-40B4-BE49-F238E27FC236}">
                <a16:creationId xmlns:a16="http://schemas.microsoft.com/office/drawing/2014/main" id="{1D8C881F-8451-575C-9E64-053F46A413E7}"/>
              </a:ext>
            </a:extLst>
          </p:cNvPr>
          <p:cNvSpPr/>
          <p:nvPr/>
        </p:nvSpPr>
        <p:spPr bwMode="gray">
          <a:xfrm>
            <a:off x="191899" y="1765132"/>
            <a:ext cx="193388" cy="193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a:solidFill>
                  <a:schemeClr val="bg1"/>
                </a:solidFill>
                <a:latin typeface="Meiryo UI" panose="020B0604030504040204" pitchFamily="50" charset="-128"/>
                <a:ea typeface="Meiryo UI" panose="020B0604030504040204" pitchFamily="50" charset="-128"/>
              </a:rPr>
              <a:t>1</a:t>
            </a:r>
            <a:endParaRPr kumimoji="1" lang="ja-JP" altLang="en-US" sz="1200">
              <a:solidFill>
                <a:schemeClr val="bg1"/>
              </a:solidFill>
              <a:latin typeface="Meiryo UI" panose="020B0604030504040204" pitchFamily="50" charset="-128"/>
              <a:ea typeface="Meiryo UI" panose="020B0604030504040204" pitchFamily="50" charset="-128"/>
            </a:endParaRPr>
          </a:p>
        </p:txBody>
      </p:sp>
      <p:sp>
        <p:nvSpPr>
          <p:cNvPr id="290" name="四角形: 角を丸くする 289">
            <a:extLst>
              <a:ext uri="{FF2B5EF4-FFF2-40B4-BE49-F238E27FC236}">
                <a16:creationId xmlns:a16="http://schemas.microsoft.com/office/drawing/2014/main" id="{30B4F6DF-F55B-418D-7772-845920E2EE69}"/>
              </a:ext>
            </a:extLst>
          </p:cNvPr>
          <p:cNvSpPr/>
          <p:nvPr/>
        </p:nvSpPr>
        <p:spPr bwMode="gray">
          <a:xfrm>
            <a:off x="2643025" y="4496707"/>
            <a:ext cx="1928975" cy="478709"/>
          </a:xfrm>
          <a:prstGeom prst="roundRect">
            <a:avLst/>
          </a:prstGeom>
          <a:solidFill>
            <a:schemeClr val="bg1"/>
          </a:solidFill>
          <a:ln w="12700" algn="ctr">
            <a:solidFill>
              <a:schemeClr val="accent1"/>
            </a:solid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300"/>
              </a:spcBef>
              <a:spcAft>
                <a:spcPts val="0"/>
              </a:spcAft>
              <a:buClrTx/>
              <a:buSzPct val="100000"/>
              <a:buFont typeface="Wingdings" panose="05000000000000000000" pitchFamily="2" charset="2"/>
              <a:buNone/>
              <a:tabLst/>
            </a:pPr>
            <a:r>
              <a:rPr kumimoji="1" lang="ja-JP" altLang="en-US" sz="1000">
                <a:latin typeface="Meiryo UI" panose="020B0604030504040204" pitchFamily="50" charset="-128"/>
                <a:ea typeface="Meiryo UI" panose="020B0604030504040204" pitchFamily="50" charset="-128"/>
              </a:rPr>
              <a:t>算定作業はシステム外で実施されているため、</a:t>
            </a:r>
            <a:r>
              <a:rPr kumimoji="1" lang="ja-JP" altLang="en-US" sz="1000" b="1" u="sng">
                <a:solidFill>
                  <a:schemeClr val="accent1"/>
                </a:solidFill>
                <a:latin typeface="Meiryo UI" panose="020B0604030504040204" pitchFamily="50" charset="-128"/>
                <a:ea typeface="Meiryo UI" panose="020B0604030504040204" pitchFamily="50" charset="-128"/>
              </a:rPr>
              <a:t>業務工数が肥大化し、修正作業等が発生している</a:t>
            </a:r>
            <a:endParaRPr kumimoji="1" lang="en-US" altLang="ja-JP" sz="1000" b="1" u="sng">
              <a:solidFill>
                <a:schemeClr val="accent1"/>
              </a:solidFill>
              <a:latin typeface="Meiryo UI" panose="020B0604030504040204" pitchFamily="50" charset="-128"/>
              <a:ea typeface="Meiryo UI" panose="020B0604030504040204" pitchFamily="50" charset="-128"/>
            </a:endParaRPr>
          </a:p>
        </p:txBody>
      </p:sp>
      <p:cxnSp>
        <p:nvCxnSpPr>
          <p:cNvPr id="291" name="直線コネクタ 290">
            <a:extLst>
              <a:ext uri="{FF2B5EF4-FFF2-40B4-BE49-F238E27FC236}">
                <a16:creationId xmlns:a16="http://schemas.microsoft.com/office/drawing/2014/main" id="{D8C31789-F3FC-8400-7A49-51B216C8903F}"/>
              </a:ext>
            </a:extLst>
          </p:cNvPr>
          <p:cNvCxnSpPr>
            <a:cxnSpLocks/>
          </p:cNvCxnSpPr>
          <p:nvPr/>
        </p:nvCxnSpPr>
        <p:spPr bwMode="gray">
          <a:xfrm flipH="1" flipV="1">
            <a:off x="4218963" y="4161611"/>
            <a:ext cx="144869" cy="350180"/>
          </a:xfrm>
          <a:prstGeom prst="line">
            <a:avLst/>
          </a:prstGeom>
          <a:ln w="12700">
            <a:solidFill>
              <a:schemeClr val="accent1"/>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 name="正方形/長方形 291">
            <a:extLst>
              <a:ext uri="{FF2B5EF4-FFF2-40B4-BE49-F238E27FC236}">
                <a16:creationId xmlns:a16="http://schemas.microsoft.com/office/drawing/2014/main" id="{D8F6207E-CB74-492C-C539-FBCE8305576B}"/>
              </a:ext>
            </a:extLst>
          </p:cNvPr>
          <p:cNvSpPr/>
          <p:nvPr/>
        </p:nvSpPr>
        <p:spPr bwMode="gray">
          <a:xfrm>
            <a:off x="2487764" y="4511791"/>
            <a:ext cx="193388" cy="193388"/>
          </a:xfrm>
          <a:prstGeom prst="rect">
            <a:avLst/>
          </a:prstGeom>
          <a:solidFill>
            <a:schemeClr val="accent1"/>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3</a:t>
            </a:r>
            <a:endParaRPr kumimoji="1" lang="ja-JP" altLang="en-US"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309" name="正方形/長方形 308">
            <a:extLst>
              <a:ext uri="{FF2B5EF4-FFF2-40B4-BE49-F238E27FC236}">
                <a16:creationId xmlns:a16="http://schemas.microsoft.com/office/drawing/2014/main" id="{2E8919D7-459C-DD41-35E4-D227572EEE5C}"/>
              </a:ext>
            </a:extLst>
          </p:cNvPr>
          <p:cNvSpPr/>
          <p:nvPr/>
        </p:nvSpPr>
        <p:spPr>
          <a:xfrm>
            <a:off x="1598274" y="3206664"/>
            <a:ext cx="112048" cy="1296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310" name="正方形/長方形 309">
            <a:extLst>
              <a:ext uri="{FF2B5EF4-FFF2-40B4-BE49-F238E27FC236}">
                <a16:creationId xmlns:a16="http://schemas.microsoft.com/office/drawing/2014/main" id="{83332A87-7AFB-91DC-F9F3-10B3D02BF59A}"/>
              </a:ext>
            </a:extLst>
          </p:cNvPr>
          <p:cNvSpPr/>
          <p:nvPr/>
        </p:nvSpPr>
        <p:spPr>
          <a:xfrm>
            <a:off x="1598274" y="4317662"/>
            <a:ext cx="112048" cy="1296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cxnSp>
        <p:nvCxnSpPr>
          <p:cNvPr id="77" name="直線矢印コネクタ 219">
            <a:extLst>
              <a:ext uri="{FF2B5EF4-FFF2-40B4-BE49-F238E27FC236}">
                <a16:creationId xmlns:a16="http://schemas.microsoft.com/office/drawing/2014/main" id="{65269FE2-C15A-9755-88DA-21C342A18DED}"/>
              </a:ext>
            </a:extLst>
          </p:cNvPr>
          <p:cNvCxnSpPr>
            <a:cxnSpLocks/>
            <a:stCxn id="73" idx="1"/>
            <a:endCxn id="9" idx="3"/>
          </p:cNvCxnSpPr>
          <p:nvPr/>
        </p:nvCxnSpPr>
        <p:spPr bwMode="gray">
          <a:xfrm rot="10800000">
            <a:off x="1339452" y="3005250"/>
            <a:ext cx="692061" cy="1368528"/>
          </a:xfrm>
          <a:prstGeom prst="bentConnector3">
            <a:avLst>
              <a:gd name="adj1" fmla="val 79220"/>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1" name="直線矢印コネクタ 219">
            <a:extLst>
              <a:ext uri="{FF2B5EF4-FFF2-40B4-BE49-F238E27FC236}">
                <a16:creationId xmlns:a16="http://schemas.microsoft.com/office/drawing/2014/main" id="{C354F154-4A7B-9284-89BA-17F5425C776D}"/>
              </a:ext>
            </a:extLst>
          </p:cNvPr>
          <p:cNvCxnSpPr>
            <a:cxnSpLocks/>
            <a:stCxn id="103" idx="1"/>
            <a:endCxn id="55" idx="3"/>
          </p:cNvCxnSpPr>
          <p:nvPr/>
        </p:nvCxnSpPr>
        <p:spPr bwMode="gray">
          <a:xfrm rot="10800000" flipV="1">
            <a:off x="1339452" y="3285615"/>
            <a:ext cx="692061" cy="773063"/>
          </a:xfrm>
          <a:prstGeom prst="bentConnector3">
            <a:avLst>
              <a:gd name="adj1" fmla="val 78769"/>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27" name="正方形/長方形 223">
            <a:extLst>
              <a:ext uri="{FF2B5EF4-FFF2-40B4-BE49-F238E27FC236}">
                <a16:creationId xmlns:a16="http://schemas.microsoft.com/office/drawing/2014/main" id="{DBE098B3-3CAB-6E5A-C51E-3CBCFC158741}"/>
              </a:ext>
            </a:extLst>
          </p:cNvPr>
          <p:cNvSpPr/>
          <p:nvPr/>
        </p:nvSpPr>
        <p:spPr bwMode="gray">
          <a:xfrm>
            <a:off x="4868516" y="2288915"/>
            <a:ext cx="1280115" cy="2292213"/>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データ提供</a:t>
            </a:r>
          </a:p>
        </p:txBody>
      </p:sp>
      <p:sp>
        <p:nvSpPr>
          <p:cNvPr id="328" name="Freeform 108">
            <a:extLst>
              <a:ext uri="{FF2B5EF4-FFF2-40B4-BE49-F238E27FC236}">
                <a16:creationId xmlns:a16="http://schemas.microsoft.com/office/drawing/2014/main" id="{9E891425-F5EF-86B1-CA9E-6D9643DE30B5}"/>
              </a:ext>
            </a:extLst>
          </p:cNvPr>
          <p:cNvSpPr>
            <a:spLocks/>
          </p:cNvSpPr>
          <p:nvPr/>
        </p:nvSpPr>
        <p:spPr bwMode="auto">
          <a:xfrm>
            <a:off x="5441425" y="2612909"/>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sp>
        <p:nvSpPr>
          <p:cNvPr id="330" name="正方形/長方形 329">
            <a:extLst>
              <a:ext uri="{FF2B5EF4-FFF2-40B4-BE49-F238E27FC236}">
                <a16:creationId xmlns:a16="http://schemas.microsoft.com/office/drawing/2014/main" id="{3E744C8C-0631-9965-9703-F8AEB2375260}"/>
              </a:ext>
            </a:extLst>
          </p:cNvPr>
          <p:cNvSpPr/>
          <p:nvPr/>
        </p:nvSpPr>
        <p:spPr>
          <a:xfrm>
            <a:off x="5259892" y="2928039"/>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製油所</a:t>
            </a:r>
            <a:r>
              <a:rPr kumimoji="1" lang="en-US" altLang="ja-JP" sz="800">
                <a:solidFill>
                  <a:schemeClr val="tx1"/>
                </a:solidFill>
                <a:latin typeface="Meiryo UI" panose="020B0604030504040204" pitchFamily="50" charset="-128"/>
                <a:ea typeface="Meiryo UI" panose="020B0604030504040204" pitchFamily="50" charset="-128"/>
              </a:rPr>
              <a:t>A</a:t>
            </a:r>
            <a:r>
              <a:rPr kumimoji="1" lang="ja-JP" altLang="en-US" sz="800">
                <a:solidFill>
                  <a:schemeClr val="tx1"/>
                </a:solidFill>
                <a:latin typeface="Meiryo UI" panose="020B0604030504040204" pitchFamily="50" charset="-128"/>
                <a:ea typeface="Meiryo UI" panose="020B0604030504040204" pitchFamily="50" charset="-128"/>
              </a:rPr>
              <a:t>担当者</a:t>
            </a:r>
          </a:p>
        </p:txBody>
      </p:sp>
      <p:sp>
        <p:nvSpPr>
          <p:cNvPr id="331" name="フローチャート: 磁気ディスク 330">
            <a:extLst>
              <a:ext uri="{FF2B5EF4-FFF2-40B4-BE49-F238E27FC236}">
                <a16:creationId xmlns:a16="http://schemas.microsoft.com/office/drawing/2014/main" id="{46255568-A82D-0B36-05F5-01044AE86D2B}"/>
              </a:ext>
            </a:extLst>
          </p:cNvPr>
          <p:cNvSpPr/>
          <p:nvPr/>
        </p:nvSpPr>
        <p:spPr>
          <a:xfrm>
            <a:off x="4868517" y="2627568"/>
            <a:ext cx="516155" cy="285805"/>
          </a:xfrm>
          <a:prstGeom prst="flowChartMagneticDisk">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拠点</a:t>
            </a:r>
            <a:endParaRPr kumimoji="1" lang="en-US" altLang="ja-JP" sz="800">
              <a:solidFill>
                <a:schemeClr val="tx1"/>
              </a:solidFill>
              <a:latin typeface="Meiryo UI" panose="020B0604030504040204" pitchFamily="50" charset="-128"/>
              <a:ea typeface="Meiryo UI" panose="020B0604030504040204" pitchFamily="50" charset="-128"/>
            </a:endParaRPr>
          </a:p>
          <a:p>
            <a:pPr algn="ctr"/>
            <a:r>
              <a:rPr kumimoji="1" lang="ja-JP" altLang="en-US" sz="800">
                <a:solidFill>
                  <a:schemeClr val="tx1"/>
                </a:solidFill>
                <a:latin typeface="Meiryo UI" panose="020B0604030504040204" pitchFamily="50" charset="-128"/>
                <a:ea typeface="Meiryo UI" panose="020B0604030504040204" pitchFamily="50" charset="-128"/>
              </a:rPr>
              <a:t>システム</a:t>
            </a:r>
          </a:p>
        </p:txBody>
      </p:sp>
      <p:sp>
        <p:nvSpPr>
          <p:cNvPr id="332" name="四角形: 角を丸くする 331">
            <a:extLst>
              <a:ext uri="{FF2B5EF4-FFF2-40B4-BE49-F238E27FC236}">
                <a16:creationId xmlns:a16="http://schemas.microsoft.com/office/drawing/2014/main" id="{0BD9AD40-DC0A-85F5-6FAC-6A194D43E7F8}"/>
              </a:ext>
            </a:extLst>
          </p:cNvPr>
          <p:cNvSpPr/>
          <p:nvPr/>
        </p:nvSpPr>
        <p:spPr>
          <a:xfrm>
            <a:off x="5005653" y="4710423"/>
            <a:ext cx="1005840" cy="296090"/>
          </a:xfrm>
          <a:prstGeom prst="round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700">
                <a:solidFill>
                  <a:schemeClr val="tx1"/>
                </a:solidFill>
                <a:latin typeface="Meiryo UI" panose="020B0604030504040204" pitchFamily="50" charset="-128"/>
                <a:ea typeface="Meiryo UI" panose="020B0604030504040204" pitchFamily="50" charset="-128"/>
              </a:rPr>
              <a:t>その他外部報告機関</a:t>
            </a:r>
            <a:endParaRPr kumimoji="1" lang="en-US" altLang="ja-JP" sz="700">
              <a:solidFill>
                <a:schemeClr val="tx1"/>
              </a:solidFill>
              <a:latin typeface="Meiryo UI" panose="020B0604030504040204" pitchFamily="50" charset="-128"/>
              <a:ea typeface="Meiryo UI" panose="020B0604030504040204" pitchFamily="50" charset="-128"/>
            </a:endParaRPr>
          </a:p>
          <a:p>
            <a:pPr algn="ctr"/>
            <a:r>
              <a:rPr kumimoji="1" lang="en-US" altLang="ja-JP" sz="700">
                <a:solidFill>
                  <a:schemeClr val="tx1"/>
                </a:solidFill>
                <a:latin typeface="Meiryo UI" panose="020B0604030504040204" pitchFamily="50" charset="-128"/>
                <a:ea typeface="Meiryo UI" panose="020B0604030504040204" pitchFamily="50" charset="-128"/>
              </a:rPr>
              <a:t>(</a:t>
            </a:r>
            <a:r>
              <a:rPr kumimoji="1" lang="zh-TW" altLang="en-US" sz="700">
                <a:solidFill>
                  <a:schemeClr val="tx1"/>
                </a:solidFill>
                <a:latin typeface="Meiryo UI" panose="020B0604030504040204" pitchFamily="50" charset="-128"/>
                <a:ea typeface="Meiryo UI" panose="020B0604030504040204" pitchFamily="50" charset="-128"/>
              </a:rPr>
              <a:t>指定統計</a:t>
            </a:r>
            <a:r>
              <a:rPr kumimoji="1" lang="ja-JP" altLang="en-US" sz="700">
                <a:solidFill>
                  <a:schemeClr val="tx1"/>
                </a:solidFill>
                <a:latin typeface="Meiryo UI" panose="020B0604030504040204" pitchFamily="50" charset="-128"/>
                <a:ea typeface="Meiryo UI" panose="020B0604030504040204" pitchFamily="50" charset="-128"/>
              </a:rPr>
              <a:t>・</a:t>
            </a:r>
            <a:r>
              <a:rPr kumimoji="1" lang="zh-TW" altLang="en-US" sz="700">
                <a:solidFill>
                  <a:schemeClr val="tx1"/>
                </a:solidFill>
                <a:latin typeface="Meiryo UI" panose="020B0604030504040204" pitchFamily="50" charset="-128"/>
                <a:ea typeface="Meiryo UI" panose="020B0604030504040204" pitchFamily="50" charset="-128"/>
              </a:rPr>
              <a:t>発受電月報</a:t>
            </a:r>
            <a:r>
              <a:rPr kumimoji="1" lang="ja-JP" altLang="en-US" sz="700">
                <a:solidFill>
                  <a:schemeClr val="tx1"/>
                </a:solidFill>
                <a:latin typeface="Meiryo UI" panose="020B0604030504040204" pitchFamily="50" charset="-128"/>
                <a:ea typeface="Meiryo UI" panose="020B0604030504040204" pitchFamily="50" charset="-128"/>
              </a:rPr>
              <a:t>等</a:t>
            </a:r>
            <a:r>
              <a:rPr kumimoji="1" lang="en-US" altLang="ja-JP" sz="700">
                <a:solidFill>
                  <a:schemeClr val="tx1"/>
                </a:solidFill>
                <a:latin typeface="Meiryo UI" panose="020B0604030504040204" pitchFamily="50" charset="-128"/>
                <a:ea typeface="Meiryo UI" panose="020B0604030504040204" pitchFamily="50" charset="-128"/>
              </a:rPr>
              <a:t>)</a:t>
            </a:r>
            <a:endParaRPr kumimoji="1" lang="ja-JP" altLang="en-US" sz="700">
              <a:solidFill>
                <a:schemeClr val="tx1"/>
              </a:solidFill>
              <a:latin typeface="Meiryo UI" panose="020B0604030504040204" pitchFamily="50" charset="-128"/>
              <a:ea typeface="Meiryo UI" panose="020B0604030504040204" pitchFamily="50" charset="-128"/>
            </a:endParaRPr>
          </a:p>
        </p:txBody>
      </p:sp>
      <p:sp>
        <p:nvSpPr>
          <p:cNvPr id="333" name="Freeform 108">
            <a:extLst>
              <a:ext uri="{FF2B5EF4-FFF2-40B4-BE49-F238E27FC236}">
                <a16:creationId xmlns:a16="http://schemas.microsoft.com/office/drawing/2014/main" id="{31377D43-4946-CC47-70FE-B5EE3BE29565}"/>
              </a:ext>
            </a:extLst>
          </p:cNvPr>
          <p:cNvSpPr>
            <a:spLocks/>
          </p:cNvSpPr>
          <p:nvPr/>
        </p:nvSpPr>
        <p:spPr bwMode="auto">
          <a:xfrm>
            <a:off x="5441425" y="3140031"/>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sp>
        <p:nvSpPr>
          <p:cNvPr id="335" name="正方形/長方形 334">
            <a:extLst>
              <a:ext uri="{FF2B5EF4-FFF2-40B4-BE49-F238E27FC236}">
                <a16:creationId xmlns:a16="http://schemas.microsoft.com/office/drawing/2014/main" id="{9D2E49B3-D1BA-033E-9986-D5A6C50ED003}"/>
              </a:ext>
            </a:extLst>
          </p:cNvPr>
          <p:cNvSpPr/>
          <p:nvPr/>
        </p:nvSpPr>
        <p:spPr>
          <a:xfrm>
            <a:off x="5259892" y="3455161"/>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拠点</a:t>
            </a:r>
            <a:r>
              <a:rPr kumimoji="1" lang="en-US" altLang="ja-JP" sz="800">
                <a:solidFill>
                  <a:schemeClr val="tx1"/>
                </a:solidFill>
                <a:latin typeface="Meiryo UI" panose="020B0604030504040204" pitchFamily="50" charset="-128"/>
                <a:ea typeface="Meiryo UI" panose="020B0604030504040204" pitchFamily="50" charset="-128"/>
              </a:rPr>
              <a:t>B</a:t>
            </a:r>
            <a:r>
              <a:rPr kumimoji="1" lang="ja-JP" altLang="en-US" sz="800">
                <a:solidFill>
                  <a:schemeClr val="tx1"/>
                </a:solidFill>
                <a:latin typeface="Meiryo UI" panose="020B0604030504040204" pitchFamily="50" charset="-128"/>
                <a:ea typeface="Meiryo UI" panose="020B0604030504040204" pitchFamily="50" charset="-128"/>
              </a:rPr>
              <a:t>担当者</a:t>
            </a:r>
          </a:p>
        </p:txBody>
      </p:sp>
      <p:sp>
        <p:nvSpPr>
          <p:cNvPr id="336" name="フローチャート: 磁気ディスク 335">
            <a:extLst>
              <a:ext uri="{FF2B5EF4-FFF2-40B4-BE49-F238E27FC236}">
                <a16:creationId xmlns:a16="http://schemas.microsoft.com/office/drawing/2014/main" id="{65A290B1-050B-293E-A5CE-F68F9D9D2180}"/>
              </a:ext>
            </a:extLst>
          </p:cNvPr>
          <p:cNvSpPr/>
          <p:nvPr/>
        </p:nvSpPr>
        <p:spPr>
          <a:xfrm>
            <a:off x="4868517" y="3154690"/>
            <a:ext cx="516155" cy="285805"/>
          </a:xfrm>
          <a:prstGeom prst="flowChartMagneticDisk">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拠点</a:t>
            </a:r>
            <a:endParaRPr kumimoji="1" lang="en-US" altLang="ja-JP" sz="800">
              <a:solidFill>
                <a:schemeClr val="tx1"/>
              </a:solidFill>
              <a:latin typeface="Meiryo UI" panose="020B0604030504040204" pitchFamily="50" charset="-128"/>
              <a:ea typeface="Meiryo UI" panose="020B0604030504040204" pitchFamily="50" charset="-128"/>
            </a:endParaRPr>
          </a:p>
          <a:p>
            <a:pPr algn="ctr"/>
            <a:r>
              <a:rPr kumimoji="1" lang="ja-JP" altLang="en-US" sz="800">
                <a:solidFill>
                  <a:schemeClr val="tx1"/>
                </a:solidFill>
                <a:latin typeface="Meiryo UI" panose="020B0604030504040204" pitchFamily="50" charset="-128"/>
                <a:ea typeface="Meiryo UI" panose="020B0604030504040204" pitchFamily="50" charset="-128"/>
              </a:rPr>
              <a:t>システム</a:t>
            </a:r>
          </a:p>
        </p:txBody>
      </p:sp>
      <p:sp>
        <p:nvSpPr>
          <p:cNvPr id="337" name="Freeform 108">
            <a:extLst>
              <a:ext uri="{FF2B5EF4-FFF2-40B4-BE49-F238E27FC236}">
                <a16:creationId xmlns:a16="http://schemas.microsoft.com/office/drawing/2014/main" id="{2D235FCD-F1E9-2C81-DDB8-09682B5F708D}"/>
              </a:ext>
            </a:extLst>
          </p:cNvPr>
          <p:cNvSpPr>
            <a:spLocks/>
          </p:cNvSpPr>
          <p:nvPr/>
        </p:nvSpPr>
        <p:spPr bwMode="auto">
          <a:xfrm>
            <a:off x="5441425" y="3666338"/>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sp>
        <p:nvSpPr>
          <p:cNvPr id="339" name="正方形/長方形 338">
            <a:extLst>
              <a:ext uri="{FF2B5EF4-FFF2-40B4-BE49-F238E27FC236}">
                <a16:creationId xmlns:a16="http://schemas.microsoft.com/office/drawing/2014/main" id="{6DDC1CF1-FDFF-1C48-51F4-D0051475499B}"/>
              </a:ext>
            </a:extLst>
          </p:cNvPr>
          <p:cNvSpPr/>
          <p:nvPr/>
        </p:nvSpPr>
        <p:spPr>
          <a:xfrm>
            <a:off x="5259892" y="3981468"/>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拠点</a:t>
            </a:r>
            <a:r>
              <a:rPr kumimoji="1" lang="en-US" altLang="ja-JP" sz="800">
                <a:solidFill>
                  <a:schemeClr val="tx1"/>
                </a:solidFill>
                <a:latin typeface="Meiryo UI" panose="020B0604030504040204" pitchFamily="50" charset="-128"/>
                <a:ea typeface="Meiryo UI" panose="020B0604030504040204" pitchFamily="50" charset="-128"/>
              </a:rPr>
              <a:t>C</a:t>
            </a:r>
            <a:r>
              <a:rPr kumimoji="1" lang="ja-JP" altLang="en-US" sz="800">
                <a:solidFill>
                  <a:schemeClr val="tx1"/>
                </a:solidFill>
                <a:latin typeface="Meiryo UI" panose="020B0604030504040204" pitchFamily="50" charset="-128"/>
                <a:ea typeface="Meiryo UI" panose="020B0604030504040204" pitchFamily="50" charset="-128"/>
              </a:rPr>
              <a:t>担当者</a:t>
            </a:r>
          </a:p>
        </p:txBody>
      </p:sp>
      <p:sp>
        <p:nvSpPr>
          <p:cNvPr id="340" name="正方形/長方形 339">
            <a:extLst>
              <a:ext uri="{FF2B5EF4-FFF2-40B4-BE49-F238E27FC236}">
                <a16:creationId xmlns:a16="http://schemas.microsoft.com/office/drawing/2014/main" id="{FDB2FCE5-6E5A-40E7-EC3E-0C9BC7E52F08}"/>
              </a:ext>
            </a:extLst>
          </p:cNvPr>
          <p:cNvSpPr/>
          <p:nvPr/>
        </p:nvSpPr>
        <p:spPr bwMode="gray">
          <a:xfrm>
            <a:off x="5456872" y="4126111"/>
            <a:ext cx="230588" cy="344563"/>
          </a:xfrm>
          <a:prstGeom prst="rect">
            <a:avLst/>
          </a:prstGeom>
          <a:noFill/>
          <a:ln w="12700" algn="ctr">
            <a:no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a:t>
            </a:r>
          </a:p>
        </p:txBody>
      </p:sp>
      <p:cxnSp>
        <p:nvCxnSpPr>
          <p:cNvPr id="341" name="直線矢印コネクタ 340">
            <a:extLst>
              <a:ext uri="{FF2B5EF4-FFF2-40B4-BE49-F238E27FC236}">
                <a16:creationId xmlns:a16="http://schemas.microsoft.com/office/drawing/2014/main" id="{DE194125-BF02-1CD5-12EF-D9F20594B422}"/>
              </a:ext>
            </a:extLst>
          </p:cNvPr>
          <p:cNvCxnSpPr>
            <a:cxnSpLocks/>
            <a:stCxn id="327" idx="2"/>
            <a:endCxn id="332" idx="0"/>
          </p:cNvCxnSpPr>
          <p:nvPr/>
        </p:nvCxnSpPr>
        <p:spPr bwMode="gray">
          <a:xfrm flipH="1">
            <a:off x="5508573" y="4581128"/>
            <a:ext cx="1" cy="129295"/>
          </a:xfrm>
          <a:prstGeom prst="straightConnector1">
            <a:avLst/>
          </a:prstGeom>
          <a:ln w="127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42" name="正方形/長方形 223">
            <a:extLst>
              <a:ext uri="{FF2B5EF4-FFF2-40B4-BE49-F238E27FC236}">
                <a16:creationId xmlns:a16="http://schemas.microsoft.com/office/drawing/2014/main" id="{FD11AE55-D38D-11CA-65BA-A219B0EF8933}"/>
              </a:ext>
            </a:extLst>
          </p:cNvPr>
          <p:cNvSpPr/>
          <p:nvPr/>
        </p:nvSpPr>
        <p:spPr bwMode="gray">
          <a:xfrm>
            <a:off x="4868516" y="5070551"/>
            <a:ext cx="1223027" cy="1121966"/>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データ提供</a:t>
            </a:r>
          </a:p>
        </p:txBody>
      </p:sp>
      <p:sp>
        <p:nvSpPr>
          <p:cNvPr id="343" name="Freeform 108">
            <a:extLst>
              <a:ext uri="{FF2B5EF4-FFF2-40B4-BE49-F238E27FC236}">
                <a16:creationId xmlns:a16="http://schemas.microsoft.com/office/drawing/2014/main" id="{629E8D15-8040-22C9-3A6E-17C86A3E5395}"/>
              </a:ext>
            </a:extLst>
          </p:cNvPr>
          <p:cNvSpPr>
            <a:spLocks/>
          </p:cNvSpPr>
          <p:nvPr/>
        </p:nvSpPr>
        <p:spPr bwMode="auto">
          <a:xfrm>
            <a:off x="5441425" y="5199229"/>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sp>
        <p:nvSpPr>
          <p:cNvPr id="345" name="正方形/長方形 344">
            <a:extLst>
              <a:ext uri="{FF2B5EF4-FFF2-40B4-BE49-F238E27FC236}">
                <a16:creationId xmlns:a16="http://schemas.microsoft.com/office/drawing/2014/main" id="{C2861863-58E7-CAC4-E5F9-DEA51F81F71F}"/>
              </a:ext>
            </a:extLst>
          </p:cNvPr>
          <p:cNvSpPr/>
          <p:nvPr/>
        </p:nvSpPr>
        <p:spPr>
          <a:xfrm>
            <a:off x="5259892" y="5514359"/>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人事担当者</a:t>
            </a:r>
          </a:p>
        </p:txBody>
      </p:sp>
      <p:sp>
        <p:nvSpPr>
          <p:cNvPr id="346" name="Freeform 108">
            <a:extLst>
              <a:ext uri="{FF2B5EF4-FFF2-40B4-BE49-F238E27FC236}">
                <a16:creationId xmlns:a16="http://schemas.microsoft.com/office/drawing/2014/main" id="{D681370A-4AB4-6CDD-5F2F-5DBB820258E7}"/>
              </a:ext>
            </a:extLst>
          </p:cNvPr>
          <p:cNvSpPr>
            <a:spLocks/>
          </p:cNvSpPr>
          <p:nvPr/>
        </p:nvSpPr>
        <p:spPr bwMode="auto">
          <a:xfrm>
            <a:off x="5441425" y="5686148"/>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sp>
        <p:nvSpPr>
          <p:cNvPr id="348" name="正方形/長方形 347">
            <a:extLst>
              <a:ext uri="{FF2B5EF4-FFF2-40B4-BE49-F238E27FC236}">
                <a16:creationId xmlns:a16="http://schemas.microsoft.com/office/drawing/2014/main" id="{1389A6E9-5BC7-9FB0-4493-A412FD9B15A7}"/>
              </a:ext>
            </a:extLst>
          </p:cNvPr>
          <p:cNvSpPr/>
          <p:nvPr/>
        </p:nvSpPr>
        <p:spPr>
          <a:xfrm>
            <a:off x="5259892" y="6001278"/>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労働安全担当者</a:t>
            </a:r>
          </a:p>
        </p:txBody>
      </p:sp>
      <p:sp>
        <p:nvSpPr>
          <p:cNvPr id="349" name="正方形/長方形 223">
            <a:extLst>
              <a:ext uri="{FF2B5EF4-FFF2-40B4-BE49-F238E27FC236}">
                <a16:creationId xmlns:a16="http://schemas.microsoft.com/office/drawing/2014/main" id="{6B680384-EA2A-2590-2379-5D9B26B2304C}"/>
              </a:ext>
            </a:extLst>
          </p:cNvPr>
          <p:cNvSpPr/>
          <p:nvPr/>
        </p:nvSpPr>
        <p:spPr bwMode="gray">
          <a:xfrm>
            <a:off x="5998863" y="3326234"/>
            <a:ext cx="67455" cy="131246"/>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endParaRPr lang="ja-JP" altLang="en-US" sz="1050" b="1">
              <a:latin typeface="Meiryo UI" panose="020B0604030504040204" pitchFamily="50" charset="-128"/>
              <a:ea typeface="Meiryo UI" panose="020B0604030504040204" pitchFamily="50" charset="-128"/>
            </a:endParaRPr>
          </a:p>
        </p:txBody>
      </p:sp>
      <p:sp>
        <p:nvSpPr>
          <p:cNvPr id="350" name="正方形/長方形 223">
            <a:extLst>
              <a:ext uri="{FF2B5EF4-FFF2-40B4-BE49-F238E27FC236}">
                <a16:creationId xmlns:a16="http://schemas.microsoft.com/office/drawing/2014/main" id="{9FAA29DA-B11C-7BA5-D582-E24A8DE74040}"/>
              </a:ext>
            </a:extLst>
          </p:cNvPr>
          <p:cNvSpPr/>
          <p:nvPr/>
        </p:nvSpPr>
        <p:spPr bwMode="gray">
          <a:xfrm>
            <a:off x="5998167" y="3868176"/>
            <a:ext cx="71095" cy="120745"/>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endParaRPr lang="ja-JP" altLang="en-US" sz="1050" b="1">
              <a:latin typeface="Meiryo UI" panose="020B0604030504040204" pitchFamily="50" charset="-128"/>
              <a:ea typeface="Meiryo UI" panose="020B0604030504040204" pitchFamily="50" charset="-128"/>
            </a:endParaRPr>
          </a:p>
        </p:txBody>
      </p:sp>
      <p:sp>
        <p:nvSpPr>
          <p:cNvPr id="359" name="フローチャート: 磁気ディスク 358">
            <a:extLst>
              <a:ext uri="{FF2B5EF4-FFF2-40B4-BE49-F238E27FC236}">
                <a16:creationId xmlns:a16="http://schemas.microsoft.com/office/drawing/2014/main" id="{6E501261-6702-9284-2341-A9EEC352754F}"/>
              </a:ext>
            </a:extLst>
          </p:cNvPr>
          <p:cNvSpPr/>
          <p:nvPr/>
        </p:nvSpPr>
        <p:spPr>
          <a:xfrm>
            <a:off x="6240162" y="3540353"/>
            <a:ext cx="1564386" cy="930321"/>
          </a:xfrm>
          <a:prstGeom prst="flowChartMagneticDisk">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en-US" altLang="ja-JP" sz="1100" b="1">
              <a:solidFill>
                <a:schemeClr val="bg1"/>
              </a:solidFill>
              <a:latin typeface="Meiryo UI" panose="020B0604030504040204" pitchFamily="50" charset="-128"/>
              <a:ea typeface="Meiryo UI" panose="020B0604030504040204" pitchFamily="50" charset="-128"/>
            </a:endParaRPr>
          </a:p>
        </p:txBody>
      </p:sp>
      <p:cxnSp>
        <p:nvCxnSpPr>
          <p:cNvPr id="360" name="直線矢印コネクタ 219">
            <a:extLst>
              <a:ext uri="{FF2B5EF4-FFF2-40B4-BE49-F238E27FC236}">
                <a16:creationId xmlns:a16="http://schemas.microsoft.com/office/drawing/2014/main" id="{850B1616-29D9-192F-AB6A-C7E764859D91}"/>
              </a:ext>
            </a:extLst>
          </p:cNvPr>
          <p:cNvCxnSpPr>
            <a:cxnSpLocks/>
            <a:stCxn id="328" idx="6"/>
            <a:endCxn id="359" idx="2"/>
          </p:cNvCxnSpPr>
          <p:nvPr/>
        </p:nvCxnSpPr>
        <p:spPr bwMode="gray">
          <a:xfrm>
            <a:off x="5685377" y="2793652"/>
            <a:ext cx="554785" cy="1211862"/>
          </a:xfrm>
          <a:prstGeom prst="bentConnector3">
            <a:avLst>
              <a:gd name="adj1" fmla="val 50000"/>
            </a:avLst>
          </a:prstGeom>
          <a:ln w="12700">
            <a:solidFill>
              <a:schemeClr val="tx1">
                <a:lumMod val="50000"/>
                <a:lumOff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3" name="直線矢印コネクタ 219">
            <a:extLst>
              <a:ext uri="{FF2B5EF4-FFF2-40B4-BE49-F238E27FC236}">
                <a16:creationId xmlns:a16="http://schemas.microsoft.com/office/drawing/2014/main" id="{CA6616C9-0EEB-0FCE-22DB-D445970B7028}"/>
              </a:ext>
            </a:extLst>
          </p:cNvPr>
          <p:cNvCxnSpPr>
            <a:cxnSpLocks/>
            <a:stCxn id="333" idx="6"/>
            <a:endCxn id="359" idx="2"/>
          </p:cNvCxnSpPr>
          <p:nvPr/>
        </p:nvCxnSpPr>
        <p:spPr bwMode="gray">
          <a:xfrm>
            <a:off x="5685377" y="3320774"/>
            <a:ext cx="554785" cy="684740"/>
          </a:xfrm>
          <a:prstGeom prst="bentConnector3">
            <a:avLst>
              <a:gd name="adj1" fmla="val 50000"/>
            </a:avLst>
          </a:prstGeom>
          <a:ln w="12700">
            <a:solidFill>
              <a:schemeClr val="tx1">
                <a:lumMod val="50000"/>
                <a:lumOff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73" name="正方形/長方形 372">
            <a:extLst>
              <a:ext uri="{FF2B5EF4-FFF2-40B4-BE49-F238E27FC236}">
                <a16:creationId xmlns:a16="http://schemas.microsoft.com/office/drawing/2014/main" id="{70B40BA8-5044-B934-AD26-D1E5A4C7451D}"/>
              </a:ext>
            </a:extLst>
          </p:cNvPr>
          <p:cNvSpPr/>
          <p:nvPr/>
        </p:nvSpPr>
        <p:spPr>
          <a:xfrm>
            <a:off x="6514694" y="3583537"/>
            <a:ext cx="1005840" cy="2224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b="1">
                <a:solidFill>
                  <a:schemeClr val="bg1"/>
                </a:solidFill>
                <a:latin typeface="Meiryo UI" panose="020B0604030504040204" pitchFamily="50" charset="-128"/>
                <a:ea typeface="Meiryo UI" panose="020B0604030504040204" pitchFamily="50" charset="-128"/>
              </a:rPr>
              <a:t>ESG</a:t>
            </a:r>
            <a:r>
              <a:rPr kumimoji="1" lang="ja-JP" altLang="en-US" sz="1100" b="1">
                <a:solidFill>
                  <a:schemeClr val="bg1"/>
                </a:solidFill>
                <a:latin typeface="Meiryo UI" panose="020B0604030504040204" pitchFamily="50" charset="-128"/>
                <a:ea typeface="Meiryo UI" panose="020B0604030504040204" pitchFamily="50" charset="-128"/>
              </a:rPr>
              <a:t>システム</a:t>
            </a:r>
          </a:p>
        </p:txBody>
      </p:sp>
      <p:cxnSp>
        <p:nvCxnSpPr>
          <p:cNvPr id="374" name="直線矢印コネクタ 219">
            <a:extLst>
              <a:ext uri="{FF2B5EF4-FFF2-40B4-BE49-F238E27FC236}">
                <a16:creationId xmlns:a16="http://schemas.microsoft.com/office/drawing/2014/main" id="{86481E88-ABB1-77B7-6157-A7BC7E1F8385}"/>
              </a:ext>
            </a:extLst>
          </p:cNvPr>
          <p:cNvCxnSpPr>
            <a:cxnSpLocks/>
            <a:stCxn id="337" idx="6"/>
            <a:endCxn id="359" idx="2"/>
          </p:cNvCxnSpPr>
          <p:nvPr/>
        </p:nvCxnSpPr>
        <p:spPr bwMode="gray">
          <a:xfrm>
            <a:off x="5685377" y="3847081"/>
            <a:ext cx="554785" cy="158433"/>
          </a:xfrm>
          <a:prstGeom prst="bentConnector3">
            <a:avLst>
              <a:gd name="adj1" fmla="val 50000"/>
            </a:avLst>
          </a:prstGeom>
          <a:ln w="12700">
            <a:solidFill>
              <a:schemeClr val="tx1">
                <a:lumMod val="50000"/>
                <a:lumOff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80" name="直線矢印コネクタ 219">
            <a:extLst>
              <a:ext uri="{FF2B5EF4-FFF2-40B4-BE49-F238E27FC236}">
                <a16:creationId xmlns:a16="http://schemas.microsoft.com/office/drawing/2014/main" id="{1DBFA96E-C609-B997-A317-C074507F7D97}"/>
              </a:ext>
            </a:extLst>
          </p:cNvPr>
          <p:cNvCxnSpPr>
            <a:cxnSpLocks/>
            <a:stCxn id="343" idx="6"/>
            <a:endCxn id="359" idx="3"/>
          </p:cNvCxnSpPr>
          <p:nvPr/>
        </p:nvCxnSpPr>
        <p:spPr bwMode="gray">
          <a:xfrm flipV="1">
            <a:off x="5685377" y="4470674"/>
            <a:ext cx="1336978" cy="909298"/>
          </a:xfrm>
          <a:prstGeom prst="bentConnector2">
            <a:avLst/>
          </a:prstGeom>
          <a:ln w="12700">
            <a:solidFill>
              <a:schemeClr val="tx1">
                <a:lumMod val="50000"/>
                <a:lumOff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84" name="直線矢印コネクタ 219">
            <a:extLst>
              <a:ext uri="{FF2B5EF4-FFF2-40B4-BE49-F238E27FC236}">
                <a16:creationId xmlns:a16="http://schemas.microsoft.com/office/drawing/2014/main" id="{58C25381-CB4F-A1CE-0214-D4CE63780A29}"/>
              </a:ext>
            </a:extLst>
          </p:cNvPr>
          <p:cNvCxnSpPr>
            <a:cxnSpLocks/>
            <a:stCxn id="346" idx="6"/>
            <a:endCxn id="359" idx="3"/>
          </p:cNvCxnSpPr>
          <p:nvPr/>
        </p:nvCxnSpPr>
        <p:spPr bwMode="gray">
          <a:xfrm flipV="1">
            <a:off x="5685377" y="4470674"/>
            <a:ext cx="1336978" cy="1396217"/>
          </a:xfrm>
          <a:prstGeom prst="bentConnector2">
            <a:avLst/>
          </a:prstGeom>
          <a:ln w="12700">
            <a:solidFill>
              <a:schemeClr val="tx1">
                <a:lumMod val="50000"/>
                <a:lumOff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88" name="正方形/長方形 223">
            <a:extLst>
              <a:ext uri="{FF2B5EF4-FFF2-40B4-BE49-F238E27FC236}">
                <a16:creationId xmlns:a16="http://schemas.microsoft.com/office/drawing/2014/main" id="{7C699A04-4908-47E2-F3F5-7B78A544E7AA}"/>
              </a:ext>
            </a:extLst>
          </p:cNvPr>
          <p:cNvSpPr/>
          <p:nvPr/>
        </p:nvSpPr>
        <p:spPr bwMode="gray">
          <a:xfrm>
            <a:off x="6665647" y="2297081"/>
            <a:ext cx="721549" cy="842950"/>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データ確認</a:t>
            </a:r>
            <a:endParaRPr lang="en-US" altLang="ja-JP" sz="1050" b="1">
              <a:latin typeface="Meiryo UI" panose="020B0604030504040204" pitchFamily="50" charset="-128"/>
              <a:ea typeface="Meiryo UI" panose="020B0604030504040204" pitchFamily="50" charset="-128"/>
            </a:endParaRPr>
          </a:p>
        </p:txBody>
      </p:sp>
      <p:sp>
        <p:nvSpPr>
          <p:cNvPr id="390" name="Freeform 108">
            <a:extLst>
              <a:ext uri="{FF2B5EF4-FFF2-40B4-BE49-F238E27FC236}">
                <a16:creationId xmlns:a16="http://schemas.microsoft.com/office/drawing/2014/main" id="{8E9D8D38-6DA4-1B53-7E8C-E84B966D2ED4}"/>
              </a:ext>
            </a:extLst>
          </p:cNvPr>
          <p:cNvSpPr>
            <a:spLocks/>
          </p:cNvSpPr>
          <p:nvPr/>
        </p:nvSpPr>
        <p:spPr bwMode="auto">
          <a:xfrm>
            <a:off x="6882532" y="2539162"/>
            <a:ext cx="270166" cy="284483"/>
          </a:xfrm>
          <a:custGeom>
            <a:avLst/>
            <a:gdLst>
              <a:gd name="T0" fmla="*/ 164 w 505"/>
              <a:gd name="T1" fmla="*/ 289 h 532"/>
              <a:gd name="T2" fmla="*/ 49 w 505"/>
              <a:gd name="T3" fmla="*/ 338 h 532"/>
              <a:gd name="T4" fmla="*/ 0 w 505"/>
              <a:gd name="T5" fmla="*/ 520 h 532"/>
              <a:gd name="T6" fmla="*/ 0 w 505"/>
              <a:gd name="T7" fmla="*/ 532 h 532"/>
              <a:gd name="T8" fmla="*/ 505 w 505"/>
              <a:gd name="T9" fmla="*/ 532 h 532"/>
              <a:gd name="T10" fmla="*/ 505 w 505"/>
              <a:gd name="T11" fmla="*/ 520 h 532"/>
              <a:gd name="T12" fmla="*/ 456 w 505"/>
              <a:gd name="T13" fmla="*/ 338 h 532"/>
              <a:gd name="T14" fmla="*/ 340 w 505"/>
              <a:gd name="T15" fmla="*/ 289 h 532"/>
              <a:gd name="T16" fmla="*/ 307 w 505"/>
              <a:gd name="T17" fmla="*/ 258 h 532"/>
              <a:gd name="T18" fmla="*/ 340 w 505"/>
              <a:gd name="T19" fmla="*/ 200 h 532"/>
              <a:gd name="T20" fmla="*/ 348 w 505"/>
              <a:gd name="T21" fmla="*/ 196 h 532"/>
              <a:gd name="T22" fmla="*/ 359 w 505"/>
              <a:gd name="T23" fmla="*/ 125 h 532"/>
              <a:gd name="T24" fmla="*/ 354 w 505"/>
              <a:gd name="T25" fmla="*/ 121 h 532"/>
              <a:gd name="T26" fmla="*/ 345 w 505"/>
              <a:gd name="T27" fmla="*/ 49 h 532"/>
              <a:gd name="T28" fmla="*/ 258 w 505"/>
              <a:gd name="T29" fmla="*/ 0 h 532"/>
              <a:gd name="T30" fmla="*/ 246 w 505"/>
              <a:gd name="T31" fmla="*/ 0 h 532"/>
              <a:gd name="T32" fmla="*/ 159 w 505"/>
              <a:gd name="T33" fmla="*/ 49 h 532"/>
              <a:gd name="T34" fmla="*/ 151 w 505"/>
              <a:gd name="T35" fmla="*/ 121 h 532"/>
              <a:gd name="T36" fmla="*/ 146 w 505"/>
              <a:gd name="T37" fmla="*/ 125 h 532"/>
              <a:gd name="T38" fmla="*/ 157 w 505"/>
              <a:gd name="T39" fmla="*/ 196 h 532"/>
              <a:gd name="T40" fmla="*/ 164 w 505"/>
              <a:gd name="T41" fmla="*/ 200 h 532"/>
              <a:gd name="T42" fmla="*/ 197 w 505"/>
              <a:gd name="T43" fmla="*/ 258 h 532"/>
              <a:gd name="T44" fmla="*/ 164 w 505"/>
              <a:gd name="T45" fmla="*/ 289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5" h="532">
                <a:moveTo>
                  <a:pt x="164" y="289"/>
                </a:moveTo>
                <a:cubicBezTo>
                  <a:pt x="49" y="338"/>
                  <a:pt x="49" y="338"/>
                  <a:pt x="49" y="338"/>
                </a:cubicBezTo>
                <a:cubicBezTo>
                  <a:pt x="3" y="355"/>
                  <a:pt x="0" y="478"/>
                  <a:pt x="0" y="520"/>
                </a:cubicBezTo>
                <a:cubicBezTo>
                  <a:pt x="0" y="532"/>
                  <a:pt x="0" y="532"/>
                  <a:pt x="0" y="532"/>
                </a:cubicBezTo>
                <a:cubicBezTo>
                  <a:pt x="505" y="532"/>
                  <a:pt x="505" y="532"/>
                  <a:pt x="505" y="532"/>
                </a:cubicBezTo>
                <a:cubicBezTo>
                  <a:pt x="505" y="520"/>
                  <a:pt x="505" y="520"/>
                  <a:pt x="505" y="520"/>
                </a:cubicBezTo>
                <a:cubicBezTo>
                  <a:pt x="505" y="478"/>
                  <a:pt x="502" y="355"/>
                  <a:pt x="456" y="338"/>
                </a:cubicBezTo>
                <a:cubicBezTo>
                  <a:pt x="340" y="289"/>
                  <a:pt x="340" y="289"/>
                  <a:pt x="340" y="289"/>
                </a:cubicBezTo>
                <a:cubicBezTo>
                  <a:pt x="324" y="281"/>
                  <a:pt x="312" y="268"/>
                  <a:pt x="307" y="258"/>
                </a:cubicBezTo>
                <a:cubicBezTo>
                  <a:pt x="323" y="241"/>
                  <a:pt x="335" y="219"/>
                  <a:pt x="340" y="200"/>
                </a:cubicBezTo>
                <a:cubicBezTo>
                  <a:pt x="348" y="196"/>
                  <a:pt x="348" y="196"/>
                  <a:pt x="348" y="196"/>
                </a:cubicBezTo>
                <a:cubicBezTo>
                  <a:pt x="357" y="169"/>
                  <a:pt x="360" y="146"/>
                  <a:pt x="359" y="125"/>
                </a:cubicBezTo>
                <a:cubicBezTo>
                  <a:pt x="354" y="121"/>
                  <a:pt x="354" y="121"/>
                  <a:pt x="354" y="121"/>
                </a:cubicBezTo>
                <a:cubicBezTo>
                  <a:pt x="355" y="101"/>
                  <a:pt x="355" y="66"/>
                  <a:pt x="345" y="49"/>
                </a:cubicBezTo>
                <a:cubicBezTo>
                  <a:pt x="330" y="20"/>
                  <a:pt x="290" y="0"/>
                  <a:pt x="258" y="0"/>
                </a:cubicBezTo>
                <a:cubicBezTo>
                  <a:pt x="246" y="0"/>
                  <a:pt x="246" y="0"/>
                  <a:pt x="246" y="0"/>
                </a:cubicBezTo>
                <a:cubicBezTo>
                  <a:pt x="215" y="0"/>
                  <a:pt x="175" y="20"/>
                  <a:pt x="159" y="49"/>
                </a:cubicBezTo>
                <a:cubicBezTo>
                  <a:pt x="150" y="66"/>
                  <a:pt x="150" y="101"/>
                  <a:pt x="151" y="121"/>
                </a:cubicBezTo>
                <a:cubicBezTo>
                  <a:pt x="146" y="125"/>
                  <a:pt x="146" y="125"/>
                  <a:pt x="146" y="125"/>
                </a:cubicBezTo>
                <a:cubicBezTo>
                  <a:pt x="144" y="146"/>
                  <a:pt x="147" y="169"/>
                  <a:pt x="157" y="196"/>
                </a:cubicBezTo>
                <a:cubicBezTo>
                  <a:pt x="164" y="200"/>
                  <a:pt x="164" y="200"/>
                  <a:pt x="164" y="200"/>
                </a:cubicBezTo>
                <a:cubicBezTo>
                  <a:pt x="169" y="219"/>
                  <a:pt x="182" y="241"/>
                  <a:pt x="197" y="258"/>
                </a:cubicBezTo>
                <a:cubicBezTo>
                  <a:pt x="193" y="268"/>
                  <a:pt x="181" y="281"/>
                  <a:pt x="164" y="28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sz="1800">
              <a:latin typeface="Meiryo UI" panose="020B0604030504040204" pitchFamily="50" charset="-128"/>
              <a:ea typeface="Meiryo UI" panose="020B0604030504040204" pitchFamily="50" charset="-128"/>
            </a:endParaRPr>
          </a:p>
        </p:txBody>
      </p:sp>
      <p:sp>
        <p:nvSpPr>
          <p:cNvPr id="391" name="正方形/長方形 390">
            <a:extLst>
              <a:ext uri="{FF2B5EF4-FFF2-40B4-BE49-F238E27FC236}">
                <a16:creationId xmlns:a16="http://schemas.microsoft.com/office/drawing/2014/main" id="{9048A440-EF49-3930-CFCF-FF7CDE9D3BA1}"/>
              </a:ext>
            </a:extLst>
          </p:cNvPr>
          <p:cNvSpPr/>
          <p:nvPr/>
        </p:nvSpPr>
        <p:spPr>
          <a:xfrm>
            <a:off x="6706429" y="2845979"/>
            <a:ext cx="624548" cy="154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サス室・安環</a:t>
            </a:r>
          </a:p>
        </p:txBody>
      </p:sp>
      <p:cxnSp>
        <p:nvCxnSpPr>
          <p:cNvPr id="392" name="直線矢印コネクタ 391">
            <a:extLst>
              <a:ext uri="{FF2B5EF4-FFF2-40B4-BE49-F238E27FC236}">
                <a16:creationId xmlns:a16="http://schemas.microsoft.com/office/drawing/2014/main" id="{F52B8BE6-7E31-7318-00EC-3F51B1B8FB4B}"/>
              </a:ext>
            </a:extLst>
          </p:cNvPr>
          <p:cNvCxnSpPr>
            <a:cxnSpLocks/>
            <a:stCxn id="391" idx="2"/>
            <a:endCxn id="359" idx="1"/>
          </p:cNvCxnSpPr>
          <p:nvPr/>
        </p:nvCxnSpPr>
        <p:spPr bwMode="gray">
          <a:xfrm>
            <a:off x="7018703" y="3000400"/>
            <a:ext cx="3652" cy="539953"/>
          </a:xfrm>
          <a:prstGeom prst="straightConnector1">
            <a:avLst/>
          </a:prstGeom>
          <a:ln w="12700">
            <a:solidFill>
              <a:schemeClr val="tx1">
                <a:lumMod val="50000"/>
                <a:lumOff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03" name="四角形: 角を丸くする 402">
            <a:extLst>
              <a:ext uri="{FF2B5EF4-FFF2-40B4-BE49-F238E27FC236}">
                <a16:creationId xmlns:a16="http://schemas.microsoft.com/office/drawing/2014/main" id="{64E88BF7-2999-3E6C-0667-265F8380A66E}"/>
              </a:ext>
            </a:extLst>
          </p:cNvPr>
          <p:cNvSpPr/>
          <p:nvPr/>
        </p:nvSpPr>
        <p:spPr bwMode="gray">
          <a:xfrm>
            <a:off x="6247152" y="3936901"/>
            <a:ext cx="513220" cy="173795"/>
          </a:xfrm>
          <a:prstGeom prst="roundRect">
            <a:avLst/>
          </a:prstGeom>
          <a:solidFill>
            <a:schemeClr val="bg1"/>
          </a:solidFill>
          <a:ln w="9525"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データ収集</a:t>
            </a:r>
          </a:p>
        </p:txBody>
      </p:sp>
      <p:sp>
        <p:nvSpPr>
          <p:cNvPr id="413" name="四角形: 角を丸くする 412">
            <a:extLst>
              <a:ext uri="{FF2B5EF4-FFF2-40B4-BE49-F238E27FC236}">
                <a16:creationId xmlns:a16="http://schemas.microsoft.com/office/drawing/2014/main" id="{A1DBDAA5-B0B2-1CB3-7029-42793318166E}"/>
              </a:ext>
            </a:extLst>
          </p:cNvPr>
          <p:cNvSpPr/>
          <p:nvPr/>
        </p:nvSpPr>
        <p:spPr bwMode="gray">
          <a:xfrm>
            <a:off x="7293368" y="3936901"/>
            <a:ext cx="513220" cy="173795"/>
          </a:xfrm>
          <a:prstGeom prst="roundRect">
            <a:avLst/>
          </a:prstGeom>
          <a:solidFill>
            <a:schemeClr val="bg1"/>
          </a:solidFill>
          <a:ln w="9525"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a:solidFill>
                  <a:prstClr val="black"/>
                </a:solidFill>
                <a:latin typeface="Meiryo UI" panose="020B0604030504040204" pitchFamily="50" charset="-128"/>
                <a:ea typeface="Meiryo UI" panose="020B0604030504040204" pitchFamily="50" charset="-128"/>
              </a:rPr>
              <a:t>算定</a:t>
            </a:r>
            <a:endPar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423" name="四角形: 角を丸くする 422">
            <a:extLst>
              <a:ext uri="{FF2B5EF4-FFF2-40B4-BE49-F238E27FC236}">
                <a16:creationId xmlns:a16="http://schemas.microsoft.com/office/drawing/2014/main" id="{C0686129-12C4-1C8C-0ACD-64C0A64BDB3A}"/>
              </a:ext>
            </a:extLst>
          </p:cNvPr>
          <p:cNvSpPr/>
          <p:nvPr/>
        </p:nvSpPr>
        <p:spPr bwMode="gray">
          <a:xfrm>
            <a:off x="6770260" y="3936901"/>
            <a:ext cx="513220" cy="173795"/>
          </a:xfrm>
          <a:prstGeom prst="roundRect">
            <a:avLst/>
          </a:prstGeom>
          <a:solidFill>
            <a:schemeClr val="bg1"/>
          </a:solidFill>
          <a:ln w="9525"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a:solidFill>
                  <a:prstClr val="black"/>
                </a:solidFill>
                <a:latin typeface="Meiryo UI" panose="020B0604030504040204" pitchFamily="50" charset="-128"/>
                <a:ea typeface="Meiryo UI" panose="020B0604030504040204" pitchFamily="50" charset="-128"/>
              </a:rPr>
              <a:t>集計</a:t>
            </a:r>
            <a:endPar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428" name="Freeform 218">
            <a:extLst>
              <a:ext uri="{FF2B5EF4-FFF2-40B4-BE49-F238E27FC236}">
                <a16:creationId xmlns:a16="http://schemas.microsoft.com/office/drawing/2014/main" id="{F14D60FF-FB5E-6177-8708-8C2CA8DAE789}"/>
              </a:ext>
            </a:extLst>
          </p:cNvPr>
          <p:cNvSpPr>
            <a:spLocks noEditPoints="1"/>
          </p:cNvSpPr>
          <p:nvPr/>
        </p:nvSpPr>
        <p:spPr bwMode="gray">
          <a:xfrm rot="15064268" flipH="1">
            <a:off x="6928458" y="3195421"/>
            <a:ext cx="178313" cy="222916"/>
          </a:xfrm>
          <a:custGeom>
            <a:avLst/>
            <a:gdLst>
              <a:gd name="T0" fmla="*/ 256 w 256"/>
              <a:gd name="T1" fmla="*/ 138 h 277"/>
              <a:gd name="T2" fmla="*/ 128 w 256"/>
              <a:gd name="T3" fmla="*/ 266 h 277"/>
              <a:gd name="T4" fmla="*/ 53 w 256"/>
              <a:gd name="T5" fmla="*/ 242 h 277"/>
              <a:gd name="T6" fmla="*/ 53 w 256"/>
              <a:gd name="T7" fmla="*/ 266 h 277"/>
              <a:gd name="T8" fmla="*/ 43 w 256"/>
              <a:gd name="T9" fmla="*/ 277 h 277"/>
              <a:gd name="T10" fmla="*/ 32 w 256"/>
              <a:gd name="T11" fmla="*/ 266 h 277"/>
              <a:gd name="T12" fmla="*/ 32 w 256"/>
              <a:gd name="T13" fmla="*/ 213 h 277"/>
              <a:gd name="T14" fmla="*/ 43 w 256"/>
              <a:gd name="T15" fmla="*/ 202 h 277"/>
              <a:gd name="T16" fmla="*/ 96 w 256"/>
              <a:gd name="T17" fmla="*/ 202 h 277"/>
              <a:gd name="T18" fmla="*/ 107 w 256"/>
              <a:gd name="T19" fmla="*/ 213 h 277"/>
              <a:gd name="T20" fmla="*/ 96 w 256"/>
              <a:gd name="T21" fmla="*/ 224 h 277"/>
              <a:gd name="T22" fmla="*/ 64 w 256"/>
              <a:gd name="T23" fmla="*/ 224 h 277"/>
              <a:gd name="T24" fmla="*/ 128 w 256"/>
              <a:gd name="T25" fmla="*/ 245 h 277"/>
              <a:gd name="T26" fmla="*/ 235 w 256"/>
              <a:gd name="T27" fmla="*/ 138 h 277"/>
              <a:gd name="T28" fmla="*/ 245 w 256"/>
              <a:gd name="T29" fmla="*/ 128 h 277"/>
              <a:gd name="T30" fmla="*/ 256 w 256"/>
              <a:gd name="T31" fmla="*/ 138 h 277"/>
              <a:gd name="T32" fmla="*/ 128 w 256"/>
              <a:gd name="T33" fmla="*/ 32 h 277"/>
              <a:gd name="T34" fmla="*/ 192 w 256"/>
              <a:gd name="T35" fmla="*/ 53 h 277"/>
              <a:gd name="T36" fmla="*/ 160 w 256"/>
              <a:gd name="T37" fmla="*/ 53 h 277"/>
              <a:gd name="T38" fmla="*/ 149 w 256"/>
              <a:gd name="T39" fmla="*/ 64 h 277"/>
              <a:gd name="T40" fmla="*/ 160 w 256"/>
              <a:gd name="T41" fmla="*/ 74 h 277"/>
              <a:gd name="T42" fmla="*/ 213 w 256"/>
              <a:gd name="T43" fmla="*/ 74 h 277"/>
              <a:gd name="T44" fmla="*/ 224 w 256"/>
              <a:gd name="T45" fmla="*/ 64 h 277"/>
              <a:gd name="T46" fmla="*/ 224 w 256"/>
              <a:gd name="T47" fmla="*/ 10 h 277"/>
              <a:gd name="T48" fmla="*/ 213 w 256"/>
              <a:gd name="T49" fmla="*/ 0 h 277"/>
              <a:gd name="T50" fmla="*/ 203 w 256"/>
              <a:gd name="T51" fmla="*/ 10 h 277"/>
              <a:gd name="T52" fmla="*/ 203 w 256"/>
              <a:gd name="T53" fmla="*/ 35 h 277"/>
              <a:gd name="T54" fmla="*/ 128 w 256"/>
              <a:gd name="T55" fmla="*/ 10 h 277"/>
              <a:gd name="T56" fmla="*/ 0 w 256"/>
              <a:gd name="T57" fmla="*/ 138 h 277"/>
              <a:gd name="T58" fmla="*/ 11 w 256"/>
              <a:gd name="T59" fmla="*/ 149 h 277"/>
              <a:gd name="T60" fmla="*/ 21 w 256"/>
              <a:gd name="T61" fmla="*/ 138 h 277"/>
              <a:gd name="T62" fmla="*/ 128 w 256"/>
              <a:gd name="T63" fmla="*/ 3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6" h="277">
                <a:moveTo>
                  <a:pt x="256" y="138"/>
                </a:moveTo>
                <a:cubicBezTo>
                  <a:pt x="256" y="209"/>
                  <a:pt x="199" y="266"/>
                  <a:pt x="128" y="266"/>
                </a:cubicBezTo>
                <a:cubicBezTo>
                  <a:pt x="101" y="266"/>
                  <a:pt x="75" y="258"/>
                  <a:pt x="53" y="242"/>
                </a:cubicBezTo>
                <a:cubicBezTo>
                  <a:pt x="53" y="266"/>
                  <a:pt x="53" y="266"/>
                  <a:pt x="53" y="266"/>
                </a:cubicBezTo>
                <a:cubicBezTo>
                  <a:pt x="53" y="272"/>
                  <a:pt x="49" y="277"/>
                  <a:pt x="43" y="277"/>
                </a:cubicBezTo>
                <a:cubicBezTo>
                  <a:pt x="37" y="277"/>
                  <a:pt x="32" y="272"/>
                  <a:pt x="32" y="266"/>
                </a:cubicBezTo>
                <a:cubicBezTo>
                  <a:pt x="32" y="213"/>
                  <a:pt x="32" y="213"/>
                  <a:pt x="32" y="213"/>
                </a:cubicBezTo>
                <a:cubicBezTo>
                  <a:pt x="32" y="207"/>
                  <a:pt x="37" y="202"/>
                  <a:pt x="43" y="202"/>
                </a:cubicBezTo>
                <a:cubicBezTo>
                  <a:pt x="96" y="202"/>
                  <a:pt x="96" y="202"/>
                  <a:pt x="96" y="202"/>
                </a:cubicBezTo>
                <a:cubicBezTo>
                  <a:pt x="102" y="202"/>
                  <a:pt x="107" y="207"/>
                  <a:pt x="107" y="213"/>
                </a:cubicBezTo>
                <a:cubicBezTo>
                  <a:pt x="107" y="219"/>
                  <a:pt x="102" y="224"/>
                  <a:pt x="96" y="224"/>
                </a:cubicBezTo>
                <a:cubicBezTo>
                  <a:pt x="64" y="224"/>
                  <a:pt x="64" y="224"/>
                  <a:pt x="64" y="224"/>
                </a:cubicBezTo>
                <a:cubicBezTo>
                  <a:pt x="82" y="237"/>
                  <a:pt x="105" y="245"/>
                  <a:pt x="128" y="245"/>
                </a:cubicBezTo>
                <a:cubicBezTo>
                  <a:pt x="187" y="245"/>
                  <a:pt x="235" y="197"/>
                  <a:pt x="235" y="138"/>
                </a:cubicBezTo>
                <a:cubicBezTo>
                  <a:pt x="235" y="132"/>
                  <a:pt x="239" y="128"/>
                  <a:pt x="245" y="128"/>
                </a:cubicBezTo>
                <a:cubicBezTo>
                  <a:pt x="251" y="128"/>
                  <a:pt x="256" y="132"/>
                  <a:pt x="256" y="138"/>
                </a:cubicBezTo>
                <a:close/>
                <a:moveTo>
                  <a:pt x="128" y="32"/>
                </a:moveTo>
                <a:cubicBezTo>
                  <a:pt x="151" y="32"/>
                  <a:pt x="174" y="39"/>
                  <a:pt x="192" y="53"/>
                </a:cubicBezTo>
                <a:cubicBezTo>
                  <a:pt x="160" y="53"/>
                  <a:pt x="160" y="53"/>
                  <a:pt x="160" y="53"/>
                </a:cubicBezTo>
                <a:cubicBezTo>
                  <a:pt x="154" y="53"/>
                  <a:pt x="149" y="58"/>
                  <a:pt x="149" y="64"/>
                </a:cubicBezTo>
                <a:cubicBezTo>
                  <a:pt x="149" y="70"/>
                  <a:pt x="154" y="74"/>
                  <a:pt x="160" y="74"/>
                </a:cubicBezTo>
                <a:cubicBezTo>
                  <a:pt x="213" y="74"/>
                  <a:pt x="213" y="74"/>
                  <a:pt x="213" y="74"/>
                </a:cubicBezTo>
                <a:cubicBezTo>
                  <a:pt x="219" y="74"/>
                  <a:pt x="224" y="70"/>
                  <a:pt x="224" y="64"/>
                </a:cubicBezTo>
                <a:cubicBezTo>
                  <a:pt x="224" y="10"/>
                  <a:pt x="224" y="10"/>
                  <a:pt x="224" y="10"/>
                </a:cubicBezTo>
                <a:cubicBezTo>
                  <a:pt x="224" y="4"/>
                  <a:pt x="219" y="0"/>
                  <a:pt x="213" y="0"/>
                </a:cubicBezTo>
                <a:cubicBezTo>
                  <a:pt x="207" y="0"/>
                  <a:pt x="203" y="4"/>
                  <a:pt x="203" y="10"/>
                </a:cubicBezTo>
                <a:cubicBezTo>
                  <a:pt x="203" y="35"/>
                  <a:pt x="203" y="35"/>
                  <a:pt x="203" y="35"/>
                </a:cubicBezTo>
                <a:cubicBezTo>
                  <a:pt x="181" y="19"/>
                  <a:pt x="155" y="10"/>
                  <a:pt x="128" y="10"/>
                </a:cubicBezTo>
                <a:cubicBezTo>
                  <a:pt x="57" y="10"/>
                  <a:pt x="0" y="68"/>
                  <a:pt x="0" y="138"/>
                </a:cubicBezTo>
                <a:cubicBezTo>
                  <a:pt x="0" y="144"/>
                  <a:pt x="5" y="149"/>
                  <a:pt x="11" y="149"/>
                </a:cubicBezTo>
                <a:cubicBezTo>
                  <a:pt x="17" y="149"/>
                  <a:pt x="21" y="144"/>
                  <a:pt x="21" y="138"/>
                </a:cubicBezTo>
                <a:cubicBezTo>
                  <a:pt x="21" y="80"/>
                  <a:pt x="69" y="32"/>
                  <a:pt x="128" y="32"/>
                </a:cubicBezTo>
                <a:close/>
              </a:path>
            </a:pathLst>
          </a:custGeom>
          <a:solidFill>
            <a:srgbClr val="C00000"/>
          </a:solidFill>
          <a:ln w="19050" cap="flat" cmpd="sng" algn="ctr">
            <a:noFill/>
            <a:prstDash val="solid"/>
            <a:tailEnd type="arrow" w="sm" len="sm"/>
          </a:ln>
          <a:effectLst/>
          <a:extLst>
            <a:ext uri="{91240B29-F687-4f45-9708-019B960494DF}">
              <a14:hiddenLine xmlns="" xmlns:a14="http://schemas.microsoft.com/office/drawing/2010/main"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defTabSz="1219170" fontAlgn="auto">
              <a:spcBef>
                <a:spcPts val="0"/>
              </a:spcBef>
              <a:spcAft>
                <a:spcPts val="0"/>
              </a:spcAft>
              <a:defRPr/>
            </a:pPr>
            <a:endParaRPr lang="en-GB" sz="1400" kern="0">
              <a:solidFill>
                <a:prstClr val="black"/>
              </a:solidFill>
              <a:latin typeface="Meiryo UI" panose="020B0604030504040204" pitchFamily="50" charset="-128"/>
              <a:ea typeface="Meiryo UI" panose="020B0604030504040204" pitchFamily="50" charset="-128"/>
            </a:endParaRPr>
          </a:p>
        </p:txBody>
      </p:sp>
      <p:sp>
        <p:nvSpPr>
          <p:cNvPr id="429" name="正方形/長方形 223">
            <a:extLst>
              <a:ext uri="{FF2B5EF4-FFF2-40B4-BE49-F238E27FC236}">
                <a16:creationId xmlns:a16="http://schemas.microsoft.com/office/drawing/2014/main" id="{3138B6C3-18A8-58BA-C267-0B673F7B3328}"/>
              </a:ext>
            </a:extLst>
          </p:cNvPr>
          <p:cNvSpPr/>
          <p:nvPr/>
        </p:nvSpPr>
        <p:spPr bwMode="gray">
          <a:xfrm>
            <a:off x="7139257" y="4544106"/>
            <a:ext cx="1670632" cy="953458"/>
          </a:xfrm>
          <a:prstGeom prst="rect">
            <a:avLst/>
          </a:prstGeom>
          <a:solidFill>
            <a:schemeClr val="bg1">
              <a:lumMod val="95000"/>
            </a:schemeClr>
          </a:solidFill>
          <a:ln w="19050" algn="ctr">
            <a:noFill/>
            <a:miter lim="800000"/>
            <a:headEnd/>
            <a:tailEnd/>
          </a:ln>
        </p:spPr>
        <p:txBody>
          <a:bodyPr wrap="none" lIns="36000" tIns="36000" rIns="36000" bIns="36000" rtlCol="0" anchor="t"/>
          <a:lstStyle/>
          <a:p>
            <a:pPr defTabSz="1219170">
              <a:lnSpc>
                <a:spcPct val="106000"/>
              </a:lnSpc>
            </a:pPr>
            <a:r>
              <a:rPr lang="ja-JP" altLang="en-US" sz="1050" b="1">
                <a:latin typeface="Meiryo UI" panose="020B0604030504040204" pitchFamily="50" charset="-128"/>
                <a:ea typeface="Meiryo UI" panose="020B0604030504040204" pitchFamily="50" charset="-128"/>
              </a:rPr>
              <a:t>報告・開示</a:t>
            </a:r>
            <a:endParaRPr lang="en-US" altLang="ja-JP" sz="1050" b="1">
              <a:latin typeface="Meiryo UI" panose="020B0604030504040204" pitchFamily="50" charset="-128"/>
              <a:ea typeface="Meiryo UI" panose="020B0604030504040204" pitchFamily="50" charset="-128"/>
            </a:endParaRPr>
          </a:p>
          <a:p>
            <a:pPr defTabSz="1219170">
              <a:lnSpc>
                <a:spcPct val="106000"/>
              </a:lnSpc>
            </a:pPr>
            <a:endParaRPr lang="en-US" altLang="ja-JP" sz="1050" b="1">
              <a:latin typeface="Meiryo UI" panose="020B0604030504040204" pitchFamily="50" charset="-128"/>
              <a:ea typeface="Meiryo UI" panose="020B0604030504040204" pitchFamily="50" charset="-128"/>
            </a:endParaRPr>
          </a:p>
          <a:p>
            <a:pPr defTabSz="1219170">
              <a:lnSpc>
                <a:spcPct val="106000"/>
              </a:lnSpc>
            </a:pPr>
            <a:r>
              <a:rPr lang="ja-JP" altLang="en-US" sz="1050" b="1">
                <a:latin typeface="Meiryo UI" panose="020B0604030504040204" pitchFamily="50" charset="-128"/>
                <a:ea typeface="Meiryo UI" panose="020B0604030504040204" pitchFamily="50" charset="-128"/>
              </a:rPr>
              <a:t>（</a:t>
            </a:r>
            <a:r>
              <a:rPr lang="en-US" altLang="ja-JP" sz="1050" b="1">
                <a:latin typeface="Meiryo UI" panose="020B0604030504040204" pitchFamily="50" charset="-128"/>
                <a:ea typeface="Meiryo UI" panose="020B0604030504040204" pitchFamily="50" charset="-128"/>
              </a:rPr>
              <a:t>GX</a:t>
            </a:r>
            <a:r>
              <a:rPr lang="ja-JP" altLang="en-US" sz="1050" b="1">
                <a:latin typeface="Meiryo UI" panose="020B0604030504040204" pitchFamily="50" charset="-128"/>
                <a:ea typeface="Meiryo UI" panose="020B0604030504040204" pitchFamily="50" charset="-128"/>
              </a:rPr>
              <a:t>リーグ・温対法・</a:t>
            </a:r>
            <a:endParaRPr lang="en-US" altLang="ja-JP" sz="1050" b="1">
              <a:latin typeface="Meiryo UI" panose="020B0604030504040204" pitchFamily="50" charset="-128"/>
              <a:ea typeface="Meiryo UI" panose="020B0604030504040204" pitchFamily="50" charset="-128"/>
            </a:endParaRPr>
          </a:p>
          <a:p>
            <a:pPr defTabSz="1219170">
              <a:lnSpc>
                <a:spcPct val="106000"/>
              </a:lnSpc>
            </a:pPr>
            <a:r>
              <a:rPr lang="en-US" altLang="ja-JP" sz="1050" b="1">
                <a:latin typeface="Meiryo UI" panose="020B0604030504040204" pitchFamily="50" charset="-128"/>
                <a:ea typeface="Meiryo UI" panose="020B0604030504040204" pitchFamily="50" charset="-128"/>
              </a:rPr>
              <a:t>SSBJ</a:t>
            </a:r>
            <a:r>
              <a:rPr lang="ja-JP" altLang="en-US" sz="1050" b="1">
                <a:latin typeface="Meiryo UI" panose="020B0604030504040204" pitchFamily="50" charset="-128"/>
                <a:ea typeface="Meiryo UI" panose="020B0604030504040204" pitchFamily="50" charset="-128"/>
              </a:rPr>
              <a:t>・データブック・</a:t>
            </a:r>
            <a:endParaRPr lang="en-US" altLang="ja-JP" sz="1050" b="1">
              <a:latin typeface="Meiryo UI" panose="020B0604030504040204" pitchFamily="50" charset="-128"/>
              <a:ea typeface="Meiryo UI" panose="020B0604030504040204" pitchFamily="50" charset="-128"/>
            </a:endParaRPr>
          </a:p>
          <a:p>
            <a:pPr defTabSz="1219170">
              <a:lnSpc>
                <a:spcPct val="106000"/>
              </a:lnSpc>
            </a:pPr>
            <a:r>
              <a:rPr lang="ja-JP" altLang="en-US" sz="1050" b="1">
                <a:latin typeface="Meiryo UI" panose="020B0604030504040204" pitchFamily="50" charset="-128"/>
                <a:ea typeface="Meiryo UI" panose="020B0604030504040204" pitchFamily="50" charset="-128"/>
              </a:rPr>
              <a:t>社内報告）</a:t>
            </a:r>
            <a:endParaRPr lang="en-US" altLang="ja-JP" sz="1050" b="1">
              <a:latin typeface="Meiryo UI" panose="020B0604030504040204" pitchFamily="50" charset="-128"/>
              <a:ea typeface="Meiryo UI" panose="020B0604030504040204" pitchFamily="50" charset="-128"/>
            </a:endParaRPr>
          </a:p>
        </p:txBody>
      </p:sp>
      <p:cxnSp>
        <p:nvCxnSpPr>
          <p:cNvPr id="445" name="直線矢印コネクタ 219">
            <a:extLst>
              <a:ext uri="{FF2B5EF4-FFF2-40B4-BE49-F238E27FC236}">
                <a16:creationId xmlns:a16="http://schemas.microsoft.com/office/drawing/2014/main" id="{48FDF331-4607-B424-EBF0-C806E8F89A2C}"/>
              </a:ext>
            </a:extLst>
          </p:cNvPr>
          <p:cNvCxnSpPr>
            <a:cxnSpLocks/>
            <a:stCxn id="359" idx="4"/>
            <a:endCxn id="450" idx="0"/>
          </p:cNvCxnSpPr>
          <p:nvPr/>
        </p:nvCxnSpPr>
        <p:spPr bwMode="gray">
          <a:xfrm>
            <a:off x="7804548" y="4005514"/>
            <a:ext cx="486644" cy="699665"/>
          </a:xfrm>
          <a:prstGeom prst="bentConnector2">
            <a:avLst/>
          </a:prstGeom>
          <a:ln w="12700">
            <a:solidFill>
              <a:schemeClr val="tx1">
                <a:lumMod val="50000"/>
                <a:lumOff val="50000"/>
              </a:schemeClr>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450" name="四角形: 角を丸くする 449">
            <a:extLst>
              <a:ext uri="{FF2B5EF4-FFF2-40B4-BE49-F238E27FC236}">
                <a16:creationId xmlns:a16="http://schemas.microsoft.com/office/drawing/2014/main" id="{1A74ADFC-EA06-FF39-4DA8-4EFC98AB981D}"/>
              </a:ext>
            </a:extLst>
          </p:cNvPr>
          <p:cNvSpPr/>
          <p:nvPr/>
        </p:nvSpPr>
        <p:spPr bwMode="gray">
          <a:xfrm>
            <a:off x="7836591" y="4705179"/>
            <a:ext cx="909202" cy="173795"/>
          </a:xfrm>
          <a:prstGeom prst="roundRect">
            <a:avLst/>
          </a:prstGeom>
          <a:solidFill>
            <a:schemeClr val="bg1"/>
          </a:solidFill>
          <a:ln w="9525"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a:solidFill>
                  <a:prstClr val="black"/>
                </a:solidFill>
                <a:latin typeface="Meiryo UI" panose="020B0604030504040204" pitchFamily="50" charset="-128"/>
                <a:ea typeface="Meiryo UI" panose="020B0604030504040204" pitchFamily="50" charset="-128"/>
              </a:rPr>
              <a:t>報告・開示</a:t>
            </a:r>
            <a:endPar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459" name="四角形: 角を丸くする 458">
            <a:extLst>
              <a:ext uri="{FF2B5EF4-FFF2-40B4-BE49-F238E27FC236}">
                <a16:creationId xmlns:a16="http://schemas.microsoft.com/office/drawing/2014/main" id="{B967B056-0FA9-4B3D-4E95-081259F61B08}"/>
              </a:ext>
            </a:extLst>
          </p:cNvPr>
          <p:cNvSpPr/>
          <p:nvPr/>
        </p:nvSpPr>
        <p:spPr bwMode="gray">
          <a:xfrm>
            <a:off x="6888705" y="4143860"/>
            <a:ext cx="909202" cy="173795"/>
          </a:xfrm>
          <a:prstGeom prst="roundRect">
            <a:avLst/>
          </a:prstGeom>
          <a:solidFill>
            <a:schemeClr val="bg1"/>
          </a:solidFill>
          <a:ln w="9525"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分析・シミュレーション</a:t>
            </a:r>
          </a:p>
        </p:txBody>
      </p:sp>
      <p:sp>
        <p:nvSpPr>
          <p:cNvPr id="460" name="四角形: 角を丸くする 459">
            <a:extLst>
              <a:ext uri="{FF2B5EF4-FFF2-40B4-BE49-F238E27FC236}">
                <a16:creationId xmlns:a16="http://schemas.microsoft.com/office/drawing/2014/main" id="{598FF47E-CD4C-F0C5-95A4-5FE7EF79201C}"/>
              </a:ext>
            </a:extLst>
          </p:cNvPr>
          <p:cNvSpPr/>
          <p:nvPr/>
        </p:nvSpPr>
        <p:spPr bwMode="gray">
          <a:xfrm>
            <a:off x="6247152" y="4151792"/>
            <a:ext cx="634912" cy="165864"/>
          </a:xfrm>
          <a:prstGeom prst="roundRect">
            <a:avLst/>
          </a:prstGeom>
          <a:solidFill>
            <a:schemeClr val="bg1"/>
          </a:solidFill>
          <a:ln w="9525"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800">
                <a:solidFill>
                  <a:prstClr val="black"/>
                </a:solidFill>
                <a:latin typeface="Meiryo UI" panose="020B0604030504040204" pitchFamily="50" charset="-128"/>
                <a:ea typeface="Meiryo UI" panose="020B0604030504040204" pitchFamily="50" charset="-128"/>
              </a:rPr>
              <a:t>ESG</a:t>
            </a:r>
            <a:r>
              <a:rPr kumimoji="1" lang="ja-JP" altLang="en-US" sz="800">
                <a:solidFill>
                  <a:prstClr val="black"/>
                </a:solidFill>
                <a:latin typeface="Meiryo UI" panose="020B0604030504040204" pitchFamily="50" charset="-128"/>
                <a:ea typeface="Meiryo UI" panose="020B0604030504040204" pitchFamily="50" charset="-128"/>
              </a:rPr>
              <a:t>経営管理</a:t>
            </a:r>
            <a:endPar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461" name="四角形: 角を丸くする 460">
            <a:extLst>
              <a:ext uri="{FF2B5EF4-FFF2-40B4-BE49-F238E27FC236}">
                <a16:creationId xmlns:a16="http://schemas.microsoft.com/office/drawing/2014/main" id="{AC6EE364-1489-A126-5216-133CE4C3C0E0}"/>
              </a:ext>
            </a:extLst>
          </p:cNvPr>
          <p:cNvSpPr/>
          <p:nvPr/>
        </p:nvSpPr>
        <p:spPr bwMode="gray">
          <a:xfrm>
            <a:off x="7444188" y="1874647"/>
            <a:ext cx="1464597" cy="1053391"/>
          </a:xfrm>
          <a:prstGeom prst="roundRect">
            <a:avLst/>
          </a:prstGeom>
          <a:solidFill>
            <a:schemeClr val="bg1"/>
          </a:solidFill>
          <a:ln w="12700" algn="ctr">
            <a:solidFill>
              <a:srgbClr val="DA291C"/>
            </a:solid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spcBef>
                <a:spcPts val="300"/>
              </a:spcBef>
              <a:buSzPct val="100000"/>
            </a:pPr>
            <a:r>
              <a:rPr kumimoji="1" lang="ja-JP" altLang="en-US" sz="1000">
                <a:latin typeface="Meiryo UI" panose="020B0604030504040204" pitchFamily="50" charset="-128"/>
                <a:ea typeface="Meiryo UI" panose="020B0604030504040204" pitchFamily="50" charset="-128"/>
              </a:rPr>
              <a:t>インプットデータは</a:t>
            </a:r>
            <a:r>
              <a:rPr kumimoji="1" lang="en-US" altLang="ja-JP" sz="1000">
                <a:latin typeface="Meiryo UI" panose="020B0604030504040204" pitchFamily="50" charset="-128"/>
                <a:ea typeface="Meiryo UI" panose="020B0604030504040204" pitchFamily="50" charset="-128"/>
              </a:rPr>
              <a:t>GX</a:t>
            </a:r>
            <a:r>
              <a:rPr kumimoji="1" lang="ja-JP" altLang="en-US" sz="1000">
                <a:latin typeface="Meiryo UI" panose="020B0604030504040204" pitchFamily="50" charset="-128"/>
                <a:ea typeface="Meiryo UI" panose="020B0604030504040204" pitchFamily="50" charset="-128"/>
              </a:rPr>
              <a:t>リーグモニタリングポイントデータを原則のデータ入力単位として、標準機能を活用し、</a:t>
            </a:r>
            <a:r>
              <a:rPr kumimoji="1" lang="ja-JP" altLang="en-US" sz="1000" b="1" u="sng">
                <a:solidFill>
                  <a:srgbClr val="C00000"/>
                </a:solidFill>
                <a:latin typeface="Meiryo UI" panose="020B0604030504040204" pitchFamily="50" charset="-128"/>
                <a:ea typeface="Meiryo UI" panose="020B0604030504040204" pitchFamily="50" charset="-128"/>
              </a:rPr>
              <a:t>拠点入力業務を効率化</a:t>
            </a:r>
            <a:endParaRPr kumimoji="1" lang="en-US" altLang="ja-JP" sz="1000" b="1" u="sng">
              <a:solidFill>
                <a:srgbClr val="C00000"/>
              </a:solidFill>
              <a:latin typeface="Meiryo UI" panose="020B0604030504040204" pitchFamily="50" charset="-128"/>
              <a:ea typeface="Meiryo UI" panose="020B0604030504040204" pitchFamily="50" charset="-128"/>
            </a:endParaRPr>
          </a:p>
        </p:txBody>
      </p:sp>
      <p:cxnSp>
        <p:nvCxnSpPr>
          <p:cNvPr id="462" name="直線コネクタ 461">
            <a:extLst>
              <a:ext uri="{FF2B5EF4-FFF2-40B4-BE49-F238E27FC236}">
                <a16:creationId xmlns:a16="http://schemas.microsoft.com/office/drawing/2014/main" id="{0F9695F7-731F-03CE-BD36-A34BF9839740}"/>
              </a:ext>
            </a:extLst>
          </p:cNvPr>
          <p:cNvCxnSpPr>
            <a:cxnSpLocks/>
            <a:stCxn id="461" idx="2"/>
          </p:cNvCxnSpPr>
          <p:nvPr/>
        </p:nvCxnSpPr>
        <p:spPr bwMode="gray">
          <a:xfrm flipH="1">
            <a:off x="7545726" y="2928038"/>
            <a:ext cx="630761" cy="604335"/>
          </a:xfrm>
          <a:prstGeom prst="line">
            <a:avLst/>
          </a:prstGeom>
          <a:ln w="12700">
            <a:solidFill>
              <a:srgbClr val="DA291C"/>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65" name="正方形/長方形 464">
            <a:extLst>
              <a:ext uri="{FF2B5EF4-FFF2-40B4-BE49-F238E27FC236}">
                <a16:creationId xmlns:a16="http://schemas.microsoft.com/office/drawing/2014/main" id="{3DEB8981-3A3C-E2CB-7CD8-82D23942C99E}"/>
              </a:ext>
            </a:extLst>
          </p:cNvPr>
          <p:cNvSpPr/>
          <p:nvPr/>
        </p:nvSpPr>
        <p:spPr bwMode="gray">
          <a:xfrm>
            <a:off x="7383674" y="1804184"/>
            <a:ext cx="193388" cy="193388"/>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a:solidFill>
                  <a:schemeClr val="bg1"/>
                </a:solidFill>
                <a:latin typeface="Meiryo UI" panose="020B0604030504040204" pitchFamily="50" charset="-128"/>
                <a:ea typeface="Meiryo UI" panose="020B0604030504040204" pitchFamily="50" charset="-128"/>
              </a:rPr>
              <a:t>3</a:t>
            </a:r>
            <a:endParaRPr kumimoji="1" lang="ja-JP" altLang="en-US"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469" name="四角形: 角を丸くする 468">
            <a:extLst>
              <a:ext uri="{FF2B5EF4-FFF2-40B4-BE49-F238E27FC236}">
                <a16:creationId xmlns:a16="http://schemas.microsoft.com/office/drawing/2014/main" id="{E6B74A9B-A069-2C52-9148-DA7BABB17402}"/>
              </a:ext>
            </a:extLst>
          </p:cNvPr>
          <p:cNvSpPr/>
          <p:nvPr/>
        </p:nvSpPr>
        <p:spPr bwMode="gray">
          <a:xfrm>
            <a:off x="4643549" y="1760520"/>
            <a:ext cx="1942852" cy="474105"/>
          </a:xfrm>
          <a:prstGeom prst="roundRect">
            <a:avLst/>
          </a:prstGeom>
          <a:solidFill>
            <a:schemeClr val="bg1"/>
          </a:solidFill>
          <a:ln w="12700" algn="ctr">
            <a:solidFill>
              <a:srgbClr val="DA291C"/>
            </a:solid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spcBef>
                <a:spcPts val="300"/>
              </a:spcBef>
              <a:buSzPct val="100000"/>
            </a:pPr>
            <a:r>
              <a:rPr kumimoji="1" lang="ja-JP" altLang="en-US" sz="1000">
                <a:latin typeface="Meiryo UI" panose="020B0604030504040204" pitchFamily="50" charset="-128"/>
                <a:ea typeface="Meiryo UI" panose="020B0604030504040204" pitchFamily="50" charset="-128"/>
              </a:rPr>
              <a:t>拠点のシステムとの自動連携によるデータ収集効率化と</a:t>
            </a:r>
            <a:r>
              <a:rPr kumimoji="1" lang="en-US" altLang="ja-JP" sz="1000">
                <a:latin typeface="Meiryo UI" panose="020B0604030504040204" pitchFamily="50" charset="-128"/>
                <a:ea typeface="Meiryo UI" panose="020B0604030504040204" pitchFamily="50" charset="-128"/>
              </a:rPr>
              <a:t>ESG</a:t>
            </a:r>
            <a:r>
              <a:rPr kumimoji="1" lang="ja-JP" altLang="en-US" sz="1000">
                <a:latin typeface="Meiryo UI" panose="020B0604030504040204" pitchFamily="50" charset="-128"/>
                <a:ea typeface="Meiryo UI" panose="020B0604030504040204" pitchFamily="50" charset="-128"/>
              </a:rPr>
              <a:t>データの統合管理化で</a:t>
            </a:r>
            <a:r>
              <a:rPr kumimoji="1" lang="ja-JP" altLang="en-US" sz="1000" b="1" u="sng">
                <a:solidFill>
                  <a:srgbClr val="C00000"/>
                </a:solidFill>
                <a:latin typeface="Meiryo UI" panose="020B0604030504040204" pitchFamily="50" charset="-128"/>
                <a:ea typeface="Meiryo UI" panose="020B0604030504040204" pitchFamily="50" charset="-128"/>
              </a:rPr>
              <a:t>煩雑なやり取りを排除</a:t>
            </a:r>
            <a:endParaRPr kumimoji="1" lang="en-US" altLang="ja-JP" sz="1000" b="1" u="sng">
              <a:solidFill>
                <a:srgbClr val="C00000"/>
              </a:solidFill>
              <a:latin typeface="Meiryo UI" panose="020B0604030504040204" pitchFamily="50" charset="-128"/>
              <a:ea typeface="Meiryo UI" panose="020B0604030504040204" pitchFamily="50" charset="-128"/>
            </a:endParaRPr>
          </a:p>
        </p:txBody>
      </p:sp>
      <p:sp>
        <p:nvSpPr>
          <p:cNvPr id="470" name="正方形/長方形 469">
            <a:extLst>
              <a:ext uri="{FF2B5EF4-FFF2-40B4-BE49-F238E27FC236}">
                <a16:creationId xmlns:a16="http://schemas.microsoft.com/office/drawing/2014/main" id="{95030731-1293-7853-4E26-F7DF5617109E}"/>
              </a:ext>
            </a:extLst>
          </p:cNvPr>
          <p:cNvSpPr/>
          <p:nvPr/>
        </p:nvSpPr>
        <p:spPr bwMode="gray">
          <a:xfrm>
            <a:off x="4546855" y="1736478"/>
            <a:ext cx="193388" cy="193388"/>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1</a:t>
            </a:r>
            <a:endParaRPr kumimoji="1" lang="ja-JP" altLang="en-US"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cxnSp>
        <p:nvCxnSpPr>
          <p:cNvPr id="471" name="直線コネクタ 470">
            <a:extLst>
              <a:ext uri="{FF2B5EF4-FFF2-40B4-BE49-F238E27FC236}">
                <a16:creationId xmlns:a16="http://schemas.microsoft.com/office/drawing/2014/main" id="{3AD8AF83-077B-4CCB-15B8-A38EF2D0E8E6}"/>
              </a:ext>
            </a:extLst>
          </p:cNvPr>
          <p:cNvCxnSpPr>
            <a:cxnSpLocks/>
            <a:stCxn id="469" idx="2"/>
          </p:cNvCxnSpPr>
          <p:nvPr/>
        </p:nvCxnSpPr>
        <p:spPr bwMode="gray">
          <a:xfrm>
            <a:off x="5614975" y="2234625"/>
            <a:ext cx="326919" cy="471195"/>
          </a:xfrm>
          <a:prstGeom prst="line">
            <a:avLst/>
          </a:prstGeom>
          <a:ln w="12700">
            <a:solidFill>
              <a:srgbClr val="DA291C"/>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86" name="四角形: 角を丸くする 485">
            <a:extLst>
              <a:ext uri="{FF2B5EF4-FFF2-40B4-BE49-F238E27FC236}">
                <a16:creationId xmlns:a16="http://schemas.microsoft.com/office/drawing/2014/main" id="{BD6073AA-0757-FAF6-7F2B-84D1F0ADE2BB}"/>
              </a:ext>
            </a:extLst>
          </p:cNvPr>
          <p:cNvSpPr/>
          <p:nvPr/>
        </p:nvSpPr>
        <p:spPr bwMode="gray">
          <a:xfrm>
            <a:off x="7072766" y="5627528"/>
            <a:ext cx="1911595" cy="520715"/>
          </a:xfrm>
          <a:prstGeom prst="roundRect">
            <a:avLst/>
          </a:prstGeom>
          <a:solidFill>
            <a:schemeClr val="bg1"/>
          </a:solidFill>
          <a:ln w="12700" algn="ctr">
            <a:solidFill>
              <a:srgbClr val="DA291C"/>
            </a:solid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spcBef>
                <a:spcPts val="300"/>
              </a:spcBef>
              <a:buSzPct val="100000"/>
            </a:pPr>
            <a:r>
              <a:rPr kumimoji="1" lang="en-US" altLang="ja-JP" sz="1000">
                <a:latin typeface="Meiryo UI" panose="020B0604030504040204" pitchFamily="50" charset="-128"/>
                <a:ea typeface="Meiryo UI" panose="020B0604030504040204" pitchFamily="50" charset="-128"/>
              </a:rPr>
              <a:t>SSBJ</a:t>
            </a:r>
            <a:r>
              <a:rPr kumimoji="1" lang="ja-JP" altLang="en-US" sz="1000">
                <a:latin typeface="Meiryo UI" panose="020B0604030504040204" pitchFamily="50" charset="-128"/>
                <a:ea typeface="Meiryo UI" panose="020B0604030504040204" pitchFamily="50" charset="-128"/>
              </a:rPr>
              <a:t>を始めとする外部開示・報告プロセスを一本化して処理することで、</a:t>
            </a:r>
            <a:r>
              <a:rPr kumimoji="1" lang="ja-JP" altLang="en-US" sz="1000" b="1" u="sng">
                <a:solidFill>
                  <a:srgbClr val="C00000"/>
                </a:solidFill>
                <a:latin typeface="Meiryo UI" panose="020B0604030504040204" pitchFamily="50" charset="-128"/>
                <a:ea typeface="Meiryo UI" panose="020B0604030504040204" pitchFamily="50" charset="-128"/>
              </a:rPr>
              <a:t>スムーズに外部開示・活用</a:t>
            </a:r>
            <a:endParaRPr kumimoji="1" lang="en-US" altLang="ja-JP" sz="1000" b="1" u="sng">
              <a:solidFill>
                <a:srgbClr val="C00000"/>
              </a:solidFill>
              <a:latin typeface="Meiryo UI" panose="020B0604030504040204" pitchFamily="50" charset="-128"/>
              <a:ea typeface="Meiryo UI" panose="020B0604030504040204" pitchFamily="50" charset="-128"/>
            </a:endParaRPr>
          </a:p>
        </p:txBody>
      </p:sp>
      <p:sp>
        <p:nvSpPr>
          <p:cNvPr id="490" name="正方形/長方形 489">
            <a:extLst>
              <a:ext uri="{FF2B5EF4-FFF2-40B4-BE49-F238E27FC236}">
                <a16:creationId xmlns:a16="http://schemas.microsoft.com/office/drawing/2014/main" id="{E174E25B-C48F-DF98-D04C-79B2DC6F0AF9}"/>
              </a:ext>
            </a:extLst>
          </p:cNvPr>
          <p:cNvSpPr/>
          <p:nvPr/>
        </p:nvSpPr>
        <p:spPr bwMode="gray">
          <a:xfrm>
            <a:off x="7035090" y="5497564"/>
            <a:ext cx="193388" cy="193388"/>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a:solidFill>
                  <a:schemeClr val="bg1"/>
                </a:solidFill>
                <a:latin typeface="Meiryo UI" panose="020B0604030504040204" pitchFamily="50" charset="-128"/>
                <a:ea typeface="Meiryo UI" panose="020B0604030504040204" pitchFamily="50" charset="-128"/>
              </a:rPr>
              <a:t>2</a:t>
            </a:r>
            <a:endParaRPr kumimoji="1" lang="ja-JP" altLang="en-US"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492" name="四角形: 角を丸くする 491">
            <a:extLst>
              <a:ext uri="{FF2B5EF4-FFF2-40B4-BE49-F238E27FC236}">
                <a16:creationId xmlns:a16="http://schemas.microsoft.com/office/drawing/2014/main" id="{E654701A-C789-2EA3-E903-2C8AB2A59EE7}"/>
              </a:ext>
            </a:extLst>
          </p:cNvPr>
          <p:cNvSpPr/>
          <p:nvPr/>
        </p:nvSpPr>
        <p:spPr bwMode="gray">
          <a:xfrm>
            <a:off x="896437" y="6127989"/>
            <a:ext cx="3675564" cy="297675"/>
          </a:xfrm>
          <a:prstGeom prst="roundRect">
            <a:avLst/>
          </a:prstGeom>
          <a:solidFill>
            <a:schemeClr val="bg1"/>
          </a:solidFill>
          <a:ln w="12700" algn="ctr">
            <a:solidFill>
              <a:schemeClr val="accent1"/>
            </a:solid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300"/>
              </a:spcBef>
              <a:spcAft>
                <a:spcPts val="0"/>
              </a:spcAft>
              <a:buClrTx/>
              <a:buSzPct val="100000"/>
              <a:buFont typeface="Wingdings" panose="05000000000000000000" pitchFamily="2" charset="2"/>
              <a:buNone/>
              <a:tabLst/>
            </a:pPr>
            <a:r>
              <a:rPr kumimoji="1" lang="ja-JP" altLang="en-US" sz="1000">
                <a:latin typeface="Meiryo UI" panose="020B0604030504040204" pitchFamily="50" charset="-128"/>
                <a:ea typeface="Meiryo UI" panose="020B0604030504040204" pitchFamily="50" charset="-128"/>
              </a:rPr>
              <a:t>各開示・報告レポートは手作業で成形・作成されているため業務負荷が高く、</a:t>
            </a:r>
            <a:r>
              <a:rPr kumimoji="1" lang="ja-JP" altLang="en-US" sz="1000" b="1" u="sng">
                <a:solidFill>
                  <a:schemeClr val="accent1"/>
                </a:solidFill>
                <a:latin typeface="Meiryo UI" panose="020B0604030504040204" pitchFamily="50" charset="-128"/>
                <a:ea typeface="Meiryo UI" panose="020B0604030504040204" pitchFamily="50" charset="-128"/>
              </a:rPr>
              <a:t>レポートの内容が整合しているか検証ができていない</a:t>
            </a:r>
            <a:endParaRPr kumimoji="1" lang="en-US" altLang="ja-JP" sz="1000" b="1" u="sng">
              <a:solidFill>
                <a:schemeClr val="accent1"/>
              </a:solidFill>
              <a:latin typeface="Meiryo UI" panose="020B0604030504040204" pitchFamily="50" charset="-128"/>
              <a:ea typeface="Meiryo UI" panose="020B0604030504040204" pitchFamily="50" charset="-128"/>
            </a:endParaRPr>
          </a:p>
        </p:txBody>
      </p:sp>
      <p:sp>
        <p:nvSpPr>
          <p:cNvPr id="493" name="正方形/長方形 492">
            <a:extLst>
              <a:ext uri="{FF2B5EF4-FFF2-40B4-BE49-F238E27FC236}">
                <a16:creationId xmlns:a16="http://schemas.microsoft.com/office/drawing/2014/main" id="{2CA6AE9B-B103-9BBA-CFCD-327E134CE7E7}"/>
              </a:ext>
            </a:extLst>
          </p:cNvPr>
          <p:cNvSpPr/>
          <p:nvPr/>
        </p:nvSpPr>
        <p:spPr bwMode="gray">
          <a:xfrm>
            <a:off x="742989" y="6177513"/>
            <a:ext cx="193388" cy="193388"/>
          </a:xfrm>
          <a:prstGeom prst="rect">
            <a:avLst/>
          </a:prstGeom>
          <a:solidFill>
            <a:schemeClr val="accent1"/>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2</a:t>
            </a:r>
            <a:endParaRPr kumimoji="1" lang="ja-JP" altLang="en-US"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cxnSp>
        <p:nvCxnSpPr>
          <p:cNvPr id="494" name="直線コネクタ 493">
            <a:extLst>
              <a:ext uri="{FF2B5EF4-FFF2-40B4-BE49-F238E27FC236}">
                <a16:creationId xmlns:a16="http://schemas.microsoft.com/office/drawing/2014/main" id="{3EC1FDE4-93CC-D5A0-3E5B-EE138279BF30}"/>
              </a:ext>
            </a:extLst>
          </p:cNvPr>
          <p:cNvCxnSpPr>
            <a:cxnSpLocks/>
            <a:stCxn id="492" idx="0"/>
            <a:endCxn id="233" idx="1"/>
          </p:cNvCxnSpPr>
          <p:nvPr/>
        </p:nvCxnSpPr>
        <p:spPr bwMode="gray">
          <a:xfrm flipV="1">
            <a:off x="2734219" y="6009481"/>
            <a:ext cx="799617" cy="118508"/>
          </a:xfrm>
          <a:prstGeom prst="line">
            <a:avLst/>
          </a:prstGeom>
          <a:ln w="12700">
            <a:solidFill>
              <a:schemeClr val="accent1"/>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13" name="Graphic 4">
            <a:extLst>
              <a:ext uri="{FF2B5EF4-FFF2-40B4-BE49-F238E27FC236}">
                <a16:creationId xmlns:a16="http://schemas.microsoft.com/office/drawing/2014/main" id="{8F9D434A-665D-4E0A-6782-9BB3FC629ED0}"/>
              </a:ext>
            </a:extLst>
          </p:cNvPr>
          <p:cNvGrpSpPr>
            <a:grpSpLocks noChangeAspect="1"/>
          </p:cNvGrpSpPr>
          <p:nvPr/>
        </p:nvGrpSpPr>
        <p:grpSpPr bwMode="gray">
          <a:xfrm>
            <a:off x="5950630" y="2703161"/>
            <a:ext cx="236328" cy="236339"/>
            <a:chOff x="905454" y="1403361"/>
            <a:chExt cx="362309" cy="361971"/>
          </a:xfrm>
          <a:solidFill>
            <a:srgbClr val="C00000"/>
          </a:solidFill>
        </p:grpSpPr>
        <p:sp>
          <p:nvSpPr>
            <p:cNvPr id="15" name="Graphic 4">
              <a:extLst>
                <a:ext uri="{FF2B5EF4-FFF2-40B4-BE49-F238E27FC236}">
                  <a16:creationId xmlns:a16="http://schemas.microsoft.com/office/drawing/2014/main" id="{0F78EC21-F5EC-CE79-64A2-73A1260A4CAF}"/>
                </a:ext>
              </a:extLst>
            </p:cNvPr>
            <p:cNvSpPr/>
            <p:nvPr/>
          </p:nvSpPr>
          <p:spPr bwMode="gray">
            <a:xfrm>
              <a:off x="1077343"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6" name="Graphic 4">
              <a:extLst>
                <a:ext uri="{FF2B5EF4-FFF2-40B4-BE49-F238E27FC236}">
                  <a16:creationId xmlns:a16="http://schemas.microsoft.com/office/drawing/2014/main" id="{CD0D874A-6A21-1F8A-2E96-DCD69E3F10ED}"/>
                </a:ext>
              </a:extLst>
            </p:cNvPr>
            <p:cNvSpPr/>
            <p:nvPr/>
          </p:nvSpPr>
          <p:spPr bwMode="gray">
            <a:xfrm>
              <a:off x="1077343" y="1484438"/>
              <a:ext cx="17891" cy="17875"/>
            </a:xfrm>
            <a:custGeom>
              <a:avLst/>
              <a:gdLst>
                <a:gd name="connsiteX0" fmla="*/ 17892 w 17891"/>
                <a:gd name="connsiteY0" fmla="*/ 8938 h 17875"/>
                <a:gd name="connsiteX1" fmla="*/ 8946 w 17891"/>
                <a:gd name="connsiteY1" fmla="*/ 0 h 17875"/>
                <a:gd name="connsiteX2" fmla="*/ 0 w 17891"/>
                <a:gd name="connsiteY2" fmla="*/ 8938 h 17875"/>
                <a:gd name="connsiteX3" fmla="*/ 8946 w 17891"/>
                <a:gd name="connsiteY3" fmla="*/ 17875 h 17875"/>
                <a:gd name="connsiteX4" fmla="*/ 8946 w 17891"/>
                <a:gd name="connsiteY4" fmla="*/ 17875 h 17875"/>
                <a:gd name="connsiteX5" fmla="*/ 17892 w 17891"/>
                <a:gd name="connsiteY5" fmla="*/ 8938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17892" y="8938"/>
                  </a:moveTo>
                  <a:cubicBezTo>
                    <a:pt x="17892" y="3830"/>
                    <a:pt x="14058" y="0"/>
                    <a:pt x="8946" y="0"/>
                  </a:cubicBezTo>
                  <a:cubicBezTo>
                    <a:pt x="3834" y="0"/>
                    <a:pt x="0" y="3830"/>
                    <a:pt x="0" y="8938"/>
                  </a:cubicBezTo>
                  <a:cubicBezTo>
                    <a:pt x="0" y="14045"/>
                    <a:pt x="3834" y="17875"/>
                    <a:pt x="8946" y="17875"/>
                  </a:cubicBezTo>
                  <a:cubicBezTo>
                    <a:pt x="8946" y="17875"/>
                    <a:pt x="8946" y="17875"/>
                    <a:pt x="8946" y="17875"/>
                  </a:cubicBezTo>
                  <a:cubicBezTo>
                    <a:pt x="14058" y="17875"/>
                    <a:pt x="17892" y="14045"/>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8" name="Graphic 4">
              <a:extLst>
                <a:ext uri="{FF2B5EF4-FFF2-40B4-BE49-F238E27FC236}">
                  <a16:creationId xmlns:a16="http://schemas.microsoft.com/office/drawing/2014/main" id="{90074BC8-6266-B821-A121-F50074877EC8}"/>
                </a:ext>
              </a:extLst>
            </p:cNvPr>
            <p:cNvSpPr/>
            <p:nvPr/>
          </p:nvSpPr>
          <p:spPr bwMode="gray">
            <a:xfrm>
              <a:off x="1017277" y="1484438"/>
              <a:ext cx="17891" cy="17875"/>
            </a:xfrm>
            <a:custGeom>
              <a:avLst/>
              <a:gdLst>
                <a:gd name="connsiteX0" fmla="*/ 8946 w 17891"/>
                <a:gd name="connsiteY0" fmla="*/ 17875 h 17875"/>
                <a:gd name="connsiteX1" fmla="*/ 17892 w 17891"/>
                <a:gd name="connsiteY1" fmla="*/ 8938 h 17875"/>
                <a:gd name="connsiteX2" fmla="*/ 8946 w 17891"/>
                <a:gd name="connsiteY2" fmla="*/ 0 h 17875"/>
                <a:gd name="connsiteX3" fmla="*/ 0 w 17891"/>
                <a:gd name="connsiteY3" fmla="*/ 8938 h 17875"/>
                <a:gd name="connsiteX4" fmla="*/ 0 w 17891"/>
                <a:gd name="connsiteY4" fmla="*/ 8938 h 17875"/>
                <a:gd name="connsiteX5" fmla="*/ 8946 w 17891"/>
                <a:gd name="connsiteY5" fmla="*/ 17875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8946" y="17875"/>
                  </a:moveTo>
                  <a:cubicBezTo>
                    <a:pt x="14058" y="17875"/>
                    <a:pt x="17892" y="14045"/>
                    <a:pt x="17892" y="8938"/>
                  </a:cubicBezTo>
                  <a:cubicBezTo>
                    <a:pt x="17892" y="3830"/>
                    <a:pt x="14058" y="0"/>
                    <a:pt x="8946" y="0"/>
                  </a:cubicBezTo>
                  <a:cubicBezTo>
                    <a:pt x="3834" y="0"/>
                    <a:pt x="0" y="3830"/>
                    <a:pt x="0" y="8938"/>
                  </a:cubicBezTo>
                  <a:cubicBezTo>
                    <a:pt x="0" y="8938"/>
                    <a:pt x="0" y="8938"/>
                    <a:pt x="0" y="8938"/>
                  </a:cubicBezTo>
                  <a:cubicBezTo>
                    <a:pt x="0" y="14045"/>
                    <a:pt x="3834" y="17875"/>
                    <a:pt x="8946" y="17875"/>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21" name="Graphic 4">
              <a:extLst>
                <a:ext uri="{FF2B5EF4-FFF2-40B4-BE49-F238E27FC236}">
                  <a16:creationId xmlns:a16="http://schemas.microsoft.com/office/drawing/2014/main" id="{886A1F0E-4927-4F05-5B9E-389E2524327C}"/>
                </a:ext>
              </a:extLst>
            </p:cNvPr>
            <p:cNvSpPr/>
            <p:nvPr/>
          </p:nvSpPr>
          <p:spPr bwMode="gray">
            <a:xfrm>
              <a:off x="905454" y="1403361"/>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41540 w 362309"/>
                <a:gd name="connsiteY6" fmla="*/ 293025 h 361971"/>
                <a:gd name="connsiteX7" fmla="*/ 219814 w 362309"/>
                <a:gd name="connsiteY7" fmla="*/ 271319 h 361971"/>
                <a:gd name="connsiteX8" fmla="*/ 235150 w 362309"/>
                <a:gd name="connsiteY8" fmla="*/ 250891 h 361971"/>
                <a:gd name="connsiteX9" fmla="*/ 235150 w 362309"/>
                <a:gd name="connsiteY9" fmla="*/ 203011 h 361971"/>
                <a:gd name="connsiteX10" fmla="*/ 220453 w 362309"/>
                <a:gd name="connsiteY10" fmla="*/ 186412 h 361971"/>
                <a:gd name="connsiteX11" fmla="*/ 218536 w 362309"/>
                <a:gd name="connsiteY11" fmla="*/ 186412 h 361971"/>
                <a:gd name="connsiteX12" fmla="*/ 187225 w 362309"/>
                <a:gd name="connsiteY12" fmla="*/ 186412 h 361971"/>
                <a:gd name="connsiteX13" fmla="*/ 187225 w 362309"/>
                <a:gd name="connsiteY13" fmla="*/ 250252 h 361971"/>
                <a:gd name="connsiteX14" fmla="*/ 201283 w 362309"/>
                <a:gd name="connsiteY14" fmla="*/ 277065 h 361971"/>
                <a:gd name="connsiteX15" fmla="*/ 174445 w 362309"/>
                <a:gd name="connsiteY15" fmla="*/ 291110 h 361971"/>
                <a:gd name="connsiteX16" fmla="*/ 160387 w 362309"/>
                <a:gd name="connsiteY16" fmla="*/ 264297 h 361971"/>
                <a:gd name="connsiteX17" fmla="*/ 174445 w 362309"/>
                <a:gd name="connsiteY17" fmla="*/ 250252 h 361971"/>
                <a:gd name="connsiteX18" fmla="*/ 174445 w 362309"/>
                <a:gd name="connsiteY18" fmla="*/ 186412 h 361971"/>
                <a:gd name="connsiteX19" fmla="*/ 143135 w 362309"/>
                <a:gd name="connsiteY19" fmla="*/ 186412 h 361971"/>
                <a:gd name="connsiteX20" fmla="*/ 113741 w 362309"/>
                <a:gd name="connsiteY20" fmla="*/ 158961 h 361971"/>
                <a:gd name="connsiteX21" fmla="*/ 113741 w 362309"/>
                <a:gd name="connsiteY21" fmla="*/ 157046 h 361971"/>
                <a:gd name="connsiteX22" fmla="*/ 113741 w 362309"/>
                <a:gd name="connsiteY22" fmla="*/ 109166 h 361971"/>
                <a:gd name="connsiteX23" fmla="*/ 99683 w 362309"/>
                <a:gd name="connsiteY23" fmla="*/ 82353 h 361971"/>
                <a:gd name="connsiteX24" fmla="*/ 126521 w 362309"/>
                <a:gd name="connsiteY24" fmla="*/ 68309 h 361971"/>
                <a:gd name="connsiteX25" fmla="*/ 140579 w 362309"/>
                <a:gd name="connsiteY25" fmla="*/ 95121 h 361971"/>
                <a:gd name="connsiteX26" fmla="*/ 126521 w 362309"/>
                <a:gd name="connsiteY26" fmla="*/ 109166 h 361971"/>
                <a:gd name="connsiteX27" fmla="*/ 126521 w 362309"/>
                <a:gd name="connsiteY27" fmla="*/ 157046 h 361971"/>
                <a:gd name="connsiteX28" fmla="*/ 141218 w 362309"/>
                <a:gd name="connsiteY28" fmla="*/ 173644 h 361971"/>
                <a:gd name="connsiteX29" fmla="*/ 142496 w 362309"/>
                <a:gd name="connsiteY29" fmla="*/ 173644 h 361971"/>
                <a:gd name="connsiteX30" fmla="*/ 173806 w 362309"/>
                <a:gd name="connsiteY30" fmla="*/ 173644 h 361971"/>
                <a:gd name="connsiteX31" fmla="*/ 173806 w 362309"/>
                <a:gd name="connsiteY31" fmla="*/ 111720 h 361971"/>
                <a:gd name="connsiteX32" fmla="*/ 174445 w 362309"/>
                <a:gd name="connsiteY32" fmla="*/ 109804 h 361971"/>
                <a:gd name="connsiteX33" fmla="*/ 159748 w 362309"/>
                <a:gd name="connsiteY33" fmla="*/ 82992 h 361971"/>
                <a:gd name="connsiteX34" fmla="*/ 186586 w 362309"/>
                <a:gd name="connsiteY34" fmla="*/ 68309 h 361971"/>
                <a:gd name="connsiteX35" fmla="*/ 201283 w 362309"/>
                <a:gd name="connsiteY35" fmla="*/ 95121 h 361971"/>
                <a:gd name="connsiteX36" fmla="*/ 186586 w 362309"/>
                <a:gd name="connsiteY36" fmla="*/ 109804 h 361971"/>
                <a:gd name="connsiteX37" fmla="*/ 187225 w 362309"/>
                <a:gd name="connsiteY37" fmla="*/ 111720 h 361971"/>
                <a:gd name="connsiteX38" fmla="*/ 187225 w 362309"/>
                <a:gd name="connsiteY38" fmla="*/ 173644 h 361971"/>
                <a:gd name="connsiteX39" fmla="*/ 219175 w 362309"/>
                <a:gd name="connsiteY39" fmla="*/ 173644 h 361971"/>
                <a:gd name="connsiteX40" fmla="*/ 248569 w 362309"/>
                <a:gd name="connsiteY40" fmla="*/ 201095 h 361971"/>
                <a:gd name="connsiteX41" fmla="*/ 248569 w 362309"/>
                <a:gd name="connsiteY41" fmla="*/ 203011 h 361971"/>
                <a:gd name="connsiteX42" fmla="*/ 248569 w 362309"/>
                <a:gd name="connsiteY42" fmla="*/ 250891 h 361971"/>
                <a:gd name="connsiteX43" fmla="*/ 262626 w 362309"/>
                <a:gd name="connsiteY43" fmla="*/ 277703 h 361971"/>
                <a:gd name="connsiteX44" fmla="*/ 241540 w 362309"/>
                <a:gd name="connsiteY44" fmla="*/ 293025 h 361971"/>
                <a:gd name="connsiteX45" fmla="*/ 241540 w 362309"/>
                <a:gd name="connsiteY45" fmla="*/ 29302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41540" y="293025"/>
                  </a:moveTo>
                  <a:cubicBezTo>
                    <a:pt x="229399" y="293025"/>
                    <a:pt x="219814" y="283449"/>
                    <a:pt x="219814" y="271319"/>
                  </a:cubicBezTo>
                  <a:cubicBezTo>
                    <a:pt x="219814" y="261743"/>
                    <a:pt x="226204" y="253444"/>
                    <a:pt x="235150" y="250891"/>
                  </a:cubicBezTo>
                  <a:lnTo>
                    <a:pt x="235150" y="203011"/>
                  </a:lnTo>
                  <a:cubicBezTo>
                    <a:pt x="235789" y="194711"/>
                    <a:pt x="228760" y="187051"/>
                    <a:pt x="220453" y="186412"/>
                  </a:cubicBezTo>
                  <a:cubicBezTo>
                    <a:pt x="219814" y="186412"/>
                    <a:pt x="219175" y="186412"/>
                    <a:pt x="218536" y="186412"/>
                  </a:cubicBezTo>
                  <a:lnTo>
                    <a:pt x="187225" y="186412"/>
                  </a:lnTo>
                  <a:lnTo>
                    <a:pt x="187225" y="250252"/>
                  </a:lnTo>
                  <a:cubicBezTo>
                    <a:pt x="198727" y="254083"/>
                    <a:pt x="205117" y="265574"/>
                    <a:pt x="201283" y="277065"/>
                  </a:cubicBezTo>
                  <a:cubicBezTo>
                    <a:pt x="197449" y="288556"/>
                    <a:pt x="185947" y="294940"/>
                    <a:pt x="174445" y="291110"/>
                  </a:cubicBezTo>
                  <a:cubicBezTo>
                    <a:pt x="162943" y="287279"/>
                    <a:pt x="156553" y="275788"/>
                    <a:pt x="160387" y="264297"/>
                  </a:cubicBezTo>
                  <a:cubicBezTo>
                    <a:pt x="162304" y="257275"/>
                    <a:pt x="168055" y="252167"/>
                    <a:pt x="174445" y="250252"/>
                  </a:cubicBezTo>
                  <a:lnTo>
                    <a:pt x="174445" y="186412"/>
                  </a:lnTo>
                  <a:lnTo>
                    <a:pt x="143135" y="186412"/>
                  </a:lnTo>
                  <a:cubicBezTo>
                    <a:pt x="127799" y="187051"/>
                    <a:pt x="114380" y="174283"/>
                    <a:pt x="113741" y="158961"/>
                  </a:cubicBezTo>
                  <a:cubicBezTo>
                    <a:pt x="113741" y="158323"/>
                    <a:pt x="113741" y="157684"/>
                    <a:pt x="113741" y="157046"/>
                  </a:cubicBezTo>
                  <a:lnTo>
                    <a:pt x="113741" y="109166"/>
                  </a:lnTo>
                  <a:cubicBezTo>
                    <a:pt x="102239" y="105336"/>
                    <a:pt x="95849" y="93845"/>
                    <a:pt x="99683" y="82353"/>
                  </a:cubicBezTo>
                  <a:cubicBezTo>
                    <a:pt x="103517" y="70862"/>
                    <a:pt x="115019" y="64478"/>
                    <a:pt x="126521" y="68309"/>
                  </a:cubicBezTo>
                  <a:cubicBezTo>
                    <a:pt x="138023" y="72139"/>
                    <a:pt x="144413" y="83630"/>
                    <a:pt x="140579" y="95121"/>
                  </a:cubicBezTo>
                  <a:cubicBezTo>
                    <a:pt x="138662" y="102144"/>
                    <a:pt x="132911" y="107251"/>
                    <a:pt x="126521" y="109166"/>
                  </a:cubicBezTo>
                  <a:lnTo>
                    <a:pt x="126521" y="157046"/>
                  </a:lnTo>
                  <a:cubicBezTo>
                    <a:pt x="125882" y="165345"/>
                    <a:pt x="132911" y="173006"/>
                    <a:pt x="141218" y="173644"/>
                  </a:cubicBezTo>
                  <a:cubicBezTo>
                    <a:pt x="141857" y="173644"/>
                    <a:pt x="142496" y="173644"/>
                    <a:pt x="142496" y="173644"/>
                  </a:cubicBezTo>
                  <a:lnTo>
                    <a:pt x="173806" y="173644"/>
                  </a:lnTo>
                  <a:lnTo>
                    <a:pt x="173806" y="111720"/>
                  </a:lnTo>
                  <a:cubicBezTo>
                    <a:pt x="173806" y="111081"/>
                    <a:pt x="173806" y="110443"/>
                    <a:pt x="174445" y="109804"/>
                  </a:cubicBezTo>
                  <a:cubicBezTo>
                    <a:pt x="162943" y="106612"/>
                    <a:pt x="156553" y="94483"/>
                    <a:pt x="159748" y="82992"/>
                  </a:cubicBezTo>
                  <a:cubicBezTo>
                    <a:pt x="162943" y="71501"/>
                    <a:pt x="175084" y="65117"/>
                    <a:pt x="186586" y="68309"/>
                  </a:cubicBezTo>
                  <a:cubicBezTo>
                    <a:pt x="198088" y="71501"/>
                    <a:pt x="204478" y="83630"/>
                    <a:pt x="201283" y="95121"/>
                  </a:cubicBezTo>
                  <a:cubicBezTo>
                    <a:pt x="199366" y="102144"/>
                    <a:pt x="193615" y="107889"/>
                    <a:pt x="186586" y="109804"/>
                  </a:cubicBezTo>
                  <a:cubicBezTo>
                    <a:pt x="186586" y="110443"/>
                    <a:pt x="187225" y="111081"/>
                    <a:pt x="187225" y="111720"/>
                  </a:cubicBezTo>
                  <a:lnTo>
                    <a:pt x="187225" y="173644"/>
                  </a:lnTo>
                  <a:lnTo>
                    <a:pt x="219175" y="173644"/>
                  </a:lnTo>
                  <a:cubicBezTo>
                    <a:pt x="234511" y="173006"/>
                    <a:pt x="247930" y="185135"/>
                    <a:pt x="248569" y="201095"/>
                  </a:cubicBezTo>
                  <a:cubicBezTo>
                    <a:pt x="248569" y="201734"/>
                    <a:pt x="248569" y="202372"/>
                    <a:pt x="248569" y="203011"/>
                  </a:cubicBezTo>
                  <a:lnTo>
                    <a:pt x="248569" y="250891"/>
                  </a:lnTo>
                  <a:cubicBezTo>
                    <a:pt x="260070" y="254083"/>
                    <a:pt x="266460" y="266212"/>
                    <a:pt x="262626" y="277703"/>
                  </a:cubicBezTo>
                  <a:cubicBezTo>
                    <a:pt x="259431" y="287279"/>
                    <a:pt x="251125" y="293663"/>
                    <a:pt x="241540" y="293025"/>
                  </a:cubicBezTo>
                  <a:lnTo>
                    <a:pt x="241540" y="293025"/>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22" name="Graphic 4">
              <a:extLst>
                <a:ext uri="{FF2B5EF4-FFF2-40B4-BE49-F238E27FC236}">
                  <a16:creationId xmlns:a16="http://schemas.microsoft.com/office/drawing/2014/main" id="{4B9D5096-8B46-D7CA-B61B-51A4FCA9C1A2}"/>
                </a:ext>
              </a:extLst>
            </p:cNvPr>
            <p:cNvSpPr/>
            <p:nvPr/>
          </p:nvSpPr>
          <p:spPr bwMode="gray">
            <a:xfrm>
              <a:off x="1138047"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grpSp>
        <p:nvGrpSpPr>
          <p:cNvPr id="23" name="Graphic 4">
            <a:extLst>
              <a:ext uri="{FF2B5EF4-FFF2-40B4-BE49-F238E27FC236}">
                <a16:creationId xmlns:a16="http://schemas.microsoft.com/office/drawing/2014/main" id="{22B3C4B7-7A17-7BD4-7756-CB8594A83FA1}"/>
              </a:ext>
            </a:extLst>
          </p:cNvPr>
          <p:cNvGrpSpPr>
            <a:grpSpLocks noChangeAspect="1"/>
          </p:cNvGrpSpPr>
          <p:nvPr/>
        </p:nvGrpSpPr>
        <p:grpSpPr bwMode="gray">
          <a:xfrm>
            <a:off x="5950630" y="3188749"/>
            <a:ext cx="236328" cy="236339"/>
            <a:chOff x="905454" y="1403361"/>
            <a:chExt cx="362309" cy="361971"/>
          </a:xfrm>
          <a:solidFill>
            <a:srgbClr val="C00000"/>
          </a:solidFill>
        </p:grpSpPr>
        <p:sp>
          <p:nvSpPr>
            <p:cNvPr id="24" name="Graphic 4">
              <a:extLst>
                <a:ext uri="{FF2B5EF4-FFF2-40B4-BE49-F238E27FC236}">
                  <a16:creationId xmlns:a16="http://schemas.microsoft.com/office/drawing/2014/main" id="{A34E7EFB-6D70-E84B-143A-8E69EBF06771}"/>
                </a:ext>
              </a:extLst>
            </p:cNvPr>
            <p:cNvSpPr/>
            <p:nvPr/>
          </p:nvSpPr>
          <p:spPr bwMode="gray">
            <a:xfrm>
              <a:off x="1077343"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25" name="Graphic 4">
              <a:extLst>
                <a:ext uri="{FF2B5EF4-FFF2-40B4-BE49-F238E27FC236}">
                  <a16:creationId xmlns:a16="http://schemas.microsoft.com/office/drawing/2014/main" id="{7301FD28-E21B-63DF-D719-B2C6F5F945F5}"/>
                </a:ext>
              </a:extLst>
            </p:cNvPr>
            <p:cNvSpPr/>
            <p:nvPr/>
          </p:nvSpPr>
          <p:spPr bwMode="gray">
            <a:xfrm>
              <a:off x="1077343" y="1484438"/>
              <a:ext cx="17891" cy="17875"/>
            </a:xfrm>
            <a:custGeom>
              <a:avLst/>
              <a:gdLst>
                <a:gd name="connsiteX0" fmla="*/ 17892 w 17891"/>
                <a:gd name="connsiteY0" fmla="*/ 8938 h 17875"/>
                <a:gd name="connsiteX1" fmla="*/ 8946 w 17891"/>
                <a:gd name="connsiteY1" fmla="*/ 0 h 17875"/>
                <a:gd name="connsiteX2" fmla="*/ 0 w 17891"/>
                <a:gd name="connsiteY2" fmla="*/ 8938 h 17875"/>
                <a:gd name="connsiteX3" fmla="*/ 8946 w 17891"/>
                <a:gd name="connsiteY3" fmla="*/ 17875 h 17875"/>
                <a:gd name="connsiteX4" fmla="*/ 8946 w 17891"/>
                <a:gd name="connsiteY4" fmla="*/ 17875 h 17875"/>
                <a:gd name="connsiteX5" fmla="*/ 17892 w 17891"/>
                <a:gd name="connsiteY5" fmla="*/ 8938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17892" y="8938"/>
                  </a:moveTo>
                  <a:cubicBezTo>
                    <a:pt x="17892" y="3830"/>
                    <a:pt x="14058" y="0"/>
                    <a:pt x="8946" y="0"/>
                  </a:cubicBezTo>
                  <a:cubicBezTo>
                    <a:pt x="3834" y="0"/>
                    <a:pt x="0" y="3830"/>
                    <a:pt x="0" y="8938"/>
                  </a:cubicBezTo>
                  <a:cubicBezTo>
                    <a:pt x="0" y="14045"/>
                    <a:pt x="3834" y="17875"/>
                    <a:pt x="8946" y="17875"/>
                  </a:cubicBezTo>
                  <a:cubicBezTo>
                    <a:pt x="8946" y="17875"/>
                    <a:pt x="8946" y="17875"/>
                    <a:pt x="8946" y="17875"/>
                  </a:cubicBezTo>
                  <a:cubicBezTo>
                    <a:pt x="14058" y="17875"/>
                    <a:pt x="17892" y="14045"/>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26" name="Graphic 4">
              <a:extLst>
                <a:ext uri="{FF2B5EF4-FFF2-40B4-BE49-F238E27FC236}">
                  <a16:creationId xmlns:a16="http://schemas.microsoft.com/office/drawing/2014/main" id="{CB2B5A96-FC1F-5C97-D29A-2906B91A9D19}"/>
                </a:ext>
              </a:extLst>
            </p:cNvPr>
            <p:cNvSpPr/>
            <p:nvPr/>
          </p:nvSpPr>
          <p:spPr bwMode="gray">
            <a:xfrm>
              <a:off x="1017277" y="1484438"/>
              <a:ext cx="17891" cy="17875"/>
            </a:xfrm>
            <a:custGeom>
              <a:avLst/>
              <a:gdLst>
                <a:gd name="connsiteX0" fmla="*/ 8946 w 17891"/>
                <a:gd name="connsiteY0" fmla="*/ 17875 h 17875"/>
                <a:gd name="connsiteX1" fmla="*/ 17892 w 17891"/>
                <a:gd name="connsiteY1" fmla="*/ 8938 h 17875"/>
                <a:gd name="connsiteX2" fmla="*/ 8946 w 17891"/>
                <a:gd name="connsiteY2" fmla="*/ 0 h 17875"/>
                <a:gd name="connsiteX3" fmla="*/ 0 w 17891"/>
                <a:gd name="connsiteY3" fmla="*/ 8938 h 17875"/>
                <a:gd name="connsiteX4" fmla="*/ 0 w 17891"/>
                <a:gd name="connsiteY4" fmla="*/ 8938 h 17875"/>
                <a:gd name="connsiteX5" fmla="*/ 8946 w 17891"/>
                <a:gd name="connsiteY5" fmla="*/ 17875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8946" y="17875"/>
                  </a:moveTo>
                  <a:cubicBezTo>
                    <a:pt x="14058" y="17875"/>
                    <a:pt x="17892" y="14045"/>
                    <a:pt x="17892" y="8938"/>
                  </a:cubicBezTo>
                  <a:cubicBezTo>
                    <a:pt x="17892" y="3830"/>
                    <a:pt x="14058" y="0"/>
                    <a:pt x="8946" y="0"/>
                  </a:cubicBezTo>
                  <a:cubicBezTo>
                    <a:pt x="3834" y="0"/>
                    <a:pt x="0" y="3830"/>
                    <a:pt x="0" y="8938"/>
                  </a:cubicBezTo>
                  <a:cubicBezTo>
                    <a:pt x="0" y="8938"/>
                    <a:pt x="0" y="8938"/>
                    <a:pt x="0" y="8938"/>
                  </a:cubicBezTo>
                  <a:cubicBezTo>
                    <a:pt x="0" y="14045"/>
                    <a:pt x="3834" y="17875"/>
                    <a:pt x="8946" y="17875"/>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27" name="Graphic 4">
              <a:extLst>
                <a:ext uri="{FF2B5EF4-FFF2-40B4-BE49-F238E27FC236}">
                  <a16:creationId xmlns:a16="http://schemas.microsoft.com/office/drawing/2014/main" id="{7B7550A0-8B3D-1FF9-2525-9C93D720B766}"/>
                </a:ext>
              </a:extLst>
            </p:cNvPr>
            <p:cNvSpPr/>
            <p:nvPr/>
          </p:nvSpPr>
          <p:spPr bwMode="gray">
            <a:xfrm>
              <a:off x="905454" y="1403361"/>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41540 w 362309"/>
                <a:gd name="connsiteY6" fmla="*/ 293025 h 361971"/>
                <a:gd name="connsiteX7" fmla="*/ 219814 w 362309"/>
                <a:gd name="connsiteY7" fmla="*/ 271319 h 361971"/>
                <a:gd name="connsiteX8" fmla="*/ 235150 w 362309"/>
                <a:gd name="connsiteY8" fmla="*/ 250891 h 361971"/>
                <a:gd name="connsiteX9" fmla="*/ 235150 w 362309"/>
                <a:gd name="connsiteY9" fmla="*/ 203011 h 361971"/>
                <a:gd name="connsiteX10" fmla="*/ 220453 w 362309"/>
                <a:gd name="connsiteY10" fmla="*/ 186412 h 361971"/>
                <a:gd name="connsiteX11" fmla="*/ 218536 w 362309"/>
                <a:gd name="connsiteY11" fmla="*/ 186412 h 361971"/>
                <a:gd name="connsiteX12" fmla="*/ 187225 w 362309"/>
                <a:gd name="connsiteY12" fmla="*/ 186412 h 361971"/>
                <a:gd name="connsiteX13" fmla="*/ 187225 w 362309"/>
                <a:gd name="connsiteY13" fmla="*/ 250252 h 361971"/>
                <a:gd name="connsiteX14" fmla="*/ 201283 w 362309"/>
                <a:gd name="connsiteY14" fmla="*/ 277065 h 361971"/>
                <a:gd name="connsiteX15" fmla="*/ 174445 w 362309"/>
                <a:gd name="connsiteY15" fmla="*/ 291110 h 361971"/>
                <a:gd name="connsiteX16" fmla="*/ 160387 w 362309"/>
                <a:gd name="connsiteY16" fmla="*/ 264297 h 361971"/>
                <a:gd name="connsiteX17" fmla="*/ 174445 w 362309"/>
                <a:gd name="connsiteY17" fmla="*/ 250252 h 361971"/>
                <a:gd name="connsiteX18" fmla="*/ 174445 w 362309"/>
                <a:gd name="connsiteY18" fmla="*/ 186412 h 361971"/>
                <a:gd name="connsiteX19" fmla="*/ 143135 w 362309"/>
                <a:gd name="connsiteY19" fmla="*/ 186412 h 361971"/>
                <a:gd name="connsiteX20" fmla="*/ 113741 w 362309"/>
                <a:gd name="connsiteY20" fmla="*/ 158961 h 361971"/>
                <a:gd name="connsiteX21" fmla="*/ 113741 w 362309"/>
                <a:gd name="connsiteY21" fmla="*/ 157046 h 361971"/>
                <a:gd name="connsiteX22" fmla="*/ 113741 w 362309"/>
                <a:gd name="connsiteY22" fmla="*/ 109166 h 361971"/>
                <a:gd name="connsiteX23" fmla="*/ 99683 w 362309"/>
                <a:gd name="connsiteY23" fmla="*/ 82353 h 361971"/>
                <a:gd name="connsiteX24" fmla="*/ 126521 w 362309"/>
                <a:gd name="connsiteY24" fmla="*/ 68309 h 361971"/>
                <a:gd name="connsiteX25" fmla="*/ 140579 w 362309"/>
                <a:gd name="connsiteY25" fmla="*/ 95121 h 361971"/>
                <a:gd name="connsiteX26" fmla="*/ 126521 w 362309"/>
                <a:gd name="connsiteY26" fmla="*/ 109166 h 361971"/>
                <a:gd name="connsiteX27" fmla="*/ 126521 w 362309"/>
                <a:gd name="connsiteY27" fmla="*/ 157046 h 361971"/>
                <a:gd name="connsiteX28" fmla="*/ 141218 w 362309"/>
                <a:gd name="connsiteY28" fmla="*/ 173644 h 361971"/>
                <a:gd name="connsiteX29" fmla="*/ 142496 w 362309"/>
                <a:gd name="connsiteY29" fmla="*/ 173644 h 361971"/>
                <a:gd name="connsiteX30" fmla="*/ 173806 w 362309"/>
                <a:gd name="connsiteY30" fmla="*/ 173644 h 361971"/>
                <a:gd name="connsiteX31" fmla="*/ 173806 w 362309"/>
                <a:gd name="connsiteY31" fmla="*/ 111720 h 361971"/>
                <a:gd name="connsiteX32" fmla="*/ 174445 w 362309"/>
                <a:gd name="connsiteY32" fmla="*/ 109804 h 361971"/>
                <a:gd name="connsiteX33" fmla="*/ 159748 w 362309"/>
                <a:gd name="connsiteY33" fmla="*/ 82992 h 361971"/>
                <a:gd name="connsiteX34" fmla="*/ 186586 w 362309"/>
                <a:gd name="connsiteY34" fmla="*/ 68309 h 361971"/>
                <a:gd name="connsiteX35" fmla="*/ 201283 w 362309"/>
                <a:gd name="connsiteY35" fmla="*/ 95121 h 361971"/>
                <a:gd name="connsiteX36" fmla="*/ 186586 w 362309"/>
                <a:gd name="connsiteY36" fmla="*/ 109804 h 361971"/>
                <a:gd name="connsiteX37" fmla="*/ 187225 w 362309"/>
                <a:gd name="connsiteY37" fmla="*/ 111720 h 361971"/>
                <a:gd name="connsiteX38" fmla="*/ 187225 w 362309"/>
                <a:gd name="connsiteY38" fmla="*/ 173644 h 361971"/>
                <a:gd name="connsiteX39" fmla="*/ 219175 w 362309"/>
                <a:gd name="connsiteY39" fmla="*/ 173644 h 361971"/>
                <a:gd name="connsiteX40" fmla="*/ 248569 w 362309"/>
                <a:gd name="connsiteY40" fmla="*/ 201095 h 361971"/>
                <a:gd name="connsiteX41" fmla="*/ 248569 w 362309"/>
                <a:gd name="connsiteY41" fmla="*/ 203011 h 361971"/>
                <a:gd name="connsiteX42" fmla="*/ 248569 w 362309"/>
                <a:gd name="connsiteY42" fmla="*/ 250891 h 361971"/>
                <a:gd name="connsiteX43" fmla="*/ 262626 w 362309"/>
                <a:gd name="connsiteY43" fmla="*/ 277703 h 361971"/>
                <a:gd name="connsiteX44" fmla="*/ 241540 w 362309"/>
                <a:gd name="connsiteY44" fmla="*/ 293025 h 361971"/>
                <a:gd name="connsiteX45" fmla="*/ 241540 w 362309"/>
                <a:gd name="connsiteY45" fmla="*/ 29302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41540" y="293025"/>
                  </a:moveTo>
                  <a:cubicBezTo>
                    <a:pt x="229399" y="293025"/>
                    <a:pt x="219814" y="283449"/>
                    <a:pt x="219814" y="271319"/>
                  </a:cubicBezTo>
                  <a:cubicBezTo>
                    <a:pt x="219814" y="261743"/>
                    <a:pt x="226204" y="253444"/>
                    <a:pt x="235150" y="250891"/>
                  </a:cubicBezTo>
                  <a:lnTo>
                    <a:pt x="235150" y="203011"/>
                  </a:lnTo>
                  <a:cubicBezTo>
                    <a:pt x="235789" y="194711"/>
                    <a:pt x="228760" y="187051"/>
                    <a:pt x="220453" y="186412"/>
                  </a:cubicBezTo>
                  <a:cubicBezTo>
                    <a:pt x="219814" y="186412"/>
                    <a:pt x="219175" y="186412"/>
                    <a:pt x="218536" y="186412"/>
                  </a:cubicBezTo>
                  <a:lnTo>
                    <a:pt x="187225" y="186412"/>
                  </a:lnTo>
                  <a:lnTo>
                    <a:pt x="187225" y="250252"/>
                  </a:lnTo>
                  <a:cubicBezTo>
                    <a:pt x="198727" y="254083"/>
                    <a:pt x="205117" y="265574"/>
                    <a:pt x="201283" y="277065"/>
                  </a:cubicBezTo>
                  <a:cubicBezTo>
                    <a:pt x="197449" y="288556"/>
                    <a:pt x="185947" y="294940"/>
                    <a:pt x="174445" y="291110"/>
                  </a:cubicBezTo>
                  <a:cubicBezTo>
                    <a:pt x="162943" y="287279"/>
                    <a:pt x="156553" y="275788"/>
                    <a:pt x="160387" y="264297"/>
                  </a:cubicBezTo>
                  <a:cubicBezTo>
                    <a:pt x="162304" y="257275"/>
                    <a:pt x="168055" y="252167"/>
                    <a:pt x="174445" y="250252"/>
                  </a:cubicBezTo>
                  <a:lnTo>
                    <a:pt x="174445" y="186412"/>
                  </a:lnTo>
                  <a:lnTo>
                    <a:pt x="143135" y="186412"/>
                  </a:lnTo>
                  <a:cubicBezTo>
                    <a:pt x="127799" y="187051"/>
                    <a:pt x="114380" y="174283"/>
                    <a:pt x="113741" y="158961"/>
                  </a:cubicBezTo>
                  <a:cubicBezTo>
                    <a:pt x="113741" y="158323"/>
                    <a:pt x="113741" y="157684"/>
                    <a:pt x="113741" y="157046"/>
                  </a:cubicBezTo>
                  <a:lnTo>
                    <a:pt x="113741" y="109166"/>
                  </a:lnTo>
                  <a:cubicBezTo>
                    <a:pt x="102239" y="105336"/>
                    <a:pt x="95849" y="93845"/>
                    <a:pt x="99683" y="82353"/>
                  </a:cubicBezTo>
                  <a:cubicBezTo>
                    <a:pt x="103517" y="70862"/>
                    <a:pt x="115019" y="64478"/>
                    <a:pt x="126521" y="68309"/>
                  </a:cubicBezTo>
                  <a:cubicBezTo>
                    <a:pt x="138023" y="72139"/>
                    <a:pt x="144413" y="83630"/>
                    <a:pt x="140579" y="95121"/>
                  </a:cubicBezTo>
                  <a:cubicBezTo>
                    <a:pt x="138662" y="102144"/>
                    <a:pt x="132911" y="107251"/>
                    <a:pt x="126521" y="109166"/>
                  </a:cubicBezTo>
                  <a:lnTo>
                    <a:pt x="126521" y="157046"/>
                  </a:lnTo>
                  <a:cubicBezTo>
                    <a:pt x="125882" y="165345"/>
                    <a:pt x="132911" y="173006"/>
                    <a:pt x="141218" y="173644"/>
                  </a:cubicBezTo>
                  <a:cubicBezTo>
                    <a:pt x="141857" y="173644"/>
                    <a:pt x="142496" y="173644"/>
                    <a:pt x="142496" y="173644"/>
                  </a:cubicBezTo>
                  <a:lnTo>
                    <a:pt x="173806" y="173644"/>
                  </a:lnTo>
                  <a:lnTo>
                    <a:pt x="173806" y="111720"/>
                  </a:lnTo>
                  <a:cubicBezTo>
                    <a:pt x="173806" y="111081"/>
                    <a:pt x="173806" y="110443"/>
                    <a:pt x="174445" y="109804"/>
                  </a:cubicBezTo>
                  <a:cubicBezTo>
                    <a:pt x="162943" y="106612"/>
                    <a:pt x="156553" y="94483"/>
                    <a:pt x="159748" y="82992"/>
                  </a:cubicBezTo>
                  <a:cubicBezTo>
                    <a:pt x="162943" y="71501"/>
                    <a:pt x="175084" y="65117"/>
                    <a:pt x="186586" y="68309"/>
                  </a:cubicBezTo>
                  <a:cubicBezTo>
                    <a:pt x="198088" y="71501"/>
                    <a:pt x="204478" y="83630"/>
                    <a:pt x="201283" y="95121"/>
                  </a:cubicBezTo>
                  <a:cubicBezTo>
                    <a:pt x="199366" y="102144"/>
                    <a:pt x="193615" y="107889"/>
                    <a:pt x="186586" y="109804"/>
                  </a:cubicBezTo>
                  <a:cubicBezTo>
                    <a:pt x="186586" y="110443"/>
                    <a:pt x="187225" y="111081"/>
                    <a:pt x="187225" y="111720"/>
                  </a:cubicBezTo>
                  <a:lnTo>
                    <a:pt x="187225" y="173644"/>
                  </a:lnTo>
                  <a:lnTo>
                    <a:pt x="219175" y="173644"/>
                  </a:lnTo>
                  <a:cubicBezTo>
                    <a:pt x="234511" y="173006"/>
                    <a:pt x="247930" y="185135"/>
                    <a:pt x="248569" y="201095"/>
                  </a:cubicBezTo>
                  <a:cubicBezTo>
                    <a:pt x="248569" y="201734"/>
                    <a:pt x="248569" y="202372"/>
                    <a:pt x="248569" y="203011"/>
                  </a:cubicBezTo>
                  <a:lnTo>
                    <a:pt x="248569" y="250891"/>
                  </a:lnTo>
                  <a:cubicBezTo>
                    <a:pt x="260070" y="254083"/>
                    <a:pt x="266460" y="266212"/>
                    <a:pt x="262626" y="277703"/>
                  </a:cubicBezTo>
                  <a:cubicBezTo>
                    <a:pt x="259431" y="287279"/>
                    <a:pt x="251125" y="293663"/>
                    <a:pt x="241540" y="293025"/>
                  </a:cubicBezTo>
                  <a:lnTo>
                    <a:pt x="241540" y="293025"/>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28" name="Graphic 4">
              <a:extLst>
                <a:ext uri="{FF2B5EF4-FFF2-40B4-BE49-F238E27FC236}">
                  <a16:creationId xmlns:a16="http://schemas.microsoft.com/office/drawing/2014/main" id="{125C8C90-5D53-6E48-CBC7-4D3E9287329B}"/>
                </a:ext>
              </a:extLst>
            </p:cNvPr>
            <p:cNvSpPr/>
            <p:nvPr/>
          </p:nvSpPr>
          <p:spPr bwMode="gray">
            <a:xfrm>
              <a:off x="1138047"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grpSp>
        <p:nvGrpSpPr>
          <p:cNvPr id="29" name="Graphic 4">
            <a:extLst>
              <a:ext uri="{FF2B5EF4-FFF2-40B4-BE49-F238E27FC236}">
                <a16:creationId xmlns:a16="http://schemas.microsoft.com/office/drawing/2014/main" id="{EA09A3E7-0C28-FECA-5F8F-4023EC8811E7}"/>
              </a:ext>
            </a:extLst>
          </p:cNvPr>
          <p:cNvGrpSpPr>
            <a:grpSpLocks noChangeAspect="1"/>
          </p:cNvGrpSpPr>
          <p:nvPr/>
        </p:nvGrpSpPr>
        <p:grpSpPr bwMode="gray">
          <a:xfrm>
            <a:off x="5950630" y="3725922"/>
            <a:ext cx="236328" cy="236339"/>
            <a:chOff x="905454" y="1403361"/>
            <a:chExt cx="362309" cy="361971"/>
          </a:xfrm>
          <a:solidFill>
            <a:srgbClr val="C00000"/>
          </a:solidFill>
        </p:grpSpPr>
        <p:sp>
          <p:nvSpPr>
            <p:cNvPr id="30" name="Graphic 4">
              <a:extLst>
                <a:ext uri="{FF2B5EF4-FFF2-40B4-BE49-F238E27FC236}">
                  <a16:creationId xmlns:a16="http://schemas.microsoft.com/office/drawing/2014/main" id="{43E60B76-A3D2-0FA7-38FA-33979169B12E}"/>
                </a:ext>
              </a:extLst>
            </p:cNvPr>
            <p:cNvSpPr/>
            <p:nvPr/>
          </p:nvSpPr>
          <p:spPr bwMode="gray">
            <a:xfrm>
              <a:off x="1077343"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31" name="Graphic 4">
              <a:extLst>
                <a:ext uri="{FF2B5EF4-FFF2-40B4-BE49-F238E27FC236}">
                  <a16:creationId xmlns:a16="http://schemas.microsoft.com/office/drawing/2014/main" id="{6FF9FD47-CD2D-22A8-4564-F157CBE322D3}"/>
                </a:ext>
              </a:extLst>
            </p:cNvPr>
            <p:cNvSpPr/>
            <p:nvPr/>
          </p:nvSpPr>
          <p:spPr bwMode="gray">
            <a:xfrm>
              <a:off x="1077343" y="1484438"/>
              <a:ext cx="17891" cy="17875"/>
            </a:xfrm>
            <a:custGeom>
              <a:avLst/>
              <a:gdLst>
                <a:gd name="connsiteX0" fmla="*/ 17892 w 17891"/>
                <a:gd name="connsiteY0" fmla="*/ 8938 h 17875"/>
                <a:gd name="connsiteX1" fmla="*/ 8946 w 17891"/>
                <a:gd name="connsiteY1" fmla="*/ 0 h 17875"/>
                <a:gd name="connsiteX2" fmla="*/ 0 w 17891"/>
                <a:gd name="connsiteY2" fmla="*/ 8938 h 17875"/>
                <a:gd name="connsiteX3" fmla="*/ 8946 w 17891"/>
                <a:gd name="connsiteY3" fmla="*/ 17875 h 17875"/>
                <a:gd name="connsiteX4" fmla="*/ 8946 w 17891"/>
                <a:gd name="connsiteY4" fmla="*/ 17875 h 17875"/>
                <a:gd name="connsiteX5" fmla="*/ 17892 w 17891"/>
                <a:gd name="connsiteY5" fmla="*/ 8938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17892" y="8938"/>
                  </a:moveTo>
                  <a:cubicBezTo>
                    <a:pt x="17892" y="3830"/>
                    <a:pt x="14058" y="0"/>
                    <a:pt x="8946" y="0"/>
                  </a:cubicBezTo>
                  <a:cubicBezTo>
                    <a:pt x="3834" y="0"/>
                    <a:pt x="0" y="3830"/>
                    <a:pt x="0" y="8938"/>
                  </a:cubicBezTo>
                  <a:cubicBezTo>
                    <a:pt x="0" y="14045"/>
                    <a:pt x="3834" y="17875"/>
                    <a:pt x="8946" y="17875"/>
                  </a:cubicBezTo>
                  <a:cubicBezTo>
                    <a:pt x="8946" y="17875"/>
                    <a:pt x="8946" y="17875"/>
                    <a:pt x="8946" y="17875"/>
                  </a:cubicBezTo>
                  <a:cubicBezTo>
                    <a:pt x="14058" y="17875"/>
                    <a:pt x="17892" y="14045"/>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33" name="Graphic 4">
              <a:extLst>
                <a:ext uri="{FF2B5EF4-FFF2-40B4-BE49-F238E27FC236}">
                  <a16:creationId xmlns:a16="http://schemas.microsoft.com/office/drawing/2014/main" id="{5ADBC48A-345B-0987-7710-97B44F946EB7}"/>
                </a:ext>
              </a:extLst>
            </p:cNvPr>
            <p:cNvSpPr/>
            <p:nvPr/>
          </p:nvSpPr>
          <p:spPr bwMode="gray">
            <a:xfrm>
              <a:off x="1017277" y="1484438"/>
              <a:ext cx="17891" cy="17875"/>
            </a:xfrm>
            <a:custGeom>
              <a:avLst/>
              <a:gdLst>
                <a:gd name="connsiteX0" fmla="*/ 8946 w 17891"/>
                <a:gd name="connsiteY0" fmla="*/ 17875 h 17875"/>
                <a:gd name="connsiteX1" fmla="*/ 17892 w 17891"/>
                <a:gd name="connsiteY1" fmla="*/ 8938 h 17875"/>
                <a:gd name="connsiteX2" fmla="*/ 8946 w 17891"/>
                <a:gd name="connsiteY2" fmla="*/ 0 h 17875"/>
                <a:gd name="connsiteX3" fmla="*/ 0 w 17891"/>
                <a:gd name="connsiteY3" fmla="*/ 8938 h 17875"/>
                <a:gd name="connsiteX4" fmla="*/ 0 w 17891"/>
                <a:gd name="connsiteY4" fmla="*/ 8938 h 17875"/>
                <a:gd name="connsiteX5" fmla="*/ 8946 w 17891"/>
                <a:gd name="connsiteY5" fmla="*/ 17875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8946" y="17875"/>
                  </a:moveTo>
                  <a:cubicBezTo>
                    <a:pt x="14058" y="17875"/>
                    <a:pt x="17892" y="14045"/>
                    <a:pt x="17892" y="8938"/>
                  </a:cubicBezTo>
                  <a:cubicBezTo>
                    <a:pt x="17892" y="3830"/>
                    <a:pt x="14058" y="0"/>
                    <a:pt x="8946" y="0"/>
                  </a:cubicBezTo>
                  <a:cubicBezTo>
                    <a:pt x="3834" y="0"/>
                    <a:pt x="0" y="3830"/>
                    <a:pt x="0" y="8938"/>
                  </a:cubicBezTo>
                  <a:cubicBezTo>
                    <a:pt x="0" y="8938"/>
                    <a:pt x="0" y="8938"/>
                    <a:pt x="0" y="8938"/>
                  </a:cubicBezTo>
                  <a:cubicBezTo>
                    <a:pt x="0" y="14045"/>
                    <a:pt x="3834" y="17875"/>
                    <a:pt x="8946" y="17875"/>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34" name="Graphic 4">
              <a:extLst>
                <a:ext uri="{FF2B5EF4-FFF2-40B4-BE49-F238E27FC236}">
                  <a16:creationId xmlns:a16="http://schemas.microsoft.com/office/drawing/2014/main" id="{62D34E08-491D-F177-7011-6962CB9840A7}"/>
                </a:ext>
              </a:extLst>
            </p:cNvPr>
            <p:cNvSpPr/>
            <p:nvPr/>
          </p:nvSpPr>
          <p:spPr bwMode="gray">
            <a:xfrm>
              <a:off x="905454" y="1403361"/>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41540 w 362309"/>
                <a:gd name="connsiteY6" fmla="*/ 293025 h 361971"/>
                <a:gd name="connsiteX7" fmla="*/ 219814 w 362309"/>
                <a:gd name="connsiteY7" fmla="*/ 271319 h 361971"/>
                <a:gd name="connsiteX8" fmla="*/ 235150 w 362309"/>
                <a:gd name="connsiteY8" fmla="*/ 250891 h 361971"/>
                <a:gd name="connsiteX9" fmla="*/ 235150 w 362309"/>
                <a:gd name="connsiteY9" fmla="*/ 203011 h 361971"/>
                <a:gd name="connsiteX10" fmla="*/ 220453 w 362309"/>
                <a:gd name="connsiteY10" fmla="*/ 186412 h 361971"/>
                <a:gd name="connsiteX11" fmla="*/ 218536 w 362309"/>
                <a:gd name="connsiteY11" fmla="*/ 186412 h 361971"/>
                <a:gd name="connsiteX12" fmla="*/ 187225 w 362309"/>
                <a:gd name="connsiteY12" fmla="*/ 186412 h 361971"/>
                <a:gd name="connsiteX13" fmla="*/ 187225 w 362309"/>
                <a:gd name="connsiteY13" fmla="*/ 250252 h 361971"/>
                <a:gd name="connsiteX14" fmla="*/ 201283 w 362309"/>
                <a:gd name="connsiteY14" fmla="*/ 277065 h 361971"/>
                <a:gd name="connsiteX15" fmla="*/ 174445 w 362309"/>
                <a:gd name="connsiteY15" fmla="*/ 291110 h 361971"/>
                <a:gd name="connsiteX16" fmla="*/ 160387 w 362309"/>
                <a:gd name="connsiteY16" fmla="*/ 264297 h 361971"/>
                <a:gd name="connsiteX17" fmla="*/ 174445 w 362309"/>
                <a:gd name="connsiteY17" fmla="*/ 250252 h 361971"/>
                <a:gd name="connsiteX18" fmla="*/ 174445 w 362309"/>
                <a:gd name="connsiteY18" fmla="*/ 186412 h 361971"/>
                <a:gd name="connsiteX19" fmla="*/ 143135 w 362309"/>
                <a:gd name="connsiteY19" fmla="*/ 186412 h 361971"/>
                <a:gd name="connsiteX20" fmla="*/ 113741 w 362309"/>
                <a:gd name="connsiteY20" fmla="*/ 158961 h 361971"/>
                <a:gd name="connsiteX21" fmla="*/ 113741 w 362309"/>
                <a:gd name="connsiteY21" fmla="*/ 157046 h 361971"/>
                <a:gd name="connsiteX22" fmla="*/ 113741 w 362309"/>
                <a:gd name="connsiteY22" fmla="*/ 109166 h 361971"/>
                <a:gd name="connsiteX23" fmla="*/ 99683 w 362309"/>
                <a:gd name="connsiteY23" fmla="*/ 82353 h 361971"/>
                <a:gd name="connsiteX24" fmla="*/ 126521 w 362309"/>
                <a:gd name="connsiteY24" fmla="*/ 68309 h 361971"/>
                <a:gd name="connsiteX25" fmla="*/ 140579 w 362309"/>
                <a:gd name="connsiteY25" fmla="*/ 95121 h 361971"/>
                <a:gd name="connsiteX26" fmla="*/ 126521 w 362309"/>
                <a:gd name="connsiteY26" fmla="*/ 109166 h 361971"/>
                <a:gd name="connsiteX27" fmla="*/ 126521 w 362309"/>
                <a:gd name="connsiteY27" fmla="*/ 157046 h 361971"/>
                <a:gd name="connsiteX28" fmla="*/ 141218 w 362309"/>
                <a:gd name="connsiteY28" fmla="*/ 173644 h 361971"/>
                <a:gd name="connsiteX29" fmla="*/ 142496 w 362309"/>
                <a:gd name="connsiteY29" fmla="*/ 173644 h 361971"/>
                <a:gd name="connsiteX30" fmla="*/ 173806 w 362309"/>
                <a:gd name="connsiteY30" fmla="*/ 173644 h 361971"/>
                <a:gd name="connsiteX31" fmla="*/ 173806 w 362309"/>
                <a:gd name="connsiteY31" fmla="*/ 111720 h 361971"/>
                <a:gd name="connsiteX32" fmla="*/ 174445 w 362309"/>
                <a:gd name="connsiteY32" fmla="*/ 109804 h 361971"/>
                <a:gd name="connsiteX33" fmla="*/ 159748 w 362309"/>
                <a:gd name="connsiteY33" fmla="*/ 82992 h 361971"/>
                <a:gd name="connsiteX34" fmla="*/ 186586 w 362309"/>
                <a:gd name="connsiteY34" fmla="*/ 68309 h 361971"/>
                <a:gd name="connsiteX35" fmla="*/ 201283 w 362309"/>
                <a:gd name="connsiteY35" fmla="*/ 95121 h 361971"/>
                <a:gd name="connsiteX36" fmla="*/ 186586 w 362309"/>
                <a:gd name="connsiteY36" fmla="*/ 109804 h 361971"/>
                <a:gd name="connsiteX37" fmla="*/ 187225 w 362309"/>
                <a:gd name="connsiteY37" fmla="*/ 111720 h 361971"/>
                <a:gd name="connsiteX38" fmla="*/ 187225 w 362309"/>
                <a:gd name="connsiteY38" fmla="*/ 173644 h 361971"/>
                <a:gd name="connsiteX39" fmla="*/ 219175 w 362309"/>
                <a:gd name="connsiteY39" fmla="*/ 173644 h 361971"/>
                <a:gd name="connsiteX40" fmla="*/ 248569 w 362309"/>
                <a:gd name="connsiteY40" fmla="*/ 201095 h 361971"/>
                <a:gd name="connsiteX41" fmla="*/ 248569 w 362309"/>
                <a:gd name="connsiteY41" fmla="*/ 203011 h 361971"/>
                <a:gd name="connsiteX42" fmla="*/ 248569 w 362309"/>
                <a:gd name="connsiteY42" fmla="*/ 250891 h 361971"/>
                <a:gd name="connsiteX43" fmla="*/ 262626 w 362309"/>
                <a:gd name="connsiteY43" fmla="*/ 277703 h 361971"/>
                <a:gd name="connsiteX44" fmla="*/ 241540 w 362309"/>
                <a:gd name="connsiteY44" fmla="*/ 293025 h 361971"/>
                <a:gd name="connsiteX45" fmla="*/ 241540 w 362309"/>
                <a:gd name="connsiteY45" fmla="*/ 29302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41540" y="293025"/>
                  </a:moveTo>
                  <a:cubicBezTo>
                    <a:pt x="229399" y="293025"/>
                    <a:pt x="219814" y="283449"/>
                    <a:pt x="219814" y="271319"/>
                  </a:cubicBezTo>
                  <a:cubicBezTo>
                    <a:pt x="219814" y="261743"/>
                    <a:pt x="226204" y="253444"/>
                    <a:pt x="235150" y="250891"/>
                  </a:cubicBezTo>
                  <a:lnTo>
                    <a:pt x="235150" y="203011"/>
                  </a:lnTo>
                  <a:cubicBezTo>
                    <a:pt x="235789" y="194711"/>
                    <a:pt x="228760" y="187051"/>
                    <a:pt x="220453" y="186412"/>
                  </a:cubicBezTo>
                  <a:cubicBezTo>
                    <a:pt x="219814" y="186412"/>
                    <a:pt x="219175" y="186412"/>
                    <a:pt x="218536" y="186412"/>
                  </a:cubicBezTo>
                  <a:lnTo>
                    <a:pt x="187225" y="186412"/>
                  </a:lnTo>
                  <a:lnTo>
                    <a:pt x="187225" y="250252"/>
                  </a:lnTo>
                  <a:cubicBezTo>
                    <a:pt x="198727" y="254083"/>
                    <a:pt x="205117" y="265574"/>
                    <a:pt x="201283" y="277065"/>
                  </a:cubicBezTo>
                  <a:cubicBezTo>
                    <a:pt x="197449" y="288556"/>
                    <a:pt x="185947" y="294940"/>
                    <a:pt x="174445" y="291110"/>
                  </a:cubicBezTo>
                  <a:cubicBezTo>
                    <a:pt x="162943" y="287279"/>
                    <a:pt x="156553" y="275788"/>
                    <a:pt x="160387" y="264297"/>
                  </a:cubicBezTo>
                  <a:cubicBezTo>
                    <a:pt x="162304" y="257275"/>
                    <a:pt x="168055" y="252167"/>
                    <a:pt x="174445" y="250252"/>
                  </a:cubicBezTo>
                  <a:lnTo>
                    <a:pt x="174445" y="186412"/>
                  </a:lnTo>
                  <a:lnTo>
                    <a:pt x="143135" y="186412"/>
                  </a:lnTo>
                  <a:cubicBezTo>
                    <a:pt x="127799" y="187051"/>
                    <a:pt x="114380" y="174283"/>
                    <a:pt x="113741" y="158961"/>
                  </a:cubicBezTo>
                  <a:cubicBezTo>
                    <a:pt x="113741" y="158323"/>
                    <a:pt x="113741" y="157684"/>
                    <a:pt x="113741" y="157046"/>
                  </a:cubicBezTo>
                  <a:lnTo>
                    <a:pt x="113741" y="109166"/>
                  </a:lnTo>
                  <a:cubicBezTo>
                    <a:pt x="102239" y="105336"/>
                    <a:pt x="95849" y="93845"/>
                    <a:pt x="99683" y="82353"/>
                  </a:cubicBezTo>
                  <a:cubicBezTo>
                    <a:pt x="103517" y="70862"/>
                    <a:pt x="115019" y="64478"/>
                    <a:pt x="126521" y="68309"/>
                  </a:cubicBezTo>
                  <a:cubicBezTo>
                    <a:pt x="138023" y="72139"/>
                    <a:pt x="144413" y="83630"/>
                    <a:pt x="140579" y="95121"/>
                  </a:cubicBezTo>
                  <a:cubicBezTo>
                    <a:pt x="138662" y="102144"/>
                    <a:pt x="132911" y="107251"/>
                    <a:pt x="126521" y="109166"/>
                  </a:cubicBezTo>
                  <a:lnTo>
                    <a:pt x="126521" y="157046"/>
                  </a:lnTo>
                  <a:cubicBezTo>
                    <a:pt x="125882" y="165345"/>
                    <a:pt x="132911" y="173006"/>
                    <a:pt x="141218" y="173644"/>
                  </a:cubicBezTo>
                  <a:cubicBezTo>
                    <a:pt x="141857" y="173644"/>
                    <a:pt x="142496" y="173644"/>
                    <a:pt x="142496" y="173644"/>
                  </a:cubicBezTo>
                  <a:lnTo>
                    <a:pt x="173806" y="173644"/>
                  </a:lnTo>
                  <a:lnTo>
                    <a:pt x="173806" y="111720"/>
                  </a:lnTo>
                  <a:cubicBezTo>
                    <a:pt x="173806" y="111081"/>
                    <a:pt x="173806" y="110443"/>
                    <a:pt x="174445" y="109804"/>
                  </a:cubicBezTo>
                  <a:cubicBezTo>
                    <a:pt x="162943" y="106612"/>
                    <a:pt x="156553" y="94483"/>
                    <a:pt x="159748" y="82992"/>
                  </a:cubicBezTo>
                  <a:cubicBezTo>
                    <a:pt x="162943" y="71501"/>
                    <a:pt x="175084" y="65117"/>
                    <a:pt x="186586" y="68309"/>
                  </a:cubicBezTo>
                  <a:cubicBezTo>
                    <a:pt x="198088" y="71501"/>
                    <a:pt x="204478" y="83630"/>
                    <a:pt x="201283" y="95121"/>
                  </a:cubicBezTo>
                  <a:cubicBezTo>
                    <a:pt x="199366" y="102144"/>
                    <a:pt x="193615" y="107889"/>
                    <a:pt x="186586" y="109804"/>
                  </a:cubicBezTo>
                  <a:cubicBezTo>
                    <a:pt x="186586" y="110443"/>
                    <a:pt x="187225" y="111081"/>
                    <a:pt x="187225" y="111720"/>
                  </a:cubicBezTo>
                  <a:lnTo>
                    <a:pt x="187225" y="173644"/>
                  </a:lnTo>
                  <a:lnTo>
                    <a:pt x="219175" y="173644"/>
                  </a:lnTo>
                  <a:cubicBezTo>
                    <a:pt x="234511" y="173006"/>
                    <a:pt x="247930" y="185135"/>
                    <a:pt x="248569" y="201095"/>
                  </a:cubicBezTo>
                  <a:cubicBezTo>
                    <a:pt x="248569" y="201734"/>
                    <a:pt x="248569" y="202372"/>
                    <a:pt x="248569" y="203011"/>
                  </a:cubicBezTo>
                  <a:lnTo>
                    <a:pt x="248569" y="250891"/>
                  </a:lnTo>
                  <a:cubicBezTo>
                    <a:pt x="260070" y="254083"/>
                    <a:pt x="266460" y="266212"/>
                    <a:pt x="262626" y="277703"/>
                  </a:cubicBezTo>
                  <a:cubicBezTo>
                    <a:pt x="259431" y="287279"/>
                    <a:pt x="251125" y="293663"/>
                    <a:pt x="241540" y="293025"/>
                  </a:cubicBezTo>
                  <a:lnTo>
                    <a:pt x="241540" y="293025"/>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35" name="Graphic 4">
              <a:extLst>
                <a:ext uri="{FF2B5EF4-FFF2-40B4-BE49-F238E27FC236}">
                  <a16:creationId xmlns:a16="http://schemas.microsoft.com/office/drawing/2014/main" id="{9DDDB9BE-BF08-95C6-18D4-7C42D110ADA4}"/>
                </a:ext>
              </a:extLst>
            </p:cNvPr>
            <p:cNvSpPr/>
            <p:nvPr/>
          </p:nvSpPr>
          <p:spPr bwMode="gray">
            <a:xfrm>
              <a:off x="1138047"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grpSp>
        <p:nvGrpSpPr>
          <p:cNvPr id="36" name="Graphic 4">
            <a:extLst>
              <a:ext uri="{FF2B5EF4-FFF2-40B4-BE49-F238E27FC236}">
                <a16:creationId xmlns:a16="http://schemas.microsoft.com/office/drawing/2014/main" id="{79B51744-5AA3-F936-18F6-9F71980951EC}"/>
              </a:ext>
            </a:extLst>
          </p:cNvPr>
          <p:cNvGrpSpPr>
            <a:grpSpLocks noChangeAspect="1"/>
          </p:cNvGrpSpPr>
          <p:nvPr/>
        </p:nvGrpSpPr>
        <p:grpSpPr bwMode="gray">
          <a:xfrm>
            <a:off x="5950630" y="5248361"/>
            <a:ext cx="236328" cy="236339"/>
            <a:chOff x="905454" y="1403361"/>
            <a:chExt cx="362309" cy="361971"/>
          </a:xfrm>
          <a:solidFill>
            <a:srgbClr val="C00000"/>
          </a:solidFill>
        </p:grpSpPr>
        <p:sp>
          <p:nvSpPr>
            <p:cNvPr id="37" name="Graphic 4">
              <a:extLst>
                <a:ext uri="{FF2B5EF4-FFF2-40B4-BE49-F238E27FC236}">
                  <a16:creationId xmlns:a16="http://schemas.microsoft.com/office/drawing/2014/main" id="{62C4E222-3B61-4EDC-4019-F03321C8032E}"/>
                </a:ext>
              </a:extLst>
            </p:cNvPr>
            <p:cNvSpPr/>
            <p:nvPr/>
          </p:nvSpPr>
          <p:spPr bwMode="gray">
            <a:xfrm>
              <a:off x="1077343"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38" name="Graphic 4">
              <a:extLst>
                <a:ext uri="{FF2B5EF4-FFF2-40B4-BE49-F238E27FC236}">
                  <a16:creationId xmlns:a16="http://schemas.microsoft.com/office/drawing/2014/main" id="{69D1359A-291F-812A-BDE8-D2C3A122D252}"/>
                </a:ext>
              </a:extLst>
            </p:cNvPr>
            <p:cNvSpPr/>
            <p:nvPr/>
          </p:nvSpPr>
          <p:spPr bwMode="gray">
            <a:xfrm>
              <a:off x="1077343" y="1484438"/>
              <a:ext cx="17891" cy="17875"/>
            </a:xfrm>
            <a:custGeom>
              <a:avLst/>
              <a:gdLst>
                <a:gd name="connsiteX0" fmla="*/ 17892 w 17891"/>
                <a:gd name="connsiteY0" fmla="*/ 8938 h 17875"/>
                <a:gd name="connsiteX1" fmla="*/ 8946 w 17891"/>
                <a:gd name="connsiteY1" fmla="*/ 0 h 17875"/>
                <a:gd name="connsiteX2" fmla="*/ 0 w 17891"/>
                <a:gd name="connsiteY2" fmla="*/ 8938 h 17875"/>
                <a:gd name="connsiteX3" fmla="*/ 8946 w 17891"/>
                <a:gd name="connsiteY3" fmla="*/ 17875 h 17875"/>
                <a:gd name="connsiteX4" fmla="*/ 8946 w 17891"/>
                <a:gd name="connsiteY4" fmla="*/ 17875 h 17875"/>
                <a:gd name="connsiteX5" fmla="*/ 17892 w 17891"/>
                <a:gd name="connsiteY5" fmla="*/ 8938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17892" y="8938"/>
                  </a:moveTo>
                  <a:cubicBezTo>
                    <a:pt x="17892" y="3830"/>
                    <a:pt x="14058" y="0"/>
                    <a:pt x="8946" y="0"/>
                  </a:cubicBezTo>
                  <a:cubicBezTo>
                    <a:pt x="3834" y="0"/>
                    <a:pt x="0" y="3830"/>
                    <a:pt x="0" y="8938"/>
                  </a:cubicBezTo>
                  <a:cubicBezTo>
                    <a:pt x="0" y="14045"/>
                    <a:pt x="3834" y="17875"/>
                    <a:pt x="8946" y="17875"/>
                  </a:cubicBezTo>
                  <a:cubicBezTo>
                    <a:pt x="8946" y="17875"/>
                    <a:pt x="8946" y="17875"/>
                    <a:pt x="8946" y="17875"/>
                  </a:cubicBezTo>
                  <a:cubicBezTo>
                    <a:pt x="14058" y="17875"/>
                    <a:pt x="17892" y="14045"/>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39" name="Graphic 4">
              <a:extLst>
                <a:ext uri="{FF2B5EF4-FFF2-40B4-BE49-F238E27FC236}">
                  <a16:creationId xmlns:a16="http://schemas.microsoft.com/office/drawing/2014/main" id="{03619918-B06E-6E4B-399F-3B600D13C5C5}"/>
                </a:ext>
              </a:extLst>
            </p:cNvPr>
            <p:cNvSpPr/>
            <p:nvPr/>
          </p:nvSpPr>
          <p:spPr bwMode="gray">
            <a:xfrm>
              <a:off x="1017277" y="1484438"/>
              <a:ext cx="17891" cy="17875"/>
            </a:xfrm>
            <a:custGeom>
              <a:avLst/>
              <a:gdLst>
                <a:gd name="connsiteX0" fmla="*/ 8946 w 17891"/>
                <a:gd name="connsiteY0" fmla="*/ 17875 h 17875"/>
                <a:gd name="connsiteX1" fmla="*/ 17892 w 17891"/>
                <a:gd name="connsiteY1" fmla="*/ 8938 h 17875"/>
                <a:gd name="connsiteX2" fmla="*/ 8946 w 17891"/>
                <a:gd name="connsiteY2" fmla="*/ 0 h 17875"/>
                <a:gd name="connsiteX3" fmla="*/ 0 w 17891"/>
                <a:gd name="connsiteY3" fmla="*/ 8938 h 17875"/>
                <a:gd name="connsiteX4" fmla="*/ 0 w 17891"/>
                <a:gd name="connsiteY4" fmla="*/ 8938 h 17875"/>
                <a:gd name="connsiteX5" fmla="*/ 8946 w 17891"/>
                <a:gd name="connsiteY5" fmla="*/ 17875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8946" y="17875"/>
                  </a:moveTo>
                  <a:cubicBezTo>
                    <a:pt x="14058" y="17875"/>
                    <a:pt x="17892" y="14045"/>
                    <a:pt x="17892" y="8938"/>
                  </a:cubicBezTo>
                  <a:cubicBezTo>
                    <a:pt x="17892" y="3830"/>
                    <a:pt x="14058" y="0"/>
                    <a:pt x="8946" y="0"/>
                  </a:cubicBezTo>
                  <a:cubicBezTo>
                    <a:pt x="3834" y="0"/>
                    <a:pt x="0" y="3830"/>
                    <a:pt x="0" y="8938"/>
                  </a:cubicBezTo>
                  <a:cubicBezTo>
                    <a:pt x="0" y="8938"/>
                    <a:pt x="0" y="8938"/>
                    <a:pt x="0" y="8938"/>
                  </a:cubicBezTo>
                  <a:cubicBezTo>
                    <a:pt x="0" y="14045"/>
                    <a:pt x="3834" y="17875"/>
                    <a:pt x="8946" y="17875"/>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40" name="Graphic 4">
              <a:extLst>
                <a:ext uri="{FF2B5EF4-FFF2-40B4-BE49-F238E27FC236}">
                  <a16:creationId xmlns:a16="http://schemas.microsoft.com/office/drawing/2014/main" id="{E4016D8C-3D67-6501-9EF8-D5962A91F7DA}"/>
                </a:ext>
              </a:extLst>
            </p:cNvPr>
            <p:cNvSpPr/>
            <p:nvPr/>
          </p:nvSpPr>
          <p:spPr bwMode="gray">
            <a:xfrm>
              <a:off x="905454" y="1403361"/>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41540 w 362309"/>
                <a:gd name="connsiteY6" fmla="*/ 293025 h 361971"/>
                <a:gd name="connsiteX7" fmla="*/ 219814 w 362309"/>
                <a:gd name="connsiteY7" fmla="*/ 271319 h 361971"/>
                <a:gd name="connsiteX8" fmla="*/ 235150 w 362309"/>
                <a:gd name="connsiteY8" fmla="*/ 250891 h 361971"/>
                <a:gd name="connsiteX9" fmla="*/ 235150 w 362309"/>
                <a:gd name="connsiteY9" fmla="*/ 203011 h 361971"/>
                <a:gd name="connsiteX10" fmla="*/ 220453 w 362309"/>
                <a:gd name="connsiteY10" fmla="*/ 186412 h 361971"/>
                <a:gd name="connsiteX11" fmla="*/ 218536 w 362309"/>
                <a:gd name="connsiteY11" fmla="*/ 186412 h 361971"/>
                <a:gd name="connsiteX12" fmla="*/ 187225 w 362309"/>
                <a:gd name="connsiteY12" fmla="*/ 186412 h 361971"/>
                <a:gd name="connsiteX13" fmla="*/ 187225 w 362309"/>
                <a:gd name="connsiteY13" fmla="*/ 250252 h 361971"/>
                <a:gd name="connsiteX14" fmla="*/ 201283 w 362309"/>
                <a:gd name="connsiteY14" fmla="*/ 277065 h 361971"/>
                <a:gd name="connsiteX15" fmla="*/ 174445 w 362309"/>
                <a:gd name="connsiteY15" fmla="*/ 291110 h 361971"/>
                <a:gd name="connsiteX16" fmla="*/ 160387 w 362309"/>
                <a:gd name="connsiteY16" fmla="*/ 264297 h 361971"/>
                <a:gd name="connsiteX17" fmla="*/ 174445 w 362309"/>
                <a:gd name="connsiteY17" fmla="*/ 250252 h 361971"/>
                <a:gd name="connsiteX18" fmla="*/ 174445 w 362309"/>
                <a:gd name="connsiteY18" fmla="*/ 186412 h 361971"/>
                <a:gd name="connsiteX19" fmla="*/ 143135 w 362309"/>
                <a:gd name="connsiteY19" fmla="*/ 186412 h 361971"/>
                <a:gd name="connsiteX20" fmla="*/ 113741 w 362309"/>
                <a:gd name="connsiteY20" fmla="*/ 158961 h 361971"/>
                <a:gd name="connsiteX21" fmla="*/ 113741 w 362309"/>
                <a:gd name="connsiteY21" fmla="*/ 157046 h 361971"/>
                <a:gd name="connsiteX22" fmla="*/ 113741 w 362309"/>
                <a:gd name="connsiteY22" fmla="*/ 109166 h 361971"/>
                <a:gd name="connsiteX23" fmla="*/ 99683 w 362309"/>
                <a:gd name="connsiteY23" fmla="*/ 82353 h 361971"/>
                <a:gd name="connsiteX24" fmla="*/ 126521 w 362309"/>
                <a:gd name="connsiteY24" fmla="*/ 68309 h 361971"/>
                <a:gd name="connsiteX25" fmla="*/ 140579 w 362309"/>
                <a:gd name="connsiteY25" fmla="*/ 95121 h 361971"/>
                <a:gd name="connsiteX26" fmla="*/ 126521 w 362309"/>
                <a:gd name="connsiteY26" fmla="*/ 109166 h 361971"/>
                <a:gd name="connsiteX27" fmla="*/ 126521 w 362309"/>
                <a:gd name="connsiteY27" fmla="*/ 157046 h 361971"/>
                <a:gd name="connsiteX28" fmla="*/ 141218 w 362309"/>
                <a:gd name="connsiteY28" fmla="*/ 173644 h 361971"/>
                <a:gd name="connsiteX29" fmla="*/ 142496 w 362309"/>
                <a:gd name="connsiteY29" fmla="*/ 173644 h 361971"/>
                <a:gd name="connsiteX30" fmla="*/ 173806 w 362309"/>
                <a:gd name="connsiteY30" fmla="*/ 173644 h 361971"/>
                <a:gd name="connsiteX31" fmla="*/ 173806 w 362309"/>
                <a:gd name="connsiteY31" fmla="*/ 111720 h 361971"/>
                <a:gd name="connsiteX32" fmla="*/ 174445 w 362309"/>
                <a:gd name="connsiteY32" fmla="*/ 109804 h 361971"/>
                <a:gd name="connsiteX33" fmla="*/ 159748 w 362309"/>
                <a:gd name="connsiteY33" fmla="*/ 82992 h 361971"/>
                <a:gd name="connsiteX34" fmla="*/ 186586 w 362309"/>
                <a:gd name="connsiteY34" fmla="*/ 68309 h 361971"/>
                <a:gd name="connsiteX35" fmla="*/ 201283 w 362309"/>
                <a:gd name="connsiteY35" fmla="*/ 95121 h 361971"/>
                <a:gd name="connsiteX36" fmla="*/ 186586 w 362309"/>
                <a:gd name="connsiteY36" fmla="*/ 109804 h 361971"/>
                <a:gd name="connsiteX37" fmla="*/ 187225 w 362309"/>
                <a:gd name="connsiteY37" fmla="*/ 111720 h 361971"/>
                <a:gd name="connsiteX38" fmla="*/ 187225 w 362309"/>
                <a:gd name="connsiteY38" fmla="*/ 173644 h 361971"/>
                <a:gd name="connsiteX39" fmla="*/ 219175 w 362309"/>
                <a:gd name="connsiteY39" fmla="*/ 173644 h 361971"/>
                <a:gd name="connsiteX40" fmla="*/ 248569 w 362309"/>
                <a:gd name="connsiteY40" fmla="*/ 201095 h 361971"/>
                <a:gd name="connsiteX41" fmla="*/ 248569 w 362309"/>
                <a:gd name="connsiteY41" fmla="*/ 203011 h 361971"/>
                <a:gd name="connsiteX42" fmla="*/ 248569 w 362309"/>
                <a:gd name="connsiteY42" fmla="*/ 250891 h 361971"/>
                <a:gd name="connsiteX43" fmla="*/ 262626 w 362309"/>
                <a:gd name="connsiteY43" fmla="*/ 277703 h 361971"/>
                <a:gd name="connsiteX44" fmla="*/ 241540 w 362309"/>
                <a:gd name="connsiteY44" fmla="*/ 293025 h 361971"/>
                <a:gd name="connsiteX45" fmla="*/ 241540 w 362309"/>
                <a:gd name="connsiteY45" fmla="*/ 29302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41540" y="293025"/>
                  </a:moveTo>
                  <a:cubicBezTo>
                    <a:pt x="229399" y="293025"/>
                    <a:pt x="219814" y="283449"/>
                    <a:pt x="219814" y="271319"/>
                  </a:cubicBezTo>
                  <a:cubicBezTo>
                    <a:pt x="219814" y="261743"/>
                    <a:pt x="226204" y="253444"/>
                    <a:pt x="235150" y="250891"/>
                  </a:cubicBezTo>
                  <a:lnTo>
                    <a:pt x="235150" y="203011"/>
                  </a:lnTo>
                  <a:cubicBezTo>
                    <a:pt x="235789" y="194711"/>
                    <a:pt x="228760" y="187051"/>
                    <a:pt x="220453" y="186412"/>
                  </a:cubicBezTo>
                  <a:cubicBezTo>
                    <a:pt x="219814" y="186412"/>
                    <a:pt x="219175" y="186412"/>
                    <a:pt x="218536" y="186412"/>
                  </a:cubicBezTo>
                  <a:lnTo>
                    <a:pt x="187225" y="186412"/>
                  </a:lnTo>
                  <a:lnTo>
                    <a:pt x="187225" y="250252"/>
                  </a:lnTo>
                  <a:cubicBezTo>
                    <a:pt x="198727" y="254083"/>
                    <a:pt x="205117" y="265574"/>
                    <a:pt x="201283" y="277065"/>
                  </a:cubicBezTo>
                  <a:cubicBezTo>
                    <a:pt x="197449" y="288556"/>
                    <a:pt x="185947" y="294940"/>
                    <a:pt x="174445" y="291110"/>
                  </a:cubicBezTo>
                  <a:cubicBezTo>
                    <a:pt x="162943" y="287279"/>
                    <a:pt x="156553" y="275788"/>
                    <a:pt x="160387" y="264297"/>
                  </a:cubicBezTo>
                  <a:cubicBezTo>
                    <a:pt x="162304" y="257275"/>
                    <a:pt x="168055" y="252167"/>
                    <a:pt x="174445" y="250252"/>
                  </a:cubicBezTo>
                  <a:lnTo>
                    <a:pt x="174445" y="186412"/>
                  </a:lnTo>
                  <a:lnTo>
                    <a:pt x="143135" y="186412"/>
                  </a:lnTo>
                  <a:cubicBezTo>
                    <a:pt x="127799" y="187051"/>
                    <a:pt x="114380" y="174283"/>
                    <a:pt x="113741" y="158961"/>
                  </a:cubicBezTo>
                  <a:cubicBezTo>
                    <a:pt x="113741" y="158323"/>
                    <a:pt x="113741" y="157684"/>
                    <a:pt x="113741" y="157046"/>
                  </a:cubicBezTo>
                  <a:lnTo>
                    <a:pt x="113741" y="109166"/>
                  </a:lnTo>
                  <a:cubicBezTo>
                    <a:pt x="102239" y="105336"/>
                    <a:pt x="95849" y="93845"/>
                    <a:pt x="99683" y="82353"/>
                  </a:cubicBezTo>
                  <a:cubicBezTo>
                    <a:pt x="103517" y="70862"/>
                    <a:pt x="115019" y="64478"/>
                    <a:pt x="126521" y="68309"/>
                  </a:cubicBezTo>
                  <a:cubicBezTo>
                    <a:pt x="138023" y="72139"/>
                    <a:pt x="144413" y="83630"/>
                    <a:pt x="140579" y="95121"/>
                  </a:cubicBezTo>
                  <a:cubicBezTo>
                    <a:pt x="138662" y="102144"/>
                    <a:pt x="132911" y="107251"/>
                    <a:pt x="126521" y="109166"/>
                  </a:cubicBezTo>
                  <a:lnTo>
                    <a:pt x="126521" y="157046"/>
                  </a:lnTo>
                  <a:cubicBezTo>
                    <a:pt x="125882" y="165345"/>
                    <a:pt x="132911" y="173006"/>
                    <a:pt x="141218" y="173644"/>
                  </a:cubicBezTo>
                  <a:cubicBezTo>
                    <a:pt x="141857" y="173644"/>
                    <a:pt x="142496" y="173644"/>
                    <a:pt x="142496" y="173644"/>
                  </a:cubicBezTo>
                  <a:lnTo>
                    <a:pt x="173806" y="173644"/>
                  </a:lnTo>
                  <a:lnTo>
                    <a:pt x="173806" y="111720"/>
                  </a:lnTo>
                  <a:cubicBezTo>
                    <a:pt x="173806" y="111081"/>
                    <a:pt x="173806" y="110443"/>
                    <a:pt x="174445" y="109804"/>
                  </a:cubicBezTo>
                  <a:cubicBezTo>
                    <a:pt x="162943" y="106612"/>
                    <a:pt x="156553" y="94483"/>
                    <a:pt x="159748" y="82992"/>
                  </a:cubicBezTo>
                  <a:cubicBezTo>
                    <a:pt x="162943" y="71501"/>
                    <a:pt x="175084" y="65117"/>
                    <a:pt x="186586" y="68309"/>
                  </a:cubicBezTo>
                  <a:cubicBezTo>
                    <a:pt x="198088" y="71501"/>
                    <a:pt x="204478" y="83630"/>
                    <a:pt x="201283" y="95121"/>
                  </a:cubicBezTo>
                  <a:cubicBezTo>
                    <a:pt x="199366" y="102144"/>
                    <a:pt x="193615" y="107889"/>
                    <a:pt x="186586" y="109804"/>
                  </a:cubicBezTo>
                  <a:cubicBezTo>
                    <a:pt x="186586" y="110443"/>
                    <a:pt x="187225" y="111081"/>
                    <a:pt x="187225" y="111720"/>
                  </a:cubicBezTo>
                  <a:lnTo>
                    <a:pt x="187225" y="173644"/>
                  </a:lnTo>
                  <a:lnTo>
                    <a:pt x="219175" y="173644"/>
                  </a:lnTo>
                  <a:cubicBezTo>
                    <a:pt x="234511" y="173006"/>
                    <a:pt x="247930" y="185135"/>
                    <a:pt x="248569" y="201095"/>
                  </a:cubicBezTo>
                  <a:cubicBezTo>
                    <a:pt x="248569" y="201734"/>
                    <a:pt x="248569" y="202372"/>
                    <a:pt x="248569" y="203011"/>
                  </a:cubicBezTo>
                  <a:lnTo>
                    <a:pt x="248569" y="250891"/>
                  </a:lnTo>
                  <a:cubicBezTo>
                    <a:pt x="260070" y="254083"/>
                    <a:pt x="266460" y="266212"/>
                    <a:pt x="262626" y="277703"/>
                  </a:cubicBezTo>
                  <a:cubicBezTo>
                    <a:pt x="259431" y="287279"/>
                    <a:pt x="251125" y="293663"/>
                    <a:pt x="241540" y="293025"/>
                  </a:cubicBezTo>
                  <a:lnTo>
                    <a:pt x="241540" y="293025"/>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41" name="Graphic 4">
              <a:extLst>
                <a:ext uri="{FF2B5EF4-FFF2-40B4-BE49-F238E27FC236}">
                  <a16:creationId xmlns:a16="http://schemas.microsoft.com/office/drawing/2014/main" id="{23433BC0-C9D2-7867-689B-255A3A4A2D05}"/>
                </a:ext>
              </a:extLst>
            </p:cNvPr>
            <p:cNvSpPr/>
            <p:nvPr/>
          </p:nvSpPr>
          <p:spPr bwMode="gray">
            <a:xfrm>
              <a:off x="1138047"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grpSp>
        <p:nvGrpSpPr>
          <p:cNvPr id="43" name="Graphic 4">
            <a:extLst>
              <a:ext uri="{FF2B5EF4-FFF2-40B4-BE49-F238E27FC236}">
                <a16:creationId xmlns:a16="http://schemas.microsoft.com/office/drawing/2014/main" id="{6370B5BB-6554-8FF1-941B-A6035C27F4E5}"/>
              </a:ext>
            </a:extLst>
          </p:cNvPr>
          <p:cNvGrpSpPr>
            <a:grpSpLocks noChangeAspect="1"/>
          </p:cNvGrpSpPr>
          <p:nvPr/>
        </p:nvGrpSpPr>
        <p:grpSpPr bwMode="gray">
          <a:xfrm>
            <a:off x="5950630" y="5733068"/>
            <a:ext cx="236328" cy="236339"/>
            <a:chOff x="905454" y="1403361"/>
            <a:chExt cx="362309" cy="361971"/>
          </a:xfrm>
          <a:solidFill>
            <a:srgbClr val="C00000"/>
          </a:solidFill>
        </p:grpSpPr>
        <p:sp>
          <p:nvSpPr>
            <p:cNvPr id="44" name="Graphic 4">
              <a:extLst>
                <a:ext uri="{FF2B5EF4-FFF2-40B4-BE49-F238E27FC236}">
                  <a16:creationId xmlns:a16="http://schemas.microsoft.com/office/drawing/2014/main" id="{EC422AED-DDE5-E640-ED88-B4322B811C4B}"/>
                </a:ext>
              </a:extLst>
            </p:cNvPr>
            <p:cNvSpPr/>
            <p:nvPr/>
          </p:nvSpPr>
          <p:spPr bwMode="gray">
            <a:xfrm>
              <a:off x="1077343"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45" name="Graphic 4">
              <a:extLst>
                <a:ext uri="{FF2B5EF4-FFF2-40B4-BE49-F238E27FC236}">
                  <a16:creationId xmlns:a16="http://schemas.microsoft.com/office/drawing/2014/main" id="{C9EDC202-288C-5906-07DC-E540CA366F3A}"/>
                </a:ext>
              </a:extLst>
            </p:cNvPr>
            <p:cNvSpPr/>
            <p:nvPr/>
          </p:nvSpPr>
          <p:spPr bwMode="gray">
            <a:xfrm>
              <a:off x="1077343" y="1484438"/>
              <a:ext cx="17891" cy="17875"/>
            </a:xfrm>
            <a:custGeom>
              <a:avLst/>
              <a:gdLst>
                <a:gd name="connsiteX0" fmla="*/ 17892 w 17891"/>
                <a:gd name="connsiteY0" fmla="*/ 8938 h 17875"/>
                <a:gd name="connsiteX1" fmla="*/ 8946 w 17891"/>
                <a:gd name="connsiteY1" fmla="*/ 0 h 17875"/>
                <a:gd name="connsiteX2" fmla="*/ 0 w 17891"/>
                <a:gd name="connsiteY2" fmla="*/ 8938 h 17875"/>
                <a:gd name="connsiteX3" fmla="*/ 8946 w 17891"/>
                <a:gd name="connsiteY3" fmla="*/ 17875 h 17875"/>
                <a:gd name="connsiteX4" fmla="*/ 8946 w 17891"/>
                <a:gd name="connsiteY4" fmla="*/ 17875 h 17875"/>
                <a:gd name="connsiteX5" fmla="*/ 17892 w 17891"/>
                <a:gd name="connsiteY5" fmla="*/ 8938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17892" y="8938"/>
                  </a:moveTo>
                  <a:cubicBezTo>
                    <a:pt x="17892" y="3830"/>
                    <a:pt x="14058" y="0"/>
                    <a:pt x="8946" y="0"/>
                  </a:cubicBezTo>
                  <a:cubicBezTo>
                    <a:pt x="3834" y="0"/>
                    <a:pt x="0" y="3830"/>
                    <a:pt x="0" y="8938"/>
                  </a:cubicBezTo>
                  <a:cubicBezTo>
                    <a:pt x="0" y="14045"/>
                    <a:pt x="3834" y="17875"/>
                    <a:pt x="8946" y="17875"/>
                  </a:cubicBezTo>
                  <a:cubicBezTo>
                    <a:pt x="8946" y="17875"/>
                    <a:pt x="8946" y="17875"/>
                    <a:pt x="8946" y="17875"/>
                  </a:cubicBezTo>
                  <a:cubicBezTo>
                    <a:pt x="14058" y="17875"/>
                    <a:pt x="17892" y="14045"/>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46" name="Graphic 4">
              <a:extLst>
                <a:ext uri="{FF2B5EF4-FFF2-40B4-BE49-F238E27FC236}">
                  <a16:creationId xmlns:a16="http://schemas.microsoft.com/office/drawing/2014/main" id="{28F95845-2DF1-DF92-88D4-362B46FF3F6C}"/>
                </a:ext>
              </a:extLst>
            </p:cNvPr>
            <p:cNvSpPr/>
            <p:nvPr/>
          </p:nvSpPr>
          <p:spPr bwMode="gray">
            <a:xfrm>
              <a:off x="1017277" y="1484438"/>
              <a:ext cx="17891" cy="17875"/>
            </a:xfrm>
            <a:custGeom>
              <a:avLst/>
              <a:gdLst>
                <a:gd name="connsiteX0" fmla="*/ 8946 w 17891"/>
                <a:gd name="connsiteY0" fmla="*/ 17875 h 17875"/>
                <a:gd name="connsiteX1" fmla="*/ 17892 w 17891"/>
                <a:gd name="connsiteY1" fmla="*/ 8938 h 17875"/>
                <a:gd name="connsiteX2" fmla="*/ 8946 w 17891"/>
                <a:gd name="connsiteY2" fmla="*/ 0 h 17875"/>
                <a:gd name="connsiteX3" fmla="*/ 0 w 17891"/>
                <a:gd name="connsiteY3" fmla="*/ 8938 h 17875"/>
                <a:gd name="connsiteX4" fmla="*/ 0 w 17891"/>
                <a:gd name="connsiteY4" fmla="*/ 8938 h 17875"/>
                <a:gd name="connsiteX5" fmla="*/ 8946 w 17891"/>
                <a:gd name="connsiteY5" fmla="*/ 17875 h 1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1" h="17875">
                  <a:moveTo>
                    <a:pt x="8946" y="17875"/>
                  </a:moveTo>
                  <a:cubicBezTo>
                    <a:pt x="14058" y="17875"/>
                    <a:pt x="17892" y="14045"/>
                    <a:pt x="17892" y="8938"/>
                  </a:cubicBezTo>
                  <a:cubicBezTo>
                    <a:pt x="17892" y="3830"/>
                    <a:pt x="14058" y="0"/>
                    <a:pt x="8946" y="0"/>
                  </a:cubicBezTo>
                  <a:cubicBezTo>
                    <a:pt x="3834" y="0"/>
                    <a:pt x="0" y="3830"/>
                    <a:pt x="0" y="8938"/>
                  </a:cubicBezTo>
                  <a:cubicBezTo>
                    <a:pt x="0" y="8938"/>
                    <a:pt x="0" y="8938"/>
                    <a:pt x="0" y="8938"/>
                  </a:cubicBezTo>
                  <a:cubicBezTo>
                    <a:pt x="0" y="14045"/>
                    <a:pt x="3834" y="17875"/>
                    <a:pt x="8946" y="17875"/>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47" name="Graphic 4">
              <a:extLst>
                <a:ext uri="{FF2B5EF4-FFF2-40B4-BE49-F238E27FC236}">
                  <a16:creationId xmlns:a16="http://schemas.microsoft.com/office/drawing/2014/main" id="{58D1BAA2-806C-8576-36FF-EB53A296AD91}"/>
                </a:ext>
              </a:extLst>
            </p:cNvPr>
            <p:cNvSpPr/>
            <p:nvPr/>
          </p:nvSpPr>
          <p:spPr bwMode="gray">
            <a:xfrm>
              <a:off x="905454" y="1403361"/>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41540 w 362309"/>
                <a:gd name="connsiteY6" fmla="*/ 293025 h 361971"/>
                <a:gd name="connsiteX7" fmla="*/ 219814 w 362309"/>
                <a:gd name="connsiteY7" fmla="*/ 271319 h 361971"/>
                <a:gd name="connsiteX8" fmla="*/ 235150 w 362309"/>
                <a:gd name="connsiteY8" fmla="*/ 250891 h 361971"/>
                <a:gd name="connsiteX9" fmla="*/ 235150 w 362309"/>
                <a:gd name="connsiteY9" fmla="*/ 203011 h 361971"/>
                <a:gd name="connsiteX10" fmla="*/ 220453 w 362309"/>
                <a:gd name="connsiteY10" fmla="*/ 186412 h 361971"/>
                <a:gd name="connsiteX11" fmla="*/ 218536 w 362309"/>
                <a:gd name="connsiteY11" fmla="*/ 186412 h 361971"/>
                <a:gd name="connsiteX12" fmla="*/ 187225 w 362309"/>
                <a:gd name="connsiteY12" fmla="*/ 186412 h 361971"/>
                <a:gd name="connsiteX13" fmla="*/ 187225 w 362309"/>
                <a:gd name="connsiteY13" fmla="*/ 250252 h 361971"/>
                <a:gd name="connsiteX14" fmla="*/ 201283 w 362309"/>
                <a:gd name="connsiteY14" fmla="*/ 277065 h 361971"/>
                <a:gd name="connsiteX15" fmla="*/ 174445 w 362309"/>
                <a:gd name="connsiteY15" fmla="*/ 291110 h 361971"/>
                <a:gd name="connsiteX16" fmla="*/ 160387 w 362309"/>
                <a:gd name="connsiteY16" fmla="*/ 264297 h 361971"/>
                <a:gd name="connsiteX17" fmla="*/ 174445 w 362309"/>
                <a:gd name="connsiteY17" fmla="*/ 250252 h 361971"/>
                <a:gd name="connsiteX18" fmla="*/ 174445 w 362309"/>
                <a:gd name="connsiteY18" fmla="*/ 186412 h 361971"/>
                <a:gd name="connsiteX19" fmla="*/ 143135 w 362309"/>
                <a:gd name="connsiteY19" fmla="*/ 186412 h 361971"/>
                <a:gd name="connsiteX20" fmla="*/ 113741 w 362309"/>
                <a:gd name="connsiteY20" fmla="*/ 158961 h 361971"/>
                <a:gd name="connsiteX21" fmla="*/ 113741 w 362309"/>
                <a:gd name="connsiteY21" fmla="*/ 157046 h 361971"/>
                <a:gd name="connsiteX22" fmla="*/ 113741 w 362309"/>
                <a:gd name="connsiteY22" fmla="*/ 109166 h 361971"/>
                <a:gd name="connsiteX23" fmla="*/ 99683 w 362309"/>
                <a:gd name="connsiteY23" fmla="*/ 82353 h 361971"/>
                <a:gd name="connsiteX24" fmla="*/ 126521 w 362309"/>
                <a:gd name="connsiteY24" fmla="*/ 68309 h 361971"/>
                <a:gd name="connsiteX25" fmla="*/ 140579 w 362309"/>
                <a:gd name="connsiteY25" fmla="*/ 95121 h 361971"/>
                <a:gd name="connsiteX26" fmla="*/ 126521 w 362309"/>
                <a:gd name="connsiteY26" fmla="*/ 109166 h 361971"/>
                <a:gd name="connsiteX27" fmla="*/ 126521 w 362309"/>
                <a:gd name="connsiteY27" fmla="*/ 157046 h 361971"/>
                <a:gd name="connsiteX28" fmla="*/ 141218 w 362309"/>
                <a:gd name="connsiteY28" fmla="*/ 173644 h 361971"/>
                <a:gd name="connsiteX29" fmla="*/ 142496 w 362309"/>
                <a:gd name="connsiteY29" fmla="*/ 173644 h 361971"/>
                <a:gd name="connsiteX30" fmla="*/ 173806 w 362309"/>
                <a:gd name="connsiteY30" fmla="*/ 173644 h 361971"/>
                <a:gd name="connsiteX31" fmla="*/ 173806 w 362309"/>
                <a:gd name="connsiteY31" fmla="*/ 111720 h 361971"/>
                <a:gd name="connsiteX32" fmla="*/ 174445 w 362309"/>
                <a:gd name="connsiteY32" fmla="*/ 109804 h 361971"/>
                <a:gd name="connsiteX33" fmla="*/ 159748 w 362309"/>
                <a:gd name="connsiteY33" fmla="*/ 82992 h 361971"/>
                <a:gd name="connsiteX34" fmla="*/ 186586 w 362309"/>
                <a:gd name="connsiteY34" fmla="*/ 68309 h 361971"/>
                <a:gd name="connsiteX35" fmla="*/ 201283 w 362309"/>
                <a:gd name="connsiteY35" fmla="*/ 95121 h 361971"/>
                <a:gd name="connsiteX36" fmla="*/ 186586 w 362309"/>
                <a:gd name="connsiteY36" fmla="*/ 109804 h 361971"/>
                <a:gd name="connsiteX37" fmla="*/ 187225 w 362309"/>
                <a:gd name="connsiteY37" fmla="*/ 111720 h 361971"/>
                <a:gd name="connsiteX38" fmla="*/ 187225 w 362309"/>
                <a:gd name="connsiteY38" fmla="*/ 173644 h 361971"/>
                <a:gd name="connsiteX39" fmla="*/ 219175 w 362309"/>
                <a:gd name="connsiteY39" fmla="*/ 173644 h 361971"/>
                <a:gd name="connsiteX40" fmla="*/ 248569 w 362309"/>
                <a:gd name="connsiteY40" fmla="*/ 201095 h 361971"/>
                <a:gd name="connsiteX41" fmla="*/ 248569 w 362309"/>
                <a:gd name="connsiteY41" fmla="*/ 203011 h 361971"/>
                <a:gd name="connsiteX42" fmla="*/ 248569 w 362309"/>
                <a:gd name="connsiteY42" fmla="*/ 250891 h 361971"/>
                <a:gd name="connsiteX43" fmla="*/ 262626 w 362309"/>
                <a:gd name="connsiteY43" fmla="*/ 277703 h 361971"/>
                <a:gd name="connsiteX44" fmla="*/ 241540 w 362309"/>
                <a:gd name="connsiteY44" fmla="*/ 293025 h 361971"/>
                <a:gd name="connsiteX45" fmla="*/ 241540 w 362309"/>
                <a:gd name="connsiteY45" fmla="*/ 29302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41540" y="293025"/>
                  </a:moveTo>
                  <a:cubicBezTo>
                    <a:pt x="229399" y="293025"/>
                    <a:pt x="219814" y="283449"/>
                    <a:pt x="219814" y="271319"/>
                  </a:cubicBezTo>
                  <a:cubicBezTo>
                    <a:pt x="219814" y="261743"/>
                    <a:pt x="226204" y="253444"/>
                    <a:pt x="235150" y="250891"/>
                  </a:cubicBezTo>
                  <a:lnTo>
                    <a:pt x="235150" y="203011"/>
                  </a:lnTo>
                  <a:cubicBezTo>
                    <a:pt x="235789" y="194711"/>
                    <a:pt x="228760" y="187051"/>
                    <a:pt x="220453" y="186412"/>
                  </a:cubicBezTo>
                  <a:cubicBezTo>
                    <a:pt x="219814" y="186412"/>
                    <a:pt x="219175" y="186412"/>
                    <a:pt x="218536" y="186412"/>
                  </a:cubicBezTo>
                  <a:lnTo>
                    <a:pt x="187225" y="186412"/>
                  </a:lnTo>
                  <a:lnTo>
                    <a:pt x="187225" y="250252"/>
                  </a:lnTo>
                  <a:cubicBezTo>
                    <a:pt x="198727" y="254083"/>
                    <a:pt x="205117" y="265574"/>
                    <a:pt x="201283" y="277065"/>
                  </a:cubicBezTo>
                  <a:cubicBezTo>
                    <a:pt x="197449" y="288556"/>
                    <a:pt x="185947" y="294940"/>
                    <a:pt x="174445" y="291110"/>
                  </a:cubicBezTo>
                  <a:cubicBezTo>
                    <a:pt x="162943" y="287279"/>
                    <a:pt x="156553" y="275788"/>
                    <a:pt x="160387" y="264297"/>
                  </a:cubicBezTo>
                  <a:cubicBezTo>
                    <a:pt x="162304" y="257275"/>
                    <a:pt x="168055" y="252167"/>
                    <a:pt x="174445" y="250252"/>
                  </a:cubicBezTo>
                  <a:lnTo>
                    <a:pt x="174445" y="186412"/>
                  </a:lnTo>
                  <a:lnTo>
                    <a:pt x="143135" y="186412"/>
                  </a:lnTo>
                  <a:cubicBezTo>
                    <a:pt x="127799" y="187051"/>
                    <a:pt x="114380" y="174283"/>
                    <a:pt x="113741" y="158961"/>
                  </a:cubicBezTo>
                  <a:cubicBezTo>
                    <a:pt x="113741" y="158323"/>
                    <a:pt x="113741" y="157684"/>
                    <a:pt x="113741" y="157046"/>
                  </a:cubicBezTo>
                  <a:lnTo>
                    <a:pt x="113741" y="109166"/>
                  </a:lnTo>
                  <a:cubicBezTo>
                    <a:pt x="102239" y="105336"/>
                    <a:pt x="95849" y="93845"/>
                    <a:pt x="99683" y="82353"/>
                  </a:cubicBezTo>
                  <a:cubicBezTo>
                    <a:pt x="103517" y="70862"/>
                    <a:pt x="115019" y="64478"/>
                    <a:pt x="126521" y="68309"/>
                  </a:cubicBezTo>
                  <a:cubicBezTo>
                    <a:pt x="138023" y="72139"/>
                    <a:pt x="144413" y="83630"/>
                    <a:pt x="140579" y="95121"/>
                  </a:cubicBezTo>
                  <a:cubicBezTo>
                    <a:pt x="138662" y="102144"/>
                    <a:pt x="132911" y="107251"/>
                    <a:pt x="126521" y="109166"/>
                  </a:cubicBezTo>
                  <a:lnTo>
                    <a:pt x="126521" y="157046"/>
                  </a:lnTo>
                  <a:cubicBezTo>
                    <a:pt x="125882" y="165345"/>
                    <a:pt x="132911" y="173006"/>
                    <a:pt x="141218" y="173644"/>
                  </a:cubicBezTo>
                  <a:cubicBezTo>
                    <a:pt x="141857" y="173644"/>
                    <a:pt x="142496" y="173644"/>
                    <a:pt x="142496" y="173644"/>
                  </a:cubicBezTo>
                  <a:lnTo>
                    <a:pt x="173806" y="173644"/>
                  </a:lnTo>
                  <a:lnTo>
                    <a:pt x="173806" y="111720"/>
                  </a:lnTo>
                  <a:cubicBezTo>
                    <a:pt x="173806" y="111081"/>
                    <a:pt x="173806" y="110443"/>
                    <a:pt x="174445" y="109804"/>
                  </a:cubicBezTo>
                  <a:cubicBezTo>
                    <a:pt x="162943" y="106612"/>
                    <a:pt x="156553" y="94483"/>
                    <a:pt x="159748" y="82992"/>
                  </a:cubicBezTo>
                  <a:cubicBezTo>
                    <a:pt x="162943" y="71501"/>
                    <a:pt x="175084" y="65117"/>
                    <a:pt x="186586" y="68309"/>
                  </a:cubicBezTo>
                  <a:cubicBezTo>
                    <a:pt x="198088" y="71501"/>
                    <a:pt x="204478" y="83630"/>
                    <a:pt x="201283" y="95121"/>
                  </a:cubicBezTo>
                  <a:cubicBezTo>
                    <a:pt x="199366" y="102144"/>
                    <a:pt x="193615" y="107889"/>
                    <a:pt x="186586" y="109804"/>
                  </a:cubicBezTo>
                  <a:cubicBezTo>
                    <a:pt x="186586" y="110443"/>
                    <a:pt x="187225" y="111081"/>
                    <a:pt x="187225" y="111720"/>
                  </a:cubicBezTo>
                  <a:lnTo>
                    <a:pt x="187225" y="173644"/>
                  </a:lnTo>
                  <a:lnTo>
                    <a:pt x="219175" y="173644"/>
                  </a:lnTo>
                  <a:cubicBezTo>
                    <a:pt x="234511" y="173006"/>
                    <a:pt x="247930" y="185135"/>
                    <a:pt x="248569" y="201095"/>
                  </a:cubicBezTo>
                  <a:cubicBezTo>
                    <a:pt x="248569" y="201734"/>
                    <a:pt x="248569" y="202372"/>
                    <a:pt x="248569" y="203011"/>
                  </a:cubicBezTo>
                  <a:lnTo>
                    <a:pt x="248569" y="250891"/>
                  </a:lnTo>
                  <a:cubicBezTo>
                    <a:pt x="260070" y="254083"/>
                    <a:pt x="266460" y="266212"/>
                    <a:pt x="262626" y="277703"/>
                  </a:cubicBezTo>
                  <a:cubicBezTo>
                    <a:pt x="259431" y="287279"/>
                    <a:pt x="251125" y="293663"/>
                    <a:pt x="241540" y="293025"/>
                  </a:cubicBezTo>
                  <a:lnTo>
                    <a:pt x="241540" y="293025"/>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48" name="Graphic 4">
              <a:extLst>
                <a:ext uri="{FF2B5EF4-FFF2-40B4-BE49-F238E27FC236}">
                  <a16:creationId xmlns:a16="http://schemas.microsoft.com/office/drawing/2014/main" id="{137C64C1-148F-5E83-2044-7F60195FDF2E}"/>
                </a:ext>
              </a:extLst>
            </p:cNvPr>
            <p:cNvSpPr/>
            <p:nvPr/>
          </p:nvSpPr>
          <p:spPr bwMode="gray">
            <a:xfrm>
              <a:off x="1138047" y="1665743"/>
              <a:ext cx="17891" cy="17875"/>
            </a:xfrm>
            <a:custGeom>
              <a:avLst/>
              <a:gdLst>
                <a:gd name="connsiteX0" fmla="*/ 17892 w 17891"/>
                <a:gd name="connsiteY0" fmla="*/ 8938 h 17875"/>
                <a:gd name="connsiteX1" fmla="*/ 8946 w 17891"/>
                <a:gd name="connsiteY1" fmla="*/ 17875 h 17875"/>
                <a:gd name="connsiteX2" fmla="*/ 0 w 17891"/>
                <a:gd name="connsiteY2" fmla="*/ 8938 h 17875"/>
                <a:gd name="connsiteX3" fmla="*/ 8946 w 17891"/>
                <a:gd name="connsiteY3" fmla="*/ 0 h 17875"/>
                <a:gd name="connsiteX4" fmla="*/ 17892 w 17891"/>
                <a:gd name="connsiteY4" fmla="*/ 8938 h 17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1" h="17875">
                  <a:moveTo>
                    <a:pt x="17892" y="8938"/>
                  </a:moveTo>
                  <a:cubicBezTo>
                    <a:pt x="17892" y="13874"/>
                    <a:pt x="13887" y="17875"/>
                    <a:pt x="8946" y="17875"/>
                  </a:cubicBezTo>
                  <a:cubicBezTo>
                    <a:pt x="4005" y="17875"/>
                    <a:pt x="0" y="13874"/>
                    <a:pt x="0" y="8938"/>
                  </a:cubicBezTo>
                  <a:cubicBezTo>
                    <a:pt x="0" y="4002"/>
                    <a:pt x="4005" y="0"/>
                    <a:pt x="8946" y="0"/>
                  </a:cubicBezTo>
                  <a:cubicBezTo>
                    <a:pt x="13887" y="0"/>
                    <a:pt x="17892" y="4002"/>
                    <a:pt x="17892" y="8938"/>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cxnSp>
        <p:nvCxnSpPr>
          <p:cNvPr id="56" name="直線コネクタ 55">
            <a:extLst>
              <a:ext uri="{FF2B5EF4-FFF2-40B4-BE49-F238E27FC236}">
                <a16:creationId xmlns:a16="http://schemas.microsoft.com/office/drawing/2014/main" id="{65C29AEA-964F-854F-ECD1-1C6A9C1F13C0}"/>
              </a:ext>
            </a:extLst>
          </p:cNvPr>
          <p:cNvCxnSpPr>
            <a:cxnSpLocks/>
          </p:cNvCxnSpPr>
          <p:nvPr/>
        </p:nvCxnSpPr>
        <p:spPr bwMode="gray">
          <a:xfrm flipH="1" flipV="1">
            <a:off x="8615632" y="4878974"/>
            <a:ext cx="194257" cy="748554"/>
          </a:xfrm>
          <a:prstGeom prst="line">
            <a:avLst/>
          </a:prstGeom>
          <a:ln w="12700">
            <a:solidFill>
              <a:srgbClr val="DA291C"/>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6962E5FA-CCE2-25A0-2DD0-CD0FEA1F8B83}"/>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329363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3C1A15-EDA8-8594-F726-659B25CE1E28}"/>
              </a:ext>
            </a:extLst>
          </p:cNvPr>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保証要件に基づく</a:t>
            </a:r>
            <a:r>
              <a:rPr lang="en-US" altLang="ja-JP">
                <a:latin typeface="Meiryo UI" panose="020B0604030504040204" pitchFamily="50" charset="-128"/>
                <a:ea typeface="Meiryo UI" panose="020B0604030504040204" pitchFamily="50" charset="-128"/>
              </a:rPr>
              <a:t>GHG</a:t>
            </a:r>
            <a:r>
              <a:rPr lang="ja-JP" altLang="en-US">
                <a:latin typeface="Meiryo UI" panose="020B0604030504040204" pitchFamily="50" charset="-128"/>
                <a:ea typeface="Meiryo UI" panose="020B0604030504040204" pitchFamily="50" charset="-128"/>
              </a:rPr>
              <a:t>算定サイクル</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4C0F1DC4-35DF-61F4-F465-8C1D560646EE}"/>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10</a:t>
            </a:fld>
            <a:endParaRPr kumimoji="1" lang="ja-JP" altLang="en-US">
              <a:latin typeface="Meiryo UI" panose="020B0604030504040204" pitchFamily="50" charset="-128"/>
              <a:ea typeface="Meiryo UI" panose="020B0604030504040204" pitchFamily="50" charset="-128"/>
            </a:endParaRPr>
          </a:p>
        </p:txBody>
      </p:sp>
      <p:sp>
        <p:nvSpPr>
          <p:cNvPr id="118" name="テキスト プレースホルダー 117">
            <a:extLst>
              <a:ext uri="{FF2B5EF4-FFF2-40B4-BE49-F238E27FC236}">
                <a16:creationId xmlns:a16="http://schemas.microsoft.com/office/drawing/2014/main" id="{7C52214B-D25F-1D28-F0A0-E0632E5DA0D7}"/>
              </a:ext>
            </a:extLst>
          </p:cNvPr>
          <p:cNvSpPr>
            <a:spLocks noGrp="1"/>
          </p:cNvSpPr>
          <p:nvPr>
            <p:ph type="body" sz="quarter" idx="13"/>
          </p:nvPr>
        </p:nvSpPr>
        <p:spPr/>
        <p:txBody>
          <a:bodyPr/>
          <a:lstStyle/>
          <a:p>
            <a:r>
              <a:rPr lang="ja-JP" altLang="en-US"/>
              <a:t>現状年次で収集しているデータは、</a:t>
            </a:r>
            <a:r>
              <a:rPr lang="en-US" altLang="ja-JP">
                <a:highlight>
                  <a:srgbClr val="FFFF00"/>
                </a:highlight>
              </a:rPr>
              <a:t>SSBJ</a:t>
            </a:r>
            <a:r>
              <a:rPr lang="ja-JP" altLang="en-US">
                <a:highlight>
                  <a:srgbClr val="FFFF00"/>
                </a:highlight>
              </a:rPr>
              <a:t>・温対法における活動量を月次で収集し</a:t>
            </a:r>
            <a:r>
              <a:rPr lang="ja-JP" altLang="en-US"/>
              <a:t>、四半期に一度算定・集計の上定期的な保証レビューを実施する必要がある</a:t>
            </a:r>
          </a:p>
        </p:txBody>
      </p:sp>
      <p:sp>
        <p:nvSpPr>
          <p:cNvPr id="13" name="正方形/長方形 12">
            <a:extLst>
              <a:ext uri="{FF2B5EF4-FFF2-40B4-BE49-F238E27FC236}">
                <a16:creationId xmlns:a16="http://schemas.microsoft.com/office/drawing/2014/main" id="{16C8E440-A426-4C8D-C464-04A101F1E750}"/>
              </a:ext>
            </a:extLst>
          </p:cNvPr>
          <p:cNvSpPr/>
          <p:nvPr/>
        </p:nvSpPr>
        <p:spPr>
          <a:xfrm>
            <a:off x="365891" y="1471061"/>
            <a:ext cx="3911473" cy="3107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err="1">
                <a:solidFill>
                  <a:schemeClr val="tx1"/>
                </a:solidFill>
                <a:latin typeface="Meiryo UI" panose="020B0604030504040204" pitchFamily="50" charset="-128"/>
                <a:ea typeface="Meiryo UI" panose="020B0604030504040204" pitchFamily="50" charset="-128"/>
              </a:rPr>
              <a:t>AsIs</a:t>
            </a:r>
            <a:r>
              <a:rPr kumimoji="1" lang="ja-JP" altLang="en-US" sz="1600">
                <a:solidFill>
                  <a:schemeClr val="tx1"/>
                </a:solidFill>
                <a:latin typeface="Meiryo UI" panose="020B0604030504040204" pitchFamily="50" charset="-128"/>
                <a:ea typeface="Meiryo UI" panose="020B0604030504040204" pitchFamily="50" charset="-128"/>
              </a:rPr>
              <a:t>業務サイクル</a:t>
            </a:r>
            <a:endParaRPr kumimoji="1" lang="ja-JP" altLang="en-US" sz="2400">
              <a:solidFill>
                <a:schemeClr val="tx1"/>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28044260-1CFD-B339-8B27-D5592CC7506E}"/>
              </a:ext>
            </a:extLst>
          </p:cNvPr>
          <p:cNvSpPr/>
          <p:nvPr/>
        </p:nvSpPr>
        <p:spPr>
          <a:xfrm>
            <a:off x="4866637" y="1471061"/>
            <a:ext cx="3911471" cy="3107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err="1">
                <a:solidFill>
                  <a:schemeClr val="tx1"/>
                </a:solidFill>
                <a:latin typeface="Meiryo UI" panose="020B0604030504040204" pitchFamily="50" charset="-128"/>
                <a:ea typeface="Meiryo UI" panose="020B0604030504040204" pitchFamily="50" charset="-128"/>
              </a:rPr>
              <a:t>ToBe</a:t>
            </a:r>
            <a:r>
              <a:rPr kumimoji="1" lang="ja-JP" altLang="en-US" sz="1600">
                <a:solidFill>
                  <a:schemeClr val="tx1"/>
                </a:solidFill>
                <a:latin typeface="Meiryo UI" panose="020B0604030504040204" pitchFamily="50" charset="-128"/>
                <a:ea typeface="Meiryo UI" panose="020B0604030504040204" pitchFamily="50" charset="-128"/>
              </a:rPr>
              <a:t>業務サイクル</a:t>
            </a:r>
          </a:p>
        </p:txBody>
      </p:sp>
      <p:sp>
        <p:nvSpPr>
          <p:cNvPr id="19" name="矢印: 五方向 18">
            <a:extLst>
              <a:ext uri="{FF2B5EF4-FFF2-40B4-BE49-F238E27FC236}">
                <a16:creationId xmlns:a16="http://schemas.microsoft.com/office/drawing/2014/main" id="{A366274F-C107-FAD5-B2C0-B633D10237B0}"/>
              </a:ext>
            </a:extLst>
          </p:cNvPr>
          <p:cNvSpPr/>
          <p:nvPr/>
        </p:nvSpPr>
        <p:spPr>
          <a:xfrm>
            <a:off x="899593" y="2089782"/>
            <a:ext cx="1872208" cy="446281"/>
          </a:xfrm>
          <a:prstGeom prst="homePlate">
            <a:avLst>
              <a:gd name="adj" fmla="val 1560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N</a:t>
            </a:r>
            <a:r>
              <a:rPr kumimoji="1" lang="ja-JP" altLang="en-US" sz="1000">
                <a:solidFill>
                  <a:schemeClr val="tx1"/>
                </a:solidFill>
                <a:latin typeface="Meiryo UI" panose="020B0604030504040204" pitchFamily="50" charset="-128"/>
                <a:ea typeface="Meiryo UI" panose="020B0604030504040204" pitchFamily="50" charset="-128"/>
              </a:rPr>
              <a:t>年</a:t>
            </a:r>
            <a:r>
              <a:rPr kumimoji="1" lang="en-US" altLang="ja-JP" sz="1000">
                <a:solidFill>
                  <a:schemeClr val="tx1"/>
                </a:solidFill>
                <a:latin typeface="Meiryo UI" panose="020B0604030504040204" pitchFamily="50" charset="-128"/>
                <a:ea typeface="Meiryo UI" panose="020B0604030504040204" pitchFamily="50" charset="-128"/>
              </a:rPr>
              <a:t>4</a:t>
            </a:r>
            <a:r>
              <a:rPr kumimoji="1" lang="ja-JP" altLang="en-US" sz="1000">
                <a:solidFill>
                  <a:schemeClr val="tx1"/>
                </a:solidFill>
                <a:latin typeface="Meiryo UI" panose="020B0604030504040204" pitchFamily="50" charset="-128"/>
                <a:ea typeface="Meiryo UI" panose="020B0604030504040204" pitchFamily="50" charset="-128"/>
              </a:rPr>
              <a:t>月～</a:t>
            </a:r>
            <a:r>
              <a:rPr kumimoji="1" lang="en-US" altLang="ja-JP" sz="1000">
                <a:solidFill>
                  <a:schemeClr val="tx1"/>
                </a:solidFill>
                <a:latin typeface="Meiryo UI" panose="020B0604030504040204" pitchFamily="50" charset="-128"/>
                <a:ea typeface="Meiryo UI" panose="020B0604030504040204" pitchFamily="50" charset="-128"/>
              </a:rPr>
              <a:t>N+1</a:t>
            </a:r>
            <a:r>
              <a:rPr kumimoji="1" lang="ja-JP" altLang="en-US" sz="1000">
                <a:solidFill>
                  <a:schemeClr val="tx1"/>
                </a:solidFill>
                <a:latin typeface="Meiryo UI" panose="020B0604030504040204" pitchFamily="50" charset="-128"/>
                <a:ea typeface="Meiryo UI" panose="020B0604030504040204" pitchFamily="50" charset="-128"/>
              </a:rPr>
              <a:t>年</a:t>
            </a:r>
            <a:r>
              <a:rPr kumimoji="1" lang="en-US" altLang="ja-JP" sz="1000">
                <a:solidFill>
                  <a:schemeClr val="tx1"/>
                </a:solidFill>
                <a:latin typeface="Meiryo UI" panose="020B0604030504040204" pitchFamily="50" charset="-128"/>
                <a:ea typeface="Meiryo UI" panose="020B0604030504040204" pitchFamily="50" charset="-128"/>
              </a:rPr>
              <a:t>3</a:t>
            </a:r>
            <a:r>
              <a:rPr kumimoji="1" lang="ja-JP" altLang="en-US" sz="1000">
                <a:solidFill>
                  <a:schemeClr val="tx1"/>
                </a:solidFill>
                <a:latin typeface="Meiryo UI" panose="020B0604030504040204" pitchFamily="50" charset="-128"/>
                <a:ea typeface="Meiryo UI" panose="020B0604030504040204" pitchFamily="50" charset="-128"/>
              </a:rPr>
              <a:t>月分</a:t>
            </a:r>
            <a:endParaRPr kumimoji="1"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報告</a:t>
            </a:r>
          </a:p>
        </p:txBody>
      </p:sp>
      <p:sp>
        <p:nvSpPr>
          <p:cNvPr id="20" name="矢印: 五方向 19">
            <a:extLst>
              <a:ext uri="{FF2B5EF4-FFF2-40B4-BE49-F238E27FC236}">
                <a16:creationId xmlns:a16="http://schemas.microsoft.com/office/drawing/2014/main" id="{6283943D-5995-CE49-5D75-35C1589DAD0B}"/>
              </a:ext>
            </a:extLst>
          </p:cNvPr>
          <p:cNvSpPr/>
          <p:nvPr/>
        </p:nvSpPr>
        <p:spPr>
          <a:xfrm>
            <a:off x="2302339" y="2828187"/>
            <a:ext cx="697939" cy="540000"/>
          </a:xfrm>
          <a:prstGeom prst="homePlate">
            <a:avLst>
              <a:gd name="adj" fmla="val 15604"/>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a:solidFill>
                  <a:schemeClr val="bg1"/>
                </a:solidFill>
                <a:latin typeface="Meiryo UI" panose="020B0604030504040204" pitchFamily="50" charset="-128"/>
                <a:ea typeface="Meiryo UI" panose="020B0604030504040204" pitchFamily="50" charset="-128"/>
              </a:rPr>
              <a:t>N</a:t>
            </a:r>
            <a:r>
              <a:rPr kumimoji="1" lang="ja-JP" altLang="en-US" sz="1000">
                <a:solidFill>
                  <a:schemeClr val="bg1"/>
                </a:solidFill>
                <a:latin typeface="Meiryo UI" panose="020B0604030504040204" pitchFamily="50" charset="-128"/>
                <a:ea typeface="Meiryo UI" panose="020B0604030504040204" pitchFamily="50" charset="-128"/>
              </a:rPr>
              <a:t>年度分</a:t>
            </a:r>
            <a:endParaRPr kumimoji="1" lang="en-US" altLang="ja-JP" sz="1000">
              <a:solidFill>
                <a:schemeClr val="bg1"/>
              </a:solidFill>
              <a:latin typeface="Meiryo UI" panose="020B0604030504040204" pitchFamily="50" charset="-128"/>
              <a:ea typeface="Meiryo UI" panose="020B0604030504040204" pitchFamily="50" charset="-128"/>
            </a:endParaRPr>
          </a:p>
          <a:p>
            <a:pPr algn="ctr"/>
            <a:r>
              <a:rPr kumimoji="1" lang="ja-JP" altLang="en-US" sz="1000">
                <a:solidFill>
                  <a:schemeClr val="bg1"/>
                </a:solidFill>
                <a:latin typeface="Meiryo UI" panose="020B0604030504040204" pitchFamily="50" charset="-128"/>
                <a:ea typeface="Meiryo UI" panose="020B0604030504040204" pitchFamily="50" charset="-128"/>
              </a:rPr>
              <a:t>確認</a:t>
            </a:r>
          </a:p>
        </p:txBody>
      </p:sp>
      <p:sp>
        <p:nvSpPr>
          <p:cNvPr id="21" name="矢印: 五方向 20">
            <a:extLst>
              <a:ext uri="{FF2B5EF4-FFF2-40B4-BE49-F238E27FC236}">
                <a16:creationId xmlns:a16="http://schemas.microsoft.com/office/drawing/2014/main" id="{ADD1562B-CA84-3C8A-EC66-DB3DCD87291E}"/>
              </a:ext>
            </a:extLst>
          </p:cNvPr>
          <p:cNvSpPr/>
          <p:nvPr/>
        </p:nvSpPr>
        <p:spPr>
          <a:xfrm>
            <a:off x="2808796" y="3712537"/>
            <a:ext cx="630564" cy="540000"/>
          </a:xfrm>
          <a:prstGeom prst="homePlate">
            <a:avLst>
              <a:gd name="adj" fmla="val 1560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a:solidFill>
                  <a:schemeClr val="bg1"/>
                </a:solidFill>
                <a:latin typeface="Meiryo UI" panose="020B0604030504040204" pitchFamily="50" charset="-128"/>
                <a:ea typeface="Meiryo UI" panose="020B0604030504040204" pitchFamily="50" charset="-128"/>
              </a:rPr>
              <a:t>N</a:t>
            </a:r>
            <a:r>
              <a:rPr kumimoji="1" lang="ja-JP" altLang="en-US" sz="1000">
                <a:solidFill>
                  <a:schemeClr val="bg1"/>
                </a:solidFill>
                <a:latin typeface="Meiryo UI" panose="020B0604030504040204" pitchFamily="50" charset="-128"/>
                <a:ea typeface="Meiryo UI" panose="020B0604030504040204" pitchFamily="50" charset="-128"/>
              </a:rPr>
              <a:t>年度分</a:t>
            </a:r>
            <a:endParaRPr kumimoji="1" lang="en-US" altLang="ja-JP" sz="1000">
              <a:solidFill>
                <a:schemeClr val="bg1"/>
              </a:solidFill>
              <a:latin typeface="Meiryo UI" panose="020B0604030504040204" pitchFamily="50" charset="-128"/>
              <a:ea typeface="Meiryo UI" panose="020B0604030504040204" pitchFamily="50" charset="-128"/>
            </a:endParaRPr>
          </a:p>
          <a:p>
            <a:pPr algn="ctr"/>
            <a:r>
              <a:rPr kumimoji="1" lang="ja-JP" altLang="en-US" sz="1000">
                <a:solidFill>
                  <a:schemeClr val="bg1"/>
                </a:solidFill>
                <a:latin typeface="Meiryo UI" panose="020B0604030504040204" pitchFamily="50" charset="-128"/>
                <a:ea typeface="Meiryo UI" panose="020B0604030504040204" pitchFamily="50" charset="-128"/>
              </a:rPr>
              <a:t>算定</a:t>
            </a:r>
          </a:p>
        </p:txBody>
      </p:sp>
      <p:cxnSp>
        <p:nvCxnSpPr>
          <p:cNvPr id="24" name="コネクタ: カギ線 23">
            <a:extLst>
              <a:ext uri="{FF2B5EF4-FFF2-40B4-BE49-F238E27FC236}">
                <a16:creationId xmlns:a16="http://schemas.microsoft.com/office/drawing/2014/main" id="{5C7E7475-762B-8735-C5E7-F3744436C2DD}"/>
              </a:ext>
            </a:extLst>
          </p:cNvPr>
          <p:cNvCxnSpPr>
            <a:cxnSpLocks/>
            <a:stCxn id="19" idx="2"/>
            <a:endCxn id="20" idx="0"/>
          </p:cNvCxnSpPr>
          <p:nvPr/>
        </p:nvCxnSpPr>
        <p:spPr>
          <a:xfrm rot="16200000" flipH="1">
            <a:off x="2058966" y="2277975"/>
            <a:ext cx="292124" cy="808300"/>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9C349144-2270-E859-401D-F2BA69789FD7}"/>
              </a:ext>
            </a:extLst>
          </p:cNvPr>
          <p:cNvCxnSpPr>
            <a:cxnSpLocks/>
            <a:stCxn id="20" idx="2"/>
            <a:endCxn id="21" idx="0"/>
          </p:cNvCxnSpPr>
          <p:nvPr/>
        </p:nvCxnSpPr>
        <p:spPr>
          <a:xfrm rot="16200000" flipH="1">
            <a:off x="2673387" y="3303977"/>
            <a:ext cx="344350" cy="472769"/>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コネクタ: カギ線 27">
            <a:extLst>
              <a:ext uri="{FF2B5EF4-FFF2-40B4-BE49-F238E27FC236}">
                <a16:creationId xmlns:a16="http://schemas.microsoft.com/office/drawing/2014/main" id="{5BDDA803-61DE-2818-5ED1-32B7CC8D1D91}"/>
              </a:ext>
            </a:extLst>
          </p:cNvPr>
          <p:cNvCxnSpPr>
            <a:cxnSpLocks/>
            <a:stCxn id="21" idx="3"/>
            <a:endCxn id="38" idx="2"/>
          </p:cNvCxnSpPr>
          <p:nvPr/>
        </p:nvCxnSpPr>
        <p:spPr>
          <a:xfrm flipV="1">
            <a:off x="3439360" y="3368187"/>
            <a:ext cx="285554" cy="614350"/>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矢印: 五方向 37">
            <a:extLst>
              <a:ext uri="{FF2B5EF4-FFF2-40B4-BE49-F238E27FC236}">
                <a16:creationId xmlns:a16="http://schemas.microsoft.com/office/drawing/2014/main" id="{4204B8DC-4EFB-40E9-20CF-B36E655B07BA}"/>
              </a:ext>
            </a:extLst>
          </p:cNvPr>
          <p:cNvSpPr/>
          <p:nvPr/>
        </p:nvSpPr>
        <p:spPr>
          <a:xfrm>
            <a:off x="3496230" y="2828187"/>
            <a:ext cx="541630" cy="540000"/>
          </a:xfrm>
          <a:prstGeom prst="homePlate">
            <a:avLst>
              <a:gd name="adj" fmla="val 15604"/>
            </a:avLst>
          </a:prstGeom>
          <a:solidFill>
            <a:schemeClr val="bg1"/>
          </a:solidFill>
          <a:ln w="28575">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修正</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C9212961-7BDA-9A46-4018-30682F896985}"/>
              </a:ext>
            </a:extLst>
          </p:cNvPr>
          <p:cNvSpPr/>
          <p:nvPr/>
        </p:nvSpPr>
        <p:spPr>
          <a:xfrm>
            <a:off x="-353231" y="2109457"/>
            <a:ext cx="1327432" cy="3625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各拠点</a:t>
            </a:r>
          </a:p>
        </p:txBody>
      </p:sp>
      <p:sp>
        <p:nvSpPr>
          <p:cNvPr id="50" name="Graphic 4">
            <a:extLst>
              <a:ext uri="{FF2B5EF4-FFF2-40B4-BE49-F238E27FC236}">
                <a16:creationId xmlns:a16="http://schemas.microsoft.com/office/drawing/2014/main" id="{9FE1CF3C-7C69-A556-5E8F-7E1C719A340B}"/>
              </a:ext>
            </a:extLst>
          </p:cNvPr>
          <p:cNvSpPr>
            <a:spLocks noChangeAspect="1"/>
          </p:cNvSpPr>
          <p:nvPr/>
        </p:nvSpPr>
        <p:spPr bwMode="gray">
          <a:xfrm>
            <a:off x="1876724" y="2877221"/>
            <a:ext cx="471035" cy="471035"/>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84352 w 362309"/>
              <a:gd name="connsiteY6" fmla="*/ 267489 h 361971"/>
              <a:gd name="connsiteX7" fmla="*/ 278601 w 362309"/>
              <a:gd name="connsiteY7" fmla="*/ 270681 h 361971"/>
              <a:gd name="connsiteX8" fmla="*/ 275406 w 362309"/>
              <a:gd name="connsiteY8" fmla="*/ 270043 h 361971"/>
              <a:gd name="connsiteX9" fmla="*/ 237705 w 362309"/>
              <a:gd name="connsiteY9" fmla="*/ 259828 h 361971"/>
              <a:gd name="connsiteX10" fmla="*/ 221092 w 362309"/>
              <a:gd name="connsiteY10" fmla="*/ 256636 h 361971"/>
              <a:gd name="connsiteX11" fmla="*/ 201922 w 362309"/>
              <a:gd name="connsiteY11" fmla="*/ 239399 h 361971"/>
              <a:gd name="connsiteX12" fmla="*/ 203839 w 362309"/>
              <a:gd name="connsiteY12" fmla="*/ 225993 h 361971"/>
              <a:gd name="connsiteX13" fmla="*/ 223648 w 362309"/>
              <a:gd name="connsiteY13" fmla="*/ 179390 h 361971"/>
              <a:gd name="connsiteX14" fmla="*/ 217897 w 362309"/>
              <a:gd name="connsiteY14" fmla="*/ 120019 h 361971"/>
              <a:gd name="connsiteX15" fmla="*/ 181474 w 362309"/>
              <a:gd name="connsiteY15" fmla="*/ 104059 h 361971"/>
              <a:gd name="connsiteX16" fmla="*/ 180835 w 362309"/>
              <a:gd name="connsiteY16" fmla="*/ 104059 h 361971"/>
              <a:gd name="connsiteX17" fmla="*/ 144412 w 362309"/>
              <a:gd name="connsiteY17" fmla="*/ 120019 h 361971"/>
              <a:gd name="connsiteX18" fmla="*/ 138661 w 362309"/>
              <a:gd name="connsiteY18" fmla="*/ 179390 h 361971"/>
              <a:gd name="connsiteX19" fmla="*/ 158470 w 362309"/>
              <a:gd name="connsiteY19" fmla="*/ 225993 h 361971"/>
              <a:gd name="connsiteX20" fmla="*/ 160387 w 362309"/>
              <a:gd name="connsiteY20" fmla="*/ 239399 h 361971"/>
              <a:gd name="connsiteX21" fmla="*/ 141217 w 362309"/>
              <a:gd name="connsiteY21" fmla="*/ 256636 h 361971"/>
              <a:gd name="connsiteX22" fmla="*/ 124604 w 362309"/>
              <a:gd name="connsiteY22" fmla="*/ 259828 h 361971"/>
              <a:gd name="connsiteX23" fmla="*/ 86264 w 362309"/>
              <a:gd name="connsiteY23" fmla="*/ 270043 h 361971"/>
              <a:gd name="connsiteX24" fmla="*/ 83069 w 362309"/>
              <a:gd name="connsiteY24" fmla="*/ 270681 h 361971"/>
              <a:gd name="connsiteX25" fmla="*/ 76679 w 362309"/>
              <a:gd name="connsiteY25" fmla="*/ 264297 h 361971"/>
              <a:gd name="connsiteX26" fmla="*/ 79874 w 362309"/>
              <a:gd name="connsiteY26" fmla="*/ 258551 h 361971"/>
              <a:gd name="connsiteX27" fmla="*/ 123326 w 362309"/>
              <a:gd name="connsiteY27" fmla="*/ 246422 h 361971"/>
              <a:gd name="connsiteX28" fmla="*/ 136744 w 362309"/>
              <a:gd name="connsiteY28" fmla="*/ 244507 h 361971"/>
              <a:gd name="connsiteX29" fmla="*/ 148246 w 362309"/>
              <a:gd name="connsiteY29" fmla="*/ 235569 h 361971"/>
              <a:gd name="connsiteX30" fmla="*/ 148246 w 362309"/>
              <a:gd name="connsiteY30" fmla="*/ 233654 h 361971"/>
              <a:gd name="connsiteX31" fmla="*/ 126521 w 362309"/>
              <a:gd name="connsiteY31" fmla="*/ 182582 h 361971"/>
              <a:gd name="connsiteX32" fmla="*/ 134828 w 362309"/>
              <a:gd name="connsiteY32" fmla="*/ 112358 h 361971"/>
              <a:gd name="connsiteX33" fmla="*/ 181474 w 362309"/>
              <a:gd name="connsiteY33" fmla="*/ 91930 h 361971"/>
              <a:gd name="connsiteX34" fmla="*/ 181474 w 362309"/>
              <a:gd name="connsiteY34" fmla="*/ 91930 h 361971"/>
              <a:gd name="connsiteX35" fmla="*/ 227482 w 362309"/>
              <a:gd name="connsiteY35" fmla="*/ 112358 h 361971"/>
              <a:gd name="connsiteX36" fmla="*/ 235788 w 362309"/>
              <a:gd name="connsiteY36" fmla="*/ 182582 h 361971"/>
              <a:gd name="connsiteX37" fmla="*/ 214063 w 362309"/>
              <a:gd name="connsiteY37" fmla="*/ 233654 h 361971"/>
              <a:gd name="connsiteX38" fmla="*/ 214063 w 362309"/>
              <a:gd name="connsiteY38" fmla="*/ 235569 h 361971"/>
              <a:gd name="connsiteX39" fmla="*/ 225565 w 362309"/>
              <a:gd name="connsiteY39" fmla="*/ 244507 h 361971"/>
              <a:gd name="connsiteX40" fmla="*/ 238983 w 362309"/>
              <a:gd name="connsiteY40" fmla="*/ 246422 h 361971"/>
              <a:gd name="connsiteX41" fmla="*/ 282435 w 362309"/>
              <a:gd name="connsiteY41" fmla="*/ 258551 h 361971"/>
              <a:gd name="connsiteX42" fmla="*/ 284352 w 362309"/>
              <a:gd name="connsiteY42" fmla="*/ 267489 h 361971"/>
              <a:gd name="connsiteX43" fmla="*/ 284352 w 362309"/>
              <a:gd name="connsiteY43" fmla="*/ 267489 h 361971"/>
              <a:gd name="connsiteX44" fmla="*/ 284352 w 362309"/>
              <a:gd name="connsiteY44" fmla="*/ 26748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309" y="80438"/>
                  <a:pt x="281157" y="0"/>
                  <a:pt x="181474" y="0"/>
                </a:cubicBezTo>
                <a:close/>
                <a:moveTo>
                  <a:pt x="284352" y="267489"/>
                </a:moveTo>
                <a:cubicBezTo>
                  <a:pt x="283074" y="269404"/>
                  <a:pt x="281157" y="270681"/>
                  <a:pt x="278601" y="270681"/>
                </a:cubicBezTo>
                <a:cubicBezTo>
                  <a:pt x="277323" y="270681"/>
                  <a:pt x="276045" y="270681"/>
                  <a:pt x="275406" y="270043"/>
                </a:cubicBezTo>
                <a:cubicBezTo>
                  <a:pt x="263904" y="263659"/>
                  <a:pt x="250485" y="259828"/>
                  <a:pt x="237705" y="259828"/>
                </a:cubicBezTo>
                <a:cubicBezTo>
                  <a:pt x="231955" y="259828"/>
                  <a:pt x="226204" y="258551"/>
                  <a:pt x="221092" y="256636"/>
                </a:cubicBezTo>
                <a:cubicBezTo>
                  <a:pt x="212146" y="254083"/>
                  <a:pt x="205117" y="247699"/>
                  <a:pt x="201922" y="239399"/>
                </a:cubicBezTo>
                <a:cubicBezTo>
                  <a:pt x="200644" y="234931"/>
                  <a:pt x="201283" y="229823"/>
                  <a:pt x="203839" y="225993"/>
                </a:cubicBezTo>
                <a:cubicBezTo>
                  <a:pt x="212785" y="211948"/>
                  <a:pt x="219814" y="195988"/>
                  <a:pt x="223648" y="179390"/>
                </a:cubicBezTo>
                <a:cubicBezTo>
                  <a:pt x="230038" y="152577"/>
                  <a:pt x="228120" y="132787"/>
                  <a:pt x="217897" y="120019"/>
                </a:cubicBezTo>
                <a:cubicBezTo>
                  <a:pt x="205117" y="104059"/>
                  <a:pt x="182113" y="104059"/>
                  <a:pt x="181474" y="104059"/>
                </a:cubicBezTo>
                <a:lnTo>
                  <a:pt x="180835" y="104059"/>
                </a:lnTo>
                <a:cubicBezTo>
                  <a:pt x="166777" y="104059"/>
                  <a:pt x="153997" y="109805"/>
                  <a:pt x="144412" y="120019"/>
                </a:cubicBezTo>
                <a:cubicBezTo>
                  <a:pt x="134189" y="132787"/>
                  <a:pt x="132271" y="152577"/>
                  <a:pt x="138661" y="179390"/>
                </a:cubicBezTo>
                <a:cubicBezTo>
                  <a:pt x="142496" y="195988"/>
                  <a:pt x="149524" y="211310"/>
                  <a:pt x="158470" y="225993"/>
                </a:cubicBezTo>
                <a:cubicBezTo>
                  <a:pt x="161026" y="229823"/>
                  <a:pt x="162304" y="234931"/>
                  <a:pt x="160387" y="239399"/>
                </a:cubicBezTo>
                <a:cubicBezTo>
                  <a:pt x="157192" y="247699"/>
                  <a:pt x="150164" y="254083"/>
                  <a:pt x="141217" y="256636"/>
                </a:cubicBezTo>
                <a:cubicBezTo>
                  <a:pt x="136106" y="258551"/>
                  <a:pt x="130354" y="259190"/>
                  <a:pt x="124604" y="259828"/>
                </a:cubicBezTo>
                <a:cubicBezTo>
                  <a:pt x="111185" y="260467"/>
                  <a:pt x="97766" y="263659"/>
                  <a:pt x="86264" y="270043"/>
                </a:cubicBezTo>
                <a:cubicBezTo>
                  <a:pt x="85625" y="270681"/>
                  <a:pt x="84347" y="270681"/>
                  <a:pt x="83069" y="270681"/>
                </a:cubicBezTo>
                <a:cubicBezTo>
                  <a:pt x="79235" y="270681"/>
                  <a:pt x="76679" y="268127"/>
                  <a:pt x="76679" y="264297"/>
                </a:cubicBezTo>
                <a:cubicBezTo>
                  <a:pt x="76679" y="261743"/>
                  <a:pt x="77957" y="259828"/>
                  <a:pt x="79874" y="258551"/>
                </a:cubicBezTo>
                <a:cubicBezTo>
                  <a:pt x="93293" y="250891"/>
                  <a:pt x="107990" y="247060"/>
                  <a:pt x="123326" y="246422"/>
                </a:cubicBezTo>
                <a:cubicBezTo>
                  <a:pt x="127799" y="246422"/>
                  <a:pt x="132271" y="245783"/>
                  <a:pt x="136744" y="244507"/>
                </a:cubicBezTo>
                <a:cubicBezTo>
                  <a:pt x="141856" y="243230"/>
                  <a:pt x="145690" y="240038"/>
                  <a:pt x="148246" y="235569"/>
                </a:cubicBezTo>
                <a:cubicBezTo>
                  <a:pt x="148885" y="234931"/>
                  <a:pt x="148885" y="234292"/>
                  <a:pt x="148246" y="233654"/>
                </a:cubicBezTo>
                <a:cubicBezTo>
                  <a:pt x="138022" y="217694"/>
                  <a:pt x="130994" y="200457"/>
                  <a:pt x="126521" y="182582"/>
                </a:cubicBezTo>
                <a:cubicBezTo>
                  <a:pt x="118853" y="151939"/>
                  <a:pt x="122048" y="128318"/>
                  <a:pt x="134828" y="112358"/>
                </a:cubicBezTo>
                <a:cubicBezTo>
                  <a:pt x="152080" y="91291"/>
                  <a:pt x="180196" y="91930"/>
                  <a:pt x="181474" y="91930"/>
                </a:cubicBezTo>
                <a:lnTo>
                  <a:pt x="181474" y="91930"/>
                </a:lnTo>
                <a:cubicBezTo>
                  <a:pt x="199366" y="91930"/>
                  <a:pt x="215980" y="99590"/>
                  <a:pt x="227482" y="112358"/>
                </a:cubicBezTo>
                <a:cubicBezTo>
                  <a:pt x="240261" y="128318"/>
                  <a:pt x="243456" y="151939"/>
                  <a:pt x="235788" y="182582"/>
                </a:cubicBezTo>
                <a:cubicBezTo>
                  <a:pt x="231315" y="200457"/>
                  <a:pt x="224287" y="217694"/>
                  <a:pt x="214063" y="233654"/>
                </a:cubicBezTo>
                <a:cubicBezTo>
                  <a:pt x="213424" y="234292"/>
                  <a:pt x="213424" y="234931"/>
                  <a:pt x="214063" y="235569"/>
                </a:cubicBezTo>
                <a:cubicBezTo>
                  <a:pt x="216619" y="240038"/>
                  <a:pt x="220453" y="243230"/>
                  <a:pt x="225565" y="244507"/>
                </a:cubicBezTo>
                <a:cubicBezTo>
                  <a:pt x="230038" y="245783"/>
                  <a:pt x="234510" y="246422"/>
                  <a:pt x="238983" y="246422"/>
                </a:cubicBezTo>
                <a:cubicBezTo>
                  <a:pt x="254319" y="247060"/>
                  <a:pt x="269016" y="251529"/>
                  <a:pt x="282435" y="258551"/>
                </a:cubicBezTo>
                <a:cubicBezTo>
                  <a:pt x="284991" y="260467"/>
                  <a:pt x="285630" y="264297"/>
                  <a:pt x="284352" y="267489"/>
                </a:cubicBezTo>
                <a:cubicBezTo>
                  <a:pt x="284352" y="267489"/>
                  <a:pt x="284352" y="267489"/>
                  <a:pt x="284352" y="267489"/>
                </a:cubicBezTo>
                <a:lnTo>
                  <a:pt x="284352" y="267489"/>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bg1"/>
              </a:solidFill>
              <a:latin typeface="Meiryo UI" panose="020B0604030504040204" pitchFamily="50" charset="-128"/>
              <a:ea typeface="Meiryo UI" panose="020B0604030504040204" pitchFamily="50" charset="-128"/>
              <a:sym typeface="+mn-lt"/>
            </a:endParaRPr>
          </a:p>
        </p:txBody>
      </p:sp>
      <p:sp>
        <p:nvSpPr>
          <p:cNvPr id="51" name="正方形/長方形 50">
            <a:extLst>
              <a:ext uri="{FF2B5EF4-FFF2-40B4-BE49-F238E27FC236}">
                <a16:creationId xmlns:a16="http://schemas.microsoft.com/office/drawing/2014/main" id="{4FFC1497-6611-3FD4-8446-D0A8271D4454}"/>
              </a:ext>
            </a:extLst>
          </p:cNvPr>
          <p:cNvSpPr/>
          <p:nvPr/>
        </p:nvSpPr>
        <p:spPr>
          <a:xfrm>
            <a:off x="1000201" y="2931471"/>
            <a:ext cx="1327432" cy="3625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安環</a:t>
            </a:r>
          </a:p>
        </p:txBody>
      </p:sp>
      <p:sp>
        <p:nvSpPr>
          <p:cNvPr id="58" name="Graphic 4">
            <a:extLst>
              <a:ext uri="{FF2B5EF4-FFF2-40B4-BE49-F238E27FC236}">
                <a16:creationId xmlns:a16="http://schemas.microsoft.com/office/drawing/2014/main" id="{9F646B6B-4A99-8038-91F5-DA9B89E9B90F}"/>
              </a:ext>
            </a:extLst>
          </p:cNvPr>
          <p:cNvSpPr>
            <a:spLocks noChangeAspect="1"/>
          </p:cNvSpPr>
          <p:nvPr/>
        </p:nvSpPr>
        <p:spPr bwMode="gray">
          <a:xfrm>
            <a:off x="2365521" y="3787757"/>
            <a:ext cx="471035" cy="471035"/>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84352 w 362309"/>
              <a:gd name="connsiteY6" fmla="*/ 267489 h 361971"/>
              <a:gd name="connsiteX7" fmla="*/ 278601 w 362309"/>
              <a:gd name="connsiteY7" fmla="*/ 270681 h 361971"/>
              <a:gd name="connsiteX8" fmla="*/ 275406 w 362309"/>
              <a:gd name="connsiteY8" fmla="*/ 270043 h 361971"/>
              <a:gd name="connsiteX9" fmla="*/ 237705 w 362309"/>
              <a:gd name="connsiteY9" fmla="*/ 259828 h 361971"/>
              <a:gd name="connsiteX10" fmla="*/ 221092 w 362309"/>
              <a:gd name="connsiteY10" fmla="*/ 256636 h 361971"/>
              <a:gd name="connsiteX11" fmla="*/ 201922 w 362309"/>
              <a:gd name="connsiteY11" fmla="*/ 239399 h 361971"/>
              <a:gd name="connsiteX12" fmla="*/ 203839 w 362309"/>
              <a:gd name="connsiteY12" fmla="*/ 225993 h 361971"/>
              <a:gd name="connsiteX13" fmla="*/ 223648 w 362309"/>
              <a:gd name="connsiteY13" fmla="*/ 179390 h 361971"/>
              <a:gd name="connsiteX14" fmla="*/ 217897 w 362309"/>
              <a:gd name="connsiteY14" fmla="*/ 120019 h 361971"/>
              <a:gd name="connsiteX15" fmla="*/ 181474 w 362309"/>
              <a:gd name="connsiteY15" fmla="*/ 104059 h 361971"/>
              <a:gd name="connsiteX16" fmla="*/ 180835 w 362309"/>
              <a:gd name="connsiteY16" fmla="*/ 104059 h 361971"/>
              <a:gd name="connsiteX17" fmla="*/ 144412 w 362309"/>
              <a:gd name="connsiteY17" fmla="*/ 120019 h 361971"/>
              <a:gd name="connsiteX18" fmla="*/ 138661 w 362309"/>
              <a:gd name="connsiteY18" fmla="*/ 179390 h 361971"/>
              <a:gd name="connsiteX19" fmla="*/ 158470 w 362309"/>
              <a:gd name="connsiteY19" fmla="*/ 225993 h 361971"/>
              <a:gd name="connsiteX20" fmla="*/ 160387 w 362309"/>
              <a:gd name="connsiteY20" fmla="*/ 239399 h 361971"/>
              <a:gd name="connsiteX21" fmla="*/ 141217 w 362309"/>
              <a:gd name="connsiteY21" fmla="*/ 256636 h 361971"/>
              <a:gd name="connsiteX22" fmla="*/ 124604 w 362309"/>
              <a:gd name="connsiteY22" fmla="*/ 259828 h 361971"/>
              <a:gd name="connsiteX23" fmla="*/ 86264 w 362309"/>
              <a:gd name="connsiteY23" fmla="*/ 270043 h 361971"/>
              <a:gd name="connsiteX24" fmla="*/ 83069 w 362309"/>
              <a:gd name="connsiteY24" fmla="*/ 270681 h 361971"/>
              <a:gd name="connsiteX25" fmla="*/ 76679 w 362309"/>
              <a:gd name="connsiteY25" fmla="*/ 264297 h 361971"/>
              <a:gd name="connsiteX26" fmla="*/ 79874 w 362309"/>
              <a:gd name="connsiteY26" fmla="*/ 258551 h 361971"/>
              <a:gd name="connsiteX27" fmla="*/ 123326 w 362309"/>
              <a:gd name="connsiteY27" fmla="*/ 246422 h 361971"/>
              <a:gd name="connsiteX28" fmla="*/ 136744 w 362309"/>
              <a:gd name="connsiteY28" fmla="*/ 244507 h 361971"/>
              <a:gd name="connsiteX29" fmla="*/ 148246 w 362309"/>
              <a:gd name="connsiteY29" fmla="*/ 235569 h 361971"/>
              <a:gd name="connsiteX30" fmla="*/ 148246 w 362309"/>
              <a:gd name="connsiteY30" fmla="*/ 233654 h 361971"/>
              <a:gd name="connsiteX31" fmla="*/ 126521 w 362309"/>
              <a:gd name="connsiteY31" fmla="*/ 182582 h 361971"/>
              <a:gd name="connsiteX32" fmla="*/ 134828 w 362309"/>
              <a:gd name="connsiteY32" fmla="*/ 112358 h 361971"/>
              <a:gd name="connsiteX33" fmla="*/ 181474 w 362309"/>
              <a:gd name="connsiteY33" fmla="*/ 91930 h 361971"/>
              <a:gd name="connsiteX34" fmla="*/ 181474 w 362309"/>
              <a:gd name="connsiteY34" fmla="*/ 91930 h 361971"/>
              <a:gd name="connsiteX35" fmla="*/ 227482 w 362309"/>
              <a:gd name="connsiteY35" fmla="*/ 112358 h 361971"/>
              <a:gd name="connsiteX36" fmla="*/ 235788 w 362309"/>
              <a:gd name="connsiteY36" fmla="*/ 182582 h 361971"/>
              <a:gd name="connsiteX37" fmla="*/ 214063 w 362309"/>
              <a:gd name="connsiteY37" fmla="*/ 233654 h 361971"/>
              <a:gd name="connsiteX38" fmla="*/ 214063 w 362309"/>
              <a:gd name="connsiteY38" fmla="*/ 235569 h 361971"/>
              <a:gd name="connsiteX39" fmla="*/ 225565 w 362309"/>
              <a:gd name="connsiteY39" fmla="*/ 244507 h 361971"/>
              <a:gd name="connsiteX40" fmla="*/ 238983 w 362309"/>
              <a:gd name="connsiteY40" fmla="*/ 246422 h 361971"/>
              <a:gd name="connsiteX41" fmla="*/ 282435 w 362309"/>
              <a:gd name="connsiteY41" fmla="*/ 258551 h 361971"/>
              <a:gd name="connsiteX42" fmla="*/ 284352 w 362309"/>
              <a:gd name="connsiteY42" fmla="*/ 267489 h 361971"/>
              <a:gd name="connsiteX43" fmla="*/ 284352 w 362309"/>
              <a:gd name="connsiteY43" fmla="*/ 267489 h 361971"/>
              <a:gd name="connsiteX44" fmla="*/ 284352 w 362309"/>
              <a:gd name="connsiteY44" fmla="*/ 26748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309" y="80438"/>
                  <a:pt x="281157" y="0"/>
                  <a:pt x="181474" y="0"/>
                </a:cubicBezTo>
                <a:close/>
                <a:moveTo>
                  <a:pt x="284352" y="267489"/>
                </a:moveTo>
                <a:cubicBezTo>
                  <a:pt x="283074" y="269404"/>
                  <a:pt x="281157" y="270681"/>
                  <a:pt x="278601" y="270681"/>
                </a:cubicBezTo>
                <a:cubicBezTo>
                  <a:pt x="277323" y="270681"/>
                  <a:pt x="276045" y="270681"/>
                  <a:pt x="275406" y="270043"/>
                </a:cubicBezTo>
                <a:cubicBezTo>
                  <a:pt x="263904" y="263659"/>
                  <a:pt x="250485" y="259828"/>
                  <a:pt x="237705" y="259828"/>
                </a:cubicBezTo>
                <a:cubicBezTo>
                  <a:pt x="231955" y="259828"/>
                  <a:pt x="226204" y="258551"/>
                  <a:pt x="221092" y="256636"/>
                </a:cubicBezTo>
                <a:cubicBezTo>
                  <a:pt x="212146" y="254083"/>
                  <a:pt x="205117" y="247699"/>
                  <a:pt x="201922" y="239399"/>
                </a:cubicBezTo>
                <a:cubicBezTo>
                  <a:pt x="200644" y="234931"/>
                  <a:pt x="201283" y="229823"/>
                  <a:pt x="203839" y="225993"/>
                </a:cubicBezTo>
                <a:cubicBezTo>
                  <a:pt x="212785" y="211948"/>
                  <a:pt x="219814" y="195988"/>
                  <a:pt x="223648" y="179390"/>
                </a:cubicBezTo>
                <a:cubicBezTo>
                  <a:pt x="230038" y="152577"/>
                  <a:pt x="228120" y="132787"/>
                  <a:pt x="217897" y="120019"/>
                </a:cubicBezTo>
                <a:cubicBezTo>
                  <a:pt x="205117" y="104059"/>
                  <a:pt x="182113" y="104059"/>
                  <a:pt x="181474" y="104059"/>
                </a:cubicBezTo>
                <a:lnTo>
                  <a:pt x="180835" y="104059"/>
                </a:lnTo>
                <a:cubicBezTo>
                  <a:pt x="166777" y="104059"/>
                  <a:pt x="153997" y="109805"/>
                  <a:pt x="144412" y="120019"/>
                </a:cubicBezTo>
                <a:cubicBezTo>
                  <a:pt x="134189" y="132787"/>
                  <a:pt x="132271" y="152577"/>
                  <a:pt x="138661" y="179390"/>
                </a:cubicBezTo>
                <a:cubicBezTo>
                  <a:pt x="142496" y="195988"/>
                  <a:pt x="149524" y="211310"/>
                  <a:pt x="158470" y="225993"/>
                </a:cubicBezTo>
                <a:cubicBezTo>
                  <a:pt x="161026" y="229823"/>
                  <a:pt x="162304" y="234931"/>
                  <a:pt x="160387" y="239399"/>
                </a:cubicBezTo>
                <a:cubicBezTo>
                  <a:pt x="157192" y="247699"/>
                  <a:pt x="150164" y="254083"/>
                  <a:pt x="141217" y="256636"/>
                </a:cubicBezTo>
                <a:cubicBezTo>
                  <a:pt x="136106" y="258551"/>
                  <a:pt x="130354" y="259190"/>
                  <a:pt x="124604" y="259828"/>
                </a:cubicBezTo>
                <a:cubicBezTo>
                  <a:pt x="111185" y="260467"/>
                  <a:pt x="97766" y="263659"/>
                  <a:pt x="86264" y="270043"/>
                </a:cubicBezTo>
                <a:cubicBezTo>
                  <a:pt x="85625" y="270681"/>
                  <a:pt x="84347" y="270681"/>
                  <a:pt x="83069" y="270681"/>
                </a:cubicBezTo>
                <a:cubicBezTo>
                  <a:pt x="79235" y="270681"/>
                  <a:pt x="76679" y="268127"/>
                  <a:pt x="76679" y="264297"/>
                </a:cubicBezTo>
                <a:cubicBezTo>
                  <a:pt x="76679" y="261743"/>
                  <a:pt x="77957" y="259828"/>
                  <a:pt x="79874" y="258551"/>
                </a:cubicBezTo>
                <a:cubicBezTo>
                  <a:pt x="93293" y="250891"/>
                  <a:pt x="107990" y="247060"/>
                  <a:pt x="123326" y="246422"/>
                </a:cubicBezTo>
                <a:cubicBezTo>
                  <a:pt x="127799" y="246422"/>
                  <a:pt x="132271" y="245783"/>
                  <a:pt x="136744" y="244507"/>
                </a:cubicBezTo>
                <a:cubicBezTo>
                  <a:pt x="141856" y="243230"/>
                  <a:pt x="145690" y="240038"/>
                  <a:pt x="148246" y="235569"/>
                </a:cubicBezTo>
                <a:cubicBezTo>
                  <a:pt x="148885" y="234931"/>
                  <a:pt x="148885" y="234292"/>
                  <a:pt x="148246" y="233654"/>
                </a:cubicBezTo>
                <a:cubicBezTo>
                  <a:pt x="138022" y="217694"/>
                  <a:pt x="130994" y="200457"/>
                  <a:pt x="126521" y="182582"/>
                </a:cubicBezTo>
                <a:cubicBezTo>
                  <a:pt x="118853" y="151939"/>
                  <a:pt x="122048" y="128318"/>
                  <a:pt x="134828" y="112358"/>
                </a:cubicBezTo>
                <a:cubicBezTo>
                  <a:pt x="152080" y="91291"/>
                  <a:pt x="180196" y="91930"/>
                  <a:pt x="181474" y="91930"/>
                </a:cubicBezTo>
                <a:lnTo>
                  <a:pt x="181474" y="91930"/>
                </a:lnTo>
                <a:cubicBezTo>
                  <a:pt x="199366" y="91930"/>
                  <a:pt x="215980" y="99590"/>
                  <a:pt x="227482" y="112358"/>
                </a:cubicBezTo>
                <a:cubicBezTo>
                  <a:pt x="240261" y="128318"/>
                  <a:pt x="243456" y="151939"/>
                  <a:pt x="235788" y="182582"/>
                </a:cubicBezTo>
                <a:cubicBezTo>
                  <a:pt x="231315" y="200457"/>
                  <a:pt x="224287" y="217694"/>
                  <a:pt x="214063" y="233654"/>
                </a:cubicBezTo>
                <a:cubicBezTo>
                  <a:pt x="213424" y="234292"/>
                  <a:pt x="213424" y="234931"/>
                  <a:pt x="214063" y="235569"/>
                </a:cubicBezTo>
                <a:cubicBezTo>
                  <a:pt x="216619" y="240038"/>
                  <a:pt x="220453" y="243230"/>
                  <a:pt x="225565" y="244507"/>
                </a:cubicBezTo>
                <a:cubicBezTo>
                  <a:pt x="230038" y="245783"/>
                  <a:pt x="234510" y="246422"/>
                  <a:pt x="238983" y="246422"/>
                </a:cubicBezTo>
                <a:cubicBezTo>
                  <a:pt x="254319" y="247060"/>
                  <a:pt x="269016" y="251529"/>
                  <a:pt x="282435" y="258551"/>
                </a:cubicBezTo>
                <a:cubicBezTo>
                  <a:pt x="284991" y="260467"/>
                  <a:pt x="285630" y="264297"/>
                  <a:pt x="284352" y="267489"/>
                </a:cubicBezTo>
                <a:cubicBezTo>
                  <a:pt x="284352" y="267489"/>
                  <a:pt x="284352" y="267489"/>
                  <a:pt x="284352" y="267489"/>
                </a:cubicBezTo>
                <a:lnTo>
                  <a:pt x="284352" y="267489"/>
                </a:lnTo>
                <a:close/>
              </a:path>
            </a:pathLst>
          </a:custGeom>
          <a:solidFill>
            <a:schemeClr val="accent6">
              <a:lumMod val="60000"/>
              <a:lumOff val="40000"/>
            </a:schemeClr>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59" name="正方形/長方形 58">
            <a:extLst>
              <a:ext uri="{FF2B5EF4-FFF2-40B4-BE49-F238E27FC236}">
                <a16:creationId xmlns:a16="http://schemas.microsoft.com/office/drawing/2014/main" id="{E2200F3F-41C2-E26F-83A8-8DDCBEAD0DF7}"/>
              </a:ext>
            </a:extLst>
          </p:cNvPr>
          <p:cNvSpPr/>
          <p:nvPr/>
        </p:nvSpPr>
        <p:spPr>
          <a:xfrm>
            <a:off x="1488998" y="3842007"/>
            <a:ext cx="1327432" cy="3625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サス室</a:t>
            </a:r>
          </a:p>
        </p:txBody>
      </p:sp>
      <p:sp>
        <p:nvSpPr>
          <p:cNvPr id="61" name="Graphic 4">
            <a:extLst>
              <a:ext uri="{FF2B5EF4-FFF2-40B4-BE49-F238E27FC236}">
                <a16:creationId xmlns:a16="http://schemas.microsoft.com/office/drawing/2014/main" id="{249B4626-B2FA-D420-319C-BB8808A015EA}"/>
              </a:ext>
            </a:extLst>
          </p:cNvPr>
          <p:cNvSpPr>
            <a:spLocks noChangeAspect="1"/>
          </p:cNvSpPr>
          <p:nvPr/>
        </p:nvSpPr>
        <p:spPr bwMode="gray">
          <a:xfrm>
            <a:off x="3111086" y="2877221"/>
            <a:ext cx="471035" cy="471035"/>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84352 w 362309"/>
              <a:gd name="connsiteY6" fmla="*/ 267489 h 361971"/>
              <a:gd name="connsiteX7" fmla="*/ 278601 w 362309"/>
              <a:gd name="connsiteY7" fmla="*/ 270681 h 361971"/>
              <a:gd name="connsiteX8" fmla="*/ 275406 w 362309"/>
              <a:gd name="connsiteY8" fmla="*/ 270043 h 361971"/>
              <a:gd name="connsiteX9" fmla="*/ 237705 w 362309"/>
              <a:gd name="connsiteY9" fmla="*/ 259828 h 361971"/>
              <a:gd name="connsiteX10" fmla="*/ 221092 w 362309"/>
              <a:gd name="connsiteY10" fmla="*/ 256636 h 361971"/>
              <a:gd name="connsiteX11" fmla="*/ 201922 w 362309"/>
              <a:gd name="connsiteY11" fmla="*/ 239399 h 361971"/>
              <a:gd name="connsiteX12" fmla="*/ 203839 w 362309"/>
              <a:gd name="connsiteY12" fmla="*/ 225993 h 361971"/>
              <a:gd name="connsiteX13" fmla="*/ 223648 w 362309"/>
              <a:gd name="connsiteY13" fmla="*/ 179390 h 361971"/>
              <a:gd name="connsiteX14" fmla="*/ 217897 w 362309"/>
              <a:gd name="connsiteY14" fmla="*/ 120019 h 361971"/>
              <a:gd name="connsiteX15" fmla="*/ 181474 w 362309"/>
              <a:gd name="connsiteY15" fmla="*/ 104059 h 361971"/>
              <a:gd name="connsiteX16" fmla="*/ 180835 w 362309"/>
              <a:gd name="connsiteY16" fmla="*/ 104059 h 361971"/>
              <a:gd name="connsiteX17" fmla="*/ 144412 w 362309"/>
              <a:gd name="connsiteY17" fmla="*/ 120019 h 361971"/>
              <a:gd name="connsiteX18" fmla="*/ 138661 w 362309"/>
              <a:gd name="connsiteY18" fmla="*/ 179390 h 361971"/>
              <a:gd name="connsiteX19" fmla="*/ 158470 w 362309"/>
              <a:gd name="connsiteY19" fmla="*/ 225993 h 361971"/>
              <a:gd name="connsiteX20" fmla="*/ 160387 w 362309"/>
              <a:gd name="connsiteY20" fmla="*/ 239399 h 361971"/>
              <a:gd name="connsiteX21" fmla="*/ 141217 w 362309"/>
              <a:gd name="connsiteY21" fmla="*/ 256636 h 361971"/>
              <a:gd name="connsiteX22" fmla="*/ 124604 w 362309"/>
              <a:gd name="connsiteY22" fmla="*/ 259828 h 361971"/>
              <a:gd name="connsiteX23" fmla="*/ 86264 w 362309"/>
              <a:gd name="connsiteY23" fmla="*/ 270043 h 361971"/>
              <a:gd name="connsiteX24" fmla="*/ 83069 w 362309"/>
              <a:gd name="connsiteY24" fmla="*/ 270681 h 361971"/>
              <a:gd name="connsiteX25" fmla="*/ 76679 w 362309"/>
              <a:gd name="connsiteY25" fmla="*/ 264297 h 361971"/>
              <a:gd name="connsiteX26" fmla="*/ 79874 w 362309"/>
              <a:gd name="connsiteY26" fmla="*/ 258551 h 361971"/>
              <a:gd name="connsiteX27" fmla="*/ 123326 w 362309"/>
              <a:gd name="connsiteY27" fmla="*/ 246422 h 361971"/>
              <a:gd name="connsiteX28" fmla="*/ 136744 w 362309"/>
              <a:gd name="connsiteY28" fmla="*/ 244507 h 361971"/>
              <a:gd name="connsiteX29" fmla="*/ 148246 w 362309"/>
              <a:gd name="connsiteY29" fmla="*/ 235569 h 361971"/>
              <a:gd name="connsiteX30" fmla="*/ 148246 w 362309"/>
              <a:gd name="connsiteY30" fmla="*/ 233654 h 361971"/>
              <a:gd name="connsiteX31" fmla="*/ 126521 w 362309"/>
              <a:gd name="connsiteY31" fmla="*/ 182582 h 361971"/>
              <a:gd name="connsiteX32" fmla="*/ 134828 w 362309"/>
              <a:gd name="connsiteY32" fmla="*/ 112358 h 361971"/>
              <a:gd name="connsiteX33" fmla="*/ 181474 w 362309"/>
              <a:gd name="connsiteY33" fmla="*/ 91930 h 361971"/>
              <a:gd name="connsiteX34" fmla="*/ 181474 w 362309"/>
              <a:gd name="connsiteY34" fmla="*/ 91930 h 361971"/>
              <a:gd name="connsiteX35" fmla="*/ 227482 w 362309"/>
              <a:gd name="connsiteY35" fmla="*/ 112358 h 361971"/>
              <a:gd name="connsiteX36" fmla="*/ 235788 w 362309"/>
              <a:gd name="connsiteY36" fmla="*/ 182582 h 361971"/>
              <a:gd name="connsiteX37" fmla="*/ 214063 w 362309"/>
              <a:gd name="connsiteY37" fmla="*/ 233654 h 361971"/>
              <a:gd name="connsiteX38" fmla="*/ 214063 w 362309"/>
              <a:gd name="connsiteY38" fmla="*/ 235569 h 361971"/>
              <a:gd name="connsiteX39" fmla="*/ 225565 w 362309"/>
              <a:gd name="connsiteY39" fmla="*/ 244507 h 361971"/>
              <a:gd name="connsiteX40" fmla="*/ 238983 w 362309"/>
              <a:gd name="connsiteY40" fmla="*/ 246422 h 361971"/>
              <a:gd name="connsiteX41" fmla="*/ 282435 w 362309"/>
              <a:gd name="connsiteY41" fmla="*/ 258551 h 361971"/>
              <a:gd name="connsiteX42" fmla="*/ 284352 w 362309"/>
              <a:gd name="connsiteY42" fmla="*/ 267489 h 361971"/>
              <a:gd name="connsiteX43" fmla="*/ 284352 w 362309"/>
              <a:gd name="connsiteY43" fmla="*/ 267489 h 361971"/>
              <a:gd name="connsiteX44" fmla="*/ 284352 w 362309"/>
              <a:gd name="connsiteY44" fmla="*/ 26748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309" y="80438"/>
                  <a:pt x="281157" y="0"/>
                  <a:pt x="181474" y="0"/>
                </a:cubicBezTo>
                <a:close/>
                <a:moveTo>
                  <a:pt x="284352" y="267489"/>
                </a:moveTo>
                <a:cubicBezTo>
                  <a:pt x="283074" y="269404"/>
                  <a:pt x="281157" y="270681"/>
                  <a:pt x="278601" y="270681"/>
                </a:cubicBezTo>
                <a:cubicBezTo>
                  <a:pt x="277323" y="270681"/>
                  <a:pt x="276045" y="270681"/>
                  <a:pt x="275406" y="270043"/>
                </a:cubicBezTo>
                <a:cubicBezTo>
                  <a:pt x="263904" y="263659"/>
                  <a:pt x="250485" y="259828"/>
                  <a:pt x="237705" y="259828"/>
                </a:cubicBezTo>
                <a:cubicBezTo>
                  <a:pt x="231955" y="259828"/>
                  <a:pt x="226204" y="258551"/>
                  <a:pt x="221092" y="256636"/>
                </a:cubicBezTo>
                <a:cubicBezTo>
                  <a:pt x="212146" y="254083"/>
                  <a:pt x="205117" y="247699"/>
                  <a:pt x="201922" y="239399"/>
                </a:cubicBezTo>
                <a:cubicBezTo>
                  <a:pt x="200644" y="234931"/>
                  <a:pt x="201283" y="229823"/>
                  <a:pt x="203839" y="225993"/>
                </a:cubicBezTo>
                <a:cubicBezTo>
                  <a:pt x="212785" y="211948"/>
                  <a:pt x="219814" y="195988"/>
                  <a:pt x="223648" y="179390"/>
                </a:cubicBezTo>
                <a:cubicBezTo>
                  <a:pt x="230038" y="152577"/>
                  <a:pt x="228120" y="132787"/>
                  <a:pt x="217897" y="120019"/>
                </a:cubicBezTo>
                <a:cubicBezTo>
                  <a:pt x="205117" y="104059"/>
                  <a:pt x="182113" y="104059"/>
                  <a:pt x="181474" y="104059"/>
                </a:cubicBezTo>
                <a:lnTo>
                  <a:pt x="180835" y="104059"/>
                </a:lnTo>
                <a:cubicBezTo>
                  <a:pt x="166777" y="104059"/>
                  <a:pt x="153997" y="109805"/>
                  <a:pt x="144412" y="120019"/>
                </a:cubicBezTo>
                <a:cubicBezTo>
                  <a:pt x="134189" y="132787"/>
                  <a:pt x="132271" y="152577"/>
                  <a:pt x="138661" y="179390"/>
                </a:cubicBezTo>
                <a:cubicBezTo>
                  <a:pt x="142496" y="195988"/>
                  <a:pt x="149524" y="211310"/>
                  <a:pt x="158470" y="225993"/>
                </a:cubicBezTo>
                <a:cubicBezTo>
                  <a:pt x="161026" y="229823"/>
                  <a:pt x="162304" y="234931"/>
                  <a:pt x="160387" y="239399"/>
                </a:cubicBezTo>
                <a:cubicBezTo>
                  <a:pt x="157192" y="247699"/>
                  <a:pt x="150164" y="254083"/>
                  <a:pt x="141217" y="256636"/>
                </a:cubicBezTo>
                <a:cubicBezTo>
                  <a:pt x="136106" y="258551"/>
                  <a:pt x="130354" y="259190"/>
                  <a:pt x="124604" y="259828"/>
                </a:cubicBezTo>
                <a:cubicBezTo>
                  <a:pt x="111185" y="260467"/>
                  <a:pt x="97766" y="263659"/>
                  <a:pt x="86264" y="270043"/>
                </a:cubicBezTo>
                <a:cubicBezTo>
                  <a:pt x="85625" y="270681"/>
                  <a:pt x="84347" y="270681"/>
                  <a:pt x="83069" y="270681"/>
                </a:cubicBezTo>
                <a:cubicBezTo>
                  <a:pt x="79235" y="270681"/>
                  <a:pt x="76679" y="268127"/>
                  <a:pt x="76679" y="264297"/>
                </a:cubicBezTo>
                <a:cubicBezTo>
                  <a:pt x="76679" y="261743"/>
                  <a:pt x="77957" y="259828"/>
                  <a:pt x="79874" y="258551"/>
                </a:cubicBezTo>
                <a:cubicBezTo>
                  <a:pt x="93293" y="250891"/>
                  <a:pt x="107990" y="247060"/>
                  <a:pt x="123326" y="246422"/>
                </a:cubicBezTo>
                <a:cubicBezTo>
                  <a:pt x="127799" y="246422"/>
                  <a:pt x="132271" y="245783"/>
                  <a:pt x="136744" y="244507"/>
                </a:cubicBezTo>
                <a:cubicBezTo>
                  <a:pt x="141856" y="243230"/>
                  <a:pt x="145690" y="240038"/>
                  <a:pt x="148246" y="235569"/>
                </a:cubicBezTo>
                <a:cubicBezTo>
                  <a:pt x="148885" y="234931"/>
                  <a:pt x="148885" y="234292"/>
                  <a:pt x="148246" y="233654"/>
                </a:cubicBezTo>
                <a:cubicBezTo>
                  <a:pt x="138022" y="217694"/>
                  <a:pt x="130994" y="200457"/>
                  <a:pt x="126521" y="182582"/>
                </a:cubicBezTo>
                <a:cubicBezTo>
                  <a:pt x="118853" y="151939"/>
                  <a:pt x="122048" y="128318"/>
                  <a:pt x="134828" y="112358"/>
                </a:cubicBezTo>
                <a:cubicBezTo>
                  <a:pt x="152080" y="91291"/>
                  <a:pt x="180196" y="91930"/>
                  <a:pt x="181474" y="91930"/>
                </a:cubicBezTo>
                <a:lnTo>
                  <a:pt x="181474" y="91930"/>
                </a:lnTo>
                <a:cubicBezTo>
                  <a:pt x="199366" y="91930"/>
                  <a:pt x="215980" y="99590"/>
                  <a:pt x="227482" y="112358"/>
                </a:cubicBezTo>
                <a:cubicBezTo>
                  <a:pt x="240261" y="128318"/>
                  <a:pt x="243456" y="151939"/>
                  <a:pt x="235788" y="182582"/>
                </a:cubicBezTo>
                <a:cubicBezTo>
                  <a:pt x="231315" y="200457"/>
                  <a:pt x="224287" y="217694"/>
                  <a:pt x="214063" y="233654"/>
                </a:cubicBezTo>
                <a:cubicBezTo>
                  <a:pt x="213424" y="234292"/>
                  <a:pt x="213424" y="234931"/>
                  <a:pt x="214063" y="235569"/>
                </a:cubicBezTo>
                <a:cubicBezTo>
                  <a:pt x="216619" y="240038"/>
                  <a:pt x="220453" y="243230"/>
                  <a:pt x="225565" y="244507"/>
                </a:cubicBezTo>
                <a:cubicBezTo>
                  <a:pt x="230038" y="245783"/>
                  <a:pt x="234510" y="246422"/>
                  <a:pt x="238983" y="246422"/>
                </a:cubicBezTo>
                <a:cubicBezTo>
                  <a:pt x="254319" y="247060"/>
                  <a:pt x="269016" y="251529"/>
                  <a:pt x="282435" y="258551"/>
                </a:cubicBezTo>
                <a:cubicBezTo>
                  <a:pt x="284991" y="260467"/>
                  <a:pt x="285630" y="264297"/>
                  <a:pt x="284352" y="267489"/>
                </a:cubicBezTo>
                <a:cubicBezTo>
                  <a:pt x="284352" y="267489"/>
                  <a:pt x="284352" y="267489"/>
                  <a:pt x="284352" y="267489"/>
                </a:cubicBezTo>
                <a:lnTo>
                  <a:pt x="284352" y="267489"/>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bg1"/>
              </a:solidFill>
              <a:latin typeface="Meiryo UI" panose="020B0604030504040204" pitchFamily="50" charset="-128"/>
              <a:ea typeface="Meiryo UI" panose="020B0604030504040204" pitchFamily="50" charset="-128"/>
              <a:sym typeface="+mn-lt"/>
            </a:endParaRPr>
          </a:p>
        </p:txBody>
      </p:sp>
      <p:grpSp>
        <p:nvGrpSpPr>
          <p:cNvPr id="62" name="Graphic 4">
            <a:extLst>
              <a:ext uri="{FF2B5EF4-FFF2-40B4-BE49-F238E27FC236}">
                <a16:creationId xmlns:a16="http://schemas.microsoft.com/office/drawing/2014/main" id="{36F4C56E-36E1-4E31-C0FC-9D11B507250C}"/>
              </a:ext>
            </a:extLst>
          </p:cNvPr>
          <p:cNvGrpSpPr>
            <a:grpSpLocks noChangeAspect="1"/>
          </p:cNvGrpSpPr>
          <p:nvPr/>
        </p:nvGrpSpPr>
        <p:grpSpPr bwMode="gray">
          <a:xfrm>
            <a:off x="571490" y="2061452"/>
            <a:ext cx="471035" cy="471035"/>
            <a:chOff x="905454" y="918179"/>
            <a:chExt cx="362309" cy="361971"/>
          </a:xfrm>
          <a:solidFill>
            <a:srgbClr val="0076A8"/>
          </a:solidFill>
        </p:grpSpPr>
        <p:sp>
          <p:nvSpPr>
            <p:cNvPr id="63" name="Graphic 4">
              <a:extLst>
                <a:ext uri="{FF2B5EF4-FFF2-40B4-BE49-F238E27FC236}">
                  <a16:creationId xmlns:a16="http://schemas.microsoft.com/office/drawing/2014/main" id="{8D37D6C2-9295-65DC-208C-3CAAFC39077F}"/>
                </a:ext>
              </a:extLst>
            </p:cNvPr>
            <p:cNvSpPr/>
            <p:nvPr/>
          </p:nvSpPr>
          <p:spPr bwMode="gray">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89464 w 362309"/>
                <a:gd name="connsiteY6" fmla="*/ 265574 h 361971"/>
                <a:gd name="connsiteX7" fmla="*/ 283074 w 362309"/>
                <a:gd name="connsiteY7" fmla="*/ 271958 h 361971"/>
                <a:gd name="connsiteX8" fmla="*/ 79235 w 362309"/>
                <a:gd name="connsiteY8" fmla="*/ 271958 h 361971"/>
                <a:gd name="connsiteX9" fmla="*/ 72845 w 362309"/>
                <a:gd name="connsiteY9" fmla="*/ 265574 h 361971"/>
                <a:gd name="connsiteX10" fmla="*/ 72845 w 362309"/>
                <a:gd name="connsiteY10" fmla="*/ 189604 h 361971"/>
                <a:gd name="connsiteX11" fmla="*/ 76679 w 362309"/>
                <a:gd name="connsiteY11" fmla="*/ 183859 h 361971"/>
                <a:gd name="connsiteX12" fmla="*/ 88181 w 362309"/>
                <a:gd name="connsiteY12" fmla="*/ 178752 h 361971"/>
                <a:gd name="connsiteX13" fmla="*/ 96488 w 362309"/>
                <a:gd name="connsiteY13" fmla="*/ 95121 h 361971"/>
                <a:gd name="connsiteX14" fmla="*/ 102878 w 362309"/>
                <a:gd name="connsiteY14" fmla="*/ 89376 h 361971"/>
                <a:gd name="connsiteX15" fmla="*/ 130994 w 362309"/>
                <a:gd name="connsiteY15" fmla="*/ 89376 h 361971"/>
                <a:gd name="connsiteX16" fmla="*/ 137384 w 362309"/>
                <a:gd name="connsiteY16" fmla="*/ 95121 h 361971"/>
                <a:gd name="connsiteX17" fmla="*/ 146330 w 362309"/>
                <a:gd name="connsiteY17" fmla="*/ 176836 h 361971"/>
                <a:gd name="connsiteX18" fmla="*/ 151441 w 362309"/>
                <a:gd name="connsiteY18" fmla="*/ 123849 h 361971"/>
                <a:gd name="connsiteX19" fmla="*/ 157831 w 362309"/>
                <a:gd name="connsiteY19" fmla="*/ 118104 h 361971"/>
                <a:gd name="connsiteX20" fmla="*/ 181474 w 362309"/>
                <a:gd name="connsiteY20" fmla="*/ 118104 h 361971"/>
                <a:gd name="connsiteX21" fmla="*/ 187864 w 362309"/>
                <a:gd name="connsiteY21" fmla="*/ 123849 h 361971"/>
                <a:gd name="connsiteX22" fmla="*/ 193615 w 362309"/>
                <a:gd name="connsiteY22" fmla="*/ 183859 h 361971"/>
                <a:gd name="connsiteX23" fmla="*/ 196810 w 362309"/>
                <a:gd name="connsiteY23" fmla="*/ 183859 h 361971"/>
                <a:gd name="connsiteX24" fmla="*/ 196810 w 362309"/>
                <a:gd name="connsiteY24" fmla="*/ 172368 h 361971"/>
                <a:gd name="connsiteX25" fmla="*/ 203200 w 362309"/>
                <a:gd name="connsiteY25" fmla="*/ 165984 h 361971"/>
                <a:gd name="connsiteX26" fmla="*/ 232594 w 362309"/>
                <a:gd name="connsiteY26" fmla="*/ 165984 h 361971"/>
                <a:gd name="connsiteX27" fmla="*/ 232594 w 362309"/>
                <a:gd name="connsiteY27" fmla="*/ 153216 h 361971"/>
                <a:gd name="connsiteX28" fmla="*/ 228760 w 362309"/>
                <a:gd name="connsiteY28" fmla="*/ 153216 h 361971"/>
                <a:gd name="connsiteX29" fmla="*/ 222370 w 362309"/>
                <a:gd name="connsiteY29" fmla="*/ 146832 h 361971"/>
                <a:gd name="connsiteX30" fmla="*/ 228760 w 362309"/>
                <a:gd name="connsiteY30" fmla="*/ 140448 h 361971"/>
                <a:gd name="connsiteX31" fmla="*/ 278601 w 362309"/>
                <a:gd name="connsiteY31" fmla="*/ 140448 h 361971"/>
                <a:gd name="connsiteX32" fmla="*/ 284991 w 362309"/>
                <a:gd name="connsiteY32" fmla="*/ 146832 h 361971"/>
                <a:gd name="connsiteX33" fmla="*/ 278601 w 362309"/>
                <a:gd name="connsiteY33" fmla="*/ 153216 h 361971"/>
                <a:gd name="connsiteX34" fmla="*/ 272211 w 362309"/>
                <a:gd name="connsiteY34" fmla="*/ 153216 h 361971"/>
                <a:gd name="connsiteX35" fmla="*/ 272211 w 362309"/>
                <a:gd name="connsiteY35" fmla="*/ 172368 h 361971"/>
                <a:gd name="connsiteX36" fmla="*/ 283713 w 362309"/>
                <a:gd name="connsiteY36" fmla="*/ 172368 h 361971"/>
                <a:gd name="connsiteX37" fmla="*/ 290103 w 362309"/>
                <a:gd name="connsiteY37" fmla="*/ 178752 h 361971"/>
                <a:gd name="connsiteX38" fmla="*/ 290103 w 362309"/>
                <a:gd name="connsiteY38" fmla="*/ 26557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89464" y="265574"/>
                  </a:moveTo>
                  <a:cubicBezTo>
                    <a:pt x="289464" y="269404"/>
                    <a:pt x="286908" y="271958"/>
                    <a:pt x="283074" y="271958"/>
                  </a:cubicBezTo>
                  <a:lnTo>
                    <a:pt x="79235" y="271958"/>
                  </a:lnTo>
                  <a:cubicBezTo>
                    <a:pt x="75401" y="271958"/>
                    <a:pt x="72845" y="269404"/>
                    <a:pt x="72845" y="265574"/>
                  </a:cubicBezTo>
                  <a:lnTo>
                    <a:pt x="72845" y="189604"/>
                  </a:lnTo>
                  <a:cubicBezTo>
                    <a:pt x="72845" y="187051"/>
                    <a:pt x="74123" y="184497"/>
                    <a:pt x="76679" y="183859"/>
                  </a:cubicBezTo>
                  <a:lnTo>
                    <a:pt x="88181" y="178752"/>
                  </a:lnTo>
                  <a:lnTo>
                    <a:pt x="96488" y="95121"/>
                  </a:lnTo>
                  <a:cubicBezTo>
                    <a:pt x="97127" y="91929"/>
                    <a:pt x="99683" y="89376"/>
                    <a:pt x="102878" y="89376"/>
                  </a:cubicBezTo>
                  <a:lnTo>
                    <a:pt x="130994" y="89376"/>
                  </a:lnTo>
                  <a:cubicBezTo>
                    <a:pt x="134189" y="89376"/>
                    <a:pt x="136745" y="91929"/>
                    <a:pt x="137384" y="95121"/>
                  </a:cubicBezTo>
                  <a:lnTo>
                    <a:pt x="146330" y="176836"/>
                  </a:lnTo>
                  <a:lnTo>
                    <a:pt x="151441" y="123849"/>
                  </a:lnTo>
                  <a:cubicBezTo>
                    <a:pt x="151441" y="120657"/>
                    <a:pt x="154636" y="118104"/>
                    <a:pt x="157831" y="118104"/>
                  </a:cubicBezTo>
                  <a:lnTo>
                    <a:pt x="181474" y="118104"/>
                  </a:lnTo>
                  <a:cubicBezTo>
                    <a:pt x="184669" y="118104"/>
                    <a:pt x="187225" y="120657"/>
                    <a:pt x="187864" y="123849"/>
                  </a:cubicBezTo>
                  <a:lnTo>
                    <a:pt x="193615" y="183859"/>
                  </a:lnTo>
                  <a:lnTo>
                    <a:pt x="196810" y="183859"/>
                  </a:lnTo>
                  <a:lnTo>
                    <a:pt x="196810" y="172368"/>
                  </a:lnTo>
                  <a:cubicBezTo>
                    <a:pt x="196810" y="168537"/>
                    <a:pt x="199366" y="165984"/>
                    <a:pt x="203200" y="165984"/>
                  </a:cubicBezTo>
                  <a:lnTo>
                    <a:pt x="232594" y="165984"/>
                  </a:lnTo>
                  <a:lnTo>
                    <a:pt x="232594" y="153216"/>
                  </a:lnTo>
                  <a:lnTo>
                    <a:pt x="228760" y="153216"/>
                  </a:lnTo>
                  <a:cubicBezTo>
                    <a:pt x="224926" y="153216"/>
                    <a:pt x="222370" y="150662"/>
                    <a:pt x="222370" y="146832"/>
                  </a:cubicBezTo>
                  <a:cubicBezTo>
                    <a:pt x="222370" y="143001"/>
                    <a:pt x="224926" y="140448"/>
                    <a:pt x="228760" y="140448"/>
                  </a:cubicBezTo>
                  <a:lnTo>
                    <a:pt x="278601" y="140448"/>
                  </a:lnTo>
                  <a:cubicBezTo>
                    <a:pt x="282435" y="140448"/>
                    <a:pt x="284991" y="143001"/>
                    <a:pt x="284991" y="146832"/>
                  </a:cubicBezTo>
                  <a:cubicBezTo>
                    <a:pt x="284991" y="150662"/>
                    <a:pt x="282435" y="153216"/>
                    <a:pt x="278601" y="153216"/>
                  </a:cubicBezTo>
                  <a:lnTo>
                    <a:pt x="272211" y="153216"/>
                  </a:lnTo>
                  <a:lnTo>
                    <a:pt x="272211" y="172368"/>
                  </a:lnTo>
                  <a:lnTo>
                    <a:pt x="283713" y="172368"/>
                  </a:lnTo>
                  <a:cubicBezTo>
                    <a:pt x="287547" y="172368"/>
                    <a:pt x="290103" y="174921"/>
                    <a:pt x="290103" y="178752"/>
                  </a:cubicBezTo>
                  <a:lnTo>
                    <a:pt x="290103" y="265574"/>
                  </a:lnTo>
                  <a:close/>
                </a:path>
              </a:pathLst>
            </a:custGeom>
            <a:solidFill>
              <a:srgbClr val="0076A8"/>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64" name="Graphic 4">
              <a:extLst>
                <a:ext uri="{FF2B5EF4-FFF2-40B4-BE49-F238E27FC236}">
                  <a16:creationId xmlns:a16="http://schemas.microsoft.com/office/drawing/2014/main" id="{58F88EF7-2E4D-1AC3-8EC6-4D63BE51D6EE}"/>
                </a:ext>
              </a:extLst>
            </p:cNvPr>
            <p:cNvSpPr/>
            <p:nvPr/>
          </p:nvSpPr>
          <p:spPr bwMode="gray">
            <a:xfrm>
              <a:off x="991079" y="1020961"/>
              <a:ext cx="191059" cy="156407"/>
            </a:xfrm>
            <a:custGeom>
              <a:avLst/>
              <a:gdLst>
                <a:gd name="connsiteX0" fmla="*/ 173806 w 191059"/>
                <a:gd name="connsiteY0" fmla="*/ 75969 h 156407"/>
                <a:gd name="connsiteX1" fmla="*/ 173806 w 191059"/>
                <a:gd name="connsiteY1" fmla="*/ 50433 h 156407"/>
                <a:gd name="connsiteX2" fmla="*/ 159748 w 191059"/>
                <a:gd name="connsiteY2" fmla="*/ 50433 h 156407"/>
                <a:gd name="connsiteX3" fmla="*/ 159748 w 191059"/>
                <a:gd name="connsiteY3" fmla="*/ 69585 h 156407"/>
                <a:gd name="connsiteX4" fmla="*/ 153358 w 191059"/>
                <a:gd name="connsiteY4" fmla="*/ 75969 h 156407"/>
                <a:gd name="connsiteX5" fmla="*/ 123965 w 191059"/>
                <a:gd name="connsiteY5" fmla="*/ 75969 h 156407"/>
                <a:gd name="connsiteX6" fmla="*/ 123965 w 191059"/>
                <a:gd name="connsiteY6" fmla="*/ 87461 h 156407"/>
                <a:gd name="connsiteX7" fmla="*/ 117575 w 191059"/>
                <a:gd name="connsiteY7" fmla="*/ 93845 h 156407"/>
                <a:gd name="connsiteX8" fmla="*/ 101600 w 191059"/>
                <a:gd name="connsiteY8" fmla="*/ 93845 h 156407"/>
                <a:gd name="connsiteX9" fmla="*/ 95210 w 191059"/>
                <a:gd name="connsiteY9" fmla="*/ 88099 h 156407"/>
                <a:gd name="connsiteX10" fmla="*/ 89459 w 191059"/>
                <a:gd name="connsiteY10" fmla="*/ 28089 h 156407"/>
                <a:gd name="connsiteX11" fmla="*/ 77318 w 191059"/>
                <a:gd name="connsiteY11" fmla="*/ 28089 h 156407"/>
                <a:gd name="connsiteX12" fmla="*/ 72206 w 191059"/>
                <a:gd name="connsiteY12" fmla="*/ 87461 h 156407"/>
                <a:gd name="connsiteX13" fmla="*/ 65816 w 191059"/>
                <a:gd name="connsiteY13" fmla="*/ 93206 h 156407"/>
                <a:gd name="connsiteX14" fmla="*/ 55592 w 191059"/>
                <a:gd name="connsiteY14" fmla="*/ 93206 h 156407"/>
                <a:gd name="connsiteX15" fmla="*/ 49202 w 191059"/>
                <a:gd name="connsiteY15" fmla="*/ 87461 h 156407"/>
                <a:gd name="connsiteX16" fmla="*/ 39618 w 191059"/>
                <a:gd name="connsiteY16" fmla="*/ 0 h 156407"/>
                <a:gd name="connsiteX17" fmla="*/ 23004 w 191059"/>
                <a:gd name="connsiteY17" fmla="*/ 0 h 156407"/>
                <a:gd name="connsiteX18" fmla="*/ 15336 w 191059"/>
                <a:gd name="connsiteY18" fmla="*/ 81077 h 156407"/>
                <a:gd name="connsiteX19" fmla="*/ 11502 w 191059"/>
                <a:gd name="connsiteY19" fmla="*/ 86184 h 156407"/>
                <a:gd name="connsiteX20" fmla="*/ 0 w 191059"/>
                <a:gd name="connsiteY20" fmla="*/ 91291 h 156407"/>
                <a:gd name="connsiteX21" fmla="*/ 0 w 191059"/>
                <a:gd name="connsiteY21" fmla="*/ 156408 h 156407"/>
                <a:gd name="connsiteX22" fmla="*/ 191059 w 191059"/>
                <a:gd name="connsiteY22" fmla="*/ 156408 h 156407"/>
                <a:gd name="connsiteX23" fmla="*/ 191059 w 191059"/>
                <a:gd name="connsiteY23" fmla="*/ 82353 h 156407"/>
                <a:gd name="connsiteX24" fmla="*/ 180196 w 191059"/>
                <a:gd name="connsiteY24" fmla="*/ 82353 h 156407"/>
                <a:gd name="connsiteX25" fmla="*/ 173806 w 191059"/>
                <a:gd name="connsiteY25" fmla="*/ 75969 h 156407"/>
                <a:gd name="connsiteX26" fmla="*/ 173806 w 191059"/>
                <a:gd name="connsiteY26" fmla="*/ 75969 h 156407"/>
                <a:gd name="connsiteX27" fmla="*/ 46646 w 191059"/>
                <a:gd name="connsiteY27" fmla="*/ 135979 h 156407"/>
                <a:gd name="connsiteX28" fmla="*/ 20448 w 191059"/>
                <a:gd name="connsiteY28" fmla="*/ 135979 h 156407"/>
                <a:gd name="connsiteX29" fmla="*/ 14058 w 191059"/>
                <a:gd name="connsiteY29" fmla="*/ 129595 h 156407"/>
                <a:gd name="connsiteX30" fmla="*/ 20448 w 191059"/>
                <a:gd name="connsiteY30" fmla="*/ 123211 h 156407"/>
                <a:gd name="connsiteX31" fmla="*/ 46646 w 191059"/>
                <a:gd name="connsiteY31" fmla="*/ 123211 h 156407"/>
                <a:gd name="connsiteX32" fmla="*/ 53036 w 191059"/>
                <a:gd name="connsiteY32" fmla="*/ 129595 h 156407"/>
                <a:gd name="connsiteX33" fmla="*/ 46646 w 191059"/>
                <a:gd name="connsiteY33" fmla="*/ 135979 h 156407"/>
                <a:gd name="connsiteX34" fmla="*/ 120770 w 191059"/>
                <a:gd name="connsiteY34" fmla="*/ 135979 h 156407"/>
                <a:gd name="connsiteX35" fmla="*/ 78596 w 191059"/>
                <a:gd name="connsiteY35" fmla="*/ 135979 h 156407"/>
                <a:gd name="connsiteX36" fmla="*/ 72206 w 191059"/>
                <a:gd name="connsiteY36" fmla="*/ 129595 h 156407"/>
                <a:gd name="connsiteX37" fmla="*/ 78596 w 191059"/>
                <a:gd name="connsiteY37" fmla="*/ 123211 h 156407"/>
                <a:gd name="connsiteX38" fmla="*/ 120770 w 191059"/>
                <a:gd name="connsiteY38" fmla="*/ 123211 h 156407"/>
                <a:gd name="connsiteX39" fmla="*/ 127160 w 191059"/>
                <a:gd name="connsiteY39" fmla="*/ 129595 h 156407"/>
                <a:gd name="connsiteX40" fmla="*/ 120770 w 191059"/>
                <a:gd name="connsiteY40" fmla="*/ 135979 h 156407"/>
                <a:gd name="connsiteX41" fmla="*/ 120770 w 191059"/>
                <a:gd name="connsiteY41" fmla="*/ 135979 h 156407"/>
                <a:gd name="connsiteX42" fmla="*/ 174445 w 191059"/>
                <a:gd name="connsiteY42" fmla="*/ 135979 h 156407"/>
                <a:gd name="connsiteX43" fmla="*/ 156553 w 191059"/>
                <a:gd name="connsiteY43" fmla="*/ 135979 h 156407"/>
                <a:gd name="connsiteX44" fmla="*/ 150164 w 191059"/>
                <a:gd name="connsiteY44" fmla="*/ 129595 h 156407"/>
                <a:gd name="connsiteX45" fmla="*/ 156553 w 191059"/>
                <a:gd name="connsiteY45" fmla="*/ 123211 h 156407"/>
                <a:gd name="connsiteX46" fmla="*/ 174445 w 191059"/>
                <a:gd name="connsiteY46" fmla="*/ 123211 h 156407"/>
                <a:gd name="connsiteX47" fmla="*/ 180835 w 191059"/>
                <a:gd name="connsiteY47" fmla="*/ 129595 h 156407"/>
                <a:gd name="connsiteX48" fmla="*/ 174445 w 191059"/>
                <a:gd name="connsiteY48" fmla="*/ 135979 h 156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1059" h="156407">
                  <a:moveTo>
                    <a:pt x="173806" y="75969"/>
                  </a:moveTo>
                  <a:lnTo>
                    <a:pt x="173806" y="50433"/>
                  </a:lnTo>
                  <a:lnTo>
                    <a:pt x="159748" y="50433"/>
                  </a:lnTo>
                  <a:lnTo>
                    <a:pt x="159748" y="69585"/>
                  </a:lnTo>
                  <a:cubicBezTo>
                    <a:pt x="159748" y="73416"/>
                    <a:pt x="157192" y="75969"/>
                    <a:pt x="153358" y="75969"/>
                  </a:cubicBezTo>
                  <a:lnTo>
                    <a:pt x="123965" y="75969"/>
                  </a:lnTo>
                  <a:lnTo>
                    <a:pt x="123965" y="87461"/>
                  </a:lnTo>
                  <a:cubicBezTo>
                    <a:pt x="123965" y="91291"/>
                    <a:pt x="121409" y="93845"/>
                    <a:pt x="117575" y="93845"/>
                  </a:cubicBezTo>
                  <a:lnTo>
                    <a:pt x="101600" y="93845"/>
                  </a:lnTo>
                  <a:cubicBezTo>
                    <a:pt x="98405" y="93845"/>
                    <a:pt x="95849" y="91291"/>
                    <a:pt x="95210" y="88099"/>
                  </a:cubicBezTo>
                  <a:lnTo>
                    <a:pt x="89459" y="28089"/>
                  </a:lnTo>
                  <a:lnTo>
                    <a:pt x="77318" y="28089"/>
                  </a:lnTo>
                  <a:lnTo>
                    <a:pt x="72206" y="87461"/>
                  </a:lnTo>
                  <a:cubicBezTo>
                    <a:pt x="72206" y="90653"/>
                    <a:pt x="69011" y="93206"/>
                    <a:pt x="65816" y="93206"/>
                  </a:cubicBezTo>
                  <a:lnTo>
                    <a:pt x="55592" y="93206"/>
                  </a:lnTo>
                  <a:cubicBezTo>
                    <a:pt x="52397" y="93206"/>
                    <a:pt x="49841" y="90653"/>
                    <a:pt x="49202" y="87461"/>
                  </a:cubicBezTo>
                  <a:lnTo>
                    <a:pt x="39618" y="0"/>
                  </a:lnTo>
                  <a:lnTo>
                    <a:pt x="23004" y="0"/>
                  </a:lnTo>
                  <a:lnTo>
                    <a:pt x="15336" y="81077"/>
                  </a:lnTo>
                  <a:cubicBezTo>
                    <a:pt x="15336" y="83630"/>
                    <a:pt x="13419" y="85545"/>
                    <a:pt x="11502" y="86184"/>
                  </a:cubicBezTo>
                  <a:lnTo>
                    <a:pt x="0" y="91291"/>
                  </a:lnTo>
                  <a:lnTo>
                    <a:pt x="0" y="156408"/>
                  </a:lnTo>
                  <a:lnTo>
                    <a:pt x="191059" y="156408"/>
                  </a:lnTo>
                  <a:lnTo>
                    <a:pt x="191059" y="82353"/>
                  </a:lnTo>
                  <a:lnTo>
                    <a:pt x="180196" y="82353"/>
                  </a:lnTo>
                  <a:cubicBezTo>
                    <a:pt x="176362" y="82353"/>
                    <a:pt x="173806" y="79800"/>
                    <a:pt x="173806" y="75969"/>
                  </a:cubicBezTo>
                  <a:cubicBezTo>
                    <a:pt x="173806" y="75969"/>
                    <a:pt x="173806" y="75969"/>
                    <a:pt x="173806" y="75969"/>
                  </a:cubicBezTo>
                  <a:close/>
                  <a:moveTo>
                    <a:pt x="46646" y="135979"/>
                  </a:moveTo>
                  <a:lnTo>
                    <a:pt x="20448" y="135979"/>
                  </a:lnTo>
                  <a:cubicBezTo>
                    <a:pt x="16614" y="135979"/>
                    <a:pt x="14058" y="133425"/>
                    <a:pt x="14058" y="129595"/>
                  </a:cubicBezTo>
                  <a:cubicBezTo>
                    <a:pt x="14058" y="125764"/>
                    <a:pt x="16614" y="123211"/>
                    <a:pt x="20448" y="123211"/>
                  </a:cubicBezTo>
                  <a:lnTo>
                    <a:pt x="46646" y="123211"/>
                  </a:lnTo>
                  <a:cubicBezTo>
                    <a:pt x="50480" y="123211"/>
                    <a:pt x="53036" y="125764"/>
                    <a:pt x="53036" y="129595"/>
                  </a:cubicBezTo>
                  <a:cubicBezTo>
                    <a:pt x="53036" y="133425"/>
                    <a:pt x="50480" y="135979"/>
                    <a:pt x="46646" y="135979"/>
                  </a:cubicBezTo>
                  <a:close/>
                  <a:moveTo>
                    <a:pt x="120770" y="135979"/>
                  </a:moveTo>
                  <a:lnTo>
                    <a:pt x="78596" y="135979"/>
                  </a:lnTo>
                  <a:cubicBezTo>
                    <a:pt x="74762" y="135979"/>
                    <a:pt x="72206" y="133425"/>
                    <a:pt x="72206" y="129595"/>
                  </a:cubicBezTo>
                  <a:cubicBezTo>
                    <a:pt x="72206" y="125764"/>
                    <a:pt x="74762" y="123211"/>
                    <a:pt x="78596" y="123211"/>
                  </a:cubicBezTo>
                  <a:lnTo>
                    <a:pt x="120770" y="123211"/>
                  </a:lnTo>
                  <a:cubicBezTo>
                    <a:pt x="124604" y="123211"/>
                    <a:pt x="127160" y="125764"/>
                    <a:pt x="127160" y="129595"/>
                  </a:cubicBezTo>
                  <a:cubicBezTo>
                    <a:pt x="127160" y="133425"/>
                    <a:pt x="124604" y="135979"/>
                    <a:pt x="120770" y="135979"/>
                  </a:cubicBezTo>
                  <a:lnTo>
                    <a:pt x="120770" y="135979"/>
                  </a:lnTo>
                  <a:close/>
                  <a:moveTo>
                    <a:pt x="174445" y="135979"/>
                  </a:moveTo>
                  <a:lnTo>
                    <a:pt x="156553" y="135979"/>
                  </a:lnTo>
                  <a:cubicBezTo>
                    <a:pt x="152719" y="135979"/>
                    <a:pt x="150164" y="133425"/>
                    <a:pt x="150164" y="129595"/>
                  </a:cubicBezTo>
                  <a:cubicBezTo>
                    <a:pt x="150164" y="125764"/>
                    <a:pt x="152719" y="123211"/>
                    <a:pt x="156553" y="123211"/>
                  </a:cubicBezTo>
                  <a:lnTo>
                    <a:pt x="174445" y="123211"/>
                  </a:lnTo>
                  <a:cubicBezTo>
                    <a:pt x="178279" y="123211"/>
                    <a:pt x="180835" y="125764"/>
                    <a:pt x="180835" y="129595"/>
                  </a:cubicBezTo>
                  <a:cubicBezTo>
                    <a:pt x="180835" y="133425"/>
                    <a:pt x="178279" y="135979"/>
                    <a:pt x="174445" y="135979"/>
                  </a:cubicBezTo>
                  <a:close/>
                </a:path>
              </a:pathLst>
            </a:custGeom>
            <a:solidFill>
              <a:srgbClr val="0076A8"/>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sp>
        <p:nvSpPr>
          <p:cNvPr id="65" name="正方形/長方形 64">
            <a:extLst>
              <a:ext uri="{FF2B5EF4-FFF2-40B4-BE49-F238E27FC236}">
                <a16:creationId xmlns:a16="http://schemas.microsoft.com/office/drawing/2014/main" id="{8C2EFE00-745B-4739-C2F9-5F6BC4A264FA}"/>
              </a:ext>
            </a:extLst>
          </p:cNvPr>
          <p:cNvSpPr/>
          <p:nvPr/>
        </p:nvSpPr>
        <p:spPr>
          <a:xfrm>
            <a:off x="365891" y="4346818"/>
            <a:ext cx="3911473" cy="19781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200">
                <a:solidFill>
                  <a:schemeClr val="tx1"/>
                </a:solidFill>
                <a:latin typeface="Meiryo UI" panose="020B0604030504040204" pitchFamily="50" charset="-128"/>
                <a:ea typeface="Meiryo UI" panose="020B0604030504040204" pitchFamily="50" charset="-128"/>
              </a:rPr>
              <a:t>実測は月次・四半期・年次で実施していても、</a:t>
            </a:r>
            <a:r>
              <a:rPr kumimoji="1" lang="ja-JP" altLang="en-US" sz="1200" b="1" u="sng">
                <a:solidFill>
                  <a:schemeClr val="tx1"/>
                </a:solidFill>
                <a:latin typeface="Meiryo UI" panose="020B0604030504040204" pitchFamily="50" charset="-128"/>
                <a:ea typeface="Meiryo UI" panose="020B0604030504040204" pitchFamily="50" charset="-128"/>
              </a:rPr>
              <a:t>本社への報告タイミングは年</a:t>
            </a:r>
            <a:r>
              <a:rPr kumimoji="1" lang="en-US" altLang="ja-JP" sz="1200" b="1" u="sng">
                <a:solidFill>
                  <a:schemeClr val="tx1"/>
                </a:solidFill>
                <a:latin typeface="Meiryo UI" panose="020B0604030504040204" pitchFamily="50" charset="-128"/>
                <a:ea typeface="Meiryo UI" panose="020B0604030504040204" pitchFamily="50" charset="-128"/>
              </a:rPr>
              <a:t>1</a:t>
            </a:r>
            <a:r>
              <a:rPr kumimoji="1" lang="ja-JP" altLang="en-US" sz="1200" b="1" u="sng">
                <a:solidFill>
                  <a:schemeClr val="tx1"/>
                </a:solidFill>
                <a:latin typeface="Meiryo UI" panose="020B0604030504040204" pitchFamily="50" charset="-128"/>
                <a:ea typeface="Meiryo UI" panose="020B0604030504040204" pitchFamily="50" charset="-128"/>
              </a:rPr>
              <a:t>回実施</a:t>
            </a:r>
            <a:endParaRPr kumimoji="1" lang="en-US" altLang="ja-JP" sz="1200" b="1" u="sng">
              <a:solidFill>
                <a:schemeClr val="tx1"/>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kumimoji="1" lang="ja-JP" altLang="en-US" sz="1200" b="1" u="sng">
                <a:solidFill>
                  <a:schemeClr val="tx1"/>
                </a:solidFill>
                <a:latin typeface="Meiryo UI" panose="020B0604030504040204" pitchFamily="50" charset="-128"/>
                <a:ea typeface="Meiryo UI" panose="020B0604030504040204" pitchFamily="50" charset="-128"/>
              </a:rPr>
              <a:t>年次で収集したデータを確認し、年度に</a:t>
            </a:r>
            <a:r>
              <a:rPr kumimoji="1" lang="en-US" altLang="ja-JP" sz="1200" b="1" u="sng">
                <a:solidFill>
                  <a:schemeClr val="tx1"/>
                </a:solidFill>
                <a:latin typeface="Meiryo UI" panose="020B0604030504040204" pitchFamily="50" charset="-128"/>
                <a:ea typeface="Meiryo UI" panose="020B0604030504040204" pitchFamily="50" charset="-128"/>
              </a:rPr>
              <a:t>1</a:t>
            </a:r>
            <a:r>
              <a:rPr kumimoji="1" lang="ja-JP" altLang="en-US" sz="1200" b="1" u="sng">
                <a:solidFill>
                  <a:schemeClr val="tx1"/>
                </a:solidFill>
                <a:latin typeface="Meiryo UI" panose="020B0604030504040204" pitchFamily="50" charset="-128"/>
                <a:ea typeface="Meiryo UI" panose="020B0604030504040204" pitchFamily="50" charset="-128"/>
              </a:rPr>
              <a:t>回算定</a:t>
            </a:r>
            <a:r>
              <a:rPr kumimoji="1" lang="ja-JP" altLang="en-US" sz="1200">
                <a:solidFill>
                  <a:schemeClr val="tx1"/>
                </a:solidFill>
                <a:latin typeface="Meiryo UI" panose="020B0604030504040204" pitchFamily="50" charset="-128"/>
                <a:ea typeface="Meiryo UI" panose="020B0604030504040204" pitchFamily="50" charset="-128"/>
              </a:rPr>
              <a:t>。修正・開示までの期間は</a:t>
            </a:r>
            <a:r>
              <a:rPr kumimoji="1" lang="en-US" altLang="ja-JP" sz="1200">
                <a:solidFill>
                  <a:schemeClr val="tx1"/>
                </a:solidFill>
                <a:latin typeface="Meiryo UI" panose="020B0604030504040204" pitchFamily="50" charset="-128"/>
                <a:ea typeface="Meiryo UI" panose="020B0604030504040204" pitchFamily="50" charset="-128"/>
              </a:rPr>
              <a:t>3</a:t>
            </a:r>
            <a:r>
              <a:rPr kumimoji="1" lang="ja-JP" altLang="en-US" sz="1200">
                <a:solidFill>
                  <a:schemeClr val="tx1"/>
                </a:solidFill>
                <a:latin typeface="Meiryo UI" panose="020B0604030504040204" pitchFamily="50" charset="-128"/>
                <a:ea typeface="Meiryo UI" panose="020B0604030504040204" pitchFamily="50" charset="-128"/>
              </a:rPr>
              <a:t>か月</a:t>
            </a:r>
            <a:r>
              <a:rPr kumimoji="1" lang="en-US" altLang="ja-JP" sz="1200">
                <a:solidFill>
                  <a:schemeClr val="tx1"/>
                </a:solidFill>
                <a:latin typeface="Meiryo UI" panose="020B0604030504040204" pitchFamily="50" charset="-128"/>
                <a:ea typeface="Meiryo UI" panose="020B0604030504040204" pitchFamily="50" charset="-128"/>
              </a:rPr>
              <a:t>(N+1</a:t>
            </a:r>
            <a:r>
              <a:rPr kumimoji="1" lang="ja-JP" altLang="en-US" sz="1200">
                <a:solidFill>
                  <a:schemeClr val="tx1"/>
                </a:solidFill>
                <a:latin typeface="Meiryo UI" panose="020B0604030504040204" pitchFamily="50" charset="-128"/>
                <a:ea typeface="Meiryo UI" panose="020B0604030504040204" pitchFamily="50" charset="-128"/>
              </a:rPr>
              <a:t>年</a:t>
            </a:r>
            <a:r>
              <a:rPr kumimoji="1" lang="en-US" altLang="ja-JP" sz="1200">
                <a:solidFill>
                  <a:schemeClr val="tx1"/>
                </a:solidFill>
                <a:latin typeface="Meiryo UI" panose="020B0604030504040204" pitchFamily="50" charset="-128"/>
                <a:ea typeface="Meiryo UI" panose="020B0604030504040204" pitchFamily="50" charset="-128"/>
              </a:rPr>
              <a:t>4</a:t>
            </a:r>
            <a:r>
              <a:rPr kumimoji="1" lang="ja-JP" altLang="en-US" sz="1200">
                <a:solidFill>
                  <a:schemeClr val="tx1"/>
                </a:solidFill>
                <a:latin typeface="Meiryo UI" panose="020B0604030504040204" pitchFamily="50" charset="-128"/>
                <a:ea typeface="Meiryo UI" panose="020B0604030504040204" pitchFamily="50" charset="-128"/>
              </a:rPr>
              <a:t>月～</a:t>
            </a:r>
            <a:r>
              <a:rPr kumimoji="1" lang="en-US" altLang="ja-JP" sz="1200">
                <a:solidFill>
                  <a:schemeClr val="tx1"/>
                </a:solidFill>
                <a:latin typeface="Meiryo UI" panose="020B0604030504040204" pitchFamily="50" charset="-128"/>
                <a:ea typeface="Meiryo UI" panose="020B0604030504040204" pitchFamily="50" charset="-128"/>
              </a:rPr>
              <a:t>6</a:t>
            </a:r>
            <a:r>
              <a:rPr kumimoji="1" lang="ja-JP" altLang="en-US" sz="1200">
                <a:solidFill>
                  <a:schemeClr val="tx1"/>
                </a:solidFill>
                <a:latin typeface="Meiryo UI" panose="020B0604030504040204" pitchFamily="50" charset="-128"/>
                <a:ea typeface="Meiryo UI" panose="020B0604030504040204" pitchFamily="50" charset="-128"/>
              </a:rPr>
              <a:t>月</a:t>
            </a:r>
            <a:r>
              <a:rPr kumimoji="1" lang="en-US" altLang="ja-JP" sz="1200">
                <a:solidFill>
                  <a:schemeClr val="tx1"/>
                </a:solidFill>
                <a:latin typeface="Meiryo UI" panose="020B0604030504040204" pitchFamily="50" charset="-128"/>
                <a:ea typeface="Meiryo UI" panose="020B0604030504040204" pitchFamily="50" charset="-128"/>
              </a:rPr>
              <a:t>)</a:t>
            </a:r>
          </a:p>
          <a:p>
            <a:pPr marL="171450" indent="-171450">
              <a:buFont typeface="Wingdings" panose="05000000000000000000" pitchFamily="2" charset="2"/>
              <a:buChar char="ü"/>
            </a:pPr>
            <a:r>
              <a:rPr kumimoji="1" lang="ja-JP" altLang="en-US" sz="1200">
                <a:solidFill>
                  <a:schemeClr val="tx1"/>
                </a:solidFill>
                <a:latin typeface="Meiryo UI" panose="020B0604030504040204" pitchFamily="50" charset="-128"/>
                <a:ea typeface="Meiryo UI" panose="020B0604030504040204" pitchFamily="50" charset="-128"/>
              </a:rPr>
              <a:t>保証対応の頻度については、現在統合報告書・温対法の保証のため、</a:t>
            </a:r>
            <a:r>
              <a:rPr kumimoji="1" lang="ja-JP" altLang="en-US" sz="1200" b="1" u="sng">
                <a:solidFill>
                  <a:schemeClr val="tx1"/>
                </a:solidFill>
                <a:latin typeface="Meiryo UI" panose="020B0604030504040204" pitchFamily="50" charset="-128"/>
                <a:ea typeface="Meiryo UI" panose="020B0604030504040204" pitchFamily="50" charset="-128"/>
              </a:rPr>
              <a:t>年度に</a:t>
            </a:r>
            <a:r>
              <a:rPr kumimoji="1" lang="en-US" altLang="ja-JP" sz="1200" b="1" u="sng">
                <a:solidFill>
                  <a:schemeClr val="tx1"/>
                </a:solidFill>
                <a:latin typeface="Meiryo UI" panose="020B0604030504040204" pitchFamily="50" charset="-128"/>
                <a:ea typeface="Meiryo UI" panose="020B0604030504040204" pitchFamily="50" charset="-128"/>
              </a:rPr>
              <a:t>1</a:t>
            </a:r>
            <a:r>
              <a:rPr kumimoji="1" lang="ja-JP" altLang="en-US" sz="1200" b="1" u="sng">
                <a:solidFill>
                  <a:schemeClr val="tx1"/>
                </a:solidFill>
                <a:latin typeface="Meiryo UI" panose="020B0604030504040204" pitchFamily="50" charset="-128"/>
                <a:ea typeface="Meiryo UI" panose="020B0604030504040204" pitchFamily="50" charset="-128"/>
              </a:rPr>
              <a:t>回保証対応</a:t>
            </a:r>
            <a:endParaRPr kumimoji="1" lang="en-US" altLang="ja-JP" sz="1200" b="1" u="sng">
              <a:solidFill>
                <a:schemeClr val="tx1"/>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kumimoji="1" lang="ja-JP" altLang="en-US" sz="1200" b="1" u="sng">
                <a:solidFill>
                  <a:schemeClr val="tx1"/>
                </a:solidFill>
                <a:latin typeface="Meiryo UI" panose="020B0604030504040204" pitchFamily="50" charset="-128"/>
                <a:ea typeface="Meiryo UI" panose="020B0604030504040204" pitchFamily="50" charset="-128"/>
              </a:rPr>
              <a:t>排出係数は年度末に決定・入力される</a:t>
            </a:r>
            <a:endParaRPr kumimoji="1" lang="en-US" altLang="ja-JP" sz="1200" b="1" u="sng">
              <a:solidFill>
                <a:schemeClr val="tx1"/>
              </a:solidFill>
              <a:latin typeface="Meiryo UI" panose="020B0604030504040204" pitchFamily="50" charset="-128"/>
              <a:ea typeface="Meiryo UI" panose="020B0604030504040204" pitchFamily="50" charset="-128"/>
            </a:endParaRPr>
          </a:p>
        </p:txBody>
      </p:sp>
      <p:sp>
        <p:nvSpPr>
          <p:cNvPr id="66" name="矢印: 五方向 65">
            <a:extLst>
              <a:ext uri="{FF2B5EF4-FFF2-40B4-BE49-F238E27FC236}">
                <a16:creationId xmlns:a16="http://schemas.microsoft.com/office/drawing/2014/main" id="{4EBCB97D-9A83-FB7C-E272-26417AF682BF}"/>
              </a:ext>
            </a:extLst>
          </p:cNvPr>
          <p:cNvSpPr/>
          <p:nvPr/>
        </p:nvSpPr>
        <p:spPr>
          <a:xfrm>
            <a:off x="5167936" y="2089782"/>
            <a:ext cx="316800" cy="540000"/>
          </a:xfrm>
          <a:prstGeom prst="homePlate">
            <a:avLst>
              <a:gd name="adj" fmla="val 1560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4</a:t>
            </a:r>
            <a:r>
              <a:rPr kumimoji="1" lang="ja-JP" altLang="en-US" sz="1000">
                <a:solidFill>
                  <a:schemeClr val="tx1"/>
                </a:solidFill>
                <a:latin typeface="Meiryo UI" panose="020B0604030504040204" pitchFamily="50" charset="-128"/>
                <a:ea typeface="Meiryo UI" panose="020B0604030504040204" pitchFamily="50" charset="-128"/>
              </a:rPr>
              <a:t>月分</a:t>
            </a:r>
            <a:endParaRPr kumimoji="1"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報告</a:t>
            </a:r>
          </a:p>
        </p:txBody>
      </p:sp>
      <p:sp>
        <p:nvSpPr>
          <p:cNvPr id="67" name="矢印: 五方向 66">
            <a:extLst>
              <a:ext uri="{FF2B5EF4-FFF2-40B4-BE49-F238E27FC236}">
                <a16:creationId xmlns:a16="http://schemas.microsoft.com/office/drawing/2014/main" id="{19A49D35-4F78-3BFA-0375-3570151294DC}"/>
              </a:ext>
            </a:extLst>
          </p:cNvPr>
          <p:cNvSpPr/>
          <p:nvPr/>
        </p:nvSpPr>
        <p:spPr>
          <a:xfrm>
            <a:off x="5983937" y="2089782"/>
            <a:ext cx="316800" cy="540000"/>
          </a:xfrm>
          <a:prstGeom prst="homePlate">
            <a:avLst>
              <a:gd name="adj" fmla="val 1560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5</a:t>
            </a:r>
            <a:r>
              <a:rPr kumimoji="1" lang="ja-JP" altLang="en-US" sz="1000">
                <a:solidFill>
                  <a:schemeClr val="tx1"/>
                </a:solidFill>
                <a:latin typeface="Meiryo UI" panose="020B0604030504040204" pitchFamily="50" charset="-128"/>
                <a:ea typeface="Meiryo UI" panose="020B0604030504040204" pitchFamily="50" charset="-128"/>
              </a:rPr>
              <a:t>月分</a:t>
            </a:r>
            <a:endParaRPr kumimoji="1"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報告</a:t>
            </a:r>
          </a:p>
        </p:txBody>
      </p:sp>
      <p:sp>
        <p:nvSpPr>
          <p:cNvPr id="68" name="矢印: 五方向 67">
            <a:extLst>
              <a:ext uri="{FF2B5EF4-FFF2-40B4-BE49-F238E27FC236}">
                <a16:creationId xmlns:a16="http://schemas.microsoft.com/office/drawing/2014/main" id="{0CDAC641-3BB1-0A3C-5800-8D422F61C310}"/>
              </a:ext>
            </a:extLst>
          </p:cNvPr>
          <p:cNvSpPr/>
          <p:nvPr/>
        </p:nvSpPr>
        <p:spPr>
          <a:xfrm>
            <a:off x="6129721" y="2828187"/>
            <a:ext cx="277200" cy="540000"/>
          </a:xfrm>
          <a:prstGeom prst="homePlate">
            <a:avLst>
              <a:gd name="adj" fmla="val 15604"/>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確認</a:t>
            </a:r>
          </a:p>
        </p:txBody>
      </p:sp>
      <p:sp>
        <p:nvSpPr>
          <p:cNvPr id="69" name="矢印: 五方向 68">
            <a:extLst>
              <a:ext uri="{FF2B5EF4-FFF2-40B4-BE49-F238E27FC236}">
                <a16:creationId xmlns:a16="http://schemas.microsoft.com/office/drawing/2014/main" id="{19F61DD8-569D-A795-8A5A-634E6077EBCF}"/>
              </a:ext>
            </a:extLst>
          </p:cNvPr>
          <p:cNvSpPr/>
          <p:nvPr/>
        </p:nvSpPr>
        <p:spPr>
          <a:xfrm>
            <a:off x="5313720" y="2828187"/>
            <a:ext cx="277200" cy="540000"/>
          </a:xfrm>
          <a:prstGeom prst="homePlate">
            <a:avLst>
              <a:gd name="adj" fmla="val 15604"/>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確認</a:t>
            </a:r>
          </a:p>
        </p:txBody>
      </p:sp>
      <p:sp>
        <p:nvSpPr>
          <p:cNvPr id="70" name="矢印: 五方向 69">
            <a:extLst>
              <a:ext uri="{FF2B5EF4-FFF2-40B4-BE49-F238E27FC236}">
                <a16:creationId xmlns:a16="http://schemas.microsoft.com/office/drawing/2014/main" id="{3C042BBB-AA70-E3D9-5B83-692AF0E0E97C}"/>
              </a:ext>
            </a:extLst>
          </p:cNvPr>
          <p:cNvSpPr/>
          <p:nvPr/>
        </p:nvSpPr>
        <p:spPr>
          <a:xfrm>
            <a:off x="6799937" y="2089782"/>
            <a:ext cx="316800" cy="540000"/>
          </a:xfrm>
          <a:prstGeom prst="homePlate">
            <a:avLst>
              <a:gd name="adj" fmla="val 1560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6</a:t>
            </a:r>
            <a:r>
              <a:rPr kumimoji="1" lang="ja-JP" altLang="en-US" sz="1000">
                <a:solidFill>
                  <a:schemeClr val="tx1"/>
                </a:solidFill>
                <a:latin typeface="Meiryo UI" panose="020B0604030504040204" pitchFamily="50" charset="-128"/>
                <a:ea typeface="Meiryo UI" panose="020B0604030504040204" pitchFamily="50" charset="-128"/>
              </a:rPr>
              <a:t>月分</a:t>
            </a:r>
            <a:endParaRPr kumimoji="1"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報告</a:t>
            </a:r>
          </a:p>
        </p:txBody>
      </p:sp>
      <p:sp>
        <p:nvSpPr>
          <p:cNvPr id="71" name="矢印: 五方向 70">
            <a:extLst>
              <a:ext uri="{FF2B5EF4-FFF2-40B4-BE49-F238E27FC236}">
                <a16:creationId xmlns:a16="http://schemas.microsoft.com/office/drawing/2014/main" id="{4E8410AB-F73E-C10B-431F-E2B7C2F33FD4}"/>
              </a:ext>
            </a:extLst>
          </p:cNvPr>
          <p:cNvSpPr/>
          <p:nvPr/>
        </p:nvSpPr>
        <p:spPr>
          <a:xfrm>
            <a:off x="6945721" y="2828187"/>
            <a:ext cx="277200" cy="540000"/>
          </a:xfrm>
          <a:prstGeom prst="homePlate">
            <a:avLst>
              <a:gd name="adj" fmla="val 15604"/>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確認</a:t>
            </a:r>
          </a:p>
        </p:txBody>
      </p:sp>
      <p:sp>
        <p:nvSpPr>
          <p:cNvPr id="72" name="矢印: 五方向 71">
            <a:extLst>
              <a:ext uri="{FF2B5EF4-FFF2-40B4-BE49-F238E27FC236}">
                <a16:creationId xmlns:a16="http://schemas.microsoft.com/office/drawing/2014/main" id="{CB4621B1-28F8-2C36-D913-F16A172E2917}"/>
              </a:ext>
            </a:extLst>
          </p:cNvPr>
          <p:cNvSpPr/>
          <p:nvPr/>
        </p:nvSpPr>
        <p:spPr>
          <a:xfrm>
            <a:off x="7017991" y="3712537"/>
            <a:ext cx="434329" cy="540000"/>
          </a:xfrm>
          <a:prstGeom prst="homePlate">
            <a:avLst>
              <a:gd name="adj" fmla="val 1560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a:solidFill>
                  <a:schemeClr val="bg1"/>
                </a:solidFill>
                <a:latin typeface="Meiryo UI" panose="020B0604030504040204" pitchFamily="50" charset="-128"/>
                <a:ea typeface="Meiryo UI" panose="020B0604030504040204" pitchFamily="50" charset="-128"/>
              </a:rPr>
              <a:t>1Q</a:t>
            </a:r>
            <a:r>
              <a:rPr kumimoji="1" lang="ja-JP" altLang="en-US" sz="1000">
                <a:solidFill>
                  <a:schemeClr val="bg1"/>
                </a:solidFill>
                <a:latin typeface="Meiryo UI" panose="020B0604030504040204" pitchFamily="50" charset="-128"/>
                <a:ea typeface="Meiryo UI" panose="020B0604030504040204" pitchFamily="50" charset="-128"/>
              </a:rPr>
              <a:t>分</a:t>
            </a:r>
            <a:endParaRPr kumimoji="1" lang="en-US" altLang="ja-JP" sz="1000">
              <a:solidFill>
                <a:schemeClr val="bg1"/>
              </a:solidFill>
              <a:latin typeface="Meiryo UI" panose="020B0604030504040204" pitchFamily="50" charset="-128"/>
              <a:ea typeface="Meiryo UI" panose="020B0604030504040204" pitchFamily="50" charset="-128"/>
            </a:endParaRPr>
          </a:p>
          <a:p>
            <a:pPr algn="ctr"/>
            <a:r>
              <a:rPr kumimoji="1" lang="ja-JP" altLang="en-US" sz="1000">
                <a:solidFill>
                  <a:schemeClr val="bg1"/>
                </a:solidFill>
                <a:latin typeface="Meiryo UI" panose="020B0604030504040204" pitchFamily="50" charset="-128"/>
                <a:ea typeface="Meiryo UI" panose="020B0604030504040204" pitchFamily="50" charset="-128"/>
              </a:rPr>
              <a:t>算定</a:t>
            </a:r>
          </a:p>
        </p:txBody>
      </p:sp>
      <p:sp>
        <p:nvSpPr>
          <p:cNvPr id="73" name="矢印: 五方向 72">
            <a:extLst>
              <a:ext uri="{FF2B5EF4-FFF2-40B4-BE49-F238E27FC236}">
                <a16:creationId xmlns:a16="http://schemas.microsoft.com/office/drawing/2014/main" id="{FB9E40FB-4274-8200-5A3F-4E178D452C1C}"/>
              </a:ext>
            </a:extLst>
          </p:cNvPr>
          <p:cNvSpPr/>
          <p:nvPr/>
        </p:nvSpPr>
        <p:spPr>
          <a:xfrm>
            <a:off x="7453784" y="2828187"/>
            <a:ext cx="655372" cy="540000"/>
          </a:xfrm>
          <a:prstGeom prst="homePlate">
            <a:avLst>
              <a:gd name="adj" fmla="val 15604"/>
            </a:avLst>
          </a:prstGeom>
          <a:solidFill>
            <a:schemeClr val="bg1"/>
          </a:solidFill>
          <a:ln w="28575">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1Q</a:t>
            </a:r>
            <a:r>
              <a:rPr kumimoji="1" lang="ja-JP" altLang="en-US" sz="1000">
                <a:solidFill>
                  <a:schemeClr val="tx1"/>
                </a:solidFill>
                <a:latin typeface="Meiryo UI" panose="020B0604030504040204" pitchFamily="50" charset="-128"/>
                <a:ea typeface="Meiryo UI" panose="020B0604030504040204" pitchFamily="50" charset="-128"/>
              </a:rPr>
              <a:t>分</a:t>
            </a:r>
            <a:endParaRPr kumimoji="1"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修正</a:t>
            </a:r>
            <a:endParaRPr kumimoji="1" lang="en-US" altLang="ja-JP" sz="1000">
              <a:solidFill>
                <a:schemeClr val="tx1"/>
              </a:solidFill>
              <a:latin typeface="Meiryo UI" panose="020B0604030504040204" pitchFamily="50" charset="-128"/>
              <a:ea typeface="Meiryo UI" panose="020B0604030504040204" pitchFamily="50" charset="-128"/>
            </a:endParaRPr>
          </a:p>
        </p:txBody>
      </p:sp>
      <p:cxnSp>
        <p:nvCxnSpPr>
          <p:cNvPr id="74" name="コネクタ: カギ線 73">
            <a:extLst>
              <a:ext uri="{FF2B5EF4-FFF2-40B4-BE49-F238E27FC236}">
                <a16:creationId xmlns:a16="http://schemas.microsoft.com/office/drawing/2014/main" id="{DC3851F0-22D9-EB4C-C45A-569E3A1C080F}"/>
              </a:ext>
            </a:extLst>
          </p:cNvPr>
          <p:cNvCxnSpPr>
            <a:cxnSpLocks/>
            <a:stCxn id="66" idx="2"/>
            <a:endCxn id="69" idx="0"/>
          </p:cNvCxnSpPr>
          <p:nvPr/>
        </p:nvCxnSpPr>
        <p:spPr>
          <a:xfrm rot="16200000" flipH="1">
            <a:off x="5266954" y="2664447"/>
            <a:ext cx="198405" cy="129074"/>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コネクタ: カギ線 74">
            <a:extLst>
              <a:ext uri="{FF2B5EF4-FFF2-40B4-BE49-F238E27FC236}">
                <a16:creationId xmlns:a16="http://schemas.microsoft.com/office/drawing/2014/main" id="{9FF8DC9F-B085-B74C-8630-ACA6DF484A06}"/>
              </a:ext>
            </a:extLst>
          </p:cNvPr>
          <p:cNvCxnSpPr>
            <a:cxnSpLocks/>
            <a:stCxn id="67" idx="2"/>
            <a:endCxn id="68" idx="0"/>
          </p:cNvCxnSpPr>
          <p:nvPr/>
        </p:nvCxnSpPr>
        <p:spPr>
          <a:xfrm rot="16200000" flipH="1">
            <a:off x="6082955" y="2664447"/>
            <a:ext cx="198405" cy="129074"/>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コネクタ: カギ線 75">
            <a:extLst>
              <a:ext uri="{FF2B5EF4-FFF2-40B4-BE49-F238E27FC236}">
                <a16:creationId xmlns:a16="http://schemas.microsoft.com/office/drawing/2014/main" id="{20CE124E-6C99-F4B4-641D-E2963B2DDFC9}"/>
              </a:ext>
            </a:extLst>
          </p:cNvPr>
          <p:cNvCxnSpPr>
            <a:cxnSpLocks/>
            <a:stCxn id="70" idx="2"/>
            <a:endCxn id="71" idx="0"/>
          </p:cNvCxnSpPr>
          <p:nvPr/>
        </p:nvCxnSpPr>
        <p:spPr>
          <a:xfrm rot="16200000" flipH="1">
            <a:off x="6898955" y="2664447"/>
            <a:ext cx="198405" cy="129074"/>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コネクタ: カギ線 76">
            <a:extLst>
              <a:ext uri="{FF2B5EF4-FFF2-40B4-BE49-F238E27FC236}">
                <a16:creationId xmlns:a16="http://schemas.microsoft.com/office/drawing/2014/main" id="{02BE4842-9521-E2A3-6971-65DF80BBD4CF}"/>
              </a:ext>
            </a:extLst>
          </p:cNvPr>
          <p:cNvCxnSpPr>
            <a:cxnSpLocks/>
            <a:stCxn id="69" idx="2"/>
            <a:endCxn id="72" idx="0"/>
          </p:cNvCxnSpPr>
          <p:nvPr/>
        </p:nvCxnSpPr>
        <p:spPr>
          <a:xfrm rot="16200000" flipH="1">
            <a:off x="6143806" y="2655074"/>
            <a:ext cx="344350" cy="17705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コネクタ: カギ線 77">
            <a:extLst>
              <a:ext uri="{FF2B5EF4-FFF2-40B4-BE49-F238E27FC236}">
                <a16:creationId xmlns:a16="http://schemas.microsoft.com/office/drawing/2014/main" id="{0285A484-4A83-7318-8070-DBA9EC9B2DC7}"/>
              </a:ext>
            </a:extLst>
          </p:cNvPr>
          <p:cNvCxnSpPr>
            <a:cxnSpLocks/>
            <a:stCxn id="68" idx="2"/>
            <a:endCxn id="72" idx="0"/>
          </p:cNvCxnSpPr>
          <p:nvPr/>
        </p:nvCxnSpPr>
        <p:spPr>
          <a:xfrm rot="16200000" flipH="1">
            <a:off x="6551806" y="3063074"/>
            <a:ext cx="344350" cy="95457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1CE8BFDD-0E46-588D-177E-CCA46023F2FB}"/>
              </a:ext>
            </a:extLst>
          </p:cNvPr>
          <p:cNvCxnSpPr>
            <a:cxnSpLocks/>
            <a:stCxn id="71" idx="2"/>
            <a:endCxn id="72" idx="0"/>
          </p:cNvCxnSpPr>
          <p:nvPr/>
        </p:nvCxnSpPr>
        <p:spPr>
          <a:xfrm rot="16200000" flipH="1">
            <a:off x="6959806" y="3471074"/>
            <a:ext cx="344350" cy="13857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5A45303B-C247-3C8E-4EAF-887E85EDD1C2}"/>
              </a:ext>
            </a:extLst>
          </p:cNvPr>
          <p:cNvSpPr/>
          <p:nvPr/>
        </p:nvSpPr>
        <p:spPr>
          <a:xfrm>
            <a:off x="7170329" y="2316635"/>
            <a:ext cx="540000" cy="2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a:t>
            </a:r>
          </a:p>
        </p:txBody>
      </p:sp>
      <p:cxnSp>
        <p:nvCxnSpPr>
          <p:cNvPr id="81" name="コネクタ: カギ線 80">
            <a:extLst>
              <a:ext uri="{FF2B5EF4-FFF2-40B4-BE49-F238E27FC236}">
                <a16:creationId xmlns:a16="http://schemas.microsoft.com/office/drawing/2014/main" id="{3D9A7C81-1182-C702-8E19-832C0B6CC1BB}"/>
              </a:ext>
            </a:extLst>
          </p:cNvPr>
          <p:cNvCxnSpPr>
            <a:cxnSpLocks/>
            <a:stCxn id="72" idx="3"/>
            <a:endCxn id="73" idx="2"/>
          </p:cNvCxnSpPr>
          <p:nvPr/>
        </p:nvCxnSpPr>
        <p:spPr>
          <a:xfrm flipV="1">
            <a:off x="7452320" y="3368187"/>
            <a:ext cx="287019" cy="614350"/>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0" name="正方形/長方形 89">
            <a:extLst>
              <a:ext uri="{FF2B5EF4-FFF2-40B4-BE49-F238E27FC236}">
                <a16:creationId xmlns:a16="http://schemas.microsoft.com/office/drawing/2014/main" id="{579A7ACC-3F94-11DC-4209-55281B47C753}"/>
              </a:ext>
            </a:extLst>
          </p:cNvPr>
          <p:cNvSpPr/>
          <p:nvPr/>
        </p:nvSpPr>
        <p:spPr>
          <a:xfrm>
            <a:off x="8064448" y="3036748"/>
            <a:ext cx="540000" cy="2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a:t>
            </a:r>
          </a:p>
        </p:txBody>
      </p:sp>
      <p:sp>
        <p:nvSpPr>
          <p:cNvPr id="96" name="Graphic 4">
            <a:extLst>
              <a:ext uri="{FF2B5EF4-FFF2-40B4-BE49-F238E27FC236}">
                <a16:creationId xmlns:a16="http://schemas.microsoft.com/office/drawing/2014/main" id="{ADA2AD2E-5AB3-65D0-F60E-D5769716BFF5}"/>
              </a:ext>
            </a:extLst>
          </p:cNvPr>
          <p:cNvSpPr>
            <a:spLocks noChangeAspect="1"/>
          </p:cNvSpPr>
          <p:nvPr/>
        </p:nvSpPr>
        <p:spPr bwMode="gray">
          <a:xfrm>
            <a:off x="6606883" y="3787757"/>
            <a:ext cx="471035" cy="471035"/>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84352 w 362309"/>
              <a:gd name="connsiteY6" fmla="*/ 267489 h 361971"/>
              <a:gd name="connsiteX7" fmla="*/ 278601 w 362309"/>
              <a:gd name="connsiteY7" fmla="*/ 270681 h 361971"/>
              <a:gd name="connsiteX8" fmla="*/ 275406 w 362309"/>
              <a:gd name="connsiteY8" fmla="*/ 270043 h 361971"/>
              <a:gd name="connsiteX9" fmla="*/ 237705 w 362309"/>
              <a:gd name="connsiteY9" fmla="*/ 259828 h 361971"/>
              <a:gd name="connsiteX10" fmla="*/ 221092 w 362309"/>
              <a:gd name="connsiteY10" fmla="*/ 256636 h 361971"/>
              <a:gd name="connsiteX11" fmla="*/ 201922 w 362309"/>
              <a:gd name="connsiteY11" fmla="*/ 239399 h 361971"/>
              <a:gd name="connsiteX12" fmla="*/ 203839 w 362309"/>
              <a:gd name="connsiteY12" fmla="*/ 225993 h 361971"/>
              <a:gd name="connsiteX13" fmla="*/ 223648 w 362309"/>
              <a:gd name="connsiteY13" fmla="*/ 179390 h 361971"/>
              <a:gd name="connsiteX14" fmla="*/ 217897 w 362309"/>
              <a:gd name="connsiteY14" fmla="*/ 120019 h 361971"/>
              <a:gd name="connsiteX15" fmla="*/ 181474 w 362309"/>
              <a:gd name="connsiteY15" fmla="*/ 104059 h 361971"/>
              <a:gd name="connsiteX16" fmla="*/ 180835 w 362309"/>
              <a:gd name="connsiteY16" fmla="*/ 104059 h 361971"/>
              <a:gd name="connsiteX17" fmla="*/ 144412 w 362309"/>
              <a:gd name="connsiteY17" fmla="*/ 120019 h 361971"/>
              <a:gd name="connsiteX18" fmla="*/ 138661 w 362309"/>
              <a:gd name="connsiteY18" fmla="*/ 179390 h 361971"/>
              <a:gd name="connsiteX19" fmla="*/ 158470 w 362309"/>
              <a:gd name="connsiteY19" fmla="*/ 225993 h 361971"/>
              <a:gd name="connsiteX20" fmla="*/ 160387 w 362309"/>
              <a:gd name="connsiteY20" fmla="*/ 239399 h 361971"/>
              <a:gd name="connsiteX21" fmla="*/ 141217 w 362309"/>
              <a:gd name="connsiteY21" fmla="*/ 256636 h 361971"/>
              <a:gd name="connsiteX22" fmla="*/ 124604 w 362309"/>
              <a:gd name="connsiteY22" fmla="*/ 259828 h 361971"/>
              <a:gd name="connsiteX23" fmla="*/ 86264 w 362309"/>
              <a:gd name="connsiteY23" fmla="*/ 270043 h 361971"/>
              <a:gd name="connsiteX24" fmla="*/ 83069 w 362309"/>
              <a:gd name="connsiteY24" fmla="*/ 270681 h 361971"/>
              <a:gd name="connsiteX25" fmla="*/ 76679 w 362309"/>
              <a:gd name="connsiteY25" fmla="*/ 264297 h 361971"/>
              <a:gd name="connsiteX26" fmla="*/ 79874 w 362309"/>
              <a:gd name="connsiteY26" fmla="*/ 258551 h 361971"/>
              <a:gd name="connsiteX27" fmla="*/ 123326 w 362309"/>
              <a:gd name="connsiteY27" fmla="*/ 246422 h 361971"/>
              <a:gd name="connsiteX28" fmla="*/ 136744 w 362309"/>
              <a:gd name="connsiteY28" fmla="*/ 244507 h 361971"/>
              <a:gd name="connsiteX29" fmla="*/ 148246 w 362309"/>
              <a:gd name="connsiteY29" fmla="*/ 235569 h 361971"/>
              <a:gd name="connsiteX30" fmla="*/ 148246 w 362309"/>
              <a:gd name="connsiteY30" fmla="*/ 233654 h 361971"/>
              <a:gd name="connsiteX31" fmla="*/ 126521 w 362309"/>
              <a:gd name="connsiteY31" fmla="*/ 182582 h 361971"/>
              <a:gd name="connsiteX32" fmla="*/ 134828 w 362309"/>
              <a:gd name="connsiteY32" fmla="*/ 112358 h 361971"/>
              <a:gd name="connsiteX33" fmla="*/ 181474 w 362309"/>
              <a:gd name="connsiteY33" fmla="*/ 91930 h 361971"/>
              <a:gd name="connsiteX34" fmla="*/ 181474 w 362309"/>
              <a:gd name="connsiteY34" fmla="*/ 91930 h 361971"/>
              <a:gd name="connsiteX35" fmla="*/ 227482 w 362309"/>
              <a:gd name="connsiteY35" fmla="*/ 112358 h 361971"/>
              <a:gd name="connsiteX36" fmla="*/ 235788 w 362309"/>
              <a:gd name="connsiteY36" fmla="*/ 182582 h 361971"/>
              <a:gd name="connsiteX37" fmla="*/ 214063 w 362309"/>
              <a:gd name="connsiteY37" fmla="*/ 233654 h 361971"/>
              <a:gd name="connsiteX38" fmla="*/ 214063 w 362309"/>
              <a:gd name="connsiteY38" fmla="*/ 235569 h 361971"/>
              <a:gd name="connsiteX39" fmla="*/ 225565 w 362309"/>
              <a:gd name="connsiteY39" fmla="*/ 244507 h 361971"/>
              <a:gd name="connsiteX40" fmla="*/ 238983 w 362309"/>
              <a:gd name="connsiteY40" fmla="*/ 246422 h 361971"/>
              <a:gd name="connsiteX41" fmla="*/ 282435 w 362309"/>
              <a:gd name="connsiteY41" fmla="*/ 258551 h 361971"/>
              <a:gd name="connsiteX42" fmla="*/ 284352 w 362309"/>
              <a:gd name="connsiteY42" fmla="*/ 267489 h 361971"/>
              <a:gd name="connsiteX43" fmla="*/ 284352 w 362309"/>
              <a:gd name="connsiteY43" fmla="*/ 267489 h 361971"/>
              <a:gd name="connsiteX44" fmla="*/ 284352 w 362309"/>
              <a:gd name="connsiteY44" fmla="*/ 26748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309" y="80438"/>
                  <a:pt x="281157" y="0"/>
                  <a:pt x="181474" y="0"/>
                </a:cubicBezTo>
                <a:close/>
                <a:moveTo>
                  <a:pt x="284352" y="267489"/>
                </a:moveTo>
                <a:cubicBezTo>
                  <a:pt x="283074" y="269404"/>
                  <a:pt x="281157" y="270681"/>
                  <a:pt x="278601" y="270681"/>
                </a:cubicBezTo>
                <a:cubicBezTo>
                  <a:pt x="277323" y="270681"/>
                  <a:pt x="276045" y="270681"/>
                  <a:pt x="275406" y="270043"/>
                </a:cubicBezTo>
                <a:cubicBezTo>
                  <a:pt x="263904" y="263659"/>
                  <a:pt x="250485" y="259828"/>
                  <a:pt x="237705" y="259828"/>
                </a:cubicBezTo>
                <a:cubicBezTo>
                  <a:pt x="231955" y="259828"/>
                  <a:pt x="226204" y="258551"/>
                  <a:pt x="221092" y="256636"/>
                </a:cubicBezTo>
                <a:cubicBezTo>
                  <a:pt x="212146" y="254083"/>
                  <a:pt x="205117" y="247699"/>
                  <a:pt x="201922" y="239399"/>
                </a:cubicBezTo>
                <a:cubicBezTo>
                  <a:pt x="200644" y="234931"/>
                  <a:pt x="201283" y="229823"/>
                  <a:pt x="203839" y="225993"/>
                </a:cubicBezTo>
                <a:cubicBezTo>
                  <a:pt x="212785" y="211948"/>
                  <a:pt x="219814" y="195988"/>
                  <a:pt x="223648" y="179390"/>
                </a:cubicBezTo>
                <a:cubicBezTo>
                  <a:pt x="230038" y="152577"/>
                  <a:pt x="228120" y="132787"/>
                  <a:pt x="217897" y="120019"/>
                </a:cubicBezTo>
                <a:cubicBezTo>
                  <a:pt x="205117" y="104059"/>
                  <a:pt x="182113" y="104059"/>
                  <a:pt x="181474" y="104059"/>
                </a:cubicBezTo>
                <a:lnTo>
                  <a:pt x="180835" y="104059"/>
                </a:lnTo>
                <a:cubicBezTo>
                  <a:pt x="166777" y="104059"/>
                  <a:pt x="153997" y="109805"/>
                  <a:pt x="144412" y="120019"/>
                </a:cubicBezTo>
                <a:cubicBezTo>
                  <a:pt x="134189" y="132787"/>
                  <a:pt x="132271" y="152577"/>
                  <a:pt x="138661" y="179390"/>
                </a:cubicBezTo>
                <a:cubicBezTo>
                  <a:pt x="142496" y="195988"/>
                  <a:pt x="149524" y="211310"/>
                  <a:pt x="158470" y="225993"/>
                </a:cubicBezTo>
                <a:cubicBezTo>
                  <a:pt x="161026" y="229823"/>
                  <a:pt x="162304" y="234931"/>
                  <a:pt x="160387" y="239399"/>
                </a:cubicBezTo>
                <a:cubicBezTo>
                  <a:pt x="157192" y="247699"/>
                  <a:pt x="150164" y="254083"/>
                  <a:pt x="141217" y="256636"/>
                </a:cubicBezTo>
                <a:cubicBezTo>
                  <a:pt x="136106" y="258551"/>
                  <a:pt x="130354" y="259190"/>
                  <a:pt x="124604" y="259828"/>
                </a:cubicBezTo>
                <a:cubicBezTo>
                  <a:pt x="111185" y="260467"/>
                  <a:pt x="97766" y="263659"/>
                  <a:pt x="86264" y="270043"/>
                </a:cubicBezTo>
                <a:cubicBezTo>
                  <a:pt x="85625" y="270681"/>
                  <a:pt x="84347" y="270681"/>
                  <a:pt x="83069" y="270681"/>
                </a:cubicBezTo>
                <a:cubicBezTo>
                  <a:pt x="79235" y="270681"/>
                  <a:pt x="76679" y="268127"/>
                  <a:pt x="76679" y="264297"/>
                </a:cubicBezTo>
                <a:cubicBezTo>
                  <a:pt x="76679" y="261743"/>
                  <a:pt x="77957" y="259828"/>
                  <a:pt x="79874" y="258551"/>
                </a:cubicBezTo>
                <a:cubicBezTo>
                  <a:pt x="93293" y="250891"/>
                  <a:pt x="107990" y="247060"/>
                  <a:pt x="123326" y="246422"/>
                </a:cubicBezTo>
                <a:cubicBezTo>
                  <a:pt x="127799" y="246422"/>
                  <a:pt x="132271" y="245783"/>
                  <a:pt x="136744" y="244507"/>
                </a:cubicBezTo>
                <a:cubicBezTo>
                  <a:pt x="141856" y="243230"/>
                  <a:pt x="145690" y="240038"/>
                  <a:pt x="148246" y="235569"/>
                </a:cubicBezTo>
                <a:cubicBezTo>
                  <a:pt x="148885" y="234931"/>
                  <a:pt x="148885" y="234292"/>
                  <a:pt x="148246" y="233654"/>
                </a:cubicBezTo>
                <a:cubicBezTo>
                  <a:pt x="138022" y="217694"/>
                  <a:pt x="130994" y="200457"/>
                  <a:pt x="126521" y="182582"/>
                </a:cubicBezTo>
                <a:cubicBezTo>
                  <a:pt x="118853" y="151939"/>
                  <a:pt x="122048" y="128318"/>
                  <a:pt x="134828" y="112358"/>
                </a:cubicBezTo>
                <a:cubicBezTo>
                  <a:pt x="152080" y="91291"/>
                  <a:pt x="180196" y="91930"/>
                  <a:pt x="181474" y="91930"/>
                </a:cubicBezTo>
                <a:lnTo>
                  <a:pt x="181474" y="91930"/>
                </a:lnTo>
                <a:cubicBezTo>
                  <a:pt x="199366" y="91930"/>
                  <a:pt x="215980" y="99590"/>
                  <a:pt x="227482" y="112358"/>
                </a:cubicBezTo>
                <a:cubicBezTo>
                  <a:pt x="240261" y="128318"/>
                  <a:pt x="243456" y="151939"/>
                  <a:pt x="235788" y="182582"/>
                </a:cubicBezTo>
                <a:cubicBezTo>
                  <a:pt x="231315" y="200457"/>
                  <a:pt x="224287" y="217694"/>
                  <a:pt x="214063" y="233654"/>
                </a:cubicBezTo>
                <a:cubicBezTo>
                  <a:pt x="213424" y="234292"/>
                  <a:pt x="213424" y="234931"/>
                  <a:pt x="214063" y="235569"/>
                </a:cubicBezTo>
                <a:cubicBezTo>
                  <a:pt x="216619" y="240038"/>
                  <a:pt x="220453" y="243230"/>
                  <a:pt x="225565" y="244507"/>
                </a:cubicBezTo>
                <a:cubicBezTo>
                  <a:pt x="230038" y="245783"/>
                  <a:pt x="234510" y="246422"/>
                  <a:pt x="238983" y="246422"/>
                </a:cubicBezTo>
                <a:cubicBezTo>
                  <a:pt x="254319" y="247060"/>
                  <a:pt x="269016" y="251529"/>
                  <a:pt x="282435" y="258551"/>
                </a:cubicBezTo>
                <a:cubicBezTo>
                  <a:pt x="284991" y="260467"/>
                  <a:pt x="285630" y="264297"/>
                  <a:pt x="284352" y="267489"/>
                </a:cubicBezTo>
                <a:cubicBezTo>
                  <a:pt x="284352" y="267489"/>
                  <a:pt x="284352" y="267489"/>
                  <a:pt x="284352" y="267489"/>
                </a:cubicBezTo>
                <a:lnTo>
                  <a:pt x="284352" y="267489"/>
                </a:lnTo>
                <a:close/>
              </a:path>
            </a:pathLst>
          </a:custGeom>
          <a:solidFill>
            <a:schemeClr val="accent6">
              <a:lumMod val="60000"/>
              <a:lumOff val="40000"/>
            </a:schemeClr>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97" name="Graphic 4">
            <a:extLst>
              <a:ext uri="{FF2B5EF4-FFF2-40B4-BE49-F238E27FC236}">
                <a16:creationId xmlns:a16="http://schemas.microsoft.com/office/drawing/2014/main" id="{2B755E34-98BD-A102-57C1-F64673A2C5C5}"/>
              </a:ext>
            </a:extLst>
          </p:cNvPr>
          <p:cNvSpPr>
            <a:spLocks noChangeAspect="1"/>
          </p:cNvSpPr>
          <p:nvPr/>
        </p:nvSpPr>
        <p:spPr bwMode="gray">
          <a:xfrm>
            <a:off x="4997796" y="2951877"/>
            <a:ext cx="321723" cy="321723"/>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84352 w 362309"/>
              <a:gd name="connsiteY6" fmla="*/ 267489 h 361971"/>
              <a:gd name="connsiteX7" fmla="*/ 278601 w 362309"/>
              <a:gd name="connsiteY7" fmla="*/ 270681 h 361971"/>
              <a:gd name="connsiteX8" fmla="*/ 275406 w 362309"/>
              <a:gd name="connsiteY8" fmla="*/ 270043 h 361971"/>
              <a:gd name="connsiteX9" fmla="*/ 237705 w 362309"/>
              <a:gd name="connsiteY9" fmla="*/ 259828 h 361971"/>
              <a:gd name="connsiteX10" fmla="*/ 221092 w 362309"/>
              <a:gd name="connsiteY10" fmla="*/ 256636 h 361971"/>
              <a:gd name="connsiteX11" fmla="*/ 201922 w 362309"/>
              <a:gd name="connsiteY11" fmla="*/ 239399 h 361971"/>
              <a:gd name="connsiteX12" fmla="*/ 203839 w 362309"/>
              <a:gd name="connsiteY12" fmla="*/ 225993 h 361971"/>
              <a:gd name="connsiteX13" fmla="*/ 223648 w 362309"/>
              <a:gd name="connsiteY13" fmla="*/ 179390 h 361971"/>
              <a:gd name="connsiteX14" fmla="*/ 217897 w 362309"/>
              <a:gd name="connsiteY14" fmla="*/ 120019 h 361971"/>
              <a:gd name="connsiteX15" fmla="*/ 181474 w 362309"/>
              <a:gd name="connsiteY15" fmla="*/ 104059 h 361971"/>
              <a:gd name="connsiteX16" fmla="*/ 180835 w 362309"/>
              <a:gd name="connsiteY16" fmla="*/ 104059 h 361971"/>
              <a:gd name="connsiteX17" fmla="*/ 144412 w 362309"/>
              <a:gd name="connsiteY17" fmla="*/ 120019 h 361971"/>
              <a:gd name="connsiteX18" fmla="*/ 138661 w 362309"/>
              <a:gd name="connsiteY18" fmla="*/ 179390 h 361971"/>
              <a:gd name="connsiteX19" fmla="*/ 158470 w 362309"/>
              <a:gd name="connsiteY19" fmla="*/ 225993 h 361971"/>
              <a:gd name="connsiteX20" fmla="*/ 160387 w 362309"/>
              <a:gd name="connsiteY20" fmla="*/ 239399 h 361971"/>
              <a:gd name="connsiteX21" fmla="*/ 141217 w 362309"/>
              <a:gd name="connsiteY21" fmla="*/ 256636 h 361971"/>
              <a:gd name="connsiteX22" fmla="*/ 124604 w 362309"/>
              <a:gd name="connsiteY22" fmla="*/ 259828 h 361971"/>
              <a:gd name="connsiteX23" fmla="*/ 86264 w 362309"/>
              <a:gd name="connsiteY23" fmla="*/ 270043 h 361971"/>
              <a:gd name="connsiteX24" fmla="*/ 83069 w 362309"/>
              <a:gd name="connsiteY24" fmla="*/ 270681 h 361971"/>
              <a:gd name="connsiteX25" fmla="*/ 76679 w 362309"/>
              <a:gd name="connsiteY25" fmla="*/ 264297 h 361971"/>
              <a:gd name="connsiteX26" fmla="*/ 79874 w 362309"/>
              <a:gd name="connsiteY26" fmla="*/ 258551 h 361971"/>
              <a:gd name="connsiteX27" fmla="*/ 123326 w 362309"/>
              <a:gd name="connsiteY27" fmla="*/ 246422 h 361971"/>
              <a:gd name="connsiteX28" fmla="*/ 136744 w 362309"/>
              <a:gd name="connsiteY28" fmla="*/ 244507 h 361971"/>
              <a:gd name="connsiteX29" fmla="*/ 148246 w 362309"/>
              <a:gd name="connsiteY29" fmla="*/ 235569 h 361971"/>
              <a:gd name="connsiteX30" fmla="*/ 148246 w 362309"/>
              <a:gd name="connsiteY30" fmla="*/ 233654 h 361971"/>
              <a:gd name="connsiteX31" fmla="*/ 126521 w 362309"/>
              <a:gd name="connsiteY31" fmla="*/ 182582 h 361971"/>
              <a:gd name="connsiteX32" fmla="*/ 134828 w 362309"/>
              <a:gd name="connsiteY32" fmla="*/ 112358 h 361971"/>
              <a:gd name="connsiteX33" fmla="*/ 181474 w 362309"/>
              <a:gd name="connsiteY33" fmla="*/ 91930 h 361971"/>
              <a:gd name="connsiteX34" fmla="*/ 181474 w 362309"/>
              <a:gd name="connsiteY34" fmla="*/ 91930 h 361971"/>
              <a:gd name="connsiteX35" fmla="*/ 227482 w 362309"/>
              <a:gd name="connsiteY35" fmla="*/ 112358 h 361971"/>
              <a:gd name="connsiteX36" fmla="*/ 235788 w 362309"/>
              <a:gd name="connsiteY36" fmla="*/ 182582 h 361971"/>
              <a:gd name="connsiteX37" fmla="*/ 214063 w 362309"/>
              <a:gd name="connsiteY37" fmla="*/ 233654 h 361971"/>
              <a:gd name="connsiteX38" fmla="*/ 214063 w 362309"/>
              <a:gd name="connsiteY38" fmla="*/ 235569 h 361971"/>
              <a:gd name="connsiteX39" fmla="*/ 225565 w 362309"/>
              <a:gd name="connsiteY39" fmla="*/ 244507 h 361971"/>
              <a:gd name="connsiteX40" fmla="*/ 238983 w 362309"/>
              <a:gd name="connsiteY40" fmla="*/ 246422 h 361971"/>
              <a:gd name="connsiteX41" fmla="*/ 282435 w 362309"/>
              <a:gd name="connsiteY41" fmla="*/ 258551 h 361971"/>
              <a:gd name="connsiteX42" fmla="*/ 284352 w 362309"/>
              <a:gd name="connsiteY42" fmla="*/ 267489 h 361971"/>
              <a:gd name="connsiteX43" fmla="*/ 284352 w 362309"/>
              <a:gd name="connsiteY43" fmla="*/ 267489 h 361971"/>
              <a:gd name="connsiteX44" fmla="*/ 284352 w 362309"/>
              <a:gd name="connsiteY44" fmla="*/ 26748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309" y="80438"/>
                  <a:pt x="281157" y="0"/>
                  <a:pt x="181474" y="0"/>
                </a:cubicBezTo>
                <a:close/>
                <a:moveTo>
                  <a:pt x="284352" y="267489"/>
                </a:moveTo>
                <a:cubicBezTo>
                  <a:pt x="283074" y="269404"/>
                  <a:pt x="281157" y="270681"/>
                  <a:pt x="278601" y="270681"/>
                </a:cubicBezTo>
                <a:cubicBezTo>
                  <a:pt x="277323" y="270681"/>
                  <a:pt x="276045" y="270681"/>
                  <a:pt x="275406" y="270043"/>
                </a:cubicBezTo>
                <a:cubicBezTo>
                  <a:pt x="263904" y="263659"/>
                  <a:pt x="250485" y="259828"/>
                  <a:pt x="237705" y="259828"/>
                </a:cubicBezTo>
                <a:cubicBezTo>
                  <a:pt x="231955" y="259828"/>
                  <a:pt x="226204" y="258551"/>
                  <a:pt x="221092" y="256636"/>
                </a:cubicBezTo>
                <a:cubicBezTo>
                  <a:pt x="212146" y="254083"/>
                  <a:pt x="205117" y="247699"/>
                  <a:pt x="201922" y="239399"/>
                </a:cubicBezTo>
                <a:cubicBezTo>
                  <a:pt x="200644" y="234931"/>
                  <a:pt x="201283" y="229823"/>
                  <a:pt x="203839" y="225993"/>
                </a:cubicBezTo>
                <a:cubicBezTo>
                  <a:pt x="212785" y="211948"/>
                  <a:pt x="219814" y="195988"/>
                  <a:pt x="223648" y="179390"/>
                </a:cubicBezTo>
                <a:cubicBezTo>
                  <a:pt x="230038" y="152577"/>
                  <a:pt x="228120" y="132787"/>
                  <a:pt x="217897" y="120019"/>
                </a:cubicBezTo>
                <a:cubicBezTo>
                  <a:pt x="205117" y="104059"/>
                  <a:pt x="182113" y="104059"/>
                  <a:pt x="181474" y="104059"/>
                </a:cubicBezTo>
                <a:lnTo>
                  <a:pt x="180835" y="104059"/>
                </a:lnTo>
                <a:cubicBezTo>
                  <a:pt x="166777" y="104059"/>
                  <a:pt x="153997" y="109805"/>
                  <a:pt x="144412" y="120019"/>
                </a:cubicBezTo>
                <a:cubicBezTo>
                  <a:pt x="134189" y="132787"/>
                  <a:pt x="132271" y="152577"/>
                  <a:pt x="138661" y="179390"/>
                </a:cubicBezTo>
                <a:cubicBezTo>
                  <a:pt x="142496" y="195988"/>
                  <a:pt x="149524" y="211310"/>
                  <a:pt x="158470" y="225993"/>
                </a:cubicBezTo>
                <a:cubicBezTo>
                  <a:pt x="161026" y="229823"/>
                  <a:pt x="162304" y="234931"/>
                  <a:pt x="160387" y="239399"/>
                </a:cubicBezTo>
                <a:cubicBezTo>
                  <a:pt x="157192" y="247699"/>
                  <a:pt x="150164" y="254083"/>
                  <a:pt x="141217" y="256636"/>
                </a:cubicBezTo>
                <a:cubicBezTo>
                  <a:pt x="136106" y="258551"/>
                  <a:pt x="130354" y="259190"/>
                  <a:pt x="124604" y="259828"/>
                </a:cubicBezTo>
                <a:cubicBezTo>
                  <a:pt x="111185" y="260467"/>
                  <a:pt x="97766" y="263659"/>
                  <a:pt x="86264" y="270043"/>
                </a:cubicBezTo>
                <a:cubicBezTo>
                  <a:pt x="85625" y="270681"/>
                  <a:pt x="84347" y="270681"/>
                  <a:pt x="83069" y="270681"/>
                </a:cubicBezTo>
                <a:cubicBezTo>
                  <a:pt x="79235" y="270681"/>
                  <a:pt x="76679" y="268127"/>
                  <a:pt x="76679" y="264297"/>
                </a:cubicBezTo>
                <a:cubicBezTo>
                  <a:pt x="76679" y="261743"/>
                  <a:pt x="77957" y="259828"/>
                  <a:pt x="79874" y="258551"/>
                </a:cubicBezTo>
                <a:cubicBezTo>
                  <a:pt x="93293" y="250891"/>
                  <a:pt x="107990" y="247060"/>
                  <a:pt x="123326" y="246422"/>
                </a:cubicBezTo>
                <a:cubicBezTo>
                  <a:pt x="127799" y="246422"/>
                  <a:pt x="132271" y="245783"/>
                  <a:pt x="136744" y="244507"/>
                </a:cubicBezTo>
                <a:cubicBezTo>
                  <a:pt x="141856" y="243230"/>
                  <a:pt x="145690" y="240038"/>
                  <a:pt x="148246" y="235569"/>
                </a:cubicBezTo>
                <a:cubicBezTo>
                  <a:pt x="148885" y="234931"/>
                  <a:pt x="148885" y="234292"/>
                  <a:pt x="148246" y="233654"/>
                </a:cubicBezTo>
                <a:cubicBezTo>
                  <a:pt x="138022" y="217694"/>
                  <a:pt x="130994" y="200457"/>
                  <a:pt x="126521" y="182582"/>
                </a:cubicBezTo>
                <a:cubicBezTo>
                  <a:pt x="118853" y="151939"/>
                  <a:pt x="122048" y="128318"/>
                  <a:pt x="134828" y="112358"/>
                </a:cubicBezTo>
                <a:cubicBezTo>
                  <a:pt x="152080" y="91291"/>
                  <a:pt x="180196" y="91930"/>
                  <a:pt x="181474" y="91930"/>
                </a:cubicBezTo>
                <a:lnTo>
                  <a:pt x="181474" y="91930"/>
                </a:lnTo>
                <a:cubicBezTo>
                  <a:pt x="199366" y="91930"/>
                  <a:pt x="215980" y="99590"/>
                  <a:pt x="227482" y="112358"/>
                </a:cubicBezTo>
                <a:cubicBezTo>
                  <a:pt x="240261" y="128318"/>
                  <a:pt x="243456" y="151939"/>
                  <a:pt x="235788" y="182582"/>
                </a:cubicBezTo>
                <a:cubicBezTo>
                  <a:pt x="231315" y="200457"/>
                  <a:pt x="224287" y="217694"/>
                  <a:pt x="214063" y="233654"/>
                </a:cubicBezTo>
                <a:cubicBezTo>
                  <a:pt x="213424" y="234292"/>
                  <a:pt x="213424" y="234931"/>
                  <a:pt x="214063" y="235569"/>
                </a:cubicBezTo>
                <a:cubicBezTo>
                  <a:pt x="216619" y="240038"/>
                  <a:pt x="220453" y="243230"/>
                  <a:pt x="225565" y="244507"/>
                </a:cubicBezTo>
                <a:cubicBezTo>
                  <a:pt x="230038" y="245783"/>
                  <a:pt x="234510" y="246422"/>
                  <a:pt x="238983" y="246422"/>
                </a:cubicBezTo>
                <a:cubicBezTo>
                  <a:pt x="254319" y="247060"/>
                  <a:pt x="269016" y="251529"/>
                  <a:pt x="282435" y="258551"/>
                </a:cubicBezTo>
                <a:cubicBezTo>
                  <a:pt x="284991" y="260467"/>
                  <a:pt x="285630" y="264297"/>
                  <a:pt x="284352" y="267489"/>
                </a:cubicBezTo>
                <a:cubicBezTo>
                  <a:pt x="284352" y="267489"/>
                  <a:pt x="284352" y="267489"/>
                  <a:pt x="284352" y="267489"/>
                </a:cubicBezTo>
                <a:lnTo>
                  <a:pt x="284352" y="267489"/>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bg1"/>
              </a:solidFill>
              <a:latin typeface="Meiryo UI" panose="020B0604030504040204" pitchFamily="50" charset="-128"/>
              <a:ea typeface="Meiryo UI" panose="020B0604030504040204" pitchFamily="50" charset="-128"/>
              <a:sym typeface="+mn-lt"/>
            </a:endParaRPr>
          </a:p>
        </p:txBody>
      </p:sp>
      <p:sp>
        <p:nvSpPr>
          <p:cNvPr id="98" name="Graphic 4">
            <a:extLst>
              <a:ext uri="{FF2B5EF4-FFF2-40B4-BE49-F238E27FC236}">
                <a16:creationId xmlns:a16="http://schemas.microsoft.com/office/drawing/2014/main" id="{CA29A7A9-E0DD-116E-8779-9FB5CA05AC35}"/>
              </a:ext>
            </a:extLst>
          </p:cNvPr>
          <p:cNvSpPr>
            <a:spLocks noChangeAspect="1"/>
          </p:cNvSpPr>
          <p:nvPr/>
        </p:nvSpPr>
        <p:spPr bwMode="gray">
          <a:xfrm>
            <a:off x="5807781" y="2951877"/>
            <a:ext cx="321723" cy="321723"/>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84352 w 362309"/>
              <a:gd name="connsiteY6" fmla="*/ 267489 h 361971"/>
              <a:gd name="connsiteX7" fmla="*/ 278601 w 362309"/>
              <a:gd name="connsiteY7" fmla="*/ 270681 h 361971"/>
              <a:gd name="connsiteX8" fmla="*/ 275406 w 362309"/>
              <a:gd name="connsiteY8" fmla="*/ 270043 h 361971"/>
              <a:gd name="connsiteX9" fmla="*/ 237705 w 362309"/>
              <a:gd name="connsiteY9" fmla="*/ 259828 h 361971"/>
              <a:gd name="connsiteX10" fmla="*/ 221092 w 362309"/>
              <a:gd name="connsiteY10" fmla="*/ 256636 h 361971"/>
              <a:gd name="connsiteX11" fmla="*/ 201922 w 362309"/>
              <a:gd name="connsiteY11" fmla="*/ 239399 h 361971"/>
              <a:gd name="connsiteX12" fmla="*/ 203839 w 362309"/>
              <a:gd name="connsiteY12" fmla="*/ 225993 h 361971"/>
              <a:gd name="connsiteX13" fmla="*/ 223648 w 362309"/>
              <a:gd name="connsiteY13" fmla="*/ 179390 h 361971"/>
              <a:gd name="connsiteX14" fmla="*/ 217897 w 362309"/>
              <a:gd name="connsiteY14" fmla="*/ 120019 h 361971"/>
              <a:gd name="connsiteX15" fmla="*/ 181474 w 362309"/>
              <a:gd name="connsiteY15" fmla="*/ 104059 h 361971"/>
              <a:gd name="connsiteX16" fmla="*/ 180835 w 362309"/>
              <a:gd name="connsiteY16" fmla="*/ 104059 h 361971"/>
              <a:gd name="connsiteX17" fmla="*/ 144412 w 362309"/>
              <a:gd name="connsiteY17" fmla="*/ 120019 h 361971"/>
              <a:gd name="connsiteX18" fmla="*/ 138661 w 362309"/>
              <a:gd name="connsiteY18" fmla="*/ 179390 h 361971"/>
              <a:gd name="connsiteX19" fmla="*/ 158470 w 362309"/>
              <a:gd name="connsiteY19" fmla="*/ 225993 h 361971"/>
              <a:gd name="connsiteX20" fmla="*/ 160387 w 362309"/>
              <a:gd name="connsiteY20" fmla="*/ 239399 h 361971"/>
              <a:gd name="connsiteX21" fmla="*/ 141217 w 362309"/>
              <a:gd name="connsiteY21" fmla="*/ 256636 h 361971"/>
              <a:gd name="connsiteX22" fmla="*/ 124604 w 362309"/>
              <a:gd name="connsiteY22" fmla="*/ 259828 h 361971"/>
              <a:gd name="connsiteX23" fmla="*/ 86264 w 362309"/>
              <a:gd name="connsiteY23" fmla="*/ 270043 h 361971"/>
              <a:gd name="connsiteX24" fmla="*/ 83069 w 362309"/>
              <a:gd name="connsiteY24" fmla="*/ 270681 h 361971"/>
              <a:gd name="connsiteX25" fmla="*/ 76679 w 362309"/>
              <a:gd name="connsiteY25" fmla="*/ 264297 h 361971"/>
              <a:gd name="connsiteX26" fmla="*/ 79874 w 362309"/>
              <a:gd name="connsiteY26" fmla="*/ 258551 h 361971"/>
              <a:gd name="connsiteX27" fmla="*/ 123326 w 362309"/>
              <a:gd name="connsiteY27" fmla="*/ 246422 h 361971"/>
              <a:gd name="connsiteX28" fmla="*/ 136744 w 362309"/>
              <a:gd name="connsiteY28" fmla="*/ 244507 h 361971"/>
              <a:gd name="connsiteX29" fmla="*/ 148246 w 362309"/>
              <a:gd name="connsiteY29" fmla="*/ 235569 h 361971"/>
              <a:gd name="connsiteX30" fmla="*/ 148246 w 362309"/>
              <a:gd name="connsiteY30" fmla="*/ 233654 h 361971"/>
              <a:gd name="connsiteX31" fmla="*/ 126521 w 362309"/>
              <a:gd name="connsiteY31" fmla="*/ 182582 h 361971"/>
              <a:gd name="connsiteX32" fmla="*/ 134828 w 362309"/>
              <a:gd name="connsiteY32" fmla="*/ 112358 h 361971"/>
              <a:gd name="connsiteX33" fmla="*/ 181474 w 362309"/>
              <a:gd name="connsiteY33" fmla="*/ 91930 h 361971"/>
              <a:gd name="connsiteX34" fmla="*/ 181474 w 362309"/>
              <a:gd name="connsiteY34" fmla="*/ 91930 h 361971"/>
              <a:gd name="connsiteX35" fmla="*/ 227482 w 362309"/>
              <a:gd name="connsiteY35" fmla="*/ 112358 h 361971"/>
              <a:gd name="connsiteX36" fmla="*/ 235788 w 362309"/>
              <a:gd name="connsiteY36" fmla="*/ 182582 h 361971"/>
              <a:gd name="connsiteX37" fmla="*/ 214063 w 362309"/>
              <a:gd name="connsiteY37" fmla="*/ 233654 h 361971"/>
              <a:gd name="connsiteX38" fmla="*/ 214063 w 362309"/>
              <a:gd name="connsiteY38" fmla="*/ 235569 h 361971"/>
              <a:gd name="connsiteX39" fmla="*/ 225565 w 362309"/>
              <a:gd name="connsiteY39" fmla="*/ 244507 h 361971"/>
              <a:gd name="connsiteX40" fmla="*/ 238983 w 362309"/>
              <a:gd name="connsiteY40" fmla="*/ 246422 h 361971"/>
              <a:gd name="connsiteX41" fmla="*/ 282435 w 362309"/>
              <a:gd name="connsiteY41" fmla="*/ 258551 h 361971"/>
              <a:gd name="connsiteX42" fmla="*/ 284352 w 362309"/>
              <a:gd name="connsiteY42" fmla="*/ 267489 h 361971"/>
              <a:gd name="connsiteX43" fmla="*/ 284352 w 362309"/>
              <a:gd name="connsiteY43" fmla="*/ 267489 h 361971"/>
              <a:gd name="connsiteX44" fmla="*/ 284352 w 362309"/>
              <a:gd name="connsiteY44" fmla="*/ 26748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309" y="80438"/>
                  <a:pt x="281157" y="0"/>
                  <a:pt x="181474" y="0"/>
                </a:cubicBezTo>
                <a:close/>
                <a:moveTo>
                  <a:pt x="284352" y="267489"/>
                </a:moveTo>
                <a:cubicBezTo>
                  <a:pt x="283074" y="269404"/>
                  <a:pt x="281157" y="270681"/>
                  <a:pt x="278601" y="270681"/>
                </a:cubicBezTo>
                <a:cubicBezTo>
                  <a:pt x="277323" y="270681"/>
                  <a:pt x="276045" y="270681"/>
                  <a:pt x="275406" y="270043"/>
                </a:cubicBezTo>
                <a:cubicBezTo>
                  <a:pt x="263904" y="263659"/>
                  <a:pt x="250485" y="259828"/>
                  <a:pt x="237705" y="259828"/>
                </a:cubicBezTo>
                <a:cubicBezTo>
                  <a:pt x="231955" y="259828"/>
                  <a:pt x="226204" y="258551"/>
                  <a:pt x="221092" y="256636"/>
                </a:cubicBezTo>
                <a:cubicBezTo>
                  <a:pt x="212146" y="254083"/>
                  <a:pt x="205117" y="247699"/>
                  <a:pt x="201922" y="239399"/>
                </a:cubicBezTo>
                <a:cubicBezTo>
                  <a:pt x="200644" y="234931"/>
                  <a:pt x="201283" y="229823"/>
                  <a:pt x="203839" y="225993"/>
                </a:cubicBezTo>
                <a:cubicBezTo>
                  <a:pt x="212785" y="211948"/>
                  <a:pt x="219814" y="195988"/>
                  <a:pt x="223648" y="179390"/>
                </a:cubicBezTo>
                <a:cubicBezTo>
                  <a:pt x="230038" y="152577"/>
                  <a:pt x="228120" y="132787"/>
                  <a:pt x="217897" y="120019"/>
                </a:cubicBezTo>
                <a:cubicBezTo>
                  <a:pt x="205117" y="104059"/>
                  <a:pt x="182113" y="104059"/>
                  <a:pt x="181474" y="104059"/>
                </a:cubicBezTo>
                <a:lnTo>
                  <a:pt x="180835" y="104059"/>
                </a:lnTo>
                <a:cubicBezTo>
                  <a:pt x="166777" y="104059"/>
                  <a:pt x="153997" y="109805"/>
                  <a:pt x="144412" y="120019"/>
                </a:cubicBezTo>
                <a:cubicBezTo>
                  <a:pt x="134189" y="132787"/>
                  <a:pt x="132271" y="152577"/>
                  <a:pt x="138661" y="179390"/>
                </a:cubicBezTo>
                <a:cubicBezTo>
                  <a:pt x="142496" y="195988"/>
                  <a:pt x="149524" y="211310"/>
                  <a:pt x="158470" y="225993"/>
                </a:cubicBezTo>
                <a:cubicBezTo>
                  <a:pt x="161026" y="229823"/>
                  <a:pt x="162304" y="234931"/>
                  <a:pt x="160387" y="239399"/>
                </a:cubicBezTo>
                <a:cubicBezTo>
                  <a:pt x="157192" y="247699"/>
                  <a:pt x="150164" y="254083"/>
                  <a:pt x="141217" y="256636"/>
                </a:cubicBezTo>
                <a:cubicBezTo>
                  <a:pt x="136106" y="258551"/>
                  <a:pt x="130354" y="259190"/>
                  <a:pt x="124604" y="259828"/>
                </a:cubicBezTo>
                <a:cubicBezTo>
                  <a:pt x="111185" y="260467"/>
                  <a:pt x="97766" y="263659"/>
                  <a:pt x="86264" y="270043"/>
                </a:cubicBezTo>
                <a:cubicBezTo>
                  <a:pt x="85625" y="270681"/>
                  <a:pt x="84347" y="270681"/>
                  <a:pt x="83069" y="270681"/>
                </a:cubicBezTo>
                <a:cubicBezTo>
                  <a:pt x="79235" y="270681"/>
                  <a:pt x="76679" y="268127"/>
                  <a:pt x="76679" y="264297"/>
                </a:cubicBezTo>
                <a:cubicBezTo>
                  <a:pt x="76679" y="261743"/>
                  <a:pt x="77957" y="259828"/>
                  <a:pt x="79874" y="258551"/>
                </a:cubicBezTo>
                <a:cubicBezTo>
                  <a:pt x="93293" y="250891"/>
                  <a:pt x="107990" y="247060"/>
                  <a:pt x="123326" y="246422"/>
                </a:cubicBezTo>
                <a:cubicBezTo>
                  <a:pt x="127799" y="246422"/>
                  <a:pt x="132271" y="245783"/>
                  <a:pt x="136744" y="244507"/>
                </a:cubicBezTo>
                <a:cubicBezTo>
                  <a:pt x="141856" y="243230"/>
                  <a:pt x="145690" y="240038"/>
                  <a:pt x="148246" y="235569"/>
                </a:cubicBezTo>
                <a:cubicBezTo>
                  <a:pt x="148885" y="234931"/>
                  <a:pt x="148885" y="234292"/>
                  <a:pt x="148246" y="233654"/>
                </a:cubicBezTo>
                <a:cubicBezTo>
                  <a:pt x="138022" y="217694"/>
                  <a:pt x="130994" y="200457"/>
                  <a:pt x="126521" y="182582"/>
                </a:cubicBezTo>
                <a:cubicBezTo>
                  <a:pt x="118853" y="151939"/>
                  <a:pt x="122048" y="128318"/>
                  <a:pt x="134828" y="112358"/>
                </a:cubicBezTo>
                <a:cubicBezTo>
                  <a:pt x="152080" y="91291"/>
                  <a:pt x="180196" y="91930"/>
                  <a:pt x="181474" y="91930"/>
                </a:cubicBezTo>
                <a:lnTo>
                  <a:pt x="181474" y="91930"/>
                </a:lnTo>
                <a:cubicBezTo>
                  <a:pt x="199366" y="91930"/>
                  <a:pt x="215980" y="99590"/>
                  <a:pt x="227482" y="112358"/>
                </a:cubicBezTo>
                <a:cubicBezTo>
                  <a:pt x="240261" y="128318"/>
                  <a:pt x="243456" y="151939"/>
                  <a:pt x="235788" y="182582"/>
                </a:cubicBezTo>
                <a:cubicBezTo>
                  <a:pt x="231315" y="200457"/>
                  <a:pt x="224287" y="217694"/>
                  <a:pt x="214063" y="233654"/>
                </a:cubicBezTo>
                <a:cubicBezTo>
                  <a:pt x="213424" y="234292"/>
                  <a:pt x="213424" y="234931"/>
                  <a:pt x="214063" y="235569"/>
                </a:cubicBezTo>
                <a:cubicBezTo>
                  <a:pt x="216619" y="240038"/>
                  <a:pt x="220453" y="243230"/>
                  <a:pt x="225565" y="244507"/>
                </a:cubicBezTo>
                <a:cubicBezTo>
                  <a:pt x="230038" y="245783"/>
                  <a:pt x="234510" y="246422"/>
                  <a:pt x="238983" y="246422"/>
                </a:cubicBezTo>
                <a:cubicBezTo>
                  <a:pt x="254319" y="247060"/>
                  <a:pt x="269016" y="251529"/>
                  <a:pt x="282435" y="258551"/>
                </a:cubicBezTo>
                <a:cubicBezTo>
                  <a:pt x="284991" y="260467"/>
                  <a:pt x="285630" y="264297"/>
                  <a:pt x="284352" y="267489"/>
                </a:cubicBezTo>
                <a:cubicBezTo>
                  <a:pt x="284352" y="267489"/>
                  <a:pt x="284352" y="267489"/>
                  <a:pt x="284352" y="267489"/>
                </a:cubicBezTo>
                <a:lnTo>
                  <a:pt x="284352" y="267489"/>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bg1"/>
              </a:solidFill>
              <a:latin typeface="Meiryo UI" panose="020B0604030504040204" pitchFamily="50" charset="-128"/>
              <a:ea typeface="Meiryo UI" panose="020B0604030504040204" pitchFamily="50" charset="-128"/>
              <a:sym typeface="+mn-lt"/>
            </a:endParaRPr>
          </a:p>
        </p:txBody>
      </p:sp>
      <p:sp>
        <p:nvSpPr>
          <p:cNvPr id="99" name="Graphic 4">
            <a:extLst>
              <a:ext uri="{FF2B5EF4-FFF2-40B4-BE49-F238E27FC236}">
                <a16:creationId xmlns:a16="http://schemas.microsoft.com/office/drawing/2014/main" id="{2A925E2C-4528-EC81-077D-492588E29644}"/>
              </a:ext>
            </a:extLst>
          </p:cNvPr>
          <p:cNvSpPr>
            <a:spLocks noChangeAspect="1"/>
          </p:cNvSpPr>
          <p:nvPr/>
        </p:nvSpPr>
        <p:spPr bwMode="gray">
          <a:xfrm>
            <a:off x="6617765" y="2951877"/>
            <a:ext cx="321723" cy="321723"/>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84352 w 362309"/>
              <a:gd name="connsiteY6" fmla="*/ 267489 h 361971"/>
              <a:gd name="connsiteX7" fmla="*/ 278601 w 362309"/>
              <a:gd name="connsiteY7" fmla="*/ 270681 h 361971"/>
              <a:gd name="connsiteX8" fmla="*/ 275406 w 362309"/>
              <a:gd name="connsiteY8" fmla="*/ 270043 h 361971"/>
              <a:gd name="connsiteX9" fmla="*/ 237705 w 362309"/>
              <a:gd name="connsiteY9" fmla="*/ 259828 h 361971"/>
              <a:gd name="connsiteX10" fmla="*/ 221092 w 362309"/>
              <a:gd name="connsiteY10" fmla="*/ 256636 h 361971"/>
              <a:gd name="connsiteX11" fmla="*/ 201922 w 362309"/>
              <a:gd name="connsiteY11" fmla="*/ 239399 h 361971"/>
              <a:gd name="connsiteX12" fmla="*/ 203839 w 362309"/>
              <a:gd name="connsiteY12" fmla="*/ 225993 h 361971"/>
              <a:gd name="connsiteX13" fmla="*/ 223648 w 362309"/>
              <a:gd name="connsiteY13" fmla="*/ 179390 h 361971"/>
              <a:gd name="connsiteX14" fmla="*/ 217897 w 362309"/>
              <a:gd name="connsiteY14" fmla="*/ 120019 h 361971"/>
              <a:gd name="connsiteX15" fmla="*/ 181474 w 362309"/>
              <a:gd name="connsiteY15" fmla="*/ 104059 h 361971"/>
              <a:gd name="connsiteX16" fmla="*/ 180835 w 362309"/>
              <a:gd name="connsiteY16" fmla="*/ 104059 h 361971"/>
              <a:gd name="connsiteX17" fmla="*/ 144412 w 362309"/>
              <a:gd name="connsiteY17" fmla="*/ 120019 h 361971"/>
              <a:gd name="connsiteX18" fmla="*/ 138661 w 362309"/>
              <a:gd name="connsiteY18" fmla="*/ 179390 h 361971"/>
              <a:gd name="connsiteX19" fmla="*/ 158470 w 362309"/>
              <a:gd name="connsiteY19" fmla="*/ 225993 h 361971"/>
              <a:gd name="connsiteX20" fmla="*/ 160387 w 362309"/>
              <a:gd name="connsiteY20" fmla="*/ 239399 h 361971"/>
              <a:gd name="connsiteX21" fmla="*/ 141217 w 362309"/>
              <a:gd name="connsiteY21" fmla="*/ 256636 h 361971"/>
              <a:gd name="connsiteX22" fmla="*/ 124604 w 362309"/>
              <a:gd name="connsiteY22" fmla="*/ 259828 h 361971"/>
              <a:gd name="connsiteX23" fmla="*/ 86264 w 362309"/>
              <a:gd name="connsiteY23" fmla="*/ 270043 h 361971"/>
              <a:gd name="connsiteX24" fmla="*/ 83069 w 362309"/>
              <a:gd name="connsiteY24" fmla="*/ 270681 h 361971"/>
              <a:gd name="connsiteX25" fmla="*/ 76679 w 362309"/>
              <a:gd name="connsiteY25" fmla="*/ 264297 h 361971"/>
              <a:gd name="connsiteX26" fmla="*/ 79874 w 362309"/>
              <a:gd name="connsiteY26" fmla="*/ 258551 h 361971"/>
              <a:gd name="connsiteX27" fmla="*/ 123326 w 362309"/>
              <a:gd name="connsiteY27" fmla="*/ 246422 h 361971"/>
              <a:gd name="connsiteX28" fmla="*/ 136744 w 362309"/>
              <a:gd name="connsiteY28" fmla="*/ 244507 h 361971"/>
              <a:gd name="connsiteX29" fmla="*/ 148246 w 362309"/>
              <a:gd name="connsiteY29" fmla="*/ 235569 h 361971"/>
              <a:gd name="connsiteX30" fmla="*/ 148246 w 362309"/>
              <a:gd name="connsiteY30" fmla="*/ 233654 h 361971"/>
              <a:gd name="connsiteX31" fmla="*/ 126521 w 362309"/>
              <a:gd name="connsiteY31" fmla="*/ 182582 h 361971"/>
              <a:gd name="connsiteX32" fmla="*/ 134828 w 362309"/>
              <a:gd name="connsiteY32" fmla="*/ 112358 h 361971"/>
              <a:gd name="connsiteX33" fmla="*/ 181474 w 362309"/>
              <a:gd name="connsiteY33" fmla="*/ 91930 h 361971"/>
              <a:gd name="connsiteX34" fmla="*/ 181474 w 362309"/>
              <a:gd name="connsiteY34" fmla="*/ 91930 h 361971"/>
              <a:gd name="connsiteX35" fmla="*/ 227482 w 362309"/>
              <a:gd name="connsiteY35" fmla="*/ 112358 h 361971"/>
              <a:gd name="connsiteX36" fmla="*/ 235788 w 362309"/>
              <a:gd name="connsiteY36" fmla="*/ 182582 h 361971"/>
              <a:gd name="connsiteX37" fmla="*/ 214063 w 362309"/>
              <a:gd name="connsiteY37" fmla="*/ 233654 h 361971"/>
              <a:gd name="connsiteX38" fmla="*/ 214063 w 362309"/>
              <a:gd name="connsiteY38" fmla="*/ 235569 h 361971"/>
              <a:gd name="connsiteX39" fmla="*/ 225565 w 362309"/>
              <a:gd name="connsiteY39" fmla="*/ 244507 h 361971"/>
              <a:gd name="connsiteX40" fmla="*/ 238983 w 362309"/>
              <a:gd name="connsiteY40" fmla="*/ 246422 h 361971"/>
              <a:gd name="connsiteX41" fmla="*/ 282435 w 362309"/>
              <a:gd name="connsiteY41" fmla="*/ 258551 h 361971"/>
              <a:gd name="connsiteX42" fmla="*/ 284352 w 362309"/>
              <a:gd name="connsiteY42" fmla="*/ 267489 h 361971"/>
              <a:gd name="connsiteX43" fmla="*/ 284352 w 362309"/>
              <a:gd name="connsiteY43" fmla="*/ 267489 h 361971"/>
              <a:gd name="connsiteX44" fmla="*/ 284352 w 362309"/>
              <a:gd name="connsiteY44" fmla="*/ 26748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309" y="80438"/>
                  <a:pt x="281157" y="0"/>
                  <a:pt x="181474" y="0"/>
                </a:cubicBezTo>
                <a:close/>
                <a:moveTo>
                  <a:pt x="284352" y="267489"/>
                </a:moveTo>
                <a:cubicBezTo>
                  <a:pt x="283074" y="269404"/>
                  <a:pt x="281157" y="270681"/>
                  <a:pt x="278601" y="270681"/>
                </a:cubicBezTo>
                <a:cubicBezTo>
                  <a:pt x="277323" y="270681"/>
                  <a:pt x="276045" y="270681"/>
                  <a:pt x="275406" y="270043"/>
                </a:cubicBezTo>
                <a:cubicBezTo>
                  <a:pt x="263904" y="263659"/>
                  <a:pt x="250485" y="259828"/>
                  <a:pt x="237705" y="259828"/>
                </a:cubicBezTo>
                <a:cubicBezTo>
                  <a:pt x="231955" y="259828"/>
                  <a:pt x="226204" y="258551"/>
                  <a:pt x="221092" y="256636"/>
                </a:cubicBezTo>
                <a:cubicBezTo>
                  <a:pt x="212146" y="254083"/>
                  <a:pt x="205117" y="247699"/>
                  <a:pt x="201922" y="239399"/>
                </a:cubicBezTo>
                <a:cubicBezTo>
                  <a:pt x="200644" y="234931"/>
                  <a:pt x="201283" y="229823"/>
                  <a:pt x="203839" y="225993"/>
                </a:cubicBezTo>
                <a:cubicBezTo>
                  <a:pt x="212785" y="211948"/>
                  <a:pt x="219814" y="195988"/>
                  <a:pt x="223648" y="179390"/>
                </a:cubicBezTo>
                <a:cubicBezTo>
                  <a:pt x="230038" y="152577"/>
                  <a:pt x="228120" y="132787"/>
                  <a:pt x="217897" y="120019"/>
                </a:cubicBezTo>
                <a:cubicBezTo>
                  <a:pt x="205117" y="104059"/>
                  <a:pt x="182113" y="104059"/>
                  <a:pt x="181474" y="104059"/>
                </a:cubicBezTo>
                <a:lnTo>
                  <a:pt x="180835" y="104059"/>
                </a:lnTo>
                <a:cubicBezTo>
                  <a:pt x="166777" y="104059"/>
                  <a:pt x="153997" y="109805"/>
                  <a:pt x="144412" y="120019"/>
                </a:cubicBezTo>
                <a:cubicBezTo>
                  <a:pt x="134189" y="132787"/>
                  <a:pt x="132271" y="152577"/>
                  <a:pt x="138661" y="179390"/>
                </a:cubicBezTo>
                <a:cubicBezTo>
                  <a:pt x="142496" y="195988"/>
                  <a:pt x="149524" y="211310"/>
                  <a:pt x="158470" y="225993"/>
                </a:cubicBezTo>
                <a:cubicBezTo>
                  <a:pt x="161026" y="229823"/>
                  <a:pt x="162304" y="234931"/>
                  <a:pt x="160387" y="239399"/>
                </a:cubicBezTo>
                <a:cubicBezTo>
                  <a:pt x="157192" y="247699"/>
                  <a:pt x="150164" y="254083"/>
                  <a:pt x="141217" y="256636"/>
                </a:cubicBezTo>
                <a:cubicBezTo>
                  <a:pt x="136106" y="258551"/>
                  <a:pt x="130354" y="259190"/>
                  <a:pt x="124604" y="259828"/>
                </a:cubicBezTo>
                <a:cubicBezTo>
                  <a:pt x="111185" y="260467"/>
                  <a:pt x="97766" y="263659"/>
                  <a:pt x="86264" y="270043"/>
                </a:cubicBezTo>
                <a:cubicBezTo>
                  <a:pt x="85625" y="270681"/>
                  <a:pt x="84347" y="270681"/>
                  <a:pt x="83069" y="270681"/>
                </a:cubicBezTo>
                <a:cubicBezTo>
                  <a:pt x="79235" y="270681"/>
                  <a:pt x="76679" y="268127"/>
                  <a:pt x="76679" y="264297"/>
                </a:cubicBezTo>
                <a:cubicBezTo>
                  <a:pt x="76679" y="261743"/>
                  <a:pt x="77957" y="259828"/>
                  <a:pt x="79874" y="258551"/>
                </a:cubicBezTo>
                <a:cubicBezTo>
                  <a:pt x="93293" y="250891"/>
                  <a:pt x="107990" y="247060"/>
                  <a:pt x="123326" y="246422"/>
                </a:cubicBezTo>
                <a:cubicBezTo>
                  <a:pt x="127799" y="246422"/>
                  <a:pt x="132271" y="245783"/>
                  <a:pt x="136744" y="244507"/>
                </a:cubicBezTo>
                <a:cubicBezTo>
                  <a:pt x="141856" y="243230"/>
                  <a:pt x="145690" y="240038"/>
                  <a:pt x="148246" y="235569"/>
                </a:cubicBezTo>
                <a:cubicBezTo>
                  <a:pt x="148885" y="234931"/>
                  <a:pt x="148885" y="234292"/>
                  <a:pt x="148246" y="233654"/>
                </a:cubicBezTo>
                <a:cubicBezTo>
                  <a:pt x="138022" y="217694"/>
                  <a:pt x="130994" y="200457"/>
                  <a:pt x="126521" y="182582"/>
                </a:cubicBezTo>
                <a:cubicBezTo>
                  <a:pt x="118853" y="151939"/>
                  <a:pt x="122048" y="128318"/>
                  <a:pt x="134828" y="112358"/>
                </a:cubicBezTo>
                <a:cubicBezTo>
                  <a:pt x="152080" y="91291"/>
                  <a:pt x="180196" y="91930"/>
                  <a:pt x="181474" y="91930"/>
                </a:cubicBezTo>
                <a:lnTo>
                  <a:pt x="181474" y="91930"/>
                </a:lnTo>
                <a:cubicBezTo>
                  <a:pt x="199366" y="91930"/>
                  <a:pt x="215980" y="99590"/>
                  <a:pt x="227482" y="112358"/>
                </a:cubicBezTo>
                <a:cubicBezTo>
                  <a:pt x="240261" y="128318"/>
                  <a:pt x="243456" y="151939"/>
                  <a:pt x="235788" y="182582"/>
                </a:cubicBezTo>
                <a:cubicBezTo>
                  <a:pt x="231315" y="200457"/>
                  <a:pt x="224287" y="217694"/>
                  <a:pt x="214063" y="233654"/>
                </a:cubicBezTo>
                <a:cubicBezTo>
                  <a:pt x="213424" y="234292"/>
                  <a:pt x="213424" y="234931"/>
                  <a:pt x="214063" y="235569"/>
                </a:cubicBezTo>
                <a:cubicBezTo>
                  <a:pt x="216619" y="240038"/>
                  <a:pt x="220453" y="243230"/>
                  <a:pt x="225565" y="244507"/>
                </a:cubicBezTo>
                <a:cubicBezTo>
                  <a:pt x="230038" y="245783"/>
                  <a:pt x="234510" y="246422"/>
                  <a:pt x="238983" y="246422"/>
                </a:cubicBezTo>
                <a:cubicBezTo>
                  <a:pt x="254319" y="247060"/>
                  <a:pt x="269016" y="251529"/>
                  <a:pt x="282435" y="258551"/>
                </a:cubicBezTo>
                <a:cubicBezTo>
                  <a:pt x="284991" y="260467"/>
                  <a:pt x="285630" y="264297"/>
                  <a:pt x="284352" y="267489"/>
                </a:cubicBezTo>
                <a:cubicBezTo>
                  <a:pt x="284352" y="267489"/>
                  <a:pt x="284352" y="267489"/>
                  <a:pt x="284352" y="267489"/>
                </a:cubicBezTo>
                <a:lnTo>
                  <a:pt x="284352" y="267489"/>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bg1"/>
              </a:solidFill>
              <a:latin typeface="Meiryo UI" panose="020B0604030504040204" pitchFamily="50" charset="-128"/>
              <a:ea typeface="Meiryo UI" panose="020B0604030504040204" pitchFamily="50" charset="-128"/>
              <a:sym typeface="+mn-lt"/>
            </a:endParaRPr>
          </a:p>
        </p:txBody>
      </p:sp>
      <p:sp>
        <p:nvSpPr>
          <p:cNvPr id="100" name="Graphic 4">
            <a:extLst>
              <a:ext uri="{FF2B5EF4-FFF2-40B4-BE49-F238E27FC236}">
                <a16:creationId xmlns:a16="http://schemas.microsoft.com/office/drawing/2014/main" id="{0905426D-B0A5-9370-F94B-0C07977D2B42}"/>
              </a:ext>
            </a:extLst>
          </p:cNvPr>
          <p:cNvSpPr>
            <a:spLocks noChangeAspect="1"/>
          </p:cNvSpPr>
          <p:nvPr/>
        </p:nvSpPr>
        <p:spPr bwMode="gray">
          <a:xfrm>
            <a:off x="7271409" y="2951877"/>
            <a:ext cx="321723" cy="321723"/>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84352 w 362309"/>
              <a:gd name="connsiteY6" fmla="*/ 267489 h 361971"/>
              <a:gd name="connsiteX7" fmla="*/ 278601 w 362309"/>
              <a:gd name="connsiteY7" fmla="*/ 270681 h 361971"/>
              <a:gd name="connsiteX8" fmla="*/ 275406 w 362309"/>
              <a:gd name="connsiteY8" fmla="*/ 270043 h 361971"/>
              <a:gd name="connsiteX9" fmla="*/ 237705 w 362309"/>
              <a:gd name="connsiteY9" fmla="*/ 259828 h 361971"/>
              <a:gd name="connsiteX10" fmla="*/ 221092 w 362309"/>
              <a:gd name="connsiteY10" fmla="*/ 256636 h 361971"/>
              <a:gd name="connsiteX11" fmla="*/ 201922 w 362309"/>
              <a:gd name="connsiteY11" fmla="*/ 239399 h 361971"/>
              <a:gd name="connsiteX12" fmla="*/ 203839 w 362309"/>
              <a:gd name="connsiteY12" fmla="*/ 225993 h 361971"/>
              <a:gd name="connsiteX13" fmla="*/ 223648 w 362309"/>
              <a:gd name="connsiteY13" fmla="*/ 179390 h 361971"/>
              <a:gd name="connsiteX14" fmla="*/ 217897 w 362309"/>
              <a:gd name="connsiteY14" fmla="*/ 120019 h 361971"/>
              <a:gd name="connsiteX15" fmla="*/ 181474 w 362309"/>
              <a:gd name="connsiteY15" fmla="*/ 104059 h 361971"/>
              <a:gd name="connsiteX16" fmla="*/ 180835 w 362309"/>
              <a:gd name="connsiteY16" fmla="*/ 104059 h 361971"/>
              <a:gd name="connsiteX17" fmla="*/ 144412 w 362309"/>
              <a:gd name="connsiteY17" fmla="*/ 120019 h 361971"/>
              <a:gd name="connsiteX18" fmla="*/ 138661 w 362309"/>
              <a:gd name="connsiteY18" fmla="*/ 179390 h 361971"/>
              <a:gd name="connsiteX19" fmla="*/ 158470 w 362309"/>
              <a:gd name="connsiteY19" fmla="*/ 225993 h 361971"/>
              <a:gd name="connsiteX20" fmla="*/ 160387 w 362309"/>
              <a:gd name="connsiteY20" fmla="*/ 239399 h 361971"/>
              <a:gd name="connsiteX21" fmla="*/ 141217 w 362309"/>
              <a:gd name="connsiteY21" fmla="*/ 256636 h 361971"/>
              <a:gd name="connsiteX22" fmla="*/ 124604 w 362309"/>
              <a:gd name="connsiteY22" fmla="*/ 259828 h 361971"/>
              <a:gd name="connsiteX23" fmla="*/ 86264 w 362309"/>
              <a:gd name="connsiteY23" fmla="*/ 270043 h 361971"/>
              <a:gd name="connsiteX24" fmla="*/ 83069 w 362309"/>
              <a:gd name="connsiteY24" fmla="*/ 270681 h 361971"/>
              <a:gd name="connsiteX25" fmla="*/ 76679 w 362309"/>
              <a:gd name="connsiteY25" fmla="*/ 264297 h 361971"/>
              <a:gd name="connsiteX26" fmla="*/ 79874 w 362309"/>
              <a:gd name="connsiteY26" fmla="*/ 258551 h 361971"/>
              <a:gd name="connsiteX27" fmla="*/ 123326 w 362309"/>
              <a:gd name="connsiteY27" fmla="*/ 246422 h 361971"/>
              <a:gd name="connsiteX28" fmla="*/ 136744 w 362309"/>
              <a:gd name="connsiteY28" fmla="*/ 244507 h 361971"/>
              <a:gd name="connsiteX29" fmla="*/ 148246 w 362309"/>
              <a:gd name="connsiteY29" fmla="*/ 235569 h 361971"/>
              <a:gd name="connsiteX30" fmla="*/ 148246 w 362309"/>
              <a:gd name="connsiteY30" fmla="*/ 233654 h 361971"/>
              <a:gd name="connsiteX31" fmla="*/ 126521 w 362309"/>
              <a:gd name="connsiteY31" fmla="*/ 182582 h 361971"/>
              <a:gd name="connsiteX32" fmla="*/ 134828 w 362309"/>
              <a:gd name="connsiteY32" fmla="*/ 112358 h 361971"/>
              <a:gd name="connsiteX33" fmla="*/ 181474 w 362309"/>
              <a:gd name="connsiteY33" fmla="*/ 91930 h 361971"/>
              <a:gd name="connsiteX34" fmla="*/ 181474 w 362309"/>
              <a:gd name="connsiteY34" fmla="*/ 91930 h 361971"/>
              <a:gd name="connsiteX35" fmla="*/ 227482 w 362309"/>
              <a:gd name="connsiteY35" fmla="*/ 112358 h 361971"/>
              <a:gd name="connsiteX36" fmla="*/ 235788 w 362309"/>
              <a:gd name="connsiteY36" fmla="*/ 182582 h 361971"/>
              <a:gd name="connsiteX37" fmla="*/ 214063 w 362309"/>
              <a:gd name="connsiteY37" fmla="*/ 233654 h 361971"/>
              <a:gd name="connsiteX38" fmla="*/ 214063 w 362309"/>
              <a:gd name="connsiteY38" fmla="*/ 235569 h 361971"/>
              <a:gd name="connsiteX39" fmla="*/ 225565 w 362309"/>
              <a:gd name="connsiteY39" fmla="*/ 244507 h 361971"/>
              <a:gd name="connsiteX40" fmla="*/ 238983 w 362309"/>
              <a:gd name="connsiteY40" fmla="*/ 246422 h 361971"/>
              <a:gd name="connsiteX41" fmla="*/ 282435 w 362309"/>
              <a:gd name="connsiteY41" fmla="*/ 258551 h 361971"/>
              <a:gd name="connsiteX42" fmla="*/ 284352 w 362309"/>
              <a:gd name="connsiteY42" fmla="*/ 267489 h 361971"/>
              <a:gd name="connsiteX43" fmla="*/ 284352 w 362309"/>
              <a:gd name="connsiteY43" fmla="*/ 267489 h 361971"/>
              <a:gd name="connsiteX44" fmla="*/ 284352 w 362309"/>
              <a:gd name="connsiteY44" fmla="*/ 26748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309" y="80438"/>
                  <a:pt x="281157" y="0"/>
                  <a:pt x="181474" y="0"/>
                </a:cubicBezTo>
                <a:close/>
                <a:moveTo>
                  <a:pt x="284352" y="267489"/>
                </a:moveTo>
                <a:cubicBezTo>
                  <a:pt x="283074" y="269404"/>
                  <a:pt x="281157" y="270681"/>
                  <a:pt x="278601" y="270681"/>
                </a:cubicBezTo>
                <a:cubicBezTo>
                  <a:pt x="277323" y="270681"/>
                  <a:pt x="276045" y="270681"/>
                  <a:pt x="275406" y="270043"/>
                </a:cubicBezTo>
                <a:cubicBezTo>
                  <a:pt x="263904" y="263659"/>
                  <a:pt x="250485" y="259828"/>
                  <a:pt x="237705" y="259828"/>
                </a:cubicBezTo>
                <a:cubicBezTo>
                  <a:pt x="231955" y="259828"/>
                  <a:pt x="226204" y="258551"/>
                  <a:pt x="221092" y="256636"/>
                </a:cubicBezTo>
                <a:cubicBezTo>
                  <a:pt x="212146" y="254083"/>
                  <a:pt x="205117" y="247699"/>
                  <a:pt x="201922" y="239399"/>
                </a:cubicBezTo>
                <a:cubicBezTo>
                  <a:pt x="200644" y="234931"/>
                  <a:pt x="201283" y="229823"/>
                  <a:pt x="203839" y="225993"/>
                </a:cubicBezTo>
                <a:cubicBezTo>
                  <a:pt x="212785" y="211948"/>
                  <a:pt x="219814" y="195988"/>
                  <a:pt x="223648" y="179390"/>
                </a:cubicBezTo>
                <a:cubicBezTo>
                  <a:pt x="230038" y="152577"/>
                  <a:pt x="228120" y="132787"/>
                  <a:pt x="217897" y="120019"/>
                </a:cubicBezTo>
                <a:cubicBezTo>
                  <a:pt x="205117" y="104059"/>
                  <a:pt x="182113" y="104059"/>
                  <a:pt x="181474" y="104059"/>
                </a:cubicBezTo>
                <a:lnTo>
                  <a:pt x="180835" y="104059"/>
                </a:lnTo>
                <a:cubicBezTo>
                  <a:pt x="166777" y="104059"/>
                  <a:pt x="153997" y="109805"/>
                  <a:pt x="144412" y="120019"/>
                </a:cubicBezTo>
                <a:cubicBezTo>
                  <a:pt x="134189" y="132787"/>
                  <a:pt x="132271" y="152577"/>
                  <a:pt x="138661" y="179390"/>
                </a:cubicBezTo>
                <a:cubicBezTo>
                  <a:pt x="142496" y="195988"/>
                  <a:pt x="149524" y="211310"/>
                  <a:pt x="158470" y="225993"/>
                </a:cubicBezTo>
                <a:cubicBezTo>
                  <a:pt x="161026" y="229823"/>
                  <a:pt x="162304" y="234931"/>
                  <a:pt x="160387" y="239399"/>
                </a:cubicBezTo>
                <a:cubicBezTo>
                  <a:pt x="157192" y="247699"/>
                  <a:pt x="150164" y="254083"/>
                  <a:pt x="141217" y="256636"/>
                </a:cubicBezTo>
                <a:cubicBezTo>
                  <a:pt x="136106" y="258551"/>
                  <a:pt x="130354" y="259190"/>
                  <a:pt x="124604" y="259828"/>
                </a:cubicBezTo>
                <a:cubicBezTo>
                  <a:pt x="111185" y="260467"/>
                  <a:pt x="97766" y="263659"/>
                  <a:pt x="86264" y="270043"/>
                </a:cubicBezTo>
                <a:cubicBezTo>
                  <a:pt x="85625" y="270681"/>
                  <a:pt x="84347" y="270681"/>
                  <a:pt x="83069" y="270681"/>
                </a:cubicBezTo>
                <a:cubicBezTo>
                  <a:pt x="79235" y="270681"/>
                  <a:pt x="76679" y="268127"/>
                  <a:pt x="76679" y="264297"/>
                </a:cubicBezTo>
                <a:cubicBezTo>
                  <a:pt x="76679" y="261743"/>
                  <a:pt x="77957" y="259828"/>
                  <a:pt x="79874" y="258551"/>
                </a:cubicBezTo>
                <a:cubicBezTo>
                  <a:pt x="93293" y="250891"/>
                  <a:pt x="107990" y="247060"/>
                  <a:pt x="123326" y="246422"/>
                </a:cubicBezTo>
                <a:cubicBezTo>
                  <a:pt x="127799" y="246422"/>
                  <a:pt x="132271" y="245783"/>
                  <a:pt x="136744" y="244507"/>
                </a:cubicBezTo>
                <a:cubicBezTo>
                  <a:pt x="141856" y="243230"/>
                  <a:pt x="145690" y="240038"/>
                  <a:pt x="148246" y="235569"/>
                </a:cubicBezTo>
                <a:cubicBezTo>
                  <a:pt x="148885" y="234931"/>
                  <a:pt x="148885" y="234292"/>
                  <a:pt x="148246" y="233654"/>
                </a:cubicBezTo>
                <a:cubicBezTo>
                  <a:pt x="138022" y="217694"/>
                  <a:pt x="130994" y="200457"/>
                  <a:pt x="126521" y="182582"/>
                </a:cubicBezTo>
                <a:cubicBezTo>
                  <a:pt x="118853" y="151939"/>
                  <a:pt x="122048" y="128318"/>
                  <a:pt x="134828" y="112358"/>
                </a:cubicBezTo>
                <a:cubicBezTo>
                  <a:pt x="152080" y="91291"/>
                  <a:pt x="180196" y="91930"/>
                  <a:pt x="181474" y="91930"/>
                </a:cubicBezTo>
                <a:lnTo>
                  <a:pt x="181474" y="91930"/>
                </a:lnTo>
                <a:cubicBezTo>
                  <a:pt x="199366" y="91930"/>
                  <a:pt x="215980" y="99590"/>
                  <a:pt x="227482" y="112358"/>
                </a:cubicBezTo>
                <a:cubicBezTo>
                  <a:pt x="240261" y="128318"/>
                  <a:pt x="243456" y="151939"/>
                  <a:pt x="235788" y="182582"/>
                </a:cubicBezTo>
                <a:cubicBezTo>
                  <a:pt x="231315" y="200457"/>
                  <a:pt x="224287" y="217694"/>
                  <a:pt x="214063" y="233654"/>
                </a:cubicBezTo>
                <a:cubicBezTo>
                  <a:pt x="213424" y="234292"/>
                  <a:pt x="213424" y="234931"/>
                  <a:pt x="214063" y="235569"/>
                </a:cubicBezTo>
                <a:cubicBezTo>
                  <a:pt x="216619" y="240038"/>
                  <a:pt x="220453" y="243230"/>
                  <a:pt x="225565" y="244507"/>
                </a:cubicBezTo>
                <a:cubicBezTo>
                  <a:pt x="230038" y="245783"/>
                  <a:pt x="234510" y="246422"/>
                  <a:pt x="238983" y="246422"/>
                </a:cubicBezTo>
                <a:cubicBezTo>
                  <a:pt x="254319" y="247060"/>
                  <a:pt x="269016" y="251529"/>
                  <a:pt x="282435" y="258551"/>
                </a:cubicBezTo>
                <a:cubicBezTo>
                  <a:pt x="284991" y="260467"/>
                  <a:pt x="285630" y="264297"/>
                  <a:pt x="284352" y="267489"/>
                </a:cubicBezTo>
                <a:cubicBezTo>
                  <a:pt x="284352" y="267489"/>
                  <a:pt x="284352" y="267489"/>
                  <a:pt x="284352" y="267489"/>
                </a:cubicBezTo>
                <a:lnTo>
                  <a:pt x="284352" y="267489"/>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000">
              <a:solidFill>
                <a:schemeClr val="bg1"/>
              </a:solidFill>
              <a:latin typeface="Meiryo UI" panose="020B0604030504040204" pitchFamily="50" charset="-128"/>
              <a:ea typeface="Meiryo UI" panose="020B0604030504040204" pitchFamily="50" charset="-128"/>
              <a:sym typeface="+mn-lt"/>
            </a:endParaRPr>
          </a:p>
        </p:txBody>
      </p:sp>
      <p:grpSp>
        <p:nvGrpSpPr>
          <p:cNvPr id="103" name="Graphic 4">
            <a:extLst>
              <a:ext uri="{FF2B5EF4-FFF2-40B4-BE49-F238E27FC236}">
                <a16:creationId xmlns:a16="http://schemas.microsoft.com/office/drawing/2014/main" id="{161E3149-0B4F-A0B0-2423-E8941B152344}"/>
              </a:ext>
            </a:extLst>
          </p:cNvPr>
          <p:cNvGrpSpPr>
            <a:grpSpLocks noChangeAspect="1"/>
          </p:cNvGrpSpPr>
          <p:nvPr/>
        </p:nvGrpSpPr>
        <p:grpSpPr bwMode="gray">
          <a:xfrm>
            <a:off x="4846213" y="2205971"/>
            <a:ext cx="321723" cy="321723"/>
            <a:chOff x="905454" y="918179"/>
            <a:chExt cx="362309" cy="361971"/>
          </a:xfrm>
          <a:solidFill>
            <a:srgbClr val="0076A8"/>
          </a:solidFill>
        </p:grpSpPr>
        <p:sp>
          <p:nvSpPr>
            <p:cNvPr id="104" name="Graphic 4">
              <a:extLst>
                <a:ext uri="{FF2B5EF4-FFF2-40B4-BE49-F238E27FC236}">
                  <a16:creationId xmlns:a16="http://schemas.microsoft.com/office/drawing/2014/main" id="{7233AECA-D832-B874-260F-4FE4561439BF}"/>
                </a:ext>
              </a:extLst>
            </p:cNvPr>
            <p:cNvSpPr/>
            <p:nvPr/>
          </p:nvSpPr>
          <p:spPr bwMode="gray">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89464 w 362309"/>
                <a:gd name="connsiteY6" fmla="*/ 265574 h 361971"/>
                <a:gd name="connsiteX7" fmla="*/ 283074 w 362309"/>
                <a:gd name="connsiteY7" fmla="*/ 271958 h 361971"/>
                <a:gd name="connsiteX8" fmla="*/ 79235 w 362309"/>
                <a:gd name="connsiteY8" fmla="*/ 271958 h 361971"/>
                <a:gd name="connsiteX9" fmla="*/ 72845 w 362309"/>
                <a:gd name="connsiteY9" fmla="*/ 265574 h 361971"/>
                <a:gd name="connsiteX10" fmla="*/ 72845 w 362309"/>
                <a:gd name="connsiteY10" fmla="*/ 189604 h 361971"/>
                <a:gd name="connsiteX11" fmla="*/ 76679 w 362309"/>
                <a:gd name="connsiteY11" fmla="*/ 183859 h 361971"/>
                <a:gd name="connsiteX12" fmla="*/ 88181 w 362309"/>
                <a:gd name="connsiteY12" fmla="*/ 178752 h 361971"/>
                <a:gd name="connsiteX13" fmla="*/ 96488 w 362309"/>
                <a:gd name="connsiteY13" fmla="*/ 95121 h 361971"/>
                <a:gd name="connsiteX14" fmla="*/ 102878 w 362309"/>
                <a:gd name="connsiteY14" fmla="*/ 89376 h 361971"/>
                <a:gd name="connsiteX15" fmla="*/ 130994 w 362309"/>
                <a:gd name="connsiteY15" fmla="*/ 89376 h 361971"/>
                <a:gd name="connsiteX16" fmla="*/ 137384 w 362309"/>
                <a:gd name="connsiteY16" fmla="*/ 95121 h 361971"/>
                <a:gd name="connsiteX17" fmla="*/ 146330 w 362309"/>
                <a:gd name="connsiteY17" fmla="*/ 176836 h 361971"/>
                <a:gd name="connsiteX18" fmla="*/ 151441 w 362309"/>
                <a:gd name="connsiteY18" fmla="*/ 123849 h 361971"/>
                <a:gd name="connsiteX19" fmla="*/ 157831 w 362309"/>
                <a:gd name="connsiteY19" fmla="*/ 118104 h 361971"/>
                <a:gd name="connsiteX20" fmla="*/ 181474 w 362309"/>
                <a:gd name="connsiteY20" fmla="*/ 118104 h 361971"/>
                <a:gd name="connsiteX21" fmla="*/ 187864 w 362309"/>
                <a:gd name="connsiteY21" fmla="*/ 123849 h 361971"/>
                <a:gd name="connsiteX22" fmla="*/ 193615 w 362309"/>
                <a:gd name="connsiteY22" fmla="*/ 183859 h 361971"/>
                <a:gd name="connsiteX23" fmla="*/ 196810 w 362309"/>
                <a:gd name="connsiteY23" fmla="*/ 183859 h 361971"/>
                <a:gd name="connsiteX24" fmla="*/ 196810 w 362309"/>
                <a:gd name="connsiteY24" fmla="*/ 172368 h 361971"/>
                <a:gd name="connsiteX25" fmla="*/ 203200 w 362309"/>
                <a:gd name="connsiteY25" fmla="*/ 165984 h 361971"/>
                <a:gd name="connsiteX26" fmla="*/ 232594 w 362309"/>
                <a:gd name="connsiteY26" fmla="*/ 165984 h 361971"/>
                <a:gd name="connsiteX27" fmla="*/ 232594 w 362309"/>
                <a:gd name="connsiteY27" fmla="*/ 153216 h 361971"/>
                <a:gd name="connsiteX28" fmla="*/ 228760 w 362309"/>
                <a:gd name="connsiteY28" fmla="*/ 153216 h 361971"/>
                <a:gd name="connsiteX29" fmla="*/ 222370 w 362309"/>
                <a:gd name="connsiteY29" fmla="*/ 146832 h 361971"/>
                <a:gd name="connsiteX30" fmla="*/ 228760 w 362309"/>
                <a:gd name="connsiteY30" fmla="*/ 140448 h 361971"/>
                <a:gd name="connsiteX31" fmla="*/ 278601 w 362309"/>
                <a:gd name="connsiteY31" fmla="*/ 140448 h 361971"/>
                <a:gd name="connsiteX32" fmla="*/ 284991 w 362309"/>
                <a:gd name="connsiteY32" fmla="*/ 146832 h 361971"/>
                <a:gd name="connsiteX33" fmla="*/ 278601 w 362309"/>
                <a:gd name="connsiteY33" fmla="*/ 153216 h 361971"/>
                <a:gd name="connsiteX34" fmla="*/ 272211 w 362309"/>
                <a:gd name="connsiteY34" fmla="*/ 153216 h 361971"/>
                <a:gd name="connsiteX35" fmla="*/ 272211 w 362309"/>
                <a:gd name="connsiteY35" fmla="*/ 172368 h 361971"/>
                <a:gd name="connsiteX36" fmla="*/ 283713 w 362309"/>
                <a:gd name="connsiteY36" fmla="*/ 172368 h 361971"/>
                <a:gd name="connsiteX37" fmla="*/ 290103 w 362309"/>
                <a:gd name="connsiteY37" fmla="*/ 178752 h 361971"/>
                <a:gd name="connsiteX38" fmla="*/ 290103 w 362309"/>
                <a:gd name="connsiteY38" fmla="*/ 26557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89464" y="265574"/>
                  </a:moveTo>
                  <a:cubicBezTo>
                    <a:pt x="289464" y="269404"/>
                    <a:pt x="286908" y="271958"/>
                    <a:pt x="283074" y="271958"/>
                  </a:cubicBezTo>
                  <a:lnTo>
                    <a:pt x="79235" y="271958"/>
                  </a:lnTo>
                  <a:cubicBezTo>
                    <a:pt x="75401" y="271958"/>
                    <a:pt x="72845" y="269404"/>
                    <a:pt x="72845" y="265574"/>
                  </a:cubicBezTo>
                  <a:lnTo>
                    <a:pt x="72845" y="189604"/>
                  </a:lnTo>
                  <a:cubicBezTo>
                    <a:pt x="72845" y="187051"/>
                    <a:pt x="74123" y="184497"/>
                    <a:pt x="76679" y="183859"/>
                  </a:cubicBezTo>
                  <a:lnTo>
                    <a:pt x="88181" y="178752"/>
                  </a:lnTo>
                  <a:lnTo>
                    <a:pt x="96488" y="95121"/>
                  </a:lnTo>
                  <a:cubicBezTo>
                    <a:pt x="97127" y="91929"/>
                    <a:pt x="99683" y="89376"/>
                    <a:pt x="102878" y="89376"/>
                  </a:cubicBezTo>
                  <a:lnTo>
                    <a:pt x="130994" y="89376"/>
                  </a:lnTo>
                  <a:cubicBezTo>
                    <a:pt x="134189" y="89376"/>
                    <a:pt x="136745" y="91929"/>
                    <a:pt x="137384" y="95121"/>
                  </a:cubicBezTo>
                  <a:lnTo>
                    <a:pt x="146330" y="176836"/>
                  </a:lnTo>
                  <a:lnTo>
                    <a:pt x="151441" y="123849"/>
                  </a:lnTo>
                  <a:cubicBezTo>
                    <a:pt x="151441" y="120657"/>
                    <a:pt x="154636" y="118104"/>
                    <a:pt x="157831" y="118104"/>
                  </a:cubicBezTo>
                  <a:lnTo>
                    <a:pt x="181474" y="118104"/>
                  </a:lnTo>
                  <a:cubicBezTo>
                    <a:pt x="184669" y="118104"/>
                    <a:pt x="187225" y="120657"/>
                    <a:pt x="187864" y="123849"/>
                  </a:cubicBezTo>
                  <a:lnTo>
                    <a:pt x="193615" y="183859"/>
                  </a:lnTo>
                  <a:lnTo>
                    <a:pt x="196810" y="183859"/>
                  </a:lnTo>
                  <a:lnTo>
                    <a:pt x="196810" y="172368"/>
                  </a:lnTo>
                  <a:cubicBezTo>
                    <a:pt x="196810" y="168537"/>
                    <a:pt x="199366" y="165984"/>
                    <a:pt x="203200" y="165984"/>
                  </a:cubicBezTo>
                  <a:lnTo>
                    <a:pt x="232594" y="165984"/>
                  </a:lnTo>
                  <a:lnTo>
                    <a:pt x="232594" y="153216"/>
                  </a:lnTo>
                  <a:lnTo>
                    <a:pt x="228760" y="153216"/>
                  </a:lnTo>
                  <a:cubicBezTo>
                    <a:pt x="224926" y="153216"/>
                    <a:pt x="222370" y="150662"/>
                    <a:pt x="222370" y="146832"/>
                  </a:cubicBezTo>
                  <a:cubicBezTo>
                    <a:pt x="222370" y="143001"/>
                    <a:pt x="224926" y="140448"/>
                    <a:pt x="228760" y="140448"/>
                  </a:cubicBezTo>
                  <a:lnTo>
                    <a:pt x="278601" y="140448"/>
                  </a:lnTo>
                  <a:cubicBezTo>
                    <a:pt x="282435" y="140448"/>
                    <a:pt x="284991" y="143001"/>
                    <a:pt x="284991" y="146832"/>
                  </a:cubicBezTo>
                  <a:cubicBezTo>
                    <a:pt x="284991" y="150662"/>
                    <a:pt x="282435" y="153216"/>
                    <a:pt x="278601" y="153216"/>
                  </a:cubicBezTo>
                  <a:lnTo>
                    <a:pt x="272211" y="153216"/>
                  </a:lnTo>
                  <a:lnTo>
                    <a:pt x="272211" y="172368"/>
                  </a:lnTo>
                  <a:lnTo>
                    <a:pt x="283713" y="172368"/>
                  </a:lnTo>
                  <a:cubicBezTo>
                    <a:pt x="287547" y="172368"/>
                    <a:pt x="290103" y="174921"/>
                    <a:pt x="290103" y="178752"/>
                  </a:cubicBezTo>
                  <a:lnTo>
                    <a:pt x="290103" y="265574"/>
                  </a:lnTo>
                  <a:close/>
                </a:path>
              </a:pathLst>
            </a:custGeom>
            <a:solidFill>
              <a:srgbClr val="0076A8"/>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05" name="Graphic 4">
              <a:extLst>
                <a:ext uri="{FF2B5EF4-FFF2-40B4-BE49-F238E27FC236}">
                  <a16:creationId xmlns:a16="http://schemas.microsoft.com/office/drawing/2014/main" id="{19582D78-7A08-6232-0A53-1B794C0C93D8}"/>
                </a:ext>
              </a:extLst>
            </p:cNvPr>
            <p:cNvSpPr/>
            <p:nvPr/>
          </p:nvSpPr>
          <p:spPr bwMode="gray">
            <a:xfrm>
              <a:off x="991079" y="1020961"/>
              <a:ext cx="191059" cy="156407"/>
            </a:xfrm>
            <a:custGeom>
              <a:avLst/>
              <a:gdLst>
                <a:gd name="connsiteX0" fmla="*/ 173806 w 191059"/>
                <a:gd name="connsiteY0" fmla="*/ 75969 h 156407"/>
                <a:gd name="connsiteX1" fmla="*/ 173806 w 191059"/>
                <a:gd name="connsiteY1" fmla="*/ 50433 h 156407"/>
                <a:gd name="connsiteX2" fmla="*/ 159748 w 191059"/>
                <a:gd name="connsiteY2" fmla="*/ 50433 h 156407"/>
                <a:gd name="connsiteX3" fmla="*/ 159748 w 191059"/>
                <a:gd name="connsiteY3" fmla="*/ 69585 h 156407"/>
                <a:gd name="connsiteX4" fmla="*/ 153358 w 191059"/>
                <a:gd name="connsiteY4" fmla="*/ 75969 h 156407"/>
                <a:gd name="connsiteX5" fmla="*/ 123965 w 191059"/>
                <a:gd name="connsiteY5" fmla="*/ 75969 h 156407"/>
                <a:gd name="connsiteX6" fmla="*/ 123965 w 191059"/>
                <a:gd name="connsiteY6" fmla="*/ 87461 h 156407"/>
                <a:gd name="connsiteX7" fmla="*/ 117575 w 191059"/>
                <a:gd name="connsiteY7" fmla="*/ 93845 h 156407"/>
                <a:gd name="connsiteX8" fmla="*/ 101600 w 191059"/>
                <a:gd name="connsiteY8" fmla="*/ 93845 h 156407"/>
                <a:gd name="connsiteX9" fmla="*/ 95210 w 191059"/>
                <a:gd name="connsiteY9" fmla="*/ 88099 h 156407"/>
                <a:gd name="connsiteX10" fmla="*/ 89459 w 191059"/>
                <a:gd name="connsiteY10" fmla="*/ 28089 h 156407"/>
                <a:gd name="connsiteX11" fmla="*/ 77318 w 191059"/>
                <a:gd name="connsiteY11" fmla="*/ 28089 h 156407"/>
                <a:gd name="connsiteX12" fmla="*/ 72206 w 191059"/>
                <a:gd name="connsiteY12" fmla="*/ 87461 h 156407"/>
                <a:gd name="connsiteX13" fmla="*/ 65816 w 191059"/>
                <a:gd name="connsiteY13" fmla="*/ 93206 h 156407"/>
                <a:gd name="connsiteX14" fmla="*/ 55592 w 191059"/>
                <a:gd name="connsiteY14" fmla="*/ 93206 h 156407"/>
                <a:gd name="connsiteX15" fmla="*/ 49202 w 191059"/>
                <a:gd name="connsiteY15" fmla="*/ 87461 h 156407"/>
                <a:gd name="connsiteX16" fmla="*/ 39618 w 191059"/>
                <a:gd name="connsiteY16" fmla="*/ 0 h 156407"/>
                <a:gd name="connsiteX17" fmla="*/ 23004 w 191059"/>
                <a:gd name="connsiteY17" fmla="*/ 0 h 156407"/>
                <a:gd name="connsiteX18" fmla="*/ 15336 w 191059"/>
                <a:gd name="connsiteY18" fmla="*/ 81077 h 156407"/>
                <a:gd name="connsiteX19" fmla="*/ 11502 w 191059"/>
                <a:gd name="connsiteY19" fmla="*/ 86184 h 156407"/>
                <a:gd name="connsiteX20" fmla="*/ 0 w 191059"/>
                <a:gd name="connsiteY20" fmla="*/ 91291 h 156407"/>
                <a:gd name="connsiteX21" fmla="*/ 0 w 191059"/>
                <a:gd name="connsiteY21" fmla="*/ 156408 h 156407"/>
                <a:gd name="connsiteX22" fmla="*/ 191059 w 191059"/>
                <a:gd name="connsiteY22" fmla="*/ 156408 h 156407"/>
                <a:gd name="connsiteX23" fmla="*/ 191059 w 191059"/>
                <a:gd name="connsiteY23" fmla="*/ 82353 h 156407"/>
                <a:gd name="connsiteX24" fmla="*/ 180196 w 191059"/>
                <a:gd name="connsiteY24" fmla="*/ 82353 h 156407"/>
                <a:gd name="connsiteX25" fmla="*/ 173806 w 191059"/>
                <a:gd name="connsiteY25" fmla="*/ 75969 h 156407"/>
                <a:gd name="connsiteX26" fmla="*/ 173806 w 191059"/>
                <a:gd name="connsiteY26" fmla="*/ 75969 h 156407"/>
                <a:gd name="connsiteX27" fmla="*/ 46646 w 191059"/>
                <a:gd name="connsiteY27" fmla="*/ 135979 h 156407"/>
                <a:gd name="connsiteX28" fmla="*/ 20448 w 191059"/>
                <a:gd name="connsiteY28" fmla="*/ 135979 h 156407"/>
                <a:gd name="connsiteX29" fmla="*/ 14058 w 191059"/>
                <a:gd name="connsiteY29" fmla="*/ 129595 h 156407"/>
                <a:gd name="connsiteX30" fmla="*/ 20448 w 191059"/>
                <a:gd name="connsiteY30" fmla="*/ 123211 h 156407"/>
                <a:gd name="connsiteX31" fmla="*/ 46646 w 191059"/>
                <a:gd name="connsiteY31" fmla="*/ 123211 h 156407"/>
                <a:gd name="connsiteX32" fmla="*/ 53036 w 191059"/>
                <a:gd name="connsiteY32" fmla="*/ 129595 h 156407"/>
                <a:gd name="connsiteX33" fmla="*/ 46646 w 191059"/>
                <a:gd name="connsiteY33" fmla="*/ 135979 h 156407"/>
                <a:gd name="connsiteX34" fmla="*/ 120770 w 191059"/>
                <a:gd name="connsiteY34" fmla="*/ 135979 h 156407"/>
                <a:gd name="connsiteX35" fmla="*/ 78596 w 191059"/>
                <a:gd name="connsiteY35" fmla="*/ 135979 h 156407"/>
                <a:gd name="connsiteX36" fmla="*/ 72206 w 191059"/>
                <a:gd name="connsiteY36" fmla="*/ 129595 h 156407"/>
                <a:gd name="connsiteX37" fmla="*/ 78596 w 191059"/>
                <a:gd name="connsiteY37" fmla="*/ 123211 h 156407"/>
                <a:gd name="connsiteX38" fmla="*/ 120770 w 191059"/>
                <a:gd name="connsiteY38" fmla="*/ 123211 h 156407"/>
                <a:gd name="connsiteX39" fmla="*/ 127160 w 191059"/>
                <a:gd name="connsiteY39" fmla="*/ 129595 h 156407"/>
                <a:gd name="connsiteX40" fmla="*/ 120770 w 191059"/>
                <a:gd name="connsiteY40" fmla="*/ 135979 h 156407"/>
                <a:gd name="connsiteX41" fmla="*/ 120770 w 191059"/>
                <a:gd name="connsiteY41" fmla="*/ 135979 h 156407"/>
                <a:gd name="connsiteX42" fmla="*/ 174445 w 191059"/>
                <a:gd name="connsiteY42" fmla="*/ 135979 h 156407"/>
                <a:gd name="connsiteX43" fmla="*/ 156553 w 191059"/>
                <a:gd name="connsiteY43" fmla="*/ 135979 h 156407"/>
                <a:gd name="connsiteX44" fmla="*/ 150164 w 191059"/>
                <a:gd name="connsiteY44" fmla="*/ 129595 h 156407"/>
                <a:gd name="connsiteX45" fmla="*/ 156553 w 191059"/>
                <a:gd name="connsiteY45" fmla="*/ 123211 h 156407"/>
                <a:gd name="connsiteX46" fmla="*/ 174445 w 191059"/>
                <a:gd name="connsiteY46" fmla="*/ 123211 h 156407"/>
                <a:gd name="connsiteX47" fmla="*/ 180835 w 191059"/>
                <a:gd name="connsiteY47" fmla="*/ 129595 h 156407"/>
                <a:gd name="connsiteX48" fmla="*/ 174445 w 191059"/>
                <a:gd name="connsiteY48" fmla="*/ 135979 h 156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1059" h="156407">
                  <a:moveTo>
                    <a:pt x="173806" y="75969"/>
                  </a:moveTo>
                  <a:lnTo>
                    <a:pt x="173806" y="50433"/>
                  </a:lnTo>
                  <a:lnTo>
                    <a:pt x="159748" y="50433"/>
                  </a:lnTo>
                  <a:lnTo>
                    <a:pt x="159748" y="69585"/>
                  </a:lnTo>
                  <a:cubicBezTo>
                    <a:pt x="159748" y="73416"/>
                    <a:pt x="157192" y="75969"/>
                    <a:pt x="153358" y="75969"/>
                  </a:cubicBezTo>
                  <a:lnTo>
                    <a:pt x="123965" y="75969"/>
                  </a:lnTo>
                  <a:lnTo>
                    <a:pt x="123965" y="87461"/>
                  </a:lnTo>
                  <a:cubicBezTo>
                    <a:pt x="123965" y="91291"/>
                    <a:pt x="121409" y="93845"/>
                    <a:pt x="117575" y="93845"/>
                  </a:cubicBezTo>
                  <a:lnTo>
                    <a:pt x="101600" y="93845"/>
                  </a:lnTo>
                  <a:cubicBezTo>
                    <a:pt x="98405" y="93845"/>
                    <a:pt x="95849" y="91291"/>
                    <a:pt x="95210" y="88099"/>
                  </a:cubicBezTo>
                  <a:lnTo>
                    <a:pt x="89459" y="28089"/>
                  </a:lnTo>
                  <a:lnTo>
                    <a:pt x="77318" y="28089"/>
                  </a:lnTo>
                  <a:lnTo>
                    <a:pt x="72206" y="87461"/>
                  </a:lnTo>
                  <a:cubicBezTo>
                    <a:pt x="72206" y="90653"/>
                    <a:pt x="69011" y="93206"/>
                    <a:pt x="65816" y="93206"/>
                  </a:cubicBezTo>
                  <a:lnTo>
                    <a:pt x="55592" y="93206"/>
                  </a:lnTo>
                  <a:cubicBezTo>
                    <a:pt x="52397" y="93206"/>
                    <a:pt x="49841" y="90653"/>
                    <a:pt x="49202" y="87461"/>
                  </a:cubicBezTo>
                  <a:lnTo>
                    <a:pt x="39618" y="0"/>
                  </a:lnTo>
                  <a:lnTo>
                    <a:pt x="23004" y="0"/>
                  </a:lnTo>
                  <a:lnTo>
                    <a:pt x="15336" y="81077"/>
                  </a:lnTo>
                  <a:cubicBezTo>
                    <a:pt x="15336" y="83630"/>
                    <a:pt x="13419" y="85545"/>
                    <a:pt x="11502" y="86184"/>
                  </a:cubicBezTo>
                  <a:lnTo>
                    <a:pt x="0" y="91291"/>
                  </a:lnTo>
                  <a:lnTo>
                    <a:pt x="0" y="156408"/>
                  </a:lnTo>
                  <a:lnTo>
                    <a:pt x="191059" y="156408"/>
                  </a:lnTo>
                  <a:lnTo>
                    <a:pt x="191059" y="82353"/>
                  </a:lnTo>
                  <a:lnTo>
                    <a:pt x="180196" y="82353"/>
                  </a:lnTo>
                  <a:cubicBezTo>
                    <a:pt x="176362" y="82353"/>
                    <a:pt x="173806" y="79800"/>
                    <a:pt x="173806" y="75969"/>
                  </a:cubicBezTo>
                  <a:cubicBezTo>
                    <a:pt x="173806" y="75969"/>
                    <a:pt x="173806" y="75969"/>
                    <a:pt x="173806" y="75969"/>
                  </a:cubicBezTo>
                  <a:close/>
                  <a:moveTo>
                    <a:pt x="46646" y="135979"/>
                  </a:moveTo>
                  <a:lnTo>
                    <a:pt x="20448" y="135979"/>
                  </a:lnTo>
                  <a:cubicBezTo>
                    <a:pt x="16614" y="135979"/>
                    <a:pt x="14058" y="133425"/>
                    <a:pt x="14058" y="129595"/>
                  </a:cubicBezTo>
                  <a:cubicBezTo>
                    <a:pt x="14058" y="125764"/>
                    <a:pt x="16614" y="123211"/>
                    <a:pt x="20448" y="123211"/>
                  </a:cubicBezTo>
                  <a:lnTo>
                    <a:pt x="46646" y="123211"/>
                  </a:lnTo>
                  <a:cubicBezTo>
                    <a:pt x="50480" y="123211"/>
                    <a:pt x="53036" y="125764"/>
                    <a:pt x="53036" y="129595"/>
                  </a:cubicBezTo>
                  <a:cubicBezTo>
                    <a:pt x="53036" y="133425"/>
                    <a:pt x="50480" y="135979"/>
                    <a:pt x="46646" y="135979"/>
                  </a:cubicBezTo>
                  <a:close/>
                  <a:moveTo>
                    <a:pt x="120770" y="135979"/>
                  </a:moveTo>
                  <a:lnTo>
                    <a:pt x="78596" y="135979"/>
                  </a:lnTo>
                  <a:cubicBezTo>
                    <a:pt x="74762" y="135979"/>
                    <a:pt x="72206" y="133425"/>
                    <a:pt x="72206" y="129595"/>
                  </a:cubicBezTo>
                  <a:cubicBezTo>
                    <a:pt x="72206" y="125764"/>
                    <a:pt x="74762" y="123211"/>
                    <a:pt x="78596" y="123211"/>
                  </a:cubicBezTo>
                  <a:lnTo>
                    <a:pt x="120770" y="123211"/>
                  </a:lnTo>
                  <a:cubicBezTo>
                    <a:pt x="124604" y="123211"/>
                    <a:pt x="127160" y="125764"/>
                    <a:pt x="127160" y="129595"/>
                  </a:cubicBezTo>
                  <a:cubicBezTo>
                    <a:pt x="127160" y="133425"/>
                    <a:pt x="124604" y="135979"/>
                    <a:pt x="120770" y="135979"/>
                  </a:cubicBezTo>
                  <a:lnTo>
                    <a:pt x="120770" y="135979"/>
                  </a:lnTo>
                  <a:close/>
                  <a:moveTo>
                    <a:pt x="174445" y="135979"/>
                  </a:moveTo>
                  <a:lnTo>
                    <a:pt x="156553" y="135979"/>
                  </a:lnTo>
                  <a:cubicBezTo>
                    <a:pt x="152719" y="135979"/>
                    <a:pt x="150164" y="133425"/>
                    <a:pt x="150164" y="129595"/>
                  </a:cubicBezTo>
                  <a:cubicBezTo>
                    <a:pt x="150164" y="125764"/>
                    <a:pt x="152719" y="123211"/>
                    <a:pt x="156553" y="123211"/>
                  </a:cubicBezTo>
                  <a:lnTo>
                    <a:pt x="174445" y="123211"/>
                  </a:lnTo>
                  <a:cubicBezTo>
                    <a:pt x="178279" y="123211"/>
                    <a:pt x="180835" y="125764"/>
                    <a:pt x="180835" y="129595"/>
                  </a:cubicBezTo>
                  <a:cubicBezTo>
                    <a:pt x="180835" y="133425"/>
                    <a:pt x="178279" y="135979"/>
                    <a:pt x="174445" y="135979"/>
                  </a:cubicBezTo>
                  <a:close/>
                </a:path>
              </a:pathLst>
            </a:custGeom>
            <a:solidFill>
              <a:srgbClr val="0076A8"/>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grpSp>
        <p:nvGrpSpPr>
          <p:cNvPr id="106" name="Graphic 4">
            <a:extLst>
              <a:ext uri="{FF2B5EF4-FFF2-40B4-BE49-F238E27FC236}">
                <a16:creationId xmlns:a16="http://schemas.microsoft.com/office/drawing/2014/main" id="{BC8DF247-5CF2-FED3-6896-395992AA531D}"/>
              </a:ext>
            </a:extLst>
          </p:cNvPr>
          <p:cNvGrpSpPr>
            <a:grpSpLocks noChangeAspect="1"/>
          </p:cNvGrpSpPr>
          <p:nvPr/>
        </p:nvGrpSpPr>
        <p:grpSpPr bwMode="gray">
          <a:xfrm>
            <a:off x="5662213" y="2205971"/>
            <a:ext cx="321723" cy="321723"/>
            <a:chOff x="905454" y="918179"/>
            <a:chExt cx="362309" cy="361971"/>
          </a:xfrm>
          <a:solidFill>
            <a:srgbClr val="0076A8"/>
          </a:solidFill>
        </p:grpSpPr>
        <p:sp>
          <p:nvSpPr>
            <p:cNvPr id="107" name="Graphic 4">
              <a:extLst>
                <a:ext uri="{FF2B5EF4-FFF2-40B4-BE49-F238E27FC236}">
                  <a16:creationId xmlns:a16="http://schemas.microsoft.com/office/drawing/2014/main" id="{B8170C9D-DC35-21F1-3F1E-AFAEE51E1158}"/>
                </a:ext>
              </a:extLst>
            </p:cNvPr>
            <p:cNvSpPr/>
            <p:nvPr/>
          </p:nvSpPr>
          <p:spPr bwMode="gray">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89464 w 362309"/>
                <a:gd name="connsiteY6" fmla="*/ 265574 h 361971"/>
                <a:gd name="connsiteX7" fmla="*/ 283074 w 362309"/>
                <a:gd name="connsiteY7" fmla="*/ 271958 h 361971"/>
                <a:gd name="connsiteX8" fmla="*/ 79235 w 362309"/>
                <a:gd name="connsiteY8" fmla="*/ 271958 h 361971"/>
                <a:gd name="connsiteX9" fmla="*/ 72845 w 362309"/>
                <a:gd name="connsiteY9" fmla="*/ 265574 h 361971"/>
                <a:gd name="connsiteX10" fmla="*/ 72845 w 362309"/>
                <a:gd name="connsiteY10" fmla="*/ 189604 h 361971"/>
                <a:gd name="connsiteX11" fmla="*/ 76679 w 362309"/>
                <a:gd name="connsiteY11" fmla="*/ 183859 h 361971"/>
                <a:gd name="connsiteX12" fmla="*/ 88181 w 362309"/>
                <a:gd name="connsiteY12" fmla="*/ 178752 h 361971"/>
                <a:gd name="connsiteX13" fmla="*/ 96488 w 362309"/>
                <a:gd name="connsiteY13" fmla="*/ 95121 h 361971"/>
                <a:gd name="connsiteX14" fmla="*/ 102878 w 362309"/>
                <a:gd name="connsiteY14" fmla="*/ 89376 h 361971"/>
                <a:gd name="connsiteX15" fmla="*/ 130994 w 362309"/>
                <a:gd name="connsiteY15" fmla="*/ 89376 h 361971"/>
                <a:gd name="connsiteX16" fmla="*/ 137384 w 362309"/>
                <a:gd name="connsiteY16" fmla="*/ 95121 h 361971"/>
                <a:gd name="connsiteX17" fmla="*/ 146330 w 362309"/>
                <a:gd name="connsiteY17" fmla="*/ 176836 h 361971"/>
                <a:gd name="connsiteX18" fmla="*/ 151441 w 362309"/>
                <a:gd name="connsiteY18" fmla="*/ 123849 h 361971"/>
                <a:gd name="connsiteX19" fmla="*/ 157831 w 362309"/>
                <a:gd name="connsiteY19" fmla="*/ 118104 h 361971"/>
                <a:gd name="connsiteX20" fmla="*/ 181474 w 362309"/>
                <a:gd name="connsiteY20" fmla="*/ 118104 h 361971"/>
                <a:gd name="connsiteX21" fmla="*/ 187864 w 362309"/>
                <a:gd name="connsiteY21" fmla="*/ 123849 h 361971"/>
                <a:gd name="connsiteX22" fmla="*/ 193615 w 362309"/>
                <a:gd name="connsiteY22" fmla="*/ 183859 h 361971"/>
                <a:gd name="connsiteX23" fmla="*/ 196810 w 362309"/>
                <a:gd name="connsiteY23" fmla="*/ 183859 h 361971"/>
                <a:gd name="connsiteX24" fmla="*/ 196810 w 362309"/>
                <a:gd name="connsiteY24" fmla="*/ 172368 h 361971"/>
                <a:gd name="connsiteX25" fmla="*/ 203200 w 362309"/>
                <a:gd name="connsiteY25" fmla="*/ 165984 h 361971"/>
                <a:gd name="connsiteX26" fmla="*/ 232594 w 362309"/>
                <a:gd name="connsiteY26" fmla="*/ 165984 h 361971"/>
                <a:gd name="connsiteX27" fmla="*/ 232594 w 362309"/>
                <a:gd name="connsiteY27" fmla="*/ 153216 h 361971"/>
                <a:gd name="connsiteX28" fmla="*/ 228760 w 362309"/>
                <a:gd name="connsiteY28" fmla="*/ 153216 h 361971"/>
                <a:gd name="connsiteX29" fmla="*/ 222370 w 362309"/>
                <a:gd name="connsiteY29" fmla="*/ 146832 h 361971"/>
                <a:gd name="connsiteX30" fmla="*/ 228760 w 362309"/>
                <a:gd name="connsiteY30" fmla="*/ 140448 h 361971"/>
                <a:gd name="connsiteX31" fmla="*/ 278601 w 362309"/>
                <a:gd name="connsiteY31" fmla="*/ 140448 h 361971"/>
                <a:gd name="connsiteX32" fmla="*/ 284991 w 362309"/>
                <a:gd name="connsiteY32" fmla="*/ 146832 h 361971"/>
                <a:gd name="connsiteX33" fmla="*/ 278601 w 362309"/>
                <a:gd name="connsiteY33" fmla="*/ 153216 h 361971"/>
                <a:gd name="connsiteX34" fmla="*/ 272211 w 362309"/>
                <a:gd name="connsiteY34" fmla="*/ 153216 h 361971"/>
                <a:gd name="connsiteX35" fmla="*/ 272211 w 362309"/>
                <a:gd name="connsiteY35" fmla="*/ 172368 h 361971"/>
                <a:gd name="connsiteX36" fmla="*/ 283713 w 362309"/>
                <a:gd name="connsiteY36" fmla="*/ 172368 h 361971"/>
                <a:gd name="connsiteX37" fmla="*/ 290103 w 362309"/>
                <a:gd name="connsiteY37" fmla="*/ 178752 h 361971"/>
                <a:gd name="connsiteX38" fmla="*/ 290103 w 362309"/>
                <a:gd name="connsiteY38" fmla="*/ 26557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89464" y="265574"/>
                  </a:moveTo>
                  <a:cubicBezTo>
                    <a:pt x="289464" y="269404"/>
                    <a:pt x="286908" y="271958"/>
                    <a:pt x="283074" y="271958"/>
                  </a:cubicBezTo>
                  <a:lnTo>
                    <a:pt x="79235" y="271958"/>
                  </a:lnTo>
                  <a:cubicBezTo>
                    <a:pt x="75401" y="271958"/>
                    <a:pt x="72845" y="269404"/>
                    <a:pt x="72845" y="265574"/>
                  </a:cubicBezTo>
                  <a:lnTo>
                    <a:pt x="72845" y="189604"/>
                  </a:lnTo>
                  <a:cubicBezTo>
                    <a:pt x="72845" y="187051"/>
                    <a:pt x="74123" y="184497"/>
                    <a:pt x="76679" y="183859"/>
                  </a:cubicBezTo>
                  <a:lnTo>
                    <a:pt x="88181" y="178752"/>
                  </a:lnTo>
                  <a:lnTo>
                    <a:pt x="96488" y="95121"/>
                  </a:lnTo>
                  <a:cubicBezTo>
                    <a:pt x="97127" y="91929"/>
                    <a:pt x="99683" y="89376"/>
                    <a:pt x="102878" y="89376"/>
                  </a:cubicBezTo>
                  <a:lnTo>
                    <a:pt x="130994" y="89376"/>
                  </a:lnTo>
                  <a:cubicBezTo>
                    <a:pt x="134189" y="89376"/>
                    <a:pt x="136745" y="91929"/>
                    <a:pt x="137384" y="95121"/>
                  </a:cubicBezTo>
                  <a:lnTo>
                    <a:pt x="146330" y="176836"/>
                  </a:lnTo>
                  <a:lnTo>
                    <a:pt x="151441" y="123849"/>
                  </a:lnTo>
                  <a:cubicBezTo>
                    <a:pt x="151441" y="120657"/>
                    <a:pt x="154636" y="118104"/>
                    <a:pt x="157831" y="118104"/>
                  </a:cubicBezTo>
                  <a:lnTo>
                    <a:pt x="181474" y="118104"/>
                  </a:lnTo>
                  <a:cubicBezTo>
                    <a:pt x="184669" y="118104"/>
                    <a:pt x="187225" y="120657"/>
                    <a:pt x="187864" y="123849"/>
                  </a:cubicBezTo>
                  <a:lnTo>
                    <a:pt x="193615" y="183859"/>
                  </a:lnTo>
                  <a:lnTo>
                    <a:pt x="196810" y="183859"/>
                  </a:lnTo>
                  <a:lnTo>
                    <a:pt x="196810" y="172368"/>
                  </a:lnTo>
                  <a:cubicBezTo>
                    <a:pt x="196810" y="168537"/>
                    <a:pt x="199366" y="165984"/>
                    <a:pt x="203200" y="165984"/>
                  </a:cubicBezTo>
                  <a:lnTo>
                    <a:pt x="232594" y="165984"/>
                  </a:lnTo>
                  <a:lnTo>
                    <a:pt x="232594" y="153216"/>
                  </a:lnTo>
                  <a:lnTo>
                    <a:pt x="228760" y="153216"/>
                  </a:lnTo>
                  <a:cubicBezTo>
                    <a:pt x="224926" y="153216"/>
                    <a:pt x="222370" y="150662"/>
                    <a:pt x="222370" y="146832"/>
                  </a:cubicBezTo>
                  <a:cubicBezTo>
                    <a:pt x="222370" y="143001"/>
                    <a:pt x="224926" y="140448"/>
                    <a:pt x="228760" y="140448"/>
                  </a:cubicBezTo>
                  <a:lnTo>
                    <a:pt x="278601" y="140448"/>
                  </a:lnTo>
                  <a:cubicBezTo>
                    <a:pt x="282435" y="140448"/>
                    <a:pt x="284991" y="143001"/>
                    <a:pt x="284991" y="146832"/>
                  </a:cubicBezTo>
                  <a:cubicBezTo>
                    <a:pt x="284991" y="150662"/>
                    <a:pt x="282435" y="153216"/>
                    <a:pt x="278601" y="153216"/>
                  </a:cubicBezTo>
                  <a:lnTo>
                    <a:pt x="272211" y="153216"/>
                  </a:lnTo>
                  <a:lnTo>
                    <a:pt x="272211" y="172368"/>
                  </a:lnTo>
                  <a:lnTo>
                    <a:pt x="283713" y="172368"/>
                  </a:lnTo>
                  <a:cubicBezTo>
                    <a:pt x="287547" y="172368"/>
                    <a:pt x="290103" y="174921"/>
                    <a:pt x="290103" y="178752"/>
                  </a:cubicBezTo>
                  <a:lnTo>
                    <a:pt x="290103" y="265574"/>
                  </a:lnTo>
                  <a:close/>
                </a:path>
              </a:pathLst>
            </a:custGeom>
            <a:solidFill>
              <a:srgbClr val="0076A8"/>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08" name="Graphic 4">
              <a:extLst>
                <a:ext uri="{FF2B5EF4-FFF2-40B4-BE49-F238E27FC236}">
                  <a16:creationId xmlns:a16="http://schemas.microsoft.com/office/drawing/2014/main" id="{F666D49F-4FCF-AEE6-EC14-51CDC8DE7938}"/>
                </a:ext>
              </a:extLst>
            </p:cNvPr>
            <p:cNvSpPr/>
            <p:nvPr/>
          </p:nvSpPr>
          <p:spPr bwMode="gray">
            <a:xfrm>
              <a:off x="991079" y="1020961"/>
              <a:ext cx="191059" cy="156407"/>
            </a:xfrm>
            <a:custGeom>
              <a:avLst/>
              <a:gdLst>
                <a:gd name="connsiteX0" fmla="*/ 173806 w 191059"/>
                <a:gd name="connsiteY0" fmla="*/ 75969 h 156407"/>
                <a:gd name="connsiteX1" fmla="*/ 173806 w 191059"/>
                <a:gd name="connsiteY1" fmla="*/ 50433 h 156407"/>
                <a:gd name="connsiteX2" fmla="*/ 159748 w 191059"/>
                <a:gd name="connsiteY2" fmla="*/ 50433 h 156407"/>
                <a:gd name="connsiteX3" fmla="*/ 159748 w 191059"/>
                <a:gd name="connsiteY3" fmla="*/ 69585 h 156407"/>
                <a:gd name="connsiteX4" fmla="*/ 153358 w 191059"/>
                <a:gd name="connsiteY4" fmla="*/ 75969 h 156407"/>
                <a:gd name="connsiteX5" fmla="*/ 123965 w 191059"/>
                <a:gd name="connsiteY5" fmla="*/ 75969 h 156407"/>
                <a:gd name="connsiteX6" fmla="*/ 123965 w 191059"/>
                <a:gd name="connsiteY6" fmla="*/ 87461 h 156407"/>
                <a:gd name="connsiteX7" fmla="*/ 117575 w 191059"/>
                <a:gd name="connsiteY7" fmla="*/ 93845 h 156407"/>
                <a:gd name="connsiteX8" fmla="*/ 101600 w 191059"/>
                <a:gd name="connsiteY8" fmla="*/ 93845 h 156407"/>
                <a:gd name="connsiteX9" fmla="*/ 95210 w 191059"/>
                <a:gd name="connsiteY9" fmla="*/ 88099 h 156407"/>
                <a:gd name="connsiteX10" fmla="*/ 89459 w 191059"/>
                <a:gd name="connsiteY10" fmla="*/ 28089 h 156407"/>
                <a:gd name="connsiteX11" fmla="*/ 77318 w 191059"/>
                <a:gd name="connsiteY11" fmla="*/ 28089 h 156407"/>
                <a:gd name="connsiteX12" fmla="*/ 72206 w 191059"/>
                <a:gd name="connsiteY12" fmla="*/ 87461 h 156407"/>
                <a:gd name="connsiteX13" fmla="*/ 65816 w 191059"/>
                <a:gd name="connsiteY13" fmla="*/ 93206 h 156407"/>
                <a:gd name="connsiteX14" fmla="*/ 55592 w 191059"/>
                <a:gd name="connsiteY14" fmla="*/ 93206 h 156407"/>
                <a:gd name="connsiteX15" fmla="*/ 49202 w 191059"/>
                <a:gd name="connsiteY15" fmla="*/ 87461 h 156407"/>
                <a:gd name="connsiteX16" fmla="*/ 39618 w 191059"/>
                <a:gd name="connsiteY16" fmla="*/ 0 h 156407"/>
                <a:gd name="connsiteX17" fmla="*/ 23004 w 191059"/>
                <a:gd name="connsiteY17" fmla="*/ 0 h 156407"/>
                <a:gd name="connsiteX18" fmla="*/ 15336 w 191059"/>
                <a:gd name="connsiteY18" fmla="*/ 81077 h 156407"/>
                <a:gd name="connsiteX19" fmla="*/ 11502 w 191059"/>
                <a:gd name="connsiteY19" fmla="*/ 86184 h 156407"/>
                <a:gd name="connsiteX20" fmla="*/ 0 w 191059"/>
                <a:gd name="connsiteY20" fmla="*/ 91291 h 156407"/>
                <a:gd name="connsiteX21" fmla="*/ 0 w 191059"/>
                <a:gd name="connsiteY21" fmla="*/ 156408 h 156407"/>
                <a:gd name="connsiteX22" fmla="*/ 191059 w 191059"/>
                <a:gd name="connsiteY22" fmla="*/ 156408 h 156407"/>
                <a:gd name="connsiteX23" fmla="*/ 191059 w 191059"/>
                <a:gd name="connsiteY23" fmla="*/ 82353 h 156407"/>
                <a:gd name="connsiteX24" fmla="*/ 180196 w 191059"/>
                <a:gd name="connsiteY24" fmla="*/ 82353 h 156407"/>
                <a:gd name="connsiteX25" fmla="*/ 173806 w 191059"/>
                <a:gd name="connsiteY25" fmla="*/ 75969 h 156407"/>
                <a:gd name="connsiteX26" fmla="*/ 173806 w 191059"/>
                <a:gd name="connsiteY26" fmla="*/ 75969 h 156407"/>
                <a:gd name="connsiteX27" fmla="*/ 46646 w 191059"/>
                <a:gd name="connsiteY27" fmla="*/ 135979 h 156407"/>
                <a:gd name="connsiteX28" fmla="*/ 20448 w 191059"/>
                <a:gd name="connsiteY28" fmla="*/ 135979 h 156407"/>
                <a:gd name="connsiteX29" fmla="*/ 14058 w 191059"/>
                <a:gd name="connsiteY29" fmla="*/ 129595 h 156407"/>
                <a:gd name="connsiteX30" fmla="*/ 20448 w 191059"/>
                <a:gd name="connsiteY30" fmla="*/ 123211 h 156407"/>
                <a:gd name="connsiteX31" fmla="*/ 46646 w 191059"/>
                <a:gd name="connsiteY31" fmla="*/ 123211 h 156407"/>
                <a:gd name="connsiteX32" fmla="*/ 53036 w 191059"/>
                <a:gd name="connsiteY32" fmla="*/ 129595 h 156407"/>
                <a:gd name="connsiteX33" fmla="*/ 46646 w 191059"/>
                <a:gd name="connsiteY33" fmla="*/ 135979 h 156407"/>
                <a:gd name="connsiteX34" fmla="*/ 120770 w 191059"/>
                <a:gd name="connsiteY34" fmla="*/ 135979 h 156407"/>
                <a:gd name="connsiteX35" fmla="*/ 78596 w 191059"/>
                <a:gd name="connsiteY35" fmla="*/ 135979 h 156407"/>
                <a:gd name="connsiteX36" fmla="*/ 72206 w 191059"/>
                <a:gd name="connsiteY36" fmla="*/ 129595 h 156407"/>
                <a:gd name="connsiteX37" fmla="*/ 78596 w 191059"/>
                <a:gd name="connsiteY37" fmla="*/ 123211 h 156407"/>
                <a:gd name="connsiteX38" fmla="*/ 120770 w 191059"/>
                <a:gd name="connsiteY38" fmla="*/ 123211 h 156407"/>
                <a:gd name="connsiteX39" fmla="*/ 127160 w 191059"/>
                <a:gd name="connsiteY39" fmla="*/ 129595 h 156407"/>
                <a:gd name="connsiteX40" fmla="*/ 120770 w 191059"/>
                <a:gd name="connsiteY40" fmla="*/ 135979 h 156407"/>
                <a:gd name="connsiteX41" fmla="*/ 120770 w 191059"/>
                <a:gd name="connsiteY41" fmla="*/ 135979 h 156407"/>
                <a:gd name="connsiteX42" fmla="*/ 174445 w 191059"/>
                <a:gd name="connsiteY42" fmla="*/ 135979 h 156407"/>
                <a:gd name="connsiteX43" fmla="*/ 156553 w 191059"/>
                <a:gd name="connsiteY43" fmla="*/ 135979 h 156407"/>
                <a:gd name="connsiteX44" fmla="*/ 150164 w 191059"/>
                <a:gd name="connsiteY44" fmla="*/ 129595 h 156407"/>
                <a:gd name="connsiteX45" fmla="*/ 156553 w 191059"/>
                <a:gd name="connsiteY45" fmla="*/ 123211 h 156407"/>
                <a:gd name="connsiteX46" fmla="*/ 174445 w 191059"/>
                <a:gd name="connsiteY46" fmla="*/ 123211 h 156407"/>
                <a:gd name="connsiteX47" fmla="*/ 180835 w 191059"/>
                <a:gd name="connsiteY47" fmla="*/ 129595 h 156407"/>
                <a:gd name="connsiteX48" fmla="*/ 174445 w 191059"/>
                <a:gd name="connsiteY48" fmla="*/ 135979 h 156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1059" h="156407">
                  <a:moveTo>
                    <a:pt x="173806" y="75969"/>
                  </a:moveTo>
                  <a:lnTo>
                    <a:pt x="173806" y="50433"/>
                  </a:lnTo>
                  <a:lnTo>
                    <a:pt x="159748" y="50433"/>
                  </a:lnTo>
                  <a:lnTo>
                    <a:pt x="159748" y="69585"/>
                  </a:lnTo>
                  <a:cubicBezTo>
                    <a:pt x="159748" y="73416"/>
                    <a:pt x="157192" y="75969"/>
                    <a:pt x="153358" y="75969"/>
                  </a:cubicBezTo>
                  <a:lnTo>
                    <a:pt x="123965" y="75969"/>
                  </a:lnTo>
                  <a:lnTo>
                    <a:pt x="123965" y="87461"/>
                  </a:lnTo>
                  <a:cubicBezTo>
                    <a:pt x="123965" y="91291"/>
                    <a:pt x="121409" y="93845"/>
                    <a:pt x="117575" y="93845"/>
                  </a:cubicBezTo>
                  <a:lnTo>
                    <a:pt x="101600" y="93845"/>
                  </a:lnTo>
                  <a:cubicBezTo>
                    <a:pt x="98405" y="93845"/>
                    <a:pt x="95849" y="91291"/>
                    <a:pt x="95210" y="88099"/>
                  </a:cubicBezTo>
                  <a:lnTo>
                    <a:pt x="89459" y="28089"/>
                  </a:lnTo>
                  <a:lnTo>
                    <a:pt x="77318" y="28089"/>
                  </a:lnTo>
                  <a:lnTo>
                    <a:pt x="72206" y="87461"/>
                  </a:lnTo>
                  <a:cubicBezTo>
                    <a:pt x="72206" y="90653"/>
                    <a:pt x="69011" y="93206"/>
                    <a:pt x="65816" y="93206"/>
                  </a:cubicBezTo>
                  <a:lnTo>
                    <a:pt x="55592" y="93206"/>
                  </a:lnTo>
                  <a:cubicBezTo>
                    <a:pt x="52397" y="93206"/>
                    <a:pt x="49841" y="90653"/>
                    <a:pt x="49202" y="87461"/>
                  </a:cubicBezTo>
                  <a:lnTo>
                    <a:pt x="39618" y="0"/>
                  </a:lnTo>
                  <a:lnTo>
                    <a:pt x="23004" y="0"/>
                  </a:lnTo>
                  <a:lnTo>
                    <a:pt x="15336" y="81077"/>
                  </a:lnTo>
                  <a:cubicBezTo>
                    <a:pt x="15336" y="83630"/>
                    <a:pt x="13419" y="85545"/>
                    <a:pt x="11502" y="86184"/>
                  </a:cubicBezTo>
                  <a:lnTo>
                    <a:pt x="0" y="91291"/>
                  </a:lnTo>
                  <a:lnTo>
                    <a:pt x="0" y="156408"/>
                  </a:lnTo>
                  <a:lnTo>
                    <a:pt x="191059" y="156408"/>
                  </a:lnTo>
                  <a:lnTo>
                    <a:pt x="191059" y="82353"/>
                  </a:lnTo>
                  <a:lnTo>
                    <a:pt x="180196" y="82353"/>
                  </a:lnTo>
                  <a:cubicBezTo>
                    <a:pt x="176362" y="82353"/>
                    <a:pt x="173806" y="79800"/>
                    <a:pt x="173806" y="75969"/>
                  </a:cubicBezTo>
                  <a:cubicBezTo>
                    <a:pt x="173806" y="75969"/>
                    <a:pt x="173806" y="75969"/>
                    <a:pt x="173806" y="75969"/>
                  </a:cubicBezTo>
                  <a:close/>
                  <a:moveTo>
                    <a:pt x="46646" y="135979"/>
                  </a:moveTo>
                  <a:lnTo>
                    <a:pt x="20448" y="135979"/>
                  </a:lnTo>
                  <a:cubicBezTo>
                    <a:pt x="16614" y="135979"/>
                    <a:pt x="14058" y="133425"/>
                    <a:pt x="14058" y="129595"/>
                  </a:cubicBezTo>
                  <a:cubicBezTo>
                    <a:pt x="14058" y="125764"/>
                    <a:pt x="16614" y="123211"/>
                    <a:pt x="20448" y="123211"/>
                  </a:cubicBezTo>
                  <a:lnTo>
                    <a:pt x="46646" y="123211"/>
                  </a:lnTo>
                  <a:cubicBezTo>
                    <a:pt x="50480" y="123211"/>
                    <a:pt x="53036" y="125764"/>
                    <a:pt x="53036" y="129595"/>
                  </a:cubicBezTo>
                  <a:cubicBezTo>
                    <a:pt x="53036" y="133425"/>
                    <a:pt x="50480" y="135979"/>
                    <a:pt x="46646" y="135979"/>
                  </a:cubicBezTo>
                  <a:close/>
                  <a:moveTo>
                    <a:pt x="120770" y="135979"/>
                  </a:moveTo>
                  <a:lnTo>
                    <a:pt x="78596" y="135979"/>
                  </a:lnTo>
                  <a:cubicBezTo>
                    <a:pt x="74762" y="135979"/>
                    <a:pt x="72206" y="133425"/>
                    <a:pt x="72206" y="129595"/>
                  </a:cubicBezTo>
                  <a:cubicBezTo>
                    <a:pt x="72206" y="125764"/>
                    <a:pt x="74762" y="123211"/>
                    <a:pt x="78596" y="123211"/>
                  </a:cubicBezTo>
                  <a:lnTo>
                    <a:pt x="120770" y="123211"/>
                  </a:lnTo>
                  <a:cubicBezTo>
                    <a:pt x="124604" y="123211"/>
                    <a:pt x="127160" y="125764"/>
                    <a:pt x="127160" y="129595"/>
                  </a:cubicBezTo>
                  <a:cubicBezTo>
                    <a:pt x="127160" y="133425"/>
                    <a:pt x="124604" y="135979"/>
                    <a:pt x="120770" y="135979"/>
                  </a:cubicBezTo>
                  <a:lnTo>
                    <a:pt x="120770" y="135979"/>
                  </a:lnTo>
                  <a:close/>
                  <a:moveTo>
                    <a:pt x="174445" y="135979"/>
                  </a:moveTo>
                  <a:lnTo>
                    <a:pt x="156553" y="135979"/>
                  </a:lnTo>
                  <a:cubicBezTo>
                    <a:pt x="152719" y="135979"/>
                    <a:pt x="150164" y="133425"/>
                    <a:pt x="150164" y="129595"/>
                  </a:cubicBezTo>
                  <a:cubicBezTo>
                    <a:pt x="150164" y="125764"/>
                    <a:pt x="152719" y="123211"/>
                    <a:pt x="156553" y="123211"/>
                  </a:cubicBezTo>
                  <a:lnTo>
                    <a:pt x="174445" y="123211"/>
                  </a:lnTo>
                  <a:cubicBezTo>
                    <a:pt x="178279" y="123211"/>
                    <a:pt x="180835" y="125764"/>
                    <a:pt x="180835" y="129595"/>
                  </a:cubicBezTo>
                  <a:cubicBezTo>
                    <a:pt x="180835" y="133425"/>
                    <a:pt x="178279" y="135979"/>
                    <a:pt x="174445" y="135979"/>
                  </a:cubicBezTo>
                  <a:close/>
                </a:path>
              </a:pathLst>
            </a:custGeom>
            <a:solidFill>
              <a:srgbClr val="0076A8"/>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grpSp>
        <p:nvGrpSpPr>
          <p:cNvPr id="109" name="Graphic 4">
            <a:extLst>
              <a:ext uri="{FF2B5EF4-FFF2-40B4-BE49-F238E27FC236}">
                <a16:creationId xmlns:a16="http://schemas.microsoft.com/office/drawing/2014/main" id="{FBE813EE-B182-9F80-8B14-74CB9D12A834}"/>
              </a:ext>
            </a:extLst>
          </p:cNvPr>
          <p:cNvGrpSpPr>
            <a:grpSpLocks noChangeAspect="1"/>
          </p:cNvGrpSpPr>
          <p:nvPr/>
        </p:nvGrpSpPr>
        <p:grpSpPr bwMode="gray">
          <a:xfrm>
            <a:off x="6456903" y="2205971"/>
            <a:ext cx="321723" cy="321723"/>
            <a:chOff x="905454" y="918179"/>
            <a:chExt cx="362309" cy="361971"/>
          </a:xfrm>
          <a:solidFill>
            <a:srgbClr val="0076A8"/>
          </a:solidFill>
        </p:grpSpPr>
        <p:sp>
          <p:nvSpPr>
            <p:cNvPr id="110" name="Graphic 4">
              <a:extLst>
                <a:ext uri="{FF2B5EF4-FFF2-40B4-BE49-F238E27FC236}">
                  <a16:creationId xmlns:a16="http://schemas.microsoft.com/office/drawing/2014/main" id="{CDF3E4DA-ED96-5B2C-6E9A-AE4744B57877}"/>
                </a:ext>
              </a:extLst>
            </p:cNvPr>
            <p:cNvSpPr/>
            <p:nvPr/>
          </p:nvSpPr>
          <p:spPr bwMode="gray">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89464 w 362309"/>
                <a:gd name="connsiteY6" fmla="*/ 265574 h 361971"/>
                <a:gd name="connsiteX7" fmla="*/ 283074 w 362309"/>
                <a:gd name="connsiteY7" fmla="*/ 271958 h 361971"/>
                <a:gd name="connsiteX8" fmla="*/ 79235 w 362309"/>
                <a:gd name="connsiteY8" fmla="*/ 271958 h 361971"/>
                <a:gd name="connsiteX9" fmla="*/ 72845 w 362309"/>
                <a:gd name="connsiteY9" fmla="*/ 265574 h 361971"/>
                <a:gd name="connsiteX10" fmla="*/ 72845 w 362309"/>
                <a:gd name="connsiteY10" fmla="*/ 189604 h 361971"/>
                <a:gd name="connsiteX11" fmla="*/ 76679 w 362309"/>
                <a:gd name="connsiteY11" fmla="*/ 183859 h 361971"/>
                <a:gd name="connsiteX12" fmla="*/ 88181 w 362309"/>
                <a:gd name="connsiteY12" fmla="*/ 178752 h 361971"/>
                <a:gd name="connsiteX13" fmla="*/ 96488 w 362309"/>
                <a:gd name="connsiteY13" fmla="*/ 95121 h 361971"/>
                <a:gd name="connsiteX14" fmla="*/ 102878 w 362309"/>
                <a:gd name="connsiteY14" fmla="*/ 89376 h 361971"/>
                <a:gd name="connsiteX15" fmla="*/ 130994 w 362309"/>
                <a:gd name="connsiteY15" fmla="*/ 89376 h 361971"/>
                <a:gd name="connsiteX16" fmla="*/ 137384 w 362309"/>
                <a:gd name="connsiteY16" fmla="*/ 95121 h 361971"/>
                <a:gd name="connsiteX17" fmla="*/ 146330 w 362309"/>
                <a:gd name="connsiteY17" fmla="*/ 176836 h 361971"/>
                <a:gd name="connsiteX18" fmla="*/ 151441 w 362309"/>
                <a:gd name="connsiteY18" fmla="*/ 123849 h 361971"/>
                <a:gd name="connsiteX19" fmla="*/ 157831 w 362309"/>
                <a:gd name="connsiteY19" fmla="*/ 118104 h 361971"/>
                <a:gd name="connsiteX20" fmla="*/ 181474 w 362309"/>
                <a:gd name="connsiteY20" fmla="*/ 118104 h 361971"/>
                <a:gd name="connsiteX21" fmla="*/ 187864 w 362309"/>
                <a:gd name="connsiteY21" fmla="*/ 123849 h 361971"/>
                <a:gd name="connsiteX22" fmla="*/ 193615 w 362309"/>
                <a:gd name="connsiteY22" fmla="*/ 183859 h 361971"/>
                <a:gd name="connsiteX23" fmla="*/ 196810 w 362309"/>
                <a:gd name="connsiteY23" fmla="*/ 183859 h 361971"/>
                <a:gd name="connsiteX24" fmla="*/ 196810 w 362309"/>
                <a:gd name="connsiteY24" fmla="*/ 172368 h 361971"/>
                <a:gd name="connsiteX25" fmla="*/ 203200 w 362309"/>
                <a:gd name="connsiteY25" fmla="*/ 165984 h 361971"/>
                <a:gd name="connsiteX26" fmla="*/ 232594 w 362309"/>
                <a:gd name="connsiteY26" fmla="*/ 165984 h 361971"/>
                <a:gd name="connsiteX27" fmla="*/ 232594 w 362309"/>
                <a:gd name="connsiteY27" fmla="*/ 153216 h 361971"/>
                <a:gd name="connsiteX28" fmla="*/ 228760 w 362309"/>
                <a:gd name="connsiteY28" fmla="*/ 153216 h 361971"/>
                <a:gd name="connsiteX29" fmla="*/ 222370 w 362309"/>
                <a:gd name="connsiteY29" fmla="*/ 146832 h 361971"/>
                <a:gd name="connsiteX30" fmla="*/ 228760 w 362309"/>
                <a:gd name="connsiteY30" fmla="*/ 140448 h 361971"/>
                <a:gd name="connsiteX31" fmla="*/ 278601 w 362309"/>
                <a:gd name="connsiteY31" fmla="*/ 140448 h 361971"/>
                <a:gd name="connsiteX32" fmla="*/ 284991 w 362309"/>
                <a:gd name="connsiteY32" fmla="*/ 146832 h 361971"/>
                <a:gd name="connsiteX33" fmla="*/ 278601 w 362309"/>
                <a:gd name="connsiteY33" fmla="*/ 153216 h 361971"/>
                <a:gd name="connsiteX34" fmla="*/ 272211 w 362309"/>
                <a:gd name="connsiteY34" fmla="*/ 153216 h 361971"/>
                <a:gd name="connsiteX35" fmla="*/ 272211 w 362309"/>
                <a:gd name="connsiteY35" fmla="*/ 172368 h 361971"/>
                <a:gd name="connsiteX36" fmla="*/ 283713 w 362309"/>
                <a:gd name="connsiteY36" fmla="*/ 172368 h 361971"/>
                <a:gd name="connsiteX37" fmla="*/ 290103 w 362309"/>
                <a:gd name="connsiteY37" fmla="*/ 178752 h 361971"/>
                <a:gd name="connsiteX38" fmla="*/ 290103 w 362309"/>
                <a:gd name="connsiteY38" fmla="*/ 26557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89464" y="265574"/>
                  </a:moveTo>
                  <a:cubicBezTo>
                    <a:pt x="289464" y="269404"/>
                    <a:pt x="286908" y="271958"/>
                    <a:pt x="283074" y="271958"/>
                  </a:cubicBezTo>
                  <a:lnTo>
                    <a:pt x="79235" y="271958"/>
                  </a:lnTo>
                  <a:cubicBezTo>
                    <a:pt x="75401" y="271958"/>
                    <a:pt x="72845" y="269404"/>
                    <a:pt x="72845" y="265574"/>
                  </a:cubicBezTo>
                  <a:lnTo>
                    <a:pt x="72845" y="189604"/>
                  </a:lnTo>
                  <a:cubicBezTo>
                    <a:pt x="72845" y="187051"/>
                    <a:pt x="74123" y="184497"/>
                    <a:pt x="76679" y="183859"/>
                  </a:cubicBezTo>
                  <a:lnTo>
                    <a:pt x="88181" y="178752"/>
                  </a:lnTo>
                  <a:lnTo>
                    <a:pt x="96488" y="95121"/>
                  </a:lnTo>
                  <a:cubicBezTo>
                    <a:pt x="97127" y="91929"/>
                    <a:pt x="99683" y="89376"/>
                    <a:pt x="102878" y="89376"/>
                  </a:cubicBezTo>
                  <a:lnTo>
                    <a:pt x="130994" y="89376"/>
                  </a:lnTo>
                  <a:cubicBezTo>
                    <a:pt x="134189" y="89376"/>
                    <a:pt x="136745" y="91929"/>
                    <a:pt x="137384" y="95121"/>
                  </a:cubicBezTo>
                  <a:lnTo>
                    <a:pt x="146330" y="176836"/>
                  </a:lnTo>
                  <a:lnTo>
                    <a:pt x="151441" y="123849"/>
                  </a:lnTo>
                  <a:cubicBezTo>
                    <a:pt x="151441" y="120657"/>
                    <a:pt x="154636" y="118104"/>
                    <a:pt x="157831" y="118104"/>
                  </a:cubicBezTo>
                  <a:lnTo>
                    <a:pt x="181474" y="118104"/>
                  </a:lnTo>
                  <a:cubicBezTo>
                    <a:pt x="184669" y="118104"/>
                    <a:pt x="187225" y="120657"/>
                    <a:pt x="187864" y="123849"/>
                  </a:cubicBezTo>
                  <a:lnTo>
                    <a:pt x="193615" y="183859"/>
                  </a:lnTo>
                  <a:lnTo>
                    <a:pt x="196810" y="183859"/>
                  </a:lnTo>
                  <a:lnTo>
                    <a:pt x="196810" y="172368"/>
                  </a:lnTo>
                  <a:cubicBezTo>
                    <a:pt x="196810" y="168537"/>
                    <a:pt x="199366" y="165984"/>
                    <a:pt x="203200" y="165984"/>
                  </a:cubicBezTo>
                  <a:lnTo>
                    <a:pt x="232594" y="165984"/>
                  </a:lnTo>
                  <a:lnTo>
                    <a:pt x="232594" y="153216"/>
                  </a:lnTo>
                  <a:lnTo>
                    <a:pt x="228760" y="153216"/>
                  </a:lnTo>
                  <a:cubicBezTo>
                    <a:pt x="224926" y="153216"/>
                    <a:pt x="222370" y="150662"/>
                    <a:pt x="222370" y="146832"/>
                  </a:cubicBezTo>
                  <a:cubicBezTo>
                    <a:pt x="222370" y="143001"/>
                    <a:pt x="224926" y="140448"/>
                    <a:pt x="228760" y="140448"/>
                  </a:cubicBezTo>
                  <a:lnTo>
                    <a:pt x="278601" y="140448"/>
                  </a:lnTo>
                  <a:cubicBezTo>
                    <a:pt x="282435" y="140448"/>
                    <a:pt x="284991" y="143001"/>
                    <a:pt x="284991" y="146832"/>
                  </a:cubicBezTo>
                  <a:cubicBezTo>
                    <a:pt x="284991" y="150662"/>
                    <a:pt x="282435" y="153216"/>
                    <a:pt x="278601" y="153216"/>
                  </a:cubicBezTo>
                  <a:lnTo>
                    <a:pt x="272211" y="153216"/>
                  </a:lnTo>
                  <a:lnTo>
                    <a:pt x="272211" y="172368"/>
                  </a:lnTo>
                  <a:lnTo>
                    <a:pt x="283713" y="172368"/>
                  </a:lnTo>
                  <a:cubicBezTo>
                    <a:pt x="287547" y="172368"/>
                    <a:pt x="290103" y="174921"/>
                    <a:pt x="290103" y="178752"/>
                  </a:cubicBezTo>
                  <a:lnTo>
                    <a:pt x="290103" y="265574"/>
                  </a:lnTo>
                  <a:close/>
                </a:path>
              </a:pathLst>
            </a:custGeom>
            <a:solidFill>
              <a:srgbClr val="0076A8"/>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11" name="Graphic 4">
              <a:extLst>
                <a:ext uri="{FF2B5EF4-FFF2-40B4-BE49-F238E27FC236}">
                  <a16:creationId xmlns:a16="http://schemas.microsoft.com/office/drawing/2014/main" id="{94C9E396-A666-C660-6C13-409A1582F4B4}"/>
                </a:ext>
              </a:extLst>
            </p:cNvPr>
            <p:cNvSpPr/>
            <p:nvPr/>
          </p:nvSpPr>
          <p:spPr bwMode="gray">
            <a:xfrm>
              <a:off x="991079" y="1020961"/>
              <a:ext cx="191059" cy="156407"/>
            </a:xfrm>
            <a:custGeom>
              <a:avLst/>
              <a:gdLst>
                <a:gd name="connsiteX0" fmla="*/ 173806 w 191059"/>
                <a:gd name="connsiteY0" fmla="*/ 75969 h 156407"/>
                <a:gd name="connsiteX1" fmla="*/ 173806 w 191059"/>
                <a:gd name="connsiteY1" fmla="*/ 50433 h 156407"/>
                <a:gd name="connsiteX2" fmla="*/ 159748 w 191059"/>
                <a:gd name="connsiteY2" fmla="*/ 50433 h 156407"/>
                <a:gd name="connsiteX3" fmla="*/ 159748 w 191059"/>
                <a:gd name="connsiteY3" fmla="*/ 69585 h 156407"/>
                <a:gd name="connsiteX4" fmla="*/ 153358 w 191059"/>
                <a:gd name="connsiteY4" fmla="*/ 75969 h 156407"/>
                <a:gd name="connsiteX5" fmla="*/ 123965 w 191059"/>
                <a:gd name="connsiteY5" fmla="*/ 75969 h 156407"/>
                <a:gd name="connsiteX6" fmla="*/ 123965 w 191059"/>
                <a:gd name="connsiteY6" fmla="*/ 87461 h 156407"/>
                <a:gd name="connsiteX7" fmla="*/ 117575 w 191059"/>
                <a:gd name="connsiteY7" fmla="*/ 93845 h 156407"/>
                <a:gd name="connsiteX8" fmla="*/ 101600 w 191059"/>
                <a:gd name="connsiteY8" fmla="*/ 93845 h 156407"/>
                <a:gd name="connsiteX9" fmla="*/ 95210 w 191059"/>
                <a:gd name="connsiteY9" fmla="*/ 88099 h 156407"/>
                <a:gd name="connsiteX10" fmla="*/ 89459 w 191059"/>
                <a:gd name="connsiteY10" fmla="*/ 28089 h 156407"/>
                <a:gd name="connsiteX11" fmla="*/ 77318 w 191059"/>
                <a:gd name="connsiteY11" fmla="*/ 28089 h 156407"/>
                <a:gd name="connsiteX12" fmla="*/ 72206 w 191059"/>
                <a:gd name="connsiteY12" fmla="*/ 87461 h 156407"/>
                <a:gd name="connsiteX13" fmla="*/ 65816 w 191059"/>
                <a:gd name="connsiteY13" fmla="*/ 93206 h 156407"/>
                <a:gd name="connsiteX14" fmla="*/ 55592 w 191059"/>
                <a:gd name="connsiteY14" fmla="*/ 93206 h 156407"/>
                <a:gd name="connsiteX15" fmla="*/ 49202 w 191059"/>
                <a:gd name="connsiteY15" fmla="*/ 87461 h 156407"/>
                <a:gd name="connsiteX16" fmla="*/ 39618 w 191059"/>
                <a:gd name="connsiteY16" fmla="*/ 0 h 156407"/>
                <a:gd name="connsiteX17" fmla="*/ 23004 w 191059"/>
                <a:gd name="connsiteY17" fmla="*/ 0 h 156407"/>
                <a:gd name="connsiteX18" fmla="*/ 15336 w 191059"/>
                <a:gd name="connsiteY18" fmla="*/ 81077 h 156407"/>
                <a:gd name="connsiteX19" fmla="*/ 11502 w 191059"/>
                <a:gd name="connsiteY19" fmla="*/ 86184 h 156407"/>
                <a:gd name="connsiteX20" fmla="*/ 0 w 191059"/>
                <a:gd name="connsiteY20" fmla="*/ 91291 h 156407"/>
                <a:gd name="connsiteX21" fmla="*/ 0 w 191059"/>
                <a:gd name="connsiteY21" fmla="*/ 156408 h 156407"/>
                <a:gd name="connsiteX22" fmla="*/ 191059 w 191059"/>
                <a:gd name="connsiteY22" fmla="*/ 156408 h 156407"/>
                <a:gd name="connsiteX23" fmla="*/ 191059 w 191059"/>
                <a:gd name="connsiteY23" fmla="*/ 82353 h 156407"/>
                <a:gd name="connsiteX24" fmla="*/ 180196 w 191059"/>
                <a:gd name="connsiteY24" fmla="*/ 82353 h 156407"/>
                <a:gd name="connsiteX25" fmla="*/ 173806 w 191059"/>
                <a:gd name="connsiteY25" fmla="*/ 75969 h 156407"/>
                <a:gd name="connsiteX26" fmla="*/ 173806 w 191059"/>
                <a:gd name="connsiteY26" fmla="*/ 75969 h 156407"/>
                <a:gd name="connsiteX27" fmla="*/ 46646 w 191059"/>
                <a:gd name="connsiteY27" fmla="*/ 135979 h 156407"/>
                <a:gd name="connsiteX28" fmla="*/ 20448 w 191059"/>
                <a:gd name="connsiteY28" fmla="*/ 135979 h 156407"/>
                <a:gd name="connsiteX29" fmla="*/ 14058 w 191059"/>
                <a:gd name="connsiteY29" fmla="*/ 129595 h 156407"/>
                <a:gd name="connsiteX30" fmla="*/ 20448 w 191059"/>
                <a:gd name="connsiteY30" fmla="*/ 123211 h 156407"/>
                <a:gd name="connsiteX31" fmla="*/ 46646 w 191059"/>
                <a:gd name="connsiteY31" fmla="*/ 123211 h 156407"/>
                <a:gd name="connsiteX32" fmla="*/ 53036 w 191059"/>
                <a:gd name="connsiteY32" fmla="*/ 129595 h 156407"/>
                <a:gd name="connsiteX33" fmla="*/ 46646 w 191059"/>
                <a:gd name="connsiteY33" fmla="*/ 135979 h 156407"/>
                <a:gd name="connsiteX34" fmla="*/ 120770 w 191059"/>
                <a:gd name="connsiteY34" fmla="*/ 135979 h 156407"/>
                <a:gd name="connsiteX35" fmla="*/ 78596 w 191059"/>
                <a:gd name="connsiteY35" fmla="*/ 135979 h 156407"/>
                <a:gd name="connsiteX36" fmla="*/ 72206 w 191059"/>
                <a:gd name="connsiteY36" fmla="*/ 129595 h 156407"/>
                <a:gd name="connsiteX37" fmla="*/ 78596 w 191059"/>
                <a:gd name="connsiteY37" fmla="*/ 123211 h 156407"/>
                <a:gd name="connsiteX38" fmla="*/ 120770 w 191059"/>
                <a:gd name="connsiteY38" fmla="*/ 123211 h 156407"/>
                <a:gd name="connsiteX39" fmla="*/ 127160 w 191059"/>
                <a:gd name="connsiteY39" fmla="*/ 129595 h 156407"/>
                <a:gd name="connsiteX40" fmla="*/ 120770 w 191059"/>
                <a:gd name="connsiteY40" fmla="*/ 135979 h 156407"/>
                <a:gd name="connsiteX41" fmla="*/ 120770 w 191059"/>
                <a:gd name="connsiteY41" fmla="*/ 135979 h 156407"/>
                <a:gd name="connsiteX42" fmla="*/ 174445 w 191059"/>
                <a:gd name="connsiteY42" fmla="*/ 135979 h 156407"/>
                <a:gd name="connsiteX43" fmla="*/ 156553 w 191059"/>
                <a:gd name="connsiteY43" fmla="*/ 135979 h 156407"/>
                <a:gd name="connsiteX44" fmla="*/ 150164 w 191059"/>
                <a:gd name="connsiteY44" fmla="*/ 129595 h 156407"/>
                <a:gd name="connsiteX45" fmla="*/ 156553 w 191059"/>
                <a:gd name="connsiteY45" fmla="*/ 123211 h 156407"/>
                <a:gd name="connsiteX46" fmla="*/ 174445 w 191059"/>
                <a:gd name="connsiteY46" fmla="*/ 123211 h 156407"/>
                <a:gd name="connsiteX47" fmla="*/ 180835 w 191059"/>
                <a:gd name="connsiteY47" fmla="*/ 129595 h 156407"/>
                <a:gd name="connsiteX48" fmla="*/ 174445 w 191059"/>
                <a:gd name="connsiteY48" fmla="*/ 135979 h 156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1059" h="156407">
                  <a:moveTo>
                    <a:pt x="173806" y="75969"/>
                  </a:moveTo>
                  <a:lnTo>
                    <a:pt x="173806" y="50433"/>
                  </a:lnTo>
                  <a:lnTo>
                    <a:pt x="159748" y="50433"/>
                  </a:lnTo>
                  <a:lnTo>
                    <a:pt x="159748" y="69585"/>
                  </a:lnTo>
                  <a:cubicBezTo>
                    <a:pt x="159748" y="73416"/>
                    <a:pt x="157192" y="75969"/>
                    <a:pt x="153358" y="75969"/>
                  </a:cubicBezTo>
                  <a:lnTo>
                    <a:pt x="123965" y="75969"/>
                  </a:lnTo>
                  <a:lnTo>
                    <a:pt x="123965" y="87461"/>
                  </a:lnTo>
                  <a:cubicBezTo>
                    <a:pt x="123965" y="91291"/>
                    <a:pt x="121409" y="93845"/>
                    <a:pt x="117575" y="93845"/>
                  </a:cubicBezTo>
                  <a:lnTo>
                    <a:pt x="101600" y="93845"/>
                  </a:lnTo>
                  <a:cubicBezTo>
                    <a:pt x="98405" y="93845"/>
                    <a:pt x="95849" y="91291"/>
                    <a:pt x="95210" y="88099"/>
                  </a:cubicBezTo>
                  <a:lnTo>
                    <a:pt x="89459" y="28089"/>
                  </a:lnTo>
                  <a:lnTo>
                    <a:pt x="77318" y="28089"/>
                  </a:lnTo>
                  <a:lnTo>
                    <a:pt x="72206" y="87461"/>
                  </a:lnTo>
                  <a:cubicBezTo>
                    <a:pt x="72206" y="90653"/>
                    <a:pt x="69011" y="93206"/>
                    <a:pt x="65816" y="93206"/>
                  </a:cubicBezTo>
                  <a:lnTo>
                    <a:pt x="55592" y="93206"/>
                  </a:lnTo>
                  <a:cubicBezTo>
                    <a:pt x="52397" y="93206"/>
                    <a:pt x="49841" y="90653"/>
                    <a:pt x="49202" y="87461"/>
                  </a:cubicBezTo>
                  <a:lnTo>
                    <a:pt x="39618" y="0"/>
                  </a:lnTo>
                  <a:lnTo>
                    <a:pt x="23004" y="0"/>
                  </a:lnTo>
                  <a:lnTo>
                    <a:pt x="15336" y="81077"/>
                  </a:lnTo>
                  <a:cubicBezTo>
                    <a:pt x="15336" y="83630"/>
                    <a:pt x="13419" y="85545"/>
                    <a:pt x="11502" y="86184"/>
                  </a:cubicBezTo>
                  <a:lnTo>
                    <a:pt x="0" y="91291"/>
                  </a:lnTo>
                  <a:lnTo>
                    <a:pt x="0" y="156408"/>
                  </a:lnTo>
                  <a:lnTo>
                    <a:pt x="191059" y="156408"/>
                  </a:lnTo>
                  <a:lnTo>
                    <a:pt x="191059" y="82353"/>
                  </a:lnTo>
                  <a:lnTo>
                    <a:pt x="180196" y="82353"/>
                  </a:lnTo>
                  <a:cubicBezTo>
                    <a:pt x="176362" y="82353"/>
                    <a:pt x="173806" y="79800"/>
                    <a:pt x="173806" y="75969"/>
                  </a:cubicBezTo>
                  <a:cubicBezTo>
                    <a:pt x="173806" y="75969"/>
                    <a:pt x="173806" y="75969"/>
                    <a:pt x="173806" y="75969"/>
                  </a:cubicBezTo>
                  <a:close/>
                  <a:moveTo>
                    <a:pt x="46646" y="135979"/>
                  </a:moveTo>
                  <a:lnTo>
                    <a:pt x="20448" y="135979"/>
                  </a:lnTo>
                  <a:cubicBezTo>
                    <a:pt x="16614" y="135979"/>
                    <a:pt x="14058" y="133425"/>
                    <a:pt x="14058" y="129595"/>
                  </a:cubicBezTo>
                  <a:cubicBezTo>
                    <a:pt x="14058" y="125764"/>
                    <a:pt x="16614" y="123211"/>
                    <a:pt x="20448" y="123211"/>
                  </a:cubicBezTo>
                  <a:lnTo>
                    <a:pt x="46646" y="123211"/>
                  </a:lnTo>
                  <a:cubicBezTo>
                    <a:pt x="50480" y="123211"/>
                    <a:pt x="53036" y="125764"/>
                    <a:pt x="53036" y="129595"/>
                  </a:cubicBezTo>
                  <a:cubicBezTo>
                    <a:pt x="53036" y="133425"/>
                    <a:pt x="50480" y="135979"/>
                    <a:pt x="46646" y="135979"/>
                  </a:cubicBezTo>
                  <a:close/>
                  <a:moveTo>
                    <a:pt x="120770" y="135979"/>
                  </a:moveTo>
                  <a:lnTo>
                    <a:pt x="78596" y="135979"/>
                  </a:lnTo>
                  <a:cubicBezTo>
                    <a:pt x="74762" y="135979"/>
                    <a:pt x="72206" y="133425"/>
                    <a:pt x="72206" y="129595"/>
                  </a:cubicBezTo>
                  <a:cubicBezTo>
                    <a:pt x="72206" y="125764"/>
                    <a:pt x="74762" y="123211"/>
                    <a:pt x="78596" y="123211"/>
                  </a:cubicBezTo>
                  <a:lnTo>
                    <a:pt x="120770" y="123211"/>
                  </a:lnTo>
                  <a:cubicBezTo>
                    <a:pt x="124604" y="123211"/>
                    <a:pt x="127160" y="125764"/>
                    <a:pt x="127160" y="129595"/>
                  </a:cubicBezTo>
                  <a:cubicBezTo>
                    <a:pt x="127160" y="133425"/>
                    <a:pt x="124604" y="135979"/>
                    <a:pt x="120770" y="135979"/>
                  </a:cubicBezTo>
                  <a:lnTo>
                    <a:pt x="120770" y="135979"/>
                  </a:lnTo>
                  <a:close/>
                  <a:moveTo>
                    <a:pt x="174445" y="135979"/>
                  </a:moveTo>
                  <a:lnTo>
                    <a:pt x="156553" y="135979"/>
                  </a:lnTo>
                  <a:cubicBezTo>
                    <a:pt x="152719" y="135979"/>
                    <a:pt x="150164" y="133425"/>
                    <a:pt x="150164" y="129595"/>
                  </a:cubicBezTo>
                  <a:cubicBezTo>
                    <a:pt x="150164" y="125764"/>
                    <a:pt x="152719" y="123211"/>
                    <a:pt x="156553" y="123211"/>
                  </a:cubicBezTo>
                  <a:lnTo>
                    <a:pt x="174445" y="123211"/>
                  </a:lnTo>
                  <a:cubicBezTo>
                    <a:pt x="178279" y="123211"/>
                    <a:pt x="180835" y="125764"/>
                    <a:pt x="180835" y="129595"/>
                  </a:cubicBezTo>
                  <a:cubicBezTo>
                    <a:pt x="180835" y="133425"/>
                    <a:pt x="178279" y="135979"/>
                    <a:pt x="174445" y="135979"/>
                  </a:cubicBezTo>
                  <a:close/>
                </a:path>
              </a:pathLst>
            </a:custGeom>
            <a:solidFill>
              <a:srgbClr val="0076A8"/>
            </a:solid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sp>
        <p:nvSpPr>
          <p:cNvPr id="112" name="正方形/長方形 111">
            <a:extLst>
              <a:ext uri="{FF2B5EF4-FFF2-40B4-BE49-F238E27FC236}">
                <a16:creationId xmlns:a16="http://schemas.microsoft.com/office/drawing/2014/main" id="{7082D4E3-844E-C16F-3365-47B306292455}"/>
              </a:ext>
            </a:extLst>
          </p:cNvPr>
          <p:cNvSpPr/>
          <p:nvPr/>
        </p:nvSpPr>
        <p:spPr>
          <a:xfrm>
            <a:off x="3965993" y="2199098"/>
            <a:ext cx="1327432" cy="3625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各拠点</a:t>
            </a:r>
          </a:p>
        </p:txBody>
      </p:sp>
      <p:sp>
        <p:nvSpPr>
          <p:cNvPr id="113" name="正方形/長方形 112">
            <a:extLst>
              <a:ext uri="{FF2B5EF4-FFF2-40B4-BE49-F238E27FC236}">
                <a16:creationId xmlns:a16="http://schemas.microsoft.com/office/drawing/2014/main" id="{F0156866-8CF0-902B-69D0-474CDBB1681C}"/>
              </a:ext>
            </a:extLst>
          </p:cNvPr>
          <p:cNvSpPr/>
          <p:nvPr/>
        </p:nvSpPr>
        <p:spPr>
          <a:xfrm>
            <a:off x="4154712" y="2931471"/>
            <a:ext cx="1327432" cy="3625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安環</a:t>
            </a:r>
          </a:p>
        </p:txBody>
      </p:sp>
      <p:sp>
        <p:nvSpPr>
          <p:cNvPr id="114" name="正方形/長方形 113">
            <a:extLst>
              <a:ext uri="{FF2B5EF4-FFF2-40B4-BE49-F238E27FC236}">
                <a16:creationId xmlns:a16="http://schemas.microsoft.com/office/drawing/2014/main" id="{00B6A8E0-7120-B463-80C4-D60C8E30F82E}"/>
              </a:ext>
            </a:extLst>
          </p:cNvPr>
          <p:cNvSpPr/>
          <p:nvPr/>
        </p:nvSpPr>
        <p:spPr>
          <a:xfrm>
            <a:off x="5718525" y="3842007"/>
            <a:ext cx="1327432" cy="3625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サス室</a:t>
            </a:r>
          </a:p>
        </p:txBody>
      </p:sp>
      <p:sp>
        <p:nvSpPr>
          <p:cNvPr id="115" name="矢印: 五方向 114">
            <a:extLst>
              <a:ext uri="{FF2B5EF4-FFF2-40B4-BE49-F238E27FC236}">
                <a16:creationId xmlns:a16="http://schemas.microsoft.com/office/drawing/2014/main" id="{27F14510-C525-EC09-85B3-D9D2F2B84B7E}"/>
              </a:ext>
            </a:extLst>
          </p:cNvPr>
          <p:cNvSpPr/>
          <p:nvPr/>
        </p:nvSpPr>
        <p:spPr>
          <a:xfrm>
            <a:off x="7583247" y="3787429"/>
            <a:ext cx="1420014" cy="360000"/>
          </a:xfrm>
          <a:prstGeom prst="homePlate">
            <a:avLst>
              <a:gd name="adj" fmla="val 15604"/>
            </a:avLst>
          </a:prstGeom>
          <a:solidFill>
            <a:schemeClr val="bg1"/>
          </a:solidFill>
          <a:ln w="28575">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期中保証人レビュー</a:t>
            </a:r>
            <a:r>
              <a:rPr kumimoji="1" lang="en-US" altLang="ja-JP" sz="1000">
                <a:solidFill>
                  <a:schemeClr val="tx1"/>
                </a:solidFill>
                <a:latin typeface="Meiryo UI" panose="020B0604030504040204" pitchFamily="50" charset="-128"/>
                <a:ea typeface="Meiryo UI" panose="020B0604030504040204" pitchFamily="50" charset="-128"/>
              </a:rPr>
              <a:t>(</a:t>
            </a:r>
            <a:r>
              <a:rPr kumimoji="1" lang="ja-JP" altLang="en-US" sz="1000">
                <a:solidFill>
                  <a:schemeClr val="tx1"/>
                </a:solidFill>
                <a:latin typeface="Meiryo UI" panose="020B0604030504040204" pitchFamily="50" charset="-128"/>
                <a:ea typeface="Meiryo UI" panose="020B0604030504040204" pitchFamily="50" charset="-128"/>
              </a:rPr>
              <a:t>仮</a:t>
            </a:r>
            <a:r>
              <a:rPr kumimoji="1" lang="en-US" altLang="ja-JP" sz="1000">
                <a:solidFill>
                  <a:schemeClr val="tx1"/>
                </a:solidFill>
                <a:latin typeface="Meiryo UI" panose="020B0604030504040204" pitchFamily="50" charset="-128"/>
                <a:ea typeface="Meiryo UI" panose="020B0604030504040204" pitchFamily="50" charset="-128"/>
              </a:rPr>
              <a:t>)</a:t>
            </a:r>
          </a:p>
          <a:p>
            <a:pPr algn="ctr"/>
            <a:r>
              <a:rPr kumimoji="1" lang="en-US" altLang="ja-JP" sz="1000">
                <a:solidFill>
                  <a:schemeClr val="tx1"/>
                </a:solidFill>
                <a:latin typeface="Meiryo UI" panose="020B0604030504040204" pitchFamily="50" charset="-128"/>
                <a:ea typeface="Meiryo UI" panose="020B0604030504040204" pitchFamily="50" charset="-128"/>
              </a:rPr>
              <a:t>※</a:t>
            </a:r>
            <a:r>
              <a:rPr kumimoji="1" lang="ja-JP" altLang="en-US" sz="1000">
                <a:solidFill>
                  <a:schemeClr val="tx1"/>
                </a:solidFill>
                <a:latin typeface="Meiryo UI" panose="020B0604030504040204" pitchFamily="50" charset="-128"/>
                <a:ea typeface="Meiryo UI" panose="020B0604030504040204" pitchFamily="50" charset="-128"/>
              </a:rPr>
              <a:t>要否に応じて</a:t>
            </a:r>
          </a:p>
        </p:txBody>
      </p:sp>
      <p:sp>
        <p:nvSpPr>
          <p:cNvPr id="116" name="矢印: 五方向 115">
            <a:extLst>
              <a:ext uri="{FF2B5EF4-FFF2-40B4-BE49-F238E27FC236}">
                <a16:creationId xmlns:a16="http://schemas.microsoft.com/office/drawing/2014/main" id="{45B10B50-0413-2C69-2C6E-5C006E4E5B05}"/>
              </a:ext>
            </a:extLst>
          </p:cNvPr>
          <p:cNvSpPr/>
          <p:nvPr/>
        </p:nvSpPr>
        <p:spPr>
          <a:xfrm>
            <a:off x="3473805" y="3787429"/>
            <a:ext cx="980798" cy="360000"/>
          </a:xfrm>
          <a:prstGeom prst="homePlate">
            <a:avLst>
              <a:gd name="adj" fmla="val 15604"/>
            </a:avLst>
          </a:prstGeom>
          <a:solidFill>
            <a:schemeClr val="bg1"/>
          </a:solidFill>
          <a:ln w="28575">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期末</a:t>
            </a:r>
            <a:endParaRPr kumimoji="1"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保証人レビュー</a:t>
            </a:r>
          </a:p>
        </p:txBody>
      </p:sp>
      <p:sp>
        <p:nvSpPr>
          <p:cNvPr id="117" name="正方形/長方形 116">
            <a:extLst>
              <a:ext uri="{FF2B5EF4-FFF2-40B4-BE49-F238E27FC236}">
                <a16:creationId xmlns:a16="http://schemas.microsoft.com/office/drawing/2014/main" id="{B183318F-A96C-68F1-7B17-42092AF7C1A2}"/>
              </a:ext>
            </a:extLst>
          </p:cNvPr>
          <p:cNvSpPr/>
          <p:nvPr/>
        </p:nvSpPr>
        <p:spPr>
          <a:xfrm>
            <a:off x="4866638" y="4346818"/>
            <a:ext cx="3911473" cy="197815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200" b="1" u="sng">
                <a:solidFill>
                  <a:schemeClr val="tx1"/>
                </a:solidFill>
                <a:latin typeface="Meiryo UI" panose="020B0604030504040204" pitchFamily="50" charset="-128"/>
                <a:ea typeface="Meiryo UI" panose="020B0604030504040204" pitchFamily="50" charset="-128"/>
              </a:rPr>
              <a:t>本社への報告は月次で実施</a:t>
            </a:r>
            <a:endParaRPr kumimoji="1" lang="en-US" altLang="ja-JP" sz="1200" b="1" u="sng">
              <a:solidFill>
                <a:schemeClr val="tx1"/>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kumimoji="1" lang="ja-JP" altLang="en-US" sz="1200" b="1" u="sng">
                <a:solidFill>
                  <a:schemeClr val="tx1"/>
                </a:solidFill>
                <a:latin typeface="Meiryo UI" panose="020B0604030504040204" pitchFamily="50" charset="-128"/>
                <a:ea typeface="Meiryo UI" panose="020B0604030504040204" pitchFamily="50" charset="-128"/>
              </a:rPr>
              <a:t>月次で収集したデータは翌月安環で確認し、 四半期に</a:t>
            </a:r>
            <a:r>
              <a:rPr kumimoji="1" lang="en-US" altLang="ja-JP" sz="1200" b="1" u="sng">
                <a:solidFill>
                  <a:schemeClr val="tx1"/>
                </a:solidFill>
                <a:latin typeface="Meiryo UI" panose="020B0604030504040204" pitchFamily="50" charset="-128"/>
                <a:ea typeface="Meiryo UI" panose="020B0604030504040204" pitchFamily="50" charset="-128"/>
              </a:rPr>
              <a:t>1</a:t>
            </a:r>
            <a:r>
              <a:rPr kumimoji="1" lang="ja-JP" altLang="en-US" sz="1200" b="1" u="sng">
                <a:solidFill>
                  <a:schemeClr val="tx1"/>
                </a:solidFill>
                <a:latin typeface="Meiryo UI" panose="020B0604030504040204" pitchFamily="50" charset="-128"/>
                <a:ea typeface="Meiryo UI" panose="020B0604030504040204" pitchFamily="50" charset="-128"/>
              </a:rPr>
              <a:t>回サス室で算定</a:t>
            </a:r>
            <a:r>
              <a:rPr kumimoji="1" lang="ja-JP" altLang="en-US" sz="1200">
                <a:solidFill>
                  <a:schemeClr val="tx1"/>
                </a:solidFill>
                <a:latin typeface="Meiryo UI" panose="020B0604030504040204" pitchFamily="50" charset="-128"/>
                <a:ea typeface="Meiryo UI" panose="020B0604030504040204" pitchFamily="50" charset="-128"/>
              </a:rPr>
              <a:t>。修正・開示までの期間は</a:t>
            </a:r>
            <a:r>
              <a:rPr kumimoji="1" lang="en-US" altLang="ja-JP" sz="1200">
                <a:solidFill>
                  <a:schemeClr val="tx1"/>
                </a:solidFill>
                <a:latin typeface="Meiryo UI" panose="020B0604030504040204" pitchFamily="50" charset="-128"/>
                <a:ea typeface="Meiryo UI" panose="020B0604030504040204" pitchFamily="50" charset="-128"/>
              </a:rPr>
              <a:t>4Q</a:t>
            </a:r>
            <a:r>
              <a:rPr kumimoji="1" lang="ja-JP" altLang="en-US" sz="1200">
                <a:solidFill>
                  <a:schemeClr val="tx1"/>
                </a:solidFill>
                <a:latin typeface="Meiryo UI" panose="020B0604030504040204" pitchFamily="50" charset="-128"/>
                <a:ea typeface="Meiryo UI" panose="020B0604030504040204" pitchFamily="50" charset="-128"/>
              </a:rPr>
              <a:t>のみ</a:t>
            </a:r>
            <a:r>
              <a:rPr kumimoji="1" lang="en-US" altLang="ja-JP" sz="1200">
                <a:solidFill>
                  <a:schemeClr val="tx1"/>
                </a:solidFill>
                <a:latin typeface="Meiryo UI" panose="020B0604030504040204" pitchFamily="50" charset="-128"/>
                <a:ea typeface="Meiryo UI" panose="020B0604030504040204" pitchFamily="50" charset="-128"/>
              </a:rPr>
              <a:t>3</a:t>
            </a:r>
            <a:r>
              <a:rPr kumimoji="1" lang="ja-JP" altLang="en-US" sz="1200">
                <a:solidFill>
                  <a:schemeClr val="tx1"/>
                </a:solidFill>
                <a:latin typeface="Meiryo UI" panose="020B0604030504040204" pitchFamily="50" charset="-128"/>
                <a:ea typeface="Meiryo UI" panose="020B0604030504040204" pitchFamily="50" charset="-128"/>
              </a:rPr>
              <a:t>か月</a:t>
            </a:r>
            <a:r>
              <a:rPr kumimoji="1" lang="en-US" altLang="ja-JP" sz="1200">
                <a:solidFill>
                  <a:schemeClr val="tx1"/>
                </a:solidFill>
                <a:latin typeface="Meiryo UI" panose="020B0604030504040204" pitchFamily="50" charset="-128"/>
                <a:ea typeface="Meiryo UI" panose="020B0604030504040204" pitchFamily="50" charset="-128"/>
              </a:rPr>
              <a:t>(N+1</a:t>
            </a:r>
            <a:r>
              <a:rPr kumimoji="1" lang="ja-JP" altLang="en-US" sz="1200">
                <a:solidFill>
                  <a:schemeClr val="tx1"/>
                </a:solidFill>
                <a:latin typeface="Meiryo UI" panose="020B0604030504040204" pitchFamily="50" charset="-128"/>
                <a:ea typeface="Meiryo UI" panose="020B0604030504040204" pitchFamily="50" charset="-128"/>
              </a:rPr>
              <a:t>年</a:t>
            </a:r>
            <a:r>
              <a:rPr kumimoji="1" lang="en-US" altLang="ja-JP" sz="1200">
                <a:solidFill>
                  <a:schemeClr val="tx1"/>
                </a:solidFill>
                <a:latin typeface="Meiryo UI" panose="020B0604030504040204" pitchFamily="50" charset="-128"/>
                <a:ea typeface="Meiryo UI" panose="020B0604030504040204" pitchFamily="50" charset="-128"/>
              </a:rPr>
              <a:t>4</a:t>
            </a:r>
            <a:r>
              <a:rPr kumimoji="1" lang="ja-JP" altLang="en-US" sz="1200">
                <a:solidFill>
                  <a:schemeClr val="tx1"/>
                </a:solidFill>
                <a:latin typeface="Meiryo UI" panose="020B0604030504040204" pitchFamily="50" charset="-128"/>
                <a:ea typeface="Meiryo UI" panose="020B0604030504040204" pitchFamily="50" charset="-128"/>
              </a:rPr>
              <a:t>月～</a:t>
            </a:r>
            <a:r>
              <a:rPr kumimoji="1" lang="en-US" altLang="ja-JP" sz="1200">
                <a:solidFill>
                  <a:schemeClr val="tx1"/>
                </a:solidFill>
                <a:latin typeface="Meiryo UI" panose="020B0604030504040204" pitchFamily="50" charset="-128"/>
                <a:ea typeface="Meiryo UI" panose="020B0604030504040204" pitchFamily="50" charset="-128"/>
              </a:rPr>
              <a:t>6</a:t>
            </a:r>
            <a:r>
              <a:rPr kumimoji="1" lang="ja-JP" altLang="en-US" sz="1200">
                <a:solidFill>
                  <a:schemeClr val="tx1"/>
                </a:solidFill>
                <a:latin typeface="Meiryo UI" panose="020B0604030504040204" pitchFamily="50" charset="-128"/>
                <a:ea typeface="Meiryo UI" panose="020B0604030504040204" pitchFamily="50" charset="-128"/>
              </a:rPr>
              <a:t>月</a:t>
            </a:r>
            <a:r>
              <a:rPr kumimoji="1" lang="en-US" altLang="ja-JP" sz="1200">
                <a:solidFill>
                  <a:schemeClr val="tx1"/>
                </a:solidFill>
                <a:latin typeface="Meiryo UI" panose="020B0604030504040204" pitchFamily="50" charset="-128"/>
                <a:ea typeface="Meiryo UI" panose="020B0604030504040204" pitchFamily="50" charset="-128"/>
              </a:rPr>
              <a:t>)</a:t>
            </a:r>
            <a:endParaRPr kumimoji="1" lang="en-US" altLang="ja-JP" sz="1200">
              <a:solidFill>
                <a:schemeClr val="tx1"/>
              </a:solidFill>
              <a:highlight>
                <a:srgbClr val="FFFF00"/>
              </a:highlight>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kumimoji="1" lang="en-US" altLang="ja-JP" sz="1200">
                <a:solidFill>
                  <a:schemeClr val="tx1"/>
                </a:solidFill>
                <a:latin typeface="Meiryo UI" panose="020B0604030504040204" pitchFamily="50" charset="-128"/>
                <a:ea typeface="Meiryo UI" panose="020B0604030504040204" pitchFamily="50" charset="-128"/>
              </a:rPr>
              <a:t>SSBJ</a:t>
            </a:r>
            <a:r>
              <a:rPr kumimoji="1" lang="ja-JP" altLang="en-US" sz="1200">
                <a:solidFill>
                  <a:schemeClr val="tx1"/>
                </a:solidFill>
                <a:latin typeface="Meiryo UI" panose="020B0604030504040204" pitchFamily="50" charset="-128"/>
                <a:ea typeface="Meiryo UI" panose="020B0604030504040204" pitchFamily="50" charset="-128"/>
              </a:rPr>
              <a:t>限定的保証への対応のため、</a:t>
            </a:r>
            <a:r>
              <a:rPr kumimoji="1" lang="ja-JP" altLang="en-US" sz="1200" b="1" u="sng">
                <a:solidFill>
                  <a:schemeClr val="tx1"/>
                </a:solidFill>
                <a:latin typeface="Meiryo UI" panose="020B0604030504040204" pitchFamily="50" charset="-128"/>
                <a:ea typeface="Meiryo UI" panose="020B0604030504040204" pitchFamily="50" charset="-128"/>
              </a:rPr>
              <a:t>期中に保証人レビューの実施が現実的</a:t>
            </a:r>
            <a:r>
              <a:rPr kumimoji="1" lang="ja-JP" altLang="en-US" sz="1200">
                <a:solidFill>
                  <a:schemeClr val="tx1"/>
                </a:solidFill>
                <a:latin typeface="Meiryo UI" panose="020B0604030504040204" pitchFamily="50" charset="-128"/>
                <a:ea typeface="Meiryo UI" panose="020B0604030504040204" pitchFamily="50" charset="-128"/>
              </a:rPr>
              <a:t>（四半期</a:t>
            </a:r>
            <a:r>
              <a:rPr kumimoji="1" lang="en-US" altLang="ja-JP" sz="1200">
                <a:solidFill>
                  <a:schemeClr val="tx1"/>
                </a:solidFill>
                <a:latin typeface="Meiryo UI" panose="020B0604030504040204" pitchFamily="50" charset="-128"/>
                <a:ea typeface="Meiryo UI" panose="020B0604030504040204" pitchFamily="50" charset="-128"/>
              </a:rPr>
              <a:t>/</a:t>
            </a:r>
            <a:r>
              <a:rPr kumimoji="1" lang="ja-JP" altLang="en-US" sz="1200">
                <a:solidFill>
                  <a:schemeClr val="tx1"/>
                </a:solidFill>
                <a:latin typeface="Meiryo UI" panose="020B0604030504040204" pitchFamily="50" charset="-128"/>
                <a:ea typeface="Meiryo UI" panose="020B0604030504040204" pitchFamily="50" charset="-128"/>
              </a:rPr>
              <a:t>半期等での実施を想定）</a:t>
            </a:r>
            <a:endParaRPr kumimoji="1" lang="en-US" altLang="ja-JP" sz="1200">
              <a:solidFill>
                <a:schemeClr val="tx1"/>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kumimoji="1" lang="en-US" altLang="ja-JP" sz="1200">
                <a:solidFill>
                  <a:schemeClr val="tx1"/>
                </a:solidFill>
                <a:latin typeface="Meiryo UI" panose="020B0604030504040204" pitchFamily="50" charset="-128"/>
                <a:ea typeface="Meiryo UI" panose="020B0604030504040204" pitchFamily="50" charset="-128"/>
              </a:rPr>
              <a:t>FCC</a:t>
            </a:r>
            <a:r>
              <a:rPr kumimoji="1" lang="ja-JP" altLang="en-US" sz="1200">
                <a:solidFill>
                  <a:schemeClr val="tx1"/>
                </a:solidFill>
                <a:latin typeface="Meiryo UI" panose="020B0604030504040204" pitchFamily="50" charset="-128"/>
                <a:ea typeface="Meiryo UI" panose="020B0604030504040204" pitchFamily="50" charset="-128"/>
              </a:rPr>
              <a:t>コークなど期中確定ができない一部排出係数について、</a:t>
            </a:r>
            <a:r>
              <a:rPr kumimoji="1" lang="ja-JP" altLang="en-US" sz="1200" b="1" u="sng">
                <a:solidFill>
                  <a:schemeClr val="tx1"/>
                </a:solidFill>
                <a:latin typeface="Meiryo UI" panose="020B0604030504040204" pitchFamily="50" charset="-128"/>
                <a:ea typeface="Meiryo UI" panose="020B0604030504040204" pitchFamily="50" charset="-128"/>
              </a:rPr>
              <a:t>期中は暫定係数を用い、年度末に係数が確定した時点で差し替え</a:t>
            </a:r>
            <a:r>
              <a:rPr kumimoji="1" lang="ja-JP" altLang="en-US" sz="1200">
                <a:solidFill>
                  <a:schemeClr val="tx1"/>
                </a:solidFill>
                <a:latin typeface="Meiryo UI" panose="020B0604030504040204" pitchFamily="50" charset="-128"/>
                <a:ea typeface="Meiryo UI" panose="020B0604030504040204" pitchFamily="50" charset="-128"/>
              </a:rPr>
              <a:t>を行う</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8" name="楕円 7">
            <a:extLst>
              <a:ext uri="{FF2B5EF4-FFF2-40B4-BE49-F238E27FC236}">
                <a16:creationId xmlns:a16="http://schemas.microsoft.com/office/drawing/2014/main" id="{13E42F94-4566-BB72-9EF7-A12955F1B3C9}"/>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4" name="四角形: 角を丸くする 3">
            <a:extLst>
              <a:ext uri="{FF2B5EF4-FFF2-40B4-BE49-F238E27FC236}">
                <a16:creationId xmlns:a16="http://schemas.microsoft.com/office/drawing/2014/main" id="{6FEFF30E-15E6-E2CF-3B01-582BD804E1CC}"/>
              </a:ext>
            </a:extLst>
          </p:cNvPr>
          <p:cNvSpPr/>
          <p:nvPr/>
        </p:nvSpPr>
        <p:spPr>
          <a:xfrm>
            <a:off x="6300737" y="175322"/>
            <a:ext cx="2388935" cy="34435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を文言から削除</a:t>
            </a:r>
          </a:p>
        </p:txBody>
      </p:sp>
    </p:spTree>
    <p:extLst>
      <p:ext uri="{BB962C8B-B14F-4D97-AF65-F5344CB8AC3E}">
        <p14:creationId xmlns:p14="http://schemas.microsoft.com/office/powerpoint/2010/main" val="4086971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049E0-24C6-1818-946B-2795AEBC0D02}"/>
              </a:ext>
            </a:extLst>
          </p:cNvPr>
          <p:cNvSpPr>
            <a:spLocks noGrp="1"/>
          </p:cNvSpPr>
          <p:nvPr>
            <p:ph type="title"/>
          </p:nvPr>
        </p:nvSpPr>
        <p:spPr>
          <a:xfrm>
            <a:off x="1116000" y="3042380"/>
            <a:ext cx="7703999" cy="360000"/>
          </a:xfrm>
        </p:spPr>
        <p:txBody>
          <a:bodyPr/>
          <a:lstStyle/>
          <a:p>
            <a:r>
              <a:rPr kumimoji="1" lang="en-US" altLang="ja-JP" sz="2400">
                <a:latin typeface="Meiryo UI" panose="020B0604030504040204" pitchFamily="50" charset="-128"/>
                <a:ea typeface="Meiryo UI" panose="020B0604030504040204" pitchFamily="50" charset="-128"/>
              </a:rPr>
              <a:t>3. </a:t>
            </a:r>
            <a:r>
              <a:rPr kumimoji="1" lang="ja-JP" altLang="en-US" sz="2400">
                <a:latin typeface="Meiryo UI" panose="020B0604030504040204" pitchFamily="50" charset="-128"/>
                <a:ea typeface="Meiryo UI" panose="020B0604030504040204" pitchFamily="50" charset="-128"/>
              </a:rPr>
              <a:t>導入アプローチ・ロードマップ</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3DB55F1-1B8C-13AB-1DBE-1F30F08B6A0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11</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33315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3FAAB7-4D09-33AB-921F-FE4389699277}"/>
              </a:ext>
            </a:extLst>
          </p:cNvPr>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導入アプローチ・ロードマップの前提</a:t>
            </a:r>
          </a:p>
        </p:txBody>
      </p:sp>
      <p:sp>
        <p:nvSpPr>
          <p:cNvPr id="3" name="スライド番号プレースホルダー 2">
            <a:extLst>
              <a:ext uri="{FF2B5EF4-FFF2-40B4-BE49-F238E27FC236}">
                <a16:creationId xmlns:a16="http://schemas.microsoft.com/office/drawing/2014/main" id="{BC4056A0-F059-DBCB-99D4-9F58E65B0E41}"/>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12</a:t>
            </a:fld>
            <a:endParaRPr kumimoji="1" lang="ja-JP" altLang="en-US">
              <a:latin typeface="Meiryo UI" panose="020B0604030504040204" pitchFamily="50" charset="-128"/>
              <a:ea typeface="Meiryo UI" panose="020B0604030504040204" pitchFamily="50" charset="-128"/>
            </a:endParaRPr>
          </a:p>
        </p:txBody>
      </p:sp>
      <p:sp>
        <p:nvSpPr>
          <p:cNvPr id="15" name="テキスト プレースホルダー 14">
            <a:extLst>
              <a:ext uri="{FF2B5EF4-FFF2-40B4-BE49-F238E27FC236}">
                <a16:creationId xmlns:a16="http://schemas.microsoft.com/office/drawing/2014/main" id="{73100981-8064-9D55-6AEC-FBD6B93F2F2F}"/>
              </a:ext>
            </a:extLst>
          </p:cNvPr>
          <p:cNvSpPr>
            <a:spLocks noGrp="1"/>
          </p:cNvSpPr>
          <p:nvPr>
            <p:ph type="body" sz="quarter" idx="13"/>
          </p:nvPr>
        </p:nvSpPr>
        <p:spPr/>
        <p:txBody>
          <a:bodyPr/>
          <a:lstStyle/>
          <a:p>
            <a:r>
              <a:rPr lang="en-US" altLang="ja-JP"/>
              <a:t>2027</a:t>
            </a:r>
            <a:r>
              <a:rPr lang="ja-JP" altLang="en-US"/>
              <a:t>年</a:t>
            </a:r>
            <a:r>
              <a:rPr lang="en-US" altLang="ja-JP"/>
              <a:t>4</a:t>
            </a:r>
            <a:r>
              <a:rPr lang="ja-JP" altLang="en-US"/>
              <a:t>月からの</a:t>
            </a:r>
            <a:r>
              <a:rPr lang="en-US" altLang="ja-JP"/>
              <a:t>SSBJ</a:t>
            </a:r>
            <a:r>
              <a:rPr lang="ja-JP" altLang="en-US"/>
              <a:t>強制適用開示に向け、パッケージソリューションの標準機能を最大限活用し</a:t>
            </a:r>
            <a:r>
              <a:rPr lang="en-US" altLang="ja-JP" err="1"/>
              <a:t>GoLive</a:t>
            </a:r>
            <a:r>
              <a:rPr lang="ja-JP" altLang="en-US"/>
              <a:t>することで、早期にデータ収集を開始可能な状態を目指す</a:t>
            </a:r>
          </a:p>
        </p:txBody>
      </p:sp>
      <p:sp>
        <p:nvSpPr>
          <p:cNvPr id="6" name="正方形/長方形 5">
            <a:extLst>
              <a:ext uri="{FF2B5EF4-FFF2-40B4-BE49-F238E27FC236}">
                <a16:creationId xmlns:a16="http://schemas.microsoft.com/office/drawing/2014/main" id="{7DFF8F80-EDA3-ABEB-4370-37FB92FE04A3}"/>
              </a:ext>
            </a:extLst>
          </p:cNvPr>
          <p:cNvSpPr/>
          <p:nvPr/>
        </p:nvSpPr>
        <p:spPr>
          <a:xfrm>
            <a:off x="333374" y="1631628"/>
            <a:ext cx="3950594" cy="13687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tx1"/>
                </a:solidFill>
                <a:latin typeface="Meiryo UI" panose="020B0604030504040204" pitchFamily="50" charset="-128"/>
                <a:ea typeface="Meiryo UI" panose="020B0604030504040204" pitchFamily="50" charset="-128"/>
              </a:rPr>
              <a:t>SSBJ</a:t>
            </a:r>
            <a:r>
              <a:rPr kumimoji="1" lang="ja-JP" altLang="en-US" sz="1600">
                <a:solidFill>
                  <a:schemeClr val="tx1"/>
                </a:solidFill>
                <a:latin typeface="Meiryo UI" panose="020B0604030504040204" pitchFamily="50" charset="-128"/>
                <a:ea typeface="Meiryo UI" panose="020B0604030504040204" pitchFamily="50" charset="-128"/>
              </a:rPr>
              <a:t>開示に求められる要件や、既存システムの活用も含めてシステムのあるべきを決める</a:t>
            </a:r>
          </a:p>
        </p:txBody>
      </p:sp>
      <p:sp>
        <p:nvSpPr>
          <p:cNvPr id="7" name="正方形/長方形 6">
            <a:extLst>
              <a:ext uri="{FF2B5EF4-FFF2-40B4-BE49-F238E27FC236}">
                <a16:creationId xmlns:a16="http://schemas.microsoft.com/office/drawing/2014/main" id="{AB3A641C-9240-4E89-8AB1-0ED7AB3300A8}"/>
              </a:ext>
            </a:extLst>
          </p:cNvPr>
          <p:cNvSpPr/>
          <p:nvPr/>
        </p:nvSpPr>
        <p:spPr>
          <a:xfrm>
            <a:off x="333374" y="3173252"/>
            <a:ext cx="3950594" cy="13687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tx1"/>
                </a:solidFill>
                <a:latin typeface="Meiryo UI" panose="020B0604030504040204" pitchFamily="50" charset="-128"/>
                <a:ea typeface="Meiryo UI" panose="020B0604030504040204" pitchFamily="50" charset="-128"/>
              </a:rPr>
              <a:t>GHG</a:t>
            </a:r>
            <a:r>
              <a:rPr kumimoji="1" lang="ja-JP" altLang="en-US" sz="1600">
                <a:solidFill>
                  <a:schemeClr val="tx1"/>
                </a:solidFill>
                <a:latin typeface="Meiryo UI" panose="020B0604030504040204" pitchFamily="50" charset="-128"/>
                <a:ea typeface="Meiryo UI" panose="020B0604030504040204" pitchFamily="50" charset="-128"/>
              </a:rPr>
              <a:t>以外の開示項目が確定していない状態でも、</a:t>
            </a:r>
            <a:r>
              <a:rPr kumimoji="1" lang="en-US" altLang="ja-JP" sz="1600">
                <a:solidFill>
                  <a:schemeClr val="tx1"/>
                </a:solidFill>
                <a:latin typeface="Meiryo UI" panose="020B0604030504040204" pitchFamily="50" charset="-128"/>
                <a:ea typeface="Meiryo UI" panose="020B0604030504040204" pitchFamily="50" charset="-128"/>
              </a:rPr>
              <a:t>SSBJ</a:t>
            </a:r>
            <a:r>
              <a:rPr kumimoji="1" lang="ja-JP" altLang="en-US" sz="1600">
                <a:solidFill>
                  <a:schemeClr val="tx1"/>
                </a:solidFill>
                <a:latin typeface="Meiryo UI" panose="020B0604030504040204" pitchFamily="50" charset="-128"/>
                <a:ea typeface="Meiryo UI" panose="020B0604030504040204" pitchFamily="50" charset="-128"/>
              </a:rPr>
              <a:t>の任意開示も狙う</a:t>
            </a:r>
            <a:endParaRPr kumimoji="1" lang="en-US" altLang="ja-JP" sz="1600">
              <a:solidFill>
                <a:schemeClr val="tx1"/>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96BE97E6-6771-60D9-B027-46E2CA8C0EBA}"/>
              </a:ext>
            </a:extLst>
          </p:cNvPr>
          <p:cNvSpPr/>
          <p:nvPr/>
        </p:nvSpPr>
        <p:spPr>
          <a:xfrm>
            <a:off x="333374" y="4714876"/>
            <a:ext cx="3950594" cy="13687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tx1"/>
                </a:solidFill>
                <a:latin typeface="Meiryo UI" panose="020B0604030504040204" pitchFamily="50" charset="-128"/>
                <a:ea typeface="Meiryo UI" panose="020B0604030504040204" pitchFamily="50" charset="-128"/>
              </a:rPr>
              <a:t>GHG</a:t>
            </a:r>
            <a:r>
              <a:rPr kumimoji="1" lang="ja-JP" altLang="en-US" sz="1600">
                <a:solidFill>
                  <a:schemeClr val="tx1"/>
                </a:solidFill>
                <a:latin typeface="Meiryo UI" panose="020B0604030504040204" pitchFamily="50" charset="-128"/>
                <a:ea typeface="Meiryo UI" panose="020B0604030504040204" pitchFamily="50" charset="-128"/>
              </a:rPr>
              <a:t>以外のマテリアリティの高い開示項目は新中期経営計画の策定を起点にシステムへ反映</a:t>
            </a:r>
            <a:endParaRPr kumimoji="1" lang="en-US" altLang="ja-JP" sz="1600">
              <a:solidFill>
                <a:schemeClr val="tx1"/>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6DC18289-3647-D48A-7A2A-4AC3696AFF5E}"/>
              </a:ext>
            </a:extLst>
          </p:cNvPr>
          <p:cNvSpPr/>
          <p:nvPr/>
        </p:nvSpPr>
        <p:spPr>
          <a:xfrm>
            <a:off x="4860032" y="1631628"/>
            <a:ext cx="3950594" cy="1368747"/>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tx1"/>
                </a:solidFill>
                <a:latin typeface="Meiryo UI" panose="020B0604030504040204" pitchFamily="50" charset="-128"/>
                <a:ea typeface="Meiryo UI" panose="020B0604030504040204" pitchFamily="50" charset="-128"/>
              </a:rPr>
              <a:t>新しい仕組みの</a:t>
            </a:r>
            <a:r>
              <a:rPr kumimoji="1" lang="ja-JP" altLang="en-US" sz="1600" b="1" u="sng">
                <a:solidFill>
                  <a:srgbClr val="C00000"/>
                </a:solidFill>
                <a:latin typeface="Meiryo UI" panose="020B0604030504040204" pitchFamily="50" charset="-128"/>
                <a:ea typeface="Meiryo UI" panose="020B0604030504040204" pitchFamily="50" charset="-128"/>
              </a:rPr>
              <a:t>システム構想を立案</a:t>
            </a:r>
            <a:r>
              <a:rPr kumimoji="1" lang="ja-JP" altLang="en-US" sz="1600">
                <a:solidFill>
                  <a:schemeClr val="tx1"/>
                </a:solidFill>
                <a:latin typeface="Meiryo UI" panose="020B0604030504040204" pitchFamily="50" charset="-128"/>
                <a:ea typeface="Meiryo UI" panose="020B0604030504040204" pitchFamily="50" charset="-128"/>
              </a:rPr>
              <a:t>し、任意適用</a:t>
            </a:r>
            <a:r>
              <a:rPr kumimoji="1" lang="en-US" altLang="ja-JP" sz="1600">
                <a:solidFill>
                  <a:schemeClr val="tx1"/>
                </a:solidFill>
                <a:latin typeface="Meiryo UI" panose="020B0604030504040204" pitchFamily="50" charset="-128"/>
                <a:ea typeface="Meiryo UI" panose="020B0604030504040204" pitchFamily="50" charset="-128"/>
              </a:rPr>
              <a:t>/</a:t>
            </a:r>
            <a:r>
              <a:rPr kumimoji="1" lang="ja-JP" altLang="en-US" sz="1600">
                <a:solidFill>
                  <a:schemeClr val="tx1"/>
                </a:solidFill>
                <a:latin typeface="Meiryo UI" panose="020B0604030504040204" pitchFamily="50" charset="-128"/>
                <a:ea typeface="Meiryo UI" panose="020B0604030504040204" pitchFamily="50" charset="-128"/>
              </a:rPr>
              <a:t>強制適用に向けた</a:t>
            </a:r>
            <a:r>
              <a:rPr kumimoji="1" lang="ja-JP" altLang="en-US" sz="1600" b="1" u="sng">
                <a:solidFill>
                  <a:srgbClr val="C00000"/>
                </a:solidFill>
                <a:latin typeface="Meiryo UI" panose="020B0604030504040204" pitchFamily="50" charset="-128"/>
                <a:ea typeface="Meiryo UI" panose="020B0604030504040204" pitchFamily="50" charset="-128"/>
              </a:rPr>
              <a:t>システムロードマップを策定</a:t>
            </a:r>
            <a:r>
              <a:rPr kumimoji="1" lang="ja-JP" altLang="en-US" sz="1600">
                <a:solidFill>
                  <a:schemeClr val="tx1"/>
                </a:solidFill>
                <a:latin typeface="Meiryo UI" panose="020B0604030504040204" pitchFamily="50" charset="-128"/>
                <a:ea typeface="Meiryo UI" panose="020B0604030504040204" pitchFamily="50" charset="-128"/>
              </a:rPr>
              <a:t>する</a:t>
            </a:r>
          </a:p>
        </p:txBody>
      </p:sp>
      <p:sp>
        <p:nvSpPr>
          <p:cNvPr id="10" name="正方形/長方形 9">
            <a:extLst>
              <a:ext uri="{FF2B5EF4-FFF2-40B4-BE49-F238E27FC236}">
                <a16:creationId xmlns:a16="http://schemas.microsoft.com/office/drawing/2014/main" id="{EE69B1BE-7A2E-19B6-B638-2D03BA2552FF}"/>
              </a:ext>
            </a:extLst>
          </p:cNvPr>
          <p:cNvSpPr/>
          <p:nvPr/>
        </p:nvSpPr>
        <p:spPr>
          <a:xfrm>
            <a:off x="4860032" y="3173252"/>
            <a:ext cx="3950594" cy="1368747"/>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tx1"/>
                </a:solidFill>
                <a:latin typeface="Meiryo UI" panose="020B0604030504040204" pitchFamily="50" charset="-128"/>
                <a:ea typeface="Meiryo UI" panose="020B0604030504040204" pitchFamily="50" charset="-128"/>
              </a:rPr>
              <a:t>2026</a:t>
            </a:r>
            <a:r>
              <a:rPr kumimoji="1" lang="ja-JP" altLang="en-US" sz="1600">
                <a:solidFill>
                  <a:schemeClr val="tx1"/>
                </a:solidFill>
                <a:latin typeface="Meiryo UI" panose="020B0604030504040204" pitchFamily="50" charset="-128"/>
                <a:ea typeface="Meiryo UI" panose="020B0604030504040204" pitchFamily="50" charset="-128"/>
              </a:rPr>
              <a:t>年</a:t>
            </a:r>
            <a:r>
              <a:rPr kumimoji="1" lang="en-US" altLang="ja-JP" sz="1600">
                <a:solidFill>
                  <a:schemeClr val="tx1"/>
                </a:solidFill>
                <a:latin typeface="Meiryo UI" panose="020B0604030504040204" pitchFamily="50" charset="-128"/>
                <a:ea typeface="Meiryo UI" panose="020B0604030504040204" pitchFamily="50" charset="-128"/>
              </a:rPr>
              <a:t>7-9</a:t>
            </a:r>
            <a:r>
              <a:rPr kumimoji="1" lang="ja-JP" altLang="en-US" sz="1600">
                <a:solidFill>
                  <a:schemeClr val="tx1"/>
                </a:solidFill>
                <a:latin typeface="Meiryo UI" panose="020B0604030504040204" pitchFamily="50" charset="-128"/>
                <a:ea typeface="Meiryo UI" panose="020B0604030504040204" pitchFamily="50" charset="-128"/>
              </a:rPr>
              <a:t>月</a:t>
            </a:r>
            <a:r>
              <a:rPr kumimoji="1" lang="en-US" altLang="ja-JP" sz="1600">
                <a:solidFill>
                  <a:schemeClr val="tx1"/>
                </a:solidFill>
                <a:latin typeface="Meiryo UI" panose="020B0604030504040204" pitchFamily="50" charset="-128"/>
                <a:ea typeface="Meiryo UI" panose="020B0604030504040204" pitchFamily="50" charset="-128"/>
              </a:rPr>
              <a:t>(27</a:t>
            </a:r>
            <a:r>
              <a:rPr kumimoji="1" lang="ja-JP" altLang="en-US" sz="1600">
                <a:solidFill>
                  <a:schemeClr val="tx1"/>
                </a:solidFill>
                <a:latin typeface="Meiryo UI" panose="020B0604030504040204" pitchFamily="50" charset="-128"/>
                <a:ea typeface="Meiryo UI" panose="020B0604030504040204" pitchFamily="50" charset="-128"/>
              </a:rPr>
              <a:t>年</a:t>
            </a:r>
            <a:r>
              <a:rPr kumimoji="1" lang="en-US" altLang="ja-JP" sz="1600">
                <a:solidFill>
                  <a:schemeClr val="tx1"/>
                </a:solidFill>
                <a:latin typeface="Meiryo UI" panose="020B0604030504040204" pitchFamily="50" charset="-128"/>
                <a:ea typeface="Meiryo UI" panose="020B0604030504040204" pitchFamily="50" charset="-128"/>
              </a:rPr>
              <a:t>3</a:t>
            </a:r>
            <a:r>
              <a:rPr kumimoji="1" lang="ja-JP" altLang="en-US" sz="1600">
                <a:solidFill>
                  <a:schemeClr val="tx1"/>
                </a:solidFill>
                <a:latin typeface="Meiryo UI" panose="020B0604030504040204" pitchFamily="50" charset="-128"/>
                <a:ea typeface="Meiryo UI" panose="020B0604030504040204" pitchFamily="50" charset="-128"/>
              </a:rPr>
              <a:t>月期</a:t>
            </a:r>
            <a:r>
              <a:rPr kumimoji="1" lang="en-US" altLang="ja-JP" sz="1600">
                <a:solidFill>
                  <a:schemeClr val="tx1"/>
                </a:solidFill>
                <a:latin typeface="Meiryo UI" panose="020B0604030504040204" pitchFamily="50" charset="-128"/>
                <a:ea typeface="Meiryo UI" panose="020B0604030504040204" pitchFamily="50" charset="-128"/>
              </a:rPr>
              <a:t>)</a:t>
            </a:r>
            <a:r>
              <a:rPr kumimoji="1" lang="ja-JP" altLang="en-US" sz="1600">
                <a:solidFill>
                  <a:schemeClr val="tx1"/>
                </a:solidFill>
                <a:latin typeface="Meiryo UI" panose="020B0604030504040204" pitchFamily="50" charset="-128"/>
                <a:ea typeface="Meiryo UI" panose="020B0604030504040204" pitchFamily="50" charset="-128"/>
              </a:rPr>
              <a:t>に環境分のシステム稼働を目指し、</a:t>
            </a:r>
            <a:r>
              <a:rPr kumimoji="1" lang="en-US" altLang="ja-JP" sz="1600" b="1" u="sng">
                <a:solidFill>
                  <a:srgbClr val="C00000"/>
                </a:solidFill>
                <a:latin typeface="Meiryo UI" panose="020B0604030504040204" pitchFamily="50" charset="-128"/>
                <a:ea typeface="Meiryo UI" panose="020B0604030504040204" pitchFamily="50" charset="-128"/>
              </a:rPr>
              <a:t>Wave1</a:t>
            </a:r>
            <a:r>
              <a:rPr kumimoji="1" lang="ja-JP" altLang="en-US" sz="1600" b="1" u="sng">
                <a:solidFill>
                  <a:srgbClr val="C00000"/>
                </a:solidFill>
                <a:latin typeface="Meiryo UI" panose="020B0604030504040204" pitchFamily="50" charset="-128"/>
                <a:ea typeface="Meiryo UI" panose="020B0604030504040204" pitchFamily="50" charset="-128"/>
              </a:rPr>
              <a:t>として</a:t>
            </a:r>
            <a:r>
              <a:rPr kumimoji="1" lang="en-US" altLang="ja-JP" sz="1600" b="1" u="sng">
                <a:solidFill>
                  <a:srgbClr val="C00000"/>
                </a:solidFill>
                <a:latin typeface="Meiryo UI" panose="020B0604030504040204" pitchFamily="50" charset="-128"/>
                <a:ea typeface="Meiryo UI" panose="020B0604030504040204" pitchFamily="50" charset="-128"/>
              </a:rPr>
              <a:t>GGX</a:t>
            </a:r>
            <a:r>
              <a:rPr kumimoji="1" lang="ja-JP" altLang="en-US" sz="1600" b="1" u="sng">
                <a:solidFill>
                  <a:srgbClr val="C00000"/>
                </a:solidFill>
                <a:latin typeface="Meiryo UI" panose="020B0604030504040204" pitchFamily="50" charset="-128"/>
                <a:ea typeface="Meiryo UI" panose="020B0604030504040204" pitchFamily="50" charset="-128"/>
              </a:rPr>
              <a:t>が保持するデータ分</a:t>
            </a:r>
            <a:r>
              <a:rPr kumimoji="1" lang="en-US" altLang="ja-JP" sz="1600" b="1" u="sng">
                <a:solidFill>
                  <a:srgbClr val="C00000"/>
                </a:solidFill>
                <a:latin typeface="Meiryo UI" panose="020B0604030504040204" pitchFamily="50" charset="-128"/>
                <a:ea typeface="Meiryo UI" panose="020B0604030504040204" pitchFamily="50" charset="-128"/>
              </a:rPr>
              <a:t>(</a:t>
            </a:r>
            <a:r>
              <a:rPr kumimoji="1" lang="ja-JP" altLang="en-US" sz="1600" b="1" u="sng">
                <a:solidFill>
                  <a:srgbClr val="C00000"/>
                </a:solidFill>
                <a:latin typeface="Meiryo UI" panose="020B0604030504040204" pitchFamily="50" charset="-128"/>
                <a:ea typeface="Meiryo UI" panose="020B0604030504040204" pitchFamily="50" charset="-128"/>
              </a:rPr>
              <a:t>環境データ</a:t>
            </a:r>
            <a:r>
              <a:rPr kumimoji="1" lang="en-US" altLang="ja-JP" sz="1600" b="1" u="sng">
                <a:solidFill>
                  <a:srgbClr val="C00000"/>
                </a:solidFill>
                <a:latin typeface="Meiryo UI" panose="020B0604030504040204" pitchFamily="50" charset="-128"/>
                <a:ea typeface="Meiryo UI" panose="020B0604030504040204" pitchFamily="50" charset="-128"/>
              </a:rPr>
              <a:t>)</a:t>
            </a:r>
            <a:r>
              <a:rPr kumimoji="1" lang="ja-JP" altLang="en-US" sz="1600" b="1" u="sng">
                <a:solidFill>
                  <a:srgbClr val="C00000"/>
                </a:solidFill>
                <a:latin typeface="Meiryo UI" panose="020B0604030504040204" pitchFamily="50" charset="-128"/>
                <a:ea typeface="Meiryo UI" panose="020B0604030504040204" pitchFamily="50" charset="-128"/>
              </a:rPr>
              <a:t>を先行してシステム要件定義・開発</a:t>
            </a:r>
            <a:r>
              <a:rPr kumimoji="1" lang="ja-JP" altLang="en-US" sz="1600">
                <a:solidFill>
                  <a:schemeClr val="tx1"/>
                </a:solidFill>
                <a:latin typeface="Meiryo UI" panose="020B0604030504040204" pitchFamily="50" charset="-128"/>
                <a:ea typeface="Meiryo UI" panose="020B0604030504040204" pitchFamily="50" charset="-128"/>
              </a:rPr>
              <a:t>を進める</a:t>
            </a:r>
            <a:r>
              <a:rPr kumimoji="1" lang="en-US" altLang="ja-JP" sz="1600" baseline="30000">
                <a:solidFill>
                  <a:schemeClr val="tx1"/>
                </a:solidFill>
                <a:latin typeface="Meiryo UI" panose="020B0604030504040204" pitchFamily="50" charset="-128"/>
                <a:ea typeface="Meiryo UI" panose="020B0604030504040204" pitchFamily="50" charset="-128"/>
              </a:rPr>
              <a:t>※1</a:t>
            </a:r>
          </a:p>
        </p:txBody>
      </p:sp>
      <p:sp>
        <p:nvSpPr>
          <p:cNvPr id="11" name="正方形/長方形 10">
            <a:extLst>
              <a:ext uri="{FF2B5EF4-FFF2-40B4-BE49-F238E27FC236}">
                <a16:creationId xmlns:a16="http://schemas.microsoft.com/office/drawing/2014/main" id="{F5081233-CE64-9F17-E2DC-C14CC2746237}"/>
              </a:ext>
            </a:extLst>
          </p:cNvPr>
          <p:cNvSpPr/>
          <p:nvPr/>
        </p:nvSpPr>
        <p:spPr>
          <a:xfrm>
            <a:off x="4860032" y="4714876"/>
            <a:ext cx="3950594" cy="1368747"/>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tx1"/>
                </a:solidFill>
                <a:latin typeface="Meiryo UI" panose="020B0604030504040204" pitchFamily="50" charset="-128"/>
                <a:ea typeface="Meiryo UI" panose="020B0604030504040204" pitchFamily="50" charset="-128"/>
              </a:rPr>
              <a:t>新中期経営計画を基に、</a:t>
            </a:r>
            <a:r>
              <a:rPr kumimoji="1" lang="ja-JP" altLang="en-US" sz="1600" b="1" u="sng">
                <a:solidFill>
                  <a:srgbClr val="C00000"/>
                </a:solidFill>
                <a:latin typeface="Meiryo UI" panose="020B0604030504040204" pitchFamily="50" charset="-128"/>
                <a:ea typeface="Meiryo UI" panose="020B0604030504040204" pitchFamily="50" charset="-128"/>
              </a:rPr>
              <a:t>上記環境対応版のシステムを拡張する形で</a:t>
            </a:r>
            <a:r>
              <a:rPr kumimoji="1" lang="en-US" altLang="ja-JP" sz="1600" b="1" u="sng">
                <a:solidFill>
                  <a:srgbClr val="C00000"/>
                </a:solidFill>
                <a:latin typeface="Meiryo UI" panose="020B0604030504040204" pitchFamily="50" charset="-128"/>
                <a:ea typeface="Meiryo UI" panose="020B0604030504040204" pitchFamily="50" charset="-128"/>
              </a:rPr>
              <a:t>Wave2</a:t>
            </a:r>
            <a:r>
              <a:rPr kumimoji="1" lang="ja-JP" altLang="en-US" sz="1600">
                <a:solidFill>
                  <a:schemeClr val="tx1"/>
                </a:solidFill>
                <a:latin typeface="Meiryo UI" panose="020B0604030504040204" pitchFamily="50" charset="-128"/>
                <a:ea typeface="Meiryo UI" panose="020B0604030504040204" pitchFamily="50" charset="-128"/>
              </a:rPr>
              <a:t>を開始し、</a:t>
            </a:r>
            <a:r>
              <a:rPr kumimoji="1" lang="en-US" altLang="ja-JP" sz="1600" b="1" u="sng">
                <a:solidFill>
                  <a:srgbClr val="C00000"/>
                </a:solidFill>
                <a:latin typeface="Meiryo UI" panose="020B0604030504040204" pitchFamily="50" charset="-128"/>
                <a:ea typeface="Meiryo UI" panose="020B0604030504040204" pitchFamily="50" charset="-128"/>
              </a:rPr>
              <a:t>2027</a:t>
            </a:r>
            <a:r>
              <a:rPr kumimoji="1" lang="ja-JP" altLang="en-US" sz="1600" b="1" u="sng">
                <a:solidFill>
                  <a:srgbClr val="C00000"/>
                </a:solidFill>
                <a:latin typeface="Meiryo UI" panose="020B0604030504040204" pitchFamily="50" charset="-128"/>
                <a:ea typeface="Meiryo UI" panose="020B0604030504040204" pitchFamily="50" charset="-128"/>
              </a:rPr>
              <a:t>年</a:t>
            </a:r>
            <a:r>
              <a:rPr kumimoji="1" lang="en-US" altLang="ja-JP" sz="1600" b="1" u="sng">
                <a:solidFill>
                  <a:srgbClr val="C00000"/>
                </a:solidFill>
                <a:latin typeface="Meiryo UI" panose="020B0604030504040204" pitchFamily="50" charset="-128"/>
                <a:ea typeface="Meiryo UI" panose="020B0604030504040204" pitchFamily="50" charset="-128"/>
              </a:rPr>
              <a:t>4-6</a:t>
            </a:r>
            <a:r>
              <a:rPr kumimoji="1" lang="ja-JP" altLang="en-US" sz="1600" b="1" u="sng">
                <a:solidFill>
                  <a:srgbClr val="C00000"/>
                </a:solidFill>
                <a:latin typeface="Meiryo UI" panose="020B0604030504040204" pitchFamily="50" charset="-128"/>
                <a:ea typeface="Meiryo UI" panose="020B0604030504040204" pitchFamily="50" charset="-128"/>
              </a:rPr>
              <a:t>月</a:t>
            </a:r>
            <a:r>
              <a:rPr kumimoji="1" lang="en-US" altLang="ja-JP" sz="1600" b="1" u="sng">
                <a:solidFill>
                  <a:srgbClr val="C00000"/>
                </a:solidFill>
                <a:latin typeface="Meiryo UI" panose="020B0604030504040204" pitchFamily="50" charset="-128"/>
                <a:ea typeface="Meiryo UI" panose="020B0604030504040204" pitchFamily="50" charset="-128"/>
              </a:rPr>
              <a:t>(28</a:t>
            </a:r>
            <a:r>
              <a:rPr kumimoji="1" lang="ja-JP" altLang="en-US" sz="1600" b="1" u="sng">
                <a:solidFill>
                  <a:srgbClr val="C00000"/>
                </a:solidFill>
                <a:latin typeface="Meiryo UI" panose="020B0604030504040204" pitchFamily="50" charset="-128"/>
                <a:ea typeface="Meiryo UI" panose="020B0604030504040204" pitchFamily="50" charset="-128"/>
              </a:rPr>
              <a:t>年</a:t>
            </a:r>
            <a:r>
              <a:rPr kumimoji="1" lang="en-US" altLang="ja-JP" sz="1600" b="1" u="sng">
                <a:solidFill>
                  <a:srgbClr val="C00000"/>
                </a:solidFill>
                <a:latin typeface="Meiryo UI" panose="020B0604030504040204" pitchFamily="50" charset="-128"/>
                <a:ea typeface="Meiryo UI" panose="020B0604030504040204" pitchFamily="50" charset="-128"/>
              </a:rPr>
              <a:t>3</a:t>
            </a:r>
            <a:r>
              <a:rPr kumimoji="1" lang="ja-JP" altLang="en-US" sz="1600" b="1" u="sng">
                <a:solidFill>
                  <a:srgbClr val="C00000"/>
                </a:solidFill>
                <a:latin typeface="Meiryo UI" panose="020B0604030504040204" pitchFamily="50" charset="-128"/>
                <a:ea typeface="Meiryo UI" panose="020B0604030504040204" pitchFamily="50" charset="-128"/>
              </a:rPr>
              <a:t>月期</a:t>
            </a:r>
            <a:r>
              <a:rPr kumimoji="1" lang="en-US" altLang="ja-JP" sz="1600" b="1" u="sng">
                <a:solidFill>
                  <a:srgbClr val="C00000"/>
                </a:solidFill>
                <a:latin typeface="Meiryo UI" panose="020B0604030504040204" pitchFamily="50" charset="-128"/>
                <a:ea typeface="Meiryo UI" panose="020B0604030504040204" pitchFamily="50" charset="-128"/>
              </a:rPr>
              <a:t>)</a:t>
            </a:r>
            <a:r>
              <a:rPr kumimoji="1" lang="ja-JP" altLang="en-US" sz="1600" b="1" u="sng">
                <a:solidFill>
                  <a:srgbClr val="C00000"/>
                </a:solidFill>
                <a:latin typeface="Meiryo UI" panose="020B0604030504040204" pitchFamily="50" charset="-128"/>
                <a:ea typeface="Meiryo UI" panose="020B0604030504040204" pitchFamily="50" charset="-128"/>
              </a:rPr>
              <a:t>に</a:t>
            </a:r>
            <a:r>
              <a:rPr kumimoji="1" lang="en-US" altLang="ja-JP" sz="1600" b="1" u="sng">
                <a:solidFill>
                  <a:srgbClr val="C00000"/>
                </a:solidFill>
                <a:latin typeface="Meiryo UI" panose="020B0604030504040204" pitchFamily="50" charset="-128"/>
                <a:ea typeface="Meiryo UI" panose="020B0604030504040204" pitchFamily="50" charset="-128"/>
              </a:rPr>
              <a:t>SSBJ</a:t>
            </a:r>
            <a:r>
              <a:rPr kumimoji="1" lang="ja-JP" altLang="en-US" sz="1600" b="1" u="sng">
                <a:solidFill>
                  <a:srgbClr val="C00000"/>
                </a:solidFill>
                <a:latin typeface="Meiryo UI" panose="020B0604030504040204" pitchFamily="50" charset="-128"/>
                <a:ea typeface="Meiryo UI" panose="020B0604030504040204" pitchFamily="50" charset="-128"/>
              </a:rPr>
              <a:t>フル版のシステム稼働</a:t>
            </a:r>
            <a:r>
              <a:rPr kumimoji="1" lang="ja-JP" altLang="en-US" sz="1600">
                <a:solidFill>
                  <a:schemeClr val="tx1"/>
                </a:solidFill>
                <a:latin typeface="Meiryo UI" panose="020B0604030504040204" pitchFamily="50" charset="-128"/>
                <a:ea typeface="Meiryo UI" panose="020B0604030504040204" pitchFamily="50" charset="-128"/>
              </a:rPr>
              <a:t>をする</a:t>
            </a:r>
            <a:endParaRPr kumimoji="1" lang="en-US" altLang="ja-JP" sz="1600">
              <a:solidFill>
                <a:schemeClr val="tx1"/>
              </a:solidFill>
              <a:latin typeface="Meiryo UI" panose="020B0604030504040204" pitchFamily="50" charset="-128"/>
              <a:ea typeface="Meiryo UI" panose="020B0604030504040204" pitchFamily="50" charset="-128"/>
            </a:endParaRPr>
          </a:p>
        </p:txBody>
      </p:sp>
      <p:sp>
        <p:nvSpPr>
          <p:cNvPr id="12" name="二等辺三角形 11">
            <a:extLst>
              <a:ext uri="{FF2B5EF4-FFF2-40B4-BE49-F238E27FC236}">
                <a16:creationId xmlns:a16="http://schemas.microsoft.com/office/drawing/2014/main" id="{4FAFDA1E-128E-45FA-37F6-ADCB379B5661}"/>
              </a:ext>
            </a:extLst>
          </p:cNvPr>
          <p:cNvSpPr/>
          <p:nvPr/>
        </p:nvSpPr>
        <p:spPr>
          <a:xfrm rot="5400000">
            <a:off x="3887627" y="2170326"/>
            <a:ext cx="1368746" cy="291356"/>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3" name="二等辺三角形 12">
            <a:extLst>
              <a:ext uri="{FF2B5EF4-FFF2-40B4-BE49-F238E27FC236}">
                <a16:creationId xmlns:a16="http://schemas.microsoft.com/office/drawing/2014/main" id="{B367C7D4-A5BE-B5F3-30CB-1517F7923D29}"/>
              </a:ext>
            </a:extLst>
          </p:cNvPr>
          <p:cNvSpPr/>
          <p:nvPr/>
        </p:nvSpPr>
        <p:spPr>
          <a:xfrm rot="5400000">
            <a:off x="3887627" y="3711948"/>
            <a:ext cx="1368746" cy="291356"/>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4" name="二等辺三角形 13">
            <a:extLst>
              <a:ext uri="{FF2B5EF4-FFF2-40B4-BE49-F238E27FC236}">
                <a16:creationId xmlns:a16="http://schemas.microsoft.com/office/drawing/2014/main" id="{004E4A3A-E68E-8413-CC14-CB3C236E0246}"/>
              </a:ext>
            </a:extLst>
          </p:cNvPr>
          <p:cNvSpPr/>
          <p:nvPr/>
        </p:nvSpPr>
        <p:spPr>
          <a:xfrm rot="5400000">
            <a:off x="3887627" y="5249750"/>
            <a:ext cx="1368746" cy="291356"/>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6" name="楕円 15">
            <a:extLst>
              <a:ext uri="{FF2B5EF4-FFF2-40B4-BE49-F238E27FC236}">
                <a16:creationId xmlns:a16="http://schemas.microsoft.com/office/drawing/2014/main" id="{5635D70A-E58F-0C7B-A7B2-C727C89D14F2}"/>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17" name="テキスト ボックス 16">
            <a:extLst>
              <a:ext uri="{FF2B5EF4-FFF2-40B4-BE49-F238E27FC236}">
                <a16:creationId xmlns:a16="http://schemas.microsoft.com/office/drawing/2014/main" id="{76B99923-5636-FF8A-7960-8AD10EE357A4}"/>
              </a:ext>
            </a:extLst>
          </p:cNvPr>
          <p:cNvSpPr txBox="1"/>
          <p:nvPr/>
        </p:nvSpPr>
        <p:spPr bwMode="gray">
          <a:xfrm>
            <a:off x="417166" y="6301190"/>
            <a:ext cx="5450978" cy="153888"/>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en-US" altLang="ja-JP" sz="1000">
                <a:latin typeface="Meiryo UI" panose="020B0604030504040204" pitchFamily="50" charset="-128"/>
                <a:ea typeface="Meiryo UI" panose="020B0604030504040204" pitchFamily="50" charset="-128"/>
                <a:cs typeface="Arial" charset="0"/>
              </a:rPr>
              <a:t>※1 GGX</a:t>
            </a:r>
            <a:r>
              <a:rPr kumimoji="1" lang="ja-JP" altLang="en-US" sz="1000">
                <a:latin typeface="Meiryo UI" panose="020B0604030504040204" pitchFamily="50" charset="-128"/>
                <a:ea typeface="Meiryo UI" panose="020B0604030504040204" pitchFamily="50" charset="-128"/>
                <a:cs typeface="Arial" charset="0"/>
              </a:rPr>
              <a:t>からのリプレイスは確定ではなく、</a:t>
            </a:r>
            <a:r>
              <a:rPr kumimoji="1" lang="en-US" altLang="ja-JP" sz="1000">
                <a:latin typeface="Meiryo UI" panose="020B0604030504040204" pitchFamily="50" charset="-128"/>
                <a:ea typeface="Meiryo UI" panose="020B0604030504040204" pitchFamily="50" charset="-128"/>
                <a:cs typeface="Arial" charset="0"/>
              </a:rPr>
              <a:t>RFP</a:t>
            </a:r>
            <a:r>
              <a:rPr kumimoji="1" lang="ja-JP" altLang="en-US" sz="1000">
                <a:latin typeface="Meiryo UI" panose="020B0604030504040204" pitchFamily="50" charset="-128"/>
                <a:ea typeface="Meiryo UI" panose="020B0604030504040204" pitchFamily="50" charset="-128"/>
                <a:cs typeface="Arial" charset="0"/>
              </a:rPr>
              <a:t>による製品評価で他製品含めて評価をする</a:t>
            </a:r>
          </a:p>
        </p:txBody>
      </p:sp>
    </p:spTree>
    <p:extLst>
      <p:ext uri="{BB962C8B-B14F-4D97-AF65-F5344CB8AC3E}">
        <p14:creationId xmlns:p14="http://schemas.microsoft.com/office/powerpoint/2010/main" val="2116047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FF196C-B0B9-2809-9FAB-537CEDD515C0}"/>
              </a:ext>
            </a:extLst>
          </p:cNvPr>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システム導入のスケジュール</a:t>
            </a:r>
          </a:p>
        </p:txBody>
      </p:sp>
      <p:sp>
        <p:nvSpPr>
          <p:cNvPr id="3" name="スライド番号プレースホルダー 2">
            <a:extLst>
              <a:ext uri="{FF2B5EF4-FFF2-40B4-BE49-F238E27FC236}">
                <a16:creationId xmlns:a16="http://schemas.microsoft.com/office/drawing/2014/main" id="{3C67AFBF-11EE-10C9-1246-02C95811439C}"/>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13</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A22597B5-D604-4849-3FB5-778F35F60DAF}"/>
              </a:ext>
            </a:extLst>
          </p:cNvPr>
          <p:cNvSpPr>
            <a:spLocks noGrp="1"/>
          </p:cNvSpPr>
          <p:nvPr>
            <p:ph type="body" sz="quarter" idx="13"/>
          </p:nvPr>
        </p:nvSpPr>
        <p:spPr/>
        <p:txBody>
          <a:bodyPr/>
          <a:lstStyle/>
          <a:p>
            <a:r>
              <a:rPr kumimoji="1" lang="en-US" altLang="ja-JP">
                <a:highlight>
                  <a:srgbClr val="FFFF00"/>
                </a:highlight>
              </a:rPr>
              <a:t>Wave1</a:t>
            </a:r>
            <a:r>
              <a:rPr kumimoji="1" lang="ja-JP" altLang="en-US">
                <a:highlight>
                  <a:srgbClr val="FFFF00"/>
                </a:highlight>
              </a:rPr>
              <a:t>では環境分を先行着手し、</a:t>
            </a:r>
            <a:r>
              <a:rPr kumimoji="1" lang="en-US" altLang="ja-JP">
                <a:highlight>
                  <a:srgbClr val="FFFF00"/>
                </a:highlight>
              </a:rPr>
              <a:t>2028</a:t>
            </a:r>
            <a:r>
              <a:rPr kumimoji="1" lang="ja-JP" altLang="en-US">
                <a:highlight>
                  <a:srgbClr val="FFFF00"/>
                </a:highlight>
              </a:rPr>
              <a:t>年</a:t>
            </a:r>
            <a:r>
              <a:rPr kumimoji="1" lang="en-US" altLang="ja-JP">
                <a:highlight>
                  <a:srgbClr val="FFFF00"/>
                </a:highlight>
              </a:rPr>
              <a:t>3</a:t>
            </a:r>
            <a:r>
              <a:rPr kumimoji="1" lang="ja-JP" altLang="en-US">
                <a:highlight>
                  <a:srgbClr val="FFFF00"/>
                </a:highlight>
              </a:rPr>
              <a:t>月期の</a:t>
            </a:r>
            <a:r>
              <a:rPr kumimoji="1" lang="en-US" altLang="ja-JP">
                <a:highlight>
                  <a:srgbClr val="FFFF00"/>
                </a:highlight>
              </a:rPr>
              <a:t>SSBJ</a:t>
            </a:r>
            <a:r>
              <a:rPr kumimoji="1" lang="ja-JP" altLang="en-US">
                <a:highlight>
                  <a:srgbClr val="FFFF00"/>
                </a:highlight>
              </a:rPr>
              <a:t>フル開示に向け、環境以外の領域を</a:t>
            </a:r>
            <a:r>
              <a:rPr kumimoji="1" lang="en-US" altLang="ja-JP">
                <a:highlight>
                  <a:srgbClr val="FFFF00"/>
                </a:highlight>
              </a:rPr>
              <a:t>Wave2</a:t>
            </a:r>
            <a:r>
              <a:rPr kumimoji="1" lang="ja-JP" altLang="en-US">
                <a:highlight>
                  <a:srgbClr val="FFFF00"/>
                </a:highlight>
              </a:rPr>
              <a:t>にて着手する</a:t>
            </a:r>
          </a:p>
        </p:txBody>
      </p:sp>
      <p:graphicFrame>
        <p:nvGraphicFramePr>
          <p:cNvPr id="54" name="表 10">
            <a:extLst>
              <a:ext uri="{FF2B5EF4-FFF2-40B4-BE49-F238E27FC236}">
                <a16:creationId xmlns:a16="http://schemas.microsoft.com/office/drawing/2014/main" id="{D42E329F-CFFA-E08A-5C4A-0B8FAE2A7B26}"/>
              </a:ext>
            </a:extLst>
          </p:cNvPr>
          <p:cNvGraphicFramePr>
            <a:graphicFrameLocks noGrp="1"/>
          </p:cNvGraphicFramePr>
          <p:nvPr>
            <p:extLst>
              <p:ext uri="{D42A27DB-BD31-4B8C-83A1-F6EECF244321}">
                <p14:modId xmlns:p14="http://schemas.microsoft.com/office/powerpoint/2010/main" val="1765686128"/>
              </p:ext>
            </p:extLst>
          </p:nvPr>
        </p:nvGraphicFramePr>
        <p:xfrm>
          <a:off x="1145627" y="1468071"/>
          <a:ext cx="7932456" cy="4830594"/>
        </p:xfrm>
        <a:graphic>
          <a:graphicData uri="http://schemas.openxmlformats.org/drawingml/2006/table">
            <a:tbl>
              <a:tblPr firstRow="1" bandRow="1"/>
              <a:tblGrid>
                <a:gridCol w="566604">
                  <a:extLst>
                    <a:ext uri="{9D8B030D-6E8A-4147-A177-3AD203B41FA5}">
                      <a16:colId xmlns:a16="http://schemas.microsoft.com/office/drawing/2014/main" val="1776217380"/>
                    </a:ext>
                  </a:extLst>
                </a:gridCol>
                <a:gridCol w="566604">
                  <a:extLst>
                    <a:ext uri="{9D8B030D-6E8A-4147-A177-3AD203B41FA5}">
                      <a16:colId xmlns:a16="http://schemas.microsoft.com/office/drawing/2014/main" val="3134473790"/>
                    </a:ext>
                  </a:extLst>
                </a:gridCol>
                <a:gridCol w="566604">
                  <a:extLst>
                    <a:ext uri="{9D8B030D-6E8A-4147-A177-3AD203B41FA5}">
                      <a16:colId xmlns:a16="http://schemas.microsoft.com/office/drawing/2014/main" val="1322231381"/>
                    </a:ext>
                  </a:extLst>
                </a:gridCol>
                <a:gridCol w="566604">
                  <a:extLst>
                    <a:ext uri="{9D8B030D-6E8A-4147-A177-3AD203B41FA5}">
                      <a16:colId xmlns:a16="http://schemas.microsoft.com/office/drawing/2014/main" val="1395253458"/>
                    </a:ext>
                  </a:extLst>
                </a:gridCol>
                <a:gridCol w="566604">
                  <a:extLst>
                    <a:ext uri="{9D8B030D-6E8A-4147-A177-3AD203B41FA5}">
                      <a16:colId xmlns:a16="http://schemas.microsoft.com/office/drawing/2014/main" val="555373163"/>
                    </a:ext>
                  </a:extLst>
                </a:gridCol>
                <a:gridCol w="566604">
                  <a:extLst>
                    <a:ext uri="{9D8B030D-6E8A-4147-A177-3AD203B41FA5}">
                      <a16:colId xmlns:a16="http://schemas.microsoft.com/office/drawing/2014/main" val="1873652569"/>
                    </a:ext>
                  </a:extLst>
                </a:gridCol>
                <a:gridCol w="566604">
                  <a:extLst>
                    <a:ext uri="{9D8B030D-6E8A-4147-A177-3AD203B41FA5}">
                      <a16:colId xmlns:a16="http://schemas.microsoft.com/office/drawing/2014/main" val="3692656183"/>
                    </a:ext>
                  </a:extLst>
                </a:gridCol>
                <a:gridCol w="566604">
                  <a:extLst>
                    <a:ext uri="{9D8B030D-6E8A-4147-A177-3AD203B41FA5}">
                      <a16:colId xmlns:a16="http://schemas.microsoft.com/office/drawing/2014/main" val="1950988297"/>
                    </a:ext>
                  </a:extLst>
                </a:gridCol>
                <a:gridCol w="566604">
                  <a:extLst>
                    <a:ext uri="{9D8B030D-6E8A-4147-A177-3AD203B41FA5}">
                      <a16:colId xmlns:a16="http://schemas.microsoft.com/office/drawing/2014/main" val="3765238664"/>
                    </a:ext>
                  </a:extLst>
                </a:gridCol>
                <a:gridCol w="566604">
                  <a:extLst>
                    <a:ext uri="{9D8B030D-6E8A-4147-A177-3AD203B41FA5}">
                      <a16:colId xmlns:a16="http://schemas.microsoft.com/office/drawing/2014/main" val="1827526409"/>
                    </a:ext>
                  </a:extLst>
                </a:gridCol>
                <a:gridCol w="566604">
                  <a:extLst>
                    <a:ext uri="{9D8B030D-6E8A-4147-A177-3AD203B41FA5}">
                      <a16:colId xmlns:a16="http://schemas.microsoft.com/office/drawing/2014/main" val="52844377"/>
                    </a:ext>
                  </a:extLst>
                </a:gridCol>
                <a:gridCol w="566604">
                  <a:extLst>
                    <a:ext uri="{9D8B030D-6E8A-4147-A177-3AD203B41FA5}">
                      <a16:colId xmlns:a16="http://schemas.microsoft.com/office/drawing/2014/main" val="2764702462"/>
                    </a:ext>
                  </a:extLst>
                </a:gridCol>
                <a:gridCol w="566604">
                  <a:extLst>
                    <a:ext uri="{9D8B030D-6E8A-4147-A177-3AD203B41FA5}">
                      <a16:colId xmlns:a16="http://schemas.microsoft.com/office/drawing/2014/main" val="820576921"/>
                    </a:ext>
                  </a:extLst>
                </a:gridCol>
                <a:gridCol w="566604">
                  <a:extLst>
                    <a:ext uri="{9D8B030D-6E8A-4147-A177-3AD203B41FA5}">
                      <a16:colId xmlns:a16="http://schemas.microsoft.com/office/drawing/2014/main" val="498800882"/>
                    </a:ext>
                  </a:extLst>
                </a:gridCol>
              </a:tblGrid>
              <a:tr h="477175">
                <a:tc>
                  <a:txBody>
                    <a:bodyPr/>
                    <a:lstStyle>
                      <a:lvl1pPr marL="0" algn="l" defTabSz="914400" rtl="0" eaLnBrk="1" latinLnBrk="0" hangingPunct="1">
                        <a:defRPr kumimoji="1" sz="1800" b="1" kern="1200">
                          <a:solidFill>
                            <a:schemeClr val="bg1"/>
                          </a:solidFill>
                          <a:latin typeface="Calibri"/>
                          <a:ea typeface="Yu Gothic UI"/>
                        </a:defRPr>
                      </a:lvl1pPr>
                      <a:lvl2pPr marL="457200" algn="l" defTabSz="914400" rtl="0" eaLnBrk="1" latinLnBrk="0" hangingPunct="1">
                        <a:defRPr kumimoji="1" sz="1800" b="1" kern="1200">
                          <a:solidFill>
                            <a:schemeClr val="bg1"/>
                          </a:solidFill>
                          <a:latin typeface="Calibri"/>
                          <a:ea typeface="Yu Gothic UI"/>
                        </a:defRPr>
                      </a:lvl2pPr>
                      <a:lvl3pPr marL="914400" algn="l" defTabSz="914400" rtl="0" eaLnBrk="1" latinLnBrk="0" hangingPunct="1">
                        <a:defRPr kumimoji="1" sz="1800" b="1" kern="1200">
                          <a:solidFill>
                            <a:schemeClr val="bg1"/>
                          </a:solidFill>
                          <a:latin typeface="Calibri"/>
                          <a:ea typeface="Yu Gothic UI"/>
                        </a:defRPr>
                      </a:lvl3pPr>
                      <a:lvl4pPr marL="1371600" algn="l" defTabSz="914400" rtl="0" eaLnBrk="1" latinLnBrk="0" hangingPunct="1">
                        <a:defRPr kumimoji="1" sz="1800" b="1" kern="1200">
                          <a:solidFill>
                            <a:schemeClr val="bg1"/>
                          </a:solidFill>
                          <a:latin typeface="Calibri"/>
                          <a:ea typeface="Yu Gothic UI"/>
                        </a:defRPr>
                      </a:lvl4pPr>
                      <a:lvl5pPr marL="1828800" algn="l" defTabSz="914400" rtl="0" eaLnBrk="1" latinLnBrk="0" hangingPunct="1">
                        <a:defRPr kumimoji="1" sz="1800" b="1" kern="1200">
                          <a:solidFill>
                            <a:schemeClr val="bg1"/>
                          </a:solidFill>
                          <a:latin typeface="Calibri"/>
                          <a:ea typeface="Yu Gothic UI"/>
                        </a:defRPr>
                      </a:lvl5pPr>
                      <a:lvl6pPr marL="2286000" algn="l" defTabSz="914400" rtl="0" eaLnBrk="1" latinLnBrk="0" hangingPunct="1">
                        <a:defRPr kumimoji="1" sz="1800" b="1" kern="1200">
                          <a:solidFill>
                            <a:schemeClr val="bg1"/>
                          </a:solidFill>
                          <a:latin typeface="Calibri"/>
                          <a:ea typeface="Yu Gothic UI"/>
                        </a:defRPr>
                      </a:lvl6pPr>
                      <a:lvl7pPr marL="2743200" algn="l" defTabSz="914400" rtl="0" eaLnBrk="1" latinLnBrk="0" hangingPunct="1">
                        <a:defRPr kumimoji="1" sz="1800" b="1" kern="1200">
                          <a:solidFill>
                            <a:schemeClr val="bg1"/>
                          </a:solidFill>
                          <a:latin typeface="Calibri"/>
                          <a:ea typeface="Yu Gothic UI"/>
                        </a:defRPr>
                      </a:lvl7pPr>
                      <a:lvl8pPr marL="3200400" algn="l" defTabSz="914400" rtl="0" eaLnBrk="1" latinLnBrk="0" hangingPunct="1">
                        <a:defRPr kumimoji="1" sz="1800" b="1" kern="1200">
                          <a:solidFill>
                            <a:schemeClr val="bg1"/>
                          </a:solidFill>
                          <a:latin typeface="Calibri"/>
                          <a:ea typeface="Yu Gothic UI"/>
                        </a:defRPr>
                      </a:lvl8pPr>
                      <a:lvl9pPr marL="3657600" algn="l" defTabSz="914400" rtl="0" eaLnBrk="1" latinLnBrk="0" hangingPunct="1">
                        <a:defRPr kumimoji="1" sz="1800" b="1" kern="1200">
                          <a:solidFill>
                            <a:schemeClr val="bg1"/>
                          </a:solidFill>
                          <a:latin typeface="Calibri"/>
                          <a:ea typeface="Yu Gothic UI"/>
                        </a:defRPr>
                      </a:lvl9pPr>
                    </a:lstStyle>
                    <a:p>
                      <a:pPr algn="ctr"/>
                      <a:r>
                        <a:rPr kumimoji="1" lang="en-US" altLang="ja-JP" sz="1200"/>
                        <a:t>2024</a:t>
                      </a:r>
                      <a:endParaRPr kumimoji="1" lang="ja-JP" altLang="en-US" sz="1200"/>
                    </a:p>
                  </a:txBody>
                  <a:tcPr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7999B"/>
                    </a:solidFill>
                  </a:tcPr>
                </a:tc>
                <a:tc gridSpan="4">
                  <a:txBody>
                    <a:bodyPr/>
                    <a:lstStyle>
                      <a:lvl1pPr marL="0" algn="l" defTabSz="914400" rtl="0" eaLnBrk="1" latinLnBrk="0" hangingPunct="1">
                        <a:defRPr kumimoji="1" sz="1800" b="1" kern="1200">
                          <a:solidFill>
                            <a:schemeClr val="bg1"/>
                          </a:solidFill>
                          <a:latin typeface="Calibri"/>
                          <a:ea typeface="Yu Gothic UI"/>
                        </a:defRPr>
                      </a:lvl1pPr>
                      <a:lvl2pPr marL="457200" algn="l" defTabSz="914400" rtl="0" eaLnBrk="1" latinLnBrk="0" hangingPunct="1">
                        <a:defRPr kumimoji="1" sz="1800" b="1" kern="1200">
                          <a:solidFill>
                            <a:schemeClr val="bg1"/>
                          </a:solidFill>
                          <a:latin typeface="Calibri"/>
                          <a:ea typeface="Yu Gothic UI"/>
                        </a:defRPr>
                      </a:lvl2pPr>
                      <a:lvl3pPr marL="914400" algn="l" defTabSz="914400" rtl="0" eaLnBrk="1" latinLnBrk="0" hangingPunct="1">
                        <a:defRPr kumimoji="1" sz="1800" b="1" kern="1200">
                          <a:solidFill>
                            <a:schemeClr val="bg1"/>
                          </a:solidFill>
                          <a:latin typeface="Calibri"/>
                          <a:ea typeface="Yu Gothic UI"/>
                        </a:defRPr>
                      </a:lvl3pPr>
                      <a:lvl4pPr marL="1371600" algn="l" defTabSz="914400" rtl="0" eaLnBrk="1" latinLnBrk="0" hangingPunct="1">
                        <a:defRPr kumimoji="1" sz="1800" b="1" kern="1200">
                          <a:solidFill>
                            <a:schemeClr val="bg1"/>
                          </a:solidFill>
                          <a:latin typeface="Calibri"/>
                          <a:ea typeface="Yu Gothic UI"/>
                        </a:defRPr>
                      </a:lvl4pPr>
                      <a:lvl5pPr marL="1828800" algn="l" defTabSz="914400" rtl="0" eaLnBrk="1" latinLnBrk="0" hangingPunct="1">
                        <a:defRPr kumimoji="1" sz="1800" b="1" kern="1200">
                          <a:solidFill>
                            <a:schemeClr val="bg1"/>
                          </a:solidFill>
                          <a:latin typeface="Calibri"/>
                          <a:ea typeface="Yu Gothic UI"/>
                        </a:defRPr>
                      </a:lvl5pPr>
                      <a:lvl6pPr marL="2286000" algn="l" defTabSz="914400" rtl="0" eaLnBrk="1" latinLnBrk="0" hangingPunct="1">
                        <a:defRPr kumimoji="1" sz="1800" b="1" kern="1200">
                          <a:solidFill>
                            <a:schemeClr val="bg1"/>
                          </a:solidFill>
                          <a:latin typeface="Calibri"/>
                          <a:ea typeface="Yu Gothic UI"/>
                        </a:defRPr>
                      </a:lvl6pPr>
                      <a:lvl7pPr marL="2743200" algn="l" defTabSz="914400" rtl="0" eaLnBrk="1" latinLnBrk="0" hangingPunct="1">
                        <a:defRPr kumimoji="1" sz="1800" b="1" kern="1200">
                          <a:solidFill>
                            <a:schemeClr val="bg1"/>
                          </a:solidFill>
                          <a:latin typeface="Calibri"/>
                          <a:ea typeface="Yu Gothic UI"/>
                        </a:defRPr>
                      </a:lvl7pPr>
                      <a:lvl8pPr marL="3200400" algn="l" defTabSz="914400" rtl="0" eaLnBrk="1" latinLnBrk="0" hangingPunct="1">
                        <a:defRPr kumimoji="1" sz="1800" b="1" kern="1200">
                          <a:solidFill>
                            <a:schemeClr val="bg1"/>
                          </a:solidFill>
                          <a:latin typeface="Calibri"/>
                          <a:ea typeface="Yu Gothic UI"/>
                        </a:defRPr>
                      </a:lvl8pPr>
                      <a:lvl9pPr marL="3657600" algn="l" defTabSz="914400" rtl="0" eaLnBrk="1" latinLnBrk="0" hangingPunct="1">
                        <a:defRPr kumimoji="1" sz="1800" b="1" kern="1200">
                          <a:solidFill>
                            <a:schemeClr val="bg1"/>
                          </a:solidFill>
                          <a:latin typeface="Calibri"/>
                          <a:ea typeface="Yu Gothic UI"/>
                        </a:defRPr>
                      </a:lvl9pPr>
                    </a:lstStyle>
                    <a:p>
                      <a:pPr algn="ctr"/>
                      <a:r>
                        <a:rPr kumimoji="1" lang="en-US" altLang="ja-JP" sz="1200"/>
                        <a:t>2025</a:t>
                      </a:r>
                      <a:endParaRPr kumimoji="1" lang="ja-JP" altLang="en-US" sz="120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gridSpan="4">
                  <a:txBody>
                    <a:bodyPr/>
                    <a:lstStyle>
                      <a:lvl1pPr marL="0" algn="l" defTabSz="914400" rtl="0" eaLnBrk="1" latinLnBrk="0" hangingPunct="1">
                        <a:defRPr kumimoji="1" sz="1800" b="1" kern="1200">
                          <a:solidFill>
                            <a:schemeClr val="bg1"/>
                          </a:solidFill>
                          <a:latin typeface="Calibri"/>
                          <a:ea typeface="Yu Gothic UI"/>
                        </a:defRPr>
                      </a:lvl1pPr>
                      <a:lvl2pPr marL="457200" algn="l" defTabSz="914400" rtl="0" eaLnBrk="1" latinLnBrk="0" hangingPunct="1">
                        <a:defRPr kumimoji="1" sz="1800" b="1" kern="1200">
                          <a:solidFill>
                            <a:schemeClr val="bg1"/>
                          </a:solidFill>
                          <a:latin typeface="Calibri"/>
                          <a:ea typeface="Yu Gothic UI"/>
                        </a:defRPr>
                      </a:lvl2pPr>
                      <a:lvl3pPr marL="914400" algn="l" defTabSz="914400" rtl="0" eaLnBrk="1" latinLnBrk="0" hangingPunct="1">
                        <a:defRPr kumimoji="1" sz="1800" b="1" kern="1200">
                          <a:solidFill>
                            <a:schemeClr val="bg1"/>
                          </a:solidFill>
                          <a:latin typeface="Calibri"/>
                          <a:ea typeface="Yu Gothic UI"/>
                        </a:defRPr>
                      </a:lvl3pPr>
                      <a:lvl4pPr marL="1371600" algn="l" defTabSz="914400" rtl="0" eaLnBrk="1" latinLnBrk="0" hangingPunct="1">
                        <a:defRPr kumimoji="1" sz="1800" b="1" kern="1200">
                          <a:solidFill>
                            <a:schemeClr val="bg1"/>
                          </a:solidFill>
                          <a:latin typeface="Calibri"/>
                          <a:ea typeface="Yu Gothic UI"/>
                        </a:defRPr>
                      </a:lvl4pPr>
                      <a:lvl5pPr marL="1828800" algn="l" defTabSz="914400" rtl="0" eaLnBrk="1" latinLnBrk="0" hangingPunct="1">
                        <a:defRPr kumimoji="1" sz="1800" b="1" kern="1200">
                          <a:solidFill>
                            <a:schemeClr val="bg1"/>
                          </a:solidFill>
                          <a:latin typeface="Calibri"/>
                          <a:ea typeface="Yu Gothic UI"/>
                        </a:defRPr>
                      </a:lvl5pPr>
                      <a:lvl6pPr marL="2286000" algn="l" defTabSz="914400" rtl="0" eaLnBrk="1" latinLnBrk="0" hangingPunct="1">
                        <a:defRPr kumimoji="1" sz="1800" b="1" kern="1200">
                          <a:solidFill>
                            <a:schemeClr val="bg1"/>
                          </a:solidFill>
                          <a:latin typeface="Calibri"/>
                          <a:ea typeface="Yu Gothic UI"/>
                        </a:defRPr>
                      </a:lvl6pPr>
                      <a:lvl7pPr marL="2743200" algn="l" defTabSz="914400" rtl="0" eaLnBrk="1" latinLnBrk="0" hangingPunct="1">
                        <a:defRPr kumimoji="1" sz="1800" b="1" kern="1200">
                          <a:solidFill>
                            <a:schemeClr val="bg1"/>
                          </a:solidFill>
                          <a:latin typeface="Calibri"/>
                          <a:ea typeface="Yu Gothic UI"/>
                        </a:defRPr>
                      </a:lvl7pPr>
                      <a:lvl8pPr marL="3200400" algn="l" defTabSz="914400" rtl="0" eaLnBrk="1" latinLnBrk="0" hangingPunct="1">
                        <a:defRPr kumimoji="1" sz="1800" b="1" kern="1200">
                          <a:solidFill>
                            <a:schemeClr val="bg1"/>
                          </a:solidFill>
                          <a:latin typeface="Calibri"/>
                          <a:ea typeface="Yu Gothic UI"/>
                        </a:defRPr>
                      </a:lvl8pPr>
                      <a:lvl9pPr marL="3657600" algn="l" defTabSz="914400" rtl="0" eaLnBrk="1" latinLnBrk="0" hangingPunct="1">
                        <a:defRPr kumimoji="1" sz="1800" b="1" kern="1200">
                          <a:solidFill>
                            <a:schemeClr val="bg1"/>
                          </a:solidFill>
                          <a:latin typeface="Calibri"/>
                          <a:ea typeface="Yu Gothic UI"/>
                        </a:defRPr>
                      </a:lvl9pPr>
                    </a:lstStyle>
                    <a:p>
                      <a:pPr marL="0" marR="0" lvl="0" indent="0" algn="ctr" defTabSz="990564" rtl="0" eaLnBrk="1" fontAlgn="auto" latinLnBrk="0" hangingPunct="1">
                        <a:lnSpc>
                          <a:spcPct val="100000"/>
                        </a:lnSpc>
                        <a:spcBef>
                          <a:spcPts val="0"/>
                        </a:spcBef>
                        <a:spcAft>
                          <a:spcPts val="0"/>
                        </a:spcAft>
                        <a:buClrTx/>
                        <a:buSzTx/>
                        <a:buFontTx/>
                        <a:buNone/>
                        <a:tabLst/>
                        <a:defRPr/>
                      </a:pPr>
                      <a:r>
                        <a:rPr kumimoji="1" lang="en-US" altLang="ja-JP" sz="1200">
                          <a:solidFill>
                            <a:schemeClr val="bg1"/>
                          </a:solidFill>
                          <a:latin typeface="+mn-ea"/>
                          <a:ea typeface="+mn-ea"/>
                        </a:rPr>
                        <a:t>2026</a:t>
                      </a:r>
                      <a:endParaRPr kumimoji="1" lang="ja-JP" altLang="en-US" sz="1200">
                        <a:solidFill>
                          <a:schemeClr val="bg1"/>
                        </a:solidFill>
                        <a:latin typeface="+mn-ea"/>
                        <a:ea typeface="+mn-ea"/>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gridSpan="4">
                  <a:txBody>
                    <a:bodyPr/>
                    <a:lstStyle>
                      <a:lvl1pPr marL="0" algn="l" defTabSz="914400" rtl="0" eaLnBrk="1" latinLnBrk="0" hangingPunct="1">
                        <a:defRPr kumimoji="1" sz="1800" b="1" kern="1200">
                          <a:solidFill>
                            <a:schemeClr val="bg1"/>
                          </a:solidFill>
                          <a:latin typeface="Calibri"/>
                          <a:ea typeface="Yu Gothic UI"/>
                        </a:defRPr>
                      </a:lvl1pPr>
                      <a:lvl2pPr marL="457200" algn="l" defTabSz="914400" rtl="0" eaLnBrk="1" latinLnBrk="0" hangingPunct="1">
                        <a:defRPr kumimoji="1" sz="1800" b="1" kern="1200">
                          <a:solidFill>
                            <a:schemeClr val="bg1"/>
                          </a:solidFill>
                          <a:latin typeface="Calibri"/>
                          <a:ea typeface="Yu Gothic UI"/>
                        </a:defRPr>
                      </a:lvl2pPr>
                      <a:lvl3pPr marL="914400" algn="l" defTabSz="914400" rtl="0" eaLnBrk="1" latinLnBrk="0" hangingPunct="1">
                        <a:defRPr kumimoji="1" sz="1800" b="1" kern="1200">
                          <a:solidFill>
                            <a:schemeClr val="bg1"/>
                          </a:solidFill>
                          <a:latin typeface="Calibri"/>
                          <a:ea typeface="Yu Gothic UI"/>
                        </a:defRPr>
                      </a:lvl3pPr>
                      <a:lvl4pPr marL="1371600" algn="l" defTabSz="914400" rtl="0" eaLnBrk="1" latinLnBrk="0" hangingPunct="1">
                        <a:defRPr kumimoji="1" sz="1800" b="1" kern="1200">
                          <a:solidFill>
                            <a:schemeClr val="bg1"/>
                          </a:solidFill>
                          <a:latin typeface="Calibri"/>
                          <a:ea typeface="Yu Gothic UI"/>
                        </a:defRPr>
                      </a:lvl4pPr>
                      <a:lvl5pPr marL="1828800" algn="l" defTabSz="914400" rtl="0" eaLnBrk="1" latinLnBrk="0" hangingPunct="1">
                        <a:defRPr kumimoji="1" sz="1800" b="1" kern="1200">
                          <a:solidFill>
                            <a:schemeClr val="bg1"/>
                          </a:solidFill>
                          <a:latin typeface="Calibri"/>
                          <a:ea typeface="Yu Gothic UI"/>
                        </a:defRPr>
                      </a:lvl5pPr>
                      <a:lvl6pPr marL="2286000" algn="l" defTabSz="914400" rtl="0" eaLnBrk="1" latinLnBrk="0" hangingPunct="1">
                        <a:defRPr kumimoji="1" sz="1800" b="1" kern="1200">
                          <a:solidFill>
                            <a:schemeClr val="bg1"/>
                          </a:solidFill>
                          <a:latin typeface="Calibri"/>
                          <a:ea typeface="Yu Gothic UI"/>
                        </a:defRPr>
                      </a:lvl6pPr>
                      <a:lvl7pPr marL="2743200" algn="l" defTabSz="914400" rtl="0" eaLnBrk="1" latinLnBrk="0" hangingPunct="1">
                        <a:defRPr kumimoji="1" sz="1800" b="1" kern="1200">
                          <a:solidFill>
                            <a:schemeClr val="bg1"/>
                          </a:solidFill>
                          <a:latin typeface="Calibri"/>
                          <a:ea typeface="Yu Gothic UI"/>
                        </a:defRPr>
                      </a:lvl7pPr>
                      <a:lvl8pPr marL="3200400" algn="l" defTabSz="914400" rtl="0" eaLnBrk="1" latinLnBrk="0" hangingPunct="1">
                        <a:defRPr kumimoji="1" sz="1800" b="1" kern="1200">
                          <a:solidFill>
                            <a:schemeClr val="bg1"/>
                          </a:solidFill>
                          <a:latin typeface="Calibri"/>
                          <a:ea typeface="Yu Gothic UI"/>
                        </a:defRPr>
                      </a:lvl8pPr>
                      <a:lvl9pPr marL="3657600" algn="l" defTabSz="914400" rtl="0" eaLnBrk="1" latinLnBrk="0" hangingPunct="1">
                        <a:defRPr kumimoji="1" sz="1800" b="1" kern="1200">
                          <a:solidFill>
                            <a:schemeClr val="bg1"/>
                          </a:solidFill>
                          <a:latin typeface="Calibri"/>
                          <a:ea typeface="Yu Gothic UI"/>
                        </a:defRPr>
                      </a:lvl9pPr>
                    </a:lstStyle>
                    <a:p>
                      <a:pPr marL="0" marR="0" lvl="0" indent="0" algn="ctr" defTabSz="990564" rtl="0" eaLnBrk="1" fontAlgn="auto" latinLnBrk="0" hangingPunct="1">
                        <a:lnSpc>
                          <a:spcPct val="100000"/>
                        </a:lnSpc>
                        <a:spcBef>
                          <a:spcPts val="0"/>
                        </a:spcBef>
                        <a:spcAft>
                          <a:spcPts val="0"/>
                        </a:spcAft>
                        <a:buClrTx/>
                        <a:buSzTx/>
                        <a:buFontTx/>
                        <a:buNone/>
                        <a:tabLst/>
                        <a:defRPr/>
                      </a:pPr>
                      <a:r>
                        <a:rPr kumimoji="1" lang="en-US" altLang="ja-JP" sz="1200">
                          <a:solidFill>
                            <a:schemeClr val="bg1"/>
                          </a:solidFill>
                          <a:latin typeface="+mn-ea"/>
                          <a:ea typeface="+mn-ea"/>
                        </a:rPr>
                        <a:t>2027</a:t>
                      </a:r>
                      <a:endParaRPr kumimoji="1" lang="ja-JP" altLang="en-US" sz="1200">
                        <a:solidFill>
                          <a:schemeClr val="bg1"/>
                        </a:solidFill>
                        <a:latin typeface="+mn-ea"/>
                        <a:ea typeface="+mn-ea"/>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hMerge="1">
                  <a:txBody>
                    <a:bodyPr/>
                    <a:lstStyle/>
                    <a:p>
                      <a:pPr marL="0" marR="0" lvl="0" indent="0" algn="ctr" defTabSz="990564" rtl="0" eaLnBrk="1" fontAlgn="auto" latinLnBrk="0" hangingPunct="1">
                        <a:lnSpc>
                          <a:spcPct val="100000"/>
                        </a:lnSpc>
                        <a:spcBef>
                          <a:spcPts val="0"/>
                        </a:spcBef>
                        <a:spcAft>
                          <a:spcPts val="0"/>
                        </a:spcAft>
                        <a:buClrTx/>
                        <a:buSzTx/>
                        <a:buFontTx/>
                        <a:buNone/>
                        <a:tabLst/>
                        <a:defRPr/>
                      </a:pPr>
                      <a:endParaRPr kumimoji="1" lang="ja-JP" altLang="en-US" sz="1200">
                        <a:solidFill>
                          <a:schemeClr val="bg1"/>
                        </a:solidFill>
                        <a:latin typeface="+mn-ea"/>
                        <a:ea typeface="+mn-ea"/>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7999B"/>
                    </a:solidFill>
                  </a:tcPr>
                </a:tc>
                <a:tc>
                  <a:txBody>
                    <a:bodyPr/>
                    <a:lstStyle>
                      <a:lvl1pPr marL="0" algn="l" defTabSz="914400" rtl="0" eaLnBrk="1" latinLnBrk="0" hangingPunct="1">
                        <a:defRPr kumimoji="1" sz="1800" b="1" kern="1200">
                          <a:solidFill>
                            <a:schemeClr val="bg1"/>
                          </a:solidFill>
                          <a:latin typeface="Calibri"/>
                          <a:ea typeface="Yu Gothic UI"/>
                        </a:defRPr>
                      </a:lvl1pPr>
                      <a:lvl2pPr marL="457200" algn="l" defTabSz="914400" rtl="0" eaLnBrk="1" latinLnBrk="0" hangingPunct="1">
                        <a:defRPr kumimoji="1" sz="1800" b="1" kern="1200">
                          <a:solidFill>
                            <a:schemeClr val="bg1"/>
                          </a:solidFill>
                          <a:latin typeface="Calibri"/>
                          <a:ea typeface="Yu Gothic UI"/>
                        </a:defRPr>
                      </a:lvl2pPr>
                      <a:lvl3pPr marL="914400" algn="l" defTabSz="914400" rtl="0" eaLnBrk="1" latinLnBrk="0" hangingPunct="1">
                        <a:defRPr kumimoji="1" sz="1800" b="1" kern="1200">
                          <a:solidFill>
                            <a:schemeClr val="bg1"/>
                          </a:solidFill>
                          <a:latin typeface="Calibri"/>
                          <a:ea typeface="Yu Gothic UI"/>
                        </a:defRPr>
                      </a:lvl3pPr>
                      <a:lvl4pPr marL="1371600" algn="l" defTabSz="914400" rtl="0" eaLnBrk="1" latinLnBrk="0" hangingPunct="1">
                        <a:defRPr kumimoji="1" sz="1800" b="1" kern="1200">
                          <a:solidFill>
                            <a:schemeClr val="bg1"/>
                          </a:solidFill>
                          <a:latin typeface="Calibri"/>
                          <a:ea typeface="Yu Gothic UI"/>
                        </a:defRPr>
                      </a:lvl4pPr>
                      <a:lvl5pPr marL="1828800" algn="l" defTabSz="914400" rtl="0" eaLnBrk="1" latinLnBrk="0" hangingPunct="1">
                        <a:defRPr kumimoji="1" sz="1800" b="1" kern="1200">
                          <a:solidFill>
                            <a:schemeClr val="bg1"/>
                          </a:solidFill>
                          <a:latin typeface="Calibri"/>
                          <a:ea typeface="Yu Gothic UI"/>
                        </a:defRPr>
                      </a:lvl5pPr>
                      <a:lvl6pPr marL="2286000" algn="l" defTabSz="914400" rtl="0" eaLnBrk="1" latinLnBrk="0" hangingPunct="1">
                        <a:defRPr kumimoji="1" sz="1800" b="1" kern="1200">
                          <a:solidFill>
                            <a:schemeClr val="bg1"/>
                          </a:solidFill>
                          <a:latin typeface="Calibri"/>
                          <a:ea typeface="Yu Gothic UI"/>
                        </a:defRPr>
                      </a:lvl6pPr>
                      <a:lvl7pPr marL="2743200" algn="l" defTabSz="914400" rtl="0" eaLnBrk="1" latinLnBrk="0" hangingPunct="1">
                        <a:defRPr kumimoji="1" sz="1800" b="1" kern="1200">
                          <a:solidFill>
                            <a:schemeClr val="bg1"/>
                          </a:solidFill>
                          <a:latin typeface="Calibri"/>
                          <a:ea typeface="Yu Gothic UI"/>
                        </a:defRPr>
                      </a:lvl7pPr>
                      <a:lvl8pPr marL="3200400" algn="l" defTabSz="914400" rtl="0" eaLnBrk="1" latinLnBrk="0" hangingPunct="1">
                        <a:defRPr kumimoji="1" sz="1800" b="1" kern="1200">
                          <a:solidFill>
                            <a:schemeClr val="bg1"/>
                          </a:solidFill>
                          <a:latin typeface="Calibri"/>
                          <a:ea typeface="Yu Gothic UI"/>
                        </a:defRPr>
                      </a:lvl8pPr>
                      <a:lvl9pPr marL="3657600" algn="l" defTabSz="914400" rtl="0" eaLnBrk="1" latinLnBrk="0" hangingPunct="1">
                        <a:defRPr kumimoji="1" sz="1800" b="1" kern="1200">
                          <a:solidFill>
                            <a:schemeClr val="bg1"/>
                          </a:solidFill>
                          <a:latin typeface="Calibri"/>
                          <a:ea typeface="Yu Gothic UI"/>
                        </a:defRPr>
                      </a:lvl9pPr>
                    </a:lstStyle>
                    <a:p>
                      <a:pPr marL="0" marR="0" lvl="0" indent="0" algn="ctr" defTabSz="990564" rtl="0" eaLnBrk="1" fontAlgn="auto" latinLnBrk="0" hangingPunct="1">
                        <a:lnSpc>
                          <a:spcPct val="100000"/>
                        </a:lnSpc>
                        <a:spcBef>
                          <a:spcPts val="0"/>
                        </a:spcBef>
                        <a:spcAft>
                          <a:spcPts val="0"/>
                        </a:spcAft>
                        <a:buClrTx/>
                        <a:buSzTx/>
                        <a:buFontTx/>
                        <a:buNone/>
                        <a:tabLst/>
                        <a:defRPr/>
                      </a:pPr>
                      <a:r>
                        <a:rPr kumimoji="1" lang="en-US" altLang="ja-JP" sz="1200">
                          <a:solidFill>
                            <a:schemeClr val="bg1"/>
                          </a:solidFill>
                          <a:latin typeface="+mn-ea"/>
                          <a:ea typeface="+mn-ea"/>
                        </a:rPr>
                        <a:t>2028</a:t>
                      </a:r>
                      <a:endParaRPr kumimoji="1" lang="ja-JP" altLang="en-US" sz="1200">
                        <a:solidFill>
                          <a:schemeClr val="bg1"/>
                        </a:solidFill>
                        <a:latin typeface="+mn-ea"/>
                        <a:ea typeface="+mn-ea"/>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7999B"/>
                    </a:solidFill>
                  </a:tcPr>
                </a:tc>
                <a:extLst>
                  <a:ext uri="{0D108BD9-81ED-4DB2-BD59-A6C34878D82A}">
                    <a16:rowId xmlns:a16="http://schemas.microsoft.com/office/drawing/2014/main" val="423224214"/>
                  </a:ext>
                </a:extLst>
              </a:tr>
              <a:tr h="263010">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10-12</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1-3</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4-6</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7-9</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10-12</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1-3</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4-6</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7-9</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10-12</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1-3</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4-6</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7-9</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10-12</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pPr algn="ctr"/>
                      <a:r>
                        <a:rPr kumimoji="1" lang="en-US" altLang="ja-JP" sz="1200">
                          <a:solidFill>
                            <a:schemeClr val="tx1"/>
                          </a:solidFill>
                          <a:latin typeface="+mn-ea"/>
                          <a:ea typeface="+mn-ea"/>
                        </a:rPr>
                        <a:t>1-3</a:t>
                      </a:r>
                      <a:endParaRPr kumimoji="1" lang="ja-JP" altLang="en-US" sz="1200">
                        <a:solidFill>
                          <a:schemeClr val="tx1"/>
                        </a:solidFill>
                        <a:latin typeface="+mn-ea"/>
                        <a:ea typeface="+mn-ea"/>
                      </a:endParaRPr>
                    </a:p>
                  </a:txBody>
                  <a:tcPr marL="0" marR="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rgbClr val="D0D0CE"/>
                    </a:solidFill>
                  </a:tcPr>
                </a:tc>
                <a:extLst>
                  <a:ext uri="{0D108BD9-81ED-4DB2-BD59-A6C34878D82A}">
                    <a16:rowId xmlns:a16="http://schemas.microsoft.com/office/drawing/2014/main" val="1024375599"/>
                  </a:ext>
                </a:extLst>
              </a:tr>
              <a:tr h="454409">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8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5003303"/>
                  </a:ext>
                </a:extLst>
              </a:tr>
              <a:tr h="3636000">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ea typeface="Yu Gothic UI"/>
                        </a:defRPr>
                      </a:lvl1pPr>
                      <a:lvl2pPr marL="457200" algn="l" defTabSz="914400" rtl="0" eaLnBrk="1" latinLnBrk="0" hangingPunct="1">
                        <a:defRPr kumimoji="1" sz="1800" kern="1200">
                          <a:solidFill>
                            <a:schemeClr val="tx1"/>
                          </a:solidFill>
                          <a:latin typeface="Calibri"/>
                          <a:ea typeface="Yu Gothic UI"/>
                        </a:defRPr>
                      </a:lvl2pPr>
                      <a:lvl3pPr marL="914400" algn="l" defTabSz="914400" rtl="0" eaLnBrk="1" latinLnBrk="0" hangingPunct="1">
                        <a:defRPr kumimoji="1" sz="1800" kern="1200">
                          <a:solidFill>
                            <a:schemeClr val="tx1"/>
                          </a:solidFill>
                          <a:latin typeface="Calibri"/>
                          <a:ea typeface="Yu Gothic UI"/>
                        </a:defRPr>
                      </a:lvl3pPr>
                      <a:lvl4pPr marL="1371600" algn="l" defTabSz="914400" rtl="0" eaLnBrk="1" latinLnBrk="0" hangingPunct="1">
                        <a:defRPr kumimoji="1" sz="1800" kern="1200">
                          <a:solidFill>
                            <a:schemeClr val="tx1"/>
                          </a:solidFill>
                          <a:latin typeface="Calibri"/>
                          <a:ea typeface="Yu Gothic UI"/>
                        </a:defRPr>
                      </a:lvl4pPr>
                      <a:lvl5pPr marL="1828800" algn="l" defTabSz="914400" rtl="0" eaLnBrk="1" latinLnBrk="0" hangingPunct="1">
                        <a:defRPr kumimoji="1" sz="1800" kern="1200">
                          <a:solidFill>
                            <a:schemeClr val="tx1"/>
                          </a:solidFill>
                          <a:latin typeface="Calibri"/>
                          <a:ea typeface="Yu Gothic UI"/>
                        </a:defRPr>
                      </a:lvl5pPr>
                      <a:lvl6pPr marL="2286000" algn="l" defTabSz="914400" rtl="0" eaLnBrk="1" latinLnBrk="0" hangingPunct="1">
                        <a:defRPr kumimoji="1" sz="1800" kern="1200">
                          <a:solidFill>
                            <a:schemeClr val="tx1"/>
                          </a:solidFill>
                          <a:latin typeface="Calibri"/>
                          <a:ea typeface="Yu Gothic UI"/>
                        </a:defRPr>
                      </a:lvl6pPr>
                      <a:lvl7pPr marL="2743200" algn="l" defTabSz="914400" rtl="0" eaLnBrk="1" latinLnBrk="0" hangingPunct="1">
                        <a:defRPr kumimoji="1" sz="1800" kern="1200">
                          <a:solidFill>
                            <a:schemeClr val="tx1"/>
                          </a:solidFill>
                          <a:latin typeface="Calibri"/>
                          <a:ea typeface="Yu Gothic UI"/>
                        </a:defRPr>
                      </a:lvl7pPr>
                      <a:lvl8pPr marL="3200400" algn="l" defTabSz="914400" rtl="0" eaLnBrk="1" latinLnBrk="0" hangingPunct="1">
                        <a:defRPr kumimoji="1" sz="1800" kern="1200">
                          <a:solidFill>
                            <a:schemeClr val="tx1"/>
                          </a:solidFill>
                          <a:latin typeface="Calibri"/>
                          <a:ea typeface="Yu Gothic UI"/>
                        </a:defRPr>
                      </a:lvl8pPr>
                      <a:lvl9pPr marL="3657600" algn="l" defTabSz="914400" rtl="0" eaLnBrk="1" latinLnBrk="0" hangingPunct="1">
                        <a:defRPr kumimoji="1" sz="1800" kern="1200">
                          <a:solidFill>
                            <a:schemeClr val="tx1"/>
                          </a:solidFill>
                          <a:latin typeface="Calibri"/>
                          <a:ea typeface="Yu Gothic UI"/>
                        </a:defRPr>
                      </a:lvl9pPr>
                    </a:lstStyle>
                    <a:p>
                      <a:endParaRPr kumimoji="1" lang="ja-JP" altLang="en-US" sz="600">
                        <a:latin typeface="+mn-lt"/>
                        <a:ea typeface="+mn-ea"/>
                      </a:endParaRPr>
                    </a:p>
                  </a:txBody>
                  <a:tcPr>
                    <a:lnL w="12700" cap="flat" cmpd="sng" algn="ctr">
                      <a:solidFill>
                        <a:srgbClr val="BBBCBC"/>
                      </a:solidFill>
                      <a:prstDash val="solid"/>
                      <a:round/>
                      <a:headEnd type="none" w="med" len="med"/>
                      <a:tailEnd type="none" w="med" len="med"/>
                    </a:lnL>
                    <a:lnR w="12700" cap="flat" cmpd="sng" algn="ctr">
                      <a:solidFill>
                        <a:srgbClr val="BBBCBC"/>
                      </a:solidFill>
                      <a:prstDash val="solid"/>
                      <a:round/>
                      <a:headEnd type="none" w="med" len="med"/>
                      <a:tailEnd type="none" w="med" len="med"/>
                    </a:lnR>
                    <a:lnT w="12700" cap="flat" cmpd="sng" algn="ctr">
                      <a:solidFill>
                        <a:srgbClr val="A7A8AA"/>
                      </a:solidFill>
                      <a:prstDash val="solid"/>
                      <a:round/>
                      <a:headEnd type="none" w="med" len="med"/>
                      <a:tailEnd type="none" w="med" len="med"/>
                    </a:lnT>
                    <a:lnB w="1270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2758768"/>
                  </a:ext>
                </a:extLst>
              </a:tr>
            </a:tbl>
          </a:graphicData>
        </a:graphic>
      </p:graphicFrame>
      <p:sp>
        <p:nvSpPr>
          <p:cNvPr id="55" name="Rectangle 13">
            <a:extLst>
              <a:ext uri="{FF2B5EF4-FFF2-40B4-BE49-F238E27FC236}">
                <a16:creationId xmlns:a16="http://schemas.microsoft.com/office/drawing/2014/main" id="{D3B50457-C2A0-1F34-9E86-0EA743013FD3}"/>
              </a:ext>
            </a:extLst>
          </p:cNvPr>
          <p:cNvSpPr/>
          <p:nvPr/>
        </p:nvSpPr>
        <p:spPr bwMode="gray">
          <a:xfrm>
            <a:off x="34156" y="2643594"/>
            <a:ext cx="1038844" cy="1280849"/>
          </a:xfrm>
          <a:prstGeom prst="rect">
            <a:avLst/>
          </a:prstGeom>
          <a:solidFill>
            <a:srgbClr val="007CB0">
              <a:lumMod val="20000"/>
              <a:lumOff val="80000"/>
            </a:srgbClr>
          </a:solidFill>
          <a:ln w="19050" algn="ctr">
            <a:noFill/>
            <a:miter lim="800000"/>
            <a:headEnd/>
            <a:tailEnd/>
          </a:ln>
        </p:spPr>
        <p:txBody>
          <a:bodyPr wrap="square" lIns="0" tIns="0" rIns="0" bIns="0" rtlCol="0" anchor="ctr"/>
          <a:lstStyle/>
          <a:p>
            <a:pPr marL="0" marR="0" lvl="0" indent="0" algn="ctr" defTabSz="914400" eaLnBrk="1" fontAlgn="base" latinLnBrk="0" hangingPunct="1">
              <a:lnSpc>
                <a:spcPct val="106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SSBJ</a:t>
            </a:r>
            <a:r>
              <a:rPr kumimoji="0" lang="ja-JP" altLang="en-US" sz="12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対応</a:t>
            </a:r>
            <a:endParaRPr kumimoji="0" lang="en-US" altLang="ja-JP" sz="12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56" name="テキスト ボックス 55">
            <a:extLst>
              <a:ext uri="{FF2B5EF4-FFF2-40B4-BE49-F238E27FC236}">
                <a16:creationId xmlns:a16="http://schemas.microsoft.com/office/drawing/2014/main" id="{67CC07A5-C1C6-47CF-F668-6FAE79950AA2}"/>
              </a:ext>
            </a:extLst>
          </p:cNvPr>
          <p:cNvSpPr txBox="1"/>
          <p:nvPr/>
        </p:nvSpPr>
        <p:spPr bwMode="gray">
          <a:xfrm>
            <a:off x="7284736" y="2228341"/>
            <a:ext cx="1431511" cy="153888"/>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b="1">
                <a:solidFill>
                  <a:srgbClr val="86BC25"/>
                </a:solidFill>
                <a:latin typeface="Meiryo UI" panose="020B0604030504040204" pitchFamily="50" charset="-128"/>
                <a:ea typeface="Meiryo UI" panose="020B0604030504040204" pitchFamily="50" charset="-128"/>
                <a:cs typeface="Arial" charset="0"/>
              </a:rPr>
              <a:t> </a:t>
            </a:r>
            <a:r>
              <a:rPr kumimoji="1" lang="ja-JP" altLang="en-US" sz="1000" b="1">
                <a:solidFill>
                  <a:srgbClr val="007CB0"/>
                </a:solidFill>
                <a:latin typeface="Meiryo UI" panose="020B0604030504040204" pitchFamily="50" charset="-128"/>
                <a:ea typeface="Meiryo UI" panose="020B0604030504040204" pitchFamily="50" charset="-128"/>
                <a:cs typeface="Arial" charset="0"/>
              </a:rPr>
              <a:t>▼</a:t>
            </a:r>
            <a:r>
              <a:rPr kumimoji="1" lang="en-US" altLang="ja-JP" sz="1000" b="1">
                <a:solidFill>
                  <a:prstClr val="black"/>
                </a:solidFill>
                <a:latin typeface="Meiryo UI" panose="020B0604030504040204" pitchFamily="50" charset="-128"/>
                <a:ea typeface="Meiryo UI" panose="020B0604030504040204" pitchFamily="50" charset="-128"/>
                <a:cs typeface="Arial" charset="0"/>
              </a:rPr>
              <a:t>SSBJ</a:t>
            </a:r>
            <a:r>
              <a:rPr kumimoji="1" lang="ja-JP" altLang="en-US" sz="1000" b="1">
                <a:solidFill>
                  <a:prstClr val="black"/>
                </a:solidFill>
                <a:latin typeface="Meiryo UI" panose="020B0604030504040204" pitchFamily="50" charset="-128"/>
                <a:ea typeface="Meiryo UI" panose="020B0604030504040204" pitchFamily="50" charset="-128"/>
                <a:cs typeface="Arial" charset="0"/>
              </a:rPr>
              <a:t>任意開示</a:t>
            </a:r>
            <a:endParaRPr kumimoji="1" lang="en-US" altLang="ja-JP" sz="1000" b="1">
              <a:solidFill>
                <a:prstClr val="black"/>
              </a:solidFill>
              <a:latin typeface="Meiryo UI" panose="020B0604030504040204" pitchFamily="50" charset="-128"/>
              <a:ea typeface="Meiryo UI" panose="020B0604030504040204" pitchFamily="50" charset="-128"/>
              <a:cs typeface="Arial" charset="0"/>
            </a:endParaRPr>
          </a:p>
        </p:txBody>
      </p:sp>
      <p:sp>
        <p:nvSpPr>
          <p:cNvPr id="57" name="テキスト ボックス 56">
            <a:extLst>
              <a:ext uri="{FF2B5EF4-FFF2-40B4-BE49-F238E27FC236}">
                <a16:creationId xmlns:a16="http://schemas.microsoft.com/office/drawing/2014/main" id="{FFE9B3E3-7B5C-71C4-4E45-18ADCDDFC2EB}"/>
              </a:ext>
            </a:extLst>
          </p:cNvPr>
          <p:cNvSpPr txBox="1"/>
          <p:nvPr/>
        </p:nvSpPr>
        <p:spPr bwMode="gray">
          <a:xfrm>
            <a:off x="4996425" y="2228341"/>
            <a:ext cx="1471456" cy="153888"/>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b="1">
                <a:solidFill>
                  <a:srgbClr val="86BC25"/>
                </a:solidFill>
                <a:latin typeface="Meiryo UI" panose="020B0604030504040204" pitchFamily="50" charset="-128"/>
                <a:ea typeface="Meiryo UI" panose="020B0604030504040204" pitchFamily="50" charset="-128"/>
                <a:cs typeface="Arial" charset="0"/>
              </a:rPr>
              <a:t> </a:t>
            </a:r>
            <a:r>
              <a:rPr kumimoji="1" lang="ja-JP" altLang="en-US" sz="1000" b="1">
                <a:solidFill>
                  <a:srgbClr val="007CB0"/>
                </a:solidFill>
                <a:latin typeface="Meiryo UI" panose="020B0604030504040204" pitchFamily="50" charset="-128"/>
                <a:ea typeface="Meiryo UI" panose="020B0604030504040204" pitchFamily="50" charset="-128"/>
                <a:cs typeface="Arial" charset="0"/>
              </a:rPr>
              <a:t>▼</a:t>
            </a:r>
            <a:r>
              <a:rPr kumimoji="1" lang="en-US" altLang="ja-JP" sz="1000" b="1">
                <a:solidFill>
                  <a:prstClr val="black"/>
                </a:solidFill>
                <a:latin typeface="Meiryo UI" panose="020B0604030504040204" pitchFamily="50" charset="-128"/>
                <a:ea typeface="Meiryo UI" panose="020B0604030504040204" pitchFamily="50" charset="-128"/>
                <a:cs typeface="Arial" charset="0"/>
              </a:rPr>
              <a:t>SSBJ</a:t>
            </a:r>
            <a:r>
              <a:rPr kumimoji="1" lang="ja-JP" altLang="en-US" sz="1000" b="1">
                <a:solidFill>
                  <a:prstClr val="black"/>
                </a:solidFill>
                <a:latin typeface="Meiryo UI" panose="020B0604030504040204" pitchFamily="50" charset="-128"/>
                <a:ea typeface="Meiryo UI" panose="020B0604030504040204" pitchFamily="50" charset="-128"/>
                <a:cs typeface="Arial" charset="0"/>
              </a:rPr>
              <a:t>任意開示</a:t>
            </a:r>
            <a:endParaRPr kumimoji="1" lang="en-US" altLang="ja-JP" sz="1000" b="1">
              <a:solidFill>
                <a:prstClr val="black"/>
              </a:solidFill>
              <a:latin typeface="Meiryo UI" panose="020B0604030504040204" pitchFamily="50" charset="-128"/>
              <a:ea typeface="Meiryo UI" panose="020B0604030504040204" pitchFamily="50" charset="-128"/>
              <a:cs typeface="Arial" charset="0"/>
            </a:endParaRPr>
          </a:p>
        </p:txBody>
      </p:sp>
      <p:sp>
        <p:nvSpPr>
          <p:cNvPr id="58" name="テキスト ボックス 57">
            <a:extLst>
              <a:ext uri="{FF2B5EF4-FFF2-40B4-BE49-F238E27FC236}">
                <a16:creationId xmlns:a16="http://schemas.microsoft.com/office/drawing/2014/main" id="{8D738002-D288-73CC-D222-04B3BC805C5A}"/>
              </a:ext>
            </a:extLst>
          </p:cNvPr>
          <p:cNvSpPr txBox="1"/>
          <p:nvPr/>
        </p:nvSpPr>
        <p:spPr bwMode="gray">
          <a:xfrm>
            <a:off x="1908459" y="2410477"/>
            <a:ext cx="1471456" cy="153888"/>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b="1">
                <a:solidFill>
                  <a:srgbClr val="26890D"/>
                </a:solidFill>
                <a:latin typeface="Meiryo UI" panose="020B0604030504040204" pitchFamily="50" charset="-128"/>
                <a:ea typeface="Meiryo UI" panose="020B0604030504040204" pitchFamily="50" charset="-128"/>
                <a:cs typeface="Arial" charset="0"/>
              </a:rPr>
              <a:t> </a:t>
            </a:r>
            <a:r>
              <a:rPr kumimoji="1" lang="ja-JP" altLang="en-US" sz="1000" b="1">
                <a:solidFill>
                  <a:srgbClr val="007CB0"/>
                </a:solidFill>
                <a:latin typeface="Meiryo UI" panose="020B0604030504040204" pitchFamily="50" charset="-128"/>
                <a:ea typeface="Meiryo UI" panose="020B0604030504040204" pitchFamily="50" charset="-128"/>
                <a:cs typeface="Arial" charset="0"/>
              </a:rPr>
              <a:t>▼</a:t>
            </a:r>
            <a:r>
              <a:rPr kumimoji="1" lang="en-US" altLang="ja-JP" sz="1000" b="1">
                <a:solidFill>
                  <a:prstClr val="black"/>
                </a:solidFill>
                <a:latin typeface="Meiryo UI" panose="020B0604030504040204" pitchFamily="50" charset="-128"/>
                <a:ea typeface="Meiryo UI" panose="020B0604030504040204" pitchFamily="50" charset="-128"/>
                <a:cs typeface="Arial" charset="0"/>
              </a:rPr>
              <a:t>SSBJ</a:t>
            </a:r>
            <a:r>
              <a:rPr kumimoji="1" lang="ja-JP" altLang="en-US" sz="1000" b="1">
                <a:solidFill>
                  <a:prstClr val="black"/>
                </a:solidFill>
                <a:latin typeface="Meiryo UI" panose="020B0604030504040204" pitchFamily="50" charset="-128"/>
                <a:ea typeface="Meiryo UI" panose="020B0604030504040204" pitchFamily="50" charset="-128"/>
                <a:cs typeface="Arial" charset="0"/>
              </a:rPr>
              <a:t>最終化見込み</a:t>
            </a:r>
            <a:endParaRPr kumimoji="1" lang="en-US" altLang="ja-JP" sz="1000" b="1">
              <a:solidFill>
                <a:prstClr val="black"/>
              </a:solidFill>
              <a:latin typeface="Meiryo UI" panose="020B0604030504040204" pitchFamily="50" charset="-128"/>
              <a:ea typeface="Meiryo UI" panose="020B0604030504040204" pitchFamily="50" charset="-128"/>
              <a:cs typeface="Arial" charset="0"/>
            </a:endParaRPr>
          </a:p>
        </p:txBody>
      </p:sp>
      <p:sp>
        <p:nvSpPr>
          <p:cNvPr id="59" name="Rectangle 13">
            <a:extLst>
              <a:ext uri="{FF2B5EF4-FFF2-40B4-BE49-F238E27FC236}">
                <a16:creationId xmlns:a16="http://schemas.microsoft.com/office/drawing/2014/main" id="{7FB711CD-C52E-2D83-A672-32769F95ED48}"/>
              </a:ext>
            </a:extLst>
          </p:cNvPr>
          <p:cNvSpPr/>
          <p:nvPr/>
        </p:nvSpPr>
        <p:spPr bwMode="gray">
          <a:xfrm>
            <a:off x="58521" y="2038072"/>
            <a:ext cx="1014479" cy="542353"/>
          </a:xfrm>
          <a:prstGeom prst="rect">
            <a:avLst/>
          </a:prstGeom>
          <a:solidFill>
            <a:srgbClr val="046A38"/>
          </a:solidFill>
          <a:ln w="19050" algn="ctr">
            <a:noFill/>
            <a:miter lim="800000"/>
            <a:headEnd/>
            <a:tailEnd/>
          </a:ln>
        </p:spPr>
        <p:txBody>
          <a:bodyPr wrap="square" lIns="0" tIns="0" rIns="0" bIns="0" rtlCol="0" anchor="ctr"/>
          <a:lstStyle/>
          <a:p>
            <a:pPr marL="0" marR="0" lvl="0" indent="0" algn="ctr" defTabSz="914400" eaLnBrk="1" fontAlgn="base" latinLnBrk="0" hangingPunct="1">
              <a:lnSpc>
                <a:spcPct val="106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t>タイムライン</a:t>
            </a:r>
            <a:endParaRPr kumimoji="0" lang="en-US" altLang="ja-JP"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endParaRPr>
          </a:p>
        </p:txBody>
      </p:sp>
      <p:sp>
        <p:nvSpPr>
          <p:cNvPr id="60" name="テキスト ボックス 59">
            <a:extLst>
              <a:ext uri="{FF2B5EF4-FFF2-40B4-BE49-F238E27FC236}">
                <a16:creationId xmlns:a16="http://schemas.microsoft.com/office/drawing/2014/main" id="{22D92499-D7ED-8658-68E5-26FE093AD5FE}"/>
              </a:ext>
            </a:extLst>
          </p:cNvPr>
          <p:cNvSpPr txBox="1"/>
          <p:nvPr/>
        </p:nvSpPr>
        <p:spPr bwMode="gray">
          <a:xfrm>
            <a:off x="5212564" y="4135481"/>
            <a:ext cx="1658471"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b="1">
                <a:solidFill>
                  <a:srgbClr val="26890D"/>
                </a:solidFill>
                <a:latin typeface="Meiryo UI" panose="020B0604030504040204" pitchFamily="50" charset="-128"/>
                <a:ea typeface="Meiryo UI" panose="020B0604030504040204" pitchFamily="50" charset="-128"/>
                <a:cs typeface="Arial" charset="0"/>
              </a:rPr>
              <a:t> </a:t>
            </a:r>
            <a:r>
              <a:rPr kumimoji="1" lang="ja-JP" altLang="en-US" sz="1000" b="1">
                <a:solidFill>
                  <a:srgbClr val="43B02A"/>
                </a:solidFill>
                <a:latin typeface="Meiryo UI" panose="020B0604030504040204" pitchFamily="50" charset="-128"/>
                <a:ea typeface="Meiryo UI" panose="020B0604030504040204" pitchFamily="50" charset="-128"/>
                <a:cs typeface="Arial" charset="0"/>
              </a:rPr>
              <a:t>▼</a:t>
            </a:r>
            <a:r>
              <a:rPr kumimoji="1" lang="en-US" altLang="ja-JP" sz="1000" b="1">
                <a:solidFill>
                  <a:prstClr val="black"/>
                </a:solidFill>
                <a:latin typeface="Meiryo UI" panose="020B0604030504040204" pitchFamily="50" charset="-128"/>
                <a:ea typeface="Meiryo UI" panose="020B0604030504040204" pitchFamily="50" charset="-128"/>
                <a:cs typeface="Arial" charset="0"/>
              </a:rPr>
              <a:t>SSBJ</a:t>
            </a:r>
            <a:r>
              <a:rPr kumimoji="1" lang="ja-JP" altLang="en-US" sz="1000" b="1">
                <a:solidFill>
                  <a:prstClr val="black"/>
                </a:solidFill>
                <a:latin typeface="Meiryo UI" panose="020B0604030504040204" pitchFamily="50" charset="-128"/>
                <a:ea typeface="Meiryo UI" panose="020B0604030504040204" pitchFamily="50" charset="-128"/>
                <a:cs typeface="Arial" charset="0"/>
              </a:rPr>
              <a:t>システム環境分</a:t>
            </a:r>
            <a:br>
              <a:rPr kumimoji="1" lang="en-US" altLang="ja-JP" sz="1000" b="1">
                <a:solidFill>
                  <a:prstClr val="black"/>
                </a:solidFill>
                <a:latin typeface="Meiryo UI" panose="020B0604030504040204" pitchFamily="50" charset="-128"/>
                <a:ea typeface="Meiryo UI" panose="020B0604030504040204" pitchFamily="50" charset="-128"/>
                <a:cs typeface="Arial" charset="0"/>
              </a:rPr>
            </a:br>
            <a:r>
              <a:rPr kumimoji="1" lang="ja-JP" altLang="en-US" sz="1000" b="1">
                <a:solidFill>
                  <a:prstClr val="black"/>
                </a:solidFill>
                <a:latin typeface="Meiryo UI" panose="020B0604030504040204" pitchFamily="50" charset="-128"/>
                <a:ea typeface="Meiryo UI" panose="020B0604030504040204" pitchFamily="50" charset="-128"/>
                <a:cs typeface="Arial" charset="0"/>
              </a:rPr>
              <a:t>　先行稼働（７月末）</a:t>
            </a:r>
            <a:endParaRPr kumimoji="1" lang="en-US" altLang="ja-JP" sz="1000" b="1">
              <a:solidFill>
                <a:prstClr val="black"/>
              </a:solidFill>
              <a:latin typeface="Meiryo UI" panose="020B0604030504040204" pitchFamily="50" charset="-128"/>
              <a:ea typeface="Meiryo UI" panose="020B0604030504040204" pitchFamily="50" charset="-128"/>
              <a:cs typeface="Arial" charset="0"/>
            </a:endParaRPr>
          </a:p>
        </p:txBody>
      </p:sp>
      <p:grpSp>
        <p:nvGrpSpPr>
          <p:cNvPr id="61" name="グループ化 60">
            <a:extLst>
              <a:ext uri="{FF2B5EF4-FFF2-40B4-BE49-F238E27FC236}">
                <a16:creationId xmlns:a16="http://schemas.microsoft.com/office/drawing/2014/main" id="{2AE04C18-3FB3-156B-BDA8-8EB677656D42}"/>
              </a:ext>
            </a:extLst>
          </p:cNvPr>
          <p:cNvGrpSpPr/>
          <p:nvPr/>
        </p:nvGrpSpPr>
        <p:grpSpPr>
          <a:xfrm>
            <a:off x="7349380" y="1184547"/>
            <a:ext cx="1728703" cy="227437"/>
            <a:chOff x="7694380" y="1184547"/>
            <a:chExt cx="1728703" cy="227437"/>
          </a:xfrm>
        </p:grpSpPr>
        <p:sp>
          <p:nvSpPr>
            <p:cNvPr id="62" name="Rectangle 13">
              <a:extLst>
                <a:ext uri="{FF2B5EF4-FFF2-40B4-BE49-F238E27FC236}">
                  <a16:creationId xmlns:a16="http://schemas.microsoft.com/office/drawing/2014/main" id="{452FF31D-B48C-EBC5-D914-A2204AE2D5ED}"/>
                </a:ext>
              </a:extLst>
            </p:cNvPr>
            <p:cNvSpPr/>
            <p:nvPr/>
          </p:nvSpPr>
          <p:spPr bwMode="gray">
            <a:xfrm>
              <a:off x="7694380" y="1184547"/>
              <a:ext cx="828000" cy="216000"/>
            </a:xfrm>
            <a:prstGeom prst="rect">
              <a:avLst/>
            </a:prstGeom>
            <a:solidFill>
              <a:srgbClr val="007CB0">
                <a:lumMod val="20000"/>
                <a:lumOff val="80000"/>
              </a:srgbClr>
            </a:solidFill>
            <a:ln w="12700" algn="ctr">
              <a:noFill/>
              <a:miter lim="800000"/>
              <a:headEnd/>
              <a:tailEnd/>
            </a:ln>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10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業務検討</a:t>
              </a:r>
              <a:endParaRPr kumimoji="1" lang="en-US" altLang="ja-JP" sz="10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63" name="Rectangle 13">
              <a:extLst>
                <a:ext uri="{FF2B5EF4-FFF2-40B4-BE49-F238E27FC236}">
                  <a16:creationId xmlns:a16="http://schemas.microsoft.com/office/drawing/2014/main" id="{049EA2E6-C9E6-17E5-41CF-3314A17E4FD4}"/>
                </a:ext>
              </a:extLst>
            </p:cNvPr>
            <p:cNvSpPr/>
            <p:nvPr/>
          </p:nvSpPr>
          <p:spPr bwMode="gray">
            <a:xfrm>
              <a:off x="8595083" y="1195984"/>
              <a:ext cx="828000" cy="216000"/>
            </a:xfrm>
            <a:prstGeom prst="rect">
              <a:avLst/>
            </a:prstGeom>
            <a:gradFill>
              <a:gsLst>
                <a:gs pos="48000">
                  <a:srgbClr val="86BC25"/>
                </a:gs>
                <a:gs pos="50000">
                  <a:srgbClr val="86BC25"/>
                </a:gs>
                <a:gs pos="50000">
                  <a:srgbClr val="26890D"/>
                </a:gs>
              </a:gsLst>
              <a:lin ang="1200000" scaled="0"/>
            </a:gradFill>
            <a:ln w="19050" algn="ctr">
              <a:noFill/>
              <a:miter lim="800000"/>
              <a:headEnd/>
              <a:tailEnd/>
            </a:ln>
          </p:spPr>
          <p:txBody>
            <a:bodyPr wrap="square" lIns="0" tIns="0" rIns="0" bIns="0" rtlCol="0" anchor="ctr"/>
            <a:lstStyle/>
            <a:p>
              <a:pPr marL="0" marR="0" lvl="0" indent="0" algn="ctr" defTabSz="914400" eaLnBrk="1" fontAlgn="base" latinLnBrk="0" hangingPunct="1">
                <a:lnSpc>
                  <a:spcPct val="106000"/>
                </a:lnSpc>
                <a:spcBef>
                  <a:spcPct val="0"/>
                </a:spcBef>
                <a:spcAft>
                  <a:spcPct val="0"/>
                </a:spcAft>
                <a:buClrTx/>
                <a:buSzTx/>
                <a:buFontTx/>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t>システム対応</a:t>
              </a:r>
              <a:endParaRPr kumimoji="0" lang="en-US" altLang="ja-JP"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endParaRPr>
            </a:p>
          </p:txBody>
        </p:sp>
      </p:grpSp>
      <p:sp>
        <p:nvSpPr>
          <p:cNvPr id="65" name="Rectangle 13">
            <a:extLst>
              <a:ext uri="{FF2B5EF4-FFF2-40B4-BE49-F238E27FC236}">
                <a16:creationId xmlns:a16="http://schemas.microsoft.com/office/drawing/2014/main" id="{E2B28175-1F28-469E-E32F-A0B806DC31B3}"/>
              </a:ext>
            </a:extLst>
          </p:cNvPr>
          <p:cNvSpPr/>
          <p:nvPr/>
        </p:nvSpPr>
        <p:spPr bwMode="gray">
          <a:xfrm>
            <a:off x="34156" y="4284991"/>
            <a:ext cx="1038844" cy="1943082"/>
          </a:xfrm>
          <a:prstGeom prst="rect">
            <a:avLst/>
          </a:prstGeom>
          <a:solidFill>
            <a:srgbClr val="86BC25"/>
          </a:solidFill>
          <a:ln w="19050" algn="ctr">
            <a:noFill/>
            <a:miter lim="800000"/>
            <a:headEnd/>
            <a:tailEnd/>
          </a:ln>
        </p:spPr>
        <p:txBody>
          <a:bodyPr wrap="square" lIns="0" tIns="0" rIns="0" bIns="0" rtlCol="0" anchor="ctr"/>
          <a:lstStyle/>
          <a:p>
            <a:pPr marL="0" marR="0" lvl="0" indent="0" algn="ctr" defTabSz="914400" eaLnBrk="1" fontAlgn="base" latinLnBrk="0" hangingPunct="1">
              <a:lnSpc>
                <a:spcPct val="106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t>システム</a:t>
            </a:r>
            <a:br>
              <a:rPr kumimoji="0" lang="en-US" altLang="ja-JP"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br>
            <a:r>
              <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t>対応</a:t>
            </a:r>
          </a:p>
        </p:txBody>
      </p:sp>
      <p:sp>
        <p:nvSpPr>
          <p:cNvPr id="66" name="矢印: 五方向 65">
            <a:extLst>
              <a:ext uri="{FF2B5EF4-FFF2-40B4-BE49-F238E27FC236}">
                <a16:creationId xmlns:a16="http://schemas.microsoft.com/office/drawing/2014/main" id="{63806B3B-BE90-38E5-96F9-2C642FAC0403}"/>
              </a:ext>
            </a:extLst>
          </p:cNvPr>
          <p:cNvSpPr/>
          <p:nvPr/>
        </p:nvSpPr>
        <p:spPr bwMode="gray">
          <a:xfrm>
            <a:off x="2080758" y="4431159"/>
            <a:ext cx="512796" cy="576000"/>
          </a:xfrm>
          <a:prstGeom prst="homePlate">
            <a:avLst>
              <a:gd name="adj" fmla="val 18319"/>
            </a:avLst>
          </a:prstGeom>
          <a:solidFill>
            <a:srgbClr val="86BC25">
              <a:lumMod val="20000"/>
              <a:lumOff val="8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現行</a:t>
            </a:r>
            <a:br>
              <a:rPr kumimoji="1" lang="en-US" altLang="ja-JP" sz="1100" b="1" kern="0">
                <a:solidFill>
                  <a:prstClr val="black"/>
                </a:solidFill>
                <a:latin typeface="Meiryo UI" panose="020B0604030504040204" pitchFamily="50" charset="-128"/>
                <a:ea typeface="Meiryo UI" panose="020B0604030504040204" pitchFamily="50" charset="-128"/>
                <a:cs typeface="Arial" charset="0"/>
              </a:rPr>
            </a:b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調査</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3</a:t>
            </a: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か月</a:t>
            </a:r>
          </a:p>
        </p:txBody>
      </p:sp>
      <p:sp>
        <p:nvSpPr>
          <p:cNvPr id="67" name="矢印: 五方向 66">
            <a:extLst>
              <a:ext uri="{FF2B5EF4-FFF2-40B4-BE49-F238E27FC236}">
                <a16:creationId xmlns:a16="http://schemas.microsoft.com/office/drawing/2014/main" id="{F97CCE43-4C89-3F27-E50A-6EBBD896842A}"/>
              </a:ext>
            </a:extLst>
          </p:cNvPr>
          <p:cNvSpPr/>
          <p:nvPr/>
        </p:nvSpPr>
        <p:spPr bwMode="gray">
          <a:xfrm>
            <a:off x="3790546" y="4443258"/>
            <a:ext cx="553348" cy="837303"/>
          </a:xfrm>
          <a:prstGeom prst="homePlate">
            <a:avLst>
              <a:gd name="adj" fmla="val 18319"/>
            </a:avLst>
          </a:prstGeom>
          <a:solidFill>
            <a:srgbClr val="86BC25">
              <a:lumMod val="20000"/>
              <a:lumOff val="8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システム</a:t>
            </a:r>
            <a:br>
              <a:rPr kumimoji="1" lang="en-US" altLang="ja-JP" sz="1100" b="1" kern="0">
                <a:solidFill>
                  <a:prstClr val="black"/>
                </a:solidFill>
                <a:latin typeface="Meiryo UI" panose="020B0604030504040204" pitchFamily="50" charset="-128"/>
                <a:ea typeface="Meiryo UI" panose="020B0604030504040204" pitchFamily="50" charset="-128"/>
                <a:cs typeface="Arial" charset="0"/>
              </a:rPr>
            </a:b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要件</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定義</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3</a:t>
            </a: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か月</a:t>
            </a:r>
          </a:p>
        </p:txBody>
      </p:sp>
      <p:sp>
        <p:nvSpPr>
          <p:cNvPr id="68" name="矢印: 五方向 67">
            <a:extLst>
              <a:ext uri="{FF2B5EF4-FFF2-40B4-BE49-F238E27FC236}">
                <a16:creationId xmlns:a16="http://schemas.microsoft.com/office/drawing/2014/main" id="{66880AFF-E8B9-AFE6-2E3D-494422DFCA07}"/>
              </a:ext>
            </a:extLst>
          </p:cNvPr>
          <p:cNvSpPr/>
          <p:nvPr/>
        </p:nvSpPr>
        <p:spPr bwMode="gray">
          <a:xfrm>
            <a:off x="2288663" y="5059735"/>
            <a:ext cx="780515" cy="576000"/>
          </a:xfrm>
          <a:prstGeom prst="homePlate">
            <a:avLst>
              <a:gd name="adj" fmla="val 16749"/>
            </a:avLst>
          </a:prstGeom>
          <a:solidFill>
            <a:srgbClr val="86BC25">
              <a:lumMod val="20000"/>
              <a:lumOff val="8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システム</a:t>
            </a:r>
            <a:br>
              <a:rPr kumimoji="1" lang="en-US" altLang="ja-JP" sz="1100" b="1" kern="0">
                <a:solidFill>
                  <a:prstClr val="black"/>
                </a:solidFill>
                <a:latin typeface="Meiryo UI" panose="020B0604030504040204" pitchFamily="50" charset="-128"/>
                <a:ea typeface="Meiryo UI" panose="020B0604030504040204" pitchFamily="50" charset="-128"/>
                <a:cs typeface="Arial" charset="0"/>
              </a:rPr>
            </a:b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構想策定</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5</a:t>
            </a: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か月</a:t>
            </a:r>
          </a:p>
        </p:txBody>
      </p:sp>
      <p:sp>
        <p:nvSpPr>
          <p:cNvPr id="69" name="矢印: 五方向 68">
            <a:extLst>
              <a:ext uri="{FF2B5EF4-FFF2-40B4-BE49-F238E27FC236}">
                <a16:creationId xmlns:a16="http://schemas.microsoft.com/office/drawing/2014/main" id="{C45C9BDA-66C1-78C2-89C9-5D44C0268549}"/>
              </a:ext>
            </a:extLst>
          </p:cNvPr>
          <p:cNvSpPr/>
          <p:nvPr/>
        </p:nvSpPr>
        <p:spPr bwMode="gray">
          <a:xfrm>
            <a:off x="4136440" y="5376410"/>
            <a:ext cx="581793" cy="887895"/>
          </a:xfrm>
          <a:prstGeom prst="homePlate">
            <a:avLst>
              <a:gd name="adj" fmla="val 18319"/>
            </a:avLst>
          </a:prstGeom>
          <a:solidFill>
            <a:srgbClr val="86BC25">
              <a:lumMod val="20000"/>
              <a:lumOff val="8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設定・</a:t>
            </a:r>
            <a:br>
              <a:rPr kumimoji="1" lang="en-US" altLang="ja-JP" sz="1100" b="1" kern="0">
                <a:solidFill>
                  <a:prstClr val="black"/>
                </a:solidFill>
                <a:latin typeface="Meiryo UI" panose="020B0604030504040204" pitchFamily="50" charset="-128"/>
                <a:ea typeface="Meiryo UI" panose="020B0604030504040204" pitchFamily="50" charset="-128"/>
                <a:cs typeface="Arial" charset="0"/>
              </a:rPr>
            </a:b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開発・</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システム</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テスト</a:t>
            </a: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a:t>
            </a:r>
          </a:p>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3~4</a:t>
            </a: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か月</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p:txBody>
      </p:sp>
      <p:sp>
        <p:nvSpPr>
          <p:cNvPr id="70" name="矢印: 五方向 69">
            <a:extLst>
              <a:ext uri="{FF2B5EF4-FFF2-40B4-BE49-F238E27FC236}">
                <a16:creationId xmlns:a16="http://schemas.microsoft.com/office/drawing/2014/main" id="{26342184-DC04-E93B-7F2D-C91CA18CDCDC}"/>
              </a:ext>
            </a:extLst>
          </p:cNvPr>
          <p:cNvSpPr/>
          <p:nvPr/>
        </p:nvSpPr>
        <p:spPr bwMode="gray">
          <a:xfrm>
            <a:off x="4709602" y="4431159"/>
            <a:ext cx="477435" cy="792000"/>
          </a:xfrm>
          <a:prstGeom prst="homePlate">
            <a:avLst>
              <a:gd name="adj" fmla="val 18319"/>
            </a:avLst>
          </a:prstGeom>
          <a:solidFill>
            <a:srgbClr val="86BC25">
              <a:lumMod val="20000"/>
              <a:lumOff val="8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UAT</a:t>
            </a:r>
          </a:p>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2</a:t>
            </a: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か月</a:t>
            </a:r>
          </a:p>
        </p:txBody>
      </p:sp>
      <p:sp>
        <p:nvSpPr>
          <p:cNvPr id="71" name="矢印: 五方向 70">
            <a:extLst>
              <a:ext uri="{FF2B5EF4-FFF2-40B4-BE49-F238E27FC236}">
                <a16:creationId xmlns:a16="http://schemas.microsoft.com/office/drawing/2014/main" id="{C3AF1A68-5B78-B78D-FA4F-5142AFCE1E52}"/>
              </a:ext>
            </a:extLst>
          </p:cNvPr>
          <p:cNvSpPr/>
          <p:nvPr/>
        </p:nvSpPr>
        <p:spPr bwMode="gray">
          <a:xfrm>
            <a:off x="3230520" y="4436097"/>
            <a:ext cx="482069" cy="844464"/>
          </a:xfrm>
          <a:prstGeom prst="homePlate">
            <a:avLst>
              <a:gd name="adj" fmla="val 18319"/>
            </a:avLst>
          </a:prstGeom>
          <a:solidFill>
            <a:srgbClr val="86BC25">
              <a:lumMod val="20000"/>
              <a:lumOff val="8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業務</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要件</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定義</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3</a:t>
            </a: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か月</a:t>
            </a:r>
          </a:p>
        </p:txBody>
      </p:sp>
      <p:sp>
        <p:nvSpPr>
          <p:cNvPr id="72" name="矢印: 五方向 71">
            <a:extLst>
              <a:ext uri="{FF2B5EF4-FFF2-40B4-BE49-F238E27FC236}">
                <a16:creationId xmlns:a16="http://schemas.microsoft.com/office/drawing/2014/main" id="{FF4E414D-99A2-DCD5-D0D4-22CE1EFC6FD8}"/>
              </a:ext>
            </a:extLst>
          </p:cNvPr>
          <p:cNvSpPr/>
          <p:nvPr/>
        </p:nvSpPr>
        <p:spPr bwMode="gray">
          <a:xfrm>
            <a:off x="4865413" y="5299694"/>
            <a:ext cx="408246" cy="792000"/>
          </a:xfrm>
          <a:prstGeom prst="homePlate">
            <a:avLst>
              <a:gd name="adj" fmla="val 18319"/>
            </a:avLst>
          </a:prstGeom>
          <a:solidFill>
            <a:srgbClr val="86BC25">
              <a:lumMod val="20000"/>
              <a:lumOff val="8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教育・</a:t>
            </a:r>
            <a:br>
              <a:rPr kumimoji="1" lang="en-US" altLang="ja-JP" sz="1100" b="1" kern="0">
                <a:solidFill>
                  <a:prstClr val="black"/>
                </a:solidFill>
                <a:latin typeface="Meiryo UI" panose="020B0604030504040204" pitchFamily="50" charset="-128"/>
                <a:ea typeface="Meiryo UI" panose="020B0604030504040204" pitchFamily="50" charset="-128"/>
                <a:cs typeface="Arial" charset="0"/>
              </a:rPr>
            </a:b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移行</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2</a:t>
            </a: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か月</a:t>
            </a:r>
          </a:p>
        </p:txBody>
      </p:sp>
      <p:sp>
        <p:nvSpPr>
          <p:cNvPr id="73" name="矢印: 五方向 72">
            <a:extLst>
              <a:ext uri="{FF2B5EF4-FFF2-40B4-BE49-F238E27FC236}">
                <a16:creationId xmlns:a16="http://schemas.microsoft.com/office/drawing/2014/main" id="{C83105B0-F148-C68F-9A1A-25A53FE4B301}"/>
              </a:ext>
            </a:extLst>
          </p:cNvPr>
          <p:cNvSpPr/>
          <p:nvPr/>
        </p:nvSpPr>
        <p:spPr bwMode="gray">
          <a:xfrm>
            <a:off x="3230520" y="5688310"/>
            <a:ext cx="529445" cy="576000"/>
          </a:xfrm>
          <a:prstGeom prst="homePlate">
            <a:avLst>
              <a:gd name="adj" fmla="val 15179"/>
            </a:avLst>
          </a:prstGeom>
          <a:solidFill>
            <a:srgbClr val="86BC25">
              <a:lumMod val="20000"/>
              <a:lumOff val="8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システム</a:t>
            </a:r>
            <a:br>
              <a:rPr kumimoji="1" lang="en-US" altLang="ja-JP" sz="1100" b="1" kern="0">
                <a:solidFill>
                  <a:prstClr val="black"/>
                </a:solidFill>
                <a:latin typeface="Meiryo UI" panose="020B0604030504040204" pitchFamily="50" charset="-128"/>
                <a:ea typeface="Meiryo UI" panose="020B0604030504040204" pitchFamily="50" charset="-128"/>
                <a:cs typeface="Arial" charset="0"/>
              </a:rPr>
            </a:b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選定</a:t>
            </a:r>
            <a:endParaRPr kumimoji="1" lang="en-US" altLang="ja-JP" sz="1100" b="1" kern="0">
              <a:solidFill>
                <a:prstClr val="black"/>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en-US" altLang="ja-JP" sz="1100" b="1" kern="0">
                <a:solidFill>
                  <a:prstClr val="black"/>
                </a:solidFill>
                <a:latin typeface="Meiryo UI" panose="020B0604030504040204" pitchFamily="50" charset="-128"/>
                <a:ea typeface="Meiryo UI" panose="020B0604030504040204" pitchFamily="50" charset="-128"/>
                <a:cs typeface="Arial" charset="0"/>
              </a:rPr>
              <a:t>3</a:t>
            </a:r>
            <a:r>
              <a:rPr kumimoji="1" lang="ja-JP" altLang="en-US" sz="1100" b="1" kern="0">
                <a:solidFill>
                  <a:prstClr val="black"/>
                </a:solidFill>
                <a:latin typeface="Meiryo UI" panose="020B0604030504040204" pitchFamily="50" charset="-128"/>
                <a:ea typeface="Meiryo UI" panose="020B0604030504040204" pitchFamily="50" charset="-128"/>
                <a:cs typeface="Arial" charset="0"/>
              </a:rPr>
              <a:t>か月</a:t>
            </a:r>
          </a:p>
        </p:txBody>
      </p:sp>
      <p:sp>
        <p:nvSpPr>
          <p:cNvPr id="74" name="矢印: 五方向 73">
            <a:extLst>
              <a:ext uri="{FF2B5EF4-FFF2-40B4-BE49-F238E27FC236}">
                <a16:creationId xmlns:a16="http://schemas.microsoft.com/office/drawing/2014/main" id="{F39A2D44-0862-77C6-2CAF-862A52FE7764}"/>
              </a:ext>
            </a:extLst>
          </p:cNvPr>
          <p:cNvSpPr/>
          <p:nvPr/>
        </p:nvSpPr>
        <p:spPr bwMode="gray">
          <a:xfrm>
            <a:off x="2214653" y="3405214"/>
            <a:ext cx="631572" cy="478156"/>
          </a:xfrm>
          <a:prstGeom prst="homePlate">
            <a:avLst>
              <a:gd name="adj" fmla="val 18319"/>
            </a:avLst>
          </a:prstGeom>
          <a:solidFill>
            <a:srgbClr val="007CB0">
              <a:lumMod val="20000"/>
              <a:lumOff val="80000"/>
            </a:srgbClr>
          </a:solidFill>
          <a:ln w="12700" algn="ctr">
            <a:noFill/>
            <a:miter lim="800000"/>
            <a:headEnd/>
            <a:tailEnd/>
          </a:ln>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業務フロー把握・</a:t>
            </a:r>
            <a:r>
              <a:rPr kumimoji="1" lang="en-US" altLang="ja-JP" sz="800" b="1" i="0" u="none" strike="noStrike" kern="1200" cap="none" spc="0" normalizeH="0" baseline="0" noProof="0" err="1">
                <a:ln>
                  <a:noFill/>
                </a:ln>
                <a:solidFill>
                  <a:prstClr val="black"/>
                </a:solidFill>
                <a:effectLst/>
                <a:uLnTx/>
                <a:uFillTx/>
                <a:latin typeface="Meiryo UI" panose="020B0604030504040204" pitchFamily="50" charset="-128"/>
                <a:ea typeface="Meiryo UI" panose="020B0604030504040204" pitchFamily="50" charset="-128"/>
              </a:rPr>
              <a:t>ToBe</a:t>
            </a:r>
            <a:r>
              <a:rPr kumimoji="1" lang="ja-JP" altLang="en-US"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案</a:t>
            </a:r>
            <a:endParaRPr kumimoji="1" lang="en-US" altLang="ja-JP"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役割・権限・責任</a:t>
            </a:r>
          </a:p>
        </p:txBody>
      </p:sp>
      <p:sp>
        <p:nvSpPr>
          <p:cNvPr id="75" name="矢印: 五方向 74">
            <a:extLst>
              <a:ext uri="{FF2B5EF4-FFF2-40B4-BE49-F238E27FC236}">
                <a16:creationId xmlns:a16="http://schemas.microsoft.com/office/drawing/2014/main" id="{8E2B99D3-688E-ADAB-1F3A-C57C3DC70386}"/>
              </a:ext>
            </a:extLst>
          </p:cNvPr>
          <p:cNvSpPr/>
          <p:nvPr/>
        </p:nvSpPr>
        <p:spPr bwMode="gray">
          <a:xfrm>
            <a:off x="2870713" y="2725459"/>
            <a:ext cx="2381554" cy="1198983"/>
          </a:xfrm>
          <a:prstGeom prst="homePlate">
            <a:avLst>
              <a:gd name="adj" fmla="val 18319"/>
            </a:avLst>
          </a:prstGeom>
          <a:solidFill>
            <a:srgbClr val="007CB0">
              <a:lumMod val="20000"/>
              <a:lumOff val="80000"/>
            </a:srgbClr>
          </a:solidFill>
          <a:ln w="12700" algn="ctr">
            <a:noFill/>
            <a:miter lim="800000"/>
            <a:headEnd/>
            <a:tailEnd/>
          </a:ln>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10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内部統制プロセス整備</a:t>
            </a:r>
          </a:p>
        </p:txBody>
      </p:sp>
      <p:cxnSp>
        <p:nvCxnSpPr>
          <p:cNvPr id="76" name="コネクタ: カギ線 75">
            <a:extLst>
              <a:ext uri="{FF2B5EF4-FFF2-40B4-BE49-F238E27FC236}">
                <a16:creationId xmlns:a16="http://schemas.microsoft.com/office/drawing/2014/main" id="{03A27491-113C-DE8D-71B7-EB15735EE581}"/>
              </a:ext>
            </a:extLst>
          </p:cNvPr>
          <p:cNvCxnSpPr>
            <a:cxnSpLocks/>
            <a:stCxn id="74" idx="2"/>
            <a:endCxn id="71" idx="0"/>
          </p:cNvCxnSpPr>
          <p:nvPr/>
        </p:nvCxnSpPr>
        <p:spPr bwMode="gray">
          <a:xfrm rot="16200000" flipH="1">
            <a:off x="2680657" y="3689354"/>
            <a:ext cx="552727" cy="940757"/>
          </a:xfrm>
          <a:prstGeom prst="bentConnector3">
            <a:avLst>
              <a:gd name="adj1" fmla="val 50000"/>
            </a:avLst>
          </a:prstGeom>
          <a:noFill/>
          <a:ln w="15875" cap="flat" cmpd="sng" algn="ctr">
            <a:solidFill>
              <a:srgbClr val="007CB0"/>
            </a:solidFill>
            <a:prstDash val="solid"/>
            <a:tailEnd type="triangle"/>
          </a:ln>
          <a:effectLst/>
        </p:spPr>
      </p:cxnSp>
      <p:cxnSp>
        <p:nvCxnSpPr>
          <p:cNvPr id="77" name="コネクタ: カギ線 76">
            <a:extLst>
              <a:ext uri="{FF2B5EF4-FFF2-40B4-BE49-F238E27FC236}">
                <a16:creationId xmlns:a16="http://schemas.microsoft.com/office/drawing/2014/main" id="{62984837-CC8E-EA85-1CDA-FFDB80F52A42}"/>
              </a:ext>
            </a:extLst>
          </p:cNvPr>
          <p:cNvCxnSpPr>
            <a:cxnSpLocks/>
          </p:cNvCxnSpPr>
          <p:nvPr/>
        </p:nvCxnSpPr>
        <p:spPr bwMode="gray">
          <a:xfrm rot="5400000">
            <a:off x="3253316" y="4181957"/>
            <a:ext cx="498405" cy="1"/>
          </a:xfrm>
          <a:prstGeom prst="bentConnector3">
            <a:avLst>
              <a:gd name="adj1" fmla="val 50000"/>
            </a:avLst>
          </a:prstGeom>
          <a:noFill/>
          <a:ln w="15875" cap="flat" cmpd="sng" algn="ctr">
            <a:solidFill>
              <a:srgbClr val="007CB0"/>
            </a:solidFill>
            <a:prstDash val="solid"/>
            <a:tailEnd type="triangle"/>
          </a:ln>
          <a:effectLst/>
        </p:spPr>
      </p:cxnSp>
      <p:sp>
        <p:nvSpPr>
          <p:cNvPr id="79" name="テキスト ボックス 78">
            <a:extLst>
              <a:ext uri="{FF2B5EF4-FFF2-40B4-BE49-F238E27FC236}">
                <a16:creationId xmlns:a16="http://schemas.microsoft.com/office/drawing/2014/main" id="{9BF9E818-D3BE-5F39-961B-F0C3975AF23B}"/>
              </a:ext>
            </a:extLst>
          </p:cNvPr>
          <p:cNvSpPr txBox="1"/>
          <p:nvPr/>
        </p:nvSpPr>
        <p:spPr bwMode="gray">
          <a:xfrm>
            <a:off x="4338665" y="2440603"/>
            <a:ext cx="1471456"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b="1">
                <a:solidFill>
                  <a:srgbClr val="86BC25"/>
                </a:solidFill>
                <a:latin typeface="Meiryo UI" panose="020B0604030504040204" pitchFamily="50" charset="-128"/>
                <a:ea typeface="Meiryo UI" panose="020B0604030504040204" pitchFamily="50" charset="-128"/>
                <a:cs typeface="Arial" charset="0"/>
              </a:rPr>
              <a:t> </a:t>
            </a:r>
            <a:r>
              <a:rPr kumimoji="1" lang="ja-JP" altLang="en-US" sz="1000" b="1">
                <a:solidFill>
                  <a:srgbClr val="007CB0"/>
                </a:solidFill>
                <a:latin typeface="Meiryo UI" panose="020B0604030504040204" pitchFamily="50" charset="-128"/>
                <a:ea typeface="Meiryo UI" panose="020B0604030504040204" pitchFamily="50" charset="-128"/>
                <a:cs typeface="Arial" charset="0"/>
              </a:rPr>
              <a:t>▼</a:t>
            </a:r>
            <a:r>
              <a:rPr kumimoji="1" lang="ja-JP" altLang="en-US" sz="1000" b="1">
                <a:solidFill>
                  <a:prstClr val="black"/>
                </a:solidFill>
                <a:latin typeface="Meiryo UI" panose="020B0604030504040204" pitchFamily="50" charset="-128"/>
                <a:ea typeface="Meiryo UI" panose="020B0604030504040204" pitchFamily="50" charset="-128"/>
                <a:cs typeface="Arial" charset="0"/>
              </a:rPr>
              <a:t>中期経営計画確定</a:t>
            </a:r>
            <a:br>
              <a:rPr kumimoji="1" lang="en-US" altLang="ja-JP" sz="1000" b="1">
                <a:solidFill>
                  <a:prstClr val="black"/>
                </a:solidFill>
                <a:latin typeface="Meiryo UI" panose="020B0604030504040204" pitchFamily="50" charset="-128"/>
                <a:ea typeface="Meiryo UI" panose="020B0604030504040204" pitchFamily="50" charset="-128"/>
                <a:cs typeface="Arial" charset="0"/>
              </a:rPr>
            </a:br>
            <a:r>
              <a:rPr kumimoji="1" lang="ja-JP" altLang="en-US" sz="1000" b="1">
                <a:solidFill>
                  <a:prstClr val="black"/>
                </a:solidFill>
                <a:latin typeface="Meiryo UI" panose="020B0604030504040204" pitchFamily="50" charset="-128"/>
                <a:ea typeface="Meiryo UI" panose="020B0604030504040204" pitchFamily="50" charset="-128"/>
                <a:cs typeface="Arial" charset="0"/>
              </a:rPr>
              <a:t>　</a:t>
            </a:r>
            <a:r>
              <a:rPr kumimoji="1" lang="en-US" altLang="ja-JP" sz="1000" b="1">
                <a:solidFill>
                  <a:prstClr val="black"/>
                </a:solidFill>
                <a:latin typeface="Meiryo UI" panose="020B0604030504040204" pitchFamily="50" charset="-128"/>
                <a:ea typeface="Meiryo UI" panose="020B0604030504040204" pitchFamily="50" charset="-128"/>
                <a:cs typeface="Arial" charset="0"/>
              </a:rPr>
              <a:t>※</a:t>
            </a:r>
            <a:r>
              <a:rPr kumimoji="1" lang="ja-JP" altLang="en-US" sz="1000" b="1">
                <a:solidFill>
                  <a:prstClr val="black"/>
                </a:solidFill>
                <a:latin typeface="Meiryo UI" panose="020B0604030504040204" pitchFamily="50" charset="-128"/>
                <a:ea typeface="Meiryo UI" panose="020B0604030504040204" pitchFamily="50" charset="-128"/>
                <a:cs typeface="Arial" charset="0"/>
              </a:rPr>
              <a:t>開示対象項目の特定</a:t>
            </a:r>
            <a:endParaRPr kumimoji="1" lang="en-US" altLang="ja-JP" sz="1000" b="1">
              <a:solidFill>
                <a:prstClr val="black"/>
              </a:solidFill>
              <a:latin typeface="Meiryo UI" panose="020B0604030504040204" pitchFamily="50" charset="-128"/>
              <a:ea typeface="Meiryo UI" panose="020B0604030504040204" pitchFamily="50" charset="-128"/>
              <a:cs typeface="Arial" charset="0"/>
            </a:endParaRPr>
          </a:p>
        </p:txBody>
      </p:sp>
      <p:cxnSp>
        <p:nvCxnSpPr>
          <p:cNvPr id="80" name="直線矢印コネクタ 79">
            <a:extLst>
              <a:ext uri="{FF2B5EF4-FFF2-40B4-BE49-F238E27FC236}">
                <a16:creationId xmlns:a16="http://schemas.microsoft.com/office/drawing/2014/main" id="{03E64C2B-F112-EE92-24BC-7B668F484D2B}"/>
              </a:ext>
            </a:extLst>
          </p:cNvPr>
          <p:cNvCxnSpPr>
            <a:cxnSpLocks/>
          </p:cNvCxnSpPr>
          <p:nvPr/>
        </p:nvCxnSpPr>
        <p:spPr bwMode="gray">
          <a:xfrm>
            <a:off x="2890105" y="4094451"/>
            <a:ext cx="2322459" cy="4422"/>
          </a:xfrm>
          <a:prstGeom prst="straightConnector1">
            <a:avLst/>
          </a:prstGeom>
          <a:noFill/>
          <a:ln w="28575" cap="flat" cmpd="sng" algn="ctr">
            <a:solidFill>
              <a:srgbClr val="53565A"/>
            </a:solidFill>
            <a:prstDash val="solid"/>
            <a:headEnd type="triangle"/>
            <a:tailEnd type="triangle"/>
          </a:ln>
          <a:effectLst/>
        </p:spPr>
      </p:cxnSp>
      <p:sp>
        <p:nvSpPr>
          <p:cNvPr id="81" name="テキスト ボックス 80">
            <a:extLst>
              <a:ext uri="{FF2B5EF4-FFF2-40B4-BE49-F238E27FC236}">
                <a16:creationId xmlns:a16="http://schemas.microsoft.com/office/drawing/2014/main" id="{1CCC0167-1CD8-FA5F-07D6-C1B23EBDC4ED}"/>
              </a:ext>
            </a:extLst>
          </p:cNvPr>
          <p:cNvSpPr txBox="1"/>
          <p:nvPr/>
        </p:nvSpPr>
        <p:spPr bwMode="gray">
          <a:xfrm>
            <a:off x="3545416" y="3941214"/>
            <a:ext cx="718740" cy="184666"/>
          </a:xfrm>
          <a:prstGeom prst="rect">
            <a:avLst/>
          </a:prstGeom>
          <a:solidFill>
            <a:sysClr val="window" lastClr="FFFFFF"/>
          </a:solidFill>
        </p:spPr>
        <p:txBody>
          <a:bodyPr wrap="square" lIns="0" tIns="0" rIns="0" bIns="0" rtlCol="0" anchor="ctr">
            <a:sp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1" kern="0">
                <a:solidFill>
                  <a:prstClr val="black"/>
                </a:solidFill>
                <a:latin typeface="Meiryo UI" panose="020B0604030504040204" pitchFamily="50" charset="-128"/>
                <a:ea typeface="Meiryo UI" panose="020B0604030504040204" pitchFamily="50" charset="-128"/>
                <a:cs typeface="Arial" charset="0"/>
              </a:rPr>
              <a:t>Wave1</a:t>
            </a:r>
            <a:r>
              <a:rPr kumimoji="1" lang="en-US" altLang="ja-JP" sz="1200" b="1" kern="0" baseline="30000">
                <a:solidFill>
                  <a:prstClr val="black"/>
                </a:solidFill>
                <a:latin typeface="Meiryo UI" panose="020B0604030504040204" pitchFamily="50" charset="-128"/>
                <a:ea typeface="Meiryo UI" panose="020B0604030504040204" pitchFamily="50" charset="-128"/>
                <a:cs typeface="Arial" charset="0"/>
              </a:rPr>
              <a:t>※</a:t>
            </a:r>
            <a:endParaRPr kumimoji="1" lang="ja-JP" altLang="en-US" sz="1200" b="1" i="0" u="none" strike="noStrike" kern="0" cap="none" spc="0" normalizeH="0" baseline="3000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82" name="吹き出し: 四角形 81">
            <a:extLst>
              <a:ext uri="{FF2B5EF4-FFF2-40B4-BE49-F238E27FC236}">
                <a16:creationId xmlns:a16="http://schemas.microsoft.com/office/drawing/2014/main" id="{557E2494-0057-DD15-2CE9-D94295C4398A}"/>
              </a:ext>
            </a:extLst>
          </p:cNvPr>
          <p:cNvSpPr/>
          <p:nvPr/>
        </p:nvSpPr>
        <p:spPr bwMode="gray">
          <a:xfrm>
            <a:off x="6077206" y="3255042"/>
            <a:ext cx="1132408" cy="468000"/>
          </a:xfrm>
          <a:prstGeom prst="wedgeRectCallout">
            <a:avLst>
              <a:gd name="adj1" fmla="val -55320"/>
              <a:gd name="adj2" fmla="val -47760"/>
            </a:avLst>
          </a:prstGeom>
          <a:solidFill>
            <a:sysClr val="window" lastClr="FFFFFF">
              <a:lumMod val="95000"/>
            </a:sysClr>
          </a:solidFill>
          <a:ln w="19050" cap="rnd" algn="ctr">
            <a:solidFill>
              <a:srgbClr val="26890D"/>
            </a:solidFill>
            <a:miter lim="800000"/>
            <a:headEnd/>
            <a:tailEnd/>
          </a:ln>
          <a:effectLst/>
        </p:spPr>
        <p:txBody>
          <a:bodyPr wrap="none" lIns="72000" tIns="72000" rIns="72000" bIns="72000" rtlCol="0" anchor="ctr"/>
          <a:lstStyle/>
          <a:p>
            <a:pPr marL="0" marR="0" lvl="0" indent="0" algn="ctr" defTabSz="914400" eaLnBrk="1" fontAlgn="base" latinLnBrk="0" hangingPunct="1">
              <a:lnSpc>
                <a:spcPct val="110000"/>
              </a:lnSpc>
              <a:spcBef>
                <a:spcPct val="0"/>
              </a:spcBef>
              <a:spcAft>
                <a:spcPct val="0"/>
              </a:spcAft>
              <a:buClrTx/>
              <a:buSzTx/>
              <a:buFontTx/>
              <a:buNone/>
              <a:tabLst/>
              <a:defRPr/>
            </a:pP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27</a:t>
            </a: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年</a:t>
            </a: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3</a:t>
            </a: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月期の</a:t>
            </a: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GHG</a:t>
            </a:r>
            <a:b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b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開示に活用</a:t>
            </a:r>
          </a:p>
        </p:txBody>
      </p:sp>
      <p:sp>
        <p:nvSpPr>
          <p:cNvPr id="83" name="矢印: 五方向 82">
            <a:extLst>
              <a:ext uri="{FF2B5EF4-FFF2-40B4-BE49-F238E27FC236}">
                <a16:creationId xmlns:a16="http://schemas.microsoft.com/office/drawing/2014/main" id="{BB4EE915-4BEA-78B1-FC75-9281EFEE5232}"/>
              </a:ext>
            </a:extLst>
          </p:cNvPr>
          <p:cNvSpPr/>
          <p:nvPr/>
        </p:nvSpPr>
        <p:spPr bwMode="gray">
          <a:xfrm>
            <a:off x="5291573" y="4436097"/>
            <a:ext cx="408246" cy="844464"/>
          </a:xfrm>
          <a:prstGeom prst="homePlate">
            <a:avLst>
              <a:gd name="adj" fmla="val 18319"/>
            </a:avLst>
          </a:prstGeom>
          <a:solidFill>
            <a:srgbClr val="86BC25">
              <a:lumMod val="40000"/>
              <a:lumOff val="6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業務</a:t>
            </a:r>
            <a:endPar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要件</a:t>
            </a:r>
            <a:endPar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定義</a:t>
            </a:r>
            <a:endPar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en-US" altLang="ja-JP"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2</a:t>
            </a:r>
            <a:r>
              <a:rPr kumimoji="1" lang="ja-JP" altLang="en-US"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か月</a:t>
            </a:r>
          </a:p>
        </p:txBody>
      </p:sp>
      <p:cxnSp>
        <p:nvCxnSpPr>
          <p:cNvPr id="84" name="コネクタ: カギ線 83">
            <a:extLst>
              <a:ext uri="{FF2B5EF4-FFF2-40B4-BE49-F238E27FC236}">
                <a16:creationId xmlns:a16="http://schemas.microsoft.com/office/drawing/2014/main" id="{AB279B60-8052-B858-2B64-7C44601F1109}"/>
              </a:ext>
            </a:extLst>
          </p:cNvPr>
          <p:cNvCxnSpPr>
            <a:cxnSpLocks/>
          </p:cNvCxnSpPr>
          <p:nvPr/>
        </p:nvCxnSpPr>
        <p:spPr bwMode="gray">
          <a:xfrm rot="16200000" flipH="1">
            <a:off x="4094303" y="3239152"/>
            <a:ext cx="1846543" cy="819151"/>
          </a:xfrm>
          <a:prstGeom prst="bentConnector3">
            <a:avLst>
              <a:gd name="adj1" fmla="val 19050"/>
            </a:avLst>
          </a:prstGeom>
          <a:noFill/>
          <a:ln w="15875" cap="flat" cmpd="sng" algn="ctr">
            <a:solidFill>
              <a:srgbClr val="007CB0"/>
            </a:solidFill>
            <a:prstDash val="solid"/>
            <a:tailEnd type="triangle"/>
          </a:ln>
          <a:effectLst/>
        </p:spPr>
      </p:cxnSp>
      <p:sp>
        <p:nvSpPr>
          <p:cNvPr id="85" name="吹き出し: 四角形 84">
            <a:extLst>
              <a:ext uri="{FF2B5EF4-FFF2-40B4-BE49-F238E27FC236}">
                <a16:creationId xmlns:a16="http://schemas.microsoft.com/office/drawing/2014/main" id="{E3CE3F6A-111D-2F34-BE5F-1C5F5720B4BD}"/>
              </a:ext>
            </a:extLst>
          </p:cNvPr>
          <p:cNvSpPr/>
          <p:nvPr/>
        </p:nvSpPr>
        <p:spPr bwMode="gray">
          <a:xfrm>
            <a:off x="4072826" y="3515701"/>
            <a:ext cx="1132408" cy="468000"/>
          </a:xfrm>
          <a:prstGeom prst="wedgeRectCallout">
            <a:avLst>
              <a:gd name="adj1" fmla="val 30659"/>
              <a:gd name="adj2" fmla="val -132836"/>
            </a:avLst>
          </a:prstGeom>
          <a:solidFill>
            <a:sysClr val="window" lastClr="FFFFFF">
              <a:lumMod val="95000"/>
            </a:sysClr>
          </a:solidFill>
          <a:ln w="19050" cap="rnd" algn="ctr">
            <a:solidFill>
              <a:srgbClr val="26890D"/>
            </a:solidFill>
            <a:miter lim="800000"/>
            <a:headEnd/>
            <a:tailEnd/>
          </a:ln>
          <a:effectLst/>
        </p:spPr>
        <p:txBody>
          <a:bodyPr wrap="none" lIns="72000" tIns="72000" rIns="72000" bIns="72000" rtlCol="0" anchor="ctr"/>
          <a:lstStyle/>
          <a:p>
            <a:pPr marL="0" marR="0" lvl="0" indent="0" algn="ctr" defTabSz="914400" eaLnBrk="1" fontAlgn="base" latinLnBrk="0" hangingPunct="1">
              <a:lnSpc>
                <a:spcPct val="110000"/>
              </a:lnSpc>
              <a:spcBef>
                <a:spcPct val="0"/>
              </a:spcBef>
              <a:spcAft>
                <a:spcPct val="0"/>
              </a:spcAft>
              <a:buClrTx/>
              <a:buSzTx/>
              <a:buFontTx/>
              <a:buNone/>
              <a:tabLst/>
              <a:defRPr/>
            </a:pP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GHG</a:t>
            </a: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以外の</a:t>
            </a: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SSBJ</a:t>
            </a: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開示</a:t>
            </a:r>
            <a:endPar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14400" eaLnBrk="1" fontAlgn="base" latinLnBrk="0" hangingPunct="1">
              <a:lnSpc>
                <a:spcPct val="110000"/>
              </a:lnSpc>
              <a:spcBef>
                <a:spcPct val="0"/>
              </a:spcBef>
              <a:spcAft>
                <a:spcPct val="0"/>
              </a:spcAft>
              <a:buClrTx/>
              <a:buSzTx/>
              <a:buFontTx/>
              <a:buNone/>
              <a:tabLst/>
              <a:defRPr/>
            </a:pP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項目が確定次第、</a:t>
            </a:r>
            <a:b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b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Wave2</a:t>
            </a: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に着手</a:t>
            </a:r>
            <a:endPar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86" name="矢印: 五方向 85">
            <a:extLst>
              <a:ext uri="{FF2B5EF4-FFF2-40B4-BE49-F238E27FC236}">
                <a16:creationId xmlns:a16="http://schemas.microsoft.com/office/drawing/2014/main" id="{A8970F3B-6E49-26B4-A036-CD8C5FFBF0EF}"/>
              </a:ext>
            </a:extLst>
          </p:cNvPr>
          <p:cNvSpPr/>
          <p:nvPr/>
        </p:nvSpPr>
        <p:spPr bwMode="gray">
          <a:xfrm>
            <a:off x="5523249" y="5331157"/>
            <a:ext cx="553348" cy="933152"/>
          </a:xfrm>
          <a:prstGeom prst="homePlate">
            <a:avLst>
              <a:gd name="adj" fmla="val 18319"/>
            </a:avLst>
          </a:prstGeom>
          <a:solidFill>
            <a:srgbClr val="86BC25">
              <a:lumMod val="40000"/>
              <a:lumOff val="6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システム</a:t>
            </a:r>
            <a:br>
              <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b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要件</a:t>
            </a:r>
            <a:endPar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定義</a:t>
            </a:r>
            <a:endPar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en-US" altLang="ja-JP"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3</a:t>
            </a:r>
            <a:r>
              <a:rPr kumimoji="1" lang="ja-JP" altLang="en-US"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か月</a:t>
            </a:r>
            <a:endPar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87" name="矢印: 五方向 86">
            <a:extLst>
              <a:ext uri="{FF2B5EF4-FFF2-40B4-BE49-F238E27FC236}">
                <a16:creationId xmlns:a16="http://schemas.microsoft.com/office/drawing/2014/main" id="{B83B19D8-209D-18E5-BA13-AC264F30E36A}"/>
              </a:ext>
            </a:extLst>
          </p:cNvPr>
          <p:cNvSpPr/>
          <p:nvPr/>
        </p:nvSpPr>
        <p:spPr bwMode="gray">
          <a:xfrm>
            <a:off x="6117653" y="4431158"/>
            <a:ext cx="731133" cy="1833147"/>
          </a:xfrm>
          <a:prstGeom prst="homePlate">
            <a:avLst>
              <a:gd name="adj" fmla="val 18319"/>
            </a:avLst>
          </a:prstGeom>
          <a:solidFill>
            <a:srgbClr val="86BC25">
              <a:lumMod val="40000"/>
              <a:lumOff val="6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設定・</a:t>
            </a:r>
            <a:br>
              <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b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開発・</a:t>
            </a:r>
            <a:endPar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システム</a:t>
            </a:r>
            <a:endPar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テスト</a:t>
            </a:r>
            <a:endPar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en-US" altLang="ja-JP"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4</a:t>
            </a:r>
            <a:r>
              <a:rPr kumimoji="1" lang="ja-JP" altLang="en-US"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か月</a:t>
            </a:r>
            <a:endParaRPr kumimoji="1" lang="en-US" altLang="ja-JP"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88" name="矢印: 五方向 87">
            <a:extLst>
              <a:ext uri="{FF2B5EF4-FFF2-40B4-BE49-F238E27FC236}">
                <a16:creationId xmlns:a16="http://schemas.microsoft.com/office/drawing/2014/main" id="{A69321C6-2379-77F3-01C7-DB28EF8B500D}"/>
              </a:ext>
            </a:extLst>
          </p:cNvPr>
          <p:cNvSpPr/>
          <p:nvPr/>
        </p:nvSpPr>
        <p:spPr bwMode="gray">
          <a:xfrm>
            <a:off x="6849680" y="4431159"/>
            <a:ext cx="477435" cy="792000"/>
          </a:xfrm>
          <a:prstGeom prst="homePlate">
            <a:avLst>
              <a:gd name="adj" fmla="val 18319"/>
            </a:avLst>
          </a:prstGeom>
          <a:solidFill>
            <a:srgbClr val="86BC25">
              <a:lumMod val="40000"/>
              <a:lumOff val="6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UAT</a:t>
            </a: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en-US" altLang="ja-JP"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2</a:t>
            </a:r>
            <a:r>
              <a:rPr kumimoji="1" lang="ja-JP" altLang="en-US"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か月</a:t>
            </a:r>
            <a:endParaRPr kumimoji="1" lang="ja-JP" altLang="en-US" sz="14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89" name="矢印: 五方向 88">
            <a:extLst>
              <a:ext uri="{FF2B5EF4-FFF2-40B4-BE49-F238E27FC236}">
                <a16:creationId xmlns:a16="http://schemas.microsoft.com/office/drawing/2014/main" id="{93347677-258A-40F1-563F-5F49AAC88FEB}"/>
              </a:ext>
            </a:extLst>
          </p:cNvPr>
          <p:cNvSpPr/>
          <p:nvPr/>
        </p:nvSpPr>
        <p:spPr bwMode="gray">
          <a:xfrm>
            <a:off x="7005491" y="5299694"/>
            <a:ext cx="408246" cy="792000"/>
          </a:xfrm>
          <a:prstGeom prst="homePlate">
            <a:avLst>
              <a:gd name="adj" fmla="val 18319"/>
            </a:avLst>
          </a:prstGeom>
          <a:solidFill>
            <a:srgbClr val="86BC25">
              <a:lumMod val="40000"/>
              <a:lumOff val="6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教育・</a:t>
            </a:r>
            <a:br>
              <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br>
            <a:r>
              <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移行</a:t>
            </a:r>
            <a:endParaRPr kumimoji="1" lang="en-US" altLang="ja-JP"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1" lang="en-US" altLang="ja-JP"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2</a:t>
            </a:r>
            <a:r>
              <a:rPr kumimoji="1" lang="ja-JP" altLang="en-US"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か月</a:t>
            </a:r>
            <a:endParaRPr kumimoji="1" lang="ja-JP" altLang="en-US" sz="11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90" name="テキスト ボックス 89">
            <a:extLst>
              <a:ext uri="{FF2B5EF4-FFF2-40B4-BE49-F238E27FC236}">
                <a16:creationId xmlns:a16="http://schemas.microsoft.com/office/drawing/2014/main" id="{4B6DC057-133E-E855-5C5A-E7C9E3A71F4B}"/>
              </a:ext>
            </a:extLst>
          </p:cNvPr>
          <p:cNvSpPr txBox="1"/>
          <p:nvPr/>
        </p:nvSpPr>
        <p:spPr bwMode="gray">
          <a:xfrm>
            <a:off x="7242248" y="4135481"/>
            <a:ext cx="1658471"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b="1">
                <a:solidFill>
                  <a:srgbClr val="26890D"/>
                </a:solidFill>
                <a:latin typeface="Meiryo UI" panose="020B0604030504040204" pitchFamily="50" charset="-128"/>
                <a:ea typeface="Meiryo UI" panose="020B0604030504040204" pitchFamily="50" charset="-128"/>
                <a:cs typeface="Arial" charset="0"/>
              </a:rPr>
              <a:t> </a:t>
            </a:r>
            <a:r>
              <a:rPr kumimoji="1" lang="ja-JP" altLang="en-US" sz="1000" b="1">
                <a:solidFill>
                  <a:srgbClr val="43B02A"/>
                </a:solidFill>
                <a:latin typeface="Meiryo UI" panose="020B0604030504040204" pitchFamily="50" charset="-128"/>
                <a:ea typeface="Meiryo UI" panose="020B0604030504040204" pitchFamily="50" charset="-128"/>
                <a:cs typeface="Arial" charset="0"/>
              </a:rPr>
              <a:t>▼</a:t>
            </a:r>
            <a:r>
              <a:rPr kumimoji="1" lang="en-US" altLang="ja-JP" sz="1000" b="1">
                <a:solidFill>
                  <a:prstClr val="black"/>
                </a:solidFill>
                <a:latin typeface="Meiryo UI" panose="020B0604030504040204" pitchFamily="50" charset="-128"/>
                <a:ea typeface="Meiryo UI" panose="020B0604030504040204" pitchFamily="50" charset="-128"/>
                <a:cs typeface="Arial" charset="0"/>
              </a:rPr>
              <a:t>SSBJ</a:t>
            </a:r>
            <a:r>
              <a:rPr kumimoji="1" lang="ja-JP" altLang="en-US" sz="1000" b="1">
                <a:solidFill>
                  <a:prstClr val="black"/>
                </a:solidFill>
                <a:latin typeface="Meiryo UI" panose="020B0604030504040204" pitchFamily="50" charset="-128"/>
                <a:ea typeface="Meiryo UI" panose="020B0604030504040204" pitchFamily="50" charset="-128"/>
                <a:cs typeface="Arial" charset="0"/>
              </a:rPr>
              <a:t>システム環境以外</a:t>
            </a:r>
            <a:br>
              <a:rPr kumimoji="1" lang="en-US" altLang="ja-JP" sz="1000" b="1">
                <a:solidFill>
                  <a:prstClr val="black"/>
                </a:solidFill>
                <a:latin typeface="Meiryo UI" panose="020B0604030504040204" pitchFamily="50" charset="-128"/>
                <a:ea typeface="Meiryo UI" panose="020B0604030504040204" pitchFamily="50" charset="-128"/>
                <a:cs typeface="Arial" charset="0"/>
              </a:rPr>
            </a:br>
            <a:r>
              <a:rPr kumimoji="1" lang="ja-JP" altLang="en-US" sz="1000" b="1">
                <a:solidFill>
                  <a:prstClr val="black"/>
                </a:solidFill>
                <a:latin typeface="Meiryo UI" panose="020B0604030504040204" pitchFamily="50" charset="-128"/>
                <a:ea typeface="Meiryo UI" panose="020B0604030504040204" pitchFamily="50" charset="-128"/>
                <a:cs typeface="Arial" charset="0"/>
              </a:rPr>
              <a:t>　稼働（</a:t>
            </a:r>
            <a:r>
              <a:rPr kumimoji="1" lang="en-US" altLang="ja-JP" sz="1000" b="1">
                <a:solidFill>
                  <a:prstClr val="black"/>
                </a:solidFill>
                <a:latin typeface="Meiryo UI" panose="020B0604030504040204" pitchFamily="50" charset="-128"/>
                <a:ea typeface="Meiryo UI" panose="020B0604030504040204" pitchFamily="50" charset="-128"/>
                <a:cs typeface="Arial" charset="0"/>
              </a:rPr>
              <a:t>6</a:t>
            </a:r>
            <a:r>
              <a:rPr kumimoji="1" lang="ja-JP" altLang="en-US" sz="1000" b="1">
                <a:solidFill>
                  <a:prstClr val="black"/>
                </a:solidFill>
                <a:latin typeface="Meiryo UI" panose="020B0604030504040204" pitchFamily="50" charset="-128"/>
                <a:ea typeface="Meiryo UI" panose="020B0604030504040204" pitchFamily="50" charset="-128"/>
                <a:cs typeface="Arial" charset="0"/>
              </a:rPr>
              <a:t>月末）</a:t>
            </a:r>
            <a:endParaRPr kumimoji="1" lang="en-US" altLang="ja-JP" sz="1000" b="1">
              <a:solidFill>
                <a:prstClr val="black"/>
              </a:solidFill>
              <a:latin typeface="Meiryo UI" panose="020B0604030504040204" pitchFamily="50" charset="-128"/>
              <a:ea typeface="Meiryo UI" panose="020B0604030504040204" pitchFamily="50" charset="-128"/>
              <a:cs typeface="Arial" charset="0"/>
            </a:endParaRPr>
          </a:p>
        </p:txBody>
      </p:sp>
      <p:cxnSp>
        <p:nvCxnSpPr>
          <p:cNvPr id="91" name="直線矢印コネクタ 90">
            <a:extLst>
              <a:ext uri="{FF2B5EF4-FFF2-40B4-BE49-F238E27FC236}">
                <a16:creationId xmlns:a16="http://schemas.microsoft.com/office/drawing/2014/main" id="{B21798BE-B85B-1DE4-5D1F-0D58378019CD}"/>
              </a:ext>
            </a:extLst>
          </p:cNvPr>
          <p:cNvCxnSpPr>
            <a:cxnSpLocks/>
          </p:cNvCxnSpPr>
          <p:nvPr/>
        </p:nvCxnSpPr>
        <p:spPr bwMode="gray">
          <a:xfrm>
            <a:off x="5306651" y="4094451"/>
            <a:ext cx="2322459" cy="4422"/>
          </a:xfrm>
          <a:prstGeom prst="straightConnector1">
            <a:avLst/>
          </a:prstGeom>
          <a:noFill/>
          <a:ln w="28575" cap="flat" cmpd="sng" algn="ctr">
            <a:solidFill>
              <a:srgbClr val="53565A"/>
            </a:solidFill>
            <a:prstDash val="solid"/>
            <a:headEnd type="triangle"/>
            <a:tailEnd type="triangle"/>
          </a:ln>
          <a:effectLst/>
        </p:spPr>
      </p:cxnSp>
      <p:sp>
        <p:nvSpPr>
          <p:cNvPr id="92" name="図形 91">
            <a:extLst>
              <a:ext uri="{FF2B5EF4-FFF2-40B4-BE49-F238E27FC236}">
                <a16:creationId xmlns:a16="http://schemas.microsoft.com/office/drawing/2014/main" id="{58D3B142-14DF-2402-96AE-11E4BDA00C42}"/>
              </a:ext>
            </a:extLst>
          </p:cNvPr>
          <p:cNvSpPr/>
          <p:nvPr/>
        </p:nvSpPr>
        <p:spPr>
          <a:xfrm>
            <a:off x="5518192" y="2390540"/>
            <a:ext cx="1737261" cy="1430060"/>
          </a:xfrm>
          <a:prstGeom prst="swooshArrow">
            <a:avLst>
              <a:gd name="adj1" fmla="val 10300"/>
              <a:gd name="adj2" fmla="val 25000"/>
            </a:avLst>
          </a:prstGeom>
          <a:solidFill>
            <a:srgbClr val="43B02A">
              <a:lumMod val="20000"/>
              <a:lumOff val="80000"/>
            </a:srgbClr>
          </a:solidFill>
          <a:ln>
            <a:noFill/>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ja-JP" altLang="en-US" sz="1900" b="0" i="0" u="none" strike="noStrike" kern="0" cap="none" spc="0" normalizeH="0" baseline="0" noProof="0">
              <a:ln>
                <a:noFill/>
              </a:ln>
              <a:solidFill>
                <a:prstClr val="black">
                  <a:hueOff val="0"/>
                  <a:satOff val="0"/>
                  <a:lumOff val="0"/>
                  <a:alphaOff val="0"/>
                </a:prstClr>
              </a:solidFill>
              <a:effectLst/>
              <a:uLnTx/>
              <a:uFillTx/>
              <a:latin typeface="Meiryo UI" panose="020B0604030504040204" pitchFamily="50" charset="-128"/>
              <a:ea typeface="Meiryo UI" panose="020B0604030504040204" pitchFamily="50" charset="-128"/>
            </a:endParaRPr>
          </a:p>
        </p:txBody>
      </p:sp>
      <p:sp>
        <p:nvSpPr>
          <p:cNvPr id="93" name="テキスト ボックス 92">
            <a:extLst>
              <a:ext uri="{FF2B5EF4-FFF2-40B4-BE49-F238E27FC236}">
                <a16:creationId xmlns:a16="http://schemas.microsoft.com/office/drawing/2014/main" id="{3F3126F2-F45B-4C7B-BEF7-33B84A629422}"/>
              </a:ext>
            </a:extLst>
          </p:cNvPr>
          <p:cNvSpPr txBox="1"/>
          <p:nvPr/>
        </p:nvSpPr>
        <p:spPr bwMode="gray">
          <a:xfrm>
            <a:off x="6376121" y="3980439"/>
            <a:ext cx="718740" cy="184666"/>
          </a:xfrm>
          <a:prstGeom prst="rect">
            <a:avLst/>
          </a:prstGeom>
          <a:solidFill>
            <a:sysClr val="window" lastClr="FFFFFF"/>
          </a:solidFill>
        </p:spPr>
        <p:txBody>
          <a:bodyPr wrap="square" lIns="0" tIns="0" rIns="0" bIns="0" rtlCol="0" anchor="ctr">
            <a:sp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Wave2</a:t>
            </a:r>
            <a:r>
              <a:rPr kumimoji="1" lang="en-US" altLang="ja-JP" sz="1200" b="1" i="0" u="none" strike="noStrike" kern="0" cap="none" spc="0" normalizeH="0" baseline="30000" noProof="0">
                <a:ln>
                  <a:noFill/>
                </a:ln>
                <a:solidFill>
                  <a:prstClr val="black"/>
                </a:solidFill>
                <a:effectLst/>
                <a:uLnTx/>
                <a:uFillTx/>
                <a:latin typeface="Meiryo UI" panose="020B0604030504040204" pitchFamily="50" charset="-128"/>
                <a:ea typeface="Meiryo UI" panose="020B0604030504040204" pitchFamily="50" charset="-128"/>
                <a:cs typeface="Arial" charset="0"/>
              </a:rPr>
              <a:t>※</a:t>
            </a:r>
            <a:endParaRPr kumimoji="1" lang="ja-JP" altLang="en-US" sz="1200" b="1" i="0" u="none" strike="noStrike" kern="0" cap="none" spc="0" normalizeH="0" baseline="3000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94" name="吹き出し: 四角形 93">
            <a:extLst>
              <a:ext uri="{FF2B5EF4-FFF2-40B4-BE49-F238E27FC236}">
                <a16:creationId xmlns:a16="http://schemas.microsoft.com/office/drawing/2014/main" id="{3074CB4B-111C-C8E3-A7BF-E0EFDD92F1CC}"/>
              </a:ext>
            </a:extLst>
          </p:cNvPr>
          <p:cNvSpPr/>
          <p:nvPr/>
        </p:nvSpPr>
        <p:spPr bwMode="gray">
          <a:xfrm>
            <a:off x="7763380" y="3586600"/>
            <a:ext cx="1132408" cy="468000"/>
          </a:xfrm>
          <a:prstGeom prst="wedgeRectCallout">
            <a:avLst>
              <a:gd name="adj1" fmla="val -50610"/>
              <a:gd name="adj2" fmla="val 62958"/>
            </a:avLst>
          </a:prstGeom>
          <a:solidFill>
            <a:sysClr val="window" lastClr="FFFFFF">
              <a:lumMod val="95000"/>
            </a:sysClr>
          </a:solidFill>
          <a:ln w="19050" cap="rnd" algn="ctr">
            <a:solidFill>
              <a:srgbClr val="26890D"/>
            </a:solidFill>
            <a:miter lim="800000"/>
            <a:headEnd/>
            <a:tailEnd/>
          </a:ln>
          <a:effectLst/>
        </p:spPr>
        <p:txBody>
          <a:bodyPr wrap="none" lIns="72000" tIns="72000" rIns="72000" bIns="72000" rtlCol="0" anchor="ctr"/>
          <a:lstStyle/>
          <a:p>
            <a:pPr marL="0" marR="0" lvl="0" indent="0" algn="ctr" defTabSz="914400" eaLnBrk="1" fontAlgn="base" latinLnBrk="0" hangingPunct="1">
              <a:lnSpc>
                <a:spcPct val="110000"/>
              </a:lnSpc>
              <a:spcBef>
                <a:spcPct val="0"/>
              </a:spcBef>
              <a:spcAft>
                <a:spcPct val="0"/>
              </a:spcAft>
              <a:buClrTx/>
              <a:buSzTx/>
              <a:buFontTx/>
              <a:buNone/>
              <a:tabLst/>
              <a:defRPr/>
            </a:pP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28</a:t>
            </a: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年</a:t>
            </a: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3</a:t>
            </a: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月期の</a:t>
            </a:r>
            <a:r>
              <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SSBJ</a:t>
            </a: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フル開示</a:t>
            </a:r>
            <a:endParaRPr kumimoji="1" lang="en-US" altLang="ja-JP"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14400" eaLnBrk="1" fontAlgn="base" latinLnBrk="0" hangingPunct="1">
              <a:lnSpc>
                <a:spcPct val="110000"/>
              </a:lnSpc>
              <a:spcBef>
                <a:spcPct val="0"/>
              </a:spcBef>
              <a:spcAft>
                <a:spcPct val="0"/>
              </a:spcAft>
              <a:buClrTx/>
              <a:buSzTx/>
              <a:buFontTx/>
              <a:buNone/>
              <a:tabLst/>
              <a:defRPr/>
            </a:pPr>
            <a:r>
              <a:rPr kumimoji="1" lang="ja-JP" altLang="en-US" sz="9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に向けデータ取集開始</a:t>
            </a:r>
          </a:p>
        </p:txBody>
      </p:sp>
      <p:sp>
        <p:nvSpPr>
          <p:cNvPr id="96" name="矢印: 五方向 95">
            <a:extLst>
              <a:ext uri="{FF2B5EF4-FFF2-40B4-BE49-F238E27FC236}">
                <a16:creationId xmlns:a16="http://schemas.microsoft.com/office/drawing/2014/main" id="{14709426-BB00-307C-6798-C916422D215A}"/>
              </a:ext>
            </a:extLst>
          </p:cNvPr>
          <p:cNvSpPr/>
          <p:nvPr/>
        </p:nvSpPr>
        <p:spPr bwMode="gray">
          <a:xfrm>
            <a:off x="1696511" y="2649491"/>
            <a:ext cx="401831" cy="408894"/>
          </a:xfrm>
          <a:prstGeom prst="homePlate">
            <a:avLst>
              <a:gd name="adj" fmla="val 18319"/>
            </a:avLst>
          </a:prstGeom>
          <a:solidFill>
            <a:srgbClr val="007CB0">
              <a:lumMod val="20000"/>
              <a:lumOff val="80000"/>
            </a:srgbClr>
          </a:solidFill>
          <a:ln w="12700" algn="ctr">
            <a:noFill/>
            <a:miter lim="800000"/>
            <a:headEnd/>
            <a:tailEnd/>
          </a:ln>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バウンダリー整理</a:t>
            </a:r>
            <a:endParaRPr kumimoji="1" lang="en-US" altLang="ja-JP"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7" name="矢印: 五方向 96">
            <a:extLst>
              <a:ext uri="{FF2B5EF4-FFF2-40B4-BE49-F238E27FC236}">
                <a16:creationId xmlns:a16="http://schemas.microsoft.com/office/drawing/2014/main" id="{B5E7D3AB-9090-C4A1-7AA6-3C086B14E701}"/>
              </a:ext>
            </a:extLst>
          </p:cNvPr>
          <p:cNvSpPr/>
          <p:nvPr/>
        </p:nvSpPr>
        <p:spPr bwMode="gray">
          <a:xfrm>
            <a:off x="1696511" y="3086906"/>
            <a:ext cx="437101" cy="356969"/>
          </a:xfrm>
          <a:prstGeom prst="homePlate">
            <a:avLst>
              <a:gd name="adj" fmla="val 18319"/>
            </a:avLst>
          </a:prstGeom>
          <a:solidFill>
            <a:srgbClr val="007CB0">
              <a:lumMod val="20000"/>
              <a:lumOff val="80000"/>
            </a:srgbClr>
          </a:solidFill>
          <a:ln w="12700" algn="ctr">
            <a:noFill/>
            <a:miter lim="800000"/>
            <a:headEnd/>
            <a:tailEnd/>
          </a:ln>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欠落データの把握</a:t>
            </a:r>
            <a:endParaRPr kumimoji="1" lang="en-US" altLang="ja-JP"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8" name="矢印: 五方向 97">
            <a:extLst>
              <a:ext uri="{FF2B5EF4-FFF2-40B4-BE49-F238E27FC236}">
                <a16:creationId xmlns:a16="http://schemas.microsoft.com/office/drawing/2014/main" id="{1707A6E2-B839-9809-21B5-A1D77C75128F}"/>
              </a:ext>
            </a:extLst>
          </p:cNvPr>
          <p:cNvSpPr/>
          <p:nvPr/>
        </p:nvSpPr>
        <p:spPr bwMode="gray">
          <a:xfrm>
            <a:off x="1780984" y="3477706"/>
            <a:ext cx="437101" cy="430910"/>
          </a:xfrm>
          <a:prstGeom prst="homePlate">
            <a:avLst>
              <a:gd name="adj" fmla="val 18319"/>
            </a:avLst>
          </a:prstGeom>
          <a:solidFill>
            <a:srgbClr val="007CB0">
              <a:lumMod val="20000"/>
              <a:lumOff val="80000"/>
            </a:srgbClr>
          </a:solidFill>
          <a:ln w="12700" algn="ctr">
            <a:noFill/>
            <a:miter lim="800000"/>
            <a:headEnd/>
            <a:tailEnd/>
          </a:ln>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開示データ・収集方針決定</a:t>
            </a:r>
            <a:endParaRPr kumimoji="1" lang="en-US" altLang="ja-JP" sz="8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9" name="テキスト ボックス 98">
            <a:extLst>
              <a:ext uri="{FF2B5EF4-FFF2-40B4-BE49-F238E27FC236}">
                <a16:creationId xmlns:a16="http://schemas.microsoft.com/office/drawing/2014/main" id="{FC2D156A-8A06-2379-B86C-63A8BEF2C59C}"/>
              </a:ext>
            </a:extLst>
          </p:cNvPr>
          <p:cNvSpPr txBox="1"/>
          <p:nvPr/>
        </p:nvSpPr>
        <p:spPr bwMode="gray">
          <a:xfrm>
            <a:off x="382754" y="6305950"/>
            <a:ext cx="5367864" cy="138499"/>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en-US" altLang="ja-JP" sz="900">
                <a:solidFill>
                  <a:prstClr val="black"/>
                </a:solidFill>
                <a:latin typeface="Meiryo UI" panose="020B0604030504040204" pitchFamily="50" charset="-128"/>
                <a:ea typeface="Meiryo UI" panose="020B0604030504040204" pitchFamily="50" charset="-128"/>
                <a:cs typeface="Arial" charset="0"/>
              </a:rPr>
              <a:t>※</a:t>
            </a:r>
            <a:r>
              <a:rPr kumimoji="1" lang="ja-JP" altLang="en-US" sz="900">
                <a:solidFill>
                  <a:prstClr val="black"/>
                </a:solidFill>
                <a:latin typeface="Meiryo UI" panose="020B0604030504040204" pitchFamily="50" charset="-128"/>
                <a:ea typeface="Meiryo UI" panose="020B0604030504040204" pitchFamily="50" charset="-128"/>
                <a:cs typeface="Arial" charset="0"/>
              </a:rPr>
              <a:t>要件により、設定・開発期間が可変となる。先行稼働時の対象範囲の絞り込みや、稼働タイミングは</a:t>
            </a:r>
            <a:r>
              <a:rPr kumimoji="1" lang="en-US" altLang="ja-JP" sz="900">
                <a:solidFill>
                  <a:prstClr val="black"/>
                </a:solidFill>
                <a:latin typeface="Meiryo UI" panose="020B0604030504040204" pitchFamily="50" charset="-128"/>
                <a:ea typeface="Meiryo UI" panose="020B0604030504040204" pitchFamily="50" charset="-128"/>
                <a:cs typeface="Arial" charset="0"/>
              </a:rPr>
              <a:t>PJ</a:t>
            </a:r>
            <a:r>
              <a:rPr kumimoji="1" lang="ja-JP" altLang="en-US" sz="900">
                <a:solidFill>
                  <a:prstClr val="black"/>
                </a:solidFill>
                <a:latin typeface="Meiryo UI" panose="020B0604030504040204" pitchFamily="50" charset="-128"/>
                <a:ea typeface="Meiryo UI" panose="020B0604030504040204" pitchFamily="50" charset="-128"/>
                <a:cs typeface="Arial" charset="0"/>
              </a:rPr>
              <a:t>の中で要検討</a:t>
            </a:r>
            <a:endParaRPr kumimoji="1" lang="en-US" altLang="ja-JP" sz="900">
              <a:solidFill>
                <a:prstClr val="black"/>
              </a:solidFill>
              <a:latin typeface="Meiryo UI" panose="020B0604030504040204" pitchFamily="50" charset="-128"/>
              <a:ea typeface="Meiryo UI" panose="020B0604030504040204" pitchFamily="50" charset="-128"/>
              <a:cs typeface="Arial" charset="0"/>
            </a:endParaRPr>
          </a:p>
        </p:txBody>
      </p:sp>
      <p:sp>
        <p:nvSpPr>
          <p:cNvPr id="101" name="楕円 100">
            <a:extLst>
              <a:ext uri="{FF2B5EF4-FFF2-40B4-BE49-F238E27FC236}">
                <a16:creationId xmlns:a16="http://schemas.microsoft.com/office/drawing/2014/main" id="{38AB5980-A50C-FC53-FEDA-9477E6A9BCF6}"/>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5" name="四角形: 角を丸くする 4">
            <a:extLst>
              <a:ext uri="{FF2B5EF4-FFF2-40B4-BE49-F238E27FC236}">
                <a16:creationId xmlns:a16="http://schemas.microsoft.com/office/drawing/2014/main" id="{F6ACC1A5-D70D-348B-965A-D1554387B091}"/>
              </a:ext>
            </a:extLst>
          </p:cNvPr>
          <p:cNvSpPr/>
          <p:nvPr/>
        </p:nvSpPr>
        <p:spPr>
          <a:xfrm>
            <a:off x="6115179" y="117360"/>
            <a:ext cx="2632821" cy="34435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Wave1</a:t>
            </a:r>
            <a:r>
              <a:rPr kumimoji="1" lang="ja-JP" altLang="en-US" sz="1000">
                <a:solidFill>
                  <a:schemeClr val="tx1"/>
                </a:solidFill>
                <a:latin typeface="Meiryo UI" panose="020B0604030504040204" pitchFamily="50" charset="-128"/>
                <a:ea typeface="Meiryo UI" panose="020B0604030504040204" pitchFamily="50" charset="-128"/>
              </a:rPr>
              <a:t>を</a:t>
            </a:r>
            <a:r>
              <a:rPr kumimoji="1" lang="en-US" altLang="ja-JP" sz="1000">
                <a:solidFill>
                  <a:schemeClr val="tx1"/>
                </a:solidFill>
                <a:latin typeface="Meiryo UI" panose="020B0604030504040204" pitchFamily="50" charset="-128"/>
                <a:ea typeface="Meiryo UI" panose="020B0604030504040204" pitchFamily="50" charset="-128"/>
              </a:rPr>
              <a:t>GHG</a:t>
            </a:r>
            <a:r>
              <a:rPr kumimoji="1" lang="ja-JP" altLang="en-US" sz="1000">
                <a:solidFill>
                  <a:schemeClr val="tx1"/>
                </a:solidFill>
                <a:latin typeface="Meiryo UI" panose="020B0604030504040204" pitchFamily="50" charset="-128"/>
                <a:ea typeface="Meiryo UI" panose="020B0604030504040204" pitchFamily="50" charset="-128"/>
              </a:rPr>
              <a:t>分から環境分に変更した旨を反映</a:t>
            </a:r>
          </a:p>
        </p:txBody>
      </p:sp>
    </p:spTree>
    <p:extLst>
      <p:ext uri="{BB962C8B-B14F-4D97-AF65-F5344CB8AC3E}">
        <p14:creationId xmlns:p14="http://schemas.microsoft.com/office/powerpoint/2010/main" val="2705628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タイトル 110">
            <a:extLst>
              <a:ext uri="{FF2B5EF4-FFF2-40B4-BE49-F238E27FC236}">
                <a16:creationId xmlns:a16="http://schemas.microsoft.com/office/drawing/2014/main" id="{4E1F1D64-A9BC-874F-57A9-FF1B779FA028}"/>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ESG</a:t>
            </a:r>
            <a:r>
              <a:rPr lang="ja-JP" altLang="en-US">
                <a:latin typeface="Meiryo UI" panose="020B0604030504040204" pitchFamily="50" charset="-128"/>
                <a:ea typeface="Meiryo UI" panose="020B0604030504040204" pitchFamily="50" charset="-128"/>
              </a:rPr>
              <a:t>システム導入アプローチ</a:t>
            </a:r>
          </a:p>
        </p:txBody>
      </p:sp>
      <p:sp>
        <p:nvSpPr>
          <p:cNvPr id="3" name="スライド番号プレースホルダー 2">
            <a:extLst>
              <a:ext uri="{FF2B5EF4-FFF2-40B4-BE49-F238E27FC236}">
                <a16:creationId xmlns:a16="http://schemas.microsoft.com/office/drawing/2014/main" id="{BCF1506D-67C7-34B6-4432-D8394BC807C9}"/>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14</a:t>
            </a:fld>
            <a:endParaRPr kumimoji="1" lang="ja-JP" altLang="en-US">
              <a:latin typeface="Meiryo UI" panose="020B0604030504040204" pitchFamily="50" charset="-128"/>
              <a:ea typeface="Meiryo UI" panose="020B0604030504040204" pitchFamily="50" charset="-128"/>
            </a:endParaRPr>
          </a:p>
        </p:txBody>
      </p:sp>
      <p:sp>
        <p:nvSpPr>
          <p:cNvPr id="112" name="テキスト プレースホルダー 111">
            <a:extLst>
              <a:ext uri="{FF2B5EF4-FFF2-40B4-BE49-F238E27FC236}">
                <a16:creationId xmlns:a16="http://schemas.microsoft.com/office/drawing/2014/main" id="{2D5E285A-F61D-E5BD-1F3A-D36786C2CC2C}"/>
              </a:ext>
            </a:extLst>
          </p:cNvPr>
          <p:cNvSpPr>
            <a:spLocks noGrp="1"/>
          </p:cNvSpPr>
          <p:nvPr>
            <p:ph type="body" sz="quarter" idx="13"/>
          </p:nvPr>
        </p:nvSpPr>
        <p:spPr/>
        <p:txBody>
          <a:bodyPr>
            <a:noAutofit/>
          </a:bodyPr>
          <a:lstStyle/>
          <a:p>
            <a:r>
              <a:rPr lang="en-US" altLang="ja-JP"/>
              <a:t>Step1</a:t>
            </a:r>
            <a:r>
              <a:rPr lang="ja-JP" altLang="en-US"/>
              <a:t>は、法定対応と拠点入力業務プロセスについて効率化を図り、</a:t>
            </a:r>
            <a:r>
              <a:rPr lang="en-US" altLang="ja-JP"/>
              <a:t>Step2-1</a:t>
            </a:r>
            <a:r>
              <a:rPr lang="ja-JP" altLang="en-US"/>
              <a:t>では本社での報告業務効率化を実施する。</a:t>
            </a:r>
            <a:r>
              <a:rPr lang="en-US" altLang="ja-JP"/>
              <a:t>Step2-2</a:t>
            </a:r>
            <a:r>
              <a:rPr lang="ja-JP" altLang="en-US"/>
              <a:t>では運用課題を定期的に改善する。将来的に</a:t>
            </a:r>
            <a:r>
              <a:rPr lang="en-US" altLang="ja-JP"/>
              <a:t>Step3</a:t>
            </a:r>
            <a:r>
              <a:rPr lang="ja-JP" altLang="en-US"/>
              <a:t>として収集したサステナビリティデータの活用を推進する</a:t>
            </a:r>
          </a:p>
        </p:txBody>
      </p:sp>
      <p:sp>
        <p:nvSpPr>
          <p:cNvPr id="43" name="Rectangle 41">
            <a:extLst>
              <a:ext uri="{FF2B5EF4-FFF2-40B4-BE49-F238E27FC236}">
                <a16:creationId xmlns:a16="http://schemas.microsoft.com/office/drawing/2014/main" id="{BD4A0393-965E-BFE2-34F7-76446A9049C3}"/>
              </a:ext>
            </a:extLst>
          </p:cNvPr>
          <p:cNvSpPr>
            <a:spLocks noChangeArrowheads="1"/>
          </p:cNvSpPr>
          <p:nvPr/>
        </p:nvSpPr>
        <p:spPr bwMode="gray">
          <a:xfrm>
            <a:off x="843028" y="1655688"/>
            <a:ext cx="2160000" cy="360000"/>
          </a:xfrm>
          <a:prstGeom prst="homePlate">
            <a:avLst/>
          </a:prstGeom>
          <a:solidFill>
            <a:schemeClr val="tx2">
              <a:lumMod val="20000"/>
              <a:lumOff val="8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SSBJ</a:t>
            </a:r>
            <a:r>
              <a:rPr kumimoji="1" lang="ja-JP" altLang="en-US" sz="1050" b="1" kern="0">
                <a:latin typeface="Meiryo UI" panose="020B0604030504040204" pitchFamily="50" charset="-128"/>
                <a:ea typeface="Meiryo UI" panose="020B0604030504040204" pitchFamily="50" charset="-128"/>
                <a:cs typeface="Arial" charset="0"/>
              </a:rPr>
              <a:t>開示対応</a:t>
            </a:r>
            <a:endParaRPr kumimoji="1" lang="en-US" altLang="ja-JP" sz="1050" b="1" kern="0">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（拠点入力効率化含む）</a:t>
            </a:r>
            <a:endParaRPr kumimoji="1" lang="en-US" altLang="ja-JP" sz="1050" b="1" kern="0">
              <a:latin typeface="Meiryo UI" panose="020B0604030504040204" pitchFamily="50" charset="-128"/>
              <a:ea typeface="Meiryo UI" panose="020B0604030504040204" pitchFamily="50" charset="-128"/>
              <a:cs typeface="Arial" charset="0"/>
            </a:endParaRPr>
          </a:p>
        </p:txBody>
      </p:sp>
      <p:sp>
        <p:nvSpPr>
          <p:cNvPr id="44" name="Rectangle 41">
            <a:extLst>
              <a:ext uri="{FF2B5EF4-FFF2-40B4-BE49-F238E27FC236}">
                <a16:creationId xmlns:a16="http://schemas.microsoft.com/office/drawing/2014/main" id="{E0195CCC-E136-8E7F-1542-5B756704DFEA}"/>
              </a:ext>
            </a:extLst>
          </p:cNvPr>
          <p:cNvSpPr>
            <a:spLocks noChangeArrowheads="1"/>
          </p:cNvSpPr>
          <p:nvPr/>
        </p:nvSpPr>
        <p:spPr bwMode="gray">
          <a:xfrm>
            <a:off x="723928" y="2172308"/>
            <a:ext cx="2276601" cy="1153579"/>
          </a:xfrm>
          <a:prstGeom prst="rect">
            <a:avLst/>
          </a:prstGeom>
          <a:noFill/>
          <a:ln w="19050" algn="ctr">
            <a:noFill/>
            <a:miter lim="800000"/>
            <a:headEnd/>
            <a:tailEnd/>
          </a:ln>
          <a:effectLst/>
        </p:spPr>
        <p:txBody>
          <a:bodyPr wrap="square" lIns="36000" tIns="72000" rIns="36000" bIns="72000" anchor="t"/>
          <a:lstStyle/>
          <a:p>
            <a:pPr marL="171450" indent="-171450" fontAlgn="base">
              <a:spcAft>
                <a:spcPct val="0"/>
              </a:spcAft>
              <a:buFont typeface="Wingdings" panose="05000000000000000000" pitchFamily="2" charset="2"/>
              <a:buChar char="ü"/>
              <a:defRPr/>
            </a:pPr>
            <a:r>
              <a:rPr lang="en-US" altLang="ja-JP" sz="1000">
                <a:solidFill>
                  <a:prstClr val="black"/>
                </a:solidFill>
                <a:latin typeface="Meiryo UI" panose="020B0604030504040204" pitchFamily="50" charset="-128"/>
                <a:ea typeface="Meiryo UI" panose="020B0604030504040204" pitchFamily="50" charset="-128"/>
                <a:cs typeface="Arial" charset="0"/>
                <a:sym typeface="+mn-lt"/>
              </a:rPr>
              <a:t>SSBJ</a:t>
            </a: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を含む</a:t>
            </a: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開示・規制を遵守できる</a:t>
            </a:r>
            <a:endParaRPr lang="en-US" altLang="ja-JP" sz="1000" b="1" u="sng">
              <a:solidFill>
                <a:prstClr val="black"/>
              </a:solidFill>
              <a:latin typeface="Meiryo UI" panose="020B0604030504040204" pitchFamily="50" charset="-128"/>
              <a:ea typeface="Meiryo UI" panose="020B0604030504040204" pitchFamily="50" charset="-128"/>
              <a:cs typeface="Arial" charset="0"/>
              <a:sym typeface="+mn-lt"/>
            </a:endParaRPr>
          </a:p>
          <a:p>
            <a:pPr marL="171450" indent="-171450" fontAlgn="base">
              <a:spcAft>
                <a:spcPct val="0"/>
              </a:spcAft>
              <a:buFont typeface="Wingdings" panose="05000000000000000000" pitchFamily="2" charset="2"/>
              <a:buChar char="ü"/>
              <a:defRPr/>
            </a:pP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現場の</a:t>
            </a: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入力業務の効率化に寄与していること</a:t>
            </a: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（自動連携機能等で目指す）</a:t>
            </a:r>
            <a:br>
              <a:rPr lang="en-US" altLang="ja-JP" sz="1000">
                <a:solidFill>
                  <a:prstClr val="black"/>
                </a:solidFill>
                <a:latin typeface="Meiryo UI" panose="020B0604030504040204" pitchFamily="50" charset="-128"/>
                <a:ea typeface="Meiryo UI" panose="020B0604030504040204" pitchFamily="50" charset="-128"/>
                <a:cs typeface="Arial" charset="0"/>
                <a:sym typeface="+mn-lt"/>
              </a:rPr>
            </a:br>
            <a:r>
              <a:rPr lang="en-US" altLang="ja-JP" sz="1000">
                <a:solidFill>
                  <a:prstClr val="black"/>
                </a:solidFill>
                <a:latin typeface="Meiryo UI" panose="020B0604030504040204" pitchFamily="50" charset="-128"/>
                <a:ea typeface="Meiryo UI" panose="020B0604030504040204" pitchFamily="50" charset="-128"/>
                <a:cs typeface="Arial" charset="0"/>
                <a:sym typeface="+mn-lt"/>
              </a:rPr>
              <a:t>※Step1</a:t>
            </a: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を取り組むデータ区分で</a:t>
            </a:r>
            <a:r>
              <a:rPr lang="en-US" altLang="ja-JP" sz="1000">
                <a:solidFill>
                  <a:prstClr val="black"/>
                </a:solidFill>
                <a:latin typeface="Meiryo UI" panose="020B0604030504040204" pitchFamily="50" charset="-128"/>
                <a:ea typeface="Meiryo UI" panose="020B0604030504040204" pitchFamily="50" charset="-128"/>
                <a:cs typeface="Arial" charset="0"/>
                <a:sym typeface="+mn-lt"/>
              </a:rPr>
              <a:t>Step1-1, 1-2</a:t>
            </a: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に細分化して推進</a:t>
            </a:r>
            <a:br>
              <a:rPr lang="en-US" altLang="ja-JP" sz="1000">
                <a:solidFill>
                  <a:prstClr val="black"/>
                </a:solidFill>
                <a:latin typeface="Meiryo UI" panose="020B0604030504040204" pitchFamily="50" charset="-128"/>
                <a:ea typeface="Meiryo UI" panose="020B0604030504040204" pitchFamily="50" charset="-128"/>
                <a:cs typeface="Arial" charset="0"/>
                <a:sym typeface="+mn-lt"/>
              </a:rPr>
            </a:br>
            <a:endParaRPr lang="en-US" altLang="ja-JP" sz="1000" b="1" u="sng">
              <a:solidFill>
                <a:prstClr val="black"/>
              </a:solidFill>
              <a:latin typeface="Meiryo UI" panose="020B0604030504040204" pitchFamily="50" charset="-128"/>
              <a:ea typeface="Meiryo UI" panose="020B0604030504040204" pitchFamily="50" charset="-128"/>
              <a:cs typeface="Arial" charset="0"/>
              <a:sym typeface="+mn-lt"/>
            </a:endParaRPr>
          </a:p>
        </p:txBody>
      </p:sp>
      <p:sp>
        <p:nvSpPr>
          <p:cNvPr id="45" name="Rectangle 41">
            <a:extLst>
              <a:ext uri="{FF2B5EF4-FFF2-40B4-BE49-F238E27FC236}">
                <a16:creationId xmlns:a16="http://schemas.microsoft.com/office/drawing/2014/main" id="{F7EC3FBE-9F3B-5FC8-D27D-3B5D1E5B215A}"/>
              </a:ext>
            </a:extLst>
          </p:cNvPr>
          <p:cNvSpPr>
            <a:spLocks noChangeArrowheads="1"/>
          </p:cNvSpPr>
          <p:nvPr/>
        </p:nvSpPr>
        <p:spPr bwMode="gray">
          <a:xfrm>
            <a:off x="493771" y="1436005"/>
            <a:ext cx="2160000" cy="301196"/>
          </a:xfrm>
          <a:prstGeom prst="rect">
            <a:avLst/>
          </a:prstGeom>
          <a:noFill/>
          <a:ln w="19050" algn="ctr">
            <a:noFill/>
            <a:miter lim="800000"/>
            <a:headEnd/>
            <a:tailEnd/>
          </a:ln>
          <a:effectLst/>
        </p:spPr>
        <p:txBody>
          <a:bodyPr lIns="72000" tIns="36000" rIns="72000" bIns="36000" anchor="ctr"/>
          <a:lstStyle/>
          <a:p>
            <a:pPr defTabSz="914400" fontAlgn="base">
              <a:spcAft>
                <a:spcPct val="0"/>
              </a:spcAft>
              <a:defRPr/>
            </a:pPr>
            <a:r>
              <a:rPr lang="en-US" altLang="ja-JP" sz="11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Step 1.</a:t>
            </a:r>
            <a:r>
              <a:rPr lang="ja-JP" altLang="en-US" sz="11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　</a:t>
            </a:r>
            <a:endParaRPr lang="en-US" altLang="ja-JP" sz="110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46" name="Rectangle 41">
            <a:extLst>
              <a:ext uri="{FF2B5EF4-FFF2-40B4-BE49-F238E27FC236}">
                <a16:creationId xmlns:a16="http://schemas.microsoft.com/office/drawing/2014/main" id="{F495D33A-B706-5231-148F-DDC713E61029}"/>
              </a:ext>
            </a:extLst>
          </p:cNvPr>
          <p:cNvSpPr>
            <a:spLocks noChangeArrowheads="1"/>
          </p:cNvSpPr>
          <p:nvPr/>
        </p:nvSpPr>
        <p:spPr bwMode="gray">
          <a:xfrm>
            <a:off x="3005502" y="1655688"/>
            <a:ext cx="2160000" cy="360000"/>
          </a:xfrm>
          <a:prstGeom prst="homePlate">
            <a:avLst/>
          </a:prstGeom>
          <a:solidFill>
            <a:schemeClr val="tx2">
              <a:lumMod val="60000"/>
              <a:lumOff val="4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ja-JP" altLang="en-US" sz="1050" b="1" kern="0">
                <a:solidFill>
                  <a:schemeClr val="bg1"/>
                </a:solidFill>
                <a:latin typeface="Meiryo UI" panose="020B0604030504040204" pitchFamily="50" charset="-128"/>
                <a:ea typeface="Meiryo UI" panose="020B0604030504040204" pitchFamily="50" charset="-128"/>
                <a:cs typeface="Arial" charset="0"/>
              </a:rPr>
              <a:t>開示以外の報告業務効率化</a:t>
            </a:r>
            <a:endParaRPr kumimoji="1" lang="en-US" altLang="ja-JP" sz="1050" b="1" kern="0">
              <a:solidFill>
                <a:schemeClr val="bg1"/>
              </a:solidFill>
              <a:latin typeface="Meiryo UI" panose="020B0604030504040204" pitchFamily="50" charset="-128"/>
              <a:ea typeface="Meiryo UI" panose="020B0604030504040204" pitchFamily="50" charset="-128"/>
              <a:cs typeface="Arial" charset="0"/>
            </a:endParaRPr>
          </a:p>
        </p:txBody>
      </p:sp>
      <p:sp>
        <p:nvSpPr>
          <p:cNvPr id="47" name="Rectangle 41">
            <a:extLst>
              <a:ext uri="{FF2B5EF4-FFF2-40B4-BE49-F238E27FC236}">
                <a16:creationId xmlns:a16="http://schemas.microsoft.com/office/drawing/2014/main" id="{F0CD6E1B-77C4-A339-815C-E71C9FE5F14F}"/>
              </a:ext>
            </a:extLst>
          </p:cNvPr>
          <p:cNvSpPr>
            <a:spLocks noChangeArrowheads="1"/>
          </p:cNvSpPr>
          <p:nvPr/>
        </p:nvSpPr>
        <p:spPr bwMode="gray">
          <a:xfrm>
            <a:off x="2994272" y="1436005"/>
            <a:ext cx="2160000" cy="270512"/>
          </a:xfrm>
          <a:prstGeom prst="rect">
            <a:avLst/>
          </a:prstGeom>
          <a:noFill/>
          <a:ln w="19050" algn="ctr">
            <a:noFill/>
            <a:miter lim="800000"/>
            <a:headEnd/>
            <a:tailEnd/>
          </a:ln>
          <a:effectLst/>
        </p:spPr>
        <p:txBody>
          <a:bodyPr lIns="72000" tIns="36000" rIns="72000" bIns="36000" anchor="ctr"/>
          <a:lstStyle/>
          <a:p>
            <a:pPr defTabSz="914400" fontAlgn="base">
              <a:spcAft>
                <a:spcPct val="0"/>
              </a:spcAft>
              <a:defRPr/>
            </a:pPr>
            <a:r>
              <a:rPr lang="en-US" altLang="ja-JP" sz="11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Step 2-1.</a:t>
            </a:r>
            <a:r>
              <a:rPr lang="ja-JP" altLang="en-US" sz="11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　</a:t>
            </a:r>
            <a:endParaRPr lang="en-US" altLang="ja-JP" sz="110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48" name="Rectangle 41">
            <a:extLst>
              <a:ext uri="{FF2B5EF4-FFF2-40B4-BE49-F238E27FC236}">
                <a16:creationId xmlns:a16="http://schemas.microsoft.com/office/drawing/2014/main" id="{4D8E8BD5-E280-F7BB-61A7-A67D40C8F07C}"/>
              </a:ext>
            </a:extLst>
          </p:cNvPr>
          <p:cNvSpPr>
            <a:spLocks noChangeArrowheads="1"/>
          </p:cNvSpPr>
          <p:nvPr/>
        </p:nvSpPr>
        <p:spPr bwMode="gray">
          <a:xfrm>
            <a:off x="7343678" y="1655688"/>
            <a:ext cx="1800000" cy="360000"/>
          </a:xfrm>
          <a:prstGeom prst="homePlate">
            <a:avLst/>
          </a:prstGeom>
          <a:noFill/>
          <a:ln w="12700" algn="ctr">
            <a:solidFill>
              <a:schemeClr val="tx2"/>
            </a:solidFill>
            <a:prstDash val="sysDash"/>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　経営管理高度化</a:t>
            </a:r>
            <a:r>
              <a:rPr kumimoji="1" lang="en-US" altLang="ja-JP" sz="1200" b="1" kern="0" baseline="30000">
                <a:latin typeface="Meiryo UI" panose="020B0604030504040204" pitchFamily="50" charset="-128"/>
                <a:ea typeface="Meiryo UI" panose="020B0604030504040204" pitchFamily="50" charset="-128"/>
                <a:cs typeface="Arial" charset="0"/>
              </a:rPr>
              <a:t>※1</a:t>
            </a:r>
          </a:p>
        </p:txBody>
      </p:sp>
      <p:sp>
        <p:nvSpPr>
          <p:cNvPr id="49" name="Rectangle 41">
            <a:extLst>
              <a:ext uri="{FF2B5EF4-FFF2-40B4-BE49-F238E27FC236}">
                <a16:creationId xmlns:a16="http://schemas.microsoft.com/office/drawing/2014/main" id="{A3A9FFBF-56A3-92E6-7888-170069AF29AB}"/>
              </a:ext>
            </a:extLst>
          </p:cNvPr>
          <p:cNvSpPr>
            <a:spLocks noChangeArrowheads="1"/>
          </p:cNvSpPr>
          <p:nvPr/>
        </p:nvSpPr>
        <p:spPr bwMode="gray">
          <a:xfrm>
            <a:off x="7343678" y="1436005"/>
            <a:ext cx="2160000" cy="277645"/>
          </a:xfrm>
          <a:prstGeom prst="rect">
            <a:avLst/>
          </a:prstGeom>
          <a:noFill/>
          <a:ln w="19050" algn="ctr">
            <a:noFill/>
            <a:miter lim="800000"/>
            <a:headEnd/>
            <a:tailEnd/>
          </a:ln>
          <a:effectLst/>
        </p:spPr>
        <p:txBody>
          <a:bodyPr lIns="72000" tIns="36000" rIns="72000" bIns="36000" anchor="ctr"/>
          <a:lstStyle/>
          <a:p>
            <a:pPr defTabSz="914400" fontAlgn="base">
              <a:spcAft>
                <a:spcPct val="0"/>
              </a:spcAft>
              <a:defRPr/>
            </a:pPr>
            <a:r>
              <a:rPr lang="en-US" altLang="ja-JP" sz="11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Step 3.</a:t>
            </a:r>
            <a:r>
              <a:rPr lang="ja-JP" altLang="en-US" sz="11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　</a:t>
            </a:r>
            <a:endParaRPr lang="en-US" altLang="ja-JP" sz="110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54" name="Rectangle 41">
            <a:extLst>
              <a:ext uri="{FF2B5EF4-FFF2-40B4-BE49-F238E27FC236}">
                <a16:creationId xmlns:a16="http://schemas.microsoft.com/office/drawing/2014/main" id="{AE359D3B-7E57-FF40-6D3C-1232C910A2C4}"/>
              </a:ext>
            </a:extLst>
          </p:cNvPr>
          <p:cNvSpPr>
            <a:spLocks noChangeArrowheads="1"/>
          </p:cNvSpPr>
          <p:nvPr/>
        </p:nvSpPr>
        <p:spPr bwMode="gray">
          <a:xfrm>
            <a:off x="3005456" y="2023891"/>
            <a:ext cx="2148816" cy="1303476"/>
          </a:xfrm>
          <a:prstGeom prst="rect">
            <a:avLst/>
          </a:prstGeom>
          <a:noFill/>
          <a:ln w="19050" algn="ctr">
            <a:noFill/>
            <a:miter lim="800000"/>
            <a:headEnd/>
            <a:tailEnd/>
          </a:ln>
          <a:effectLst/>
        </p:spPr>
        <p:txBody>
          <a:bodyPr wrap="square" lIns="36000" tIns="72000" rIns="36000" bIns="72000" anchor="t"/>
          <a:lstStyle/>
          <a:p>
            <a:pPr marL="171450" indent="-171450" fontAlgn="base">
              <a:spcAft>
                <a:spcPct val="0"/>
              </a:spcAft>
              <a:buFont typeface="Wingdings" panose="05000000000000000000" pitchFamily="2" charset="2"/>
              <a:buChar char="ü"/>
              <a:defRPr/>
            </a:pP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機能拡張により、社内報告を含めた</a:t>
            </a: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業務効率化に寄与していること</a:t>
            </a:r>
            <a:endParaRPr lang="en-US" altLang="ja-JP" sz="1000" b="1" u="sng">
              <a:solidFill>
                <a:prstClr val="black"/>
              </a:solidFill>
              <a:latin typeface="Meiryo UI" panose="020B0604030504040204" pitchFamily="50" charset="-128"/>
              <a:ea typeface="Meiryo UI" panose="020B0604030504040204" pitchFamily="50" charset="-128"/>
              <a:cs typeface="Arial" charset="0"/>
              <a:sym typeface="+mn-lt"/>
            </a:endParaRPr>
          </a:p>
          <a:p>
            <a:pPr marL="171450" indent="-171450" fontAlgn="base">
              <a:spcAft>
                <a:spcPct val="0"/>
              </a:spcAft>
              <a:buFont typeface="Wingdings" panose="05000000000000000000" pitchFamily="2" charset="2"/>
              <a:buChar char="ü"/>
              <a:defRPr/>
            </a:pP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開示以外の用途に関する報告様式に合わせた</a:t>
            </a: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アウトプット作成効率化を目指す</a:t>
            </a:r>
          </a:p>
        </p:txBody>
      </p:sp>
      <p:sp>
        <p:nvSpPr>
          <p:cNvPr id="55" name="Rectangle 41">
            <a:extLst>
              <a:ext uri="{FF2B5EF4-FFF2-40B4-BE49-F238E27FC236}">
                <a16:creationId xmlns:a16="http://schemas.microsoft.com/office/drawing/2014/main" id="{B7D4D8E2-AA3B-9C3A-BF95-6BA36934EA8F}"/>
              </a:ext>
            </a:extLst>
          </p:cNvPr>
          <p:cNvSpPr>
            <a:spLocks noChangeArrowheads="1"/>
          </p:cNvSpPr>
          <p:nvPr/>
        </p:nvSpPr>
        <p:spPr bwMode="gray">
          <a:xfrm>
            <a:off x="7337576" y="2023891"/>
            <a:ext cx="1800000" cy="1225370"/>
          </a:xfrm>
          <a:prstGeom prst="rect">
            <a:avLst/>
          </a:prstGeom>
          <a:noFill/>
          <a:ln w="19050" algn="ctr">
            <a:noFill/>
            <a:miter lim="800000"/>
            <a:headEnd/>
            <a:tailEnd/>
          </a:ln>
          <a:effectLst/>
        </p:spPr>
        <p:txBody>
          <a:bodyPr wrap="square" lIns="36000" tIns="72000" rIns="36000" bIns="72000" anchor="t"/>
          <a:lstStyle/>
          <a:p>
            <a:pPr marL="171450" indent="-171450" fontAlgn="base">
              <a:spcAft>
                <a:spcPct val="0"/>
              </a:spcAft>
              <a:buFont typeface="Wingdings" panose="05000000000000000000" pitchFamily="2" charset="2"/>
              <a:buChar char="ü"/>
              <a:defRPr/>
            </a:pP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経営管理上重要な</a:t>
            </a:r>
            <a:r>
              <a:rPr lang="ja-JP" altLang="en-US" sz="1000" u="sng">
                <a:solidFill>
                  <a:prstClr val="black"/>
                </a:solidFill>
                <a:latin typeface="Meiryo UI" panose="020B0604030504040204" pitchFamily="50" charset="-128"/>
                <a:ea typeface="Meiryo UI" panose="020B0604030504040204" pitchFamily="50" charset="-128"/>
                <a:cs typeface="Arial" charset="0"/>
                <a:sym typeface="+mn-lt"/>
              </a:rPr>
              <a:t>サステナビリティデータを経営判断に活用をするためのシステム機能配置最適化を通じて、</a:t>
            </a:r>
            <a:r>
              <a:rPr lang="en-US" altLang="ja-JP" sz="1000" b="1" u="sng">
                <a:solidFill>
                  <a:prstClr val="black"/>
                </a:solidFill>
                <a:latin typeface="Meiryo UI" panose="020B0604030504040204" pitchFamily="50" charset="-128"/>
                <a:ea typeface="Meiryo UI" panose="020B0604030504040204" pitchFamily="50" charset="-128"/>
                <a:cs typeface="Arial" charset="0"/>
                <a:sym typeface="+mn-lt"/>
              </a:rPr>
              <a:t>PDCA</a:t>
            </a: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サイクルを通じた経営改善と企業価値向上に寄与していること</a:t>
            </a:r>
          </a:p>
        </p:txBody>
      </p:sp>
      <p:sp>
        <p:nvSpPr>
          <p:cNvPr id="5" name="正方形/長方形 4">
            <a:extLst>
              <a:ext uri="{FF2B5EF4-FFF2-40B4-BE49-F238E27FC236}">
                <a16:creationId xmlns:a16="http://schemas.microsoft.com/office/drawing/2014/main" id="{EB8432D5-4955-7D08-9D5D-4F3D699EC41B}"/>
              </a:ext>
            </a:extLst>
          </p:cNvPr>
          <p:cNvSpPr/>
          <p:nvPr/>
        </p:nvSpPr>
        <p:spPr>
          <a:xfrm>
            <a:off x="161027" y="4389507"/>
            <a:ext cx="556602" cy="19663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900">
                <a:solidFill>
                  <a:schemeClr val="tx1"/>
                </a:solidFill>
                <a:latin typeface="Meiryo UI" panose="020B0604030504040204" pitchFamily="50" charset="-128"/>
                <a:ea typeface="Meiryo UI" panose="020B0604030504040204" pitchFamily="50" charset="-128"/>
              </a:rPr>
              <a:t>システムアーキテクチャ</a:t>
            </a:r>
          </a:p>
        </p:txBody>
      </p:sp>
      <p:sp>
        <p:nvSpPr>
          <p:cNvPr id="81" name="正方形/長方形 80">
            <a:extLst>
              <a:ext uri="{FF2B5EF4-FFF2-40B4-BE49-F238E27FC236}">
                <a16:creationId xmlns:a16="http://schemas.microsoft.com/office/drawing/2014/main" id="{06D0CB24-F84C-B781-BCCA-23A700EED84C}"/>
              </a:ext>
            </a:extLst>
          </p:cNvPr>
          <p:cNvSpPr/>
          <p:nvPr/>
        </p:nvSpPr>
        <p:spPr>
          <a:xfrm>
            <a:off x="752334" y="5622855"/>
            <a:ext cx="2232810" cy="481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000">
                <a:solidFill>
                  <a:schemeClr val="tx1"/>
                </a:solidFill>
                <a:latin typeface="Meiryo UI" panose="020B0604030504040204" pitchFamily="50" charset="-128"/>
                <a:ea typeface="Meiryo UI" panose="020B0604030504040204" pitchFamily="50" charset="-128"/>
              </a:rPr>
              <a:t>各開示対応に必要なデータを直接入力・自動連携等で収集し、開示様式ごとで出力を実現</a:t>
            </a:r>
          </a:p>
        </p:txBody>
      </p:sp>
      <p:sp>
        <p:nvSpPr>
          <p:cNvPr id="86" name="正方形/長方形 85">
            <a:extLst>
              <a:ext uri="{FF2B5EF4-FFF2-40B4-BE49-F238E27FC236}">
                <a16:creationId xmlns:a16="http://schemas.microsoft.com/office/drawing/2014/main" id="{20FBE3FB-9DA5-0489-95F0-0103DEC4E4D9}"/>
              </a:ext>
            </a:extLst>
          </p:cNvPr>
          <p:cNvSpPr/>
          <p:nvPr/>
        </p:nvSpPr>
        <p:spPr>
          <a:xfrm>
            <a:off x="3791562" y="5622855"/>
            <a:ext cx="2354421" cy="481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000">
                <a:solidFill>
                  <a:schemeClr val="tx1"/>
                </a:solidFill>
                <a:latin typeface="Meiryo UI" panose="020B0604030504040204" pitchFamily="50" charset="-128"/>
                <a:ea typeface="Meiryo UI" panose="020B0604030504040204" pitchFamily="50" charset="-128"/>
              </a:rPr>
              <a:t>業務課題は年次で抽出し、適宜システム改善を実施し、社内報告ではダッシュボード機能等で業務効率化を実現</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88" name="正方形/長方形 87">
            <a:extLst>
              <a:ext uri="{FF2B5EF4-FFF2-40B4-BE49-F238E27FC236}">
                <a16:creationId xmlns:a16="http://schemas.microsoft.com/office/drawing/2014/main" id="{A3D8F713-52A5-1F09-D2F5-005F352234A9}"/>
              </a:ext>
            </a:extLst>
          </p:cNvPr>
          <p:cNvSpPr/>
          <p:nvPr/>
        </p:nvSpPr>
        <p:spPr>
          <a:xfrm>
            <a:off x="6781274" y="5614174"/>
            <a:ext cx="2354421" cy="481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ü"/>
            </a:pPr>
            <a:r>
              <a:rPr kumimoji="1" lang="ja-JP" altLang="en-US" sz="1000">
                <a:solidFill>
                  <a:schemeClr val="tx1"/>
                </a:solidFill>
                <a:latin typeface="Meiryo UI" panose="020B0604030504040204" pitchFamily="50" charset="-128"/>
                <a:ea typeface="Meiryo UI" panose="020B0604030504040204" pitchFamily="50" charset="-128"/>
              </a:rPr>
              <a:t>分析・シミュレーション業務の高度化に伴い、共通基盤・</a:t>
            </a:r>
            <a:r>
              <a:rPr kumimoji="1" lang="en-US" altLang="ja-JP" sz="1000">
                <a:solidFill>
                  <a:schemeClr val="tx1"/>
                </a:solidFill>
                <a:latin typeface="Meiryo UI" panose="020B0604030504040204" pitchFamily="50" charset="-128"/>
                <a:ea typeface="Meiryo UI" panose="020B0604030504040204" pitchFamily="50" charset="-128"/>
              </a:rPr>
              <a:t>BI</a:t>
            </a:r>
            <a:r>
              <a:rPr kumimoji="1" lang="ja-JP" altLang="en-US" sz="1000">
                <a:solidFill>
                  <a:schemeClr val="tx1"/>
                </a:solidFill>
                <a:latin typeface="Meiryo UI" panose="020B0604030504040204" pitchFamily="50" charset="-128"/>
                <a:ea typeface="Meiryo UI" panose="020B0604030504040204" pitchFamily="50" charset="-128"/>
              </a:rPr>
              <a:t>ツール等との</a:t>
            </a:r>
            <a:r>
              <a:rPr kumimoji="1" lang="en-US" altLang="ja-JP" sz="1000">
                <a:solidFill>
                  <a:schemeClr val="tx1"/>
                </a:solidFill>
                <a:latin typeface="Meiryo UI" panose="020B0604030504040204" pitchFamily="50" charset="-128"/>
                <a:ea typeface="Meiryo UI" panose="020B0604030504040204" pitchFamily="50" charset="-128"/>
              </a:rPr>
              <a:t>I/F</a:t>
            </a:r>
            <a:r>
              <a:rPr kumimoji="1" lang="ja-JP" altLang="en-US" sz="1000">
                <a:solidFill>
                  <a:schemeClr val="tx1"/>
                </a:solidFill>
                <a:latin typeface="Meiryo UI" panose="020B0604030504040204" pitchFamily="50" charset="-128"/>
                <a:ea typeface="Meiryo UI" panose="020B0604030504040204" pitchFamily="50" charset="-128"/>
              </a:rPr>
              <a:t>を構築し、経営管理高度化を実現</a:t>
            </a:r>
          </a:p>
        </p:txBody>
      </p:sp>
      <p:sp>
        <p:nvSpPr>
          <p:cNvPr id="90" name="正方形/長方形 89">
            <a:extLst>
              <a:ext uri="{FF2B5EF4-FFF2-40B4-BE49-F238E27FC236}">
                <a16:creationId xmlns:a16="http://schemas.microsoft.com/office/drawing/2014/main" id="{D5F6CC1D-ABF7-0E03-2846-3976ECA212BA}"/>
              </a:ext>
            </a:extLst>
          </p:cNvPr>
          <p:cNvSpPr/>
          <p:nvPr/>
        </p:nvSpPr>
        <p:spPr>
          <a:xfrm>
            <a:off x="161027" y="2065502"/>
            <a:ext cx="556602" cy="12636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900">
                <a:solidFill>
                  <a:schemeClr val="tx1"/>
                </a:solidFill>
                <a:latin typeface="Meiryo UI" panose="020B0604030504040204" pitchFamily="50" charset="-128"/>
                <a:ea typeface="Meiryo UI" panose="020B0604030504040204" pitchFamily="50" charset="-128"/>
              </a:rPr>
              <a:t>ビジネス・</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システム要件</a:t>
            </a:r>
          </a:p>
        </p:txBody>
      </p:sp>
      <p:sp>
        <p:nvSpPr>
          <p:cNvPr id="25" name="正方形/長方形 24">
            <a:extLst>
              <a:ext uri="{FF2B5EF4-FFF2-40B4-BE49-F238E27FC236}">
                <a16:creationId xmlns:a16="http://schemas.microsoft.com/office/drawing/2014/main" id="{08643CAF-ACCE-2365-4A78-50658595CFC5}"/>
              </a:ext>
            </a:extLst>
          </p:cNvPr>
          <p:cNvSpPr/>
          <p:nvPr/>
        </p:nvSpPr>
        <p:spPr>
          <a:xfrm>
            <a:off x="829954" y="4478817"/>
            <a:ext cx="477918" cy="1116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インプット</a:t>
            </a:r>
          </a:p>
        </p:txBody>
      </p:sp>
      <p:sp>
        <p:nvSpPr>
          <p:cNvPr id="27" name="正方形/長方形 26">
            <a:extLst>
              <a:ext uri="{FF2B5EF4-FFF2-40B4-BE49-F238E27FC236}">
                <a16:creationId xmlns:a16="http://schemas.microsoft.com/office/drawing/2014/main" id="{EB5C7F63-1F3C-8739-E773-AE22CB1EB30F}"/>
              </a:ext>
            </a:extLst>
          </p:cNvPr>
          <p:cNvSpPr/>
          <p:nvPr/>
        </p:nvSpPr>
        <p:spPr>
          <a:xfrm>
            <a:off x="1340909" y="4478817"/>
            <a:ext cx="243520" cy="111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手入力・自動連携</a:t>
            </a:r>
          </a:p>
        </p:txBody>
      </p:sp>
      <p:sp>
        <p:nvSpPr>
          <p:cNvPr id="33" name="正方形/長方形 32">
            <a:extLst>
              <a:ext uri="{FF2B5EF4-FFF2-40B4-BE49-F238E27FC236}">
                <a16:creationId xmlns:a16="http://schemas.microsoft.com/office/drawing/2014/main" id="{20B6CC5F-CBBF-AC64-6FA5-B4F147B23182}"/>
              </a:ext>
            </a:extLst>
          </p:cNvPr>
          <p:cNvSpPr/>
          <p:nvPr/>
        </p:nvSpPr>
        <p:spPr>
          <a:xfrm>
            <a:off x="1617466" y="4478817"/>
            <a:ext cx="456953" cy="1116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アウトプット</a:t>
            </a:r>
            <a:endParaRPr kumimoji="1" lang="en-US" altLang="ja-JP" sz="800">
              <a:solidFill>
                <a:schemeClr val="tx1"/>
              </a:solidFill>
              <a:latin typeface="Meiryo UI" panose="020B0604030504040204" pitchFamily="50" charset="-128"/>
              <a:ea typeface="Meiryo UI" panose="020B0604030504040204" pitchFamily="50" charset="-128"/>
            </a:endParaRPr>
          </a:p>
          <a:p>
            <a:pPr algn="ctr"/>
            <a:r>
              <a:rPr kumimoji="1" lang="en-US" altLang="ja-JP" sz="800">
                <a:solidFill>
                  <a:schemeClr val="tx1"/>
                </a:solidFill>
                <a:latin typeface="Meiryo UI" panose="020B0604030504040204" pitchFamily="50" charset="-128"/>
                <a:ea typeface="Meiryo UI" panose="020B0604030504040204" pitchFamily="50" charset="-128"/>
              </a:rPr>
              <a:t>(</a:t>
            </a:r>
            <a:r>
              <a:rPr kumimoji="1" lang="ja-JP" altLang="en-US" sz="800">
                <a:solidFill>
                  <a:schemeClr val="tx1"/>
                </a:solidFill>
                <a:latin typeface="Meiryo UI" panose="020B0604030504040204" pitchFamily="50" charset="-128"/>
                <a:ea typeface="Meiryo UI" panose="020B0604030504040204" pitchFamily="50" charset="-128"/>
              </a:rPr>
              <a:t>開示</a:t>
            </a:r>
            <a:r>
              <a:rPr kumimoji="1" lang="en-US" altLang="ja-JP" sz="800">
                <a:solidFill>
                  <a:schemeClr val="tx1"/>
                </a:solidFill>
                <a:latin typeface="Meiryo UI" panose="020B0604030504040204" pitchFamily="50" charset="-128"/>
                <a:ea typeface="Meiryo UI" panose="020B0604030504040204" pitchFamily="50" charset="-128"/>
              </a:rPr>
              <a:t>)</a:t>
            </a:r>
            <a:endParaRPr kumimoji="1" lang="ja-JP" altLang="en-US" sz="800">
              <a:solidFill>
                <a:schemeClr val="tx1"/>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2FBFB977-BDBD-00AA-F595-635A77B2D7ED}"/>
              </a:ext>
            </a:extLst>
          </p:cNvPr>
          <p:cNvSpPr/>
          <p:nvPr/>
        </p:nvSpPr>
        <p:spPr>
          <a:xfrm>
            <a:off x="2107456" y="4478817"/>
            <a:ext cx="243520" cy="1116000"/>
          </a:xfrm>
          <a:prstGeom prst="rect">
            <a:avLst/>
          </a:prstGeom>
          <a:solidFill>
            <a:schemeClr val="bg1">
              <a:lumMod val="95000"/>
            </a:schemeClr>
          </a:solidFill>
          <a:ln>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bg1">
                    <a:lumMod val="50000"/>
                  </a:schemeClr>
                </a:solidFill>
                <a:latin typeface="Meiryo UI" panose="020B0604030504040204" pitchFamily="50" charset="-128"/>
                <a:ea typeface="Meiryo UI" panose="020B0604030504040204" pitchFamily="50" charset="-128"/>
              </a:rPr>
              <a:t>手入力</a:t>
            </a:r>
          </a:p>
        </p:txBody>
      </p:sp>
      <p:sp>
        <p:nvSpPr>
          <p:cNvPr id="107" name="正方形/長方形 106">
            <a:extLst>
              <a:ext uri="{FF2B5EF4-FFF2-40B4-BE49-F238E27FC236}">
                <a16:creationId xmlns:a16="http://schemas.microsoft.com/office/drawing/2014/main" id="{9947616C-8E07-FB93-5196-571E051F3357}"/>
              </a:ext>
            </a:extLst>
          </p:cNvPr>
          <p:cNvSpPr/>
          <p:nvPr/>
        </p:nvSpPr>
        <p:spPr>
          <a:xfrm>
            <a:off x="2384012" y="4478817"/>
            <a:ext cx="456953" cy="1116000"/>
          </a:xfrm>
          <a:prstGeom prst="rect">
            <a:avLst/>
          </a:prstGeom>
          <a:solidFill>
            <a:schemeClr val="bg1">
              <a:lumMod val="95000"/>
            </a:schemeClr>
          </a:solidFill>
          <a:ln>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bg1">
                    <a:lumMod val="50000"/>
                  </a:schemeClr>
                </a:solidFill>
                <a:latin typeface="Meiryo UI" panose="020B0604030504040204" pitchFamily="50" charset="-128"/>
                <a:ea typeface="Meiryo UI" panose="020B0604030504040204" pitchFamily="50" charset="-128"/>
              </a:rPr>
              <a:t>分析・</a:t>
            </a:r>
            <a:endParaRPr kumimoji="1" lang="en-US" altLang="ja-JP" sz="800">
              <a:solidFill>
                <a:schemeClr val="bg1">
                  <a:lumMod val="50000"/>
                </a:schemeClr>
              </a:solidFill>
              <a:latin typeface="Meiryo UI" panose="020B0604030504040204" pitchFamily="50" charset="-128"/>
              <a:ea typeface="Meiryo UI" panose="020B0604030504040204" pitchFamily="50" charset="-128"/>
            </a:endParaRPr>
          </a:p>
          <a:p>
            <a:pPr algn="ctr"/>
            <a:r>
              <a:rPr kumimoji="1" lang="ja-JP" altLang="en-US" sz="800">
                <a:solidFill>
                  <a:schemeClr val="bg1">
                    <a:lumMod val="50000"/>
                  </a:schemeClr>
                </a:solidFill>
                <a:latin typeface="Meiryo UI" panose="020B0604030504040204" pitchFamily="50" charset="-128"/>
                <a:ea typeface="Meiryo UI" panose="020B0604030504040204" pitchFamily="50" charset="-128"/>
              </a:rPr>
              <a:t>シミュレーション基盤</a:t>
            </a:r>
          </a:p>
        </p:txBody>
      </p:sp>
      <p:sp>
        <p:nvSpPr>
          <p:cNvPr id="114" name="正方形/長方形 113">
            <a:extLst>
              <a:ext uri="{FF2B5EF4-FFF2-40B4-BE49-F238E27FC236}">
                <a16:creationId xmlns:a16="http://schemas.microsoft.com/office/drawing/2014/main" id="{A2E1BE6D-C819-57E7-3D37-F507F2041D8B}"/>
              </a:ext>
            </a:extLst>
          </p:cNvPr>
          <p:cNvSpPr/>
          <p:nvPr/>
        </p:nvSpPr>
        <p:spPr>
          <a:xfrm>
            <a:off x="6952979" y="4478816"/>
            <a:ext cx="477918" cy="1116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インプット</a:t>
            </a:r>
          </a:p>
        </p:txBody>
      </p:sp>
      <p:sp>
        <p:nvSpPr>
          <p:cNvPr id="115" name="正方形/長方形 114">
            <a:extLst>
              <a:ext uri="{FF2B5EF4-FFF2-40B4-BE49-F238E27FC236}">
                <a16:creationId xmlns:a16="http://schemas.microsoft.com/office/drawing/2014/main" id="{D5BE8F57-EB34-1587-BC1F-87C329C95641}"/>
              </a:ext>
            </a:extLst>
          </p:cNvPr>
          <p:cNvSpPr/>
          <p:nvPr/>
        </p:nvSpPr>
        <p:spPr>
          <a:xfrm>
            <a:off x="7463934" y="4478816"/>
            <a:ext cx="243520" cy="111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手入力・自動連携</a:t>
            </a:r>
            <a:endParaRPr kumimoji="1" lang="en-US" altLang="ja-JP" sz="800">
              <a:solidFill>
                <a:schemeClr val="tx1"/>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A15029FA-DD30-7A7C-0129-AEF0A7636576}"/>
              </a:ext>
            </a:extLst>
          </p:cNvPr>
          <p:cNvSpPr/>
          <p:nvPr/>
        </p:nvSpPr>
        <p:spPr>
          <a:xfrm>
            <a:off x="7740491" y="4478816"/>
            <a:ext cx="456953" cy="1116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アウトプット</a:t>
            </a:r>
            <a:endParaRPr kumimoji="1" lang="en-US" altLang="ja-JP" sz="800">
              <a:solidFill>
                <a:schemeClr val="tx1"/>
              </a:solidFill>
              <a:latin typeface="Meiryo UI" panose="020B0604030504040204" pitchFamily="50" charset="-128"/>
              <a:ea typeface="Meiryo UI" panose="020B0604030504040204" pitchFamily="50" charset="-128"/>
            </a:endParaRPr>
          </a:p>
          <a:p>
            <a:pPr algn="ctr"/>
            <a:r>
              <a:rPr kumimoji="1" lang="en-US" altLang="ja-JP" sz="800">
                <a:solidFill>
                  <a:schemeClr val="tx1"/>
                </a:solidFill>
                <a:latin typeface="Meiryo UI" panose="020B0604030504040204" pitchFamily="50" charset="-128"/>
                <a:ea typeface="Meiryo UI" panose="020B0604030504040204" pitchFamily="50" charset="-128"/>
              </a:rPr>
              <a:t>(</a:t>
            </a:r>
            <a:r>
              <a:rPr kumimoji="1" lang="ja-JP" altLang="en-US" sz="800">
                <a:solidFill>
                  <a:schemeClr val="tx1"/>
                </a:solidFill>
                <a:latin typeface="Meiryo UI" panose="020B0604030504040204" pitchFamily="50" charset="-128"/>
                <a:ea typeface="Meiryo UI" panose="020B0604030504040204" pitchFamily="50" charset="-128"/>
              </a:rPr>
              <a:t>開示・社内報告</a:t>
            </a:r>
            <a:r>
              <a:rPr kumimoji="1" lang="en-US" altLang="ja-JP" sz="800">
                <a:solidFill>
                  <a:schemeClr val="tx1"/>
                </a:solidFill>
                <a:latin typeface="Meiryo UI" panose="020B0604030504040204" pitchFamily="50" charset="-128"/>
                <a:ea typeface="Meiryo UI" panose="020B0604030504040204" pitchFamily="50" charset="-128"/>
              </a:rPr>
              <a:t>)</a:t>
            </a:r>
            <a:endParaRPr kumimoji="1" lang="ja-JP" altLang="en-US" sz="800">
              <a:solidFill>
                <a:schemeClr val="tx1"/>
              </a:solidFill>
              <a:latin typeface="Meiryo UI" panose="020B0604030504040204" pitchFamily="50" charset="-128"/>
              <a:ea typeface="Meiryo UI" panose="020B0604030504040204" pitchFamily="50" charset="-128"/>
            </a:endParaRPr>
          </a:p>
        </p:txBody>
      </p:sp>
      <p:sp>
        <p:nvSpPr>
          <p:cNvPr id="117" name="矢印: 右 116">
            <a:extLst>
              <a:ext uri="{FF2B5EF4-FFF2-40B4-BE49-F238E27FC236}">
                <a16:creationId xmlns:a16="http://schemas.microsoft.com/office/drawing/2014/main" id="{0F8ECBAB-93B2-9FC9-9DD6-EC1118B31494}"/>
              </a:ext>
            </a:extLst>
          </p:cNvPr>
          <p:cNvSpPr/>
          <p:nvPr/>
        </p:nvSpPr>
        <p:spPr>
          <a:xfrm>
            <a:off x="7301137" y="4467333"/>
            <a:ext cx="549095" cy="228600"/>
          </a:xfrm>
          <a:prstGeom prst="rightArrow">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900">
              <a:solidFill>
                <a:schemeClr val="tx1"/>
              </a:solidFill>
              <a:latin typeface="Meiryo UI" panose="020B0604030504040204" pitchFamily="50" charset="-128"/>
              <a:ea typeface="Meiryo UI" panose="020B0604030504040204" pitchFamily="50" charset="-128"/>
            </a:endParaRPr>
          </a:p>
        </p:txBody>
      </p:sp>
      <p:sp>
        <p:nvSpPr>
          <p:cNvPr id="118" name="正方形/長方形 117">
            <a:extLst>
              <a:ext uri="{FF2B5EF4-FFF2-40B4-BE49-F238E27FC236}">
                <a16:creationId xmlns:a16="http://schemas.microsoft.com/office/drawing/2014/main" id="{6B4B19EF-FEDB-9713-6E42-FC801D945019}"/>
              </a:ext>
            </a:extLst>
          </p:cNvPr>
          <p:cNvSpPr/>
          <p:nvPr/>
        </p:nvSpPr>
        <p:spPr>
          <a:xfrm>
            <a:off x="8230481" y="4478816"/>
            <a:ext cx="243520" cy="111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b="1">
                <a:solidFill>
                  <a:schemeClr val="tx1"/>
                </a:solidFill>
                <a:latin typeface="Meiryo UI" panose="020B0604030504040204" pitchFamily="50" charset="-128"/>
                <a:ea typeface="Meiryo UI" panose="020B0604030504040204" pitchFamily="50" charset="-128"/>
              </a:rPr>
              <a:t>自動連携</a:t>
            </a:r>
          </a:p>
        </p:txBody>
      </p:sp>
      <p:sp>
        <p:nvSpPr>
          <p:cNvPr id="119" name="正方形/長方形 118">
            <a:extLst>
              <a:ext uri="{FF2B5EF4-FFF2-40B4-BE49-F238E27FC236}">
                <a16:creationId xmlns:a16="http://schemas.microsoft.com/office/drawing/2014/main" id="{BD4AF5F6-7D1E-FABC-D90D-4DAFDFE94117}"/>
              </a:ext>
            </a:extLst>
          </p:cNvPr>
          <p:cNvSpPr/>
          <p:nvPr/>
        </p:nvSpPr>
        <p:spPr>
          <a:xfrm>
            <a:off x="8507037" y="4478816"/>
            <a:ext cx="456953" cy="1116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b="1">
                <a:solidFill>
                  <a:schemeClr val="tx1"/>
                </a:solidFill>
                <a:latin typeface="Meiryo UI" panose="020B0604030504040204" pitchFamily="50" charset="-128"/>
                <a:ea typeface="Meiryo UI" panose="020B0604030504040204" pitchFamily="50" charset="-128"/>
              </a:rPr>
              <a:t>分析・</a:t>
            </a:r>
            <a:endParaRPr kumimoji="1" lang="en-US" altLang="ja-JP" sz="800" b="1">
              <a:solidFill>
                <a:schemeClr val="tx1"/>
              </a:solidFill>
              <a:latin typeface="Meiryo UI" panose="020B0604030504040204" pitchFamily="50" charset="-128"/>
              <a:ea typeface="Meiryo UI" panose="020B0604030504040204" pitchFamily="50" charset="-128"/>
            </a:endParaRPr>
          </a:p>
          <a:p>
            <a:pPr algn="ctr"/>
            <a:r>
              <a:rPr kumimoji="1" lang="ja-JP" altLang="en-US" sz="800" b="1">
                <a:solidFill>
                  <a:schemeClr val="tx1"/>
                </a:solidFill>
                <a:latin typeface="Meiryo UI" panose="020B0604030504040204" pitchFamily="50" charset="-128"/>
                <a:ea typeface="Meiryo UI" panose="020B0604030504040204" pitchFamily="50" charset="-128"/>
              </a:rPr>
              <a:t>シミュレーション基盤</a:t>
            </a:r>
          </a:p>
        </p:txBody>
      </p:sp>
      <p:sp>
        <p:nvSpPr>
          <p:cNvPr id="120" name="矢印: 右 119">
            <a:extLst>
              <a:ext uri="{FF2B5EF4-FFF2-40B4-BE49-F238E27FC236}">
                <a16:creationId xmlns:a16="http://schemas.microsoft.com/office/drawing/2014/main" id="{637131C0-3866-4BE0-9C5A-4B126692DF35}"/>
              </a:ext>
            </a:extLst>
          </p:cNvPr>
          <p:cNvSpPr/>
          <p:nvPr/>
        </p:nvSpPr>
        <p:spPr>
          <a:xfrm>
            <a:off x="8096860" y="4467333"/>
            <a:ext cx="549095" cy="228600"/>
          </a:xfrm>
          <a:prstGeom prst="rightArrow">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900">
              <a:solidFill>
                <a:schemeClr val="tx1"/>
              </a:solidFill>
              <a:latin typeface="Meiryo UI" panose="020B0604030504040204" pitchFamily="50" charset="-128"/>
              <a:ea typeface="Meiryo UI" panose="020B0604030504040204" pitchFamily="50" charset="-128"/>
            </a:endParaRPr>
          </a:p>
        </p:txBody>
      </p:sp>
      <p:sp>
        <p:nvSpPr>
          <p:cNvPr id="122" name="正方形/長方形 121">
            <a:extLst>
              <a:ext uri="{FF2B5EF4-FFF2-40B4-BE49-F238E27FC236}">
                <a16:creationId xmlns:a16="http://schemas.microsoft.com/office/drawing/2014/main" id="{51768980-9198-47F5-3658-EBB53E29B55E}"/>
              </a:ext>
            </a:extLst>
          </p:cNvPr>
          <p:cNvSpPr/>
          <p:nvPr/>
        </p:nvSpPr>
        <p:spPr>
          <a:xfrm>
            <a:off x="3948027" y="4478816"/>
            <a:ext cx="477918" cy="1116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インプット</a:t>
            </a:r>
          </a:p>
        </p:txBody>
      </p:sp>
      <p:sp>
        <p:nvSpPr>
          <p:cNvPr id="123" name="正方形/長方形 122">
            <a:extLst>
              <a:ext uri="{FF2B5EF4-FFF2-40B4-BE49-F238E27FC236}">
                <a16:creationId xmlns:a16="http://schemas.microsoft.com/office/drawing/2014/main" id="{EE32E921-CE35-F00F-9ED3-429781868F95}"/>
              </a:ext>
            </a:extLst>
          </p:cNvPr>
          <p:cNvSpPr/>
          <p:nvPr/>
        </p:nvSpPr>
        <p:spPr>
          <a:xfrm>
            <a:off x="4458982" y="4478816"/>
            <a:ext cx="243520" cy="111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手入力・自動連携</a:t>
            </a:r>
            <a:endParaRPr kumimoji="1" lang="en-US" altLang="ja-JP" sz="800">
              <a:solidFill>
                <a:schemeClr val="tx1"/>
              </a:solidFill>
              <a:latin typeface="Meiryo UI" panose="020B0604030504040204" pitchFamily="50" charset="-128"/>
              <a:ea typeface="Meiryo UI" panose="020B0604030504040204" pitchFamily="50" charset="-128"/>
            </a:endParaRPr>
          </a:p>
        </p:txBody>
      </p:sp>
      <p:sp>
        <p:nvSpPr>
          <p:cNvPr id="124" name="正方形/長方形 123">
            <a:extLst>
              <a:ext uri="{FF2B5EF4-FFF2-40B4-BE49-F238E27FC236}">
                <a16:creationId xmlns:a16="http://schemas.microsoft.com/office/drawing/2014/main" id="{D6C7284A-6A84-B438-091D-ABEE755B3385}"/>
              </a:ext>
            </a:extLst>
          </p:cNvPr>
          <p:cNvSpPr/>
          <p:nvPr/>
        </p:nvSpPr>
        <p:spPr>
          <a:xfrm>
            <a:off x="4735539" y="4478816"/>
            <a:ext cx="456953" cy="1116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tx1"/>
                </a:solidFill>
                <a:latin typeface="Meiryo UI" panose="020B0604030504040204" pitchFamily="50" charset="-128"/>
                <a:ea typeface="Meiryo UI" panose="020B0604030504040204" pitchFamily="50" charset="-128"/>
              </a:rPr>
              <a:t>アウトプット</a:t>
            </a:r>
            <a:endParaRPr kumimoji="1" lang="en-US" altLang="ja-JP" sz="800">
              <a:solidFill>
                <a:schemeClr val="tx1"/>
              </a:solidFill>
              <a:latin typeface="Meiryo UI" panose="020B0604030504040204" pitchFamily="50" charset="-128"/>
              <a:ea typeface="Meiryo UI" panose="020B0604030504040204" pitchFamily="50" charset="-128"/>
            </a:endParaRPr>
          </a:p>
          <a:p>
            <a:pPr algn="ctr"/>
            <a:r>
              <a:rPr kumimoji="1" lang="en-US" altLang="ja-JP" sz="800">
                <a:solidFill>
                  <a:schemeClr val="tx1"/>
                </a:solidFill>
                <a:latin typeface="Meiryo UI" panose="020B0604030504040204" pitchFamily="50" charset="-128"/>
                <a:ea typeface="Meiryo UI" panose="020B0604030504040204" pitchFamily="50" charset="-128"/>
              </a:rPr>
              <a:t>(</a:t>
            </a:r>
            <a:r>
              <a:rPr kumimoji="1" lang="ja-JP" altLang="en-US" sz="800">
                <a:solidFill>
                  <a:schemeClr val="tx1"/>
                </a:solidFill>
                <a:latin typeface="Meiryo UI" panose="020B0604030504040204" pitchFamily="50" charset="-128"/>
                <a:ea typeface="Meiryo UI" panose="020B0604030504040204" pitchFamily="50" charset="-128"/>
              </a:rPr>
              <a:t>開示・</a:t>
            </a:r>
            <a:r>
              <a:rPr kumimoji="1" lang="ja-JP" altLang="en-US" sz="800" b="1">
                <a:solidFill>
                  <a:schemeClr val="tx1"/>
                </a:solidFill>
                <a:latin typeface="Meiryo UI" panose="020B0604030504040204" pitchFamily="50" charset="-128"/>
                <a:ea typeface="Meiryo UI" panose="020B0604030504040204" pitchFamily="50" charset="-128"/>
              </a:rPr>
              <a:t>社内報告</a:t>
            </a:r>
            <a:r>
              <a:rPr kumimoji="1" lang="en-US" altLang="ja-JP" sz="800">
                <a:solidFill>
                  <a:schemeClr val="tx1"/>
                </a:solidFill>
                <a:latin typeface="Meiryo UI" panose="020B0604030504040204" pitchFamily="50" charset="-128"/>
                <a:ea typeface="Meiryo UI" panose="020B0604030504040204" pitchFamily="50" charset="-128"/>
              </a:rPr>
              <a:t>)</a:t>
            </a:r>
            <a:endParaRPr kumimoji="1" lang="ja-JP" altLang="en-US" sz="800">
              <a:solidFill>
                <a:schemeClr val="tx1"/>
              </a:solidFill>
              <a:latin typeface="Meiryo UI" panose="020B0604030504040204" pitchFamily="50" charset="-128"/>
              <a:ea typeface="Meiryo UI" panose="020B0604030504040204" pitchFamily="50" charset="-128"/>
            </a:endParaRPr>
          </a:p>
        </p:txBody>
      </p:sp>
      <p:sp>
        <p:nvSpPr>
          <p:cNvPr id="125" name="矢印: 右 124">
            <a:extLst>
              <a:ext uri="{FF2B5EF4-FFF2-40B4-BE49-F238E27FC236}">
                <a16:creationId xmlns:a16="http://schemas.microsoft.com/office/drawing/2014/main" id="{3A960267-356B-522B-9EDF-56842D0AB411}"/>
              </a:ext>
            </a:extLst>
          </p:cNvPr>
          <p:cNvSpPr/>
          <p:nvPr/>
        </p:nvSpPr>
        <p:spPr>
          <a:xfrm>
            <a:off x="4296185" y="4467333"/>
            <a:ext cx="549095" cy="228600"/>
          </a:xfrm>
          <a:prstGeom prst="rightArrow">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800">
              <a:solidFill>
                <a:schemeClr val="tx1"/>
              </a:solidFill>
              <a:latin typeface="Meiryo UI" panose="020B0604030504040204" pitchFamily="50" charset="-128"/>
              <a:ea typeface="Meiryo UI" panose="020B0604030504040204" pitchFamily="50" charset="-128"/>
            </a:endParaRPr>
          </a:p>
        </p:txBody>
      </p:sp>
      <p:sp>
        <p:nvSpPr>
          <p:cNvPr id="126" name="正方形/長方形 125">
            <a:extLst>
              <a:ext uri="{FF2B5EF4-FFF2-40B4-BE49-F238E27FC236}">
                <a16:creationId xmlns:a16="http://schemas.microsoft.com/office/drawing/2014/main" id="{AB8FF2BC-1E12-286C-DE60-F35D552A858C}"/>
              </a:ext>
            </a:extLst>
          </p:cNvPr>
          <p:cNvSpPr/>
          <p:nvPr/>
        </p:nvSpPr>
        <p:spPr>
          <a:xfrm>
            <a:off x="5225529" y="4478816"/>
            <a:ext cx="243520" cy="1116000"/>
          </a:xfrm>
          <a:prstGeom prst="rect">
            <a:avLst/>
          </a:prstGeom>
          <a:solidFill>
            <a:schemeClr val="bg1">
              <a:lumMod val="95000"/>
            </a:schemeClr>
          </a:solidFill>
          <a:ln>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800">
                <a:solidFill>
                  <a:schemeClr val="bg1">
                    <a:lumMod val="50000"/>
                  </a:schemeClr>
                </a:solidFill>
                <a:latin typeface="Meiryo UI" panose="020B0604030504040204" pitchFamily="50" charset="-128"/>
                <a:ea typeface="Meiryo UI" panose="020B0604030504040204" pitchFamily="50" charset="-128"/>
              </a:rPr>
              <a:t>手入力</a:t>
            </a:r>
          </a:p>
        </p:txBody>
      </p:sp>
      <p:sp>
        <p:nvSpPr>
          <p:cNvPr id="127" name="正方形/長方形 126">
            <a:extLst>
              <a:ext uri="{FF2B5EF4-FFF2-40B4-BE49-F238E27FC236}">
                <a16:creationId xmlns:a16="http://schemas.microsoft.com/office/drawing/2014/main" id="{55B935FD-003B-2EAC-4225-AD0C6B5287E6}"/>
              </a:ext>
            </a:extLst>
          </p:cNvPr>
          <p:cNvSpPr/>
          <p:nvPr/>
        </p:nvSpPr>
        <p:spPr>
          <a:xfrm>
            <a:off x="5502085" y="4478816"/>
            <a:ext cx="456953" cy="1116000"/>
          </a:xfrm>
          <a:prstGeom prst="rect">
            <a:avLst/>
          </a:prstGeom>
          <a:solidFill>
            <a:schemeClr val="bg1">
              <a:lumMod val="95000"/>
            </a:schemeClr>
          </a:solidFill>
          <a:ln>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kumimoji="1" lang="ja-JP" altLang="en-US" sz="800">
                <a:solidFill>
                  <a:schemeClr val="bg1">
                    <a:lumMod val="50000"/>
                  </a:schemeClr>
                </a:solidFill>
                <a:latin typeface="Meiryo UI" panose="020B0604030504040204" pitchFamily="50" charset="-128"/>
                <a:ea typeface="Meiryo UI" panose="020B0604030504040204" pitchFamily="50" charset="-128"/>
              </a:rPr>
              <a:t>分析・</a:t>
            </a:r>
            <a:endParaRPr kumimoji="1" lang="en-US" altLang="ja-JP" sz="800">
              <a:solidFill>
                <a:schemeClr val="bg1">
                  <a:lumMod val="50000"/>
                </a:schemeClr>
              </a:solidFill>
              <a:latin typeface="Meiryo UI" panose="020B0604030504040204" pitchFamily="50" charset="-128"/>
              <a:ea typeface="Meiryo UI" panose="020B0604030504040204" pitchFamily="50" charset="-128"/>
            </a:endParaRPr>
          </a:p>
          <a:p>
            <a:pPr algn="ctr"/>
            <a:r>
              <a:rPr kumimoji="1" lang="ja-JP" altLang="en-US" sz="800">
                <a:solidFill>
                  <a:schemeClr val="bg1">
                    <a:lumMod val="50000"/>
                  </a:schemeClr>
                </a:solidFill>
                <a:latin typeface="Meiryo UI" panose="020B0604030504040204" pitchFamily="50" charset="-128"/>
                <a:ea typeface="Meiryo UI" panose="020B0604030504040204" pitchFamily="50" charset="-128"/>
              </a:rPr>
              <a:t>シミュレーション基盤</a:t>
            </a:r>
          </a:p>
        </p:txBody>
      </p:sp>
      <p:sp>
        <p:nvSpPr>
          <p:cNvPr id="320" name="矢印: 右 319">
            <a:extLst>
              <a:ext uri="{FF2B5EF4-FFF2-40B4-BE49-F238E27FC236}">
                <a16:creationId xmlns:a16="http://schemas.microsoft.com/office/drawing/2014/main" id="{3E0F93E8-25A6-8616-317B-DFBCE4A59A47}"/>
              </a:ext>
            </a:extLst>
          </p:cNvPr>
          <p:cNvSpPr/>
          <p:nvPr/>
        </p:nvSpPr>
        <p:spPr>
          <a:xfrm>
            <a:off x="5091908" y="4467333"/>
            <a:ext cx="549095" cy="228600"/>
          </a:xfrm>
          <a:prstGeom prst="rightArrow">
            <a:avLst/>
          </a:prstGeom>
          <a:solidFill>
            <a:schemeClr val="bg1">
              <a:lumMod val="95000"/>
            </a:schemeClr>
          </a:solidFill>
          <a:ln>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800">
              <a:solidFill>
                <a:schemeClr val="bg1">
                  <a:lumMod val="50000"/>
                </a:schemeClr>
              </a:solidFill>
              <a:latin typeface="Meiryo UI" panose="020B0604030504040204" pitchFamily="50" charset="-128"/>
              <a:ea typeface="Meiryo UI" panose="020B0604030504040204" pitchFamily="50" charset="-128"/>
            </a:endParaRPr>
          </a:p>
        </p:txBody>
      </p:sp>
      <p:cxnSp>
        <p:nvCxnSpPr>
          <p:cNvPr id="4" name="直線矢印コネクタ 3">
            <a:extLst>
              <a:ext uri="{FF2B5EF4-FFF2-40B4-BE49-F238E27FC236}">
                <a16:creationId xmlns:a16="http://schemas.microsoft.com/office/drawing/2014/main" id="{B2D9E9C9-04BE-4C18-0A2D-B7B9A37BECC5}"/>
              </a:ext>
            </a:extLst>
          </p:cNvPr>
          <p:cNvCxnSpPr>
            <a:cxnSpLocks/>
          </p:cNvCxnSpPr>
          <p:nvPr/>
        </p:nvCxnSpPr>
        <p:spPr>
          <a:xfrm>
            <a:off x="752334" y="6222707"/>
            <a:ext cx="5951028" cy="0"/>
          </a:xfrm>
          <a:prstGeom prst="straightConnector1">
            <a:avLst/>
          </a:prstGeom>
          <a:ln w="2857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7B2AA931-3159-E442-4617-E981506DF582}"/>
              </a:ext>
            </a:extLst>
          </p:cNvPr>
          <p:cNvCxnSpPr>
            <a:cxnSpLocks/>
          </p:cNvCxnSpPr>
          <p:nvPr/>
        </p:nvCxnSpPr>
        <p:spPr>
          <a:xfrm flipV="1">
            <a:off x="6715959" y="6222706"/>
            <a:ext cx="2354421" cy="1"/>
          </a:xfrm>
          <a:prstGeom prst="straightConnector1">
            <a:avLst/>
          </a:prstGeom>
          <a:ln w="2857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EC3FACC7-48CC-0F59-25E6-BEB645DCEA99}"/>
              </a:ext>
            </a:extLst>
          </p:cNvPr>
          <p:cNvSpPr/>
          <p:nvPr/>
        </p:nvSpPr>
        <p:spPr>
          <a:xfrm>
            <a:off x="3168221" y="6116501"/>
            <a:ext cx="1522477" cy="2124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データ収集</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開示・報告</a:t>
            </a:r>
          </a:p>
        </p:txBody>
      </p:sp>
      <p:sp>
        <p:nvSpPr>
          <p:cNvPr id="10" name="正方形/長方形 9">
            <a:extLst>
              <a:ext uri="{FF2B5EF4-FFF2-40B4-BE49-F238E27FC236}">
                <a16:creationId xmlns:a16="http://schemas.microsoft.com/office/drawing/2014/main" id="{024116F9-17A4-9800-3AD6-2FA2158D2254}"/>
              </a:ext>
            </a:extLst>
          </p:cNvPr>
          <p:cNvSpPr/>
          <p:nvPr/>
        </p:nvSpPr>
        <p:spPr>
          <a:xfrm>
            <a:off x="6947192" y="6116501"/>
            <a:ext cx="1926632" cy="2124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モニタリング</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分析</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計画策定</a:t>
            </a:r>
          </a:p>
        </p:txBody>
      </p:sp>
      <p:sp>
        <p:nvSpPr>
          <p:cNvPr id="12" name="Rectangle 41">
            <a:extLst>
              <a:ext uri="{FF2B5EF4-FFF2-40B4-BE49-F238E27FC236}">
                <a16:creationId xmlns:a16="http://schemas.microsoft.com/office/drawing/2014/main" id="{88A7D7BD-F5B1-1BD0-7C6A-550C6F2B583B}"/>
              </a:ext>
            </a:extLst>
          </p:cNvPr>
          <p:cNvSpPr>
            <a:spLocks noChangeArrowheads="1"/>
          </p:cNvSpPr>
          <p:nvPr/>
        </p:nvSpPr>
        <p:spPr bwMode="gray">
          <a:xfrm>
            <a:off x="5165548" y="1655688"/>
            <a:ext cx="2160000" cy="360000"/>
          </a:xfrm>
          <a:prstGeom prst="homePlate">
            <a:avLst/>
          </a:prstGeom>
          <a:solidFill>
            <a:schemeClr val="tx2"/>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ja-JP" altLang="en-US" sz="1050" b="1" kern="0">
                <a:solidFill>
                  <a:schemeClr val="bg1"/>
                </a:solidFill>
                <a:latin typeface="Meiryo UI" panose="020B0604030504040204" pitchFamily="50" charset="-128"/>
                <a:ea typeface="Meiryo UI" panose="020B0604030504040204" pitchFamily="50" charset="-128"/>
                <a:cs typeface="Arial" charset="0"/>
              </a:rPr>
              <a:t>継続的なシステム改善</a:t>
            </a:r>
            <a:endParaRPr kumimoji="1" lang="en-US" altLang="ja-JP" sz="1050" b="1" kern="0">
              <a:solidFill>
                <a:schemeClr val="bg1"/>
              </a:solidFill>
              <a:latin typeface="Meiryo UI" panose="020B0604030504040204" pitchFamily="50" charset="-128"/>
              <a:ea typeface="Meiryo UI" panose="020B0604030504040204" pitchFamily="50" charset="-128"/>
              <a:cs typeface="Arial" charset="0"/>
            </a:endParaRPr>
          </a:p>
        </p:txBody>
      </p:sp>
      <p:sp>
        <p:nvSpPr>
          <p:cNvPr id="13" name="Rectangle 41">
            <a:extLst>
              <a:ext uri="{FF2B5EF4-FFF2-40B4-BE49-F238E27FC236}">
                <a16:creationId xmlns:a16="http://schemas.microsoft.com/office/drawing/2014/main" id="{3DE1916E-436E-3430-973F-9ACD32DD8F40}"/>
              </a:ext>
            </a:extLst>
          </p:cNvPr>
          <p:cNvSpPr>
            <a:spLocks noChangeArrowheads="1"/>
          </p:cNvSpPr>
          <p:nvPr/>
        </p:nvSpPr>
        <p:spPr bwMode="gray">
          <a:xfrm>
            <a:off x="5178729" y="1436005"/>
            <a:ext cx="2160000" cy="270512"/>
          </a:xfrm>
          <a:prstGeom prst="rect">
            <a:avLst/>
          </a:prstGeom>
          <a:noFill/>
          <a:ln w="19050" algn="ctr">
            <a:noFill/>
            <a:miter lim="800000"/>
            <a:headEnd/>
            <a:tailEnd/>
          </a:ln>
          <a:effectLst/>
        </p:spPr>
        <p:txBody>
          <a:bodyPr lIns="72000" tIns="36000" rIns="72000" bIns="36000" anchor="ctr"/>
          <a:lstStyle/>
          <a:p>
            <a:pPr defTabSz="914400" fontAlgn="base">
              <a:spcAft>
                <a:spcPct val="0"/>
              </a:spcAft>
              <a:defRPr/>
            </a:pPr>
            <a:r>
              <a:rPr lang="en-US" altLang="ja-JP" sz="11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Step 2-2.</a:t>
            </a:r>
            <a:r>
              <a:rPr lang="ja-JP" altLang="en-US" sz="11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　</a:t>
            </a:r>
            <a:endParaRPr lang="en-US" altLang="ja-JP" sz="110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14" name="Rectangle 41">
            <a:extLst>
              <a:ext uri="{FF2B5EF4-FFF2-40B4-BE49-F238E27FC236}">
                <a16:creationId xmlns:a16="http://schemas.microsoft.com/office/drawing/2014/main" id="{F8C1F9D3-6704-A019-4ABC-BC623CD43C8F}"/>
              </a:ext>
            </a:extLst>
          </p:cNvPr>
          <p:cNvSpPr>
            <a:spLocks noChangeArrowheads="1"/>
          </p:cNvSpPr>
          <p:nvPr/>
        </p:nvSpPr>
        <p:spPr bwMode="gray">
          <a:xfrm>
            <a:off x="5178729" y="2023891"/>
            <a:ext cx="2160000" cy="1238290"/>
          </a:xfrm>
          <a:prstGeom prst="rect">
            <a:avLst/>
          </a:prstGeom>
          <a:noFill/>
          <a:ln w="19050" algn="ctr">
            <a:noFill/>
            <a:miter lim="800000"/>
            <a:headEnd/>
            <a:tailEnd/>
          </a:ln>
          <a:effectLst/>
        </p:spPr>
        <p:txBody>
          <a:bodyPr wrap="square" lIns="36000" tIns="72000" rIns="36000" bIns="72000" anchor="t"/>
          <a:lstStyle/>
          <a:p>
            <a:pPr marL="171450" indent="-171450" fontAlgn="base">
              <a:spcAft>
                <a:spcPct val="0"/>
              </a:spcAft>
              <a:buFont typeface="Wingdings" panose="05000000000000000000" pitchFamily="2" charset="2"/>
              <a:buChar char="ü"/>
              <a:defRPr/>
            </a:pP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システム運用の中で抽出される</a:t>
            </a: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課題が継続的に改善されていること</a:t>
            </a:r>
            <a:endParaRPr lang="en-US" altLang="ja-JP" sz="1000" b="1" u="sng">
              <a:solidFill>
                <a:prstClr val="black"/>
              </a:solidFill>
              <a:latin typeface="Meiryo UI" panose="020B0604030504040204" pitchFamily="50" charset="-128"/>
              <a:ea typeface="Meiryo UI" panose="020B0604030504040204" pitchFamily="50" charset="-128"/>
              <a:cs typeface="Arial" charset="0"/>
              <a:sym typeface="+mn-lt"/>
            </a:endParaRPr>
          </a:p>
          <a:p>
            <a:pPr marL="171450" indent="-171450" fontAlgn="base">
              <a:spcAft>
                <a:spcPct val="0"/>
              </a:spcAft>
              <a:buFont typeface="Wingdings" panose="05000000000000000000" pitchFamily="2" charset="2"/>
              <a:buChar char="ü"/>
              <a:defRPr/>
            </a:pP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開示基準の変化に耐えうること</a:t>
            </a:r>
            <a:endParaRPr lang="en-US" altLang="ja-JP" sz="1000" b="1" u="sng">
              <a:solidFill>
                <a:prstClr val="black"/>
              </a:solidFill>
              <a:latin typeface="Meiryo UI" panose="020B0604030504040204" pitchFamily="50" charset="-128"/>
              <a:ea typeface="Meiryo UI" panose="020B0604030504040204" pitchFamily="50" charset="-128"/>
              <a:cs typeface="Arial" charset="0"/>
              <a:sym typeface="+mn-lt"/>
            </a:endParaRPr>
          </a:p>
          <a:p>
            <a:pPr marL="171450" indent="-171450" fontAlgn="base">
              <a:spcAft>
                <a:spcPct val="0"/>
              </a:spcAft>
              <a:buFont typeface="Wingdings" panose="05000000000000000000" pitchFamily="2" charset="2"/>
              <a:buChar char="ü"/>
              <a:defRPr/>
            </a:pP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年次で抽出する</a:t>
            </a: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業務課題に対し、システムによる改善を目指す</a:t>
            </a:r>
            <a:endParaRPr lang="en-US" altLang="ja-JP" sz="1000" b="1" u="sng">
              <a:solidFill>
                <a:prstClr val="black"/>
              </a:solidFill>
              <a:latin typeface="Meiryo UI" panose="020B0604030504040204" pitchFamily="50" charset="-128"/>
              <a:ea typeface="Meiryo UI" panose="020B0604030504040204" pitchFamily="50" charset="-128"/>
              <a:cs typeface="Arial" charset="0"/>
              <a:sym typeface="+mn-lt"/>
            </a:endParaRPr>
          </a:p>
          <a:p>
            <a:pPr marL="171450" indent="-171450" fontAlgn="base">
              <a:spcAft>
                <a:spcPct val="0"/>
              </a:spcAft>
              <a:buFont typeface="Wingdings" panose="05000000000000000000" pitchFamily="2" charset="2"/>
              <a:buChar char="ü"/>
              <a:defRPr/>
            </a:pPr>
            <a:r>
              <a:rPr lang="ja-JP" altLang="en-US" sz="1000">
                <a:solidFill>
                  <a:prstClr val="black"/>
                </a:solidFill>
                <a:latin typeface="Meiryo UI" panose="020B0604030504040204" pitchFamily="50" charset="-128"/>
                <a:ea typeface="Meiryo UI" panose="020B0604030504040204" pitchFamily="50" charset="-128"/>
                <a:cs typeface="Arial" charset="0"/>
                <a:sym typeface="+mn-lt"/>
              </a:rPr>
              <a:t>開示基準の改正があった場合は</a:t>
            </a:r>
            <a:r>
              <a:rPr lang="ja-JP" altLang="en-US" sz="1000" b="1" u="sng">
                <a:solidFill>
                  <a:prstClr val="black"/>
                </a:solidFill>
                <a:latin typeface="Meiryo UI" panose="020B0604030504040204" pitchFamily="50" charset="-128"/>
                <a:ea typeface="Meiryo UI" panose="020B0604030504040204" pitchFamily="50" charset="-128"/>
                <a:cs typeface="Arial" charset="0"/>
                <a:sym typeface="+mn-lt"/>
              </a:rPr>
              <a:t>法定対応できるようシステム改善を目指す</a:t>
            </a:r>
            <a:endParaRPr lang="en-US" altLang="ja-JP" sz="1000" b="1" u="sng">
              <a:solidFill>
                <a:prstClr val="black"/>
              </a:solidFill>
              <a:latin typeface="Meiryo UI" panose="020B0604030504040204" pitchFamily="50" charset="-128"/>
              <a:ea typeface="Meiryo UI" panose="020B0604030504040204" pitchFamily="50" charset="-128"/>
              <a:cs typeface="Arial" charset="0"/>
              <a:sym typeface="+mn-lt"/>
            </a:endParaRPr>
          </a:p>
        </p:txBody>
      </p:sp>
      <p:sp>
        <p:nvSpPr>
          <p:cNvPr id="15" name="Rectangle 41">
            <a:extLst>
              <a:ext uri="{FF2B5EF4-FFF2-40B4-BE49-F238E27FC236}">
                <a16:creationId xmlns:a16="http://schemas.microsoft.com/office/drawing/2014/main" id="{12C0F843-1277-FD40-C9C8-438E7C09DAD1}"/>
              </a:ext>
            </a:extLst>
          </p:cNvPr>
          <p:cNvSpPr>
            <a:spLocks noChangeArrowheads="1"/>
          </p:cNvSpPr>
          <p:nvPr/>
        </p:nvSpPr>
        <p:spPr bwMode="gray">
          <a:xfrm>
            <a:off x="5178729" y="2927808"/>
            <a:ext cx="2160000" cy="1056710"/>
          </a:xfrm>
          <a:prstGeom prst="rect">
            <a:avLst/>
          </a:prstGeom>
          <a:noFill/>
          <a:ln w="19050" algn="ctr">
            <a:noFill/>
            <a:miter lim="800000"/>
            <a:headEnd/>
            <a:tailEnd/>
          </a:ln>
          <a:effectLst/>
        </p:spPr>
        <p:txBody>
          <a:bodyPr wrap="square" lIns="36000" tIns="72000" rIns="36000" bIns="72000" anchor="t"/>
          <a:lstStyle/>
          <a:p>
            <a:pPr marL="171450" indent="-171450" fontAlgn="base">
              <a:spcAft>
                <a:spcPct val="0"/>
              </a:spcAft>
              <a:buFont typeface="Wingdings" panose="05000000000000000000" pitchFamily="2" charset="2"/>
              <a:buChar char="ü"/>
              <a:defRPr/>
            </a:pPr>
            <a:endParaRPr lang="en-US" altLang="ja-JP" sz="1000" b="1" u="sng">
              <a:solidFill>
                <a:prstClr val="black"/>
              </a:solidFill>
              <a:latin typeface="Meiryo UI" panose="020B0604030504040204" pitchFamily="50" charset="-128"/>
              <a:ea typeface="Meiryo UI" panose="020B0604030504040204" pitchFamily="50" charset="-128"/>
              <a:cs typeface="Arial" charset="0"/>
              <a:sym typeface="+mn-lt"/>
            </a:endParaRPr>
          </a:p>
        </p:txBody>
      </p:sp>
      <p:sp>
        <p:nvSpPr>
          <p:cNvPr id="16" name="正方形/長方形 15">
            <a:extLst>
              <a:ext uri="{FF2B5EF4-FFF2-40B4-BE49-F238E27FC236}">
                <a16:creationId xmlns:a16="http://schemas.microsoft.com/office/drawing/2014/main" id="{332B26AE-E0BA-6C21-B44F-40D76DBCA24C}"/>
              </a:ext>
            </a:extLst>
          </p:cNvPr>
          <p:cNvSpPr/>
          <p:nvPr/>
        </p:nvSpPr>
        <p:spPr bwMode="gray">
          <a:xfrm>
            <a:off x="479426" y="6304197"/>
            <a:ext cx="8125096" cy="16920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a:solidFill>
                  <a:prstClr val="black"/>
                </a:solidFill>
                <a:latin typeface="Meiryo UI" panose="020B0604030504040204" pitchFamily="50" charset="-128"/>
                <a:ea typeface="Meiryo UI" panose="020B0604030504040204" pitchFamily="50" charset="-128"/>
              </a:rPr>
              <a:t>※1 </a:t>
            </a:r>
            <a:r>
              <a:rPr kumimoji="1" lang="ja-JP" altLang="en-US" sz="1000">
                <a:solidFill>
                  <a:prstClr val="black"/>
                </a:solidFill>
                <a:latin typeface="Meiryo UI" panose="020B0604030504040204" pitchFamily="50" charset="-128"/>
                <a:ea typeface="Meiryo UI" panose="020B0604030504040204" pitchFamily="50" charset="-128"/>
              </a:rPr>
              <a:t>経営管理高度化はあくまで長期的に取り組む領域であり、現時点でシステムとして対応することは想定しない</a:t>
            </a:r>
            <a:endPar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 name="矢印: 右 1">
            <a:extLst>
              <a:ext uri="{FF2B5EF4-FFF2-40B4-BE49-F238E27FC236}">
                <a16:creationId xmlns:a16="http://schemas.microsoft.com/office/drawing/2014/main" id="{8CEC6932-962C-AFD6-C99F-013C49CE808C}"/>
              </a:ext>
            </a:extLst>
          </p:cNvPr>
          <p:cNvSpPr/>
          <p:nvPr/>
        </p:nvSpPr>
        <p:spPr>
          <a:xfrm>
            <a:off x="1176571" y="4467333"/>
            <a:ext cx="549095" cy="228600"/>
          </a:xfrm>
          <a:prstGeom prst="rightArrow">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900">
              <a:solidFill>
                <a:schemeClr val="tx1"/>
              </a:solidFill>
              <a:latin typeface="Meiryo UI" panose="020B0604030504040204" pitchFamily="50" charset="-128"/>
              <a:ea typeface="Meiryo UI" panose="020B0604030504040204" pitchFamily="50" charset="-128"/>
            </a:endParaRPr>
          </a:p>
        </p:txBody>
      </p:sp>
      <p:sp>
        <p:nvSpPr>
          <p:cNvPr id="6" name="矢印: 右 5">
            <a:extLst>
              <a:ext uri="{FF2B5EF4-FFF2-40B4-BE49-F238E27FC236}">
                <a16:creationId xmlns:a16="http://schemas.microsoft.com/office/drawing/2014/main" id="{34509043-3FF8-AEFF-7FF9-36578A7B589D}"/>
              </a:ext>
            </a:extLst>
          </p:cNvPr>
          <p:cNvSpPr/>
          <p:nvPr/>
        </p:nvSpPr>
        <p:spPr>
          <a:xfrm>
            <a:off x="1972294" y="4467333"/>
            <a:ext cx="549095" cy="228600"/>
          </a:xfrm>
          <a:prstGeom prst="rightArrow">
            <a:avLst/>
          </a:prstGeom>
          <a:solidFill>
            <a:schemeClr val="bg1">
              <a:lumMod val="95000"/>
            </a:schemeClr>
          </a:solidFill>
          <a:ln>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900">
              <a:solidFill>
                <a:schemeClr val="bg1">
                  <a:lumMod val="50000"/>
                </a:schemeClr>
              </a:solidFill>
              <a:latin typeface="Meiryo UI" panose="020B0604030504040204" pitchFamily="50" charset="-128"/>
              <a:ea typeface="Meiryo UI" panose="020B0604030504040204" pitchFamily="50" charset="-128"/>
            </a:endParaRPr>
          </a:p>
        </p:txBody>
      </p:sp>
      <p:cxnSp>
        <p:nvCxnSpPr>
          <p:cNvPr id="19" name="直線コネクタ 18">
            <a:extLst>
              <a:ext uri="{FF2B5EF4-FFF2-40B4-BE49-F238E27FC236}">
                <a16:creationId xmlns:a16="http://schemas.microsoft.com/office/drawing/2014/main" id="{F553E05E-841E-7CB7-C64B-1580D125221B}"/>
              </a:ext>
            </a:extLst>
          </p:cNvPr>
          <p:cNvCxnSpPr>
            <a:cxnSpLocks/>
          </p:cNvCxnSpPr>
          <p:nvPr/>
        </p:nvCxnSpPr>
        <p:spPr>
          <a:xfrm>
            <a:off x="3005479" y="2065503"/>
            <a:ext cx="0" cy="3973172"/>
          </a:xfrm>
          <a:prstGeom prst="line">
            <a:avLst/>
          </a:prstGeom>
          <a:ln w="63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225BEB71-796D-63B0-F27A-A5EBD72977F7}"/>
              </a:ext>
            </a:extLst>
          </p:cNvPr>
          <p:cNvCxnSpPr>
            <a:cxnSpLocks/>
          </p:cNvCxnSpPr>
          <p:nvPr/>
        </p:nvCxnSpPr>
        <p:spPr>
          <a:xfrm flipH="1">
            <a:off x="7324390" y="2065503"/>
            <a:ext cx="19266" cy="2374802"/>
          </a:xfrm>
          <a:prstGeom prst="line">
            <a:avLst/>
          </a:prstGeom>
          <a:ln w="63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2D649875-FA05-D2D4-B5BE-AC588E9D11CE}"/>
              </a:ext>
            </a:extLst>
          </p:cNvPr>
          <p:cNvCxnSpPr>
            <a:cxnSpLocks/>
          </p:cNvCxnSpPr>
          <p:nvPr/>
        </p:nvCxnSpPr>
        <p:spPr>
          <a:xfrm flipH="1">
            <a:off x="6703362" y="4440305"/>
            <a:ext cx="12597" cy="1941023"/>
          </a:xfrm>
          <a:prstGeom prst="line">
            <a:avLst/>
          </a:prstGeom>
          <a:ln w="63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FD0986E6-69FF-1F4F-1519-51413C2BB725}"/>
              </a:ext>
            </a:extLst>
          </p:cNvPr>
          <p:cNvCxnSpPr>
            <a:cxnSpLocks/>
          </p:cNvCxnSpPr>
          <p:nvPr/>
        </p:nvCxnSpPr>
        <p:spPr>
          <a:xfrm flipH="1">
            <a:off x="6715959" y="4440305"/>
            <a:ext cx="608431" cy="0"/>
          </a:xfrm>
          <a:prstGeom prst="line">
            <a:avLst/>
          </a:prstGeom>
          <a:ln w="63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61A38531-F567-B0A5-1391-D8D2FDC1D50B}"/>
              </a:ext>
            </a:extLst>
          </p:cNvPr>
          <p:cNvSpPr/>
          <p:nvPr/>
        </p:nvSpPr>
        <p:spPr>
          <a:xfrm>
            <a:off x="161026" y="3901014"/>
            <a:ext cx="556602" cy="4466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900">
                <a:solidFill>
                  <a:schemeClr val="tx1"/>
                </a:solidFill>
                <a:latin typeface="Meiryo UI" panose="020B0604030504040204" pitchFamily="50" charset="-128"/>
                <a:ea typeface="Meiryo UI" panose="020B0604030504040204" pitchFamily="50" charset="-128"/>
              </a:rPr>
              <a:t>受益者</a:t>
            </a:r>
          </a:p>
        </p:txBody>
      </p:sp>
      <p:sp>
        <p:nvSpPr>
          <p:cNvPr id="20" name="楕円 19">
            <a:extLst>
              <a:ext uri="{FF2B5EF4-FFF2-40B4-BE49-F238E27FC236}">
                <a16:creationId xmlns:a16="http://schemas.microsoft.com/office/drawing/2014/main" id="{CBA02606-B382-F309-1B5A-E987ECFE0431}"/>
              </a:ext>
            </a:extLst>
          </p:cNvPr>
          <p:cNvSpPr/>
          <p:nvPr/>
        </p:nvSpPr>
        <p:spPr>
          <a:xfrm>
            <a:off x="941644" y="4009639"/>
            <a:ext cx="755703" cy="22944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拠点</a:t>
            </a:r>
          </a:p>
        </p:txBody>
      </p:sp>
      <p:sp>
        <p:nvSpPr>
          <p:cNvPr id="21" name="楕円 20">
            <a:extLst>
              <a:ext uri="{FF2B5EF4-FFF2-40B4-BE49-F238E27FC236}">
                <a16:creationId xmlns:a16="http://schemas.microsoft.com/office/drawing/2014/main" id="{5ACC30BD-878B-045A-79CA-420063418576}"/>
              </a:ext>
            </a:extLst>
          </p:cNvPr>
          <p:cNvSpPr/>
          <p:nvPr/>
        </p:nvSpPr>
        <p:spPr>
          <a:xfrm>
            <a:off x="3345297" y="4009639"/>
            <a:ext cx="755703" cy="22944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サス室</a:t>
            </a:r>
          </a:p>
        </p:txBody>
      </p:sp>
      <p:sp>
        <p:nvSpPr>
          <p:cNvPr id="22" name="楕円 21">
            <a:extLst>
              <a:ext uri="{FF2B5EF4-FFF2-40B4-BE49-F238E27FC236}">
                <a16:creationId xmlns:a16="http://schemas.microsoft.com/office/drawing/2014/main" id="{729D0B8B-E478-00EC-B9A7-E707088EF9FE}"/>
              </a:ext>
            </a:extLst>
          </p:cNvPr>
          <p:cNvSpPr/>
          <p:nvPr/>
        </p:nvSpPr>
        <p:spPr>
          <a:xfrm>
            <a:off x="4066256" y="4009639"/>
            <a:ext cx="755703" cy="22944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安環</a:t>
            </a:r>
          </a:p>
        </p:txBody>
      </p:sp>
      <p:sp>
        <p:nvSpPr>
          <p:cNvPr id="24" name="楕円 23">
            <a:extLst>
              <a:ext uri="{FF2B5EF4-FFF2-40B4-BE49-F238E27FC236}">
                <a16:creationId xmlns:a16="http://schemas.microsoft.com/office/drawing/2014/main" id="{B5F8701F-F9E7-0A4F-7299-6FE4A0253A75}"/>
              </a:ext>
            </a:extLst>
          </p:cNvPr>
          <p:cNvSpPr/>
          <p:nvPr/>
        </p:nvSpPr>
        <p:spPr>
          <a:xfrm>
            <a:off x="5863870" y="4009639"/>
            <a:ext cx="755703" cy="22944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サス室</a:t>
            </a:r>
          </a:p>
        </p:txBody>
      </p:sp>
      <p:sp>
        <p:nvSpPr>
          <p:cNvPr id="26" name="楕円 25">
            <a:extLst>
              <a:ext uri="{FF2B5EF4-FFF2-40B4-BE49-F238E27FC236}">
                <a16:creationId xmlns:a16="http://schemas.microsoft.com/office/drawing/2014/main" id="{946D7A45-89C1-7927-7F2A-4266FDAE5D1C}"/>
              </a:ext>
            </a:extLst>
          </p:cNvPr>
          <p:cNvSpPr/>
          <p:nvPr/>
        </p:nvSpPr>
        <p:spPr>
          <a:xfrm>
            <a:off x="6530467" y="4009639"/>
            <a:ext cx="755703" cy="22944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安環</a:t>
            </a:r>
          </a:p>
        </p:txBody>
      </p:sp>
      <p:sp>
        <p:nvSpPr>
          <p:cNvPr id="30" name="楕円 29">
            <a:extLst>
              <a:ext uri="{FF2B5EF4-FFF2-40B4-BE49-F238E27FC236}">
                <a16:creationId xmlns:a16="http://schemas.microsoft.com/office/drawing/2014/main" id="{2699424A-EDE8-024C-2032-6653FC403996}"/>
              </a:ext>
            </a:extLst>
          </p:cNvPr>
          <p:cNvSpPr/>
          <p:nvPr/>
        </p:nvSpPr>
        <p:spPr>
          <a:xfrm>
            <a:off x="5227352" y="4009639"/>
            <a:ext cx="755703" cy="22944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拠点</a:t>
            </a:r>
          </a:p>
        </p:txBody>
      </p:sp>
      <p:sp>
        <p:nvSpPr>
          <p:cNvPr id="31" name="楕円 30">
            <a:extLst>
              <a:ext uri="{FF2B5EF4-FFF2-40B4-BE49-F238E27FC236}">
                <a16:creationId xmlns:a16="http://schemas.microsoft.com/office/drawing/2014/main" id="{A10763DC-E5DA-D2A1-0C25-DB220E4C28BD}"/>
              </a:ext>
            </a:extLst>
          </p:cNvPr>
          <p:cNvSpPr/>
          <p:nvPr/>
        </p:nvSpPr>
        <p:spPr>
          <a:xfrm>
            <a:off x="7507110" y="4009639"/>
            <a:ext cx="1472650" cy="22944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トップマネジメント</a:t>
            </a:r>
          </a:p>
        </p:txBody>
      </p:sp>
      <p:sp>
        <p:nvSpPr>
          <p:cNvPr id="35" name="正方形/長方形 34">
            <a:extLst>
              <a:ext uri="{FF2B5EF4-FFF2-40B4-BE49-F238E27FC236}">
                <a16:creationId xmlns:a16="http://schemas.microsoft.com/office/drawing/2014/main" id="{C0D1D9C0-340D-E4BC-BB4D-F66508B8CCAA}"/>
              </a:ext>
            </a:extLst>
          </p:cNvPr>
          <p:cNvSpPr/>
          <p:nvPr/>
        </p:nvSpPr>
        <p:spPr>
          <a:xfrm>
            <a:off x="161026" y="3381489"/>
            <a:ext cx="556602" cy="4777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900">
                <a:solidFill>
                  <a:schemeClr val="tx1"/>
                </a:solidFill>
                <a:latin typeface="Meiryo UI" panose="020B0604030504040204" pitchFamily="50" charset="-128"/>
                <a:ea typeface="Meiryo UI" panose="020B0604030504040204" pitchFamily="50" charset="-128"/>
              </a:rPr>
              <a:t>データ</a:t>
            </a:r>
          </a:p>
        </p:txBody>
      </p:sp>
      <p:sp>
        <p:nvSpPr>
          <p:cNvPr id="40" name="四角形: 角を丸くする 39">
            <a:extLst>
              <a:ext uri="{FF2B5EF4-FFF2-40B4-BE49-F238E27FC236}">
                <a16:creationId xmlns:a16="http://schemas.microsoft.com/office/drawing/2014/main" id="{E249D432-9894-2FD6-4DE2-10106F621344}"/>
              </a:ext>
            </a:extLst>
          </p:cNvPr>
          <p:cNvSpPr/>
          <p:nvPr/>
        </p:nvSpPr>
        <p:spPr>
          <a:xfrm>
            <a:off x="887609" y="3456378"/>
            <a:ext cx="909818" cy="159612"/>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環境</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41" name="四角形: 角を丸くする 40">
            <a:extLst>
              <a:ext uri="{FF2B5EF4-FFF2-40B4-BE49-F238E27FC236}">
                <a16:creationId xmlns:a16="http://schemas.microsoft.com/office/drawing/2014/main" id="{A9DA2FAA-E456-8A40-871D-2E6BE97A6E12}"/>
              </a:ext>
            </a:extLst>
          </p:cNvPr>
          <p:cNvSpPr/>
          <p:nvPr/>
        </p:nvSpPr>
        <p:spPr>
          <a:xfrm>
            <a:off x="1998172" y="3646647"/>
            <a:ext cx="909818" cy="15840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人的資本</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42" name="四角形: 角を丸くする 41">
            <a:extLst>
              <a:ext uri="{FF2B5EF4-FFF2-40B4-BE49-F238E27FC236}">
                <a16:creationId xmlns:a16="http://schemas.microsoft.com/office/drawing/2014/main" id="{04AA6952-EBC2-E54E-3040-BC2766E98D3A}"/>
              </a:ext>
            </a:extLst>
          </p:cNvPr>
          <p:cNvSpPr/>
          <p:nvPr/>
        </p:nvSpPr>
        <p:spPr>
          <a:xfrm>
            <a:off x="3523832" y="3455866"/>
            <a:ext cx="1100880" cy="15840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環境</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58" name="四角形: 角を丸くする 57">
            <a:extLst>
              <a:ext uri="{FF2B5EF4-FFF2-40B4-BE49-F238E27FC236}">
                <a16:creationId xmlns:a16="http://schemas.microsoft.com/office/drawing/2014/main" id="{07539970-2CB0-F8F3-1137-B6339B7831A9}"/>
              </a:ext>
            </a:extLst>
          </p:cNvPr>
          <p:cNvSpPr/>
          <p:nvPr/>
        </p:nvSpPr>
        <p:spPr>
          <a:xfrm>
            <a:off x="3523832" y="3646647"/>
            <a:ext cx="1100880" cy="15840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人的資本</a:t>
            </a:r>
            <a:endParaRPr kumimoji="1" lang="en-US" altLang="ja-JP" sz="1000">
              <a:solidFill>
                <a:schemeClr val="tx1"/>
              </a:solidFill>
              <a:latin typeface="Meiryo UI" panose="020B0604030504040204" pitchFamily="50" charset="-128"/>
              <a:ea typeface="Meiryo UI" panose="020B0604030504040204" pitchFamily="50" charset="-128"/>
            </a:endParaRPr>
          </a:p>
        </p:txBody>
      </p:sp>
      <p:cxnSp>
        <p:nvCxnSpPr>
          <p:cNvPr id="38" name="直線コネクタ 37">
            <a:extLst>
              <a:ext uri="{FF2B5EF4-FFF2-40B4-BE49-F238E27FC236}">
                <a16:creationId xmlns:a16="http://schemas.microsoft.com/office/drawing/2014/main" id="{D9DBF06A-6D07-299B-BDDC-205AC51CC066}"/>
              </a:ext>
            </a:extLst>
          </p:cNvPr>
          <p:cNvCxnSpPr>
            <a:cxnSpLocks/>
          </p:cNvCxnSpPr>
          <p:nvPr/>
        </p:nvCxnSpPr>
        <p:spPr>
          <a:xfrm>
            <a:off x="1898275" y="3325887"/>
            <a:ext cx="0" cy="1104741"/>
          </a:xfrm>
          <a:prstGeom prst="line">
            <a:avLst/>
          </a:prstGeom>
          <a:ln w="63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楕円 49">
            <a:extLst>
              <a:ext uri="{FF2B5EF4-FFF2-40B4-BE49-F238E27FC236}">
                <a16:creationId xmlns:a16="http://schemas.microsoft.com/office/drawing/2014/main" id="{70400393-D5A6-4B53-CA06-384EE5DAEA42}"/>
              </a:ext>
            </a:extLst>
          </p:cNvPr>
          <p:cNvSpPr/>
          <p:nvPr/>
        </p:nvSpPr>
        <p:spPr>
          <a:xfrm>
            <a:off x="2060144" y="4009639"/>
            <a:ext cx="755703" cy="22944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拠点</a:t>
            </a:r>
          </a:p>
        </p:txBody>
      </p:sp>
      <p:sp>
        <p:nvSpPr>
          <p:cNvPr id="60" name="四角形: 角を丸くする 59">
            <a:extLst>
              <a:ext uri="{FF2B5EF4-FFF2-40B4-BE49-F238E27FC236}">
                <a16:creationId xmlns:a16="http://schemas.microsoft.com/office/drawing/2014/main" id="{0E41E2FC-7CFA-87F4-BC7E-6B919C3205A7}"/>
              </a:ext>
            </a:extLst>
          </p:cNvPr>
          <p:cNvSpPr/>
          <p:nvPr/>
        </p:nvSpPr>
        <p:spPr>
          <a:xfrm>
            <a:off x="5708289" y="3455866"/>
            <a:ext cx="1100880" cy="15840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環境</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61" name="四角形: 角を丸くする 60">
            <a:extLst>
              <a:ext uri="{FF2B5EF4-FFF2-40B4-BE49-F238E27FC236}">
                <a16:creationId xmlns:a16="http://schemas.microsoft.com/office/drawing/2014/main" id="{4E5C8456-6712-D009-877F-F89E6B85DFA3}"/>
              </a:ext>
            </a:extLst>
          </p:cNvPr>
          <p:cNvSpPr/>
          <p:nvPr/>
        </p:nvSpPr>
        <p:spPr>
          <a:xfrm>
            <a:off x="5708289" y="3646647"/>
            <a:ext cx="1100880" cy="15840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人的資本</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62" name="四角形: 角を丸くする 61">
            <a:extLst>
              <a:ext uri="{FF2B5EF4-FFF2-40B4-BE49-F238E27FC236}">
                <a16:creationId xmlns:a16="http://schemas.microsoft.com/office/drawing/2014/main" id="{DC8168FF-AD88-DDD1-102E-7F17ABCBE0E4}"/>
              </a:ext>
            </a:extLst>
          </p:cNvPr>
          <p:cNvSpPr/>
          <p:nvPr/>
        </p:nvSpPr>
        <p:spPr>
          <a:xfrm>
            <a:off x="7693238" y="3455866"/>
            <a:ext cx="1100880" cy="15840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環境</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63" name="四角形: 角を丸くする 62">
            <a:extLst>
              <a:ext uri="{FF2B5EF4-FFF2-40B4-BE49-F238E27FC236}">
                <a16:creationId xmlns:a16="http://schemas.microsoft.com/office/drawing/2014/main" id="{80E8265E-A7A0-6132-A28B-E4A1AC84F1D0}"/>
              </a:ext>
            </a:extLst>
          </p:cNvPr>
          <p:cNvSpPr/>
          <p:nvPr/>
        </p:nvSpPr>
        <p:spPr>
          <a:xfrm>
            <a:off x="7693238" y="3646647"/>
            <a:ext cx="1100880" cy="15840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人的資本</a:t>
            </a:r>
            <a:endParaRPr kumimoji="1" lang="en-US" altLang="ja-JP" sz="1000">
              <a:solidFill>
                <a:schemeClr val="tx1"/>
              </a:solidFill>
              <a:latin typeface="Meiryo UI" panose="020B0604030504040204" pitchFamily="50" charset="-128"/>
              <a:ea typeface="Meiryo UI" panose="020B0604030504040204" pitchFamily="50" charset="-128"/>
            </a:endParaRPr>
          </a:p>
        </p:txBody>
      </p:sp>
      <p:cxnSp>
        <p:nvCxnSpPr>
          <p:cNvPr id="64" name="直線コネクタ 63">
            <a:extLst>
              <a:ext uri="{FF2B5EF4-FFF2-40B4-BE49-F238E27FC236}">
                <a16:creationId xmlns:a16="http://schemas.microsoft.com/office/drawing/2014/main" id="{D02DD8FC-5A17-F690-AB9C-6FFABFCD05B7}"/>
              </a:ext>
            </a:extLst>
          </p:cNvPr>
          <p:cNvCxnSpPr>
            <a:cxnSpLocks/>
          </p:cNvCxnSpPr>
          <p:nvPr/>
        </p:nvCxnSpPr>
        <p:spPr>
          <a:xfrm>
            <a:off x="5165525" y="2065503"/>
            <a:ext cx="0" cy="2282205"/>
          </a:xfrm>
          <a:prstGeom prst="line">
            <a:avLst/>
          </a:prstGeom>
          <a:ln w="635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9EB1B8C2-3B97-A6DB-B29B-5AB102ADE915}"/>
              </a:ext>
            </a:extLst>
          </p:cNvPr>
          <p:cNvCxnSpPr>
            <a:cxnSpLocks/>
          </p:cNvCxnSpPr>
          <p:nvPr/>
        </p:nvCxnSpPr>
        <p:spPr>
          <a:xfrm flipV="1">
            <a:off x="55189" y="3361568"/>
            <a:ext cx="9015191"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F5BA750E-0E03-10E5-0D79-F949A10D2D9F}"/>
              </a:ext>
            </a:extLst>
          </p:cNvPr>
          <p:cNvCxnSpPr>
            <a:cxnSpLocks/>
          </p:cNvCxnSpPr>
          <p:nvPr/>
        </p:nvCxnSpPr>
        <p:spPr>
          <a:xfrm flipV="1">
            <a:off x="29668" y="3880114"/>
            <a:ext cx="9015191"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CEB184D6-5B2A-307A-49FF-76F0E6F2AC45}"/>
              </a:ext>
            </a:extLst>
          </p:cNvPr>
          <p:cNvCxnSpPr>
            <a:cxnSpLocks/>
          </p:cNvCxnSpPr>
          <p:nvPr/>
        </p:nvCxnSpPr>
        <p:spPr>
          <a:xfrm flipV="1">
            <a:off x="29668" y="4368608"/>
            <a:ext cx="9015191" cy="0"/>
          </a:xfrm>
          <a:prstGeom prst="line">
            <a:avLst/>
          </a:prstGeom>
          <a:ln w="635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ectangle 41">
            <a:extLst>
              <a:ext uri="{FF2B5EF4-FFF2-40B4-BE49-F238E27FC236}">
                <a16:creationId xmlns:a16="http://schemas.microsoft.com/office/drawing/2014/main" id="{6A4C9A1B-7E73-38AF-7AF3-58E1DE83B39C}"/>
              </a:ext>
            </a:extLst>
          </p:cNvPr>
          <p:cNvSpPr>
            <a:spLocks noChangeArrowheads="1"/>
          </p:cNvSpPr>
          <p:nvPr/>
        </p:nvSpPr>
        <p:spPr bwMode="gray">
          <a:xfrm>
            <a:off x="862551" y="2051999"/>
            <a:ext cx="987449" cy="126177"/>
          </a:xfrm>
          <a:prstGeom prst="homePlate">
            <a:avLst/>
          </a:prstGeom>
          <a:solidFill>
            <a:schemeClr val="accent6">
              <a:lumMod val="20000"/>
              <a:lumOff val="8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Step1-1</a:t>
            </a:r>
          </a:p>
        </p:txBody>
      </p:sp>
      <p:sp>
        <p:nvSpPr>
          <p:cNvPr id="76" name="Rectangle 41">
            <a:extLst>
              <a:ext uri="{FF2B5EF4-FFF2-40B4-BE49-F238E27FC236}">
                <a16:creationId xmlns:a16="http://schemas.microsoft.com/office/drawing/2014/main" id="{42B1B989-AD55-B9EA-578D-DD7B1BB3B9CD}"/>
              </a:ext>
            </a:extLst>
          </p:cNvPr>
          <p:cNvSpPr>
            <a:spLocks noChangeArrowheads="1"/>
          </p:cNvSpPr>
          <p:nvPr/>
        </p:nvSpPr>
        <p:spPr bwMode="gray">
          <a:xfrm>
            <a:off x="1993550" y="2051999"/>
            <a:ext cx="987449" cy="126177"/>
          </a:xfrm>
          <a:prstGeom prst="homePlate">
            <a:avLst/>
          </a:prstGeom>
          <a:solidFill>
            <a:schemeClr val="accent5">
              <a:lumMod val="20000"/>
              <a:lumOff val="8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Step1-</a:t>
            </a:r>
            <a:r>
              <a:rPr kumimoji="1" lang="ja-JP" altLang="en-US" sz="1050" b="1" kern="0">
                <a:latin typeface="Meiryo UI" panose="020B0604030504040204" pitchFamily="50" charset="-128"/>
                <a:ea typeface="Meiryo UI" panose="020B0604030504040204" pitchFamily="50" charset="-128"/>
                <a:cs typeface="Arial" charset="0"/>
              </a:rPr>
              <a:t>２</a:t>
            </a:r>
            <a:endParaRPr kumimoji="1" lang="en-US" altLang="ja-JP" sz="1050" b="1" kern="0">
              <a:latin typeface="Meiryo UI" panose="020B0604030504040204" pitchFamily="50" charset="-128"/>
              <a:ea typeface="Meiryo UI" panose="020B0604030504040204" pitchFamily="50" charset="-128"/>
              <a:cs typeface="Arial" charset="0"/>
            </a:endParaRPr>
          </a:p>
        </p:txBody>
      </p:sp>
      <p:sp>
        <p:nvSpPr>
          <p:cNvPr id="11" name="楕円 10">
            <a:extLst>
              <a:ext uri="{FF2B5EF4-FFF2-40B4-BE49-F238E27FC236}">
                <a16:creationId xmlns:a16="http://schemas.microsoft.com/office/drawing/2014/main" id="{3A7EA461-DD64-0FDF-A42D-503DA72C6592}"/>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4080470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A6BC1D7F-0316-3355-D9BA-061CC1D1F66E}"/>
              </a:ext>
            </a:extLst>
          </p:cNvPr>
          <p:cNvCxnSpPr>
            <a:cxnSpLocks/>
          </p:cNvCxnSpPr>
          <p:nvPr/>
        </p:nvCxnSpPr>
        <p:spPr>
          <a:xfrm>
            <a:off x="5157585" y="3176100"/>
            <a:ext cx="18666" cy="3258661"/>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B73A5DC7-96A0-3B6A-6AAB-454256891134}"/>
              </a:ext>
            </a:extLst>
          </p:cNvPr>
          <p:cNvCxnSpPr>
            <a:cxnSpLocks/>
          </p:cNvCxnSpPr>
          <p:nvPr/>
        </p:nvCxnSpPr>
        <p:spPr>
          <a:xfrm>
            <a:off x="4460749" y="2197887"/>
            <a:ext cx="0" cy="4057508"/>
          </a:xfrm>
          <a:prstGeom prst="line">
            <a:avLst/>
          </a:prstGeom>
          <a:ln w="38100" cap="flat" cmpd="sng" algn="ctr">
            <a:solidFill>
              <a:srgbClr val="86BC2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C75C9864-60F3-F0C2-605F-7692CB92577E}"/>
              </a:ext>
            </a:extLst>
          </p:cNvPr>
          <p:cNvCxnSpPr>
            <a:cxnSpLocks/>
          </p:cNvCxnSpPr>
          <p:nvPr/>
        </p:nvCxnSpPr>
        <p:spPr>
          <a:xfrm flipV="1">
            <a:off x="1278938" y="4326985"/>
            <a:ext cx="7344000" cy="0"/>
          </a:xfrm>
          <a:prstGeom prst="straightConnector1">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D4531830-0BEA-74CF-5415-F2A889179114}"/>
              </a:ext>
            </a:extLst>
          </p:cNvPr>
          <p:cNvCxnSpPr>
            <a:cxnSpLocks/>
          </p:cNvCxnSpPr>
          <p:nvPr/>
        </p:nvCxnSpPr>
        <p:spPr>
          <a:xfrm>
            <a:off x="1278938" y="5031057"/>
            <a:ext cx="7344000" cy="0"/>
          </a:xfrm>
          <a:prstGeom prst="straightConnector1">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9AB0585C-A0B7-2493-1DB5-5F1EE26DC16A}"/>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ESG</a:t>
            </a:r>
            <a:r>
              <a:rPr lang="ja-JP" altLang="en-US">
                <a:latin typeface="Meiryo UI" panose="020B0604030504040204" pitchFamily="50" charset="-128"/>
                <a:ea typeface="Meiryo UI" panose="020B0604030504040204" pitchFamily="50" charset="-128"/>
              </a:rPr>
              <a:t>システム導入</a:t>
            </a:r>
            <a:r>
              <a:rPr kumimoji="1" lang="ja-JP" altLang="en-US">
                <a:latin typeface="Meiryo UI" panose="020B0604030504040204" pitchFamily="50" charset="-128"/>
                <a:ea typeface="Meiryo UI" panose="020B0604030504040204" pitchFamily="50" charset="-128"/>
              </a:rPr>
              <a:t>ロードマップ</a:t>
            </a:r>
          </a:p>
        </p:txBody>
      </p:sp>
      <p:sp>
        <p:nvSpPr>
          <p:cNvPr id="4" name="テキスト プレースホルダー 3">
            <a:extLst>
              <a:ext uri="{FF2B5EF4-FFF2-40B4-BE49-F238E27FC236}">
                <a16:creationId xmlns:a16="http://schemas.microsoft.com/office/drawing/2014/main" id="{8B604D37-BAF7-5F67-F557-210F27C6A81D}"/>
              </a:ext>
            </a:extLst>
          </p:cNvPr>
          <p:cNvSpPr>
            <a:spLocks noGrp="1"/>
          </p:cNvSpPr>
          <p:nvPr>
            <p:ph type="body" sz="quarter" idx="13"/>
          </p:nvPr>
        </p:nvSpPr>
        <p:spPr/>
        <p:txBody>
          <a:bodyPr>
            <a:noAutofit/>
          </a:bodyPr>
          <a:lstStyle/>
          <a:p>
            <a:r>
              <a:rPr lang="en-US" altLang="ja-JP"/>
              <a:t>GHG</a:t>
            </a:r>
            <a:r>
              <a:rPr lang="ja-JP" altLang="en-US"/>
              <a:t>収集のための開示対応と入力業務効率化</a:t>
            </a:r>
            <a:r>
              <a:rPr lang="en-US" altLang="ja-JP"/>
              <a:t>(Step1-1)</a:t>
            </a:r>
            <a:r>
              <a:rPr lang="ja-JP" altLang="en-US"/>
              <a:t>が最優先。次点で</a:t>
            </a:r>
            <a:r>
              <a:rPr lang="en-US" altLang="ja-JP"/>
              <a:t>GHG</a:t>
            </a:r>
            <a:r>
              <a:rPr lang="ja-JP" altLang="en-US"/>
              <a:t>以外の</a:t>
            </a:r>
            <a:r>
              <a:rPr lang="en-US" altLang="ja-JP"/>
              <a:t>Step1-2</a:t>
            </a:r>
            <a:r>
              <a:rPr lang="ja-JP" altLang="en-US"/>
              <a:t>を進め、開示以外の報告業務効率化</a:t>
            </a:r>
            <a:r>
              <a:rPr lang="en-US" altLang="ja-JP"/>
              <a:t>(Step2-1)</a:t>
            </a:r>
            <a:r>
              <a:rPr lang="ja-JP" altLang="en-US"/>
              <a:t>は</a:t>
            </a:r>
            <a:r>
              <a:rPr lang="en-US" altLang="ja-JP"/>
              <a:t>GHG</a:t>
            </a:r>
            <a:r>
              <a:rPr lang="ja-JP" altLang="en-US"/>
              <a:t>運用が定着した上で実施がよいと考えている。課題は開示後に抽出し、システム改善を実施</a:t>
            </a:r>
            <a:r>
              <a:rPr lang="en-US" altLang="ja-JP"/>
              <a:t>(Step2-2)</a:t>
            </a:r>
            <a:endParaRPr kumimoji="1" lang="ja-JP" altLang="en-US"/>
          </a:p>
        </p:txBody>
      </p:sp>
      <p:sp>
        <p:nvSpPr>
          <p:cNvPr id="6" name="テキスト ボックス 5">
            <a:extLst>
              <a:ext uri="{FF2B5EF4-FFF2-40B4-BE49-F238E27FC236}">
                <a16:creationId xmlns:a16="http://schemas.microsoft.com/office/drawing/2014/main" id="{3B2268DD-7ED3-8F3B-F484-8EA43F8F0139}"/>
              </a:ext>
            </a:extLst>
          </p:cNvPr>
          <p:cNvSpPr txBox="1"/>
          <p:nvPr/>
        </p:nvSpPr>
        <p:spPr bwMode="gray">
          <a:xfrm>
            <a:off x="2225416" y="2613437"/>
            <a:ext cx="1884785"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a:solidFill>
                  <a:srgbClr val="86BC25"/>
                </a:solidFill>
                <a:latin typeface="Meiryo UI" panose="020B0604030504040204" pitchFamily="50" charset="-128"/>
                <a:ea typeface="Meiryo UI" panose="020B0604030504040204" pitchFamily="50" charset="-128"/>
                <a:cs typeface="Arial" charset="0"/>
              </a:rPr>
              <a:t> </a:t>
            </a:r>
            <a:r>
              <a:rPr kumimoji="1" lang="ja-JP" altLang="en-US" sz="1000">
                <a:solidFill>
                  <a:srgbClr val="007CB0"/>
                </a:solidFill>
                <a:latin typeface="Meiryo UI" panose="020B0604030504040204" pitchFamily="50" charset="-128"/>
                <a:ea typeface="Meiryo UI" panose="020B0604030504040204" pitchFamily="50" charset="-128"/>
                <a:cs typeface="Arial" charset="0"/>
              </a:rPr>
              <a:t>　</a:t>
            </a:r>
            <a:r>
              <a:rPr kumimoji="1" lang="ja-JP" altLang="en-US" sz="1000">
                <a:solidFill>
                  <a:prstClr val="black"/>
                </a:solidFill>
                <a:latin typeface="Meiryo UI" panose="020B0604030504040204" pitchFamily="50" charset="-128"/>
                <a:ea typeface="Meiryo UI" panose="020B0604030504040204" pitchFamily="50" charset="-128"/>
                <a:cs typeface="Arial" charset="0"/>
              </a:rPr>
              <a:t>中期経営計画確定</a:t>
            </a:r>
            <a:br>
              <a:rPr kumimoji="1" lang="en-US" altLang="ja-JP" sz="1000">
                <a:solidFill>
                  <a:prstClr val="black"/>
                </a:solidFill>
                <a:latin typeface="Meiryo UI" panose="020B0604030504040204" pitchFamily="50" charset="-128"/>
                <a:ea typeface="Meiryo UI" panose="020B0604030504040204" pitchFamily="50" charset="-128"/>
                <a:cs typeface="Arial" charset="0"/>
              </a:rPr>
            </a:br>
            <a:r>
              <a:rPr kumimoji="1" lang="ja-JP" altLang="en-US" sz="1000">
                <a:solidFill>
                  <a:prstClr val="black"/>
                </a:solidFill>
                <a:latin typeface="Meiryo UI" panose="020B0604030504040204" pitchFamily="50" charset="-128"/>
                <a:ea typeface="Meiryo UI" panose="020B0604030504040204" pitchFamily="50" charset="-128"/>
                <a:cs typeface="Arial" charset="0"/>
              </a:rPr>
              <a:t>　</a:t>
            </a:r>
            <a:r>
              <a:rPr kumimoji="1" lang="en-US" altLang="ja-JP" sz="900">
                <a:solidFill>
                  <a:prstClr val="black"/>
                </a:solidFill>
                <a:latin typeface="Meiryo UI" panose="020B0604030504040204" pitchFamily="50" charset="-128"/>
                <a:ea typeface="Meiryo UI" panose="020B0604030504040204" pitchFamily="50" charset="-128"/>
                <a:cs typeface="Arial" charset="0"/>
              </a:rPr>
              <a:t>※GHG</a:t>
            </a:r>
            <a:r>
              <a:rPr kumimoji="1" lang="ja-JP" altLang="en-US" sz="900">
                <a:solidFill>
                  <a:prstClr val="black"/>
                </a:solidFill>
                <a:latin typeface="Meiryo UI" panose="020B0604030504040204" pitchFamily="50" charset="-128"/>
                <a:ea typeface="Meiryo UI" panose="020B0604030504040204" pitchFamily="50" charset="-128"/>
                <a:cs typeface="Arial" charset="0"/>
              </a:rPr>
              <a:t>以外の開示対象項目の特定</a:t>
            </a:r>
            <a:endParaRPr kumimoji="1" lang="en-US" altLang="ja-JP" sz="1000">
              <a:solidFill>
                <a:prstClr val="black"/>
              </a:solidFill>
              <a:latin typeface="Meiryo UI" panose="020B0604030504040204" pitchFamily="50" charset="-128"/>
              <a:ea typeface="Meiryo UI" panose="020B0604030504040204" pitchFamily="50" charset="-128"/>
              <a:cs typeface="Arial" charset="0"/>
            </a:endParaRPr>
          </a:p>
        </p:txBody>
      </p:sp>
      <p:sp>
        <p:nvSpPr>
          <p:cNvPr id="12" name="正方形/長方形 11">
            <a:extLst>
              <a:ext uri="{FF2B5EF4-FFF2-40B4-BE49-F238E27FC236}">
                <a16:creationId xmlns:a16="http://schemas.microsoft.com/office/drawing/2014/main" id="{DD6BCD8F-3282-F0A7-1E53-56FB29B6ED4E}"/>
              </a:ext>
            </a:extLst>
          </p:cNvPr>
          <p:cNvSpPr/>
          <p:nvPr/>
        </p:nvSpPr>
        <p:spPr>
          <a:xfrm>
            <a:off x="417168" y="3392489"/>
            <a:ext cx="340973" cy="1600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環境データ</a:t>
            </a:r>
          </a:p>
        </p:txBody>
      </p:sp>
      <p:sp>
        <p:nvSpPr>
          <p:cNvPr id="13" name="正方形/長方形 12">
            <a:extLst>
              <a:ext uri="{FF2B5EF4-FFF2-40B4-BE49-F238E27FC236}">
                <a16:creationId xmlns:a16="http://schemas.microsoft.com/office/drawing/2014/main" id="{943B89B4-A7DF-9769-2047-0A604BB30411}"/>
              </a:ext>
            </a:extLst>
          </p:cNvPr>
          <p:cNvSpPr/>
          <p:nvPr/>
        </p:nvSpPr>
        <p:spPr>
          <a:xfrm>
            <a:off x="815291" y="3389060"/>
            <a:ext cx="328312" cy="90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en-US" altLang="ja-JP" sz="900" b="1">
                <a:solidFill>
                  <a:schemeClr val="tx1"/>
                </a:solidFill>
                <a:latin typeface="Meiryo UI" panose="020B0604030504040204" pitchFamily="50" charset="-128"/>
                <a:ea typeface="Meiryo UI" panose="020B0604030504040204" pitchFamily="50" charset="-128"/>
              </a:rPr>
              <a:t>GHG</a:t>
            </a:r>
            <a:endParaRPr kumimoji="1" lang="ja-JP" altLang="en-US" sz="900" b="1">
              <a:solidFill>
                <a:schemeClr val="tx1"/>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2E493BA1-6878-786A-53BA-B4115CD7D4A4}"/>
              </a:ext>
            </a:extLst>
          </p:cNvPr>
          <p:cNvSpPr/>
          <p:nvPr/>
        </p:nvSpPr>
        <p:spPr>
          <a:xfrm>
            <a:off x="815291" y="4364910"/>
            <a:ext cx="328312" cy="62822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en-US" altLang="ja-JP" sz="900" b="1">
                <a:solidFill>
                  <a:schemeClr val="tx1"/>
                </a:solidFill>
                <a:latin typeface="Meiryo UI" panose="020B0604030504040204" pitchFamily="50" charset="-128"/>
                <a:ea typeface="Meiryo UI" panose="020B0604030504040204" pitchFamily="50" charset="-128"/>
              </a:rPr>
              <a:t>GHG</a:t>
            </a:r>
            <a:r>
              <a:rPr kumimoji="1" lang="ja-JP" altLang="en-US" sz="900" b="1">
                <a:solidFill>
                  <a:schemeClr val="tx1"/>
                </a:solidFill>
                <a:latin typeface="Meiryo UI" panose="020B0604030504040204" pitchFamily="50" charset="-128"/>
                <a:ea typeface="Meiryo UI" panose="020B0604030504040204" pitchFamily="50" charset="-128"/>
              </a:rPr>
              <a:t>以外</a:t>
            </a:r>
          </a:p>
        </p:txBody>
      </p:sp>
      <p:sp>
        <p:nvSpPr>
          <p:cNvPr id="15" name="正方形/長方形 14">
            <a:extLst>
              <a:ext uri="{FF2B5EF4-FFF2-40B4-BE49-F238E27FC236}">
                <a16:creationId xmlns:a16="http://schemas.microsoft.com/office/drawing/2014/main" id="{CF30F723-5126-6ABC-4981-78E801125C84}"/>
              </a:ext>
            </a:extLst>
          </p:cNvPr>
          <p:cNvSpPr/>
          <p:nvPr/>
        </p:nvSpPr>
        <p:spPr>
          <a:xfrm>
            <a:off x="417167" y="5068982"/>
            <a:ext cx="726436" cy="61214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人的資本データ</a:t>
            </a:r>
          </a:p>
        </p:txBody>
      </p:sp>
      <p:sp>
        <p:nvSpPr>
          <p:cNvPr id="16" name="矢印: 五方向 15">
            <a:extLst>
              <a:ext uri="{FF2B5EF4-FFF2-40B4-BE49-F238E27FC236}">
                <a16:creationId xmlns:a16="http://schemas.microsoft.com/office/drawing/2014/main" id="{B7106C94-FF37-2267-FF1E-1D2D7F3A7C93}"/>
              </a:ext>
            </a:extLst>
          </p:cNvPr>
          <p:cNvSpPr/>
          <p:nvPr/>
        </p:nvSpPr>
        <p:spPr bwMode="gray">
          <a:xfrm>
            <a:off x="1666508" y="3429000"/>
            <a:ext cx="1232842" cy="1568519"/>
          </a:xfrm>
          <a:prstGeom prst="homePlate">
            <a:avLst>
              <a:gd name="adj" fmla="val 16749"/>
            </a:avLst>
          </a:prstGeom>
          <a:solidFill>
            <a:schemeClr val="accent6">
              <a:lumMod val="20000"/>
              <a:lumOff val="8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Step1-1</a:t>
            </a:r>
            <a:r>
              <a:rPr kumimoji="1" lang="en-US" altLang="ja-JP" sz="1050" b="1" kern="0" baseline="30000">
                <a:latin typeface="Meiryo UI" panose="020B0604030504040204" pitchFamily="50" charset="-128"/>
                <a:ea typeface="Meiryo UI" panose="020B0604030504040204" pitchFamily="50" charset="-128"/>
                <a:cs typeface="Arial" charset="0"/>
              </a:rPr>
              <a:t>※1</a:t>
            </a:r>
          </a:p>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SSBJ</a:t>
            </a:r>
            <a:r>
              <a:rPr kumimoji="1" lang="ja-JP" altLang="en-US" sz="1050" b="1" kern="0">
                <a:latin typeface="Meiryo UI" panose="020B0604030504040204" pitchFamily="50" charset="-128"/>
                <a:ea typeface="Meiryo UI" panose="020B0604030504040204" pitchFamily="50" charset="-128"/>
                <a:cs typeface="Arial" charset="0"/>
              </a:rPr>
              <a:t>開示対応</a:t>
            </a:r>
          </a:p>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（拠点入力効率化含む）</a:t>
            </a:r>
          </a:p>
        </p:txBody>
      </p:sp>
      <p:sp>
        <p:nvSpPr>
          <p:cNvPr id="23" name="矢印: 五方向 22">
            <a:extLst>
              <a:ext uri="{FF2B5EF4-FFF2-40B4-BE49-F238E27FC236}">
                <a16:creationId xmlns:a16="http://schemas.microsoft.com/office/drawing/2014/main" id="{046D126A-C376-B2BC-9B72-DDB2F471A675}"/>
              </a:ext>
            </a:extLst>
          </p:cNvPr>
          <p:cNvSpPr/>
          <p:nvPr/>
        </p:nvSpPr>
        <p:spPr bwMode="gray">
          <a:xfrm>
            <a:off x="8246185" y="3434066"/>
            <a:ext cx="648000" cy="2203196"/>
          </a:xfrm>
          <a:prstGeom prst="homePlate">
            <a:avLst>
              <a:gd name="adj" fmla="val 16749"/>
            </a:avLst>
          </a:prstGeom>
          <a:solidFill>
            <a:schemeClr val="bg1"/>
          </a:solidFill>
          <a:ln w="28575" algn="ctr">
            <a:solidFill>
              <a:schemeClr val="bg1">
                <a:lumMod val="65000"/>
              </a:schemeClr>
            </a:solidFill>
            <a:prstDash val="sysDash"/>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Step3</a:t>
            </a:r>
          </a:p>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経営管理</a:t>
            </a:r>
            <a:endParaRPr kumimoji="1" lang="en-US" altLang="ja-JP" sz="1050" b="1" kern="0">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高度化</a:t>
            </a:r>
          </a:p>
        </p:txBody>
      </p:sp>
      <p:sp>
        <p:nvSpPr>
          <p:cNvPr id="25" name="Rectangle 13">
            <a:extLst>
              <a:ext uri="{FF2B5EF4-FFF2-40B4-BE49-F238E27FC236}">
                <a16:creationId xmlns:a16="http://schemas.microsoft.com/office/drawing/2014/main" id="{5ED0B5B5-061D-D592-4F0E-B613FFF80F9F}"/>
              </a:ext>
            </a:extLst>
          </p:cNvPr>
          <p:cNvSpPr/>
          <p:nvPr/>
        </p:nvSpPr>
        <p:spPr bwMode="gray">
          <a:xfrm>
            <a:off x="417168" y="1913612"/>
            <a:ext cx="340973" cy="1399598"/>
          </a:xfrm>
          <a:prstGeom prst="rect">
            <a:avLst/>
          </a:prstGeom>
          <a:solidFill>
            <a:schemeClr val="bg1">
              <a:lumMod val="50000"/>
            </a:schemeClr>
          </a:solidFill>
          <a:ln w="19050" algn="ctr">
            <a:noFill/>
            <a:miter lim="800000"/>
            <a:headEnd/>
            <a:tailEnd/>
          </a:ln>
        </p:spPr>
        <p:txBody>
          <a:bodyPr vert="eaVert" wrap="square" lIns="0" tIns="0" rIns="0" bIns="0" rtlCol="0" anchor="ctr"/>
          <a:lstStyle/>
          <a:p>
            <a:pPr marL="0" marR="0" lvl="0" indent="0" algn="ctr" defTabSz="914400" eaLnBrk="1" fontAlgn="base" latinLnBrk="0" hangingPunct="1">
              <a:lnSpc>
                <a:spcPct val="106000"/>
              </a:lnSpc>
              <a:spcBef>
                <a:spcPct val="0"/>
              </a:spcBef>
              <a:spcAft>
                <a:spcPct val="0"/>
              </a:spcAft>
              <a:buClrTx/>
              <a:buSzTx/>
              <a:buFont typeface="Wingdings 2" pitchFamily="18" charset="2"/>
              <a:buNone/>
              <a:tabLst/>
              <a:defRPr/>
            </a:pPr>
            <a:r>
              <a:rPr kumimoji="0" lang="ja-JP" altLang="en-US" sz="11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t>タイムライン</a:t>
            </a:r>
            <a:endParaRPr kumimoji="0" lang="en-US" altLang="ja-JP" sz="11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endParaRPr>
          </a:p>
        </p:txBody>
      </p:sp>
      <p:sp>
        <p:nvSpPr>
          <p:cNvPr id="28" name="矢印: 五方向 27">
            <a:extLst>
              <a:ext uri="{FF2B5EF4-FFF2-40B4-BE49-F238E27FC236}">
                <a16:creationId xmlns:a16="http://schemas.microsoft.com/office/drawing/2014/main" id="{7CC5BDB6-A91F-8BAD-4591-BF2493597A41}"/>
              </a:ext>
            </a:extLst>
          </p:cNvPr>
          <p:cNvSpPr/>
          <p:nvPr/>
        </p:nvSpPr>
        <p:spPr bwMode="gray">
          <a:xfrm>
            <a:off x="2947582" y="5085184"/>
            <a:ext cx="2239212" cy="571359"/>
          </a:xfrm>
          <a:prstGeom prst="homePlate">
            <a:avLst>
              <a:gd name="adj" fmla="val 16749"/>
            </a:avLst>
          </a:prstGeom>
          <a:solidFill>
            <a:schemeClr val="accent5">
              <a:lumMod val="20000"/>
              <a:lumOff val="8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Step1-2</a:t>
            </a:r>
          </a:p>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SSBJ</a:t>
            </a:r>
            <a:r>
              <a:rPr kumimoji="1" lang="ja-JP" altLang="en-US" sz="1050" b="1" kern="0">
                <a:latin typeface="Meiryo UI" panose="020B0604030504040204" pitchFamily="50" charset="-128"/>
                <a:ea typeface="Meiryo UI" panose="020B0604030504040204" pitchFamily="50" charset="-128"/>
                <a:cs typeface="Arial" charset="0"/>
              </a:rPr>
              <a:t>開示対応</a:t>
            </a:r>
          </a:p>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（拠点入力効率化含む）</a:t>
            </a:r>
          </a:p>
        </p:txBody>
      </p:sp>
      <p:sp>
        <p:nvSpPr>
          <p:cNvPr id="43" name="テキスト ボックス 42">
            <a:extLst>
              <a:ext uri="{FF2B5EF4-FFF2-40B4-BE49-F238E27FC236}">
                <a16:creationId xmlns:a16="http://schemas.microsoft.com/office/drawing/2014/main" id="{FB7D3A08-4139-0D9B-5E47-289243A2F993}"/>
              </a:ext>
            </a:extLst>
          </p:cNvPr>
          <p:cNvSpPr txBox="1"/>
          <p:nvPr/>
        </p:nvSpPr>
        <p:spPr bwMode="gray">
          <a:xfrm>
            <a:off x="1323737" y="2986538"/>
            <a:ext cx="931403"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a:latin typeface="Meiryo UI" panose="020B0604030504040204" pitchFamily="50" charset="-128"/>
                <a:ea typeface="Meiryo UI" panose="020B0604030504040204" pitchFamily="50" charset="-128"/>
                <a:cs typeface="Arial" charset="0"/>
              </a:rPr>
              <a:t> </a:t>
            </a:r>
            <a:r>
              <a:rPr kumimoji="1" lang="en-US" altLang="ja-JP" sz="1000">
                <a:latin typeface="Meiryo UI" panose="020B0604030504040204" pitchFamily="50" charset="-128"/>
                <a:ea typeface="Meiryo UI" panose="020B0604030504040204" pitchFamily="50" charset="-128"/>
                <a:cs typeface="Arial" charset="0"/>
              </a:rPr>
              <a:t>2025/11</a:t>
            </a:r>
          </a:p>
          <a:p>
            <a:pPr defTabSz="990564">
              <a:buSzPct val="100000"/>
              <a:buFont typeface="Wingdings" panose="05000000000000000000" pitchFamily="2" charset="2"/>
              <a:buNone/>
            </a:pPr>
            <a:r>
              <a:rPr kumimoji="1" lang="ja-JP" altLang="en-US" sz="1000">
                <a:solidFill>
                  <a:schemeClr val="accent6"/>
                </a:solidFill>
                <a:latin typeface="Meiryo UI" panose="020B0604030504040204" pitchFamily="50" charset="-128"/>
                <a:ea typeface="Meiryo UI" panose="020B0604030504040204" pitchFamily="50" charset="-128"/>
                <a:cs typeface="Arial" charset="0"/>
              </a:rPr>
              <a:t>▼</a:t>
            </a:r>
            <a:r>
              <a:rPr kumimoji="1" lang="ja-JP" altLang="en-US" sz="1000">
                <a:latin typeface="Meiryo UI" panose="020B0604030504040204" pitchFamily="50" charset="-128"/>
                <a:ea typeface="Meiryo UI" panose="020B0604030504040204" pitchFamily="50" charset="-128"/>
                <a:cs typeface="Arial" charset="0"/>
              </a:rPr>
              <a:t>システム選定</a:t>
            </a:r>
            <a:endParaRPr kumimoji="1" lang="en-US" altLang="ja-JP" sz="1000">
              <a:latin typeface="Meiryo UI" panose="020B0604030504040204" pitchFamily="50" charset="-128"/>
              <a:ea typeface="Meiryo UI" panose="020B0604030504040204" pitchFamily="50" charset="-128"/>
              <a:cs typeface="Arial" charset="0"/>
            </a:endParaRPr>
          </a:p>
        </p:txBody>
      </p:sp>
      <p:sp>
        <p:nvSpPr>
          <p:cNvPr id="48" name="テキスト ボックス 47">
            <a:extLst>
              <a:ext uri="{FF2B5EF4-FFF2-40B4-BE49-F238E27FC236}">
                <a16:creationId xmlns:a16="http://schemas.microsoft.com/office/drawing/2014/main" id="{27255EA2-445B-8216-1DF7-00A8717D9F86}"/>
              </a:ext>
            </a:extLst>
          </p:cNvPr>
          <p:cNvSpPr txBox="1"/>
          <p:nvPr/>
        </p:nvSpPr>
        <p:spPr bwMode="gray">
          <a:xfrm>
            <a:off x="1935849" y="2436657"/>
            <a:ext cx="686445" cy="153888"/>
          </a:xfrm>
          <a:prstGeom prst="rect">
            <a:avLst/>
          </a:prstGeom>
          <a:noFill/>
        </p:spPr>
        <p:txBody>
          <a:bodyPr wrap="square" lIns="0" tIns="0" rIns="0" bIns="0" rtlCol="0">
            <a:spAutoFit/>
          </a:bodyPr>
          <a:lstStyle/>
          <a:p>
            <a:pPr algn="ctr" defTabSz="990564">
              <a:buSzPct val="100000"/>
              <a:buFont typeface="Wingdings" panose="05000000000000000000" pitchFamily="2" charset="2"/>
              <a:buNone/>
            </a:pPr>
            <a:r>
              <a:rPr kumimoji="1" lang="ja-JP" altLang="en-US" sz="1000">
                <a:latin typeface="Meiryo UI" panose="020B0604030504040204" pitchFamily="50" charset="-128"/>
                <a:ea typeface="Meiryo UI" panose="020B0604030504040204" pitchFamily="50" charset="-128"/>
                <a:cs typeface="Arial" charset="0"/>
              </a:rPr>
              <a:t> </a:t>
            </a:r>
            <a:r>
              <a:rPr kumimoji="1" lang="en-US" altLang="ja-JP" sz="1000">
                <a:latin typeface="Meiryo UI" panose="020B0604030504040204" pitchFamily="50" charset="-128"/>
                <a:ea typeface="Meiryo UI" panose="020B0604030504040204" pitchFamily="50" charset="-128"/>
                <a:cs typeface="Arial" charset="0"/>
              </a:rPr>
              <a:t>2026/3</a:t>
            </a:r>
            <a:r>
              <a:rPr kumimoji="1" lang="ja-JP" altLang="en-US" sz="1000">
                <a:latin typeface="Meiryo UI" panose="020B0604030504040204" pitchFamily="50" charset="-128"/>
                <a:ea typeface="Meiryo UI" panose="020B0604030504040204" pitchFamily="50" charset="-128"/>
                <a:cs typeface="Arial" charset="0"/>
              </a:rPr>
              <a:t>末</a:t>
            </a:r>
            <a:endParaRPr kumimoji="1" lang="en-US" altLang="ja-JP" sz="1000">
              <a:latin typeface="Meiryo UI" panose="020B0604030504040204" pitchFamily="50" charset="-128"/>
              <a:ea typeface="Meiryo UI" panose="020B0604030504040204" pitchFamily="50" charset="-128"/>
              <a:cs typeface="Arial" charset="0"/>
            </a:endParaRPr>
          </a:p>
        </p:txBody>
      </p:sp>
      <p:sp>
        <p:nvSpPr>
          <p:cNvPr id="50" name="テキスト ボックス 49">
            <a:extLst>
              <a:ext uri="{FF2B5EF4-FFF2-40B4-BE49-F238E27FC236}">
                <a16:creationId xmlns:a16="http://schemas.microsoft.com/office/drawing/2014/main" id="{014FC4A2-C856-5031-3C90-9A31BE265887}"/>
              </a:ext>
            </a:extLst>
          </p:cNvPr>
          <p:cNvSpPr txBox="1"/>
          <p:nvPr/>
        </p:nvSpPr>
        <p:spPr bwMode="gray">
          <a:xfrm>
            <a:off x="2705726" y="2098120"/>
            <a:ext cx="686445"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en-US" altLang="ja-JP" sz="1000">
                <a:latin typeface="Meiryo UI" panose="020B0604030504040204" pitchFamily="50" charset="-128"/>
                <a:ea typeface="Meiryo UI" panose="020B0604030504040204" pitchFamily="50" charset="-128"/>
                <a:cs typeface="Arial" charset="0"/>
              </a:rPr>
              <a:t>2026/6</a:t>
            </a:r>
            <a:r>
              <a:rPr kumimoji="1" lang="ja-JP" altLang="en-US" sz="1000">
                <a:latin typeface="Meiryo UI" panose="020B0604030504040204" pitchFamily="50" charset="-128"/>
                <a:ea typeface="Meiryo UI" panose="020B0604030504040204" pitchFamily="50" charset="-128"/>
                <a:cs typeface="Arial" charset="0"/>
              </a:rPr>
              <a:t>末</a:t>
            </a:r>
            <a:endParaRPr kumimoji="1" lang="en-US" altLang="ja-JP" sz="1000">
              <a:latin typeface="Meiryo UI" panose="020B0604030504040204" pitchFamily="50" charset="-128"/>
              <a:ea typeface="Meiryo UI" panose="020B0604030504040204" pitchFamily="50" charset="-128"/>
              <a:cs typeface="Arial" charset="0"/>
            </a:endParaRPr>
          </a:p>
          <a:p>
            <a:pPr defTabSz="990564">
              <a:buSzPct val="100000"/>
              <a:buFont typeface="Wingdings" panose="05000000000000000000" pitchFamily="2" charset="2"/>
              <a:buNone/>
            </a:pPr>
            <a:r>
              <a:rPr kumimoji="1" lang="ja-JP" altLang="en-US" sz="1000">
                <a:latin typeface="Meiryo UI" panose="020B0604030504040204" pitchFamily="50" charset="-128"/>
                <a:ea typeface="Meiryo UI" panose="020B0604030504040204" pitchFamily="50" charset="-128"/>
                <a:cs typeface="Arial" charset="0"/>
              </a:rPr>
              <a:t>▼任意開示</a:t>
            </a:r>
            <a:endParaRPr kumimoji="1" lang="en-US" altLang="ja-JP" sz="1000">
              <a:latin typeface="Meiryo UI" panose="020B0604030504040204" pitchFamily="50" charset="-128"/>
              <a:ea typeface="Meiryo UI" panose="020B0604030504040204" pitchFamily="50" charset="-128"/>
              <a:cs typeface="Arial" charset="0"/>
            </a:endParaRPr>
          </a:p>
        </p:txBody>
      </p:sp>
      <p:sp>
        <p:nvSpPr>
          <p:cNvPr id="51" name="テキスト ボックス 50">
            <a:extLst>
              <a:ext uri="{FF2B5EF4-FFF2-40B4-BE49-F238E27FC236}">
                <a16:creationId xmlns:a16="http://schemas.microsoft.com/office/drawing/2014/main" id="{9482F312-5C11-AA50-F3EE-DA88335DBFDD}"/>
              </a:ext>
            </a:extLst>
          </p:cNvPr>
          <p:cNvSpPr txBox="1"/>
          <p:nvPr/>
        </p:nvSpPr>
        <p:spPr bwMode="gray">
          <a:xfrm>
            <a:off x="4397557" y="1922089"/>
            <a:ext cx="1140884" cy="307777"/>
          </a:xfrm>
          <a:prstGeom prst="rect">
            <a:avLst/>
          </a:prstGeom>
          <a:noFill/>
        </p:spPr>
        <p:txBody>
          <a:bodyPr wrap="square" lIns="0" tIns="0" rIns="0" bIns="0" rtlCol="0">
            <a:spAutoFit/>
          </a:bodyPr>
          <a:lstStyle>
            <a:defPPr>
              <a:defRPr lang="en-US"/>
            </a:defPPr>
            <a:lvl1pPr algn="ctr" defTabSz="990564">
              <a:buSzPct val="100000"/>
              <a:buFont typeface="Wingdings" panose="05000000000000000000" pitchFamily="2" charset="2"/>
              <a:buNone/>
              <a:defRPr kumimoji="1" sz="1000" b="1">
                <a:latin typeface="Yu Gothic UI"/>
                <a:cs typeface="Arial" charset="0"/>
              </a:defRPr>
            </a:lvl1pPr>
          </a:lstStyle>
          <a:p>
            <a:pPr algn="l"/>
            <a:r>
              <a:rPr lang="en-US" altLang="ja-JP" b="0">
                <a:latin typeface="Meiryo UI" panose="020B0604030504040204" pitchFamily="50" charset="-128"/>
                <a:ea typeface="Meiryo UI" panose="020B0604030504040204" pitchFamily="50" charset="-128"/>
              </a:rPr>
              <a:t>2027/4</a:t>
            </a:r>
          </a:p>
          <a:p>
            <a:pPr algn="l"/>
            <a:r>
              <a:rPr lang="ja-JP" altLang="en-US" b="0">
                <a:solidFill>
                  <a:schemeClr val="accent6"/>
                </a:solidFill>
                <a:latin typeface="Meiryo UI" panose="020B0604030504040204" pitchFamily="50" charset="-128"/>
                <a:ea typeface="Meiryo UI" panose="020B0604030504040204" pitchFamily="50" charset="-128"/>
              </a:rPr>
              <a:t>▼</a:t>
            </a:r>
            <a:r>
              <a:rPr lang="en-US" altLang="ja-JP" b="0">
                <a:latin typeface="Meiryo UI" panose="020B0604030504040204" pitchFamily="50" charset="-128"/>
                <a:ea typeface="Meiryo UI" panose="020B0604030504040204" pitchFamily="50" charset="-128"/>
              </a:rPr>
              <a:t>SSBJ</a:t>
            </a:r>
            <a:r>
              <a:rPr lang="ja-JP" altLang="en-US" b="0">
                <a:latin typeface="Meiryo UI" panose="020B0604030504040204" pitchFamily="50" charset="-128"/>
                <a:ea typeface="Meiryo UI" panose="020B0604030504040204" pitchFamily="50" charset="-128"/>
              </a:rPr>
              <a:t>適用</a:t>
            </a:r>
            <a:endParaRPr lang="en-US" altLang="ja-JP" b="0">
              <a:latin typeface="Meiryo UI" panose="020B0604030504040204" pitchFamily="50" charset="-128"/>
              <a:ea typeface="Meiryo UI" panose="020B0604030504040204" pitchFamily="50" charset="-128"/>
            </a:endParaRPr>
          </a:p>
        </p:txBody>
      </p:sp>
      <p:sp>
        <p:nvSpPr>
          <p:cNvPr id="53" name="矢印: 五方向 52">
            <a:extLst>
              <a:ext uri="{FF2B5EF4-FFF2-40B4-BE49-F238E27FC236}">
                <a16:creationId xmlns:a16="http://schemas.microsoft.com/office/drawing/2014/main" id="{1DDB8CB6-9AD5-356B-3568-BC01A829BDA4}"/>
              </a:ext>
            </a:extLst>
          </p:cNvPr>
          <p:cNvSpPr/>
          <p:nvPr/>
        </p:nvSpPr>
        <p:spPr bwMode="gray">
          <a:xfrm>
            <a:off x="5216320" y="3437319"/>
            <a:ext cx="1107284" cy="1550338"/>
          </a:xfrm>
          <a:prstGeom prst="homePlate">
            <a:avLst>
              <a:gd name="adj" fmla="val 16749"/>
            </a:avLst>
          </a:prstGeom>
          <a:solidFill>
            <a:schemeClr val="tx2">
              <a:lumMod val="60000"/>
              <a:lumOff val="4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solidFill>
                  <a:schemeClr val="bg1"/>
                </a:solidFill>
                <a:latin typeface="Meiryo UI" panose="020B0604030504040204" pitchFamily="50" charset="-128"/>
                <a:ea typeface="Meiryo UI" panose="020B0604030504040204" pitchFamily="50" charset="-128"/>
                <a:cs typeface="Arial" charset="0"/>
              </a:rPr>
              <a:t>Step2-1</a:t>
            </a:r>
          </a:p>
          <a:p>
            <a:pPr algn="ctr" defTabSz="990564">
              <a:buSzPct val="100000"/>
            </a:pPr>
            <a:r>
              <a:rPr kumimoji="1" lang="ja-JP" altLang="en-US" sz="1050" b="1" kern="0">
                <a:solidFill>
                  <a:schemeClr val="bg1"/>
                </a:solidFill>
                <a:latin typeface="Meiryo UI" panose="020B0604030504040204" pitchFamily="50" charset="-128"/>
                <a:ea typeface="Meiryo UI" panose="020B0604030504040204" pitchFamily="50" charset="-128"/>
                <a:cs typeface="Arial" charset="0"/>
              </a:rPr>
              <a:t>開示以外の</a:t>
            </a:r>
            <a:endParaRPr kumimoji="1" lang="en-US" altLang="ja-JP" sz="1050" b="1" kern="0">
              <a:solidFill>
                <a:schemeClr val="bg1"/>
              </a:solidFill>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050" b="1" kern="0">
                <a:solidFill>
                  <a:schemeClr val="bg1"/>
                </a:solidFill>
                <a:latin typeface="Meiryo UI" panose="020B0604030504040204" pitchFamily="50" charset="-128"/>
                <a:ea typeface="Meiryo UI" panose="020B0604030504040204" pitchFamily="50" charset="-128"/>
                <a:cs typeface="Arial" charset="0"/>
              </a:rPr>
              <a:t>報告業務効率化</a:t>
            </a:r>
            <a:endParaRPr kumimoji="1" lang="en-US" altLang="ja-JP" sz="1050" b="1" kern="0">
              <a:solidFill>
                <a:schemeClr val="bg1"/>
              </a:solidFill>
              <a:latin typeface="Meiryo UI" panose="020B0604030504040204" pitchFamily="50" charset="-128"/>
              <a:ea typeface="Meiryo UI" panose="020B0604030504040204" pitchFamily="50" charset="-128"/>
              <a:cs typeface="Arial" charset="0"/>
            </a:endParaRPr>
          </a:p>
        </p:txBody>
      </p:sp>
      <p:sp>
        <p:nvSpPr>
          <p:cNvPr id="74" name="Rectangle 13">
            <a:extLst>
              <a:ext uri="{FF2B5EF4-FFF2-40B4-BE49-F238E27FC236}">
                <a16:creationId xmlns:a16="http://schemas.microsoft.com/office/drawing/2014/main" id="{CCA75E9D-E5F7-84AA-1831-D0C62BF33E17}"/>
              </a:ext>
            </a:extLst>
          </p:cNvPr>
          <p:cNvSpPr/>
          <p:nvPr/>
        </p:nvSpPr>
        <p:spPr bwMode="gray">
          <a:xfrm>
            <a:off x="815865" y="1881741"/>
            <a:ext cx="340973" cy="877987"/>
          </a:xfrm>
          <a:prstGeom prst="rect">
            <a:avLst/>
          </a:prstGeom>
          <a:solidFill>
            <a:schemeClr val="bg1">
              <a:lumMod val="50000"/>
            </a:schemeClr>
          </a:solidFill>
          <a:ln w="19050" algn="ctr">
            <a:noFill/>
            <a:miter lim="800000"/>
            <a:headEnd/>
            <a:tailEnd/>
          </a:ln>
        </p:spPr>
        <p:txBody>
          <a:bodyPr vert="eaVert" wrap="square" lIns="0" tIns="0" rIns="0" bIns="0" rtlCol="0" anchor="ctr"/>
          <a:lstStyle/>
          <a:p>
            <a:pPr marL="0" marR="0" lvl="0" indent="0" algn="ctr" defTabSz="914400" eaLnBrk="1" fontAlgn="base" latinLnBrk="0" hangingPunct="1">
              <a:lnSpc>
                <a:spcPct val="106000"/>
              </a:lnSpc>
              <a:spcBef>
                <a:spcPct val="0"/>
              </a:spcBef>
              <a:spcAft>
                <a:spcPct val="0"/>
              </a:spcAft>
              <a:buClrTx/>
              <a:buSzTx/>
              <a:buFont typeface="Wingdings 2" pitchFamily="18" charset="2"/>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t>全般</a:t>
            </a:r>
            <a:endParaRPr kumimoji="0" lang="en-US" altLang="ja-JP"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endParaRPr>
          </a:p>
        </p:txBody>
      </p:sp>
      <p:sp>
        <p:nvSpPr>
          <p:cNvPr id="75" name="Rectangle 13">
            <a:extLst>
              <a:ext uri="{FF2B5EF4-FFF2-40B4-BE49-F238E27FC236}">
                <a16:creationId xmlns:a16="http://schemas.microsoft.com/office/drawing/2014/main" id="{6F97F2A1-2E6B-87BB-3492-68493E8B2908}"/>
              </a:ext>
            </a:extLst>
          </p:cNvPr>
          <p:cNvSpPr/>
          <p:nvPr/>
        </p:nvSpPr>
        <p:spPr bwMode="gray">
          <a:xfrm>
            <a:off x="815865" y="2797653"/>
            <a:ext cx="340973" cy="515557"/>
          </a:xfrm>
          <a:prstGeom prst="rect">
            <a:avLst/>
          </a:prstGeom>
          <a:solidFill>
            <a:schemeClr val="bg1">
              <a:lumMod val="50000"/>
            </a:schemeClr>
          </a:solidFill>
          <a:ln w="19050" algn="ctr">
            <a:noFill/>
            <a:miter lim="800000"/>
            <a:headEnd/>
            <a:tailEnd/>
          </a:ln>
        </p:spPr>
        <p:txBody>
          <a:bodyPr vert="eaVert" wrap="square" lIns="0" tIns="0" rIns="0" bIns="0" rtlCol="0" anchor="ctr"/>
          <a:lstStyle/>
          <a:p>
            <a:pPr marL="0" marR="0" lvl="0" indent="0" algn="ctr" defTabSz="914400" eaLnBrk="1" fontAlgn="base" latinLnBrk="0" hangingPunct="1">
              <a:lnSpc>
                <a:spcPct val="106000"/>
              </a:lnSpc>
              <a:spcBef>
                <a:spcPct val="0"/>
              </a:spcBef>
              <a:spcAft>
                <a:spcPct val="0"/>
              </a:spcAft>
              <a:buClrTx/>
              <a:buSzTx/>
              <a:buFont typeface="Wingdings 2" pitchFamily="18" charset="2"/>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t>シス</a:t>
            </a:r>
            <a:endParaRPr kumimoji="0" lang="en-US" altLang="ja-JP"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endParaRPr>
          </a:p>
          <a:p>
            <a:pPr marL="0" marR="0" lvl="0" indent="0" algn="ctr" defTabSz="914400" eaLnBrk="1" fontAlgn="base" latinLnBrk="0" hangingPunct="1">
              <a:lnSpc>
                <a:spcPct val="106000"/>
              </a:lnSpc>
              <a:spcBef>
                <a:spcPct val="0"/>
              </a:spcBef>
              <a:spcAft>
                <a:spcPct val="0"/>
              </a:spcAft>
              <a:buClrTx/>
              <a:buSzTx/>
              <a:buFont typeface="Wingdings 2" pitchFamily="18" charset="2"/>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rPr>
              <a:t>テム</a:t>
            </a:r>
            <a:endParaRPr kumimoji="0" lang="en-US" altLang="ja-JP"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Arial" charset="0"/>
            </a:endParaRPr>
          </a:p>
        </p:txBody>
      </p:sp>
      <p:cxnSp>
        <p:nvCxnSpPr>
          <p:cNvPr id="76" name="直線矢印コネクタ 75">
            <a:extLst>
              <a:ext uri="{FF2B5EF4-FFF2-40B4-BE49-F238E27FC236}">
                <a16:creationId xmlns:a16="http://schemas.microsoft.com/office/drawing/2014/main" id="{08D7CDD8-8312-80CE-7467-8DBDE2D582E2}"/>
              </a:ext>
            </a:extLst>
          </p:cNvPr>
          <p:cNvCxnSpPr>
            <a:cxnSpLocks/>
          </p:cNvCxnSpPr>
          <p:nvPr/>
        </p:nvCxnSpPr>
        <p:spPr>
          <a:xfrm>
            <a:off x="1129876" y="3351135"/>
            <a:ext cx="7344000" cy="0"/>
          </a:xfrm>
          <a:prstGeom prst="straightConnector1">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2" name="二等辺三角形 91">
            <a:extLst>
              <a:ext uri="{FF2B5EF4-FFF2-40B4-BE49-F238E27FC236}">
                <a16:creationId xmlns:a16="http://schemas.microsoft.com/office/drawing/2014/main" id="{293F67F6-16F9-2737-74AA-93AA163353F2}"/>
              </a:ext>
            </a:extLst>
          </p:cNvPr>
          <p:cNvSpPr/>
          <p:nvPr/>
        </p:nvSpPr>
        <p:spPr>
          <a:xfrm flipV="1">
            <a:off x="2196301" y="2677320"/>
            <a:ext cx="157667" cy="92835"/>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83" name="テキスト ボックス 82">
            <a:extLst>
              <a:ext uri="{FF2B5EF4-FFF2-40B4-BE49-F238E27FC236}">
                <a16:creationId xmlns:a16="http://schemas.microsoft.com/office/drawing/2014/main" id="{36C08A42-72FD-ECB9-1BCF-E5F385E6F3DA}"/>
              </a:ext>
            </a:extLst>
          </p:cNvPr>
          <p:cNvSpPr txBox="1"/>
          <p:nvPr/>
        </p:nvSpPr>
        <p:spPr bwMode="gray">
          <a:xfrm>
            <a:off x="5097677" y="2953549"/>
            <a:ext cx="1131117"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en-US" altLang="ja-JP" sz="1000">
                <a:latin typeface="Meiryo UI" panose="020B0604030504040204" pitchFamily="50" charset="-128"/>
                <a:ea typeface="Meiryo UI" panose="020B0604030504040204" pitchFamily="50" charset="-128"/>
                <a:cs typeface="Arial" charset="0"/>
              </a:rPr>
              <a:t>27/6</a:t>
            </a:r>
            <a:r>
              <a:rPr kumimoji="1" lang="ja-JP" altLang="en-US" sz="1000">
                <a:latin typeface="Meiryo UI" panose="020B0604030504040204" pitchFamily="50" charset="-128"/>
                <a:ea typeface="Meiryo UI" panose="020B0604030504040204" pitchFamily="50" charset="-128"/>
                <a:cs typeface="Arial" charset="0"/>
              </a:rPr>
              <a:t>末</a:t>
            </a:r>
            <a:endParaRPr kumimoji="1" lang="en-US" altLang="ja-JP" sz="1000">
              <a:latin typeface="Meiryo UI" panose="020B0604030504040204" pitchFamily="50" charset="-128"/>
              <a:ea typeface="Meiryo UI" panose="020B0604030504040204" pitchFamily="50" charset="-128"/>
              <a:cs typeface="Arial" charset="0"/>
            </a:endParaRPr>
          </a:p>
          <a:p>
            <a:pPr defTabSz="990564">
              <a:buSzPct val="100000"/>
              <a:buFont typeface="Wingdings" panose="05000000000000000000" pitchFamily="2" charset="2"/>
              <a:buNone/>
            </a:pPr>
            <a:r>
              <a:rPr kumimoji="1" lang="ja-JP" altLang="en-US" sz="1000">
                <a:solidFill>
                  <a:schemeClr val="accent6"/>
                </a:solidFill>
                <a:latin typeface="Meiryo UI" panose="020B0604030504040204" pitchFamily="50" charset="-128"/>
                <a:ea typeface="Meiryo UI" panose="020B0604030504040204" pitchFamily="50" charset="-128"/>
                <a:cs typeface="Arial" charset="0"/>
              </a:rPr>
              <a:t>▼</a:t>
            </a:r>
            <a:r>
              <a:rPr kumimoji="1" lang="en-US" altLang="ja-JP" sz="1000">
                <a:latin typeface="Meiryo UI" panose="020B0604030504040204" pitchFamily="50" charset="-128"/>
                <a:ea typeface="Meiryo UI" panose="020B0604030504040204" pitchFamily="50" charset="-128"/>
                <a:cs typeface="Arial" charset="0"/>
              </a:rPr>
              <a:t>SSBJ</a:t>
            </a:r>
            <a:r>
              <a:rPr kumimoji="1" lang="ja-JP" altLang="en-US" sz="1000">
                <a:latin typeface="Meiryo UI" panose="020B0604030504040204" pitchFamily="50" charset="-128"/>
                <a:ea typeface="Meiryo UI" panose="020B0604030504040204" pitchFamily="50" charset="-128"/>
                <a:cs typeface="Arial" charset="0"/>
              </a:rPr>
              <a:t>本対応稼働</a:t>
            </a:r>
            <a:endParaRPr kumimoji="1" lang="en-US" altLang="ja-JP" sz="1000">
              <a:latin typeface="Meiryo UI" panose="020B0604030504040204" pitchFamily="50" charset="-128"/>
              <a:ea typeface="Meiryo UI" panose="020B0604030504040204" pitchFamily="50" charset="-128"/>
              <a:cs typeface="Arial" charset="0"/>
            </a:endParaRPr>
          </a:p>
        </p:txBody>
      </p:sp>
      <p:sp>
        <p:nvSpPr>
          <p:cNvPr id="27" name="テキスト ボックス 26">
            <a:extLst>
              <a:ext uri="{FF2B5EF4-FFF2-40B4-BE49-F238E27FC236}">
                <a16:creationId xmlns:a16="http://schemas.microsoft.com/office/drawing/2014/main" id="{33D3F964-F197-3CD0-2431-A7826A34B7F9}"/>
              </a:ext>
            </a:extLst>
          </p:cNvPr>
          <p:cNvSpPr txBox="1"/>
          <p:nvPr/>
        </p:nvSpPr>
        <p:spPr bwMode="gray">
          <a:xfrm>
            <a:off x="5072355" y="2108175"/>
            <a:ext cx="686445"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en-US" altLang="ja-JP" sz="1000">
                <a:latin typeface="Meiryo UI" panose="020B0604030504040204" pitchFamily="50" charset="-128"/>
                <a:ea typeface="Meiryo UI" panose="020B0604030504040204" pitchFamily="50" charset="-128"/>
                <a:cs typeface="Arial" charset="0"/>
              </a:rPr>
              <a:t>2027/6</a:t>
            </a:r>
            <a:r>
              <a:rPr kumimoji="1" lang="ja-JP" altLang="en-US" sz="1000">
                <a:latin typeface="Meiryo UI" panose="020B0604030504040204" pitchFamily="50" charset="-128"/>
                <a:ea typeface="Meiryo UI" panose="020B0604030504040204" pitchFamily="50" charset="-128"/>
                <a:cs typeface="Arial" charset="0"/>
              </a:rPr>
              <a:t>末</a:t>
            </a:r>
            <a:br>
              <a:rPr kumimoji="1" lang="en-US" altLang="ja-JP" sz="1000">
                <a:latin typeface="Meiryo UI" panose="020B0604030504040204" pitchFamily="50" charset="-128"/>
                <a:ea typeface="Meiryo UI" panose="020B0604030504040204" pitchFamily="50" charset="-128"/>
                <a:cs typeface="Arial" charset="0"/>
              </a:rPr>
            </a:br>
            <a:r>
              <a:rPr kumimoji="1" lang="ja-JP" altLang="en-US" sz="1000">
                <a:latin typeface="Meiryo UI" panose="020B0604030504040204" pitchFamily="50" charset="-128"/>
                <a:ea typeface="Meiryo UI" panose="020B0604030504040204" pitchFamily="50" charset="-128"/>
                <a:cs typeface="Arial" charset="0"/>
              </a:rPr>
              <a:t>▼任意開示</a:t>
            </a:r>
            <a:endParaRPr kumimoji="1" lang="en-US" altLang="ja-JP" sz="1000">
              <a:latin typeface="Meiryo UI" panose="020B0604030504040204" pitchFamily="50" charset="-128"/>
              <a:ea typeface="Meiryo UI" panose="020B0604030504040204" pitchFamily="50" charset="-128"/>
              <a:cs typeface="Arial" charset="0"/>
            </a:endParaRPr>
          </a:p>
        </p:txBody>
      </p:sp>
      <p:sp>
        <p:nvSpPr>
          <p:cNvPr id="188" name="正方形/長方形 187">
            <a:extLst>
              <a:ext uri="{FF2B5EF4-FFF2-40B4-BE49-F238E27FC236}">
                <a16:creationId xmlns:a16="http://schemas.microsoft.com/office/drawing/2014/main" id="{6CF30C0F-F1CB-27E5-6921-678D06D58AFA}"/>
              </a:ext>
            </a:extLst>
          </p:cNvPr>
          <p:cNvSpPr/>
          <p:nvPr/>
        </p:nvSpPr>
        <p:spPr>
          <a:xfrm>
            <a:off x="3645817" y="3461756"/>
            <a:ext cx="1510594" cy="392861"/>
          </a:xfrm>
          <a:prstGeom prst="rect">
            <a:avLst/>
          </a:prstGeom>
          <a:solidFill>
            <a:schemeClr val="accent2">
              <a:lumMod val="20000"/>
              <a:lumOff val="80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900">
                <a:solidFill>
                  <a:schemeClr val="tx1"/>
                </a:solidFill>
                <a:latin typeface="Meiryo UI" panose="020B0604030504040204" pitchFamily="50" charset="-128"/>
                <a:ea typeface="Meiryo UI" panose="020B0604030504040204" pitchFamily="50" charset="-128"/>
              </a:rPr>
              <a:t>GHG</a:t>
            </a:r>
            <a:r>
              <a:rPr kumimoji="1" lang="ja-JP" altLang="en-US" sz="900">
                <a:solidFill>
                  <a:schemeClr val="tx1"/>
                </a:solidFill>
                <a:latin typeface="Meiryo UI" panose="020B0604030504040204" pitchFamily="50" charset="-128"/>
                <a:ea typeface="Meiryo UI" panose="020B0604030504040204" pitchFamily="50" charset="-128"/>
              </a:rPr>
              <a:t>分は</a:t>
            </a:r>
            <a:r>
              <a:rPr kumimoji="1" lang="en-US" altLang="ja-JP" sz="900">
                <a:solidFill>
                  <a:schemeClr val="tx1"/>
                </a:solidFill>
                <a:latin typeface="Meiryo UI" panose="020B0604030504040204" pitchFamily="50" charset="-128"/>
                <a:ea typeface="Meiryo UI" panose="020B0604030504040204" pitchFamily="50" charset="-128"/>
              </a:rPr>
              <a:t>FY27</a:t>
            </a:r>
            <a:r>
              <a:rPr kumimoji="1" lang="ja-JP" altLang="en-US" sz="900">
                <a:solidFill>
                  <a:schemeClr val="tx1"/>
                </a:solidFill>
                <a:latin typeface="Meiryo UI" panose="020B0604030504040204" pitchFamily="50" charset="-128"/>
                <a:ea typeface="Meiryo UI" panose="020B0604030504040204" pitchFamily="50" charset="-128"/>
              </a:rPr>
              <a:t>の</a:t>
            </a:r>
            <a:r>
              <a:rPr kumimoji="1" lang="en-US" altLang="ja-JP" sz="900">
                <a:solidFill>
                  <a:schemeClr val="tx1"/>
                </a:solidFill>
                <a:latin typeface="Meiryo UI" panose="020B0604030504040204" pitchFamily="50" charset="-128"/>
                <a:ea typeface="Meiryo UI" panose="020B0604030504040204" pitchFamily="50" charset="-128"/>
              </a:rPr>
              <a:t>SSBJ</a:t>
            </a:r>
            <a:r>
              <a:rPr kumimoji="1" lang="ja-JP" altLang="en-US" sz="900">
                <a:solidFill>
                  <a:schemeClr val="tx1"/>
                </a:solidFill>
                <a:latin typeface="Meiryo UI" panose="020B0604030504040204" pitchFamily="50" charset="-128"/>
                <a:ea typeface="Meiryo UI" panose="020B0604030504040204" pitchFamily="50" charset="-128"/>
              </a:rPr>
              <a:t>適用に間に合わせる</a:t>
            </a:r>
          </a:p>
        </p:txBody>
      </p:sp>
      <p:sp>
        <p:nvSpPr>
          <p:cNvPr id="37" name="テキスト ボックス 36">
            <a:extLst>
              <a:ext uri="{FF2B5EF4-FFF2-40B4-BE49-F238E27FC236}">
                <a16:creationId xmlns:a16="http://schemas.microsoft.com/office/drawing/2014/main" id="{401AE2ED-499D-D348-65BB-0B9EC5591D74}"/>
              </a:ext>
            </a:extLst>
          </p:cNvPr>
          <p:cNvSpPr txBox="1"/>
          <p:nvPr/>
        </p:nvSpPr>
        <p:spPr bwMode="gray">
          <a:xfrm>
            <a:off x="6734635" y="1922089"/>
            <a:ext cx="686445"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en-US" altLang="ja-JP" sz="1000">
                <a:latin typeface="Meiryo UI" panose="020B0604030504040204" pitchFamily="50" charset="-128"/>
                <a:ea typeface="Meiryo UI" panose="020B0604030504040204" pitchFamily="50" charset="-128"/>
                <a:cs typeface="Arial" charset="0"/>
              </a:rPr>
              <a:t>2028/6</a:t>
            </a:r>
            <a:r>
              <a:rPr kumimoji="1" lang="ja-JP" altLang="en-US" sz="1000">
                <a:latin typeface="Meiryo UI" panose="020B0604030504040204" pitchFamily="50" charset="-128"/>
                <a:ea typeface="Meiryo UI" panose="020B0604030504040204" pitchFamily="50" charset="-128"/>
                <a:cs typeface="Arial" charset="0"/>
              </a:rPr>
              <a:t>末</a:t>
            </a:r>
            <a:endParaRPr kumimoji="1" lang="en-US" altLang="ja-JP" sz="1000">
              <a:latin typeface="Meiryo UI" panose="020B0604030504040204" pitchFamily="50" charset="-128"/>
              <a:ea typeface="Meiryo UI" panose="020B0604030504040204" pitchFamily="50" charset="-128"/>
              <a:cs typeface="Arial" charset="0"/>
            </a:endParaRPr>
          </a:p>
          <a:p>
            <a:pPr defTabSz="990564">
              <a:buSzPct val="100000"/>
              <a:buFont typeface="Wingdings" panose="05000000000000000000" pitchFamily="2" charset="2"/>
              <a:buNone/>
            </a:pPr>
            <a:r>
              <a:rPr kumimoji="1" lang="ja-JP" altLang="en-US" sz="1000">
                <a:solidFill>
                  <a:schemeClr val="accent6"/>
                </a:solidFill>
                <a:latin typeface="Meiryo UI" panose="020B0604030504040204" pitchFamily="50" charset="-128"/>
                <a:ea typeface="Meiryo UI" panose="020B0604030504040204" pitchFamily="50" charset="-128"/>
                <a:cs typeface="Arial" charset="0"/>
              </a:rPr>
              <a:t>▼</a:t>
            </a:r>
            <a:r>
              <a:rPr kumimoji="1" lang="ja-JP" altLang="en-US" sz="1000">
                <a:latin typeface="Meiryo UI" panose="020B0604030504040204" pitchFamily="50" charset="-128"/>
                <a:ea typeface="Meiryo UI" panose="020B0604030504040204" pitchFamily="50" charset="-128"/>
                <a:cs typeface="Arial" charset="0"/>
              </a:rPr>
              <a:t>強制開示</a:t>
            </a:r>
            <a:endParaRPr kumimoji="1" lang="en-US" altLang="ja-JP" sz="1000">
              <a:latin typeface="Meiryo UI" panose="020B0604030504040204" pitchFamily="50" charset="-128"/>
              <a:ea typeface="Meiryo UI" panose="020B0604030504040204" pitchFamily="50" charset="-128"/>
              <a:cs typeface="Arial" charset="0"/>
            </a:endParaRPr>
          </a:p>
        </p:txBody>
      </p:sp>
      <p:cxnSp>
        <p:nvCxnSpPr>
          <p:cNvPr id="47" name="直線矢印コネクタ 46">
            <a:extLst>
              <a:ext uri="{FF2B5EF4-FFF2-40B4-BE49-F238E27FC236}">
                <a16:creationId xmlns:a16="http://schemas.microsoft.com/office/drawing/2014/main" id="{830F70EA-2123-9F1D-E5EA-9DE3453C744E}"/>
              </a:ext>
            </a:extLst>
          </p:cNvPr>
          <p:cNvCxnSpPr>
            <a:cxnSpLocks/>
          </p:cNvCxnSpPr>
          <p:nvPr/>
        </p:nvCxnSpPr>
        <p:spPr>
          <a:xfrm>
            <a:off x="1278938" y="5719049"/>
            <a:ext cx="7344000" cy="0"/>
          </a:xfrm>
          <a:prstGeom prst="straightConnector1">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D2AEFE3E-4A1B-6AE2-F259-1626DFE8523A}"/>
              </a:ext>
            </a:extLst>
          </p:cNvPr>
          <p:cNvSpPr/>
          <p:nvPr/>
        </p:nvSpPr>
        <p:spPr>
          <a:xfrm>
            <a:off x="417167" y="5756975"/>
            <a:ext cx="726436" cy="5127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全般</a:t>
            </a:r>
          </a:p>
        </p:txBody>
      </p:sp>
      <p:sp>
        <p:nvSpPr>
          <p:cNvPr id="59" name="矢印: 五方向 58">
            <a:extLst>
              <a:ext uri="{FF2B5EF4-FFF2-40B4-BE49-F238E27FC236}">
                <a16:creationId xmlns:a16="http://schemas.microsoft.com/office/drawing/2014/main" id="{0341BE24-F2C3-4188-D30A-D6C7BD861915}"/>
              </a:ext>
            </a:extLst>
          </p:cNvPr>
          <p:cNvSpPr/>
          <p:nvPr/>
        </p:nvSpPr>
        <p:spPr bwMode="gray">
          <a:xfrm>
            <a:off x="5758800" y="5122703"/>
            <a:ext cx="1030537" cy="533841"/>
          </a:xfrm>
          <a:prstGeom prst="homePlate">
            <a:avLst>
              <a:gd name="adj" fmla="val 16749"/>
            </a:avLst>
          </a:prstGeom>
          <a:solidFill>
            <a:schemeClr val="bg1"/>
          </a:solidFill>
          <a:ln w="28575" algn="ctr">
            <a:solidFill>
              <a:schemeClr val="bg1">
                <a:lumMod val="65000"/>
              </a:schemeClr>
            </a:solidFill>
            <a:prstDash val="sysDash"/>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Step2-1</a:t>
            </a:r>
          </a:p>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開示以外の</a:t>
            </a:r>
            <a:endParaRPr kumimoji="1" lang="en-US" altLang="ja-JP" sz="1050" b="1" kern="0">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報告業務効率化</a:t>
            </a:r>
            <a:endParaRPr kumimoji="1" lang="en-US" altLang="ja-JP" sz="1050" b="1" kern="0">
              <a:latin typeface="Meiryo UI" panose="020B0604030504040204" pitchFamily="50" charset="-128"/>
              <a:ea typeface="Meiryo UI" panose="020B0604030504040204" pitchFamily="50" charset="-128"/>
              <a:cs typeface="Arial" charset="0"/>
            </a:endParaRPr>
          </a:p>
        </p:txBody>
      </p:sp>
      <p:sp>
        <p:nvSpPr>
          <p:cNvPr id="60" name="矢印: 五方向 59">
            <a:extLst>
              <a:ext uri="{FF2B5EF4-FFF2-40B4-BE49-F238E27FC236}">
                <a16:creationId xmlns:a16="http://schemas.microsoft.com/office/drawing/2014/main" id="{6A972C14-E725-87B6-32E8-3EF8D7582506}"/>
              </a:ext>
            </a:extLst>
          </p:cNvPr>
          <p:cNvSpPr/>
          <p:nvPr/>
        </p:nvSpPr>
        <p:spPr bwMode="gray">
          <a:xfrm>
            <a:off x="6772183" y="5772952"/>
            <a:ext cx="2084236" cy="482443"/>
          </a:xfrm>
          <a:prstGeom prst="homePlate">
            <a:avLst>
              <a:gd name="adj" fmla="val 16749"/>
            </a:avLst>
          </a:prstGeom>
          <a:solidFill>
            <a:schemeClr val="tx2"/>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solidFill>
                  <a:schemeClr val="bg1"/>
                </a:solidFill>
                <a:latin typeface="Meiryo UI" panose="020B0604030504040204" pitchFamily="50" charset="-128"/>
                <a:ea typeface="Meiryo UI" panose="020B0604030504040204" pitchFamily="50" charset="-128"/>
                <a:cs typeface="Arial" charset="0"/>
              </a:rPr>
              <a:t>Step2-2</a:t>
            </a:r>
          </a:p>
          <a:p>
            <a:pPr algn="ctr" defTabSz="990564">
              <a:buSzPct val="100000"/>
            </a:pPr>
            <a:r>
              <a:rPr kumimoji="1" lang="ja-JP" altLang="en-US" sz="1050" b="1" kern="0">
                <a:solidFill>
                  <a:schemeClr val="bg1"/>
                </a:solidFill>
                <a:latin typeface="Meiryo UI" panose="020B0604030504040204" pitchFamily="50" charset="-128"/>
                <a:ea typeface="Meiryo UI" panose="020B0604030504040204" pitchFamily="50" charset="-128"/>
                <a:cs typeface="Arial" charset="0"/>
              </a:rPr>
              <a:t>継続的な改善</a:t>
            </a:r>
          </a:p>
        </p:txBody>
      </p:sp>
      <p:cxnSp>
        <p:nvCxnSpPr>
          <p:cNvPr id="73" name="直線コネクタ 72">
            <a:extLst>
              <a:ext uri="{FF2B5EF4-FFF2-40B4-BE49-F238E27FC236}">
                <a16:creationId xmlns:a16="http://schemas.microsoft.com/office/drawing/2014/main" id="{B7A67834-8A66-6FC7-82EA-2D4409B80E50}"/>
              </a:ext>
            </a:extLst>
          </p:cNvPr>
          <p:cNvCxnSpPr>
            <a:cxnSpLocks/>
          </p:cNvCxnSpPr>
          <p:nvPr/>
        </p:nvCxnSpPr>
        <p:spPr>
          <a:xfrm>
            <a:off x="3491880" y="3269766"/>
            <a:ext cx="479127" cy="19824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7" name="正方形/長方形 76">
            <a:extLst>
              <a:ext uri="{FF2B5EF4-FFF2-40B4-BE49-F238E27FC236}">
                <a16:creationId xmlns:a16="http://schemas.microsoft.com/office/drawing/2014/main" id="{1B79A037-0BB8-4CB9-669E-14E14550913A}"/>
              </a:ext>
            </a:extLst>
          </p:cNvPr>
          <p:cNvSpPr/>
          <p:nvPr/>
        </p:nvSpPr>
        <p:spPr>
          <a:xfrm>
            <a:off x="5244835" y="2530312"/>
            <a:ext cx="1510594" cy="392861"/>
          </a:xfrm>
          <a:prstGeom prst="rect">
            <a:avLst/>
          </a:prstGeom>
          <a:solidFill>
            <a:schemeClr val="accent2">
              <a:lumMod val="20000"/>
              <a:lumOff val="80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900">
                <a:solidFill>
                  <a:schemeClr val="tx1"/>
                </a:solidFill>
                <a:latin typeface="Meiryo UI" panose="020B0604030504040204" pitchFamily="50" charset="-128"/>
                <a:ea typeface="Meiryo UI" panose="020B0604030504040204" pitchFamily="50" charset="-128"/>
              </a:rPr>
              <a:t>任意開示する場合は、</a:t>
            </a:r>
            <a:br>
              <a:rPr kumimoji="1" lang="en-US" altLang="ja-JP" sz="900">
                <a:solidFill>
                  <a:schemeClr val="tx1"/>
                </a:solidFill>
                <a:latin typeface="Meiryo UI" panose="020B0604030504040204" pitchFamily="50" charset="-128"/>
                <a:ea typeface="Meiryo UI" panose="020B0604030504040204" pitchFamily="50" charset="-128"/>
              </a:rPr>
            </a:br>
            <a:r>
              <a:rPr kumimoji="1" lang="ja-JP" altLang="en-US" sz="900">
                <a:solidFill>
                  <a:schemeClr val="tx1"/>
                </a:solidFill>
                <a:latin typeface="Meiryo UI" panose="020B0604030504040204" pitchFamily="50" charset="-128"/>
                <a:ea typeface="Meiryo UI" panose="020B0604030504040204" pitchFamily="50" charset="-128"/>
              </a:rPr>
              <a:t>新システム外で収集・算定</a:t>
            </a:r>
          </a:p>
        </p:txBody>
      </p:sp>
      <p:cxnSp>
        <p:nvCxnSpPr>
          <p:cNvPr id="84" name="直線コネクタ 83">
            <a:extLst>
              <a:ext uri="{FF2B5EF4-FFF2-40B4-BE49-F238E27FC236}">
                <a16:creationId xmlns:a16="http://schemas.microsoft.com/office/drawing/2014/main" id="{EE77E4ED-7000-2C6D-DE0D-2AD2790BE8BD}"/>
              </a:ext>
            </a:extLst>
          </p:cNvPr>
          <p:cNvCxnSpPr>
            <a:cxnSpLocks/>
          </p:cNvCxnSpPr>
          <p:nvPr/>
        </p:nvCxnSpPr>
        <p:spPr>
          <a:xfrm>
            <a:off x="5503903" y="2428057"/>
            <a:ext cx="32540" cy="8112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6" name="正方形/長方形 85">
            <a:extLst>
              <a:ext uri="{FF2B5EF4-FFF2-40B4-BE49-F238E27FC236}">
                <a16:creationId xmlns:a16="http://schemas.microsoft.com/office/drawing/2014/main" id="{6D15C512-1CF3-D2FC-33E4-0258E4704F0A}"/>
              </a:ext>
            </a:extLst>
          </p:cNvPr>
          <p:cNvSpPr/>
          <p:nvPr/>
        </p:nvSpPr>
        <p:spPr>
          <a:xfrm>
            <a:off x="2732132" y="5772952"/>
            <a:ext cx="1510594" cy="496738"/>
          </a:xfrm>
          <a:prstGeom prst="rect">
            <a:avLst/>
          </a:prstGeom>
          <a:solidFill>
            <a:schemeClr val="accent2">
              <a:lumMod val="20000"/>
              <a:lumOff val="80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900">
                <a:solidFill>
                  <a:schemeClr val="tx1"/>
                </a:solidFill>
                <a:latin typeface="Meiryo UI" panose="020B0604030504040204" pitchFamily="50" charset="-128"/>
                <a:ea typeface="Meiryo UI" panose="020B0604030504040204" pitchFamily="50" charset="-128"/>
              </a:rPr>
              <a:t>マテリアリティ評価・新中経策定を経て環境以外の収集データを実装</a:t>
            </a:r>
          </a:p>
        </p:txBody>
      </p:sp>
      <p:cxnSp>
        <p:nvCxnSpPr>
          <p:cNvPr id="89" name="直線コネクタ 88">
            <a:extLst>
              <a:ext uri="{FF2B5EF4-FFF2-40B4-BE49-F238E27FC236}">
                <a16:creationId xmlns:a16="http://schemas.microsoft.com/office/drawing/2014/main" id="{AEC458B6-87E6-66B9-7EF5-39F43F02EB5C}"/>
              </a:ext>
            </a:extLst>
          </p:cNvPr>
          <p:cNvCxnSpPr>
            <a:cxnSpLocks/>
          </p:cNvCxnSpPr>
          <p:nvPr/>
        </p:nvCxnSpPr>
        <p:spPr>
          <a:xfrm flipH="1">
            <a:off x="3089116" y="5630641"/>
            <a:ext cx="157219" cy="1496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91" name="正方形/長方形 90">
            <a:extLst>
              <a:ext uri="{FF2B5EF4-FFF2-40B4-BE49-F238E27FC236}">
                <a16:creationId xmlns:a16="http://schemas.microsoft.com/office/drawing/2014/main" id="{DA38890B-7A7F-072E-4F9D-F3583A2C6CCC}"/>
              </a:ext>
            </a:extLst>
          </p:cNvPr>
          <p:cNvSpPr/>
          <p:nvPr/>
        </p:nvSpPr>
        <p:spPr>
          <a:xfrm>
            <a:off x="1318566" y="5133903"/>
            <a:ext cx="1510594" cy="496738"/>
          </a:xfrm>
          <a:prstGeom prst="rect">
            <a:avLst/>
          </a:prstGeom>
          <a:solidFill>
            <a:schemeClr val="accent2">
              <a:lumMod val="20000"/>
              <a:lumOff val="80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900">
                <a:solidFill>
                  <a:schemeClr val="tx1"/>
                </a:solidFill>
                <a:latin typeface="Meiryo UI" panose="020B0604030504040204" pitchFamily="50" charset="-128"/>
                <a:ea typeface="Meiryo UI" panose="020B0604030504040204" pitchFamily="50" charset="-128"/>
              </a:rPr>
              <a:t>開示対応するとともに拠点の現場負担感を軽減させる施策は盛り込む</a:t>
            </a:r>
          </a:p>
        </p:txBody>
      </p:sp>
      <p:cxnSp>
        <p:nvCxnSpPr>
          <p:cNvPr id="96" name="直線コネクタ 95">
            <a:extLst>
              <a:ext uri="{FF2B5EF4-FFF2-40B4-BE49-F238E27FC236}">
                <a16:creationId xmlns:a16="http://schemas.microsoft.com/office/drawing/2014/main" id="{0D484419-EAF3-4FAF-F82B-277D45B31D74}"/>
              </a:ext>
            </a:extLst>
          </p:cNvPr>
          <p:cNvCxnSpPr>
            <a:cxnSpLocks/>
          </p:cNvCxnSpPr>
          <p:nvPr/>
        </p:nvCxnSpPr>
        <p:spPr>
          <a:xfrm flipH="1">
            <a:off x="1404973" y="4092193"/>
            <a:ext cx="261534" cy="104171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97" name="正方形/長方形 96">
            <a:extLst>
              <a:ext uri="{FF2B5EF4-FFF2-40B4-BE49-F238E27FC236}">
                <a16:creationId xmlns:a16="http://schemas.microsoft.com/office/drawing/2014/main" id="{A01DBBB9-A84A-B0F0-B961-CBC7E42E454B}"/>
              </a:ext>
            </a:extLst>
          </p:cNvPr>
          <p:cNvSpPr/>
          <p:nvPr/>
        </p:nvSpPr>
        <p:spPr>
          <a:xfrm>
            <a:off x="6268209" y="4413444"/>
            <a:ext cx="1510594" cy="496738"/>
          </a:xfrm>
          <a:prstGeom prst="rect">
            <a:avLst/>
          </a:prstGeom>
          <a:solidFill>
            <a:schemeClr val="accent2">
              <a:lumMod val="20000"/>
              <a:lumOff val="80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900">
                <a:solidFill>
                  <a:schemeClr val="tx1"/>
                </a:solidFill>
                <a:latin typeface="Meiryo UI" panose="020B0604030504040204" pitchFamily="50" charset="-128"/>
                <a:ea typeface="Meiryo UI" panose="020B0604030504040204" pitchFamily="50" charset="-128"/>
              </a:rPr>
              <a:t>主としてレポートの拡充（サス室等の、データを使う側の業務効率化を狙う）</a:t>
            </a:r>
          </a:p>
        </p:txBody>
      </p:sp>
      <p:cxnSp>
        <p:nvCxnSpPr>
          <p:cNvPr id="98" name="直線コネクタ 97">
            <a:extLst>
              <a:ext uri="{FF2B5EF4-FFF2-40B4-BE49-F238E27FC236}">
                <a16:creationId xmlns:a16="http://schemas.microsoft.com/office/drawing/2014/main" id="{B87FCD66-F235-582C-C1A0-A199E8100527}"/>
              </a:ext>
            </a:extLst>
          </p:cNvPr>
          <p:cNvCxnSpPr>
            <a:cxnSpLocks/>
            <a:stCxn id="53" idx="3"/>
          </p:cNvCxnSpPr>
          <p:nvPr/>
        </p:nvCxnSpPr>
        <p:spPr>
          <a:xfrm>
            <a:off x="6323604" y="4212488"/>
            <a:ext cx="299859" cy="17959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0" name="正方形/長方形 99">
            <a:extLst>
              <a:ext uri="{FF2B5EF4-FFF2-40B4-BE49-F238E27FC236}">
                <a16:creationId xmlns:a16="http://schemas.microsoft.com/office/drawing/2014/main" id="{DBADFF10-AD54-8DE4-C9B0-0A5AA4F6086F}"/>
              </a:ext>
            </a:extLst>
          </p:cNvPr>
          <p:cNvSpPr/>
          <p:nvPr/>
        </p:nvSpPr>
        <p:spPr>
          <a:xfrm>
            <a:off x="7206512" y="5230419"/>
            <a:ext cx="1510594" cy="496738"/>
          </a:xfrm>
          <a:prstGeom prst="rect">
            <a:avLst/>
          </a:prstGeom>
          <a:solidFill>
            <a:schemeClr val="accent2">
              <a:lumMod val="20000"/>
              <a:lumOff val="80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900">
                <a:solidFill>
                  <a:schemeClr val="tx1"/>
                </a:solidFill>
                <a:latin typeface="Meiryo UI" panose="020B0604030504040204" pitchFamily="50" charset="-128"/>
                <a:ea typeface="Meiryo UI" panose="020B0604030504040204" pitchFamily="50" charset="-128"/>
              </a:rPr>
              <a:t>毎年開示後に、</a:t>
            </a:r>
            <a:r>
              <a:rPr kumimoji="1" lang="en-US" altLang="ja-JP" sz="900">
                <a:solidFill>
                  <a:schemeClr val="tx1"/>
                </a:solidFill>
                <a:latin typeface="Meiryo UI" panose="020B0604030504040204" pitchFamily="50" charset="-128"/>
                <a:ea typeface="Meiryo UI" panose="020B0604030504040204" pitchFamily="50" charset="-128"/>
              </a:rPr>
              <a:t>1</a:t>
            </a:r>
            <a:r>
              <a:rPr kumimoji="1" lang="ja-JP" altLang="en-US" sz="900">
                <a:solidFill>
                  <a:schemeClr val="tx1"/>
                </a:solidFill>
                <a:latin typeface="Meiryo UI" panose="020B0604030504040204" pitchFamily="50" charset="-128"/>
                <a:ea typeface="Meiryo UI" panose="020B0604030504040204" pitchFamily="50" charset="-128"/>
              </a:rPr>
              <a:t>年間の業務を振り返り改善点を抽出・実装していく</a:t>
            </a:r>
          </a:p>
        </p:txBody>
      </p:sp>
      <p:cxnSp>
        <p:nvCxnSpPr>
          <p:cNvPr id="101" name="直線コネクタ 100">
            <a:extLst>
              <a:ext uri="{FF2B5EF4-FFF2-40B4-BE49-F238E27FC236}">
                <a16:creationId xmlns:a16="http://schemas.microsoft.com/office/drawing/2014/main" id="{93EA2CC5-82D7-6D85-6743-0C13D8625E07}"/>
              </a:ext>
            </a:extLst>
          </p:cNvPr>
          <p:cNvCxnSpPr>
            <a:cxnSpLocks/>
            <a:stCxn id="100" idx="1"/>
          </p:cNvCxnSpPr>
          <p:nvPr/>
        </p:nvCxnSpPr>
        <p:spPr>
          <a:xfrm flipH="1">
            <a:off x="6985300" y="5478788"/>
            <a:ext cx="221212" cy="31307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4" name="スライド番号プレースホルダー 2">
            <a:extLst>
              <a:ext uri="{FF2B5EF4-FFF2-40B4-BE49-F238E27FC236}">
                <a16:creationId xmlns:a16="http://schemas.microsoft.com/office/drawing/2014/main" id="{3C5173E4-5D1F-43B0-06C9-C3E59DDD4C5E}"/>
              </a:ext>
            </a:extLst>
          </p:cNvPr>
          <p:cNvSpPr>
            <a:spLocks noGrp="1"/>
          </p:cNvSpPr>
          <p:nvPr>
            <p:ph type="sldNum" sz="quarter" idx="12"/>
          </p:nvPr>
        </p:nvSpPr>
        <p:spPr>
          <a:xfrm>
            <a:off x="8532000" y="6560761"/>
            <a:ext cx="432000" cy="144000"/>
          </a:xfrm>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15</a:t>
            </a:fld>
            <a:endParaRPr kumimoji="1" lang="ja-JP" altLang="en-US">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74B244DB-1E07-84C4-EF9D-6AA021A0AF95}"/>
              </a:ext>
            </a:extLst>
          </p:cNvPr>
          <p:cNvSpPr/>
          <p:nvPr/>
        </p:nvSpPr>
        <p:spPr>
          <a:xfrm>
            <a:off x="7112344" y="2428057"/>
            <a:ext cx="1510594" cy="392861"/>
          </a:xfrm>
          <a:prstGeom prst="rect">
            <a:avLst/>
          </a:prstGeom>
          <a:solidFill>
            <a:schemeClr val="accent2">
              <a:lumMod val="20000"/>
              <a:lumOff val="80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900">
                <a:solidFill>
                  <a:schemeClr val="tx1"/>
                </a:solidFill>
                <a:latin typeface="Meiryo UI" panose="020B0604030504040204" pitchFamily="50" charset="-128"/>
                <a:ea typeface="Meiryo UI" panose="020B0604030504040204" pitchFamily="50" charset="-128"/>
              </a:rPr>
              <a:t>強制開示は、新システムで収集したデータで実施</a:t>
            </a:r>
          </a:p>
        </p:txBody>
      </p:sp>
      <p:cxnSp>
        <p:nvCxnSpPr>
          <p:cNvPr id="106" name="直線コネクタ 105">
            <a:extLst>
              <a:ext uri="{FF2B5EF4-FFF2-40B4-BE49-F238E27FC236}">
                <a16:creationId xmlns:a16="http://schemas.microsoft.com/office/drawing/2014/main" id="{68785A9C-C9A3-F7DA-76C2-FCAB59A57373}"/>
              </a:ext>
            </a:extLst>
          </p:cNvPr>
          <p:cNvCxnSpPr/>
          <p:nvPr/>
        </p:nvCxnSpPr>
        <p:spPr>
          <a:xfrm>
            <a:off x="7144609" y="2238775"/>
            <a:ext cx="259343" cy="16815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29BC05CE-AFA5-BA66-C0A8-FE50114A3312}"/>
              </a:ext>
            </a:extLst>
          </p:cNvPr>
          <p:cNvSpPr txBox="1"/>
          <p:nvPr/>
        </p:nvSpPr>
        <p:spPr bwMode="gray">
          <a:xfrm>
            <a:off x="2643682" y="2924944"/>
            <a:ext cx="971170" cy="307777"/>
          </a:xfrm>
          <a:prstGeom prst="rect">
            <a:avLst/>
          </a:prstGeom>
          <a:noFill/>
        </p:spPr>
        <p:txBody>
          <a:bodyPr wrap="square" lIns="0" tIns="0" rIns="0" bIns="0" rtlCol="0">
            <a:spAutoFit/>
          </a:bodyPr>
          <a:lstStyle/>
          <a:p>
            <a:pPr algn="ctr" defTabSz="990564">
              <a:buSzPct val="100000"/>
              <a:buFont typeface="Wingdings" panose="05000000000000000000" pitchFamily="2" charset="2"/>
              <a:buNone/>
            </a:pPr>
            <a:r>
              <a:rPr kumimoji="1" lang="en-US" altLang="ja-JP" sz="1000">
                <a:latin typeface="Meiryo UI" panose="020B0604030504040204" pitchFamily="50" charset="-128"/>
                <a:ea typeface="Meiryo UI" panose="020B0604030504040204" pitchFamily="50" charset="-128"/>
                <a:cs typeface="Arial" charset="0"/>
              </a:rPr>
              <a:t>26/7</a:t>
            </a:r>
            <a:r>
              <a:rPr kumimoji="1" lang="ja-JP" altLang="en-US" sz="1000">
                <a:latin typeface="Meiryo UI" panose="020B0604030504040204" pitchFamily="50" charset="-128"/>
                <a:ea typeface="Meiryo UI" panose="020B0604030504040204" pitchFamily="50" charset="-128"/>
                <a:cs typeface="Arial" charset="0"/>
              </a:rPr>
              <a:t>月</a:t>
            </a:r>
            <a:endParaRPr kumimoji="1" lang="en-US" altLang="ja-JP" sz="1000">
              <a:latin typeface="Meiryo UI" panose="020B0604030504040204" pitchFamily="50" charset="-128"/>
              <a:ea typeface="Meiryo UI" panose="020B0604030504040204" pitchFamily="50" charset="-128"/>
              <a:cs typeface="Arial" charset="0"/>
            </a:endParaRPr>
          </a:p>
          <a:p>
            <a:pPr algn="ctr" defTabSz="990564">
              <a:buSzPct val="100000"/>
              <a:buFont typeface="Wingdings" panose="05000000000000000000" pitchFamily="2" charset="2"/>
              <a:buNone/>
            </a:pPr>
            <a:r>
              <a:rPr kumimoji="1" lang="ja-JP" altLang="en-US" sz="1000">
                <a:solidFill>
                  <a:schemeClr val="accent6"/>
                </a:solidFill>
                <a:latin typeface="Meiryo UI" panose="020B0604030504040204" pitchFamily="50" charset="-128"/>
                <a:ea typeface="Meiryo UI" panose="020B0604030504040204" pitchFamily="50" charset="-128"/>
                <a:cs typeface="Arial" charset="0"/>
              </a:rPr>
              <a:t>▼</a:t>
            </a:r>
            <a:r>
              <a:rPr kumimoji="1" lang="ja-JP" altLang="en-US" sz="1000">
                <a:latin typeface="Meiryo UI" panose="020B0604030504040204" pitchFamily="50" charset="-128"/>
                <a:ea typeface="Meiryo UI" panose="020B0604030504040204" pitchFamily="50" charset="-128"/>
                <a:cs typeface="Arial" charset="0"/>
              </a:rPr>
              <a:t>環境稼働</a:t>
            </a:r>
            <a:endParaRPr kumimoji="1" lang="en-US" altLang="ja-JP" sz="1000">
              <a:latin typeface="Meiryo UI" panose="020B0604030504040204" pitchFamily="50" charset="-128"/>
              <a:ea typeface="Meiryo UI" panose="020B0604030504040204" pitchFamily="50" charset="-128"/>
              <a:cs typeface="Arial" charset="0"/>
            </a:endParaRPr>
          </a:p>
        </p:txBody>
      </p:sp>
      <p:cxnSp>
        <p:nvCxnSpPr>
          <p:cNvPr id="7" name="直線矢印コネクタ 6">
            <a:extLst>
              <a:ext uri="{FF2B5EF4-FFF2-40B4-BE49-F238E27FC236}">
                <a16:creationId xmlns:a16="http://schemas.microsoft.com/office/drawing/2014/main" id="{660695E9-A924-BEA8-46DB-60BAFF63F5A4}"/>
              </a:ext>
            </a:extLst>
          </p:cNvPr>
          <p:cNvCxnSpPr>
            <a:cxnSpLocks/>
          </p:cNvCxnSpPr>
          <p:nvPr/>
        </p:nvCxnSpPr>
        <p:spPr>
          <a:xfrm>
            <a:off x="4918272" y="2014713"/>
            <a:ext cx="1816363"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695E21DF-A07C-60C3-D914-D668E786E2CE}"/>
              </a:ext>
            </a:extLst>
          </p:cNvPr>
          <p:cNvSpPr txBox="1"/>
          <p:nvPr/>
        </p:nvSpPr>
        <p:spPr bwMode="gray">
          <a:xfrm>
            <a:off x="5261534" y="1951703"/>
            <a:ext cx="1140884" cy="153888"/>
          </a:xfrm>
          <a:prstGeom prst="rect">
            <a:avLst/>
          </a:prstGeom>
          <a:solidFill>
            <a:schemeClr val="bg1"/>
          </a:solidFill>
        </p:spPr>
        <p:txBody>
          <a:bodyPr wrap="square" lIns="0" tIns="0" rIns="0" bIns="0" rtlCol="0">
            <a:spAutoFit/>
          </a:bodyPr>
          <a:lstStyle>
            <a:defPPr>
              <a:defRPr lang="en-US"/>
            </a:defPPr>
            <a:lvl1pPr algn="ctr" defTabSz="990564">
              <a:buSzPct val="100000"/>
              <a:buFont typeface="Wingdings" panose="05000000000000000000" pitchFamily="2" charset="2"/>
              <a:buNone/>
              <a:defRPr kumimoji="1" sz="1000" b="1">
                <a:latin typeface="Yu Gothic UI"/>
                <a:cs typeface="Arial" charset="0"/>
              </a:defRPr>
            </a:lvl1pPr>
          </a:lstStyle>
          <a:p>
            <a:r>
              <a:rPr lang="en-US" altLang="ja-JP">
                <a:latin typeface="Meiryo UI" panose="020B0604030504040204" pitchFamily="50" charset="-128"/>
                <a:ea typeface="Meiryo UI" panose="020B0604030504040204" pitchFamily="50" charset="-128"/>
              </a:rPr>
              <a:t>SSBJ</a:t>
            </a:r>
            <a:r>
              <a:rPr lang="ja-JP" altLang="en-US">
                <a:latin typeface="Meiryo UI" panose="020B0604030504040204" pitchFamily="50" charset="-128"/>
                <a:ea typeface="Meiryo UI" panose="020B0604030504040204" pitchFamily="50" charset="-128"/>
              </a:rPr>
              <a:t>初年度対応</a:t>
            </a:r>
            <a:endParaRPr lang="en-US" altLang="ja-JP">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688E1E11-0A16-8F4A-8E9B-F6468FD5B490}"/>
              </a:ext>
            </a:extLst>
          </p:cNvPr>
          <p:cNvSpPr/>
          <p:nvPr/>
        </p:nvSpPr>
        <p:spPr>
          <a:xfrm>
            <a:off x="3976977" y="1700808"/>
            <a:ext cx="2127433" cy="14300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900" b="1">
                <a:solidFill>
                  <a:schemeClr val="bg1"/>
                </a:solidFill>
                <a:latin typeface="Meiryo UI" panose="020B0604030504040204" pitchFamily="50" charset="-128"/>
                <a:ea typeface="Meiryo UI" panose="020B0604030504040204" pitchFamily="50" charset="-128"/>
              </a:rPr>
              <a:t>2027</a:t>
            </a:r>
            <a:endParaRPr kumimoji="1" lang="ja-JP" altLang="en-US" sz="900" b="1">
              <a:solidFill>
                <a:schemeClr val="bg1"/>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CE1C300C-0DE3-C2D5-62B7-532902D1B267}"/>
              </a:ext>
            </a:extLst>
          </p:cNvPr>
          <p:cNvSpPr/>
          <p:nvPr/>
        </p:nvSpPr>
        <p:spPr>
          <a:xfrm>
            <a:off x="6142238" y="1700808"/>
            <a:ext cx="2127433" cy="141131"/>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900" b="1">
                <a:solidFill>
                  <a:schemeClr val="bg1"/>
                </a:solidFill>
                <a:latin typeface="Meiryo UI" panose="020B0604030504040204" pitchFamily="50" charset="-128"/>
                <a:ea typeface="Meiryo UI" panose="020B0604030504040204" pitchFamily="50" charset="-128"/>
              </a:rPr>
              <a:t>2028</a:t>
            </a:r>
            <a:endParaRPr kumimoji="1" lang="ja-JP" altLang="en-US" sz="900" b="1">
              <a:solidFill>
                <a:schemeClr val="bg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CB759362-ABBD-4394-F196-D99BBBAB70F8}"/>
              </a:ext>
            </a:extLst>
          </p:cNvPr>
          <p:cNvSpPr/>
          <p:nvPr/>
        </p:nvSpPr>
        <p:spPr>
          <a:xfrm>
            <a:off x="1801454" y="1700808"/>
            <a:ext cx="2127433" cy="14300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900" b="1">
                <a:solidFill>
                  <a:schemeClr val="bg1"/>
                </a:solidFill>
                <a:latin typeface="Meiryo UI" panose="020B0604030504040204" pitchFamily="50" charset="-128"/>
                <a:ea typeface="Meiryo UI" panose="020B0604030504040204" pitchFamily="50" charset="-128"/>
              </a:rPr>
              <a:t>2026</a:t>
            </a:r>
            <a:endParaRPr kumimoji="1" lang="ja-JP" altLang="en-US" sz="900" b="1">
              <a:solidFill>
                <a:schemeClr val="bg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8B8999E1-DDFC-9E3B-ADAC-0CFC56CAFC8C}"/>
              </a:ext>
            </a:extLst>
          </p:cNvPr>
          <p:cNvSpPr/>
          <p:nvPr/>
        </p:nvSpPr>
        <p:spPr>
          <a:xfrm>
            <a:off x="1282383" y="1700808"/>
            <a:ext cx="481305" cy="14300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900" b="1">
                <a:solidFill>
                  <a:schemeClr val="bg1"/>
                </a:solidFill>
                <a:latin typeface="Meiryo UI" panose="020B0604030504040204" pitchFamily="50" charset="-128"/>
                <a:ea typeface="Meiryo UI" panose="020B0604030504040204" pitchFamily="50" charset="-128"/>
              </a:rPr>
              <a:t>2025</a:t>
            </a:r>
            <a:endParaRPr kumimoji="1" lang="ja-JP" altLang="en-US" sz="900" b="1">
              <a:solidFill>
                <a:schemeClr val="bg1"/>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5D95ADC2-EC21-9320-15FC-A0F1F2F27203}"/>
              </a:ext>
            </a:extLst>
          </p:cNvPr>
          <p:cNvSpPr/>
          <p:nvPr/>
        </p:nvSpPr>
        <p:spPr>
          <a:xfrm>
            <a:off x="8307499" y="1700808"/>
            <a:ext cx="548920" cy="141131"/>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900" b="1">
                <a:solidFill>
                  <a:schemeClr val="bg1"/>
                </a:solidFill>
                <a:latin typeface="Meiryo UI" panose="020B0604030504040204" pitchFamily="50" charset="-128"/>
                <a:ea typeface="Meiryo UI" panose="020B0604030504040204" pitchFamily="50" charset="-128"/>
              </a:rPr>
              <a:t>2029~</a:t>
            </a:r>
            <a:endParaRPr kumimoji="1" lang="ja-JP" altLang="en-US" sz="900" b="1">
              <a:solidFill>
                <a:schemeClr val="bg1"/>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B6C45FCB-2302-ED49-DE81-868C3BDC12D0}"/>
              </a:ext>
            </a:extLst>
          </p:cNvPr>
          <p:cNvSpPr txBox="1"/>
          <p:nvPr/>
        </p:nvSpPr>
        <p:spPr bwMode="gray">
          <a:xfrm>
            <a:off x="2629545" y="3213187"/>
            <a:ext cx="971170" cy="153888"/>
          </a:xfrm>
          <a:prstGeom prst="rect">
            <a:avLst/>
          </a:prstGeom>
          <a:noFill/>
        </p:spPr>
        <p:txBody>
          <a:bodyPr wrap="square" lIns="0" tIns="0" rIns="0" bIns="0" rtlCol="0">
            <a:spAutoFit/>
          </a:bodyPr>
          <a:lstStyle/>
          <a:p>
            <a:pPr algn="ctr" defTabSz="990564">
              <a:buSzPct val="100000"/>
              <a:buFont typeface="Wingdings" panose="05000000000000000000" pitchFamily="2" charset="2"/>
              <a:buNone/>
            </a:pPr>
            <a:r>
              <a:rPr kumimoji="1" lang="ja-JP" altLang="en-US" sz="1000">
                <a:solidFill>
                  <a:srgbClr val="C00000"/>
                </a:solidFill>
                <a:latin typeface="Meiryo UI" panose="020B0604030504040204" pitchFamily="50" charset="-128"/>
                <a:ea typeface="Meiryo UI" panose="020B0604030504040204" pitchFamily="50" charset="-128"/>
                <a:cs typeface="Arial" charset="0"/>
              </a:rPr>
              <a:t>▼</a:t>
            </a:r>
            <a:r>
              <a:rPr kumimoji="1" lang="en-US" altLang="ja-JP" sz="1000">
                <a:highlight>
                  <a:srgbClr val="FFFF00"/>
                </a:highlight>
                <a:latin typeface="Meiryo UI" panose="020B0604030504040204" pitchFamily="50" charset="-128"/>
                <a:ea typeface="Meiryo UI" panose="020B0604030504040204" pitchFamily="50" charset="-128"/>
                <a:cs typeface="Arial" charset="0"/>
              </a:rPr>
              <a:t>ETL</a:t>
            </a:r>
            <a:r>
              <a:rPr kumimoji="1" lang="ja-JP" altLang="en-US" sz="1000">
                <a:highlight>
                  <a:srgbClr val="FFFF00"/>
                </a:highlight>
                <a:latin typeface="Meiryo UI" panose="020B0604030504040204" pitchFamily="50" charset="-128"/>
                <a:ea typeface="Meiryo UI" panose="020B0604030504040204" pitchFamily="50" charset="-128"/>
                <a:cs typeface="Arial" charset="0"/>
              </a:rPr>
              <a:t>稼働</a:t>
            </a:r>
            <a:endParaRPr kumimoji="1" lang="en-US" altLang="ja-JP" sz="1000">
              <a:highlight>
                <a:srgbClr val="FFFF00"/>
              </a:highlight>
              <a:latin typeface="Meiryo UI" panose="020B0604030504040204" pitchFamily="50" charset="-128"/>
              <a:ea typeface="Meiryo UI" panose="020B0604030504040204" pitchFamily="50" charset="-128"/>
              <a:cs typeface="Arial" charset="0"/>
            </a:endParaRPr>
          </a:p>
        </p:txBody>
      </p:sp>
      <p:sp>
        <p:nvSpPr>
          <p:cNvPr id="21" name="楕円 20">
            <a:extLst>
              <a:ext uri="{FF2B5EF4-FFF2-40B4-BE49-F238E27FC236}">
                <a16:creationId xmlns:a16="http://schemas.microsoft.com/office/drawing/2014/main" id="{E70AEF78-28A5-2B5B-6822-4548C93668EB}"/>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24" name="テキスト ボックス 23">
            <a:extLst>
              <a:ext uri="{FF2B5EF4-FFF2-40B4-BE49-F238E27FC236}">
                <a16:creationId xmlns:a16="http://schemas.microsoft.com/office/drawing/2014/main" id="{AB230301-AFAF-E450-3600-4E7CF6914712}"/>
              </a:ext>
            </a:extLst>
          </p:cNvPr>
          <p:cNvSpPr txBox="1"/>
          <p:nvPr/>
        </p:nvSpPr>
        <p:spPr bwMode="gray">
          <a:xfrm>
            <a:off x="7542414" y="1245873"/>
            <a:ext cx="985307"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endParaRPr kumimoji="1" lang="en-US" altLang="ja-JP" sz="1000">
              <a:latin typeface="Meiryo UI" panose="020B0604030504040204" pitchFamily="50" charset="-128"/>
              <a:ea typeface="Meiryo UI" panose="020B0604030504040204" pitchFamily="50" charset="-128"/>
              <a:cs typeface="Arial" charset="0"/>
            </a:endParaRPr>
          </a:p>
          <a:p>
            <a:pPr defTabSz="990564">
              <a:buSzPct val="100000"/>
              <a:buFont typeface="Wingdings" panose="05000000000000000000" pitchFamily="2" charset="2"/>
              <a:buNone/>
            </a:pPr>
            <a:r>
              <a:rPr kumimoji="1" lang="ja-JP" altLang="en-US" sz="1000">
                <a:solidFill>
                  <a:schemeClr val="accent6"/>
                </a:solidFill>
                <a:latin typeface="Meiryo UI" panose="020B0604030504040204" pitchFamily="50" charset="-128"/>
                <a:ea typeface="Meiryo UI" panose="020B0604030504040204" pitchFamily="50" charset="-128"/>
                <a:cs typeface="Arial" charset="0"/>
              </a:rPr>
              <a:t>▼</a:t>
            </a:r>
            <a:r>
              <a:rPr kumimoji="1" lang="ja-JP" altLang="en-US" sz="1000">
                <a:latin typeface="Meiryo UI" panose="020B0604030504040204" pitchFamily="50" charset="-128"/>
                <a:ea typeface="Meiryo UI" panose="020B0604030504040204" pitchFamily="50" charset="-128"/>
                <a:cs typeface="Arial" charset="0"/>
              </a:rPr>
              <a:t>新システム関連</a:t>
            </a:r>
            <a:endParaRPr kumimoji="1" lang="en-US" altLang="ja-JP" sz="1000">
              <a:latin typeface="Meiryo UI" panose="020B0604030504040204" pitchFamily="50" charset="-128"/>
              <a:ea typeface="Meiryo UI" panose="020B0604030504040204" pitchFamily="50" charset="-128"/>
              <a:cs typeface="Arial" charset="0"/>
            </a:endParaRPr>
          </a:p>
        </p:txBody>
      </p:sp>
      <p:sp>
        <p:nvSpPr>
          <p:cNvPr id="26" name="テキスト ボックス 25">
            <a:extLst>
              <a:ext uri="{FF2B5EF4-FFF2-40B4-BE49-F238E27FC236}">
                <a16:creationId xmlns:a16="http://schemas.microsoft.com/office/drawing/2014/main" id="{1074B897-8429-E482-8B6D-7E96D9A8BF63}"/>
              </a:ext>
            </a:extLst>
          </p:cNvPr>
          <p:cNvSpPr txBox="1"/>
          <p:nvPr/>
        </p:nvSpPr>
        <p:spPr bwMode="gray">
          <a:xfrm>
            <a:off x="7542414" y="1534116"/>
            <a:ext cx="1205346" cy="153888"/>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ja-JP" altLang="en-US" sz="1000">
                <a:solidFill>
                  <a:srgbClr val="C00000"/>
                </a:solidFill>
                <a:latin typeface="Meiryo UI" panose="020B0604030504040204" pitchFamily="50" charset="-128"/>
                <a:ea typeface="Meiryo UI" panose="020B0604030504040204" pitchFamily="50" charset="-128"/>
                <a:cs typeface="Arial" charset="0"/>
              </a:rPr>
              <a:t>▼</a:t>
            </a:r>
            <a:r>
              <a:rPr kumimoji="1" lang="en-US" altLang="ja-JP" sz="1000">
                <a:highlight>
                  <a:srgbClr val="FFFF00"/>
                </a:highlight>
                <a:latin typeface="Meiryo UI" panose="020B0604030504040204" pitchFamily="50" charset="-128"/>
                <a:ea typeface="Meiryo UI" panose="020B0604030504040204" pitchFamily="50" charset="-128"/>
                <a:cs typeface="Arial" charset="0"/>
              </a:rPr>
              <a:t>ESG</a:t>
            </a:r>
            <a:r>
              <a:rPr kumimoji="1" lang="ja-JP" altLang="en-US" sz="1000">
                <a:highlight>
                  <a:srgbClr val="FFFF00"/>
                </a:highlight>
                <a:latin typeface="Meiryo UI" panose="020B0604030504040204" pitchFamily="50" charset="-128"/>
                <a:ea typeface="Meiryo UI" panose="020B0604030504040204" pitchFamily="50" charset="-128"/>
                <a:cs typeface="Arial" charset="0"/>
              </a:rPr>
              <a:t>システム関連</a:t>
            </a:r>
            <a:endParaRPr kumimoji="1" lang="en-US" altLang="ja-JP" sz="1000">
              <a:highlight>
                <a:srgbClr val="FFFF00"/>
              </a:highlight>
              <a:latin typeface="Meiryo UI" panose="020B0604030504040204" pitchFamily="50" charset="-128"/>
              <a:ea typeface="Meiryo UI" panose="020B0604030504040204" pitchFamily="50" charset="-128"/>
              <a:cs typeface="Arial" charset="0"/>
            </a:endParaRPr>
          </a:p>
        </p:txBody>
      </p:sp>
      <p:sp>
        <p:nvSpPr>
          <p:cNvPr id="30" name="テキスト ボックス 29">
            <a:extLst>
              <a:ext uri="{FF2B5EF4-FFF2-40B4-BE49-F238E27FC236}">
                <a16:creationId xmlns:a16="http://schemas.microsoft.com/office/drawing/2014/main" id="{6BD324F6-EE8B-FB8D-32EA-0BCC1CF43FFB}"/>
              </a:ext>
            </a:extLst>
          </p:cNvPr>
          <p:cNvSpPr txBox="1"/>
          <p:nvPr/>
        </p:nvSpPr>
        <p:spPr bwMode="gray">
          <a:xfrm>
            <a:off x="417166" y="6301190"/>
            <a:ext cx="5450978" cy="307777"/>
          </a:xfrm>
          <a:prstGeom prst="rect">
            <a:avLst/>
          </a:prstGeom>
          <a:noFill/>
        </p:spPr>
        <p:txBody>
          <a:bodyPr wrap="square" lIns="0" tIns="0" rIns="0" bIns="0" rtlCol="0">
            <a:spAutoFit/>
          </a:bodyPr>
          <a:lstStyle/>
          <a:p>
            <a:pPr defTabSz="990564">
              <a:buSzPct val="100000"/>
              <a:buFont typeface="Wingdings" panose="05000000000000000000" pitchFamily="2" charset="2"/>
              <a:buNone/>
            </a:pPr>
            <a:r>
              <a:rPr kumimoji="1" lang="en-US" altLang="ja-JP" sz="1000">
                <a:latin typeface="Meiryo UI" panose="020B0604030504040204" pitchFamily="50" charset="-128"/>
                <a:ea typeface="Meiryo UI" panose="020B0604030504040204" pitchFamily="50" charset="-128"/>
                <a:cs typeface="Arial" charset="0"/>
              </a:rPr>
              <a:t>※</a:t>
            </a:r>
            <a:r>
              <a:rPr kumimoji="1" lang="en-US" altLang="ja-JP" sz="1000">
                <a:highlight>
                  <a:srgbClr val="FFFF00"/>
                </a:highlight>
                <a:latin typeface="Meiryo UI" panose="020B0604030504040204" pitchFamily="50" charset="-128"/>
                <a:ea typeface="Meiryo UI" panose="020B0604030504040204" pitchFamily="50" charset="-128"/>
                <a:cs typeface="Arial" charset="0"/>
              </a:rPr>
              <a:t>1 Step1-1</a:t>
            </a:r>
            <a:r>
              <a:rPr kumimoji="1" lang="ja-JP" altLang="en-US" sz="1000">
                <a:highlight>
                  <a:srgbClr val="FFFF00"/>
                </a:highlight>
                <a:latin typeface="Meiryo UI" panose="020B0604030504040204" pitchFamily="50" charset="-128"/>
                <a:ea typeface="Meiryo UI" panose="020B0604030504040204" pitchFamily="50" charset="-128"/>
                <a:cs typeface="Arial" charset="0"/>
              </a:rPr>
              <a:t>にて、製油所のタグデータから活動量を作成する仕組みを</a:t>
            </a:r>
            <a:r>
              <a:rPr kumimoji="1" lang="en-US" altLang="ja-JP" sz="1000">
                <a:highlight>
                  <a:srgbClr val="FFFF00"/>
                </a:highlight>
                <a:latin typeface="Meiryo UI" panose="020B0604030504040204" pitchFamily="50" charset="-128"/>
                <a:ea typeface="Meiryo UI" panose="020B0604030504040204" pitchFamily="50" charset="-128"/>
                <a:cs typeface="Arial" charset="0"/>
              </a:rPr>
              <a:t>DI</a:t>
            </a:r>
            <a:r>
              <a:rPr kumimoji="1" lang="ja-JP" altLang="en-US" sz="1000">
                <a:highlight>
                  <a:srgbClr val="FFFF00"/>
                </a:highlight>
                <a:latin typeface="Meiryo UI" panose="020B0604030504040204" pitchFamily="50" charset="-128"/>
                <a:ea typeface="Meiryo UI" panose="020B0604030504040204" pitchFamily="50" charset="-128"/>
                <a:cs typeface="Arial" charset="0"/>
              </a:rPr>
              <a:t>部主導で構築する</a:t>
            </a:r>
          </a:p>
          <a:p>
            <a:pPr defTabSz="990564">
              <a:buSzPct val="100000"/>
              <a:buFont typeface="Wingdings" panose="05000000000000000000" pitchFamily="2" charset="2"/>
              <a:buNone/>
            </a:pPr>
            <a:endParaRPr kumimoji="1" lang="en-US" altLang="ja-JP" sz="1000">
              <a:latin typeface="Meiryo UI" panose="020B0604030504040204" pitchFamily="50" charset="-128"/>
              <a:ea typeface="Meiryo UI" panose="020B0604030504040204" pitchFamily="50" charset="-128"/>
              <a:cs typeface="Arial" charset="0"/>
            </a:endParaRPr>
          </a:p>
        </p:txBody>
      </p:sp>
      <p:sp>
        <p:nvSpPr>
          <p:cNvPr id="22" name="四角形: 角を丸くする 21">
            <a:extLst>
              <a:ext uri="{FF2B5EF4-FFF2-40B4-BE49-F238E27FC236}">
                <a16:creationId xmlns:a16="http://schemas.microsoft.com/office/drawing/2014/main" id="{DDE7AFAA-4DF3-31F2-2728-82E2A0C1C8BF}"/>
              </a:ext>
            </a:extLst>
          </p:cNvPr>
          <p:cNvSpPr/>
          <p:nvPr/>
        </p:nvSpPr>
        <p:spPr>
          <a:xfrm>
            <a:off x="6115179" y="117360"/>
            <a:ext cx="2632821" cy="34435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周辺タスク</a:t>
            </a:r>
            <a:r>
              <a:rPr kumimoji="1" lang="en-US" altLang="ja-JP" sz="1000">
                <a:solidFill>
                  <a:schemeClr val="tx1"/>
                </a:solidFill>
                <a:latin typeface="Meiryo UI" panose="020B0604030504040204" pitchFamily="50" charset="-128"/>
                <a:ea typeface="Meiryo UI" panose="020B0604030504040204" pitchFamily="50" charset="-128"/>
              </a:rPr>
              <a:t>(</a:t>
            </a:r>
            <a:r>
              <a:rPr kumimoji="1" lang="ja-JP" altLang="en-US" sz="1000">
                <a:solidFill>
                  <a:schemeClr val="tx1"/>
                </a:solidFill>
                <a:latin typeface="Meiryo UI" panose="020B0604030504040204" pitchFamily="50" charset="-128"/>
                <a:ea typeface="Meiryo UI" panose="020B0604030504040204" pitchFamily="50" charset="-128"/>
              </a:rPr>
              <a:t>タグデータからの収集</a:t>
            </a:r>
            <a:r>
              <a:rPr kumimoji="1" lang="en-US" altLang="ja-JP" sz="1000">
                <a:solidFill>
                  <a:schemeClr val="tx1"/>
                </a:solidFill>
                <a:latin typeface="Meiryo UI" panose="020B0604030504040204" pitchFamily="50" charset="-128"/>
                <a:ea typeface="Meiryo UI" panose="020B0604030504040204" pitchFamily="50" charset="-128"/>
              </a:rPr>
              <a:t>)</a:t>
            </a:r>
            <a:r>
              <a:rPr kumimoji="1" lang="ja-JP" altLang="en-US" sz="1000">
                <a:solidFill>
                  <a:schemeClr val="tx1"/>
                </a:solidFill>
                <a:latin typeface="Meiryo UI" panose="020B0604030504040204" pitchFamily="50" charset="-128"/>
                <a:ea typeface="Meiryo UI" panose="020B0604030504040204" pitchFamily="50" charset="-128"/>
              </a:rPr>
              <a:t>について追記</a:t>
            </a:r>
          </a:p>
        </p:txBody>
      </p:sp>
    </p:spTree>
    <p:extLst>
      <p:ext uri="{BB962C8B-B14F-4D97-AF65-F5344CB8AC3E}">
        <p14:creationId xmlns:p14="http://schemas.microsoft.com/office/powerpoint/2010/main" val="956265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0171A0-7535-EEF3-2A7C-14BA5005B5B3}"/>
              </a:ext>
            </a:extLst>
          </p:cNvPr>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アプローチに対する重点機能の変遷</a:t>
            </a:r>
          </a:p>
        </p:txBody>
      </p:sp>
      <p:sp>
        <p:nvSpPr>
          <p:cNvPr id="3" name="スライド番号プレースホルダー 2">
            <a:extLst>
              <a:ext uri="{FF2B5EF4-FFF2-40B4-BE49-F238E27FC236}">
                <a16:creationId xmlns:a16="http://schemas.microsoft.com/office/drawing/2014/main" id="{51595198-7B9D-7B88-9A6E-369CC7DE843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16</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8B1AD30F-FFA2-BB43-FEF6-A6B84E913EAA}"/>
              </a:ext>
            </a:extLst>
          </p:cNvPr>
          <p:cNvSpPr>
            <a:spLocks noGrp="1"/>
          </p:cNvSpPr>
          <p:nvPr>
            <p:ph type="body" sz="quarter" idx="13"/>
          </p:nvPr>
        </p:nvSpPr>
        <p:spPr/>
        <p:txBody>
          <a:bodyPr/>
          <a:lstStyle/>
          <a:p>
            <a:r>
              <a:rPr kumimoji="1" lang="ja-JP" altLang="en-US"/>
              <a:t>機能要求候補それぞれの要求程度判定の際の判断軸の一つとして、実現したい姿のステップに応じて優先的に取り組むべき機能をあらかじめ策定しておくことで、開発ボリュームの肥大化を防ぐ</a:t>
            </a:r>
          </a:p>
        </p:txBody>
      </p:sp>
      <p:grpSp>
        <p:nvGrpSpPr>
          <p:cNvPr id="49" name="グループ化 48">
            <a:extLst>
              <a:ext uri="{FF2B5EF4-FFF2-40B4-BE49-F238E27FC236}">
                <a16:creationId xmlns:a16="http://schemas.microsoft.com/office/drawing/2014/main" id="{F2EC1DC1-A69D-AF47-5C95-E555D015528E}"/>
              </a:ext>
            </a:extLst>
          </p:cNvPr>
          <p:cNvGrpSpPr/>
          <p:nvPr/>
        </p:nvGrpSpPr>
        <p:grpSpPr>
          <a:xfrm>
            <a:off x="224319" y="2688101"/>
            <a:ext cx="2010526" cy="3610416"/>
            <a:chOff x="1116000" y="2497308"/>
            <a:chExt cx="2211579" cy="3610416"/>
          </a:xfrm>
        </p:grpSpPr>
        <p:sp>
          <p:nvSpPr>
            <p:cNvPr id="33" name="正方形/長方形 32">
              <a:extLst>
                <a:ext uri="{FF2B5EF4-FFF2-40B4-BE49-F238E27FC236}">
                  <a16:creationId xmlns:a16="http://schemas.microsoft.com/office/drawing/2014/main" id="{B79B6351-0D6B-EBB5-F572-C44303272823}"/>
                </a:ext>
              </a:extLst>
            </p:cNvPr>
            <p:cNvSpPr/>
            <p:nvPr/>
          </p:nvSpPr>
          <p:spPr>
            <a:xfrm>
              <a:off x="1116000" y="2497308"/>
              <a:ext cx="393917" cy="86018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①社内システム連携</a:t>
              </a:r>
            </a:p>
          </p:txBody>
        </p:sp>
        <p:sp>
          <p:nvSpPr>
            <p:cNvPr id="34" name="正方形/長方形 33">
              <a:extLst>
                <a:ext uri="{FF2B5EF4-FFF2-40B4-BE49-F238E27FC236}">
                  <a16:creationId xmlns:a16="http://schemas.microsoft.com/office/drawing/2014/main" id="{A502968B-D460-1934-A4A0-B9679C69D12D}"/>
                </a:ext>
              </a:extLst>
            </p:cNvPr>
            <p:cNvSpPr/>
            <p:nvPr/>
          </p:nvSpPr>
          <p:spPr>
            <a:xfrm>
              <a:off x="1116000" y="5750126"/>
              <a:ext cx="2211579" cy="357598"/>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⑪内部統制</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519A3462-42D8-9772-0EDE-102739AA25DC}"/>
                </a:ext>
              </a:extLst>
            </p:cNvPr>
            <p:cNvSpPr/>
            <p:nvPr/>
          </p:nvSpPr>
          <p:spPr>
            <a:xfrm>
              <a:off x="1116000" y="5292384"/>
              <a:ext cx="2211579" cy="357598"/>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⑩データマネジメント</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FAEDC040-6706-5B40-9A8B-3748FD959EDC}"/>
                </a:ext>
              </a:extLst>
            </p:cNvPr>
            <p:cNvSpPr/>
            <p:nvPr/>
          </p:nvSpPr>
          <p:spPr>
            <a:xfrm>
              <a:off x="1116000" y="3427696"/>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②社外システム連携</a:t>
              </a:r>
              <a:endParaRPr kumimoji="1" lang="en-US" altLang="ja-JP" sz="700" b="1">
                <a:solidFill>
                  <a:schemeClr val="bg1">
                    <a:lumMod val="7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D4539B44-BF07-145E-EE2A-D3ED254B2F2D}"/>
                </a:ext>
              </a:extLst>
            </p:cNvPr>
            <p:cNvSpPr/>
            <p:nvPr/>
          </p:nvSpPr>
          <p:spPr>
            <a:xfrm>
              <a:off x="1116000" y="4345018"/>
              <a:ext cx="393917" cy="86018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③ダイレクトインプット</a:t>
              </a:r>
            </a:p>
          </p:txBody>
        </p:sp>
        <p:sp>
          <p:nvSpPr>
            <p:cNvPr id="38" name="正方形/長方形 37">
              <a:extLst>
                <a:ext uri="{FF2B5EF4-FFF2-40B4-BE49-F238E27FC236}">
                  <a16:creationId xmlns:a16="http://schemas.microsoft.com/office/drawing/2014/main" id="{AED0E99D-A4C9-E1DF-4E5A-8FDF6B9CC55F}"/>
                </a:ext>
              </a:extLst>
            </p:cNvPr>
            <p:cNvSpPr/>
            <p:nvPr/>
          </p:nvSpPr>
          <p:spPr>
            <a:xfrm>
              <a:off x="1566044" y="2497308"/>
              <a:ext cx="393917" cy="270789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④データバリデーション</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25D4A5ED-F88A-3BE0-5331-8371B7CEA2F9}"/>
                </a:ext>
              </a:extLst>
            </p:cNvPr>
            <p:cNvSpPr/>
            <p:nvPr/>
          </p:nvSpPr>
          <p:spPr>
            <a:xfrm>
              <a:off x="2021917" y="2497308"/>
              <a:ext cx="393917" cy="27078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⑤データモデル</a:t>
              </a:r>
              <a:r>
                <a:rPr kumimoji="1" lang="en-US" altLang="ja-JP" sz="900" b="1">
                  <a:solidFill>
                    <a:schemeClr val="tx1"/>
                  </a:solidFill>
                  <a:latin typeface="Meiryo UI" panose="020B0604030504040204" pitchFamily="50" charset="-128"/>
                  <a:ea typeface="Meiryo UI" panose="020B0604030504040204" pitchFamily="50" charset="-128"/>
                </a:rPr>
                <a:t>&amp;</a:t>
              </a:r>
              <a:r>
                <a:rPr kumimoji="1" lang="ja-JP" altLang="en-US" sz="900" b="1">
                  <a:solidFill>
                    <a:schemeClr val="tx1"/>
                  </a:solidFill>
                  <a:latin typeface="Meiryo UI" panose="020B0604030504040204" pitchFamily="50" charset="-128"/>
                  <a:ea typeface="Meiryo UI" panose="020B0604030504040204" pitchFamily="50" charset="-128"/>
                </a:rPr>
                <a:t>カリキュレーション</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258E6190-AD9B-BEFA-1751-0F10D6588C5F}"/>
                </a:ext>
              </a:extLst>
            </p:cNvPr>
            <p:cNvSpPr/>
            <p:nvPr/>
          </p:nvSpPr>
          <p:spPr>
            <a:xfrm>
              <a:off x="2477789" y="2497308"/>
              <a:ext cx="393917" cy="27078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⑥ビジネスロジック</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BE33BC22-7EAF-0F11-AE97-F906AB73FE1F}"/>
                </a:ext>
              </a:extLst>
            </p:cNvPr>
            <p:cNvSpPr/>
            <p:nvPr/>
          </p:nvSpPr>
          <p:spPr>
            <a:xfrm>
              <a:off x="2933662" y="2497308"/>
              <a:ext cx="393917" cy="86018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⑦開示</a:t>
              </a:r>
            </a:p>
          </p:txBody>
        </p:sp>
        <p:sp>
          <p:nvSpPr>
            <p:cNvPr id="47" name="正方形/長方形 46">
              <a:extLst>
                <a:ext uri="{FF2B5EF4-FFF2-40B4-BE49-F238E27FC236}">
                  <a16:creationId xmlns:a16="http://schemas.microsoft.com/office/drawing/2014/main" id="{68D4B51D-CDB2-C519-E477-3ED1C21E7BDA}"/>
                </a:ext>
              </a:extLst>
            </p:cNvPr>
            <p:cNvSpPr/>
            <p:nvPr/>
          </p:nvSpPr>
          <p:spPr>
            <a:xfrm>
              <a:off x="2933662" y="3427696"/>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⑧</a:t>
              </a:r>
              <a:r>
                <a:rPr kumimoji="1" lang="en-US" altLang="ja-JP" sz="900" b="1">
                  <a:solidFill>
                    <a:schemeClr val="bg1">
                      <a:lumMod val="75000"/>
                    </a:schemeClr>
                  </a:solidFill>
                  <a:latin typeface="Meiryo UI" panose="020B0604030504040204" pitchFamily="50" charset="-128"/>
                  <a:ea typeface="Meiryo UI" panose="020B0604030504040204" pitchFamily="50" charset="-128"/>
                </a:rPr>
                <a:t>ESG</a:t>
              </a:r>
              <a:r>
                <a:rPr kumimoji="1" lang="ja-JP" altLang="en-US" sz="900" b="1">
                  <a:solidFill>
                    <a:schemeClr val="bg1">
                      <a:lumMod val="75000"/>
                    </a:schemeClr>
                  </a:solidFill>
                  <a:latin typeface="Meiryo UI" panose="020B0604030504040204" pitchFamily="50" charset="-128"/>
                  <a:ea typeface="Meiryo UI" panose="020B0604030504040204" pitchFamily="50" charset="-128"/>
                </a:rPr>
                <a:t>経営管理</a:t>
              </a:r>
              <a:endParaRPr kumimoji="1" lang="en-US" altLang="ja-JP" sz="700" b="1">
                <a:solidFill>
                  <a:schemeClr val="bg1">
                    <a:lumMod val="7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1F8CE700-A03C-15D1-69BA-8388116134B7}"/>
                </a:ext>
              </a:extLst>
            </p:cNvPr>
            <p:cNvSpPr/>
            <p:nvPr/>
          </p:nvSpPr>
          <p:spPr>
            <a:xfrm>
              <a:off x="2933662" y="4345018"/>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⑨シミュレーション</a:t>
              </a:r>
            </a:p>
          </p:txBody>
        </p:sp>
      </p:grpSp>
      <p:grpSp>
        <p:nvGrpSpPr>
          <p:cNvPr id="50" name="グループ化 49">
            <a:extLst>
              <a:ext uri="{FF2B5EF4-FFF2-40B4-BE49-F238E27FC236}">
                <a16:creationId xmlns:a16="http://schemas.microsoft.com/office/drawing/2014/main" id="{E1FC0A8E-6689-5007-8EDB-A0BB2C482F22}"/>
              </a:ext>
            </a:extLst>
          </p:cNvPr>
          <p:cNvGrpSpPr/>
          <p:nvPr/>
        </p:nvGrpSpPr>
        <p:grpSpPr>
          <a:xfrm>
            <a:off x="2464666" y="2688101"/>
            <a:ext cx="2010526" cy="3610416"/>
            <a:chOff x="1116000" y="2497308"/>
            <a:chExt cx="2211579" cy="3610416"/>
          </a:xfrm>
        </p:grpSpPr>
        <p:sp>
          <p:nvSpPr>
            <p:cNvPr id="55" name="正方形/長方形 54">
              <a:extLst>
                <a:ext uri="{FF2B5EF4-FFF2-40B4-BE49-F238E27FC236}">
                  <a16:creationId xmlns:a16="http://schemas.microsoft.com/office/drawing/2014/main" id="{B06494E9-8CD0-76EF-2407-C0F7E2CFF24C}"/>
                </a:ext>
              </a:extLst>
            </p:cNvPr>
            <p:cNvSpPr/>
            <p:nvPr/>
          </p:nvSpPr>
          <p:spPr>
            <a:xfrm>
              <a:off x="1116000" y="2497308"/>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①社内システム連携</a:t>
              </a:r>
            </a:p>
          </p:txBody>
        </p:sp>
        <p:sp>
          <p:nvSpPr>
            <p:cNvPr id="56" name="正方形/長方形 55">
              <a:extLst>
                <a:ext uri="{FF2B5EF4-FFF2-40B4-BE49-F238E27FC236}">
                  <a16:creationId xmlns:a16="http://schemas.microsoft.com/office/drawing/2014/main" id="{6991BB25-9D29-1251-C62B-E68561D5B352}"/>
                </a:ext>
              </a:extLst>
            </p:cNvPr>
            <p:cNvSpPr/>
            <p:nvPr/>
          </p:nvSpPr>
          <p:spPr>
            <a:xfrm>
              <a:off x="1116000" y="5750126"/>
              <a:ext cx="2211579" cy="35759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⑪内部統制</a:t>
              </a:r>
              <a:endParaRPr kumimoji="1" lang="en-US" altLang="ja-JP" sz="900" b="1">
                <a:solidFill>
                  <a:schemeClr val="bg1">
                    <a:lumMod val="7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27817180-15BF-1A13-AD77-F45AD75CCD6C}"/>
                </a:ext>
              </a:extLst>
            </p:cNvPr>
            <p:cNvSpPr/>
            <p:nvPr/>
          </p:nvSpPr>
          <p:spPr>
            <a:xfrm>
              <a:off x="1116000" y="5292384"/>
              <a:ext cx="2211579" cy="35759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⑩データマネジメント</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17460A23-617D-76B4-BEA9-D6FB926A6549}"/>
                </a:ext>
              </a:extLst>
            </p:cNvPr>
            <p:cNvSpPr/>
            <p:nvPr/>
          </p:nvSpPr>
          <p:spPr>
            <a:xfrm>
              <a:off x="1116000" y="3427696"/>
              <a:ext cx="393917" cy="86018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②社外システム連携</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9AC08904-9FA9-6D77-A137-3FC4746AD03B}"/>
                </a:ext>
              </a:extLst>
            </p:cNvPr>
            <p:cNvSpPr/>
            <p:nvPr/>
          </p:nvSpPr>
          <p:spPr>
            <a:xfrm>
              <a:off x="1116000" y="4345018"/>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③ダイレクトインプット</a:t>
              </a:r>
            </a:p>
          </p:txBody>
        </p:sp>
        <p:sp>
          <p:nvSpPr>
            <p:cNvPr id="60" name="正方形/長方形 59">
              <a:extLst>
                <a:ext uri="{FF2B5EF4-FFF2-40B4-BE49-F238E27FC236}">
                  <a16:creationId xmlns:a16="http://schemas.microsoft.com/office/drawing/2014/main" id="{8C1FC2AA-210E-7DEB-2B26-0A3DE25ABBDA}"/>
                </a:ext>
              </a:extLst>
            </p:cNvPr>
            <p:cNvSpPr/>
            <p:nvPr/>
          </p:nvSpPr>
          <p:spPr>
            <a:xfrm>
              <a:off x="1566044" y="2497308"/>
              <a:ext cx="393917" cy="270789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④データバリデーション</a:t>
              </a:r>
              <a:endParaRPr kumimoji="1" lang="en-US" altLang="ja-JP" sz="900" b="1">
                <a:solidFill>
                  <a:schemeClr val="bg1">
                    <a:lumMod val="7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3BF86705-6998-2ECA-3DE3-0A074B56A75F}"/>
                </a:ext>
              </a:extLst>
            </p:cNvPr>
            <p:cNvSpPr/>
            <p:nvPr/>
          </p:nvSpPr>
          <p:spPr>
            <a:xfrm>
              <a:off x="2021917" y="2497308"/>
              <a:ext cx="393917" cy="270789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⑤データモデル</a:t>
              </a:r>
              <a:r>
                <a:rPr kumimoji="1" lang="en-US" altLang="ja-JP" sz="900" b="1">
                  <a:solidFill>
                    <a:schemeClr val="tx1"/>
                  </a:solidFill>
                  <a:latin typeface="Meiryo UI" panose="020B0604030504040204" pitchFamily="50" charset="-128"/>
                  <a:ea typeface="Meiryo UI" panose="020B0604030504040204" pitchFamily="50" charset="-128"/>
                </a:rPr>
                <a:t>&amp;</a:t>
              </a:r>
              <a:r>
                <a:rPr kumimoji="1" lang="ja-JP" altLang="en-US" sz="900" b="1">
                  <a:solidFill>
                    <a:schemeClr val="tx1"/>
                  </a:solidFill>
                  <a:latin typeface="Meiryo UI" panose="020B0604030504040204" pitchFamily="50" charset="-128"/>
                  <a:ea typeface="Meiryo UI" panose="020B0604030504040204" pitchFamily="50" charset="-128"/>
                </a:rPr>
                <a:t>カリキュレーション</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56AEFFB8-FFF9-1FB9-D17A-1F7B62A44D44}"/>
                </a:ext>
              </a:extLst>
            </p:cNvPr>
            <p:cNvSpPr/>
            <p:nvPr/>
          </p:nvSpPr>
          <p:spPr>
            <a:xfrm>
              <a:off x="2477789" y="2497308"/>
              <a:ext cx="393917" cy="270789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⑥ビジネスロジック</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63" name="正方形/長方形 62">
              <a:extLst>
                <a:ext uri="{FF2B5EF4-FFF2-40B4-BE49-F238E27FC236}">
                  <a16:creationId xmlns:a16="http://schemas.microsoft.com/office/drawing/2014/main" id="{783D355C-0EA7-DEEB-AC96-A932FDD46F61}"/>
                </a:ext>
              </a:extLst>
            </p:cNvPr>
            <p:cNvSpPr/>
            <p:nvPr/>
          </p:nvSpPr>
          <p:spPr>
            <a:xfrm>
              <a:off x="2933662" y="2497308"/>
              <a:ext cx="393917" cy="86018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⑦開示</a:t>
              </a:r>
            </a:p>
          </p:txBody>
        </p:sp>
        <p:sp>
          <p:nvSpPr>
            <p:cNvPr id="64" name="正方形/長方形 63">
              <a:extLst>
                <a:ext uri="{FF2B5EF4-FFF2-40B4-BE49-F238E27FC236}">
                  <a16:creationId xmlns:a16="http://schemas.microsoft.com/office/drawing/2014/main" id="{D9629B79-DCAC-A912-D255-EB2F69A03FDD}"/>
                </a:ext>
              </a:extLst>
            </p:cNvPr>
            <p:cNvSpPr/>
            <p:nvPr/>
          </p:nvSpPr>
          <p:spPr>
            <a:xfrm>
              <a:off x="2933662" y="3427696"/>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⑧</a:t>
              </a:r>
              <a:r>
                <a:rPr kumimoji="1" lang="en-US" altLang="ja-JP" sz="900" b="1">
                  <a:solidFill>
                    <a:schemeClr val="bg1">
                      <a:lumMod val="75000"/>
                    </a:schemeClr>
                  </a:solidFill>
                  <a:latin typeface="Meiryo UI" panose="020B0604030504040204" pitchFamily="50" charset="-128"/>
                  <a:ea typeface="Meiryo UI" panose="020B0604030504040204" pitchFamily="50" charset="-128"/>
                </a:rPr>
                <a:t>ESG</a:t>
              </a:r>
              <a:r>
                <a:rPr kumimoji="1" lang="ja-JP" altLang="en-US" sz="900" b="1">
                  <a:solidFill>
                    <a:schemeClr val="bg1">
                      <a:lumMod val="75000"/>
                    </a:schemeClr>
                  </a:solidFill>
                  <a:latin typeface="Meiryo UI" panose="020B0604030504040204" pitchFamily="50" charset="-128"/>
                  <a:ea typeface="Meiryo UI" panose="020B0604030504040204" pitchFamily="50" charset="-128"/>
                </a:rPr>
                <a:t>経営管理</a:t>
              </a:r>
              <a:endParaRPr kumimoji="1" lang="en-US" altLang="ja-JP" sz="900" b="1">
                <a:solidFill>
                  <a:schemeClr val="bg1">
                    <a:lumMod val="75000"/>
                  </a:schemeClr>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8165BABD-ECEF-26BC-A501-632EC53C8AC2}"/>
                </a:ext>
              </a:extLst>
            </p:cNvPr>
            <p:cNvSpPr/>
            <p:nvPr/>
          </p:nvSpPr>
          <p:spPr>
            <a:xfrm>
              <a:off x="2933662" y="4345018"/>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⑨シミュレーション</a:t>
              </a:r>
            </a:p>
          </p:txBody>
        </p:sp>
      </p:grpSp>
      <p:grpSp>
        <p:nvGrpSpPr>
          <p:cNvPr id="66" name="グループ化 65">
            <a:extLst>
              <a:ext uri="{FF2B5EF4-FFF2-40B4-BE49-F238E27FC236}">
                <a16:creationId xmlns:a16="http://schemas.microsoft.com/office/drawing/2014/main" id="{46A0CB5E-5270-B38F-32EF-431FC879EE27}"/>
              </a:ext>
            </a:extLst>
          </p:cNvPr>
          <p:cNvGrpSpPr/>
          <p:nvPr/>
        </p:nvGrpSpPr>
        <p:grpSpPr>
          <a:xfrm>
            <a:off x="6887662" y="2688101"/>
            <a:ext cx="2010526" cy="3610416"/>
            <a:chOff x="1116000" y="2497308"/>
            <a:chExt cx="2211579" cy="3610416"/>
          </a:xfrm>
        </p:grpSpPr>
        <p:sp>
          <p:nvSpPr>
            <p:cNvPr id="71" name="正方形/長方形 70">
              <a:extLst>
                <a:ext uri="{FF2B5EF4-FFF2-40B4-BE49-F238E27FC236}">
                  <a16:creationId xmlns:a16="http://schemas.microsoft.com/office/drawing/2014/main" id="{D39F6213-AE07-F61B-2AEE-A18E605D25BB}"/>
                </a:ext>
              </a:extLst>
            </p:cNvPr>
            <p:cNvSpPr/>
            <p:nvPr/>
          </p:nvSpPr>
          <p:spPr>
            <a:xfrm>
              <a:off x="1116000" y="2497308"/>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①社内システム連携</a:t>
              </a:r>
            </a:p>
          </p:txBody>
        </p:sp>
        <p:sp>
          <p:nvSpPr>
            <p:cNvPr id="72" name="正方形/長方形 71">
              <a:extLst>
                <a:ext uri="{FF2B5EF4-FFF2-40B4-BE49-F238E27FC236}">
                  <a16:creationId xmlns:a16="http://schemas.microsoft.com/office/drawing/2014/main" id="{F03BBC52-00DE-2B56-9334-F910EB3B974F}"/>
                </a:ext>
              </a:extLst>
            </p:cNvPr>
            <p:cNvSpPr/>
            <p:nvPr/>
          </p:nvSpPr>
          <p:spPr>
            <a:xfrm>
              <a:off x="1116000" y="5750126"/>
              <a:ext cx="2211579" cy="35759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⑪内部統制</a:t>
              </a:r>
              <a:endParaRPr kumimoji="1" lang="en-US" altLang="ja-JP" sz="900" b="1">
                <a:solidFill>
                  <a:schemeClr val="bg1">
                    <a:lumMod val="75000"/>
                  </a:schemeClr>
                </a:solidFill>
                <a:latin typeface="Meiryo UI" panose="020B0604030504040204" pitchFamily="50" charset="-128"/>
                <a:ea typeface="Meiryo UI" panose="020B0604030504040204" pitchFamily="50" charset="-128"/>
              </a:endParaRPr>
            </a:p>
          </p:txBody>
        </p:sp>
        <p:sp>
          <p:nvSpPr>
            <p:cNvPr id="73" name="正方形/長方形 72">
              <a:extLst>
                <a:ext uri="{FF2B5EF4-FFF2-40B4-BE49-F238E27FC236}">
                  <a16:creationId xmlns:a16="http://schemas.microsoft.com/office/drawing/2014/main" id="{0E1814CF-3638-44A1-0DDF-1577820E6CF6}"/>
                </a:ext>
              </a:extLst>
            </p:cNvPr>
            <p:cNvSpPr/>
            <p:nvPr/>
          </p:nvSpPr>
          <p:spPr>
            <a:xfrm>
              <a:off x="1116000" y="5292384"/>
              <a:ext cx="2211579" cy="35759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⑩データマネジメント</a:t>
              </a:r>
              <a:endParaRPr kumimoji="1" lang="en-US" altLang="ja-JP" sz="900" b="1">
                <a:solidFill>
                  <a:schemeClr val="bg1">
                    <a:lumMod val="75000"/>
                  </a:schemeClr>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2958DD13-B521-4028-DD8A-C82EACE9F88F}"/>
                </a:ext>
              </a:extLst>
            </p:cNvPr>
            <p:cNvSpPr/>
            <p:nvPr/>
          </p:nvSpPr>
          <p:spPr>
            <a:xfrm>
              <a:off x="1116000" y="3427696"/>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②社外システム連携</a:t>
              </a:r>
              <a:r>
                <a:rPr kumimoji="1" lang="en-US" altLang="ja-JP" sz="900" b="1">
                  <a:solidFill>
                    <a:schemeClr val="bg1">
                      <a:lumMod val="75000"/>
                    </a:schemeClr>
                  </a:solidFill>
                  <a:latin typeface="Meiryo UI" panose="020B0604030504040204" pitchFamily="50" charset="-128"/>
                  <a:ea typeface="Meiryo UI" panose="020B0604030504040204" pitchFamily="50" charset="-128"/>
                </a:rPr>
                <a:t>*3</a:t>
              </a:r>
            </a:p>
          </p:txBody>
        </p:sp>
        <p:sp>
          <p:nvSpPr>
            <p:cNvPr id="75" name="正方形/長方形 74">
              <a:extLst>
                <a:ext uri="{FF2B5EF4-FFF2-40B4-BE49-F238E27FC236}">
                  <a16:creationId xmlns:a16="http://schemas.microsoft.com/office/drawing/2014/main" id="{8CE19FE5-F7B5-EE1F-E844-723269F321B3}"/>
                </a:ext>
              </a:extLst>
            </p:cNvPr>
            <p:cNvSpPr/>
            <p:nvPr/>
          </p:nvSpPr>
          <p:spPr>
            <a:xfrm>
              <a:off x="1116000" y="4345018"/>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③ダイレクトインプット</a:t>
              </a:r>
            </a:p>
          </p:txBody>
        </p:sp>
        <p:sp>
          <p:nvSpPr>
            <p:cNvPr id="76" name="正方形/長方形 75">
              <a:extLst>
                <a:ext uri="{FF2B5EF4-FFF2-40B4-BE49-F238E27FC236}">
                  <a16:creationId xmlns:a16="http://schemas.microsoft.com/office/drawing/2014/main" id="{7DF77F82-C0AF-E2DB-2251-763A320D3E10}"/>
                </a:ext>
              </a:extLst>
            </p:cNvPr>
            <p:cNvSpPr/>
            <p:nvPr/>
          </p:nvSpPr>
          <p:spPr>
            <a:xfrm>
              <a:off x="1566044" y="2497308"/>
              <a:ext cx="393917" cy="270789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④データバリデーション</a:t>
              </a:r>
              <a:endParaRPr kumimoji="1" lang="en-US" altLang="ja-JP" sz="900" b="1">
                <a:solidFill>
                  <a:schemeClr val="bg1">
                    <a:lumMod val="75000"/>
                  </a:schemeClr>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FC5815B5-C2CE-6F95-ACF5-7DA0AD183FC1}"/>
                </a:ext>
              </a:extLst>
            </p:cNvPr>
            <p:cNvSpPr/>
            <p:nvPr/>
          </p:nvSpPr>
          <p:spPr>
            <a:xfrm>
              <a:off x="2021917" y="2497308"/>
              <a:ext cx="393917" cy="27078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⑤データモデル</a:t>
              </a:r>
              <a:r>
                <a:rPr kumimoji="1" lang="en-US" altLang="ja-JP" sz="900" b="1">
                  <a:solidFill>
                    <a:schemeClr val="tx1"/>
                  </a:solidFill>
                  <a:latin typeface="Meiryo UI" panose="020B0604030504040204" pitchFamily="50" charset="-128"/>
                  <a:ea typeface="Meiryo UI" panose="020B0604030504040204" pitchFamily="50" charset="-128"/>
                </a:rPr>
                <a:t>&amp;</a:t>
              </a:r>
              <a:r>
                <a:rPr kumimoji="1" lang="ja-JP" altLang="en-US" sz="900" b="1">
                  <a:solidFill>
                    <a:schemeClr val="tx1"/>
                  </a:solidFill>
                  <a:latin typeface="Meiryo UI" panose="020B0604030504040204" pitchFamily="50" charset="-128"/>
                  <a:ea typeface="Meiryo UI" panose="020B0604030504040204" pitchFamily="50" charset="-128"/>
                </a:rPr>
                <a:t>カリキュレーション</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429F773A-42F1-B0E1-30F1-3B1EFAA0C763}"/>
                </a:ext>
              </a:extLst>
            </p:cNvPr>
            <p:cNvSpPr/>
            <p:nvPr/>
          </p:nvSpPr>
          <p:spPr>
            <a:xfrm>
              <a:off x="2477789" y="2497308"/>
              <a:ext cx="393917" cy="27078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⑥ビジネスロジック</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D5430D8F-A811-85E2-DEC2-513DEB1F6519}"/>
                </a:ext>
              </a:extLst>
            </p:cNvPr>
            <p:cNvSpPr/>
            <p:nvPr/>
          </p:nvSpPr>
          <p:spPr>
            <a:xfrm>
              <a:off x="2933662" y="2497308"/>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⑦開示</a:t>
              </a:r>
            </a:p>
          </p:txBody>
        </p:sp>
        <p:sp>
          <p:nvSpPr>
            <p:cNvPr id="80" name="正方形/長方形 79">
              <a:extLst>
                <a:ext uri="{FF2B5EF4-FFF2-40B4-BE49-F238E27FC236}">
                  <a16:creationId xmlns:a16="http://schemas.microsoft.com/office/drawing/2014/main" id="{16297315-6FBA-4F09-F551-899D93F4479A}"/>
                </a:ext>
              </a:extLst>
            </p:cNvPr>
            <p:cNvSpPr/>
            <p:nvPr/>
          </p:nvSpPr>
          <p:spPr>
            <a:xfrm>
              <a:off x="2933662" y="3427696"/>
              <a:ext cx="393917" cy="86018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⑧</a:t>
              </a:r>
              <a:r>
                <a:rPr kumimoji="1" lang="en-US" altLang="ja-JP" sz="900" b="1">
                  <a:solidFill>
                    <a:schemeClr val="tx1"/>
                  </a:solidFill>
                  <a:latin typeface="Meiryo UI" panose="020B0604030504040204" pitchFamily="50" charset="-128"/>
                  <a:ea typeface="Meiryo UI" panose="020B0604030504040204" pitchFamily="50" charset="-128"/>
                </a:rPr>
                <a:t>ESG</a:t>
              </a:r>
              <a:r>
                <a:rPr kumimoji="1" lang="ja-JP" altLang="en-US" sz="900" b="1">
                  <a:solidFill>
                    <a:schemeClr val="tx1"/>
                  </a:solidFill>
                  <a:latin typeface="Meiryo UI" panose="020B0604030504040204" pitchFamily="50" charset="-128"/>
                  <a:ea typeface="Meiryo UI" panose="020B0604030504040204" pitchFamily="50" charset="-128"/>
                </a:rPr>
                <a:t>経営管理</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D31DF2F9-1F5A-9204-6AFD-2B89B10DE864}"/>
                </a:ext>
              </a:extLst>
            </p:cNvPr>
            <p:cNvSpPr/>
            <p:nvPr/>
          </p:nvSpPr>
          <p:spPr>
            <a:xfrm>
              <a:off x="2933662" y="4345018"/>
              <a:ext cx="393917" cy="86018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⑨シミュレーション</a:t>
              </a:r>
            </a:p>
          </p:txBody>
        </p:sp>
      </p:grpSp>
      <p:sp>
        <p:nvSpPr>
          <p:cNvPr id="84" name="正方形/長方形 83">
            <a:extLst>
              <a:ext uri="{FF2B5EF4-FFF2-40B4-BE49-F238E27FC236}">
                <a16:creationId xmlns:a16="http://schemas.microsoft.com/office/drawing/2014/main" id="{D7EDB9C1-AE83-40CF-3B61-D285A5897A1E}"/>
              </a:ext>
            </a:extLst>
          </p:cNvPr>
          <p:cNvSpPr/>
          <p:nvPr/>
        </p:nvSpPr>
        <p:spPr>
          <a:xfrm>
            <a:off x="6845480" y="1550665"/>
            <a:ext cx="911290" cy="220778"/>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優先取り組み機能</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85" name="正方形/長方形 84">
            <a:extLst>
              <a:ext uri="{FF2B5EF4-FFF2-40B4-BE49-F238E27FC236}">
                <a16:creationId xmlns:a16="http://schemas.microsoft.com/office/drawing/2014/main" id="{1C583454-7E40-7D59-AB1B-ED80FDB14A61}"/>
              </a:ext>
            </a:extLst>
          </p:cNvPr>
          <p:cNvSpPr/>
          <p:nvPr/>
        </p:nvSpPr>
        <p:spPr>
          <a:xfrm>
            <a:off x="7855273" y="1550665"/>
            <a:ext cx="911290" cy="22077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取り組み機能</a:t>
            </a:r>
            <a:endParaRPr kumimoji="1" lang="en-US" altLang="ja-JP" sz="900" b="1">
              <a:solidFill>
                <a:schemeClr val="tx1"/>
              </a:solidFill>
              <a:latin typeface="Meiryo UI" panose="020B0604030504040204" pitchFamily="50" charset="-128"/>
              <a:ea typeface="Meiryo UI" panose="020B0604030504040204" pitchFamily="50" charset="-128"/>
            </a:endParaRPr>
          </a:p>
        </p:txBody>
      </p:sp>
      <p:grpSp>
        <p:nvGrpSpPr>
          <p:cNvPr id="6" name="グループ化 5">
            <a:extLst>
              <a:ext uri="{FF2B5EF4-FFF2-40B4-BE49-F238E27FC236}">
                <a16:creationId xmlns:a16="http://schemas.microsoft.com/office/drawing/2014/main" id="{98637021-33E9-F88C-A5B7-532740E2B299}"/>
              </a:ext>
            </a:extLst>
          </p:cNvPr>
          <p:cNvGrpSpPr/>
          <p:nvPr/>
        </p:nvGrpSpPr>
        <p:grpSpPr>
          <a:xfrm>
            <a:off x="4683928" y="2688101"/>
            <a:ext cx="2010526" cy="3610416"/>
            <a:chOff x="1116000" y="2497308"/>
            <a:chExt cx="2211579" cy="3610416"/>
          </a:xfrm>
        </p:grpSpPr>
        <p:sp>
          <p:nvSpPr>
            <p:cNvPr id="7" name="正方形/長方形 6">
              <a:extLst>
                <a:ext uri="{FF2B5EF4-FFF2-40B4-BE49-F238E27FC236}">
                  <a16:creationId xmlns:a16="http://schemas.microsoft.com/office/drawing/2014/main" id="{86E90DF7-2484-E4D5-6A7E-77BB39890150}"/>
                </a:ext>
              </a:extLst>
            </p:cNvPr>
            <p:cNvSpPr/>
            <p:nvPr/>
          </p:nvSpPr>
          <p:spPr>
            <a:xfrm>
              <a:off x="1116000" y="2497308"/>
              <a:ext cx="393917" cy="86018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①社内システム連携</a:t>
              </a:r>
            </a:p>
          </p:txBody>
        </p:sp>
        <p:sp>
          <p:nvSpPr>
            <p:cNvPr id="8" name="正方形/長方形 7">
              <a:extLst>
                <a:ext uri="{FF2B5EF4-FFF2-40B4-BE49-F238E27FC236}">
                  <a16:creationId xmlns:a16="http://schemas.microsoft.com/office/drawing/2014/main" id="{1D88A14A-E0DB-33C8-EA36-E9C8085F50E3}"/>
                </a:ext>
              </a:extLst>
            </p:cNvPr>
            <p:cNvSpPr/>
            <p:nvPr/>
          </p:nvSpPr>
          <p:spPr>
            <a:xfrm>
              <a:off x="1116000" y="5750126"/>
              <a:ext cx="2211579" cy="35759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⑪内部統制</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E4DB612C-7AFA-ABF1-9534-FA7CF1EFBBBC}"/>
                </a:ext>
              </a:extLst>
            </p:cNvPr>
            <p:cNvSpPr/>
            <p:nvPr/>
          </p:nvSpPr>
          <p:spPr>
            <a:xfrm>
              <a:off x="1116000" y="5292384"/>
              <a:ext cx="2211579" cy="35759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⑩データマネジメント</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E24110E4-B812-0EFB-FB75-45EDA45989CA}"/>
                </a:ext>
              </a:extLst>
            </p:cNvPr>
            <p:cNvSpPr/>
            <p:nvPr/>
          </p:nvSpPr>
          <p:spPr>
            <a:xfrm>
              <a:off x="1116000" y="3427696"/>
              <a:ext cx="393917" cy="86018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②社外システム連携</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6AD846DC-76D9-4137-7CBC-488DC38E5D7E}"/>
                </a:ext>
              </a:extLst>
            </p:cNvPr>
            <p:cNvSpPr/>
            <p:nvPr/>
          </p:nvSpPr>
          <p:spPr>
            <a:xfrm>
              <a:off x="1116000" y="4345018"/>
              <a:ext cx="393917" cy="86018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③ダイレクトインプット</a:t>
              </a:r>
            </a:p>
          </p:txBody>
        </p:sp>
        <p:sp>
          <p:nvSpPr>
            <p:cNvPr id="12" name="正方形/長方形 11">
              <a:extLst>
                <a:ext uri="{FF2B5EF4-FFF2-40B4-BE49-F238E27FC236}">
                  <a16:creationId xmlns:a16="http://schemas.microsoft.com/office/drawing/2014/main" id="{E7C4C04F-C769-B2CB-98A0-CA019BFF4523}"/>
                </a:ext>
              </a:extLst>
            </p:cNvPr>
            <p:cNvSpPr/>
            <p:nvPr/>
          </p:nvSpPr>
          <p:spPr>
            <a:xfrm>
              <a:off x="1566044" y="2497308"/>
              <a:ext cx="393917" cy="27078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④データバリデーション</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90825BE0-FFB3-78F6-3620-E1ABCEFD5970}"/>
                </a:ext>
              </a:extLst>
            </p:cNvPr>
            <p:cNvSpPr/>
            <p:nvPr/>
          </p:nvSpPr>
          <p:spPr>
            <a:xfrm>
              <a:off x="2021917" y="2497308"/>
              <a:ext cx="393917" cy="27078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⑤データモデル</a:t>
              </a:r>
              <a:r>
                <a:rPr kumimoji="1" lang="en-US" altLang="ja-JP" sz="900" b="1">
                  <a:solidFill>
                    <a:schemeClr val="tx1"/>
                  </a:solidFill>
                  <a:latin typeface="Meiryo UI" panose="020B0604030504040204" pitchFamily="50" charset="-128"/>
                  <a:ea typeface="Meiryo UI" panose="020B0604030504040204" pitchFamily="50" charset="-128"/>
                </a:rPr>
                <a:t>&amp;</a:t>
              </a:r>
              <a:r>
                <a:rPr kumimoji="1" lang="ja-JP" altLang="en-US" sz="900" b="1">
                  <a:solidFill>
                    <a:schemeClr val="tx1"/>
                  </a:solidFill>
                  <a:latin typeface="Meiryo UI" panose="020B0604030504040204" pitchFamily="50" charset="-128"/>
                  <a:ea typeface="Meiryo UI" panose="020B0604030504040204" pitchFamily="50" charset="-128"/>
                </a:rPr>
                <a:t>カリキュレーション</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D43504CD-76D5-4FE1-B661-A4C391BF180B}"/>
                </a:ext>
              </a:extLst>
            </p:cNvPr>
            <p:cNvSpPr/>
            <p:nvPr/>
          </p:nvSpPr>
          <p:spPr>
            <a:xfrm>
              <a:off x="2477789" y="2497308"/>
              <a:ext cx="393917" cy="27078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⑥ビジネスロジック</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94EC9B83-A79D-07A5-B28A-85A53A01E455}"/>
                </a:ext>
              </a:extLst>
            </p:cNvPr>
            <p:cNvSpPr/>
            <p:nvPr/>
          </p:nvSpPr>
          <p:spPr>
            <a:xfrm>
              <a:off x="2933662" y="2497308"/>
              <a:ext cx="393917" cy="86018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tx1"/>
                  </a:solidFill>
                  <a:latin typeface="Meiryo UI" panose="020B0604030504040204" pitchFamily="50" charset="-128"/>
                  <a:ea typeface="Meiryo UI" panose="020B0604030504040204" pitchFamily="50" charset="-128"/>
                </a:rPr>
                <a:t>⑦開示</a:t>
              </a:r>
            </a:p>
          </p:txBody>
        </p:sp>
        <p:sp>
          <p:nvSpPr>
            <p:cNvPr id="16" name="正方形/長方形 15">
              <a:extLst>
                <a:ext uri="{FF2B5EF4-FFF2-40B4-BE49-F238E27FC236}">
                  <a16:creationId xmlns:a16="http://schemas.microsoft.com/office/drawing/2014/main" id="{A6B93543-F961-2164-B8C9-5A2CF1053289}"/>
                </a:ext>
              </a:extLst>
            </p:cNvPr>
            <p:cNvSpPr/>
            <p:nvPr/>
          </p:nvSpPr>
          <p:spPr>
            <a:xfrm>
              <a:off x="2933662" y="3427696"/>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⑧</a:t>
              </a:r>
              <a:r>
                <a:rPr kumimoji="1" lang="en-US" altLang="ja-JP" sz="900" b="1">
                  <a:solidFill>
                    <a:schemeClr val="bg1">
                      <a:lumMod val="75000"/>
                    </a:schemeClr>
                  </a:solidFill>
                  <a:latin typeface="Meiryo UI" panose="020B0604030504040204" pitchFamily="50" charset="-128"/>
                  <a:ea typeface="Meiryo UI" panose="020B0604030504040204" pitchFamily="50" charset="-128"/>
                </a:rPr>
                <a:t>ESG</a:t>
              </a:r>
              <a:r>
                <a:rPr kumimoji="1" lang="ja-JP" altLang="en-US" sz="900" b="1">
                  <a:solidFill>
                    <a:schemeClr val="bg1">
                      <a:lumMod val="75000"/>
                    </a:schemeClr>
                  </a:solidFill>
                  <a:latin typeface="Meiryo UI" panose="020B0604030504040204" pitchFamily="50" charset="-128"/>
                  <a:ea typeface="Meiryo UI" panose="020B0604030504040204" pitchFamily="50" charset="-128"/>
                </a:rPr>
                <a:t>経営管理</a:t>
              </a:r>
              <a:endParaRPr kumimoji="1" lang="en-US" altLang="ja-JP" sz="900" b="1">
                <a:solidFill>
                  <a:schemeClr val="bg1">
                    <a:lumMod val="7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8515B03F-9DBA-1D8E-380E-6DD23C9542D7}"/>
                </a:ext>
              </a:extLst>
            </p:cNvPr>
            <p:cNvSpPr/>
            <p:nvPr/>
          </p:nvSpPr>
          <p:spPr>
            <a:xfrm>
              <a:off x="2933662" y="4345018"/>
              <a:ext cx="393917" cy="8601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⑨シミュレーション</a:t>
              </a:r>
            </a:p>
          </p:txBody>
        </p:sp>
      </p:grpSp>
      <p:sp>
        <p:nvSpPr>
          <p:cNvPr id="18" name="正方形/長方形 17">
            <a:extLst>
              <a:ext uri="{FF2B5EF4-FFF2-40B4-BE49-F238E27FC236}">
                <a16:creationId xmlns:a16="http://schemas.microsoft.com/office/drawing/2014/main" id="{ACE13D9E-B25E-56ED-EFC1-0DFBCA9BDE04}"/>
              </a:ext>
            </a:extLst>
          </p:cNvPr>
          <p:cNvSpPr/>
          <p:nvPr/>
        </p:nvSpPr>
        <p:spPr>
          <a:xfrm>
            <a:off x="5835687" y="1550665"/>
            <a:ext cx="911290" cy="22077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900" b="1">
                <a:solidFill>
                  <a:schemeClr val="bg1">
                    <a:lumMod val="75000"/>
                  </a:schemeClr>
                </a:solidFill>
                <a:latin typeface="Meiryo UI" panose="020B0604030504040204" pitchFamily="50" charset="-128"/>
                <a:ea typeface="Meiryo UI" panose="020B0604030504040204" pitchFamily="50" charset="-128"/>
              </a:rPr>
              <a:t>取り組み対象外</a:t>
            </a:r>
            <a:endParaRPr kumimoji="1" lang="en-US" altLang="ja-JP" sz="900" b="1">
              <a:solidFill>
                <a:schemeClr val="bg1">
                  <a:lumMod val="75000"/>
                </a:schemeClr>
              </a:solidFill>
              <a:latin typeface="Meiryo UI" panose="020B0604030504040204" pitchFamily="50" charset="-128"/>
              <a:ea typeface="Meiryo UI" panose="020B0604030504040204" pitchFamily="50" charset="-128"/>
            </a:endParaRPr>
          </a:p>
        </p:txBody>
      </p:sp>
      <p:sp>
        <p:nvSpPr>
          <p:cNvPr id="19" name="Rectangle 41">
            <a:extLst>
              <a:ext uri="{FF2B5EF4-FFF2-40B4-BE49-F238E27FC236}">
                <a16:creationId xmlns:a16="http://schemas.microsoft.com/office/drawing/2014/main" id="{A0415F60-3708-D0CC-951D-29D12AE18866}"/>
              </a:ext>
            </a:extLst>
          </p:cNvPr>
          <p:cNvSpPr>
            <a:spLocks noChangeArrowheads="1"/>
          </p:cNvSpPr>
          <p:nvPr/>
        </p:nvSpPr>
        <p:spPr bwMode="gray">
          <a:xfrm>
            <a:off x="224319" y="2050082"/>
            <a:ext cx="2008800" cy="360000"/>
          </a:xfrm>
          <a:prstGeom prst="homePlate">
            <a:avLst/>
          </a:prstGeom>
          <a:solidFill>
            <a:schemeClr val="tx2">
              <a:lumMod val="20000"/>
              <a:lumOff val="8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b="1" kern="0">
                <a:latin typeface="Meiryo UI" panose="020B0604030504040204" pitchFamily="50" charset="-128"/>
                <a:ea typeface="Meiryo UI" panose="020B0604030504040204" pitchFamily="50" charset="-128"/>
                <a:cs typeface="Arial" charset="0"/>
              </a:rPr>
              <a:t>SSBJ</a:t>
            </a:r>
            <a:r>
              <a:rPr kumimoji="1" lang="ja-JP" altLang="en-US" sz="1050" b="1" kern="0">
                <a:latin typeface="Meiryo UI" panose="020B0604030504040204" pitchFamily="50" charset="-128"/>
                <a:ea typeface="Meiryo UI" panose="020B0604030504040204" pitchFamily="50" charset="-128"/>
                <a:cs typeface="Arial" charset="0"/>
              </a:rPr>
              <a:t>開示対応</a:t>
            </a:r>
            <a:endParaRPr kumimoji="1" lang="en-US" altLang="ja-JP" sz="1050" b="1" kern="0">
              <a:latin typeface="Meiryo UI" panose="020B0604030504040204" pitchFamily="50" charset="-128"/>
              <a:ea typeface="Meiryo UI" panose="020B0604030504040204" pitchFamily="50" charset="-128"/>
              <a:cs typeface="Arial" charset="0"/>
            </a:endParaRPr>
          </a:p>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（拠点入力効率化含む）</a:t>
            </a:r>
            <a:endParaRPr kumimoji="1" lang="en-US" altLang="ja-JP" sz="1050" b="1" kern="0">
              <a:latin typeface="Meiryo UI" panose="020B0604030504040204" pitchFamily="50" charset="-128"/>
              <a:ea typeface="Meiryo UI" panose="020B0604030504040204" pitchFamily="50" charset="-128"/>
              <a:cs typeface="Arial" charset="0"/>
            </a:endParaRPr>
          </a:p>
        </p:txBody>
      </p:sp>
      <p:sp>
        <p:nvSpPr>
          <p:cNvPr id="20" name="Rectangle 41">
            <a:extLst>
              <a:ext uri="{FF2B5EF4-FFF2-40B4-BE49-F238E27FC236}">
                <a16:creationId xmlns:a16="http://schemas.microsoft.com/office/drawing/2014/main" id="{B30D14BB-AF71-F395-60EC-0FA5A4CF2F0A}"/>
              </a:ext>
            </a:extLst>
          </p:cNvPr>
          <p:cNvSpPr>
            <a:spLocks noChangeArrowheads="1"/>
          </p:cNvSpPr>
          <p:nvPr/>
        </p:nvSpPr>
        <p:spPr bwMode="gray">
          <a:xfrm>
            <a:off x="224319" y="1771443"/>
            <a:ext cx="2160000" cy="301196"/>
          </a:xfrm>
          <a:prstGeom prst="rect">
            <a:avLst/>
          </a:prstGeom>
          <a:noFill/>
          <a:ln w="19050" algn="ctr">
            <a:noFill/>
            <a:miter lim="800000"/>
            <a:headEnd/>
            <a:tailEnd/>
          </a:ln>
          <a:effectLst/>
        </p:spPr>
        <p:txBody>
          <a:bodyPr lIns="72000" tIns="36000" rIns="72000" bIns="36000" anchor="ctr"/>
          <a:lstStyle/>
          <a:p>
            <a:pPr defTabSz="914400" fontAlgn="base">
              <a:spcAft>
                <a:spcPct val="0"/>
              </a:spcAft>
              <a:defRPr/>
            </a:pPr>
            <a:r>
              <a:rPr lang="en-US" altLang="ja-JP" sz="12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Step 1.</a:t>
            </a:r>
            <a:r>
              <a:rPr lang="ja-JP" altLang="en-US" sz="12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　</a:t>
            </a:r>
            <a:endParaRPr lang="en-US" altLang="ja-JP" sz="120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21" name="Rectangle 41">
            <a:extLst>
              <a:ext uri="{FF2B5EF4-FFF2-40B4-BE49-F238E27FC236}">
                <a16:creationId xmlns:a16="http://schemas.microsoft.com/office/drawing/2014/main" id="{B95D776C-C265-07CE-84B5-5CF4288BFDD5}"/>
              </a:ext>
            </a:extLst>
          </p:cNvPr>
          <p:cNvSpPr>
            <a:spLocks noChangeArrowheads="1"/>
          </p:cNvSpPr>
          <p:nvPr/>
        </p:nvSpPr>
        <p:spPr bwMode="gray">
          <a:xfrm>
            <a:off x="2466392" y="2050082"/>
            <a:ext cx="2008800" cy="360000"/>
          </a:xfrm>
          <a:prstGeom prst="homePlate">
            <a:avLst/>
          </a:prstGeom>
          <a:solidFill>
            <a:schemeClr val="tx2">
              <a:lumMod val="60000"/>
              <a:lumOff val="40000"/>
            </a:schemeClr>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ja-JP" altLang="en-US" sz="1050" b="1" kern="0">
                <a:solidFill>
                  <a:schemeClr val="bg1"/>
                </a:solidFill>
                <a:latin typeface="Meiryo UI" panose="020B0604030504040204" pitchFamily="50" charset="-128"/>
                <a:ea typeface="Meiryo UI" panose="020B0604030504040204" pitchFamily="50" charset="-128"/>
                <a:cs typeface="Arial" charset="0"/>
              </a:rPr>
              <a:t>開示以外の報告業務効率化</a:t>
            </a:r>
            <a:endParaRPr kumimoji="1" lang="en-US" altLang="ja-JP" sz="1050" b="1" kern="0">
              <a:solidFill>
                <a:schemeClr val="bg1"/>
              </a:solidFill>
              <a:latin typeface="Meiryo UI" panose="020B0604030504040204" pitchFamily="50" charset="-128"/>
              <a:ea typeface="Meiryo UI" panose="020B0604030504040204" pitchFamily="50" charset="-128"/>
              <a:cs typeface="Arial" charset="0"/>
            </a:endParaRPr>
          </a:p>
        </p:txBody>
      </p:sp>
      <p:sp>
        <p:nvSpPr>
          <p:cNvPr id="25" name="Rectangle 41">
            <a:extLst>
              <a:ext uri="{FF2B5EF4-FFF2-40B4-BE49-F238E27FC236}">
                <a16:creationId xmlns:a16="http://schemas.microsoft.com/office/drawing/2014/main" id="{C6B1CC41-F0D0-2311-688E-4FB2C5BC6889}"/>
              </a:ext>
            </a:extLst>
          </p:cNvPr>
          <p:cNvSpPr>
            <a:spLocks noChangeArrowheads="1"/>
          </p:cNvSpPr>
          <p:nvPr/>
        </p:nvSpPr>
        <p:spPr bwMode="gray">
          <a:xfrm>
            <a:off x="2464666" y="1771443"/>
            <a:ext cx="2160000" cy="270512"/>
          </a:xfrm>
          <a:prstGeom prst="rect">
            <a:avLst/>
          </a:prstGeom>
          <a:noFill/>
          <a:ln w="19050" algn="ctr">
            <a:noFill/>
            <a:miter lim="800000"/>
            <a:headEnd/>
            <a:tailEnd/>
          </a:ln>
          <a:effectLst/>
        </p:spPr>
        <p:txBody>
          <a:bodyPr lIns="72000" tIns="36000" rIns="72000" bIns="36000" anchor="ctr"/>
          <a:lstStyle/>
          <a:p>
            <a:pPr defTabSz="914400" fontAlgn="base">
              <a:spcAft>
                <a:spcPct val="0"/>
              </a:spcAft>
              <a:defRPr/>
            </a:pPr>
            <a:r>
              <a:rPr lang="en-US" altLang="ja-JP" sz="12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Step 2-1.</a:t>
            </a:r>
            <a:r>
              <a:rPr lang="ja-JP" altLang="en-US" sz="12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　</a:t>
            </a:r>
            <a:endParaRPr lang="en-US" altLang="ja-JP" sz="120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26" name="Rectangle 41">
            <a:extLst>
              <a:ext uri="{FF2B5EF4-FFF2-40B4-BE49-F238E27FC236}">
                <a16:creationId xmlns:a16="http://schemas.microsoft.com/office/drawing/2014/main" id="{2D396CF1-7CF1-8E47-33EC-477907E25ACF}"/>
              </a:ext>
            </a:extLst>
          </p:cNvPr>
          <p:cNvSpPr>
            <a:spLocks noChangeArrowheads="1"/>
          </p:cNvSpPr>
          <p:nvPr/>
        </p:nvSpPr>
        <p:spPr bwMode="gray">
          <a:xfrm>
            <a:off x="6882952" y="2050082"/>
            <a:ext cx="2008800" cy="360000"/>
          </a:xfrm>
          <a:prstGeom prst="homePlate">
            <a:avLst/>
          </a:prstGeom>
          <a:noFill/>
          <a:ln w="12700" algn="ctr">
            <a:solidFill>
              <a:schemeClr val="tx2"/>
            </a:solidFill>
            <a:prstDash val="sysDash"/>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ja-JP" altLang="en-US" sz="1050" b="1" kern="0">
                <a:latin typeface="Meiryo UI" panose="020B0604030504040204" pitchFamily="50" charset="-128"/>
                <a:ea typeface="Meiryo UI" panose="020B0604030504040204" pitchFamily="50" charset="-128"/>
                <a:cs typeface="Arial" charset="0"/>
              </a:rPr>
              <a:t>　経営管理高度化</a:t>
            </a:r>
            <a:endParaRPr kumimoji="1" lang="en-US" altLang="ja-JP" sz="1200" b="1" kern="0" baseline="30000">
              <a:latin typeface="Meiryo UI" panose="020B0604030504040204" pitchFamily="50" charset="-128"/>
              <a:ea typeface="Meiryo UI" panose="020B0604030504040204" pitchFamily="50" charset="-128"/>
              <a:cs typeface="Arial" charset="0"/>
            </a:endParaRPr>
          </a:p>
        </p:txBody>
      </p:sp>
      <p:sp>
        <p:nvSpPr>
          <p:cNvPr id="27" name="Rectangle 41">
            <a:extLst>
              <a:ext uri="{FF2B5EF4-FFF2-40B4-BE49-F238E27FC236}">
                <a16:creationId xmlns:a16="http://schemas.microsoft.com/office/drawing/2014/main" id="{5A02EB72-29B0-83A4-3077-81A3181F6899}"/>
              </a:ext>
            </a:extLst>
          </p:cNvPr>
          <p:cNvSpPr>
            <a:spLocks noChangeArrowheads="1"/>
          </p:cNvSpPr>
          <p:nvPr/>
        </p:nvSpPr>
        <p:spPr bwMode="gray">
          <a:xfrm>
            <a:off x="6882952" y="1771443"/>
            <a:ext cx="2160000" cy="277645"/>
          </a:xfrm>
          <a:prstGeom prst="rect">
            <a:avLst/>
          </a:prstGeom>
          <a:noFill/>
          <a:ln w="19050" algn="ctr">
            <a:noFill/>
            <a:miter lim="800000"/>
            <a:headEnd/>
            <a:tailEnd/>
          </a:ln>
          <a:effectLst/>
        </p:spPr>
        <p:txBody>
          <a:bodyPr lIns="72000" tIns="36000" rIns="72000" bIns="36000" anchor="ctr"/>
          <a:lstStyle/>
          <a:p>
            <a:pPr defTabSz="914400" fontAlgn="base">
              <a:spcAft>
                <a:spcPct val="0"/>
              </a:spcAft>
              <a:defRPr/>
            </a:pPr>
            <a:r>
              <a:rPr lang="en-US" altLang="ja-JP" sz="12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Step 3.</a:t>
            </a:r>
            <a:r>
              <a:rPr lang="ja-JP" altLang="en-US" sz="12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　</a:t>
            </a:r>
            <a:endParaRPr lang="en-US" altLang="ja-JP" sz="120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28" name="Rectangle 41">
            <a:extLst>
              <a:ext uri="{FF2B5EF4-FFF2-40B4-BE49-F238E27FC236}">
                <a16:creationId xmlns:a16="http://schemas.microsoft.com/office/drawing/2014/main" id="{C67DA4E7-EB16-F21E-DC59-C382847AAF43}"/>
              </a:ext>
            </a:extLst>
          </p:cNvPr>
          <p:cNvSpPr>
            <a:spLocks noChangeArrowheads="1"/>
          </p:cNvSpPr>
          <p:nvPr/>
        </p:nvSpPr>
        <p:spPr bwMode="gray">
          <a:xfrm>
            <a:off x="4682142" y="2050082"/>
            <a:ext cx="2008800" cy="360000"/>
          </a:xfrm>
          <a:prstGeom prst="homePlate">
            <a:avLst/>
          </a:prstGeom>
          <a:solidFill>
            <a:schemeClr val="tx2"/>
          </a:solidFill>
          <a:ln w="1270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90564">
              <a:buSzPct val="100000"/>
            </a:pPr>
            <a:r>
              <a:rPr kumimoji="1" lang="ja-JP" altLang="en-US" sz="1050" b="1" kern="0">
                <a:solidFill>
                  <a:schemeClr val="bg1"/>
                </a:solidFill>
                <a:latin typeface="Meiryo UI" panose="020B0604030504040204" pitchFamily="50" charset="-128"/>
                <a:ea typeface="Meiryo UI" panose="020B0604030504040204" pitchFamily="50" charset="-128"/>
                <a:cs typeface="Arial" charset="0"/>
              </a:rPr>
              <a:t>継続的なシステム改善</a:t>
            </a:r>
            <a:endParaRPr kumimoji="1" lang="en-US" altLang="ja-JP" sz="1050" b="1" kern="0">
              <a:solidFill>
                <a:schemeClr val="bg1"/>
              </a:solidFill>
              <a:latin typeface="Meiryo UI" panose="020B0604030504040204" pitchFamily="50" charset="-128"/>
              <a:ea typeface="Meiryo UI" panose="020B0604030504040204" pitchFamily="50" charset="-128"/>
              <a:cs typeface="Arial" charset="0"/>
            </a:endParaRPr>
          </a:p>
        </p:txBody>
      </p:sp>
      <p:sp>
        <p:nvSpPr>
          <p:cNvPr id="29" name="Rectangle 41">
            <a:extLst>
              <a:ext uri="{FF2B5EF4-FFF2-40B4-BE49-F238E27FC236}">
                <a16:creationId xmlns:a16="http://schemas.microsoft.com/office/drawing/2014/main" id="{D5BF639C-E37B-CFC5-B14A-FC84E3108181}"/>
              </a:ext>
            </a:extLst>
          </p:cNvPr>
          <p:cNvSpPr>
            <a:spLocks noChangeArrowheads="1"/>
          </p:cNvSpPr>
          <p:nvPr/>
        </p:nvSpPr>
        <p:spPr bwMode="gray">
          <a:xfrm>
            <a:off x="4685480" y="1771443"/>
            <a:ext cx="2160000" cy="270512"/>
          </a:xfrm>
          <a:prstGeom prst="rect">
            <a:avLst/>
          </a:prstGeom>
          <a:noFill/>
          <a:ln w="19050" algn="ctr">
            <a:noFill/>
            <a:miter lim="800000"/>
            <a:headEnd/>
            <a:tailEnd/>
          </a:ln>
          <a:effectLst/>
        </p:spPr>
        <p:txBody>
          <a:bodyPr lIns="72000" tIns="36000" rIns="72000" bIns="36000" anchor="ctr"/>
          <a:lstStyle/>
          <a:p>
            <a:pPr defTabSz="914400" fontAlgn="base">
              <a:spcAft>
                <a:spcPct val="0"/>
              </a:spcAft>
              <a:defRPr/>
            </a:pPr>
            <a:r>
              <a:rPr lang="en-US" altLang="ja-JP" sz="12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Step 2-2.</a:t>
            </a:r>
            <a:r>
              <a:rPr lang="ja-JP" altLang="en-US" sz="1200" b="1" kern="0">
                <a:solidFill>
                  <a:prstClr val="black"/>
                </a:solidFill>
                <a:latin typeface="Meiryo UI" panose="020B0604030504040204" pitchFamily="50" charset="-128"/>
                <a:ea typeface="Meiryo UI" panose="020B0604030504040204" pitchFamily="50" charset="-128"/>
                <a:cs typeface="Calibri" panose="020F0502020204030204" pitchFamily="34" charset="0"/>
              </a:rPr>
              <a:t>　</a:t>
            </a:r>
            <a:endParaRPr lang="en-US" altLang="ja-JP" sz="120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30" name="Rectangle 41">
            <a:extLst>
              <a:ext uri="{FF2B5EF4-FFF2-40B4-BE49-F238E27FC236}">
                <a16:creationId xmlns:a16="http://schemas.microsoft.com/office/drawing/2014/main" id="{FFE8896E-7075-9B40-2155-BE682712955A}"/>
              </a:ext>
            </a:extLst>
          </p:cNvPr>
          <p:cNvSpPr>
            <a:spLocks noChangeArrowheads="1"/>
          </p:cNvSpPr>
          <p:nvPr/>
        </p:nvSpPr>
        <p:spPr bwMode="gray">
          <a:xfrm>
            <a:off x="224319" y="2404850"/>
            <a:ext cx="2008800" cy="301196"/>
          </a:xfrm>
          <a:prstGeom prst="rect">
            <a:avLst/>
          </a:prstGeom>
          <a:noFill/>
          <a:ln w="19050" algn="ctr">
            <a:noFill/>
            <a:miter lim="800000"/>
            <a:headEnd/>
            <a:tailEnd/>
          </a:ln>
          <a:effectLst/>
        </p:spPr>
        <p:txBody>
          <a:bodyPr lIns="72000" tIns="36000" rIns="72000" bIns="36000" anchor="ctr"/>
          <a:lstStyle/>
          <a:p>
            <a:pPr algn="ctr" defTabSz="914400" fontAlgn="base">
              <a:spcAft>
                <a:spcPct val="0"/>
              </a:spcAft>
              <a:defRPr/>
            </a:pPr>
            <a:r>
              <a:rPr lang="ja-JP" altLang="en-US" sz="1050" b="1" kern="0">
                <a:solidFill>
                  <a:prstClr val="black"/>
                </a:solidFill>
                <a:latin typeface="Meiryo UI" panose="020B0604030504040204" pitchFamily="50" charset="-128"/>
                <a:ea typeface="Meiryo UI" panose="020B0604030504040204" pitchFamily="50" charset="-128"/>
                <a:cs typeface="Calibri" panose="020F0502020204030204" pitchFamily="34" charset="0"/>
              </a:rPr>
              <a:t>開示と拠点業務効率化に焦点　</a:t>
            </a:r>
            <a:endParaRPr lang="en-US" altLang="ja-JP" sz="105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31" name="Rectangle 41">
            <a:extLst>
              <a:ext uri="{FF2B5EF4-FFF2-40B4-BE49-F238E27FC236}">
                <a16:creationId xmlns:a16="http://schemas.microsoft.com/office/drawing/2014/main" id="{9A1A7C34-CE4E-2D0E-0107-74E6056409A1}"/>
              </a:ext>
            </a:extLst>
          </p:cNvPr>
          <p:cNvSpPr>
            <a:spLocks noChangeArrowheads="1"/>
          </p:cNvSpPr>
          <p:nvPr/>
        </p:nvSpPr>
        <p:spPr bwMode="gray">
          <a:xfrm>
            <a:off x="2472532" y="2404850"/>
            <a:ext cx="2008800" cy="301196"/>
          </a:xfrm>
          <a:prstGeom prst="rect">
            <a:avLst/>
          </a:prstGeom>
          <a:noFill/>
          <a:ln w="19050" algn="ctr">
            <a:noFill/>
            <a:miter lim="800000"/>
            <a:headEnd/>
            <a:tailEnd/>
          </a:ln>
          <a:effectLst/>
        </p:spPr>
        <p:txBody>
          <a:bodyPr lIns="72000" tIns="36000" rIns="72000" bIns="36000" anchor="ctr"/>
          <a:lstStyle/>
          <a:p>
            <a:pPr algn="ctr" defTabSz="914400" fontAlgn="base">
              <a:spcAft>
                <a:spcPct val="0"/>
              </a:spcAft>
              <a:defRPr/>
            </a:pPr>
            <a:r>
              <a:rPr lang="ja-JP" altLang="en-US" sz="1050" b="1" kern="0">
                <a:solidFill>
                  <a:prstClr val="black"/>
                </a:solidFill>
                <a:latin typeface="Meiryo UI" panose="020B0604030504040204" pitchFamily="50" charset="-128"/>
                <a:ea typeface="Meiryo UI" panose="020B0604030504040204" pitchFamily="50" charset="-128"/>
                <a:cs typeface="Calibri" panose="020F0502020204030204" pitchFamily="34" charset="0"/>
              </a:rPr>
              <a:t>本社業務効率化に焦点</a:t>
            </a:r>
            <a:endParaRPr lang="en-US" altLang="ja-JP" sz="105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32" name="Rectangle 41">
            <a:extLst>
              <a:ext uri="{FF2B5EF4-FFF2-40B4-BE49-F238E27FC236}">
                <a16:creationId xmlns:a16="http://schemas.microsoft.com/office/drawing/2014/main" id="{2705CA12-7001-2C48-E2AF-3A6D05A99881}"/>
              </a:ext>
            </a:extLst>
          </p:cNvPr>
          <p:cNvSpPr>
            <a:spLocks noChangeArrowheads="1"/>
          </p:cNvSpPr>
          <p:nvPr/>
        </p:nvSpPr>
        <p:spPr bwMode="gray">
          <a:xfrm>
            <a:off x="4671602" y="2404850"/>
            <a:ext cx="2008800" cy="301196"/>
          </a:xfrm>
          <a:prstGeom prst="rect">
            <a:avLst/>
          </a:prstGeom>
          <a:noFill/>
          <a:ln w="19050" algn="ctr">
            <a:noFill/>
            <a:miter lim="800000"/>
            <a:headEnd/>
            <a:tailEnd/>
          </a:ln>
          <a:effectLst/>
        </p:spPr>
        <p:txBody>
          <a:bodyPr lIns="72000" tIns="36000" rIns="72000" bIns="36000" anchor="ctr"/>
          <a:lstStyle/>
          <a:p>
            <a:pPr algn="ctr" defTabSz="914400" fontAlgn="base">
              <a:spcAft>
                <a:spcPct val="0"/>
              </a:spcAft>
              <a:defRPr/>
            </a:pPr>
            <a:r>
              <a:rPr lang="ja-JP" altLang="en-US" sz="1050" b="1" kern="0">
                <a:solidFill>
                  <a:prstClr val="black"/>
                </a:solidFill>
                <a:latin typeface="Meiryo UI" panose="020B0604030504040204" pitchFamily="50" charset="-128"/>
                <a:ea typeface="Meiryo UI" panose="020B0604030504040204" pitchFamily="50" charset="-128"/>
                <a:cs typeface="Calibri" panose="020F0502020204030204" pitchFamily="34" charset="0"/>
              </a:rPr>
              <a:t>運用上の課題を広く取り扱い改善</a:t>
            </a:r>
            <a:endParaRPr lang="en-US" altLang="ja-JP" sz="105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41" name="Rectangle 41">
            <a:extLst>
              <a:ext uri="{FF2B5EF4-FFF2-40B4-BE49-F238E27FC236}">
                <a16:creationId xmlns:a16="http://schemas.microsoft.com/office/drawing/2014/main" id="{5D3966D4-8E53-53F5-9A5C-D71DA7900A8E}"/>
              </a:ext>
            </a:extLst>
          </p:cNvPr>
          <p:cNvSpPr>
            <a:spLocks noChangeArrowheads="1"/>
          </p:cNvSpPr>
          <p:nvPr/>
        </p:nvSpPr>
        <p:spPr bwMode="gray">
          <a:xfrm>
            <a:off x="6881212" y="2404850"/>
            <a:ext cx="2008800" cy="301196"/>
          </a:xfrm>
          <a:prstGeom prst="rect">
            <a:avLst/>
          </a:prstGeom>
          <a:noFill/>
          <a:ln w="19050" algn="ctr">
            <a:noFill/>
            <a:miter lim="800000"/>
            <a:headEnd/>
            <a:tailEnd/>
          </a:ln>
          <a:effectLst/>
        </p:spPr>
        <p:txBody>
          <a:bodyPr lIns="72000" tIns="36000" rIns="72000" bIns="36000" anchor="ctr"/>
          <a:lstStyle/>
          <a:p>
            <a:pPr algn="ctr" defTabSz="914400" fontAlgn="base">
              <a:spcAft>
                <a:spcPct val="0"/>
              </a:spcAft>
              <a:defRPr/>
            </a:pPr>
            <a:r>
              <a:rPr lang="ja-JP" altLang="en-US" sz="1050" b="1" kern="0">
                <a:solidFill>
                  <a:prstClr val="black"/>
                </a:solidFill>
                <a:latin typeface="Meiryo UI" panose="020B0604030504040204" pitchFamily="50" charset="-128"/>
                <a:ea typeface="Meiryo UI" panose="020B0604030504040204" pitchFamily="50" charset="-128"/>
                <a:cs typeface="Calibri" panose="020F0502020204030204" pitchFamily="34" charset="0"/>
              </a:rPr>
              <a:t>経営判断へのデータ活用に焦点</a:t>
            </a:r>
            <a:endParaRPr lang="en-US" altLang="ja-JP" sz="1050" b="1" kern="0">
              <a:solidFill>
                <a:prstClr val="black"/>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22" name="楕円 21">
            <a:extLst>
              <a:ext uri="{FF2B5EF4-FFF2-40B4-BE49-F238E27FC236}">
                <a16:creationId xmlns:a16="http://schemas.microsoft.com/office/drawing/2014/main" id="{BC89EEA0-B513-84EC-2C73-836EB3815AC0}"/>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
        <p:nvSpPr>
          <p:cNvPr id="5" name="四角形: 角を丸くする 4">
            <a:extLst>
              <a:ext uri="{FF2B5EF4-FFF2-40B4-BE49-F238E27FC236}">
                <a16:creationId xmlns:a16="http://schemas.microsoft.com/office/drawing/2014/main" id="{E260E0C9-B1AC-9101-C191-42F2D93FD434}"/>
              </a:ext>
            </a:extLst>
          </p:cNvPr>
          <p:cNvSpPr/>
          <p:nvPr/>
        </p:nvSpPr>
        <p:spPr>
          <a:xfrm>
            <a:off x="1462309" y="1388874"/>
            <a:ext cx="2465222" cy="27051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rPr>
              <a:t>次頁で新</a:t>
            </a:r>
            <a:r>
              <a:rPr kumimoji="1" lang="en-US" altLang="ja-JP" sz="1000">
                <a:solidFill>
                  <a:schemeClr val="bg1"/>
                </a:solidFill>
              </a:rPr>
              <a:t>ESG</a:t>
            </a:r>
            <a:r>
              <a:rPr kumimoji="1" lang="ja-JP" altLang="en-US" sz="1000">
                <a:solidFill>
                  <a:schemeClr val="bg1"/>
                </a:solidFill>
              </a:rPr>
              <a:t>システムの概観を説明</a:t>
            </a:r>
          </a:p>
        </p:txBody>
      </p:sp>
    </p:spTree>
    <p:extLst>
      <p:ext uri="{BB962C8B-B14F-4D97-AF65-F5344CB8AC3E}">
        <p14:creationId xmlns:p14="http://schemas.microsoft.com/office/powerpoint/2010/main" val="1460171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049E0-24C6-1818-946B-2795AEBC0D02}"/>
              </a:ext>
            </a:extLst>
          </p:cNvPr>
          <p:cNvSpPr>
            <a:spLocks noGrp="1"/>
          </p:cNvSpPr>
          <p:nvPr>
            <p:ph type="title"/>
          </p:nvPr>
        </p:nvSpPr>
        <p:spPr>
          <a:xfrm>
            <a:off x="1116000" y="3042380"/>
            <a:ext cx="7703999" cy="360000"/>
          </a:xfrm>
        </p:spPr>
        <p:txBody>
          <a:bodyPr/>
          <a:lstStyle/>
          <a:p>
            <a:r>
              <a:rPr kumimoji="1" lang="en-US" altLang="ja-JP" sz="2400">
                <a:latin typeface="Meiryo UI" panose="020B0604030504040204" pitchFamily="50" charset="-128"/>
                <a:ea typeface="Meiryo UI" panose="020B0604030504040204" pitchFamily="50" charset="-128"/>
              </a:rPr>
              <a:t>4. </a:t>
            </a:r>
            <a:r>
              <a:rPr kumimoji="1" lang="ja-JP" altLang="en-US" sz="2400">
                <a:latin typeface="Meiryo UI" panose="020B0604030504040204" pitchFamily="50" charset="-128"/>
                <a:ea typeface="Meiryo UI" panose="020B0604030504040204" pitchFamily="50" charset="-128"/>
              </a:rPr>
              <a:t>新</a:t>
            </a:r>
            <a:r>
              <a:rPr kumimoji="1" lang="en-US" altLang="ja-JP" sz="2400">
                <a:latin typeface="Meiryo UI" panose="020B0604030504040204" pitchFamily="50" charset="-128"/>
                <a:ea typeface="Meiryo UI" panose="020B0604030504040204" pitchFamily="50" charset="-128"/>
              </a:rPr>
              <a:t>ESG</a:t>
            </a:r>
            <a:r>
              <a:rPr kumimoji="1" lang="ja-JP" altLang="en-US" sz="2400">
                <a:latin typeface="Meiryo UI" panose="020B0604030504040204" pitchFamily="50" charset="-128"/>
                <a:ea typeface="Meiryo UI" panose="020B0604030504040204" pitchFamily="50" charset="-128"/>
              </a:rPr>
              <a:t>システムとしての主な要件</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3DB55F1-1B8C-13AB-1DBE-1F30F08B6A0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17</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89801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963F490F-B758-43D1-D5F4-020AE434C36F}"/>
              </a:ext>
            </a:extLst>
          </p:cNvPr>
          <p:cNvSpPr/>
          <p:nvPr/>
        </p:nvSpPr>
        <p:spPr>
          <a:xfrm>
            <a:off x="607768" y="1700808"/>
            <a:ext cx="8212231" cy="1385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6A805C1F-ACF9-834D-6A84-4763B74A0E3B}"/>
              </a:ext>
            </a:extLst>
          </p:cNvPr>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新</a:t>
            </a:r>
            <a:r>
              <a:rPr kumimoji="1" lang="en-US" altLang="ja-JP">
                <a:latin typeface="Meiryo UI" panose="020B0604030504040204" pitchFamily="50" charset="-128"/>
                <a:ea typeface="Meiryo UI" panose="020B0604030504040204" pitchFamily="50" charset="-128"/>
              </a:rPr>
              <a:t>ESG</a:t>
            </a:r>
            <a:r>
              <a:rPr kumimoji="1" lang="ja-JP" altLang="en-US">
                <a:latin typeface="Meiryo UI" panose="020B0604030504040204" pitchFamily="50" charset="-128"/>
                <a:ea typeface="Meiryo UI" panose="020B0604030504040204" pitchFamily="50" charset="-128"/>
              </a:rPr>
              <a:t>システムにおける要件のポイント</a:t>
            </a:r>
          </a:p>
        </p:txBody>
      </p:sp>
      <p:sp>
        <p:nvSpPr>
          <p:cNvPr id="3" name="スライド番号プレースホルダー 2">
            <a:extLst>
              <a:ext uri="{FF2B5EF4-FFF2-40B4-BE49-F238E27FC236}">
                <a16:creationId xmlns:a16="http://schemas.microsoft.com/office/drawing/2014/main" id="{B8D15CC6-D8E7-16AD-16CC-27782086B1A9}"/>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18</a:t>
            </a:fld>
            <a:endParaRPr kumimoji="1" lang="ja-JP" altLang="en-US">
              <a:latin typeface="Meiryo UI" panose="020B0604030504040204" pitchFamily="50" charset="-128"/>
              <a:ea typeface="Meiryo UI" panose="020B0604030504040204" pitchFamily="50" charset="-128"/>
            </a:endParaRPr>
          </a:p>
        </p:txBody>
      </p:sp>
      <p:sp>
        <p:nvSpPr>
          <p:cNvPr id="5" name="四角形: 角を丸くする 4">
            <a:extLst>
              <a:ext uri="{FF2B5EF4-FFF2-40B4-BE49-F238E27FC236}">
                <a16:creationId xmlns:a16="http://schemas.microsoft.com/office/drawing/2014/main" id="{0778344C-0E95-070E-EC25-C66F95570A94}"/>
              </a:ext>
            </a:extLst>
          </p:cNvPr>
          <p:cNvSpPr/>
          <p:nvPr/>
        </p:nvSpPr>
        <p:spPr>
          <a:xfrm>
            <a:off x="307543" y="1840270"/>
            <a:ext cx="2872261" cy="316800"/>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solidFill>
                  <a:schemeClr val="bg1"/>
                </a:solidFill>
                <a:latin typeface="Meiryo UI" panose="020B0604030504040204" pitchFamily="50" charset="-128"/>
                <a:ea typeface="Meiryo UI" panose="020B0604030504040204" pitchFamily="50" charset="-128"/>
              </a:rPr>
              <a:t>　対応すべき複数の開示基準</a:t>
            </a:r>
          </a:p>
        </p:txBody>
      </p:sp>
      <p:sp>
        <p:nvSpPr>
          <p:cNvPr id="8" name="正方形/長方形 7">
            <a:extLst>
              <a:ext uri="{FF2B5EF4-FFF2-40B4-BE49-F238E27FC236}">
                <a16:creationId xmlns:a16="http://schemas.microsoft.com/office/drawing/2014/main" id="{923464C2-6017-7D0C-7A86-D99703EC3DB4}"/>
              </a:ext>
            </a:extLst>
          </p:cNvPr>
          <p:cNvSpPr/>
          <p:nvPr/>
        </p:nvSpPr>
        <p:spPr>
          <a:xfrm>
            <a:off x="612000" y="2230915"/>
            <a:ext cx="8180866" cy="8018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a:solidFill>
                  <a:schemeClr val="tx1"/>
                </a:solidFill>
                <a:latin typeface="Meiryo UI" panose="020B0604030504040204" pitchFamily="50" charset="-128"/>
                <a:ea typeface="Meiryo UI" panose="020B0604030504040204" pitchFamily="50" charset="-128"/>
              </a:rPr>
              <a:t>新システムでは、</a:t>
            </a:r>
            <a:r>
              <a:rPr kumimoji="1" lang="en-US" altLang="ja-JP" b="1" u="sng">
                <a:solidFill>
                  <a:schemeClr val="tx1"/>
                </a:solidFill>
                <a:latin typeface="Meiryo UI" panose="020B0604030504040204" pitchFamily="50" charset="-128"/>
                <a:ea typeface="Meiryo UI" panose="020B0604030504040204" pitchFamily="50" charset="-128"/>
              </a:rPr>
              <a:t>FY27</a:t>
            </a:r>
            <a:r>
              <a:rPr kumimoji="1" lang="ja-JP" altLang="en-US" b="1" u="sng">
                <a:solidFill>
                  <a:schemeClr val="tx1"/>
                </a:solidFill>
                <a:latin typeface="Meiryo UI" panose="020B0604030504040204" pitchFamily="50" charset="-128"/>
                <a:ea typeface="Meiryo UI" panose="020B0604030504040204" pitchFamily="50" charset="-128"/>
              </a:rPr>
              <a:t>強制適用の</a:t>
            </a:r>
            <a:r>
              <a:rPr kumimoji="1" lang="en-US" altLang="ja-JP" b="1" u="sng">
                <a:solidFill>
                  <a:schemeClr val="tx1"/>
                </a:solidFill>
                <a:latin typeface="Meiryo UI" panose="020B0604030504040204" pitchFamily="50" charset="-128"/>
                <a:ea typeface="Meiryo UI" panose="020B0604030504040204" pitchFamily="50" charset="-128"/>
              </a:rPr>
              <a:t>SSBJ</a:t>
            </a:r>
            <a:r>
              <a:rPr kumimoji="1" lang="ja-JP" altLang="en-US" b="1" u="sng">
                <a:solidFill>
                  <a:schemeClr val="tx1"/>
                </a:solidFill>
                <a:latin typeface="Meiryo UI" panose="020B0604030504040204" pitchFamily="50" charset="-128"/>
                <a:ea typeface="Meiryo UI" panose="020B0604030504040204" pitchFamily="50" charset="-128"/>
              </a:rPr>
              <a:t>に加え、温対法にも対応</a:t>
            </a:r>
            <a:r>
              <a:rPr kumimoji="1" lang="ja-JP" altLang="en-US">
                <a:solidFill>
                  <a:schemeClr val="tx1"/>
                </a:solidFill>
                <a:latin typeface="Meiryo UI" panose="020B0604030504040204" pitchFamily="50" charset="-128"/>
                <a:ea typeface="Meiryo UI" panose="020B0604030504040204" pitchFamily="50" charset="-128"/>
              </a:rPr>
              <a:t>することを求めたい</a:t>
            </a:r>
          </a:p>
        </p:txBody>
      </p:sp>
      <p:sp>
        <p:nvSpPr>
          <p:cNvPr id="14" name="正方形/長方形 13">
            <a:extLst>
              <a:ext uri="{FF2B5EF4-FFF2-40B4-BE49-F238E27FC236}">
                <a16:creationId xmlns:a16="http://schemas.microsoft.com/office/drawing/2014/main" id="{1F55BB56-F374-13FE-FF0C-8EE5ACEBF7A8}"/>
              </a:ext>
            </a:extLst>
          </p:cNvPr>
          <p:cNvSpPr/>
          <p:nvPr/>
        </p:nvSpPr>
        <p:spPr>
          <a:xfrm>
            <a:off x="607768" y="4853972"/>
            <a:ext cx="8212231" cy="1385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a16="http://schemas.microsoft.com/office/drawing/2014/main" id="{D11BCE03-F369-A39D-EF3E-1ACBF632F143}"/>
              </a:ext>
            </a:extLst>
          </p:cNvPr>
          <p:cNvSpPr/>
          <p:nvPr/>
        </p:nvSpPr>
        <p:spPr>
          <a:xfrm>
            <a:off x="307543" y="4952515"/>
            <a:ext cx="2872261" cy="316800"/>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solidFill>
                  <a:schemeClr val="bg1"/>
                </a:solidFill>
                <a:latin typeface="Meiryo UI" panose="020B0604030504040204" pitchFamily="50" charset="-128"/>
                <a:ea typeface="Meiryo UI" panose="020B0604030504040204" pitchFamily="50" charset="-128"/>
              </a:rPr>
              <a:t>暫定</a:t>
            </a:r>
            <a:r>
              <a:rPr kumimoji="1" lang="en-US" altLang="ja-JP" sz="1600" b="1">
                <a:solidFill>
                  <a:schemeClr val="bg1"/>
                </a:solidFill>
                <a:latin typeface="Meiryo UI" panose="020B0604030504040204" pitchFamily="50" charset="-128"/>
                <a:ea typeface="Meiryo UI" panose="020B0604030504040204" pitchFamily="50" charset="-128"/>
              </a:rPr>
              <a:t>/</a:t>
            </a:r>
            <a:r>
              <a:rPr kumimoji="1" lang="ja-JP" altLang="en-US" sz="1600" b="1">
                <a:solidFill>
                  <a:schemeClr val="bg1"/>
                </a:solidFill>
                <a:latin typeface="Meiryo UI" panose="020B0604030504040204" pitchFamily="50" charset="-128"/>
                <a:ea typeface="Meiryo UI" panose="020B0604030504040204" pitchFamily="50" charset="-128"/>
              </a:rPr>
              <a:t>確定係数の運用</a:t>
            </a:r>
          </a:p>
        </p:txBody>
      </p:sp>
      <p:sp>
        <p:nvSpPr>
          <p:cNvPr id="10" name="正方形/長方形 9">
            <a:extLst>
              <a:ext uri="{FF2B5EF4-FFF2-40B4-BE49-F238E27FC236}">
                <a16:creationId xmlns:a16="http://schemas.microsoft.com/office/drawing/2014/main" id="{97B96191-AD0A-F666-AE55-0D06F20DF98B}"/>
              </a:ext>
            </a:extLst>
          </p:cNvPr>
          <p:cNvSpPr/>
          <p:nvPr/>
        </p:nvSpPr>
        <p:spPr>
          <a:xfrm>
            <a:off x="611999" y="5333880"/>
            <a:ext cx="8212231" cy="9053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a:solidFill>
                  <a:schemeClr val="tx1"/>
                </a:solidFill>
                <a:latin typeface="Meiryo UI" panose="020B0604030504040204" pitchFamily="50" charset="-128"/>
                <a:ea typeface="Meiryo UI" panose="020B0604030504040204" pitchFamily="50" charset="-128"/>
              </a:rPr>
              <a:t>一部の排出活動については係数確定が年一回のため、</a:t>
            </a:r>
            <a:r>
              <a:rPr kumimoji="1" lang="ja-JP" altLang="en-US" b="1" u="sng">
                <a:solidFill>
                  <a:schemeClr val="tx1"/>
                </a:solidFill>
                <a:latin typeface="Meiryo UI" panose="020B0604030504040204" pitchFamily="50" charset="-128"/>
                <a:ea typeface="Meiryo UI" panose="020B0604030504040204" pitchFamily="50" charset="-128"/>
              </a:rPr>
              <a:t>期中は暫定係数を設定し、係数が確定した時点で期中分全て差し替え</a:t>
            </a:r>
            <a:r>
              <a:rPr kumimoji="1" lang="ja-JP" altLang="en-US">
                <a:solidFill>
                  <a:schemeClr val="tx1"/>
                </a:solidFill>
                <a:latin typeface="Meiryo UI" panose="020B0604030504040204" pitchFamily="50" charset="-128"/>
                <a:ea typeface="Meiryo UI" panose="020B0604030504040204" pitchFamily="50" charset="-128"/>
              </a:rPr>
              <a:t>られるようにしたい</a:t>
            </a:r>
          </a:p>
        </p:txBody>
      </p:sp>
      <p:sp>
        <p:nvSpPr>
          <p:cNvPr id="13" name="正方形/長方形 12">
            <a:extLst>
              <a:ext uri="{FF2B5EF4-FFF2-40B4-BE49-F238E27FC236}">
                <a16:creationId xmlns:a16="http://schemas.microsoft.com/office/drawing/2014/main" id="{14F6D068-2F9B-E860-5731-42E09092F8EC}"/>
              </a:ext>
            </a:extLst>
          </p:cNvPr>
          <p:cNvSpPr/>
          <p:nvPr/>
        </p:nvSpPr>
        <p:spPr>
          <a:xfrm>
            <a:off x="607768" y="3277390"/>
            <a:ext cx="8212231" cy="1385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6" name="四角形: 角を丸くする 5">
            <a:extLst>
              <a:ext uri="{FF2B5EF4-FFF2-40B4-BE49-F238E27FC236}">
                <a16:creationId xmlns:a16="http://schemas.microsoft.com/office/drawing/2014/main" id="{74E301DD-E838-4A4A-CCEC-F8B627251A2F}"/>
              </a:ext>
            </a:extLst>
          </p:cNvPr>
          <p:cNvSpPr/>
          <p:nvPr/>
        </p:nvSpPr>
        <p:spPr>
          <a:xfrm>
            <a:off x="307543" y="3392956"/>
            <a:ext cx="2872261" cy="316800"/>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solidFill>
                  <a:schemeClr val="bg1"/>
                </a:solidFill>
                <a:latin typeface="Meiryo UI" panose="020B0604030504040204" pitchFamily="50" charset="-128"/>
                <a:ea typeface="Meiryo UI" panose="020B0604030504040204" pitchFamily="50" charset="-128"/>
              </a:rPr>
              <a:t>複数算定ロジックの構築</a:t>
            </a:r>
          </a:p>
        </p:txBody>
      </p:sp>
      <p:sp>
        <p:nvSpPr>
          <p:cNvPr id="9" name="正方形/長方形 8">
            <a:extLst>
              <a:ext uri="{FF2B5EF4-FFF2-40B4-BE49-F238E27FC236}">
                <a16:creationId xmlns:a16="http://schemas.microsoft.com/office/drawing/2014/main" id="{8BA0E0E2-1A52-DB59-C136-6690B795E81E}"/>
              </a:ext>
            </a:extLst>
          </p:cNvPr>
          <p:cNvSpPr/>
          <p:nvPr/>
        </p:nvSpPr>
        <p:spPr>
          <a:xfrm>
            <a:off x="611999" y="3782398"/>
            <a:ext cx="8212231" cy="8018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a:solidFill>
                  <a:schemeClr val="tx1"/>
                </a:solidFill>
                <a:latin typeface="Meiryo UI" panose="020B0604030504040204" pitchFamily="50" charset="-128"/>
                <a:ea typeface="Meiryo UI" panose="020B0604030504040204" pitchFamily="50" charset="-128"/>
              </a:rPr>
              <a:t>新システムでは、</a:t>
            </a:r>
            <a:r>
              <a:rPr kumimoji="1" lang="en-US" altLang="ja-JP" b="1" u="sng">
                <a:solidFill>
                  <a:schemeClr val="tx1"/>
                </a:solidFill>
                <a:latin typeface="Meiryo UI" panose="020B0604030504040204" pitchFamily="50" charset="-128"/>
                <a:ea typeface="Meiryo UI" panose="020B0604030504040204" pitchFamily="50" charset="-128"/>
              </a:rPr>
              <a:t>1</a:t>
            </a:r>
            <a:r>
              <a:rPr kumimoji="1" lang="ja-JP" altLang="en-US" b="1" u="sng">
                <a:solidFill>
                  <a:schemeClr val="tx1"/>
                </a:solidFill>
                <a:latin typeface="Meiryo UI" panose="020B0604030504040204" pitchFamily="50" charset="-128"/>
                <a:ea typeface="Meiryo UI" panose="020B0604030504040204" pitchFamily="50" charset="-128"/>
              </a:rPr>
              <a:t>排出活動に対し、複数の排出係数（</a:t>
            </a:r>
            <a:r>
              <a:rPr kumimoji="1" lang="en-US" altLang="ja-JP" b="1" u="sng">
                <a:solidFill>
                  <a:schemeClr val="tx1"/>
                </a:solidFill>
                <a:latin typeface="Meiryo UI" panose="020B0604030504040204" pitchFamily="50" charset="-128"/>
                <a:ea typeface="Meiryo UI" panose="020B0604030504040204" pitchFamily="50" charset="-128"/>
              </a:rPr>
              <a:t>SSBJ</a:t>
            </a:r>
            <a:r>
              <a:rPr kumimoji="1" lang="ja-JP" altLang="en-US" b="1" u="sng">
                <a:solidFill>
                  <a:schemeClr val="tx1"/>
                </a:solidFill>
                <a:latin typeface="Meiryo UI" panose="020B0604030504040204" pitchFamily="50" charset="-128"/>
                <a:ea typeface="Meiryo UI" panose="020B0604030504040204" pitchFamily="50" charset="-128"/>
              </a:rPr>
              <a:t>用排出係数と温対法用排出係数）を当てる</a:t>
            </a:r>
            <a:r>
              <a:rPr kumimoji="1" lang="ja-JP" altLang="en-US">
                <a:solidFill>
                  <a:schemeClr val="tx1"/>
                </a:solidFill>
                <a:latin typeface="Meiryo UI" panose="020B0604030504040204" pitchFamily="50" charset="-128"/>
                <a:ea typeface="Meiryo UI" panose="020B0604030504040204" pitchFamily="50" charset="-128"/>
              </a:rPr>
              <a:t>ことで、複数基準に対応したい</a:t>
            </a:r>
          </a:p>
        </p:txBody>
      </p:sp>
      <p:sp>
        <p:nvSpPr>
          <p:cNvPr id="4" name="テキスト プレースホルダー 3">
            <a:extLst>
              <a:ext uri="{FF2B5EF4-FFF2-40B4-BE49-F238E27FC236}">
                <a16:creationId xmlns:a16="http://schemas.microsoft.com/office/drawing/2014/main" id="{DB943850-8D64-057A-AECD-089C917086EA}"/>
              </a:ext>
            </a:extLst>
          </p:cNvPr>
          <p:cNvSpPr>
            <a:spLocks noGrp="1"/>
          </p:cNvSpPr>
          <p:nvPr>
            <p:ph type="body" sz="quarter" idx="13"/>
          </p:nvPr>
        </p:nvSpPr>
        <p:spPr>
          <a:xfrm>
            <a:off x="1116001" y="888637"/>
            <a:ext cx="7704150" cy="591820"/>
          </a:xfrm>
        </p:spPr>
        <p:txBody>
          <a:bodyPr>
            <a:noAutofit/>
          </a:bodyPr>
          <a:lstStyle/>
          <a:p>
            <a:r>
              <a:rPr lang="ja-JP" altLang="en-US"/>
              <a:t>新</a:t>
            </a:r>
            <a:r>
              <a:rPr lang="en-US" altLang="ja-JP"/>
              <a:t>ESG</a:t>
            </a:r>
            <a:r>
              <a:rPr lang="ja-JP" altLang="en-US"/>
              <a:t>システム導入における要件のポイント</a:t>
            </a:r>
            <a:r>
              <a:rPr kumimoji="1" lang="ja-JP" altLang="en-US"/>
              <a:t>は、「国内基準とグローバル基準の両方に対応」「</a:t>
            </a:r>
            <a:r>
              <a:rPr kumimoji="1" lang="en-US" altLang="ja-JP"/>
              <a:t>1</a:t>
            </a:r>
            <a:r>
              <a:rPr kumimoji="1" lang="ja-JP" altLang="en-US"/>
              <a:t>活動量に対して複数の排出量算定に分岐」「暫定係数を使った係数運用」の３</a:t>
            </a:r>
            <a:r>
              <a:rPr lang="ja-JP" altLang="en-US"/>
              <a:t>点</a:t>
            </a:r>
            <a:endParaRPr kumimoji="1" lang="ja-JP" altLang="en-US"/>
          </a:p>
        </p:txBody>
      </p:sp>
      <p:sp>
        <p:nvSpPr>
          <p:cNvPr id="17" name="楕円 16">
            <a:extLst>
              <a:ext uri="{FF2B5EF4-FFF2-40B4-BE49-F238E27FC236}">
                <a16:creationId xmlns:a16="http://schemas.microsoft.com/office/drawing/2014/main" id="{6EA4922B-B2EA-E693-1B51-63F111F6B382}"/>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20" name="楕円 19">
            <a:extLst>
              <a:ext uri="{FF2B5EF4-FFF2-40B4-BE49-F238E27FC236}">
                <a16:creationId xmlns:a16="http://schemas.microsoft.com/office/drawing/2014/main" id="{2EAEAD41-4AA7-C48E-24F4-FE5F524F979A}"/>
              </a:ext>
            </a:extLst>
          </p:cNvPr>
          <p:cNvSpPr/>
          <p:nvPr/>
        </p:nvSpPr>
        <p:spPr>
          <a:xfrm>
            <a:off x="172995" y="1700809"/>
            <a:ext cx="456262" cy="4562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a:solidFill>
                  <a:schemeClr val="bg1"/>
                </a:solidFill>
                <a:latin typeface="Meiryo UI" panose="020B0604030504040204" pitchFamily="50" charset="-128"/>
                <a:ea typeface="Meiryo UI" panose="020B0604030504040204" pitchFamily="50" charset="-128"/>
              </a:rPr>
              <a:t>1</a:t>
            </a:r>
            <a:endParaRPr kumimoji="1" lang="ja-JP" altLang="en-US" sz="2400">
              <a:solidFill>
                <a:schemeClr val="bg1"/>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6D1E9F84-445F-AD1B-1679-B2A16C9EA656}"/>
              </a:ext>
            </a:extLst>
          </p:cNvPr>
          <p:cNvSpPr/>
          <p:nvPr/>
        </p:nvSpPr>
        <p:spPr>
          <a:xfrm>
            <a:off x="172995" y="3247758"/>
            <a:ext cx="456262" cy="4562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a:solidFill>
                  <a:schemeClr val="bg1"/>
                </a:solidFill>
                <a:latin typeface="Meiryo UI" panose="020B0604030504040204" pitchFamily="50" charset="-128"/>
                <a:ea typeface="Meiryo UI" panose="020B0604030504040204" pitchFamily="50" charset="-128"/>
              </a:rPr>
              <a:t>2</a:t>
            </a:r>
            <a:endParaRPr kumimoji="1" lang="ja-JP" altLang="en-US" sz="2400">
              <a:solidFill>
                <a:schemeClr val="bg1"/>
              </a:solidFill>
              <a:latin typeface="Meiryo UI" panose="020B0604030504040204" pitchFamily="50" charset="-128"/>
              <a:ea typeface="Meiryo UI" panose="020B0604030504040204" pitchFamily="50" charset="-128"/>
            </a:endParaRPr>
          </a:p>
        </p:txBody>
      </p:sp>
      <p:sp>
        <p:nvSpPr>
          <p:cNvPr id="22" name="楕円 21">
            <a:extLst>
              <a:ext uri="{FF2B5EF4-FFF2-40B4-BE49-F238E27FC236}">
                <a16:creationId xmlns:a16="http://schemas.microsoft.com/office/drawing/2014/main" id="{6964C488-5EA7-1584-98CC-55FBB3863CCD}"/>
              </a:ext>
            </a:extLst>
          </p:cNvPr>
          <p:cNvSpPr/>
          <p:nvPr/>
        </p:nvSpPr>
        <p:spPr>
          <a:xfrm>
            <a:off x="172995" y="4813053"/>
            <a:ext cx="456262" cy="45626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a:solidFill>
                  <a:schemeClr val="bg1"/>
                </a:solidFill>
                <a:latin typeface="Meiryo UI" panose="020B0604030504040204" pitchFamily="50" charset="-128"/>
                <a:ea typeface="Meiryo UI" panose="020B0604030504040204" pitchFamily="50" charset="-128"/>
              </a:rPr>
              <a:t>3</a:t>
            </a:r>
            <a:endParaRPr kumimoji="1" lang="ja-JP" altLang="en-US" sz="2400">
              <a:solidFill>
                <a:schemeClr val="bg1"/>
              </a:solidFill>
              <a:latin typeface="Meiryo UI" panose="020B0604030504040204" pitchFamily="50" charset="-128"/>
              <a:ea typeface="Meiryo UI" panose="020B0604030504040204" pitchFamily="50" charset="-128"/>
            </a:endParaRPr>
          </a:p>
        </p:txBody>
      </p:sp>
      <p:sp>
        <p:nvSpPr>
          <p:cNvPr id="11" name="四角形: 角を丸くする 10">
            <a:extLst>
              <a:ext uri="{FF2B5EF4-FFF2-40B4-BE49-F238E27FC236}">
                <a16:creationId xmlns:a16="http://schemas.microsoft.com/office/drawing/2014/main" id="{8DDAE47F-D4C5-F6B8-2DFC-6E0BDD785092}"/>
              </a:ext>
            </a:extLst>
          </p:cNvPr>
          <p:cNvSpPr/>
          <p:nvPr/>
        </p:nvSpPr>
        <p:spPr>
          <a:xfrm>
            <a:off x="4748170" y="76049"/>
            <a:ext cx="4180662" cy="29794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③をデータの階層構造についてではなく、暫定</a:t>
            </a:r>
            <a:r>
              <a:rPr kumimoji="1" lang="en-US" altLang="ja-JP" sz="1000">
                <a:solidFill>
                  <a:schemeClr val="tx1"/>
                </a:solidFill>
                <a:latin typeface="Meiryo UI" panose="020B0604030504040204" pitchFamily="50" charset="-128"/>
                <a:ea typeface="Meiryo UI" panose="020B0604030504040204" pitchFamily="50" charset="-128"/>
              </a:rPr>
              <a:t>/</a:t>
            </a:r>
            <a:r>
              <a:rPr kumimoji="1" lang="ja-JP" altLang="en-US" sz="1000">
                <a:solidFill>
                  <a:schemeClr val="tx1"/>
                </a:solidFill>
                <a:latin typeface="Meiryo UI" panose="020B0604030504040204" pitchFamily="50" charset="-128"/>
                <a:ea typeface="Meiryo UI" panose="020B0604030504040204" pitchFamily="50" charset="-128"/>
              </a:rPr>
              <a:t>確定係数の運用に変更</a:t>
            </a:r>
          </a:p>
        </p:txBody>
      </p:sp>
    </p:spTree>
    <p:extLst>
      <p:ext uri="{BB962C8B-B14F-4D97-AF65-F5344CB8AC3E}">
        <p14:creationId xmlns:p14="http://schemas.microsoft.com/office/powerpoint/2010/main" val="2027143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正方形/長方形 134">
            <a:extLst>
              <a:ext uri="{FF2B5EF4-FFF2-40B4-BE49-F238E27FC236}">
                <a16:creationId xmlns:a16="http://schemas.microsoft.com/office/drawing/2014/main" id="{B11DD9E3-8FC5-D670-8E91-9AFD30D3BB5F}"/>
              </a:ext>
            </a:extLst>
          </p:cNvPr>
          <p:cNvSpPr/>
          <p:nvPr/>
        </p:nvSpPr>
        <p:spPr bwMode="gray">
          <a:xfrm>
            <a:off x="1583572" y="3854308"/>
            <a:ext cx="2709561" cy="2531572"/>
          </a:xfrm>
          <a:prstGeom prst="rect">
            <a:avLst/>
          </a:prstGeom>
          <a:solidFill>
            <a:schemeClr val="bg1">
              <a:lumMod val="85000"/>
            </a:schemeClr>
          </a:solidFill>
          <a:ln w="12700" algn="ctr">
            <a:solidFill>
              <a:schemeClr val="bg1">
                <a:lumMod val="75000"/>
              </a:schemeClr>
            </a:solidFill>
            <a:prstDash val="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endParaRPr kumimoji="1" lang="ja-JP" altLang="en-US" sz="1200">
              <a:solidFill>
                <a:prstClr val="black"/>
              </a:solidFill>
              <a:latin typeface="Meiryo UI" panose="020B0604030504040204" pitchFamily="50" charset="-128"/>
              <a:ea typeface="Meiryo UI" panose="020B0604030504040204" pitchFamily="50" charset="-128"/>
            </a:endParaRPr>
          </a:p>
        </p:txBody>
      </p:sp>
      <p:sp>
        <p:nvSpPr>
          <p:cNvPr id="136" name="フローチャート: 処理 135">
            <a:extLst>
              <a:ext uri="{FF2B5EF4-FFF2-40B4-BE49-F238E27FC236}">
                <a16:creationId xmlns:a16="http://schemas.microsoft.com/office/drawing/2014/main" id="{686058DB-C824-C98A-3BAD-0E1C8647D9D7}"/>
              </a:ext>
            </a:extLst>
          </p:cNvPr>
          <p:cNvSpPr/>
          <p:nvPr/>
        </p:nvSpPr>
        <p:spPr bwMode="gray">
          <a:xfrm>
            <a:off x="1073115" y="3563571"/>
            <a:ext cx="2232383" cy="228610"/>
          </a:xfrm>
          <a:prstGeom prst="flowChartProcess">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2000" b="1">
                <a:solidFill>
                  <a:schemeClr val="bg1">
                    <a:lumMod val="50000"/>
                  </a:schemeClr>
                </a:solidFill>
                <a:latin typeface="Meiryo UI" panose="020B0604030504040204" pitchFamily="50" charset="-128"/>
                <a:ea typeface="Meiryo UI" panose="020B0604030504040204" pitchFamily="50" charset="-128"/>
              </a:rPr>
              <a:t>出光</a:t>
            </a:r>
            <a:r>
              <a:rPr kumimoji="1" lang="en-US" altLang="ja-JP" sz="2000" b="1" i="0" u="none" strike="noStrike" kern="1200" cap="none" spc="0" normalizeH="0" baseline="0" noProof="0">
                <a:ln>
                  <a:noFill/>
                </a:ln>
                <a:solidFill>
                  <a:schemeClr val="bg1">
                    <a:lumMod val="50000"/>
                  </a:schemeClr>
                </a:solidFill>
                <a:effectLst/>
                <a:uLnTx/>
                <a:uFillTx/>
                <a:latin typeface="Meiryo UI" panose="020B0604030504040204" pitchFamily="50" charset="-128"/>
                <a:ea typeface="Meiryo UI" panose="020B0604030504040204" pitchFamily="50" charset="-128"/>
              </a:rPr>
              <a:t>DI</a:t>
            </a:r>
            <a:r>
              <a:rPr kumimoji="1" lang="ja-JP" altLang="en-US" sz="2000" b="1" i="0" u="none" strike="noStrike" kern="1200" cap="none" spc="0" normalizeH="0" baseline="0" noProof="0">
                <a:ln>
                  <a:noFill/>
                </a:ln>
                <a:solidFill>
                  <a:schemeClr val="bg1">
                    <a:lumMod val="50000"/>
                  </a:schemeClr>
                </a:solidFill>
                <a:effectLst/>
                <a:uLnTx/>
                <a:uFillTx/>
                <a:latin typeface="Meiryo UI" panose="020B0604030504040204" pitchFamily="50" charset="-128"/>
                <a:ea typeface="Meiryo UI" panose="020B0604030504040204" pitchFamily="50" charset="-128"/>
              </a:rPr>
              <a:t>部</a:t>
            </a:r>
            <a:r>
              <a:rPr kumimoji="1" lang="ja-JP" altLang="en-US" sz="2000" b="1">
                <a:solidFill>
                  <a:schemeClr val="bg1">
                    <a:lumMod val="50000"/>
                  </a:schemeClr>
                </a:solidFill>
                <a:latin typeface="Meiryo UI" panose="020B0604030504040204" pitchFamily="50" charset="-128"/>
                <a:ea typeface="Meiryo UI" panose="020B0604030504040204" pitchFamily="50" charset="-128"/>
              </a:rPr>
              <a:t>開発範囲</a:t>
            </a:r>
            <a:endParaRPr kumimoji="1" lang="ja-JP" altLang="en-US" sz="2000" b="1" i="0" u="none" strike="noStrike" kern="1200" cap="none" spc="0" normalizeH="0" baseline="0" noProof="0">
              <a:ln>
                <a:noFill/>
              </a:ln>
              <a:solidFill>
                <a:schemeClr val="bg1">
                  <a:lumMod val="50000"/>
                </a:schemeClr>
              </a:solidFill>
              <a:effectLst/>
              <a:uLnTx/>
              <a:uFillTx/>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5E317189-F72F-F75E-67D1-0DFB31667728}"/>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ESG</a:t>
            </a:r>
            <a:r>
              <a:rPr lang="ja-JP" altLang="en-US">
                <a:latin typeface="Meiryo UI" panose="020B0604030504040204" pitchFamily="50" charset="-128"/>
                <a:ea typeface="Meiryo UI" panose="020B0604030504040204" pitchFamily="50" charset="-128"/>
              </a:rPr>
              <a:t>システム全体像</a:t>
            </a:r>
          </a:p>
        </p:txBody>
      </p:sp>
      <p:sp>
        <p:nvSpPr>
          <p:cNvPr id="3" name="スライド番号プレースホルダー 2">
            <a:extLst>
              <a:ext uri="{FF2B5EF4-FFF2-40B4-BE49-F238E27FC236}">
                <a16:creationId xmlns:a16="http://schemas.microsoft.com/office/drawing/2014/main" id="{427DB6BF-2CED-BBA1-C8FC-07CCF9438F60}"/>
              </a:ext>
            </a:extLst>
          </p:cNvPr>
          <p:cNvSpPr>
            <a:spLocks noGrp="1"/>
          </p:cNvSpPr>
          <p:nvPr>
            <p:ph type="sldNum" sz="quarter" idx="12"/>
          </p:nvPr>
        </p:nvSpPr>
        <p:spPr/>
        <p:txBody>
          <a:bodyPr/>
          <a:lstStyle/>
          <a:p>
            <a:fld id="{59F857F7-C215-C24D-8BD9-19720E902953}" type="slidenum">
              <a:rPr lang="ja-JP" altLang="en-US" smtClean="0">
                <a:latin typeface="Meiryo UI" panose="020B0604030504040204" pitchFamily="50" charset="-128"/>
                <a:ea typeface="Meiryo UI" panose="020B0604030504040204" pitchFamily="50" charset="-128"/>
              </a:rPr>
              <a:pPr/>
              <a:t>19</a:t>
            </a:fld>
            <a:endParaRPr lang="ja-JP" altLang="en-US">
              <a:latin typeface="Meiryo UI" panose="020B0604030504040204" pitchFamily="50" charset="-128"/>
              <a:ea typeface="Meiryo UI" panose="020B0604030504040204" pitchFamily="50" charset="-128"/>
            </a:endParaRPr>
          </a:p>
        </p:txBody>
      </p:sp>
      <p:sp>
        <p:nvSpPr>
          <p:cNvPr id="150" name="テキスト プレースホルダー 149">
            <a:extLst>
              <a:ext uri="{FF2B5EF4-FFF2-40B4-BE49-F238E27FC236}">
                <a16:creationId xmlns:a16="http://schemas.microsoft.com/office/drawing/2014/main" id="{DDE36C4E-A3F7-418F-EC9E-88BA274DDE69}"/>
              </a:ext>
            </a:extLst>
          </p:cNvPr>
          <p:cNvSpPr>
            <a:spLocks noGrp="1"/>
          </p:cNvSpPr>
          <p:nvPr>
            <p:ph type="body" sz="quarter" idx="13"/>
          </p:nvPr>
        </p:nvSpPr>
        <p:spPr/>
        <p:txBody>
          <a:bodyPr>
            <a:normAutofit/>
          </a:bodyPr>
          <a:lstStyle/>
          <a:p>
            <a:r>
              <a:rPr lang="ja-JP" altLang="en-US"/>
              <a:t>導入ベンダーの開発範囲は、</a:t>
            </a:r>
            <a:r>
              <a:rPr lang="en-US" altLang="ja-JP"/>
              <a:t>FTP</a:t>
            </a:r>
            <a:r>
              <a:rPr lang="ja-JP" altLang="en-US"/>
              <a:t>サーバ等からのデータ連携機能構築から各レポート出力までとする。新</a:t>
            </a:r>
            <a:r>
              <a:rPr lang="en-US" altLang="ja-JP"/>
              <a:t>ESG</a:t>
            </a:r>
            <a:r>
              <a:rPr lang="ja-JP" altLang="en-US"/>
              <a:t>システムへの主な要件としては、算定ロジック、係数管理、集計ロジックの柔軟性が求められる</a:t>
            </a:r>
          </a:p>
        </p:txBody>
      </p:sp>
      <p:sp>
        <p:nvSpPr>
          <p:cNvPr id="6" name="正方形/長方形 5">
            <a:extLst>
              <a:ext uri="{FF2B5EF4-FFF2-40B4-BE49-F238E27FC236}">
                <a16:creationId xmlns:a16="http://schemas.microsoft.com/office/drawing/2014/main" id="{7086A117-9D20-DBB1-C022-DC3C9DED4BC9}"/>
              </a:ext>
            </a:extLst>
          </p:cNvPr>
          <p:cNvSpPr/>
          <p:nvPr/>
        </p:nvSpPr>
        <p:spPr bwMode="gray">
          <a:xfrm>
            <a:off x="3906700" y="2650668"/>
            <a:ext cx="5133222" cy="2531572"/>
          </a:xfrm>
          <a:prstGeom prst="rect">
            <a:avLst/>
          </a:prstGeom>
          <a:solidFill>
            <a:schemeClr val="accent2">
              <a:lumMod val="20000"/>
              <a:lumOff val="80000"/>
            </a:schemeClr>
          </a:solidFill>
          <a:ln w="12700" algn="ctr">
            <a:solidFill>
              <a:schemeClr val="accent2"/>
            </a:solidFill>
            <a:prstDash val="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405FC2C9-0722-C940-6AE2-4720F9B9FE4B}"/>
              </a:ext>
            </a:extLst>
          </p:cNvPr>
          <p:cNvSpPr/>
          <p:nvPr/>
        </p:nvSpPr>
        <p:spPr bwMode="gray">
          <a:xfrm>
            <a:off x="4125772" y="2714492"/>
            <a:ext cx="1152000" cy="24228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59EF5E72-9D3A-8B74-CA7A-A29EEB7A5AE1}"/>
              </a:ext>
            </a:extLst>
          </p:cNvPr>
          <p:cNvSpPr/>
          <p:nvPr/>
        </p:nvSpPr>
        <p:spPr bwMode="gray">
          <a:xfrm>
            <a:off x="4190596" y="2804493"/>
            <a:ext cx="1044000" cy="1008000"/>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a:solidFill>
                  <a:prstClr val="black"/>
                </a:solidFill>
                <a:latin typeface="Meiryo UI" panose="020B0604030504040204" pitchFamily="50" charset="-128"/>
                <a:ea typeface="Meiryo UI" panose="020B0604030504040204" pitchFamily="50" charset="-128"/>
              </a:rPr>
              <a:t>自動連係分</a:t>
            </a:r>
            <a:endPar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 name="矢印: 五方向 8">
            <a:extLst>
              <a:ext uri="{FF2B5EF4-FFF2-40B4-BE49-F238E27FC236}">
                <a16:creationId xmlns:a16="http://schemas.microsoft.com/office/drawing/2014/main" id="{0386F35E-A940-B8FC-5570-36BDF958ED45}"/>
              </a:ext>
            </a:extLst>
          </p:cNvPr>
          <p:cNvSpPr/>
          <p:nvPr/>
        </p:nvSpPr>
        <p:spPr bwMode="gray">
          <a:xfrm>
            <a:off x="404275" y="1913118"/>
            <a:ext cx="1152000" cy="576000"/>
          </a:xfrm>
          <a:prstGeom prst="homePlate">
            <a:avLst>
              <a:gd name="adj" fmla="val 25806"/>
            </a:avLst>
          </a:prstGeom>
          <a:solidFill>
            <a:schemeClr val="bg1">
              <a:lumMod val="8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a:solidFill>
                  <a:schemeClr val="bg1"/>
                </a:solidFill>
                <a:latin typeface="Meiryo UI" panose="020B0604030504040204" pitchFamily="50" charset="-128"/>
                <a:ea typeface="Meiryo UI" panose="020B0604030504040204" pitchFamily="50" charset="-128"/>
              </a:rPr>
              <a:t>タグ集積</a:t>
            </a:r>
            <a:endPar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0" name="矢印: 五方向 9">
            <a:extLst>
              <a:ext uri="{FF2B5EF4-FFF2-40B4-BE49-F238E27FC236}">
                <a16:creationId xmlns:a16="http://schemas.microsoft.com/office/drawing/2014/main" id="{8447B878-AEED-0F9E-5FDC-26DA7EC29EC6}"/>
              </a:ext>
            </a:extLst>
          </p:cNvPr>
          <p:cNvSpPr/>
          <p:nvPr/>
        </p:nvSpPr>
        <p:spPr bwMode="gray">
          <a:xfrm>
            <a:off x="1641599" y="1913118"/>
            <a:ext cx="1152000" cy="576000"/>
          </a:xfrm>
          <a:prstGeom prst="homePlate">
            <a:avLst>
              <a:gd name="adj" fmla="val 25806"/>
            </a:avLst>
          </a:prstGeom>
          <a:solidFill>
            <a:schemeClr val="bg1">
              <a:lumMod val="8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a:solidFill>
                  <a:schemeClr val="bg1"/>
                </a:solidFill>
                <a:latin typeface="Meiryo UI" panose="020B0604030504040204" pitchFamily="50" charset="-128"/>
                <a:ea typeface="Meiryo UI" panose="020B0604030504040204" pitchFamily="50" charset="-128"/>
              </a:rPr>
              <a:t>データ変換</a:t>
            </a:r>
            <a:endPar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2BDA0412-93F3-E6D8-FEC0-33987A70EFC0}"/>
              </a:ext>
            </a:extLst>
          </p:cNvPr>
          <p:cNvSpPr/>
          <p:nvPr/>
        </p:nvSpPr>
        <p:spPr bwMode="gray">
          <a:xfrm>
            <a:off x="2878923" y="1913118"/>
            <a:ext cx="1152000" cy="576000"/>
          </a:xfrm>
          <a:prstGeom prst="homePlate">
            <a:avLst>
              <a:gd name="adj" fmla="val 2580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データ</a:t>
            </a:r>
            <a:endParaRPr kumimoji="1" lang="en-US" altLang="ja-JP"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パイプライン</a:t>
            </a:r>
          </a:p>
        </p:txBody>
      </p:sp>
      <p:sp>
        <p:nvSpPr>
          <p:cNvPr id="12" name="矢印: 五方向 11">
            <a:extLst>
              <a:ext uri="{FF2B5EF4-FFF2-40B4-BE49-F238E27FC236}">
                <a16:creationId xmlns:a16="http://schemas.microsoft.com/office/drawing/2014/main" id="{67FCF2CB-CC6C-9F16-3493-C846A0144CF5}"/>
              </a:ext>
            </a:extLst>
          </p:cNvPr>
          <p:cNvSpPr/>
          <p:nvPr/>
        </p:nvSpPr>
        <p:spPr bwMode="gray">
          <a:xfrm>
            <a:off x="4116246" y="1913118"/>
            <a:ext cx="1152000" cy="576000"/>
          </a:xfrm>
          <a:prstGeom prst="homePlate">
            <a:avLst>
              <a:gd name="adj" fmla="val 2580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データ入力</a:t>
            </a:r>
          </a:p>
        </p:txBody>
      </p:sp>
      <p:sp>
        <p:nvSpPr>
          <p:cNvPr id="13" name="矢印: 五方向 12">
            <a:extLst>
              <a:ext uri="{FF2B5EF4-FFF2-40B4-BE49-F238E27FC236}">
                <a16:creationId xmlns:a16="http://schemas.microsoft.com/office/drawing/2014/main" id="{0BA615A7-BFA6-9CD4-1D52-71778770D27C}"/>
              </a:ext>
            </a:extLst>
          </p:cNvPr>
          <p:cNvSpPr/>
          <p:nvPr/>
        </p:nvSpPr>
        <p:spPr bwMode="gray">
          <a:xfrm>
            <a:off x="5353571" y="1913118"/>
            <a:ext cx="1152000" cy="576000"/>
          </a:xfrm>
          <a:prstGeom prst="homePlate">
            <a:avLst>
              <a:gd name="adj" fmla="val 2580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算定</a:t>
            </a:r>
          </a:p>
        </p:txBody>
      </p:sp>
      <p:sp>
        <p:nvSpPr>
          <p:cNvPr id="14" name="矢印: 五方向 13">
            <a:extLst>
              <a:ext uri="{FF2B5EF4-FFF2-40B4-BE49-F238E27FC236}">
                <a16:creationId xmlns:a16="http://schemas.microsoft.com/office/drawing/2014/main" id="{F295BBF5-46E6-5124-6028-6073EE3ADD06}"/>
              </a:ext>
            </a:extLst>
          </p:cNvPr>
          <p:cNvSpPr/>
          <p:nvPr/>
        </p:nvSpPr>
        <p:spPr bwMode="gray">
          <a:xfrm>
            <a:off x="6590896" y="1913118"/>
            <a:ext cx="1152000" cy="576000"/>
          </a:xfrm>
          <a:prstGeom prst="homePlate">
            <a:avLst>
              <a:gd name="adj" fmla="val 2580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a:solidFill>
                  <a:schemeClr val="bg1"/>
                </a:solidFill>
                <a:latin typeface="Meiryo UI" panose="020B0604030504040204" pitchFamily="50" charset="-128"/>
                <a:ea typeface="Meiryo UI" panose="020B0604030504040204" pitchFamily="50" charset="-128"/>
              </a:rPr>
              <a:t>集計</a:t>
            </a:r>
            <a:endPar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5" name="矢印: 五方向 14">
            <a:extLst>
              <a:ext uri="{FF2B5EF4-FFF2-40B4-BE49-F238E27FC236}">
                <a16:creationId xmlns:a16="http://schemas.microsoft.com/office/drawing/2014/main" id="{A381F21F-68CF-E4EA-24FC-AE5193997729}"/>
              </a:ext>
            </a:extLst>
          </p:cNvPr>
          <p:cNvSpPr/>
          <p:nvPr/>
        </p:nvSpPr>
        <p:spPr bwMode="gray">
          <a:xfrm>
            <a:off x="7828221" y="1913118"/>
            <a:ext cx="1152000" cy="576000"/>
          </a:xfrm>
          <a:prstGeom prst="homePlate">
            <a:avLst>
              <a:gd name="adj" fmla="val 2580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開示</a:t>
            </a:r>
          </a:p>
        </p:txBody>
      </p:sp>
      <p:sp>
        <p:nvSpPr>
          <p:cNvPr id="16" name="正方形/長方形 15">
            <a:extLst>
              <a:ext uri="{FF2B5EF4-FFF2-40B4-BE49-F238E27FC236}">
                <a16:creationId xmlns:a16="http://schemas.microsoft.com/office/drawing/2014/main" id="{667BE27A-C3F5-8C1B-7884-539CD69C8730}"/>
              </a:ext>
            </a:extLst>
          </p:cNvPr>
          <p:cNvSpPr/>
          <p:nvPr/>
        </p:nvSpPr>
        <p:spPr bwMode="gray">
          <a:xfrm>
            <a:off x="47164" y="2714492"/>
            <a:ext cx="273896" cy="1152000"/>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SSBJ</a:t>
            </a:r>
            <a:endParaRPr kumimoji="1" lang="ja-JP" altLang="en-US"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3F898ACB-6635-71B0-A7C3-624BB8DC2BA2}"/>
              </a:ext>
            </a:extLst>
          </p:cNvPr>
          <p:cNvSpPr/>
          <p:nvPr/>
        </p:nvSpPr>
        <p:spPr bwMode="gray">
          <a:xfrm>
            <a:off x="47164" y="3985292"/>
            <a:ext cx="273896" cy="1152000"/>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温対法</a:t>
            </a:r>
          </a:p>
        </p:txBody>
      </p:sp>
      <p:sp>
        <p:nvSpPr>
          <p:cNvPr id="18" name="正方形/長方形 17">
            <a:extLst>
              <a:ext uri="{FF2B5EF4-FFF2-40B4-BE49-F238E27FC236}">
                <a16:creationId xmlns:a16="http://schemas.microsoft.com/office/drawing/2014/main" id="{D910611D-A511-401F-2FD2-EF77F56063F9}"/>
              </a:ext>
            </a:extLst>
          </p:cNvPr>
          <p:cNvSpPr/>
          <p:nvPr/>
        </p:nvSpPr>
        <p:spPr bwMode="gray">
          <a:xfrm>
            <a:off x="47164" y="5254142"/>
            <a:ext cx="273896" cy="1152000"/>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GXL</a:t>
            </a:r>
            <a:endParaRPr kumimoji="1" lang="ja-JP" altLang="en-US"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83146E60-C53D-5DB2-9BC2-302A0829B9E6}"/>
              </a:ext>
            </a:extLst>
          </p:cNvPr>
          <p:cNvSpPr/>
          <p:nvPr/>
        </p:nvSpPr>
        <p:spPr bwMode="gray">
          <a:xfrm>
            <a:off x="423325" y="5254142"/>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18648EFD-7B3D-58A1-6179-11AA32937389}"/>
              </a:ext>
            </a:extLst>
          </p:cNvPr>
          <p:cNvSpPr/>
          <p:nvPr/>
        </p:nvSpPr>
        <p:spPr bwMode="gray">
          <a:xfrm>
            <a:off x="1657474" y="3985292"/>
            <a:ext cx="1152000" cy="242085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5067BE99-439E-83DA-46D6-E00D7B8CED82}"/>
              </a:ext>
            </a:extLst>
          </p:cNvPr>
          <p:cNvSpPr/>
          <p:nvPr/>
        </p:nvSpPr>
        <p:spPr bwMode="gray">
          <a:xfrm>
            <a:off x="2891623" y="3985292"/>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434898FB-FEA6-5CD8-B464-44BB61257202}"/>
              </a:ext>
            </a:extLst>
          </p:cNvPr>
          <p:cNvSpPr/>
          <p:nvPr/>
        </p:nvSpPr>
        <p:spPr bwMode="gray">
          <a:xfrm>
            <a:off x="2891623" y="5254142"/>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3D211E37-85AD-05AF-E6A7-925F3E094B00}"/>
              </a:ext>
            </a:extLst>
          </p:cNvPr>
          <p:cNvSpPr/>
          <p:nvPr/>
        </p:nvSpPr>
        <p:spPr bwMode="gray">
          <a:xfrm>
            <a:off x="5359921" y="2714492"/>
            <a:ext cx="1152000" cy="24228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64EF800A-C3F6-6B93-8F9E-16D5CB1D104C}"/>
              </a:ext>
            </a:extLst>
          </p:cNvPr>
          <p:cNvSpPr/>
          <p:nvPr/>
        </p:nvSpPr>
        <p:spPr bwMode="gray">
          <a:xfrm>
            <a:off x="6594070" y="2714492"/>
            <a:ext cx="1152000" cy="24228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FB6E7374-9170-6C86-A08F-7190C5AA60C7}"/>
              </a:ext>
            </a:extLst>
          </p:cNvPr>
          <p:cNvSpPr/>
          <p:nvPr/>
        </p:nvSpPr>
        <p:spPr bwMode="gray">
          <a:xfrm>
            <a:off x="7828221" y="2714492"/>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FB7E80FD-CD91-8A5E-9EFB-DEAC2109486A}"/>
              </a:ext>
            </a:extLst>
          </p:cNvPr>
          <p:cNvSpPr/>
          <p:nvPr/>
        </p:nvSpPr>
        <p:spPr bwMode="gray">
          <a:xfrm>
            <a:off x="7828221" y="3985292"/>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912B0CCA-C9E9-70FF-6489-D17B680B1DB6}"/>
              </a:ext>
            </a:extLst>
          </p:cNvPr>
          <p:cNvSpPr/>
          <p:nvPr/>
        </p:nvSpPr>
        <p:spPr bwMode="gray">
          <a:xfrm>
            <a:off x="4125771" y="5254142"/>
            <a:ext cx="4854449"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3AB4B3DD-9B9A-4A7A-CB48-715E1B1DC684}"/>
              </a:ext>
            </a:extLst>
          </p:cNvPr>
          <p:cNvSpPr/>
          <p:nvPr/>
        </p:nvSpPr>
        <p:spPr bwMode="gray">
          <a:xfrm>
            <a:off x="542686" y="5577625"/>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29" name="フローチャート: 磁気ディスク 28">
            <a:extLst>
              <a:ext uri="{FF2B5EF4-FFF2-40B4-BE49-F238E27FC236}">
                <a16:creationId xmlns:a16="http://schemas.microsoft.com/office/drawing/2014/main" id="{AE7B5C73-3F28-2411-DE34-6AA85EA1BC26}"/>
              </a:ext>
            </a:extLst>
          </p:cNvPr>
          <p:cNvSpPr/>
          <p:nvPr/>
        </p:nvSpPr>
        <p:spPr bwMode="gray">
          <a:xfrm>
            <a:off x="523075" y="5867918"/>
            <a:ext cx="914400" cy="400504"/>
          </a:xfrm>
          <a:prstGeom prst="flowChartMagneticDisk">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CDF</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731C4C1E-2921-15A6-C63F-34A4B65D5686}"/>
              </a:ext>
            </a:extLst>
          </p:cNvPr>
          <p:cNvSpPr/>
          <p:nvPr/>
        </p:nvSpPr>
        <p:spPr bwMode="gray">
          <a:xfrm>
            <a:off x="782686" y="5577625"/>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31" name="正方形/長方形 30">
            <a:extLst>
              <a:ext uri="{FF2B5EF4-FFF2-40B4-BE49-F238E27FC236}">
                <a16:creationId xmlns:a16="http://schemas.microsoft.com/office/drawing/2014/main" id="{A2B01619-A350-52CB-E4DC-CF57945549C0}"/>
              </a:ext>
            </a:extLst>
          </p:cNvPr>
          <p:cNvSpPr/>
          <p:nvPr/>
        </p:nvSpPr>
        <p:spPr bwMode="gray">
          <a:xfrm>
            <a:off x="1022686" y="5577625"/>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32" name="正方形/長方形 31">
            <a:extLst>
              <a:ext uri="{FF2B5EF4-FFF2-40B4-BE49-F238E27FC236}">
                <a16:creationId xmlns:a16="http://schemas.microsoft.com/office/drawing/2014/main" id="{55896F53-0B3E-9262-A098-DD084B927892}"/>
              </a:ext>
            </a:extLst>
          </p:cNvPr>
          <p:cNvSpPr/>
          <p:nvPr/>
        </p:nvSpPr>
        <p:spPr bwMode="gray">
          <a:xfrm>
            <a:off x="1262685" y="5577625"/>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33" name="正方形/長方形 32">
            <a:extLst>
              <a:ext uri="{FF2B5EF4-FFF2-40B4-BE49-F238E27FC236}">
                <a16:creationId xmlns:a16="http://schemas.microsoft.com/office/drawing/2014/main" id="{8C70AFDE-4CD5-CD83-7052-0C9CAAA1535B}"/>
              </a:ext>
            </a:extLst>
          </p:cNvPr>
          <p:cNvSpPr/>
          <p:nvPr/>
        </p:nvSpPr>
        <p:spPr bwMode="gray">
          <a:xfrm>
            <a:off x="1757394" y="4474103"/>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34" name="正方形/長方形 33">
            <a:extLst>
              <a:ext uri="{FF2B5EF4-FFF2-40B4-BE49-F238E27FC236}">
                <a16:creationId xmlns:a16="http://schemas.microsoft.com/office/drawing/2014/main" id="{966DA7CC-F461-D556-72E5-C184CD8063E5}"/>
              </a:ext>
            </a:extLst>
          </p:cNvPr>
          <p:cNvSpPr/>
          <p:nvPr/>
        </p:nvSpPr>
        <p:spPr bwMode="gray">
          <a:xfrm>
            <a:off x="1757394" y="4711712"/>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35" name="正方形/長方形 34">
            <a:extLst>
              <a:ext uri="{FF2B5EF4-FFF2-40B4-BE49-F238E27FC236}">
                <a16:creationId xmlns:a16="http://schemas.microsoft.com/office/drawing/2014/main" id="{E647061F-242C-9FDD-0FD2-859A6CFCB34D}"/>
              </a:ext>
            </a:extLst>
          </p:cNvPr>
          <p:cNvSpPr/>
          <p:nvPr/>
        </p:nvSpPr>
        <p:spPr bwMode="gray">
          <a:xfrm>
            <a:off x="1757394" y="4949321"/>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36" name="正方形/長方形 35">
            <a:extLst>
              <a:ext uri="{FF2B5EF4-FFF2-40B4-BE49-F238E27FC236}">
                <a16:creationId xmlns:a16="http://schemas.microsoft.com/office/drawing/2014/main" id="{E0B2D9BD-413D-C27C-84EE-7D2D593B4FF2}"/>
              </a:ext>
            </a:extLst>
          </p:cNvPr>
          <p:cNvSpPr/>
          <p:nvPr/>
        </p:nvSpPr>
        <p:spPr bwMode="gray">
          <a:xfrm>
            <a:off x="1757394" y="5186930"/>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37" name="正方形/長方形 36">
            <a:extLst>
              <a:ext uri="{FF2B5EF4-FFF2-40B4-BE49-F238E27FC236}">
                <a16:creationId xmlns:a16="http://schemas.microsoft.com/office/drawing/2014/main" id="{13785DA0-1120-0C50-468A-265071FE6B0A}"/>
              </a:ext>
            </a:extLst>
          </p:cNvPr>
          <p:cNvSpPr/>
          <p:nvPr/>
        </p:nvSpPr>
        <p:spPr bwMode="gray">
          <a:xfrm>
            <a:off x="1829394" y="3899155"/>
            <a:ext cx="823016" cy="171975"/>
          </a:xfrm>
          <a:prstGeom prst="rect">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00" b="1">
                <a:solidFill>
                  <a:schemeClr val="bg1"/>
                </a:solidFill>
                <a:latin typeface="Meiryo UI" panose="020B0604030504040204" pitchFamily="50" charset="-128"/>
                <a:ea typeface="Meiryo UI" panose="020B0604030504040204" pitchFamily="50" charset="-128"/>
              </a:rPr>
              <a:t>ETL</a:t>
            </a:r>
            <a:r>
              <a:rPr kumimoji="1" lang="ja-JP" altLang="en-US" sz="1000" b="1">
                <a:solidFill>
                  <a:schemeClr val="bg1"/>
                </a:solidFill>
                <a:latin typeface="Meiryo UI" panose="020B0604030504040204" pitchFamily="50" charset="-128"/>
                <a:ea typeface="Meiryo UI" panose="020B0604030504040204" pitchFamily="50" charset="-128"/>
              </a:rPr>
              <a:t>ツール</a:t>
            </a:r>
          </a:p>
        </p:txBody>
      </p:sp>
      <p:sp>
        <p:nvSpPr>
          <p:cNvPr id="38" name="正方形/長方形 37">
            <a:extLst>
              <a:ext uri="{FF2B5EF4-FFF2-40B4-BE49-F238E27FC236}">
                <a16:creationId xmlns:a16="http://schemas.microsoft.com/office/drawing/2014/main" id="{CE3E9782-1638-D1D5-9EF2-FCEF203DD33A}"/>
              </a:ext>
            </a:extLst>
          </p:cNvPr>
          <p:cNvSpPr/>
          <p:nvPr/>
        </p:nvSpPr>
        <p:spPr bwMode="gray">
          <a:xfrm>
            <a:off x="1757394" y="5424539"/>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39" name="正方形/長方形 38">
            <a:extLst>
              <a:ext uri="{FF2B5EF4-FFF2-40B4-BE49-F238E27FC236}">
                <a16:creationId xmlns:a16="http://schemas.microsoft.com/office/drawing/2014/main" id="{07377FF3-E8A1-D654-D75A-1297B79F60A5}"/>
              </a:ext>
            </a:extLst>
          </p:cNvPr>
          <p:cNvSpPr/>
          <p:nvPr/>
        </p:nvSpPr>
        <p:spPr bwMode="gray">
          <a:xfrm>
            <a:off x="2150402" y="4340406"/>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schemeClr val="bg1">
                    <a:lumMod val="85000"/>
                  </a:schemeClr>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A6FCBC8B-F86D-C43C-8B2B-5351FA1FAF89}"/>
              </a:ext>
            </a:extLst>
          </p:cNvPr>
          <p:cNvSpPr/>
          <p:nvPr/>
        </p:nvSpPr>
        <p:spPr bwMode="gray">
          <a:xfrm>
            <a:off x="2150402" y="4842759"/>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schemeClr val="bg1">
                    <a:lumMod val="85000"/>
                  </a:schemeClr>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9AAB93B5-0305-1605-E764-3374C119889C}"/>
              </a:ext>
            </a:extLst>
          </p:cNvPr>
          <p:cNvSpPr/>
          <p:nvPr/>
        </p:nvSpPr>
        <p:spPr bwMode="gray">
          <a:xfrm>
            <a:off x="1757394" y="5662148"/>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42" name="正方形/長方形 41">
            <a:extLst>
              <a:ext uri="{FF2B5EF4-FFF2-40B4-BE49-F238E27FC236}">
                <a16:creationId xmlns:a16="http://schemas.microsoft.com/office/drawing/2014/main" id="{2E134009-72A2-C58C-4531-D7B6A9981FEC}"/>
              </a:ext>
            </a:extLst>
          </p:cNvPr>
          <p:cNvSpPr/>
          <p:nvPr/>
        </p:nvSpPr>
        <p:spPr bwMode="gray">
          <a:xfrm>
            <a:off x="1757394" y="5899757"/>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43" name="正方形/長方形 42">
            <a:extLst>
              <a:ext uri="{FF2B5EF4-FFF2-40B4-BE49-F238E27FC236}">
                <a16:creationId xmlns:a16="http://schemas.microsoft.com/office/drawing/2014/main" id="{82053B3A-9787-0A7A-03A2-24F9BF7A7CB5}"/>
              </a:ext>
            </a:extLst>
          </p:cNvPr>
          <p:cNvSpPr/>
          <p:nvPr/>
        </p:nvSpPr>
        <p:spPr bwMode="gray">
          <a:xfrm>
            <a:off x="1757394" y="6137367"/>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44" name="正方形/長方形 43">
            <a:extLst>
              <a:ext uri="{FF2B5EF4-FFF2-40B4-BE49-F238E27FC236}">
                <a16:creationId xmlns:a16="http://schemas.microsoft.com/office/drawing/2014/main" id="{21628045-FABD-CE85-E714-4E033B1A900F}"/>
              </a:ext>
            </a:extLst>
          </p:cNvPr>
          <p:cNvSpPr/>
          <p:nvPr/>
        </p:nvSpPr>
        <p:spPr bwMode="gray">
          <a:xfrm>
            <a:off x="2150402" y="5344151"/>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schemeClr val="bg1">
                    <a:lumMod val="85000"/>
                  </a:schemeClr>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6443EB34-AA7A-830B-E450-5B210BC0E498}"/>
              </a:ext>
            </a:extLst>
          </p:cNvPr>
          <p:cNvSpPr/>
          <p:nvPr/>
        </p:nvSpPr>
        <p:spPr bwMode="gray">
          <a:xfrm>
            <a:off x="2487543" y="4589681"/>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a:t>
            </a:r>
          </a:p>
        </p:txBody>
      </p:sp>
      <p:sp>
        <p:nvSpPr>
          <p:cNvPr id="46" name="正方形/長方形 45">
            <a:extLst>
              <a:ext uri="{FF2B5EF4-FFF2-40B4-BE49-F238E27FC236}">
                <a16:creationId xmlns:a16="http://schemas.microsoft.com/office/drawing/2014/main" id="{2515F31F-AFF2-DE52-C117-6FB270EBDCE0}"/>
              </a:ext>
            </a:extLst>
          </p:cNvPr>
          <p:cNvSpPr/>
          <p:nvPr/>
        </p:nvSpPr>
        <p:spPr bwMode="gray">
          <a:xfrm>
            <a:off x="2487543" y="5746848"/>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a:t>
            </a:r>
          </a:p>
        </p:txBody>
      </p:sp>
      <p:sp>
        <p:nvSpPr>
          <p:cNvPr id="47" name="正方形/長方形 46">
            <a:extLst>
              <a:ext uri="{FF2B5EF4-FFF2-40B4-BE49-F238E27FC236}">
                <a16:creationId xmlns:a16="http://schemas.microsoft.com/office/drawing/2014/main" id="{042291AE-CDBF-3056-F8E1-6B3B10BB344F}"/>
              </a:ext>
            </a:extLst>
          </p:cNvPr>
          <p:cNvSpPr/>
          <p:nvPr/>
        </p:nvSpPr>
        <p:spPr bwMode="gray">
          <a:xfrm>
            <a:off x="2150402" y="6137367"/>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schemeClr val="bg1">
                    <a:lumMod val="85000"/>
                  </a:schemeClr>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0E3B70A6-2E2C-D0A3-F63B-0F988BC65B50}"/>
              </a:ext>
            </a:extLst>
          </p:cNvPr>
          <p:cNvSpPr/>
          <p:nvPr/>
        </p:nvSpPr>
        <p:spPr bwMode="gray">
          <a:xfrm>
            <a:off x="1757394" y="4236494"/>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タ</a:t>
            </a:r>
          </a:p>
        </p:txBody>
      </p:sp>
      <p:sp>
        <p:nvSpPr>
          <p:cNvPr id="49" name="正方形/長方形 48">
            <a:extLst>
              <a:ext uri="{FF2B5EF4-FFF2-40B4-BE49-F238E27FC236}">
                <a16:creationId xmlns:a16="http://schemas.microsoft.com/office/drawing/2014/main" id="{19911B87-6D18-01BD-B897-15D06B5DC391}"/>
              </a:ext>
            </a:extLst>
          </p:cNvPr>
          <p:cNvSpPr/>
          <p:nvPr/>
        </p:nvSpPr>
        <p:spPr bwMode="gray">
          <a:xfrm>
            <a:off x="2150402" y="5752512"/>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schemeClr val="bg1">
                    <a:lumMod val="85000"/>
                  </a:schemeClr>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cxnSp>
        <p:nvCxnSpPr>
          <p:cNvPr id="50" name="コネクタ: カギ線 49">
            <a:extLst>
              <a:ext uri="{FF2B5EF4-FFF2-40B4-BE49-F238E27FC236}">
                <a16:creationId xmlns:a16="http://schemas.microsoft.com/office/drawing/2014/main" id="{17C83B0C-45A7-E6D7-6E77-22DE03A5B0EC}"/>
              </a:ext>
            </a:extLst>
          </p:cNvPr>
          <p:cNvCxnSpPr>
            <a:endCxn id="39" idx="1"/>
          </p:cNvCxnSpPr>
          <p:nvPr/>
        </p:nvCxnSpPr>
        <p:spPr bwMode="gray">
          <a:xfrm>
            <a:off x="1901394" y="4308494"/>
            <a:ext cx="249008" cy="103912"/>
          </a:xfrm>
          <a:prstGeom prst="bentConnector3">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コネクタ: カギ線 50">
            <a:extLst>
              <a:ext uri="{FF2B5EF4-FFF2-40B4-BE49-F238E27FC236}">
                <a16:creationId xmlns:a16="http://schemas.microsoft.com/office/drawing/2014/main" id="{2500984F-34DA-C0FA-645B-19A893C99134}"/>
              </a:ext>
            </a:extLst>
          </p:cNvPr>
          <p:cNvCxnSpPr>
            <a:cxnSpLocks/>
            <a:stCxn id="33" idx="3"/>
            <a:endCxn id="39" idx="1"/>
          </p:cNvCxnSpPr>
          <p:nvPr/>
        </p:nvCxnSpPr>
        <p:spPr bwMode="gray">
          <a:xfrm flipV="1">
            <a:off x="1901394" y="4412406"/>
            <a:ext cx="249008" cy="133697"/>
          </a:xfrm>
          <a:prstGeom prst="bentConnector3">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コネクタ: カギ線 51">
            <a:extLst>
              <a:ext uri="{FF2B5EF4-FFF2-40B4-BE49-F238E27FC236}">
                <a16:creationId xmlns:a16="http://schemas.microsoft.com/office/drawing/2014/main" id="{97B41520-EDBA-7F9C-0D4A-663343C22EC0}"/>
              </a:ext>
            </a:extLst>
          </p:cNvPr>
          <p:cNvCxnSpPr>
            <a:cxnSpLocks/>
            <a:stCxn id="34" idx="3"/>
            <a:endCxn id="40" idx="1"/>
          </p:cNvCxnSpPr>
          <p:nvPr/>
        </p:nvCxnSpPr>
        <p:spPr bwMode="gray">
          <a:xfrm>
            <a:off x="1901394" y="4783712"/>
            <a:ext cx="249008" cy="131047"/>
          </a:xfrm>
          <a:prstGeom prst="bentConnector3">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051FF8E0-65A3-FEE9-52E0-A1CEBDB64AA2}"/>
              </a:ext>
            </a:extLst>
          </p:cNvPr>
          <p:cNvCxnSpPr>
            <a:cxnSpLocks/>
            <a:stCxn id="35" idx="3"/>
            <a:endCxn id="40" idx="1"/>
          </p:cNvCxnSpPr>
          <p:nvPr/>
        </p:nvCxnSpPr>
        <p:spPr bwMode="gray">
          <a:xfrm flipV="1">
            <a:off x="1901394" y="4914759"/>
            <a:ext cx="249008" cy="106562"/>
          </a:xfrm>
          <a:prstGeom prst="bentConnector3">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16BDBA8-A6B6-FA30-2892-2CF45A6773F5}"/>
              </a:ext>
            </a:extLst>
          </p:cNvPr>
          <p:cNvCxnSpPr>
            <a:cxnSpLocks/>
            <a:stCxn id="36" idx="3"/>
            <a:endCxn id="44" idx="1"/>
          </p:cNvCxnSpPr>
          <p:nvPr/>
        </p:nvCxnSpPr>
        <p:spPr bwMode="gray">
          <a:xfrm>
            <a:off x="1901394" y="5258930"/>
            <a:ext cx="249008" cy="157221"/>
          </a:xfrm>
          <a:prstGeom prst="bentConnector3">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52265691-2230-849A-5C26-A6E334E12B92}"/>
              </a:ext>
            </a:extLst>
          </p:cNvPr>
          <p:cNvCxnSpPr>
            <a:cxnSpLocks/>
            <a:stCxn id="38" idx="3"/>
            <a:endCxn id="44" idx="1"/>
          </p:cNvCxnSpPr>
          <p:nvPr/>
        </p:nvCxnSpPr>
        <p:spPr bwMode="gray">
          <a:xfrm flipV="1">
            <a:off x="1901394" y="5416151"/>
            <a:ext cx="249008" cy="80388"/>
          </a:xfrm>
          <a:prstGeom prst="bentConnector3">
            <a:avLst>
              <a:gd name="adj1" fmla="val 50000"/>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B62E54E6-0A53-A3B1-8271-A1AA9E522AD7}"/>
              </a:ext>
            </a:extLst>
          </p:cNvPr>
          <p:cNvCxnSpPr>
            <a:cxnSpLocks/>
            <a:stCxn id="41" idx="3"/>
            <a:endCxn id="49" idx="1"/>
          </p:cNvCxnSpPr>
          <p:nvPr/>
        </p:nvCxnSpPr>
        <p:spPr bwMode="gray">
          <a:xfrm>
            <a:off x="1901394" y="5734148"/>
            <a:ext cx="249008" cy="90364"/>
          </a:xfrm>
          <a:prstGeom prst="bentConnector3">
            <a:avLst>
              <a:gd name="adj1" fmla="val 50000"/>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95791DB6-A5DE-58AF-2C2D-7C99F1DD9E75}"/>
              </a:ext>
            </a:extLst>
          </p:cNvPr>
          <p:cNvCxnSpPr>
            <a:cxnSpLocks/>
            <a:endCxn id="49" idx="1"/>
          </p:cNvCxnSpPr>
          <p:nvPr/>
        </p:nvCxnSpPr>
        <p:spPr bwMode="gray">
          <a:xfrm flipV="1">
            <a:off x="1901394" y="5824512"/>
            <a:ext cx="249008" cy="130689"/>
          </a:xfrm>
          <a:prstGeom prst="bentConnector3">
            <a:avLst>
              <a:gd name="adj1" fmla="val 50000"/>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07DABD5A-223C-BBE8-DD07-DFBAD9AFDBD0}"/>
              </a:ext>
            </a:extLst>
          </p:cNvPr>
          <p:cNvCxnSpPr>
            <a:cxnSpLocks/>
            <a:stCxn id="43" idx="3"/>
            <a:endCxn id="47" idx="1"/>
          </p:cNvCxnSpPr>
          <p:nvPr/>
        </p:nvCxnSpPr>
        <p:spPr bwMode="gray">
          <a:xfrm>
            <a:off x="1901394" y="6209367"/>
            <a:ext cx="249008" cy="0"/>
          </a:xfrm>
          <a:prstGeom prst="bentConnector3">
            <a:avLst>
              <a:gd name="adj1" fmla="val 50000"/>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コネクタ: カギ線 58">
            <a:extLst>
              <a:ext uri="{FF2B5EF4-FFF2-40B4-BE49-F238E27FC236}">
                <a16:creationId xmlns:a16="http://schemas.microsoft.com/office/drawing/2014/main" id="{EAF75F30-D52F-C5C7-8DC9-8015DD1D6CEE}"/>
              </a:ext>
            </a:extLst>
          </p:cNvPr>
          <p:cNvCxnSpPr>
            <a:cxnSpLocks/>
            <a:stCxn id="39" idx="3"/>
            <a:endCxn id="45" idx="1"/>
          </p:cNvCxnSpPr>
          <p:nvPr/>
        </p:nvCxnSpPr>
        <p:spPr bwMode="gray">
          <a:xfrm>
            <a:off x="2294402" y="4412406"/>
            <a:ext cx="193141" cy="249275"/>
          </a:xfrm>
          <a:prstGeom prst="bentConnector3">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コネクタ: カギ線 59">
            <a:extLst>
              <a:ext uri="{FF2B5EF4-FFF2-40B4-BE49-F238E27FC236}">
                <a16:creationId xmlns:a16="http://schemas.microsoft.com/office/drawing/2014/main" id="{C480F550-7D0B-D2FF-2F90-FEB5A23833B0}"/>
              </a:ext>
            </a:extLst>
          </p:cNvPr>
          <p:cNvCxnSpPr>
            <a:cxnSpLocks/>
            <a:stCxn id="40" idx="3"/>
            <a:endCxn id="45" idx="1"/>
          </p:cNvCxnSpPr>
          <p:nvPr/>
        </p:nvCxnSpPr>
        <p:spPr bwMode="gray">
          <a:xfrm flipV="1">
            <a:off x="2294402" y="4661681"/>
            <a:ext cx="193141" cy="253078"/>
          </a:xfrm>
          <a:prstGeom prst="bentConnector3">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コネクタ: カギ線 60">
            <a:extLst>
              <a:ext uri="{FF2B5EF4-FFF2-40B4-BE49-F238E27FC236}">
                <a16:creationId xmlns:a16="http://schemas.microsoft.com/office/drawing/2014/main" id="{A001FB88-F961-7C2D-030F-F6D1B097089E}"/>
              </a:ext>
            </a:extLst>
          </p:cNvPr>
          <p:cNvCxnSpPr>
            <a:cxnSpLocks/>
            <a:stCxn id="44" idx="3"/>
            <a:endCxn id="46" idx="1"/>
          </p:cNvCxnSpPr>
          <p:nvPr/>
        </p:nvCxnSpPr>
        <p:spPr bwMode="gray">
          <a:xfrm>
            <a:off x="2294402" y="5416151"/>
            <a:ext cx="193141" cy="402697"/>
          </a:xfrm>
          <a:prstGeom prst="bentConnector3">
            <a:avLst>
              <a:gd name="adj1" fmla="val 50000"/>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8C3417F0-AC75-8BCB-BD4E-172CD7ABFAA3}"/>
              </a:ext>
            </a:extLst>
          </p:cNvPr>
          <p:cNvCxnSpPr>
            <a:cxnSpLocks/>
            <a:stCxn id="49" idx="3"/>
            <a:endCxn id="46" idx="1"/>
          </p:cNvCxnSpPr>
          <p:nvPr/>
        </p:nvCxnSpPr>
        <p:spPr bwMode="gray">
          <a:xfrm flipV="1">
            <a:off x="2294402" y="5818848"/>
            <a:ext cx="193141" cy="5664"/>
          </a:xfrm>
          <a:prstGeom prst="bentConnector3">
            <a:avLst>
              <a:gd name="adj1" fmla="val 50000"/>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3A4AF2D6-0B1C-7B51-2D72-6625BDF8B57A}"/>
              </a:ext>
            </a:extLst>
          </p:cNvPr>
          <p:cNvCxnSpPr>
            <a:cxnSpLocks/>
            <a:stCxn id="47" idx="3"/>
            <a:endCxn id="46" idx="1"/>
          </p:cNvCxnSpPr>
          <p:nvPr/>
        </p:nvCxnSpPr>
        <p:spPr bwMode="gray">
          <a:xfrm flipV="1">
            <a:off x="2294402" y="5818848"/>
            <a:ext cx="193141" cy="390519"/>
          </a:xfrm>
          <a:prstGeom prst="bentConnector3">
            <a:avLst>
              <a:gd name="adj1" fmla="val 50000"/>
            </a:avLst>
          </a:prstGeom>
          <a:ln w="95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4" name="正方形/長方形 63">
            <a:extLst>
              <a:ext uri="{FF2B5EF4-FFF2-40B4-BE49-F238E27FC236}">
                <a16:creationId xmlns:a16="http://schemas.microsoft.com/office/drawing/2014/main" id="{DF35C220-546F-21E6-CBED-15DD6D3E4EBA}"/>
              </a:ext>
            </a:extLst>
          </p:cNvPr>
          <p:cNvSpPr/>
          <p:nvPr/>
        </p:nvSpPr>
        <p:spPr bwMode="gray">
          <a:xfrm>
            <a:off x="3408139" y="4302917"/>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a:t>
            </a:r>
          </a:p>
        </p:txBody>
      </p:sp>
      <p:sp>
        <p:nvSpPr>
          <p:cNvPr id="65" name="正方形/長方形 64">
            <a:extLst>
              <a:ext uri="{FF2B5EF4-FFF2-40B4-BE49-F238E27FC236}">
                <a16:creationId xmlns:a16="http://schemas.microsoft.com/office/drawing/2014/main" id="{3F33AF9A-7997-4B23-E9A5-093A10290541}"/>
              </a:ext>
            </a:extLst>
          </p:cNvPr>
          <p:cNvSpPr/>
          <p:nvPr/>
        </p:nvSpPr>
        <p:spPr bwMode="gray">
          <a:xfrm>
            <a:off x="3408139" y="4561037"/>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a:t>
            </a:r>
          </a:p>
        </p:txBody>
      </p:sp>
      <p:sp>
        <p:nvSpPr>
          <p:cNvPr id="66" name="正方形/長方形 65">
            <a:extLst>
              <a:ext uri="{FF2B5EF4-FFF2-40B4-BE49-F238E27FC236}">
                <a16:creationId xmlns:a16="http://schemas.microsoft.com/office/drawing/2014/main" id="{4D32DC0C-9098-4C41-C847-0D195A04E46F}"/>
              </a:ext>
            </a:extLst>
          </p:cNvPr>
          <p:cNvSpPr/>
          <p:nvPr/>
        </p:nvSpPr>
        <p:spPr bwMode="gray">
          <a:xfrm>
            <a:off x="3408139" y="4805321"/>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a:t>
            </a:r>
          </a:p>
        </p:txBody>
      </p:sp>
      <p:sp>
        <p:nvSpPr>
          <p:cNvPr id="67" name="正方形/長方形 66">
            <a:extLst>
              <a:ext uri="{FF2B5EF4-FFF2-40B4-BE49-F238E27FC236}">
                <a16:creationId xmlns:a16="http://schemas.microsoft.com/office/drawing/2014/main" id="{9688E87A-7730-50D8-27BC-07C70C2FEEC8}"/>
              </a:ext>
            </a:extLst>
          </p:cNvPr>
          <p:cNvSpPr/>
          <p:nvPr/>
        </p:nvSpPr>
        <p:spPr bwMode="gray">
          <a:xfrm>
            <a:off x="3414110" y="5424482"/>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schemeClr val="bg1">
                    <a:lumMod val="85000"/>
                  </a:schemeClr>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B39CC65E-B424-1F18-BB1E-C398D970CD44}"/>
              </a:ext>
            </a:extLst>
          </p:cNvPr>
          <p:cNvSpPr/>
          <p:nvPr/>
        </p:nvSpPr>
        <p:spPr bwMode="gray">
          <a:xfrm>
            <a:off x="3414110" y="5736248"/>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schemeClr val="bg1">
                    <a:lumMod val="85000"/>
                  </a:schemeClr>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B68D52B4-780A-1EAC-C8F8-722D83CD0C57}"/>
              </a:ext>
            </a:extLst>
          </p:cNvPr>
          <p:cNvSpPr/>
          <p:nvPr/>
        </p:nvSpPr>
        <p:spPr bwMode="gray">
          <a:xfrm>
            <a:off x="3414110" y="6065367"/>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schemeClr val="bg1">
                    <a:lumMod val="85000"/>
                  </a:schemeClr>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F452EC33-A612-72E9-2029-012400C62838}"/>
              </a:ext>
            </a:extLst>
          </p:cNvPr>
          <p:cNvSpPr/>
          <p:nvPr/>
        </p:nvSpPr>
        <p:spPr bwMode="gray">
          <a:xfrm>
            <a:off x="3124539" y="3866492"/>
            <a:ext cx="713336" cy="180000"/>
          </a:xfrm>
          <a:prstGeom prst="rect">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00" b="1">
                <a:solidFill>
                  <a:schemeClr val="bg1"/>
                </a:solidFill>
                <a:latin typeface="Meiryo UI" panose="020B0604030504040204" pitchFamily="50" charset="-128"/>
                <a:ea typeface="Meiryo UI" panose="020B0604030504040204" pitchFamily="50" charset="-128"/>
              </a:rPr>
              <a:t>FTP</a:t>
            </a:r>
            <a:r>
              <a:rPr kumimoji="1" lang="ja-JP" altLang="en-US" sz="1000" b="1">
                <a:solidFill>
                  <a:schemeClr val="bg1"/>
                </a:solidFill>
                <a:latin typeface="Meiryo UI" panose="020B0604030504040204" pitchFamily="50" charset="-128"/>
                <a:ea typeface="Meiryo UI" panose="020B0604030504040204" pitchFamily="50" charset="-128"/>
              </a:rPr>
              <a:t>サーバ等</a:t>
            </a:r>
          </a:p>
        </p:txBody>
      </p:sp>
      <p:sp>
        <p:nvSpPr>
          <p:cNvPr id="71" name="正方形/長方形 70">
            <a:extLst>
              <a:ext uri="{FF2B5EF4-FFF2-40B4-BE49-F238E27FC236}">
                <a16:creationId xmlns:a16="http://schemas.microsoft.com/office/drawing/2014/main" id="{4D7C770C-1221-E6E3-63E0-6E278B9DE5DB}"/>
              </a:ext>
            </a:extLst>
          </p:cNvPr>
          <p:cNvSpPr/>
          <p:nvPr/>
        </p:nvSpPr>
        <p:spPr bwMode="gray">
          <a:xfrm>
            <a:off x="3124539" y="5186930"/>
            <a:ext cx="713336" cy="180000"/>
          </a:xfrm>
          <a:prstGeom prst="rect">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00" b="1">
                <a:solidFill>
                  <a:schemeClr val="bg1"/>
                </a:solidFill>
                <a:latin typeface="Meiryo UI" panose="020B0604030504040204" pitchFamily="50" charset="-128"/>
                <a:ea typeface="Meiryo UI" panose="020B0604030504040204" pitchFamily="50" charset="-128"/>
              </a:rPr>
              <a:t>FTP</a:t>
            </a:r>
            <a:r>
              <a:rPr kumimoji="1" lang="ja-JP" altLang="en-US" sz="1000" b="1">
                <a:solidFill>
                  <a:schemeClr val="bg1"/>
                </a:solidFill>
                <a:latin typeface="Meiryo UI" panose="020B0604030504040204" pitchFamily="50" charset="-128"/>
                <a:ea typeface="Meiryo UI" panose="020B0604030504040204" pitchFamily="50" charset="-128"/>
              </a:rPr>
              <a:t>サーバ等</a:t>
            </a:r>
          </a:p>
        </p:txBody>
      </p:sp>
      <p:pic>
        <p:nvPicPr>
          <p:cNvPr id="72" name="Picture 185">
            <a:extLst>
              <a:ext uri="{FF2B5EF4-FFF2-40B4-BE49-F238E27FC236}">
                <a16:creationId xmlns:a16="http://schemas.microsoft.com/office/drawing/2014/main" id="{011F55E3-2566-B347-3ADB-9C217D02809E}"/>
              </a:ext>
            </a:extLst>
          </p:cNvPr>
          <p:cNvPicPr>
            <a:picLocks noChangeAspect="1"/>
          </p:cNvPicPr>
          <p:nvPr/>
        </p:nvPicPr>
        <p:blipFill>
          <a:blip r:embed="rId2" cstate="screen">
            <a:alphaModFix amt="40000"/>
            <a:extLst>
              <a:ext uri="{28A0092B-C50C-407E-A947-70E740481C1C}">
                <a14:useLocalDpi xmlns:a14="http://schemas.microsoft.com/office/drawing/2010/main"/>
              </a:ext>
            </a:extLst>
          </a:blip>
          <a:stretch>
            <a:fillRect/>
          </a:stretch>
        </p:blipFill>
        <p:spPr>
          <a:xfrm>
            <a:off x="4958371" y="5581051"/>
            <a:ext cx="626381" cy="606157"/>
          </a:xfrm>
          <a:prstGeom prst="rect">
            <a:avLst/>
          </a:prstGeom>
        </p:spPr>
      </p:pic>
      <p:sp>
        <p:nvSpPr>
          <p:cNvPr id="73" name="正方形/長方形 72">
            <a:extLst>
              <a:ext uri="{FF2B5EF4-FFF2-40B4-BE49-F238E27FC236}">
                <a16:creationId xmlns:a16="http://schemas.microsoft.com/office/drawing/2014/main" id="{68BB3BEC-34D0-FCF3-EC6F-6DEABF250689}"/>
              </a:ext>
            </a:extLst>
          </p:cNvPr>
          <p:cNvSpPr/>
          <p:nvPr/>
        </p:nvSpPr>
        <p:spPr bwMode="gray">
          <a:xfrm>
            <a:off x="5935921" y="5182240"/>
            <a:ext cx="1006305" cy="180000"/>
          </a:xfrm>
          <a:prstGeom prst="rect">
            <a:avLst/>
          </a:prstGeom>
          <a:solidFill>
            <a:schemeClr val="accent3"/>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50">
                <a:solidFill>
                  <a:schemeClr val="bg1"/>
                </a:solidFill>
                <a:latin typeface="Meiryo UI" panose="020B0604030504040204" pitchFamily="50" charset="-128"/>
                <a:ea typeface="Meiryo UI" panose="020B0604030504040204" pitchFamily="50" charset="-128"/>
              </a:rPr>
              <a:t>GXL</a:t>
            </a:r>
            <a:r>
              <a:rPr kumimoji="1" lang="ja-JP" altLang="en-US" sz="1050">
                <a:solidFill>
                  <a:schemeClr val="bg1"/>
                </a:solidFill>
                <a:latin typeface="Meiryo UI" panose="020B0604030504040204" pitchFamily="50" charset="-128"/>
                <a:ea typeface="Meiryo UI" panose="020B0604030504040204" pitchFamily="50" charset="-128"/>
              </a:rPr>
              <a:t>用公式</a:t>
            </a:r>
            <a:r>
              <a:rPr kumimoji="1" lang="en-US" altLang="ja-JP" sz="1050">
                <a:solidFill>
                  <a:schemeClr val="bg1"/>
                </a:solidFill>
                <a:latin typeface="Meiryo UI" panose="020B0604030504040204" pitchFamily="50" charset="-128"/>
                <a:ea typeface="Meiryo UI" panose="020B0604030504040204" pitchFamily="50" charset="-128"/>
              </a:rPr>
              <a:t>Excel</a:t>
            </a:r>
            <a:endParaRPr kumimoji="1" lang="ja-JP" altLang="en-US" sz="105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0065B4EA-34A7-5EC8-DC26-784A91768367}"/>
              </a:ext>
            </a:extLst>
          </p:cNvPr>
          <p:cNvSpPr/>
          <p:nvPr/>
        </p:nvSpPr>
        <p:spPr bwMode="gray">
          <a:xfrm>
            <a:off x="4379458" y="3078237"/>
            <a:ext cx="144000" cy="144000"/>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75" name="正方形/長方形 74">
            <a:extLst>
              <a:ext uri="{FF2B5EF4-FFF2-40B4-BE49-F238E27FC236}">
                <a16:creationId xmlns:a16="http://schemas.microsoft.com/office/drawing/2014/main" id="{2D4C7C11-60DF-EE71-6764-91335591AC5C}"/>
              </a:ext>
            </a:extLst>
          </p:cNvPr>
          <p:cNvSpPr/>
          <p:nvPr/>
        </p:nvSpPr>
        <p:spPr bwMode="gray">
          <a:xfrm>
            <a:off x="4379458" y="3472587"/>
            <a:ext cx="144000" cy="144000"/>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76" name="四角形: 角を丸くする 75">
            <a:extLst>
              <a:ext uri="{FF2B5EF4-FFF2-40B4-BE49-F238E27FC236}">
                <a16:creationId xmlns:a16="http://schemas.microsoft.com/office/drawing/2014/main" id="{CCFB8050-FC32-2E96-4742-D3FB6EA0C89A}"/>
              </a:ext>
            </a:extLst>
          </p:cNvPr>
          <p:cNvSpPr/>
          <p:nvPr/>
        </p:nvSpPr>
        <p:spPr bwMode="gray">
          <a:xfrm>
            <a:off x="5503199" y="2975953"/>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温対法係数</a:t>
            </a:r>
          </a:p>
        </p:txBody>
      </p:sp>
      <p:sp>
        <p:nvSpPr>
          <p:cNvPr id="77" name="四角形: 角を丸くする 76">
            <a:extLst>
              <a:ext uri="{FF2B5EF4-FFF2-40B4-BE49-F238E27FC236}">
                <a16:creationId xmlns:a16="http://schemas.microsoft.com/office/drawing/2014/main" id="{DF1D7B79-E6ED-A42D-420D-D86F43893431}"/>
              </a:ext>
            </a:extLst>
          </p:cNvPr>
          <p:cNvSpPr/>
          <p:nvPr/>
        </p:nvSpPr>
        <p:spPr bwMode="gray">
          <a:xfrm>
            <a:off x="5503199" y="3180521"/>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SSBJ</a:t>
            </a: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係数</a:t>
            </a:r>
          </a:p>
        </p:txBody>
      </p:sp>
      <p:cxnSp>
        <p:nvCxnSpPr>
          <p:cNvPr id="78" name="コネクタ: カギ線 77">
            <a:extLst>
              <a:ext uri="{FF2B5EF4-FFF2-40B4-BE49-F238E27FC236}">
                <a16:creationId xmlns:a16="http://schemas.microsoft.com/office/drawing/2014/main" id="{0B6F74DE-8D16-DE73-4561-7AEF7913A4CF}"/>
              </a:ext>
            </a:extLst>
          </p:cNvPr>
          <p:cNvCxnSpPr>
            <a:cxnSpLocks/>
            <a:stCxn id="74" idx="3"/>
            <a:endCxn id="76" idx="1"/>
          </p:cNvCxnSpPr>
          <p:nvPr/>
        </p:nvCxnSpPr>
        <p:spPr bwMode="gray">
          <a:xfrm flipV="1">
            <a:off x="4523458" y="3047953"/>
            <a:ext cx="979741" cy="102284"/>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D54A96C1-7508-E092-5BDB-6E68C61EB69A}"/>
              </a:ext>
            </a:extLst>
          </p:cNvPr>
          <p:cNvCxnSpPr>
            <a:cxnSpLocks/>
            <a:stCxn id="74" idx="3"/>
          </p:cNvCxnSpPr>
          <p:nvPr/>
        </p:nvCxnSpPr>
        <p:spPr bwMode="gray">
          <a:xfrm>
            <a:off x="4523458" y="3150237"/>
            <a:ext cx="979741" cy="98460"/>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424AAC03-109A-0C9D-30FA-954200C0DF19}"/>
              </a:ext>
            </a:extLst>
          </p:cNvPr>
          <p:cNvSpPr/>
          <p:nvPr/>
        </p:nvSpPr>
        <p:spPr bwMode="gray">
          <a:xfrm>
            <a:off x="4190596" y="3933338"/>
            <a:ext cx="1044000" cy="1008000"/>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手入力分</a:t>
            </a:r>
          </a:p>
        </p:txBody>
      </p:sp>
      <p:sp>
        <p:nvSpPr>
          <p:cNvPr id="81" name="正方形/長方形 80">
            <a:extLst>
              <a:ext uri="{FF2B5EF4-FFF2-40B4-BE49-F238E27FC236}">
                <a16:creationId xmlns:a16="http://schemas.microsoft.com/office/drawing/2014/main" id="{87CC745E-178D-4FBC-64FE-D5E015AA1486}"/>
              </a:ext>
            </a:extLst>
          </p:cNvPr>
          <p:cNvSpPr/>
          <p:nvPr/>
        </p:nvSpPr>
        <p:spPr bwMode="gray">
          <a:xfrm>
            <a:off x="4379458" y="4481913"/>
            <a:ext cx="144000" cy="144000"/>
          </a:xfrm>
          <a:prstGeom prst="rect">
            <a:avLst/>
          </a:prstGeom>
          <a:solidFill>
            <a:srgbClr val="A0DC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環</a:t>
            </a:r>
          </a:p>
        </p:txBody>
      </p:sp>
      <p:sp>
        <p:nvSpPr>
          <p:cNvPr id="82" name="正方形/長方形 81">
            <a:extLst>
              <a:ext uri="{FF2B5EF4-FFF2-40B4-BE49-F238E27FC236}">
                <a16:creationId xmlns:a16="http://schemas.microsoft.com/office/drawing/2014/main" id="{B602D875-3589-8128-5B53-7673242249DE}"/>
              </a:ext>
            </a:extLst>
          </p:cNvPr>
          <p:cNvSpPr/>
          <p:nvPr/>
        </p:nvSpPr>
        <p:spPr bwMode="gray">
          <a:xfrm>
            <a:off x="4379458" y="4674973"/>
            <a:ext cx="144000" cy="144000"/>
          </a:xfrm>
          <a:prstGeom prst="rect">
            <a:avLst/>
          </a:prstGeom>
          <a:solidFill>
            <a:srgbClr val="A0DC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人</a:t>
            </a:r>
          </a:p>
        </p:txBody>
      </p:sp>
      <p:sp>
        <p:nvSpPr>
          <p:cNvPr id="83" name="正方形/長方形 82">
            <a:extLst>
              <a:ext uri="{FF2B5EF4-FFF2-40B4-BE49-F238E27FC236}">
                <a16:creationId xmlns:a16="http://schemas.microsoft.com/office/drawing/2014/main" id="{A2617BEF-FFB2-E037-7F6D-212FC100D213}"/>
              </a:ext>
            </a:extLst>
          </p:cNvPr>
          <p:cNvSpPr/>
          <p:nvPr/>
        </p:nvSpPr>
        <p:spPr bwMode="gray">
          <a:xfrm>
            <a:off x="4379458" y="4145127"/>
            <a:ext cx="144000" cy="144000"/>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84" name="四角形: 角を丸くする 83">
            <a:extLst>
              <a:ext uri="{FF2B5EF4-FFF2-40B4-BE49-F238E27FC236}">
                <a16:creationId xmlns:a16="http://schemas.microsoft.com/office/drawing/2014/main" id="{72AEA5F8-FCAC-7111-2900-7EE732504F50}"/>
              </a:ext>
            </a:extLst>
          </p:cNvPr>
          <p:cNvSpPr/>
          <p:nvPr/>
        </p:nvSpPr>
        <p:spPr bwMode="gray">
          <a:xfrm>
            <a:off x="5503199" y="3370303"/>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温対法係数</a:t>
            </a:r>
          </a:p>
        </p:txBody>
      </p:sp>
      <p:sp>
        <p:nvSpPr>
          <p:cNvPr id="85" name="四角形: 角を丸くする 84">
            <a:extLst>
              <a:ext uri="{FF2B5EF4-FFF2-40B4-BE49-F238E27FC236}">
                <a16:creationId xmlns:a16="http://schemas.microsoft.com/office/drawing/2014/main" id="{0C01C234-D072-2DDA-6101-7B7A6AFB28D7}"/>
              </a:ext>
            </a:extLst>
          </p:cNvPr>
          <p:cNvSpPr/>
          <p:nvPr/>
        </p:nvSpPr>
        <p:spPr bwMode="gray">
          <a:xfrm>
            <a:off x="5503199" y="3574871"/>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SSBJ</a:t>
            </a: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係数</a:t>
            </a:r>
          </a:p>
        </p:txBody>
      </p:sp>
      <p:cxnSp>
        <p:nvCxnSpPr>
          <p:cNvPr id="86" name="コネクタ: カギ線 85">
            <a:extLst>
              <a:ext uri="{FF2B5EF4-FFF2-40B4-BE49-F238E27FC236}">
                <a16:creationId xmlns:a16="http://schemas.microsoft.com/office/drawing/2014/main" id="{B9F04F39-5D89-F9DC-865B-D5D250858777}"/>
              </a:ext>
            </a:extLst>
          </p:cNvPr>
          <p:cNvCxnSpPr>
            <a:cxnSpLocks/>
            <a:stCxn id="75" idx="3"/>
            <a:endCxn id="84" idx="1"/>
          </p:cNvCxnSpPr>
          <p:nvPr/>
        </p:nvCxnSpPr>
        <p:spPr bwMode="gray">
          <a:xfrm flipV="1">
            <a:off x="4523458" y="3442303"/>
            <a:ext cx="979741" cy="102284"/>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2AF8182A-487D-6120-72E2-1CFB7BB33942}"/>
              </a:ext>
            </a:extLst>
          </p:cNvPr>
          <p:cNvCxnSpPr>
            <a:cxnSpLocks/>
            <a:stCxn id="75" idx="3"/>
          </p:cNvCxnSpPr>
          <p:nvPr/>
        </p:nvCxnSpPr>
        <p:spPr bwMode="gray">
          <a:xfrm>
            <a:off x="4523458" y="3544587"/>
            <a:ext cx="979741" cy="98460"/>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8" name="四角形: 角を丸くする 87">
            <a:extLst>
              <a:ext uri="{FF2B5EF4-FFF2-40B4-BE49-F238E27FC236}">
                <a16:creationId xmlns:a16="http://schemas.microsoft.com/office/drawing/2014/main" id="{2A7259CC-91C5-3140-4717-A217A3585AF1}"/>
              </a:ext>
            </a:extLst>
          </p:cNvPr>
          <p:cNvSpPr/>
          <p:nvPr/>
        </p:nvSpPr>
        <p:spPr bwMode="gray">
          <a:xfrm>
            <a:off x="5503199" y="3817489"/>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共通係数</a:t>
            </a:r>
          </a:p>
        </p:txBody>
      </p:sp>
      <p:cxnSp>
        <p:nvCxnSpPr>
          <p:cNvPr id="89" name="コネクタ: カギ線 88">
            <a:extLst>
              <a:ext uri="{FF2B5EF4-FFF2-40B4-BE49-F238E27FC236}">
                <a16:creationId xmlns:a16="http://schemas.microsoft.com/office/drawing/2014/main" id="{9EBBD2C4-8113-C3FD-884B-8DDA4A8F99CB}"/>
              </a:ext>
            </a:extLst>
          </p:cNvPr>
          <p:cNvCxnSpPr>
            <a:cxnSpLocks/>
            <a:stCxn id="83" idx="3"/>
            <a:endCxn id="88" idx="1"/>
          </p:cNvCxnSpPr>
          <p:nvPr/>
        </p:nvCxnSpPr>
        <p:spPr bwMode="gray">
          <a:xfrm flipV="1">
            <a:off x="4523458" y="3889489"/>
            <a:ext cx="979741" cy="327638"/>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0" name="正方形/長方形 89">
            <a:extLst>
              <a:ext uri="{FF2B5EF4-FFF2-40B4-BE49-F238E27FC236}">
                <a16:creationId xmlns:a16="http://schemas.microsoft.com/office/drawing/2014/main" id="{073BBDF0-E5E4-6E80-B3DF-D515E5F83C82}"/>
              </a:ext>
            </a:extLst>
          </p:cNvPr>
          <p:cNvSpPr/>
          <p:nvPr/>
        </p:nvSpPr>
        <p:spPr bwMode="gray">
          <a:xfrm>
            <a:off x="6644896" y="2911081"/>
            <a:ext cx="1044000" cy="417744"/>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拠点・組織別集計</a:t>
            </a:r>
          </a:p>
        </p:txBody>
      </p:sp>
      <p:sp>
        <p:nvSpPr>
          <p:cNvPr id="91" name="正方形/長方形 90">
            <a:extLst>
              <a:ext uri="{FF2B5EF4-FFF2-40B4-BE49-F238E27FC236}">
                <a16:creationId xmlns:a16="http://schemas.microsoft.com/office/drawing/2014/main" id="{45B17076-0212-5A43-2718-26CA46667FBE}"/>
              </a:ext>
            </a:extLst>
          </p:cNvPr>
          <p:cNvSpPr/>
          <p:nvPr/>
        </p:nvSpPr>
        <p:spPr bwMode="gray">
          <a:xfrm>
            <a:off x="6644896" y="3555720"/>
            <a:ext cx="1044000" cy="417744"/>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a:solidFill>
                  <a:prstClr val="black"/>
                </a:solidFill>
                <a:latin typeface="Meiryo UI" panose="020B0604030504040204" pitchFamily="50" charset="-128"/>
                <a:ea typeface="Meiryo UI" panose="020B0604030504040204" pitchFamily="50" charset="-128"/>
              </a:rPr>
              <a:t>地域別集計</a:t>
            </a:r>
            <a:endPar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2" name="正方形/長方形 91">
            <a:extLst>
              <a:ext uri="{FF2B5EF4-FFF2-40B4-BE49-F238E27FC236}">
                <a16:creationId xmlns:a16="http://schemas.microsoft.com/office/drawing/2014/main" id="{74D3601C-A006-AD36-CFD8-D233C2469AEC}"/>
              </a:ext>
            </a:extLst>
          </p:cNvPr>
          <p:cNvSpPr/>
          <p:nvPr/>
        </p:nvSpPr>
        <p:spPr bwMode="gray">
          <a:xfrm>
            <a:off x="6644896" y="4200359"/>
            <a:ext cx="1044000" cy="417744"/>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a:solidFill>
                  <a:prstClr val="black"/>
                </a:solidFill>
                <a:latin typeface="Meiryo UI" panose="020B0604030504040204" pitchFamily="50" charset="-128"/>
                <a:ea typeface="Meiryo UI" panose="020B0604030504040204" pitchFamily="50" charset="-128"/>
              </a:rPr>
              <a:t>セグメント別集計</a:t>
            </a:r>
            <a:endPar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3" name="フローチャート: 磁気ディスク 92">
            <a:extLst>
              <a:ext uri="{FF2B5EF4-FFF2-40B4-BE49-F238E27FC236}">
                <a16:creationId xmlns:a16="http://schemas.microsoft.com/office/drawing/2014/main" id="{3190E989-F0DA-D8BC-5166-8E3D0A844F2B}"/>
              </a:ext>
            </a:extLst>
          </p:cNvPr>
          <p:cNvSpPr/>
          <p:nvPr/>
        </p:nvSpPr>
        <p:spPr bwMode="gray">
          <a:xfrm>
            <a:off x="5967817" y="4054656"/>
            <a:ext cx="498936" cy="324000"/>
          </a:xfrm>
          <a:prstGeom prst="flowChartMagneticDisk">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係数</a:t>
            </a:r>
            <a:br>
              <a:rPr kumimoji="1" lang="en-US" altLang="ja-JP"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マスタ</a:t>
            </a:r>
          </a:p>
        </p:txBody>
      </p:sp>
      <p:sp>
        <p:nvSpPr>
          <p:cNvPr id="94" name="フローチャート: 磁気ディスク 93">
            <a:extLst>
              <a:ext uri="{FF2B5EF4-FFF2-40B4-BE49-F238E27FC236}">
                <a16:creationId xmlns:a16="http://schemas.microsoft.com/office/drawing/2014/main" id="{C40A175B-395F-CA56-4164-8BE5F3C8241E}"/>
              </a:ext>
            </a:extLst>
          </p:cNvPr>
          <p:cNvSpPr/>
          <p:nvPr/>
        </p:nvSpPr>
        <p:spPr bwMode="gray">
          <a:xfrm>
            <a:off x="5418081" y="4054656"/>
            <a:ext cx="498936" cy="324000"/>
          </a:xfrm>
          <a:prstGeom prst="flowChartMagneticDisk">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計算式</a:t>
            </a:r>
          </a:p>
        </p:txBody>
      </p:sp>
      <p:sp>
        <p:nvSpPr>
          <p:cNvPr id="95" name="フローチャート: 複数書類 94">
            <a:extLst>
              <a:ext uri="{FF2B5EF4-FFF2-40B4-BE49-F238E27FC236}">
                <a16:creationId xmlns:a16="http://schemas.microsoft.com/office/drawing/2014/main" id="{D45ABCCE-09B4-5886-699F-E37479B0D506}"/>
              </a:ext>
            </a:extLst>
          </p:cNvPr>
          <p:cNvSpPr/>
          <p:nvPr/>
        </p:nvSpPr>
        <p:spPr bwMode="gray">
          <a:xfrm>
            <a:off x="8111035" y="2975953"/>
            <a:ext cx="678180" cy="605422"/>
          </a:xfrm>
          <a:prstGeom prst="flowChartMultidocumen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en-US" altLang="ja-JP" sz="1200">
                <a:solidFill>
                  <a:prstClr val="black"/>
                </a:solidFill>
                <a:latin typeface="Meiryo UI" panose="020B0604030504040204" pitchFamily="50" charset="-128"/>
                <a:ea typeface="Meiryo UI" panose="020B0604030504040204" pitchFamily="50" charset="-128"/>
              </a:rPr>
              <a:t>SSBJ</a:t>
            </a:r>
            <a:endParaRPr kumimoji="1" lang="ja-JP" altLang="en-US" sz="1200">
              <a:solidFill>
                <a:prstClr val="black"/>
              </a:solidFill>
              <a:latin typeface="Meiryo UI" panose="020B0604030504040204" pitchFamily="50" charset="-128"/>
              <a:ea typeface="Meiryo UI" panose="020B0604030504040204" pitchFamily="50" charset="-128"/>
            </a:endParaRPr>
          </a:p>
        </p:txBody>
      </p:sp>
      <p:sp>
        <p:nvSpPr>
          <p:cNvPr id="96" name="フローチャート: 複数書類 95">
            <a:extLst>
              <a:ext uri="{FF2B5EF4-FFF2-40B4-BE49-F238E27FC236}">
                <a16:creationId xmlns:a16="http://schemas.microsoft.com/office/drawing/2014/main" id="{BB1CB187-7A49-F2B4-AA55-5A0B928578D1}"/>
              </a:ext>
            </a:extLst>
          </p:cNvPr>
          <p:cNvSpPr/>
          <p:nvPr/>
        </p:nvSpPr>
        <p:spPr bwMode="gray">
          <a:xfrm>
            <a:off x="8111035" y="4271899"/>
            <a:ext cx="678180" cy="605422"/>
          </a:xfrm>
          <a:prstGeom prst="flowChartMultidocumen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ja-JP" altLang="en-US" sz="1200">
                <a:solidFill>
                  <a:prstClr val="black"/>
                </a:solidFill>
                <a:latin typeface="Meiryo UI" panose="020B0604030504040204" pitchFamily="50" charset="-128"/>
                <a:ea typeface="Meiryo UI" panose="020B0604030504040204" pitchFamily="50" charset="-128"/>
              </a:rPr>
              <a:t>温対法</a:t>
            </a:r>
          </a:p>
        </p:txBody>
      </p:sp>
      <p:sp>
        <p:nvSpPr>
          <p:cNvPr id="97" name="矢印: 右 96">
            <a:extLst>
              <a:ext uri="{FF2B5EF4-FFF2-40B4-BE49-F238E27FC236}">
                <a16:creationId xmlns:a16="http://schemas.microsoft.com/office/drawing/2014/main" id="{8522BD9D-3327-8BB8-CF91-C3759A0140C9}"/>
              </a:ext>
            </a:extLst>
          </p:cNvPr>
          <p:cNvSpPr/>
          <p:nvPr/>
        </p:nvSpPr>
        <p:spPr bwMode="gray">
          <a:xfrm>
            <a:off x="1491044" y="5758142"/>
            <a:ext cx="222527" cy="144000"/>
          </a:xfrm>
          <a:prstGeom prst="rightArrow">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98" name="矢印: 右 97">
            <a:extLst>
              <a:ext uri="{FF2B5EF4-FFF2-40B4-BE49-F238E27FC236}">
                <a16:creationId xmlns:a16="http://schemas.microsoft.com/office/drawing/2014/main" id="{A86E5B39-199C-6E1C-09BD-B11BB10D2733}"/>
              </a:ext>
            </a:extLst>
          </p:cNvPr>
          <p:cNvSpPr/>
          <p:nvPr/>
        </p:nvSpPr>
        <p:spPr bwMode="gray">
          <a:xfrm>
            <a:off x="2744754" y="4489292"/>
            <a:ext cx="222527" cy="144000"/>
          </a:xfrm>
          <a:prstGeom prst="rightArrow">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99" name="矢印: 右 98">
            <a:extLst>
              <a:ext uri="{FF2B5EF4-FFF2-40B4-BE49-F238E27FC236}">
                <a16:creationId xmlns:a16="http://schemas.microsoft.com/office/drawing/2014/main" id="{ACFD2593-D512-64C5-671E-AFF35B41168F}"/>
              </a:ext>
            </a:extLst>
          </p:cNvPr>
          <p:cNvSpPr/>
          <p:nvPr/>
        </p:nvSpPr>
        <p:spPr bwMode="gray">
          <a:xfrm>
            <a:off x="2744754" y="5758142"/>
            <a:ext cx="222527" cy="144000"/>
          </a:xfrm>
          <a:prstGeom prst="rightArrow">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100" name="矢印: 右 99">
            <a:extLst>
              <a:ext uri="{FF2B5EF4-FFF2-40B4-BE49-F238E27FC236}">
                <a16:creationId xmlns:a16="http://schemas.microsoft.com/office/drawing/2014/main" id="{6A768CD2-146A-3238-4E17-15F87CDF5AAB}"/>
              </a:ext>
            </a:extLst>
          </p:cNvPr>
          <p:cNvSpPr/>
          <p:nvPr/>
        </p:nvSpPr>
        <p:spPr bwMode="gray">
          <a:xfrm rot="18434564">
            <a:off x="3806462" y="3740343"/>
            <a:ext cx="455487" cy="21083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IF</a:t>
            </a:r>
            <a:endParaRPr kumimoji="1" lang="ja-JP" altLang="en-US" sz="10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01" name="矢印: 右 100">
            <a:extLst>
              <a:ext uri="{FF2B5EF4-FFF2-40B4-BE49-F238E27FC236}">
                <a16:creationId xmlns:a16="http://schemas.microsoft.com/office/drawing/2014/main" id="{0D699AED-AD45-E6F2-932C-029D67B86551}"/>
              </a:ext>
            </a:extLst>
          </p:cNvPr>
          <p:cNvSpPr/>
          <p:nvPr/>
        </p:nvSpPr>
        <p:spPr bwMode="gray">
          <a:xfrm>
            <a:off x="6441731" y="3760435"/>
            <a:ext cx="222527" cy="14400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02" name="矢印: 右 101">
            <a:extLst>
              <a:ext uri="{FF2B5EF4-FFF2-40B4-BE49-F238E27FC236}">
                <a16:creationId xmlns:a16="http://schemas.microsoft.com/office/drawing/2014/main" id="{93680BC6-423A-5C76-040F-FFCEE40FCDA3}"/>
              </a:ext>
            </a:extLst>
          </p:cNvPr>
          <p:cNvSpPr/>
          <p:nvPr/>
        </p:nvSpPr>
        <p:spPr bwMode="gray">
          <a:xfrm>
            <a:off x="3952162" y="5758142"/>
            <a:ext cx="222527" cy="144000"/>
          </a:xfrm>
          <a:prstGeom prst="rightArrow">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03" name="矢印: 右 102">
            <a:extLst>
              <a:ext uri="{FF2B5EF4-FFF2-40B4-BE49-F238E27FC236}">
                <a16:creationId xmlns:a16="http://schemas.microsoft.com/office/drawing/2014/main" id="{DEF673E8-ADB9-D923-C6DA-644992FDE46B}"/>
              </a:ext>
            </a:extLst>
          </p:cNvPr>
          <p:cNvSpPr/>
          <p:nvPr/>
        </p:nvSpPr>
        <p:spPr bwMode="gray">
          <a:xfrm>
            <a:off x="7716955" y="3218492"/>
            <a:ext cx="222527" cy="14400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04" name="矢印: 右 103">
            <a:extLst>
              <a:ext uri="{FF2B5EF4-FFF2-40B4-BE49-F238E27FC236}">
                <a16:creationId xmlns:a16="http://schemas.microsoft.com/office/drawing/2014/main" id="{66C97437-C795-FB8F-A24D-E3E3E19FBA1E}"/>
              </a:ext>
            </a:extLst>
          </p:cNvPr>
          <p:cNvSpPr/>
          <p:nvPr/>
        </p:nvSpPr>
        <p:spPr bwMode="gray">
          <a:xfrm>
            <a:off x="7716955" y="4489292"/>
            <a:ext cx="222527" cy="14400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3D8E6FA3-8391-9D6D-AF82-CF33E591D332}"/>
              </a:ext>
            </a:extLst>
          </p:cNvPr>
          <p:cNvSpPr/>
          <p:nvPr/>
        </p:nvSpPr>
        <p:spPr bwMode="gray">
          <a:xfrm>
            <a:off x="4035065" y="4971466"/>
            <a:ext cx="4953712" cy="171975"/>
          </a:xfrm>
          <a:prstGeom prst="rect">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新システム</a:t>
            </a:r>
          </a:p>
        </p:txBody>
      </p:sp>
      <p:sp>
        <p:nvSpPr>
          <p:cNvPr id="107" name="フローチャート: 処理 106">
            <a:extLst>
              <a:ext uri="{FF2B5EF4-FFF2-40B4-BE49-F238E27FC236}">
                <a16:creationId xmlns:a16="http://schemas.microsoft.com/office/drawing/2014/main" id="{7B3F2330-9F62-9981-0562-66D23815D22D}"/>
              </a:ext>
            </a:extLst>
          </p:cNvPr>
          <p:cNvSpPr/>
          <p:nvPr/>
        </p:nvSpPr>
        <p:spPr bwMode="gray">
          <a:xfrm>
            <a:off x="2641815" y="2516483"/>
            <a:ext cx="2529770" cy="228610"/>
          </a:xfrm>
          <a:prstGeom prst="flowChartProcess">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2000" b="1"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rPr>
              <a:t>導入ベンダー開発範囲</a:t>
            </a:r>
          </a:p>
        </p:txBody>
      </p:sp>
      <p:sp>
        <p:nvSpPr>
          <p:cNvPr id="108" name="フローチャート: 処理 107">
            <a:extLst>
              <a:ext uri="{FF2B5EF4-FFF2-40B4-BE49-F238E27FC236}">
                <a16:creationId xmlns:a16="http://schemas.microsoft.com/office/drawing/2014/main" id="{80A15E78-9C37-6679-5E56-D29C9AA3524D}"/>
              </a:ext>
            </a:extLst>
          </p:cNvPr>
          <p:cNvSpPr/>
          <p:nvPr/>
        </p:nvSpPr>
        <p:spPr bwMode="gray">
          <a:xfrm>
            <a:off x="5552038" y="5662355"/>
            <a:ext cx="3377217" cy="468313"/>
          </a:xfrm>
          <a:prstGeom prst="flowChartProcess">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GXL</a:t>
            </a:r>
            <a:r>
              <a:rPr kumimoji="1" lang="ja-JP" altLang="en-US" sz="12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の活動量データを</a:t>
            </a:r>
            <a:r>
              <a:rPr kumimoji="1" lang="en-US" altLang="ja-JP" sz="1200">
                <a:solidFill>
                  <a:schemeClr val="bg1">
                    <a:lumMod val="65000"/>
                  </a:schemeClr>
                </a:solidFill>
                <a:latin typeface="Meiryo UI" panose="020B0604030504040204" pitchFamily="50" charset="-128"/>
                <a:ea typeface="Meiryo UI" panose="020B0604030504040204" pitchFamily="50" charset="-128"/>
              </a:rPr>
              <a:t>ETL</a:t>
            </a:r>
            <a:r>
              <a:rPr kumimoji="1" lang="ja-JP" altLang="en-US" sz="1200">
                <a:solidFill>
                  <a:schemeClr val="bg1">
                    <a:lumMod val="65000"/>
                  </a:schemeClr>
                </a:solidFill>
                <a:latin typeface="Meiryo UI" panose="020B0604030504040204" pitchFamily="50" charset="-128"/>
                <a:ea typeface="Meiryo UI" panose="020B0604030504040204" pitchFamily="50" charset="-128"/>
              </a:rPr>
              <a:t>で用意し、</a:t>
            </a:r>
            <a:endParaRPr kumimoji="1" lang="en-US" altLang="ja-JP" sz="1200">
              <a:solidFill>
                <a:schemeClr val="bg1">
                  <a:lumMod val="65000"/>
                </a:schemeClr>
              </a:solidFill>
              <a:latin typeface="Meiryo UI" panose="020B0604030504040204" pitchFamily="50" charset="-128"/>
              <a:ea typeface="Meiryo UI" panose="020B0604030504040204" pitchFamily="50" charset="-128"/>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GXL</a:t>
            </a:r>
            <a:r>
              <a:rPr kumimoji="1" lang="ja-JP" altLang="en-US" sz="12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指定</a:t>
            </a:r>
            <a:r>
              <a:rPr kumimoji="1" lang="en-US" altLang="ja-JP" sz="12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Excel</a:t>
            </a:r>
            <a:r>
              <a:rPr kumimoji="1" lang="ja-JP" altLang="en-US" sz="12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に貼り付け、その</a:t>
            </a:r>
            <a:r>
              <a:rPr kumimoji="1" lang="ja-JP" altLang="en-US" sz="1200">
                <a:solidFill>
                  <a:schemeClr val="bg1">
                    <a:lumMod val="65000"/>
                  </a:schemeClr>
                </a:solidFill>
                <a:latin typeface="Meiryo UI" panose="020B0604030504040204" pitchFamily="50" charset="-128"/>
                <a:ea typeface="Meiryo UI" panose="020B0604030504040204" pitchFamily="50" charset="-128"/>
              </a:rPr>
              <a:t>後は従来通り対応</a:t>
            </a:r>
            <a:endParaRPr kumimoji="1" lang="en-US" altLang="ja-JP" sz="1200">
              <a:solidFill>
                <a:schemeClr val="bg1">
                  <a:lumMod val="65000"/>
                </a:schemeClr>
              </a:solidFill>
              <a:latin typeface="Meiryo UI" panose="020B0604030504040204" pitchFamily="50" charset="-128"/>
              <a:ea typeface="Meiryo UI" panose="020B0604030504040204" pitchFamily="50" charset="-128"/>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*GXL</a:t>
            </a:r>
            <a:r>
              <a:rPr kumimoji="1" lang="ja-JP" altLang="en-US" sz="10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指定の</a:t>
            </a:r>
            <a:r>
              <a:rPr kumimoji="1" lang="en-US" altLang="ja-JP" sz="10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Excel</a:t>
            </a:r>
            <a:r>
              <a:rPr kumimoji="1" lang="ja-JP" altLang="en-US" sz="10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rPr>
              <a:t>上</a:t>
            </a:r>
            <a:r>
              <a:rPr kumimoji="1" lang="ja-JP" altLang="en-US" sz="1000">
                <a:solidFill>
                  <a:schemeClr val="bg1">
                    <a:lumMod val="65000"/>
                  </a:schemeClr>
                </a:solidFill>
                <a:latin typeface="Meiryo UI" panose="020B0604030504040204" pitchFamily="50" charset="-128"/>
                <a:ea typeface="Meiryo UI" panose="020B0604030504040204" pitchFamily="50" charset="-128"/>
              </a:rPr>
              <a:t>で算定が要求されている</a:t>
            </a:r>
            <a:endParaRPr kumimoji="1" lang="ja-JP" altLang="en-US" sz="10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endParaRPr>
          </a:p>
        </p:txBody>
      </p:sp>
      <p:cxnSp>
        <p:nvCxnSpPr>
          <p:cNvPr id="109" name="直線矢印コネクタ 108">
            <a:extLst>
              <a:ext uri="{FF2B5EF4-FFF2-40B4-BE49-F238E27FC236}">
                <a16:creationId xmlns:a16="http://schemas.microsoft.com/office/drawing/2014/main" id="{48FFF747-4AF3-ACF0-D4B7-A35F11CEF8B3}"/>
              </a:ext>
            </a:extLst>
          </p:cNvPr>
          <p:cNvCxnSpPr>
            <a:cxnSpLocks/>
            <a:stCxn id="81" idx="3"/>
          </p:cNvCxnSpPr>
          <p:nvPr/>
        </p:nvCxnSpPr>
        <p:spPr bwMode="gray">
          <a:xfrm>
            <a:off x="4523458" y="4553913"/>
            <a:ext cx="2067438" cy="0"/>
          </a:xfrm>
          <a:prstGeom prst="straightConnector1">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矢印コネクタ 109">
            <a:extLst>
              <a:ext uri="{FF2B5EF4-FFF2-40B4-BE49-F238E27FC236}">
                <a16:creationId xmlns:a16="http://schemas.microsoft.com/office/drawing/2014/main" id="{58FCB87D-683C-249C-75F4-A5C2D9788052}"/>
              </a:ext>
            </a:extLst>
          </p:cNvPr>
          <p:cNvCxnSpPr>
            <a:cxnSpLocks/>
          </p:cNvCxnSpPr>
          <p:nvPr/>
        </p:nvCxnSpPr>
        <p:spPr bwMode="gray">
          <a:xfrm>
            <a:off x="4523458" y="4740727"/>
            <a:ext cx="2067438" cy="0"/>
          </a:xfrm>
          <a:prstGeom prst="straightConnector1">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1" name="四角形: 角を丸くする 110">
            <a:extLst>
              <a:ext uri="{FF2B5EF4-FFF2-40B4-BE49-F238E27FC236}">
                <a16:creationId xmlns:a16="http://schemas.microsoft.com/office/drawing/2014/main" id="{5A66B2C9-FCD5-9C50-B2A5-034DCD67BB2B}"/>
              </a:ext>
            </a:extLst>
          </p:cNvPr>
          <p:cNvSpPr/>
          <p:nvPr/>
        </p:nvSpPr>
        <p:spPr bwMode="gray">
          <a:xfrm>
            <a:off x="5503199" y="4474104"/>
            <a:ext cx="900000" cy="331217"/>
          </a:xfrm>
          <a:prstGeom prst="roundRect">
            <a:avLst/>
          </a:prstGeom>
          <a:solidFill>
            <a:schemeClr val="bg1"/>
          </a:solidFill>
          <a:ln w="12700" algn="ctr">
            <a:solidFill>
              <a:srgbClr val="BBBCBC"/>
            </a:solidFill>
            <a:prstDash val="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計算なし</a:t>
            </a:r>
          </a:p>
        </p:txBody>
      </p:sp>
      <p:sp>
        <p:nvSpPr>
          <p:cNvPr id="128" name="楕円 127">
            <a:extLst>
              <a:ext uri="{FF2B5EF4-FFF2-40B4-BE49-F238E27FC236}">
                <a16:creationId xmlns:a16="http://schemas.microsoft.com/office/drawing/2014/main" id="{749A8B6A-D1DF-5C98-0231-94D232E9AE32}"/>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4" name="楕円 3">
            <a:extLst>
              <a:ext uri="{FF2B5EF4-FFF2-40B4-BE49-F238E27FC236}">
                <a16:creationId xmlns:a16="http://schemas.microsoft.com/office/drawing/2014/main" id="{1C76CBC5-D983-01AF-722D-38B9EBDEFF57}"/>
              </a:ext>
            </a:extLst>
          </p:cNvPr>
          <p:cNvSpPr/>
          <p:nvPr/>
        </p:nvSpPr>
        <p:spPr>
          <a:xfrm>
            <a:off x="5127552" y="2523070"/>
            <a:ext cx="914400" cy="16949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次頁詳細</a:t>
            </a:r>
          </a:p>
        </p:txBody>
      </p:sp>
      <p:sp>
        <p:nvSpPr>
          <p:cNvPr id="106" name="楕円 105">
            <a:extLst>
              <a:ext uri="{FF2B5EF4-FFF2-40B4-BE49-F238E27FC236}">
                <a16:creationId xmlns:a16="http://schemas.microsoft.com/office/drawing/2014/main" id="{569A1B84-C2DE-E956-7377-C9BBA12FBED8}"/>
              </a:ext>
            </a:extLst>
          </p:cNvPr>
          <p:cNvSpPr/>
          <p:nvPr/>
        </p:nvSpPr>
        <p:spPr>
          <a:xfrm>
            <a:off x="7992619" y="4230894"/>
            <a:ext cx="216023" cy="21602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solidFill>
                  <a:schemeClr val="bg1"/>
                </a:solidFill>
                <a:latin typeface="Meiryo UI" panose="020B0604030504040204" pitchFamily="50" charset="-128"/>
                <a:ea typeface="Meiryo UI" panose="020B0604030504040204" pitchFamily="50" charset="-128"/>
              </a:rPr>
              <a:t>1</a:t>
            </a:r>
            <a:endParaRPr kumimoji="1" lang="ja-JP" altLang="en-US" sz="1600">
              <a:solidFill>
                <a:schemeClr val="bg1"/>
              </a:solidFill>
              <a:latin typeface="Meiryo UI" panose="020B0604030504040204" pitchFamily="50" charset="-128"/>
              <a:ea typeface="Meiryo UI" panose="020B0604030504040204" pitchFamily="50" charset="-128"/>
            </a:endParaRPr>
          </a:p>
        </p:txBody>
      </p:sp>
      <p:sp>
        <p:nvSpPr>
          <p:cNvPr id="126" name="楕円 125">
            <a:extLst>
              <a:ext uri="{FF2B5EF4-FFF2-40B4-BE49-F238E27FC236}">
                <a16:creationId xmlns:a16="http://schemas.microsoft.com/office/drawing/2014/main" id="{F279365E-292C-D715-0772-C71CBE8CF5F6}"/>
              </a:ext>
            </a:extLst>
          </p:cNvPr>
          <p:cNvSpPr/>
          <p:nvPr/>
        </p:nvSpPr>
        <p:spPr>
          <a:xfrm>
            <a:off x="5116110" y="2816063"/>
            <a:ext cx="216023" cy="21602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solidFill>
                  <a:schemeClr val="bg1"/>
                </a:solidFill>
                <a:latin typeface="Meiryo UI" panose="020B0604030504040204" pitchFamily="50" charset="-128"/>
                <a:ea typeface="Meiryo UI" panose="020B0604030504040204" pitchFamily="50" charset="-128"/>
              </a:rPr>
              <a:t>2</a:t>
            </a:r>
            <a:endParaRPr kumimoji="1" lang="ja-JP" altLang="en-US" sz="1600">
              <a:solidFill>
                <a:schemeClr val="bg1"/>
              </a:solidFill>
              <a:latin typeface="Meiryo UI" panose="020B0604030504040204" pitchFamily="50" charset="-128"/>
              <a:ea typeface="Meiryo UI" panose="020B0604030504040204" pitchFamily="50" charset="-128"/>
            </a:endParaRPr>
          </a:p>
        </p:txBody>
      </p:sp>
      <p:sp>
        <p:nvSpPr>
          <p:cNvPr id="129" name="楕円 128">
            <a:extLst>
              <a:ext uri="{FF2B5EF4-FFF2-40B4-BE49-F238E27FC236}">
                <a16:creationId xmlns:a16="http://schemas.microsoft.com/office/drawing/2014/main" id="{FE1EBAF5-F842-643A-677D-259409676B71}"/>
              </a:ext>
            </a:extLst>
          </p:cNvPr>
          <p:cNvSpPr/>
          <p:nvPr/>
        </p:nvSpPr>
        <p:spPr>
          <a:xfrm>
            <a:off x="5880334" y="2759930"/>
            <a:ext cx="216023" cy="21602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solidFill>
                  <a:schemeClr val="bg1"/>
                </a:solidFill>
                <a:latin typeface="Meiryo UI" panose="020B0604030504040204" pitchFamily="50" charset="-128"/>
                <a:ea typeface="Meiryo UI" panose="020B0604030504040204" pitchFamily="50" charset="-128"/>
              </a:rPr>
              <a:t>3</a:t>
            </a:r>
            <a:endParaRPr kumimoji="1" lang="ja-JP" altLang="en-US" sz="1600">
              <a:solidFill>
                <a:schemeClr val="bg1"/>
              </a:solidFill>
              <a:latin typeface="Meiryo UI" panose="020B0604030504040204" pitchFamily="50" charset="-128"/>
              <a:ea typeface="Meiryo UI" panose="020B0604030504040204" pitchFamily="50" charset="-128"/>
            </a:endParaRPr>
          </a:p>
        </p:txBody>
      </p:sp>
      <p:grpSp>
        <p:nvGrpSpPr>
          <p:cNvPr id="130" name="グループ化 129">
            <a:extLst>
              <a:ext uri="{FF2B5EF4-FFF2-40B4-BE49-F238E27FC236}">
                <a16:creationId xmlns:a16="http://schemas.microsoft.com/office/drawing/2014/main" id="{B1BCA7CD-B561-1F25-F4B7-15F0EE0B1711}"/>
              </a:ext>
            </a:extLst>
          </p:cNvPr>
          <p:cNvGrpSpPr/>
          <p:nvPr/>
        </p:nvGrpSpPr>
        <p:grpSpPr>
          <a:xfrm>
            <a:off x="2793598" y="1510444"/>
            <a:ext cx="6080640" cy="318791"/>
            <a:chOff x="5473471" y="1340956"/>
            <a:chExt cx="4126167" cy="364457"/>
          </a:xfrm>
        </p:grpSpPr>
        <p:sp>
          <p:nvSpPr>
            <p:cNvPr id="137" name="正方形/長方形 136">
              <a:extLst>
                <a:ext uri="{FF2B5EF4-FFF2-40B4-BE49-F238E27FC236}">
                  <a16:creationId xmlns:a16="http://schemas.microsoft.com/office/drawing/2014/main" id="{DF62E0A2-DC88-8A17-C80E-A9516907BAE2}"/>
                </a:ext>
              </a:extLst>
            </p:cNvPr>
            <p:cNvSpPr/>
            <p:nvPr/>
          </p:nvSpPr>
          <p:spPr bwMode="gray">
            <a:xfrm>
              <a:off x="5473471" y="1398828"/>
              <a:ext cx="4126167" cy="306585"/>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nvGrpSpPr>
            <p:cNvPr id="138" name="グループ化 137">
              <a:extLst>
                <a:ext uri="{FF2B5EF4-FFF2-40B4-BE49-F238E27FC236}">
                  <a16:creationId xmlns:a16="http://schemas.microsoft.com/office/drawing/2014/main" id="{9D609D19-6125-3A3A-3B09-95911ABA04CC}"/>
                </a:ext>
              </a:extLst>
            </p:cNvPr>
            <p:cNvGrpSpPr/>
            <p:nvPr/>
          </p:nvGrpSpPr>
          <p:grpSpPr>
            <a:xfrm>
              <a:off x="5556425" y="1507000"/>
              <a:ext cx="3957866" cy="144001"/>
              <a:chOff x="5677870" y="1507000"/>
              <a:chExt cx="3957866" cy="144001"/>
            </a:xfrm>
          </p:grpSpPr>
          <p:sp>
            <p:nvSpPr>
              <p:cNvPr id="140" name="正方形/長方形 139">
                <a:extLst>
                  <a:ext uri="{FF2B5EF4-FFF2-40B4-BE49-F238E27FC236}">
                    <a16:creationId xmlns:a16="http://schemas.microsoft.com/office/drawing/2014/main" id="{B167A980-81AF-ACD4-8303-1BB4051F252A}"/>
                  </a:ext>
                </a:extLst>
              </p:cNvPr>
              <p:cNvSpPr/>
              <p:nvPr/>
            </p:nvSpPr>
            <p:spPr bwMode="gray">
              <a:xfrm>
                <a:off x="5677870" y="1507000"/>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141" name="正方形/長方形 140">
                <a:extLst>
                  <a:ext uri="{FF2B5EF4-FFF2-40B4-BE49-F238E27FC236}">
                    <a16:creationId xmlns:a16="http://schemas.microsoft.com/office/drawing/2014/main" id="{F64E714C-6BA9-52CA-39CB-4A65438CD4FE}"/>
                  </a:ext>
                </a:extLst>
              </p:cNvPr>
              <p:cNvSpPr/>
              <p:nvPr/>
            </p:nvSpPr>
            <p:spPr bwMode="gray">
              <a:xfrm>
                <a:off x="6261640" y="1507000"/>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42" name="正方形/長方形 141">
                <a:extLst>
                  <a:ext uri="{FF2B5EF4-FFF2-40B4-BE49-F238E27FC236}">
                    <a16:creationId xmlns:a16="http://schemas.microsoft.com/office/drawing/2014/main" id="{78A9BDF8-5D28-6E5A-8AEE-6E764CA0F323}"/>
                  </a:ext>
                </a:extLst>
              </p:cNvPr>
              <p:cNvSpPr/>
              <p:nvPr/>
            </p:nvSpPr>
            <p:spPr bwMode="gray">
              <a:xfrm>
                <a:off x="7284867" y="1507000"/>
                <a:ext cx="144000" cy="143999"/>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143" name="正方形/長方形 142">
                <a:extLst>
                  <a:ext uri="{FF2B5EF4-FFF2-40B4-BE49-F238E27FC236}">
                    <a16:creationId xmlns:a16="http://schemas.microsoft.com/office/drawing/2014/main" id="{E00E4293-55C0-7D1A-ED4F-6EECA88C0CE3}"/>
                  </a:ext>
                </a:extLst>
              </p:cNvPr>
              <p:cNvSpPr/>
              <p:nvPr/>
            </p:nvSpPr>
            <p:spPr bwMode="gray">
              <a:xfrm>
                <a:off x="8864372" y="1507000"/>
                <a:ext cx="144000" cy="144001"/>
              </a:xfrm>
              <a:prstGeom prst="rect">
                <a:avLst/>
              </a:prstGeom>
              <a:solidFill>
                <a:srgbClr val="A0DC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人</a:t>
                </a:r>
              </a:p>
            </p:txBody>
          </p:sp>
          <p:sp>
            <p:nvSpPr>
              <p:cNvPr id="144" name="正方形/長方形 143">
                <a:extLst>
                  <a:ext uri="{FF2B5EF4-FFF2-40B4-BE49-F238E27FC236}">
                    <a16:creationId xmlns:a16="http://schemas.microsoft.com/office/drawing/2014/main" id="{286F79E9-4357-7BF8-578F-790EFE08F245}"/>
                  </a:ext>
                </a:extLst>
              </p:cNvPr>
              <p:cNvSpPr/>
              <p:nvPr/>
            </p:nvSpPr>
            <p:spPr bwMode="gray">
              <a:xfrm>
                <a:off x="8054050" y="1507000"/>
                <a:ext cx="144000" cy="143999"/>
              </a:xfrm>
              <a:prstGeom prst="rect">
                <a:avLst/>
              </a:prstGeom>
              <a:solidFill>
                <a:srgbClr val="A0DC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環</a:t>
                </a:r>
              </a:p>
            </p:txBody>
          </p:sp>
          <p:sp>
            <p:nvSpPr>
              <p:cNvPr id="145" name="正方形/長方形 144">
                <a:extLst>
                  <a:ext uri="{FF2B5EF4-FFF2-40B4-BE49-F238E27FC236}">
                    <a16:creationId xmlns:a16="http://schemas.microsoft.com/office/drawing/2014/main" id="{244CF06F-C83A-9CFA-2F04-D248ABCA7566}"/>
                  </a:ext>
                </a:extLst>
              </p:cNvPr>
              <p:cNvSpPr/>
              <p:nvPr/>
            </p:nvSpPr>
            <p:spPr bwMode="gray">
              <a:xfrm>
                <a:off x="5858415" y="1507000"/>
                <a:ext cx="890239" cy="14400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タグデータ</a:t>
                </a:r>
              </a:p>
            </p:txBody>
          </p:sp>
          <p:sp>
            <p:nvSpPr>
              <p:cNvPr id="146" name="正方形/長方形 145">
                <a:extLst>
                  <a:ext uri="{FF2B5EF4-FFF2-40B4-BE49-F238E27FC236}">
                    <a16:creationId xmlns:a16="http://schemas.microsoft.com/office/drawing/2014/main" id="{99942D95-DE69-BFA4-898C-135694EC1B72}"/>
                  </a:ext>
                </a:extLst>
              </p:cNvPr>
              <p:cNvSpPr/>
              <p:nvPr/>
            </p:nvSpPr>
            <p:spPr bwMode="gray">
              <a:xfrm>
                <a:off x="6434189" y="1507000"/>
                <a:ext cx="859853" cy="14400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GXL</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モニタリングポイント</a:t>
                </a:r>
              </a:p>
            </p:txBody>
          </p:sp>
          <p:sp>
            <p:nvSpPr>
              <p:cNvPr id="147" name="正方形/長方形 146">
                <a:extLst>
                  <a:ext uri="{FF2B5EF4-FFF2-40B4-BE49-F238E27FC236}">
                    <a16:creationId xmlns:a16="http://schemas.microsoft.com/office/drawing/2014/main" id="{3525E106-B9A1-C9CC-80DF-A5EB96B8F0BF}"/>
                  </a:ext>
                </a:extLst>
              </p:cNvPr>
              <p:cNvSpPr/>
              <p:nvPr/>
            </p:nvSpPr>
            <p:spPr bwMode="gray">
              <a:xfrm>
                <a:off x="7469877" y="1507000"/>
                <a:ext cx="1116000" cy="143999"/>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温対法活動量</a:t>
                </a:r>
              </a:p>
            </p:txBody>
          </p:sp>
          <p:sp>
            <p:nvSpPr>
              <p:cNvPr id="148" name="正方形/長方形 147">
                <a:extLst>
                  <a:ext uri="{FF2B5EF4-FFF2-40B4-BE49-F238E27FC236}">
                    <a16:creationId xmlns:a16="http://schemas.microsoft.com/office/drawing/2014/main" id="{4A8FCA20-0447-92A8-EFFA-1C429903CB48}"/>
                  </a:ext>
                </a:extLst>
              </p:cNvPr>
              <p:cNvSpPr/>
              <p:nvPr/>
            </p:nvSpPr>
            <p:spPr bwMode="gray">
              <a:xfrm>
                <a:off x="8239060" y="1507000"/>
                <a:ext cx="1116000" cy="143999"/>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その他環境データ</a:t>
                </a:r>
              </a:p>
            </p:txBody>
          </p:sp>
          <p:sp>
            <p:nvSpPr>
              <p:cNvPr id="149" name="正方形/長方形 148">
                <a:extLst>
                  <a:ext uri="{FF2B5EF4-FFF2-40B4-BE49-F238E27FC236}">
                    <a16:creationId xmlns:a16="http://schemas.microsoft.com/office/drawing/2014/main" id="{2DD18842-C3CC-8D81-F3EF-B89FB95BEA54}"/>
                  </a:ext>
                </a:extLst>
              </p:cNvPr>
              <p:cNvSpPr/>
              <p:nvPr/>
            </p:nvSpPr>
            <p:spPr bwMode="gray">
              <a:xfrm>
                <a:off x="9049383" y="1507000"/>
                <a:ext cx="586353" cy="144001"/>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人事労務データ</a:t>
                </a:r>
              </a:p>
            </p:txBody>
          </p:sp>
        </p:grpSp>
        <p:sp>
          <p:nvSpPr>
            <p:cNvPr id="139" name="正方形/長方形 138">
              <a:extLst>
                <a:ext uri="{FF2B5EF4-FFF2-40B4-BE49-F238E27FC236}">
                  <a16:creationId xmlns:a16="http://schemas.microsoft.com/office/drawing/2014/main" id="{4AE05724-166A-28D4-3802-E4662A40E2E8}"/>
                </a:ext>
              </a:extLst>
            </p:cNvPr>
            <p:cNvSpPr/>
            <p:nvPr/>
          </p:nvSpPr>
          <p:spPr bwMode="gray">
            <a:xfrm>
              <a:off x="7290458" y="1340956"/>
              <a:ext cx="545306" cy="129886"/>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凡例</a:t>
              </a:r>
            </a:p>
          </p:txBody>
        </p:sp>
      </p:grpSp>
      <p:sp>
        <p:nvSpPr>
          <p:cNvPr id="151" name="四角形: 角を丸くする 150">
            <a:extLst>
              <a:ext uri="{FF2B5EF4-FFF2-40B4-BE49-F238E27FC236}">
                <a16:creationId xmlns:a16="http://schemas.microsoft.com/office/drawing/2014/main" id="{16B30EFB-7F0A-CBA0-A512-18E43FF68070}"/>
              </a:ext>
            </a:extLst>
          </p:cNvPr>
          <p:cNvSpPr/>
          <p:nvPr/>
        </p:nvSpPr>
        <p:spPr>
          <a:xfrm>
            <a:off x="7045749" y="169787"/>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　対応すべき複数の開示基準</a:t>
            </a:r>
          </a:p>
        </p:txBody>
      </p:sp>
      <p:sp>
        <p:nvSpPr>
          <p:cNvPr id="152" name="四角形: 角を丸くする 151">
            <a:extLst>
              <a:ext uri="{FF2B5EF4-FFF2-40B4-BE49-F238E27FC236}">
                <a16:creationId xmlns:a16="http://schemas.microsoft.com/office/drawing/2014/main" id="{E294290D-0F98-F300-E459-EDB3628017E3}"/>
              </a:ext>
            </a:extLst>
          </p:cNvPr>
          <p:cNvSpPr/>
          <p:nvPr/>
        </p:nvSpPr>
        <p:spPr>
          <a:xfrm>
            <a:off x="7045749" y="561240"/>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暫定</a:t>
            </a:r>
            <a:r>
              <a:rPr kumimoji="1" lang="en-US" altLang="ja-JP" sz="900" b="1">
                <a:solidFill>
                  <a:schemeClr val="bg1"/>
                </a:solidFill>
                <a:latin typeface="Meiryo UI" panose="020B0604030504040204" pitchFamily="50" charset="-128"/>
                <a:ea typeface="Meiryo UI" panose="020B0604030504040204" pitchFamily="50" charset="-128"/>
              </a:rPr>
              <a:t>/</a:t>
            </a:r>
            <a:r>
              <a:rPr kumimoji="1" lang="ja-JP" altLang="en-US" sz="900" b="1">
                <a:solidFill>
                  <a:schemeClr val="bg1"/>
                </a:solidFill>
                <a:latin typeface="Meiryo UI" panose="020B0604030504040204" pitchFamily="50" charset="-128"/>
                <a:ea typeface="Meiryo UI" panose="020B0604030504040204" pitchFamily="50" charset="-128"/>
              </a:rPr>
              <a:t>確定係数の運用</a:t>
            </a:r>
          </a:p>
        </p:txBody>
      </p:sp>
      <p:sp>
        <p:nvSpPr>
          <p:cNvPr id="153" name="四角形: 角を丸くする 152">
            <a:extLst>
              <a:ext uri="{FF2B5EF4-FFF2-40B4-BE49-F238E27FC236}">
                <a16:creationId xmlns:a16="http://schemas.microsoft.com/office/drawing/2014/main" id="{2DCE2BB1-7C60-7E6D-D624-D68BA0E214DE}"/>
              </a:ext>
            </a:extLst>
          </p:cNvPr>
          <p:cNvSpPr/>
          <p:nvPr/>
        </p:nvSpPr>
        <p:spPr>
          <a:xfrm>
            <a:off x="7045749" y="365514"/>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複数算定ロジックの構築</a:t>
            </a:r>
          </a:p>
        </p:txBody>
      </p:sp>
      <p:sp>
        <p:nvSpPr>
          <p:cNvPr id="154" name="楕円 153">
            <a:extLst>
              <a:ext uri="{FF2B5EF4-FFF2-40B4-BE49-F238E27FC236}">
                <a16:creationId xmlns:a16="http://schemas.microsoft.com/office/drawing/2014/main" id="{673EE68B-E531-C48B-5DEA-7AEC81577E3A}"/>
              </a:ext>
            </a:extLst>
          </p:cNvPr>
          <p:cNvSpPr/>
          <p:nvPr/>
        </p:nvSpPr>
        <p:spPr>
          <a:xfrm>
            <a:off x="7020272" y="134576"/>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155" name="楕円 154">
            <a:extLst>
              <a:ext uri="{FF2B5EF4-FFF2-40B4-BE49-F238E27FC236}">
                <a16:creationId xmlns:a16="http://schemas.microsoft.com/office/drawing/2014/main" id="{1398B584-600E-FA42-4CD9-E17D365DB6B6}"/>
              </a:ext>
            </a:extLst>
          </p:cNvPr>
          <p:cNvSpPr/>
          <p:nvPr/>
        </p:nvSpPr>
        <p:spPr>
          <a:xfrm>
            <a:off x="7020272" y="330302"/>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2</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156" name="楕円 155">
            <a:extLst>
              <a:ext uri="{FF2B5EF4-FFF2-40B4-BE49-F238E27FC236}">
                <a16:creationId xmlns:a16="http://schemas.microsoft.com/office/drawing/2014/main" id="{D1A82DA1-4140-E034-E1F6-39BE880873AC}"/>
              </a:ext>
            </a:extLst>
          </p:cNvPr>
          <p:cNvSpPr/>
          <p:nvPr/>
        </p:nvSpPr>
        <p:spPr>
          <a:xfrm>
            <a:off x="7020272" y="526029"/>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3</a:t>
            </a:r>
            <a:endParaRPr kumimoji="1" lang="ja-JP" altLang="en-US" sz="140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6422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A8B393A5-7584-D840-01AA-6F91797C58F0}"/>
              </a:ext>
            </a:extLst>
          </p:cNvPr>
          <p:cNvSpPr/>
          <p:nvPr/>
        </p:nvSpPr>
        <p:spPr>
          <a:xfrm>
            <a:off x="7062172" y="1252334"/>
            <a:ext cx="1839197" cy="3208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6" name="円柱 15">
            <a:extLst>
              <a:ext uri="{FF2B5EF4-FFF2-40B4-BE49-F238E27FC236}">
                <a16:creationId xmlns:a16="http://schemas.microsoft.com/office/drawing/2014/main" id="{27B1501D-3713-3857-91D5-3D8C3E03CB43}"/>
              </a:ext>
            </a:extLst>
          </p:cNvPr>
          <p:cNvSpPr/>
          <p:nvPr/>
        </p:nvSpPr>
        <p:spPr>
          <a:xfrm>
            <a:off x="2016726" y="1578891"/>
            <a:ext cx="6053461" cy="4357428"/>
          </a:xfrm>
          <a:prstGeom prst="can">
            <a:avLst>
              <a:gd name="adj" fmla="val 8819"/>
            </a:avLst>
          </a:prstGeom>
          <a:solidFill>
            <a:schemeClr val="bg1">
              <a:lumMod val="95000"/>
            </a:schemeClr>
          </a:solidFill>
          <a:ln w="158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4F728B21-471C-BB11-89E2-31D26322F748}"/>
              </a:ext>
            </a:extLst>
          </p:cNvPr>
          <p:cNvSpPr/>
          <p:nvPr/>
        </p:nvSpPr>
        <p:spPr>
          <a:xfrm>
            <a:off x="2259798" y="2832299"/>
            <a:ext cx="848861" cy="287496"/>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900" b="1">
                <a:solidFill>
                  <a:schemeClr val="bg1"/>
                </a:solidFill>
                <a:latin typeface="Meiryo UI" panose="020B0604030504040204" pitchFamily="50" charset="-128"/>
                <a:ea typeface="Meiryo UI" panose="020B0604030504040204" pitchFamily="50" charset="-128"/>
              </a:rPr>
              <a:t>Scope3</a:t>
            </a:r>
            <a:endParaRPr kumimoji="1" lang="ja-JP" altLang="en-US" sz="900" b="1">
              <a:solidFill>
                <a:schemeClr val="bg1"/>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71045F96-9B60-5EFA-E691-F98A71640121}"/>
              </a:ext>
            </a:extLst>
          </p:cNvPr>
          <p:cNvSpPr/>
          <p:nvPr/>
        </p:nvSpPr>
        <p:spPr>
          <a:xfrm>
            <a:off x="2259798" y="3157193"/>
            <a:ext cx="848861" cy="287496"/>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環境</a:t>
            </a:r>
            <a:r>
              <a:rPr kumimoji="1" lang="en-US" altLang="ja-JP" sz="900" b="1">
                <a:solidFill>
                  <a:schemeClr val="bg1"/>
                </a:solidFill>
                <a:latin typeface="Meiryo UI" panose="020B0604030504040204" pitchFamily="50" charset="-128"/>
                <a:ea typeface="Meiryo UI" panose="020B0604030504040204" pitchFamily="50" charset="-128"/>
              </a:rPr>
              <a:t>(GHG</a:t>
            </a:r>
            <a:r>
              <a:rPr kumimoji="1" lang="ja-JP" altLang="en-US" sz="900" b="1">
                <a:solidFill>
                  <a:schemeClr val="bg1"/>
                </a:solidFill>
                <a:latin typeface="Meiryo UI" panose="020B0604030504040204" pitchFamily="50" charset="-128"/>
                <a:ea typeface="Meiryo UI" panose="020B0604030504040204" pitchFamily="50" charset="-128"/>
              </a:rPr>
              <a:t>以外</a:t>
            </a:r>
            <a:r>
              <a:rPr kumimoji="1" lang="en-US" altLang="ja-JP" sz="900" b="1">
                <a:solidFill>
                  <a:schemeClr val="bg1"/>
                </a:solidFill>
                <a:latin typeface="Meiryo UI" panose="020B0604030504040204" pitchFamily="50" charset="-128"/>
                <a:ea typeface="Meiryo UI" panose="020B0604030504040204" pitchFamily="50" charset="-128"/>
              </a:rPr>
              <a:t>)</a:t>
            </a:r>
          </a:p>
          <a:p>
            <a:pPr algn="ctr"/>
            <a:r>
              <a:rPr kumimoji="1" lang="ja-JP" altLang="en-US" sz="900" b="1">
                <a:solidFill>
                  <a:schemeClr val="bg1"/>
                </a:solidFill>
                <a:latin typeface="Meiryo UI" panose="020B0604030504040204" pitchFamily="50" charset="-128"/>
                <a:ea typeface="Meiryo UI" panose="020B0604030504040204" pitchFamily="50" charset="-128"/>
              </a:rPr>
              <a:t>・環境以外</a:t>
            </a:r>
            <a:endParaRPr kumimoji="1" lang="en-US" altLang="ja-JP" sz="900" b="1">
              <a:solidFill>
                <a:schemeClr val="bg1"/>
              </a:solidFill>
              <a:latin typeface="Meiryo UI" panose="020B0604030504040204" pitchFamily="50" charset="-128"/>
              <a:ea typeface="Meiryo UI" panose="020B0604030504040204" pitchFamily="50" charset="-128"/>
            </a:endParaRPr>
          </a:p>
        </p:txBody>
      </p:sp>
      <p:pic>
        <p:nvPicPr>
          <p:cNvPr id="24" name="グラフィックス 23" descr="紙 単色塗りつぶし">
            <a:extLst>
              <a:ext uri="{FF2B5EF4-FFF2-40B4-BE49-F238E27FC236}">
                <a16:creationId xmlns:a16="http://schemas.microsoft.com/office/drawing/2014/main" id="{B1CD29DF-1B52-1A84-0904-7BFB232BCF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38227" y="2014490"/>
            <a:ext cx="565566" cy="565566"/>
          </a:xfrm>
          <a:prstGeom prst="rect">
            <a:avLst/>
          </a:prstGeom>
        </p:spPr>
      </p:pic>
      <p:sp>
        <p:nvSpPr>
          <p:cNvPr id="25" name="四角形: 角を丸くする 24">
            <a:extLst>
              <a:ext uri="{FF2B5EF4-FFF2-40B4-BE49-F238E27FC236}">
                <a16:creationId xmlns:a16="http://schemas.microsoft.com/office/drawing/2014/main" id="{B4889279-8B81-4FC7-9AD5-CE6D56DECB6F}"/>
              </a:ext>
            </a:extLst>
          </p:cNvPr>
          <p:cNvSpPr/>
          <p:nvPr/>
        </p:nvSpPr>
        <p:spPr>
          <a:xfrm>
            <a:off x="8261640" y="2166538"/>
            <a:ext cx="718740" cy="30867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50" b="1">
                <a:solidFill>
                  <a:schemeClr val="tx1"/>
                </a:solidFill>
                <a:latin typeface="Meiryo UI" panose="020B0604030504040204" pitchFamily="50" charset="-128"/>
                <a:ea typeface="Meiryo UI" panose="020B0604030504040204" pitchFamily="50" charset="-128"/>
              </a:rPr>
              <a:t>温対法</a:t>
            </a:r>
          </a:p>
        </p:txBody>
      </p:sp>
      <p:sp>
        <p:nvSpPr>
          <p:cNvPr id="26" name="正方形/長方形 25">
            <a:extLst>
              <a:ext uri="{FF2B5EF4-FFF2-40B4-BE49-F238E27FC236}">
                <a16:creationId xmlns:a16="http://schemas.microsoft.com/office/drawing/2014/main" id="{8D231ECB-AF42-5A0D-7F3A-FF5A4FFEEE04}"/>
              </a:ext>
            </a:extLst>
          </p:cNvPr>
          <p:cNvSpPr/>
          <p:nvPr/>
        </p:nvSpPr>
        <p:spPr>
          <a:xfrm>
            <a:off x="2259798" y="2175496"/>
            <a:ext cx="848861" cy="287496"/>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共通項目</a:t>
            </a:r>
          </a:p>
        </p:txBody>
      </p:sp>
      <p:sp>
        <p:nvSpPr>
          <p:cNvPr id="27" name="正方形/長方形 26">
            <a:extLst>
              <a:ext uri="{FF2B5EF4-FFF2-40B4-BE49-F238E27FC236}">
                <a16:creationId xmlns:a16="http://schemas.microsoft.com/office/drawing/2014/main" id="{3B8E1C9D-282B-7BB9-17CA-5637EA248821}"/>
              </a:ext>
            </a:extLst>
          </p:cNvPr>
          <p:cNvSpPr/>
          <p:nvPr/>
        </p:nvSpPr>
        <p:spPr>
          <a:xfrm>
            <a:off x="2259798" y="2513244"/>
            <a:ext cx="848861" cy="287496"/>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900" b="1">
                <a:solidFill>
                  <a:schemeClr val="bg1"/>
                </a:solidFill>
                <a:latin typeface="Meiryo UI" panose="020B0604030504040204" pitchFamily="50" charset="-128"/>
                <a:ea typeface="Meiryo UI" panose="020B0604030504040204" pitchFamily="50" charset="-128"/>
              </a:rPr>
              <a:t>GHG</a:t>
            </a:r>
          </a:p>
          <a:p>
            <a:pPr algn="ctr"/>
            <a:r>
              <a:rPr kumimoji="1" lang="ja-JP" altLang="en-US" sz="900" b="1">
                <a:solidFill>
                  <a:schemeClr val="bg1"/>
                </a:solidFill>
                <a:latin typeface="Meiryo UI" panose="020B0604030504040204" pitchFamily="50" charset="-128"/>
                <a:ea typeface="Meiryo UI" panose="020B0604030504040204" pitchFamily="50" charset="-128"/>
              </a:rPr>
              <a:t>プロトコルのみ</a:t>
            </a:r>
          </a:p>
        </p:txBody>
      </p:sp>
      <p:sp>
        <p:nvSpPr>
          <p:cNvPr id="2" name="タイトル 1">
            <a:extLst>
              <a:ext uri="{FF2B5EF4-FFF2-40B4-BE49-F238E27FC236}">
                <a16:creationId xmlns:a16="http://schemas.microsoft.com/office/drawing/2014/main" id="{9C732617-268A-B2DB-DF3F-62E55634930D}"/>
              </a:ext>
            </a:extLst>
          </p:cNvPr>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新</a:t>
            </a:r>
            <a:r>
              <a:rPr kumimoji="1" lang="en-US" altLang="ja-JP">
                <a:latin typeface="Meiryo UI" panose="020B0604030504040204" pitchFamily="50" charset="-128"/>
                <a:ea typeface="Meiryo UI" panose="020B0604030504040204" pitchFamily="50" charset="-128"/>
              </a:rPr>
              <a:t>ESG</a:t>
            </a:r>
            <a:r>
              <a:rPr kumimoji="1" lang="ja-JP" altLang="en-US">
                <a:latin typeface="Meiryo UI" panose="020B0604030504040204" pitchFamily="50" charset="-128"/>
                <a:ea typeface="Meiryo UI" panose="020B0604030504040204" pitchFamily="50" charset="-128"/>
              </a:rPr>
              <a:t>システム</a:t>
            </a:r>
            <a:r>
              <a:rPr lang="ja-JP" altLang="en-US">
                <a:latin typeface="Meiryo UI" panose="020B0604030504040204" pitchFamily="50" charset="-128"/>
                <a:ea typeface="Meiryo UI" panose="020B0604030504040204" pitchFamily="50" charset="-128"/>
              </a:rPr>
              <a:t>概観図</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D01407A2-7460-0951-C9EA-3B9F2F866871}"/>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20</a:t>
            </a:fld>
            <a:endParaRPr kumimoji="1" lang="ja-JP" altLang="en-US">
              <a:latin typeface="Meiryo UI" panose="020B0604030504040204" pitchFamily="50" charset="-128"/>
              <a:ea typeface="Meiryo UI" panose="020B0604030504040204" pitchFamily="50" charset="-128"/>
            </a:endParaRPr>
          </a:p>
        </p:txBody>
      </p:sp>
      <p:sp>
        <p:nvSpPr>
          <p:cNvPr id="61" name="テキスト プレースホルダー 60">
            <a:extLst>
              <a:ext uri="{FF2B5EF4-FFF2-40B4-BE49-F238E27FC236}">
                <a16:creationId xmlns:a16="http://schemas.microsoft.com/office/drawing/2014/main" id="{001D10CE-10DD-A133-A2FE-3B727B7DE0CF}"/>
              </a:ext>
            </a:extLst>
          </p:cNvPr>
          <p:cNvSpPr>
            <a:spLocks noGrp="1"/>
          </p:cNvSpPr>
          <p:nvPr>
            <p:ph type="body" sz="quarter" idx="13"/>
          </p:nvPr>
        </p:nvSpPr>
        <p:spPr/>
        <p:txBody>
          <a:bodyPr/>
          <a:lstStyle/>
          <a:p>
            <a:r>
              <a:rPr lang="ja-JP" altLang="en-US"/>
              <a:t>新</a:t>
            </a:r>
            <a:r>
              <a:rPr lang="en-US" altLang="ja-JP"/>
              <a:t>ESG</a:t>
            </a:r>
            <a:r>
              <a:rPr lang="ja-JP" altLang="en-US"/>
              <a:t>システムでは、温対法・</a:t>
            </a:r>
            <a:r>
              <a:rPr lang="en-US" altLang="ja-JP"/>
              <a:t>SSBJ</a:t>
            </a:r>
            <a:r>
              <a:rPr lang="ja-JP" altLang="en-US"/>
              <a:t>に対応した非財務項目データ、排出係数、算定ロジック、集計ロジックの構築が求められる</a:t>
            </a:r>
          </a:p>
        </p:txBody>
      </p:sp>
      <p:sp>
        <p:nvSpPr>
          <p:cNvPr id="4" name="正方形/長方形 3">
            <a:extLst>
              <a:ext uri="{FF2B5EF4-FFF2-40B4-BE49-F238E27FC236}">
                <a16:creationId xmlns:a16="http://schemas.microsoft.com/office/drawing/2014/main" id="{DC823533-8710-09B0-3559-AC8E45FB6CD3}"/>
              </a:ext>
            </a:extLst>
          </p:cNvPr>
          <p:cNvSpPr/>
          <p:nvPr/>
        </p:nvSpPr>
        <p:spPr>
          <a:xfrm>
            <a:off x="2967439" y="1648896"/>
            <a:ext cx="4001120" cy="25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a:solidFill>
                  <a:srgbClr val="C00000"/>
                </a:solidFill>
                <a:latin typeface="Meiryo UI" panose="020B0604030504040204" pitchFamily="50" charset="-128"/>
                <a:ea typeface="Meiryo UI" panose="020B0604030504040204" pitchFamily="50" charset="-128"/>
              </a:rPr>
              <a:t>新</a:t>
            </a:r>
            <a:r>
              <a:rPr kumimoji="1" lang="en-US" altLang="ja-JP" sz="2000" b="1">
                <a:solidFill>
                  <a:srgbClr val="C00000"/>
                </a:solidFill>
                <a:latin typeface="Meiryo UI" panose="020B0604030504040204" pitchFamily="50" charset="-128"/>
                <a:ea typeface="Meiryo UI" panose="020B0604030504040204" pitchFamily="50" charset="-128"/>
              </a:rPr>
              <a:t>ESG</a:t>
            </a:r>
            <a:r>
              <a:rPr kumimoji="1" lang="ja-JP" altLang="en-US" sz="2000" b="1">
                <a:solidFill>
                  <a:srgbClr val="C00000"/>
                </a:solidFill>
                <a:latin typeface="Meiryo UI" panose="020B0604030504040204" pitchFamily="50" charset="-128"/>
                <a:ea typeface="Meiryo UI" panose="020B0604030504040204" pitchFamily="50" charset="-128"/>
              </a:rPr>
              <a:t>システム</a:t>
            </a:r>
          </a:p>
        </p:txBody>
      </p:sp>
      <p:cxnSp>
        <p:nvCxnSpPr>
          <p:cNvPr id="14" name="直線矢印コネクタ 13">
            <a:extLst>
              <a:ext uri="{FF2B5EF4-FFF2-40B4-BE49-F238E27FC236}">
                <a16:creationId xmlns:a16="http://schemas.microsoft.com/office/drawing/2014/main" id="{22E8C2A4-F6A8-7A8D-2911-959D4CBDE811}"/>
              </a:ext>
            </a:extLst>
          </p:cNvPr>
          <p:cNvCxnSpPr>
            <a:cxnSpLocks/>
            <a:stCxn id="9" idx="3"/>
          </p:cNvCxnSpPr>
          <p:nvPr/>
        </p:nvCxnSpPr>
        <p:spPr>
          <a:xfrm>
            <a:off x="1292312" y="2134226"/>
            <a:ext cx="724414"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BB9E66A8-79DD-899E-ABCF-CEB4C81CA5C9}"/>
              </a:ext>
            </a:extLst>
          </p:cNvPr>
          <p:cNvSpPr/>
          <p:nvPr/>
        </p:nvSpPr>
        <p:spPr>
          <a:xfrm>
            <a:off x="181398" y="1849040"/>
            <a:ext cx="728237" cy="25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a:solidFill>
                  <a:schemeClr val="tx1"/>
                </a:solidFill>
                <a:latin typeface="Meiryo UI" panose="020B0604030504040204" pitchFamily="50" charset="-128"/>
                <a:ea typeface="Meiryo UI" panose="020B0604030504040204" pitchFamily="50" charset="-128"/>
              </a:rPr>
              <a:t>Scope1,2</a:t>
            </a:r>
            <a:endParaRPr kumimoji="1" lang="ja-JP" altLang="en-US" sz="1000" b="1">
              <a:solidFill>
                <a:schemeClr val="tx1"/>
              </a:solidFill>
              <a:latin typeface="Meiryo UI" panose="020B0604030504040204" pitchFamily="50" charset="-128"/>
              <a:ea typeface="Meiryo UI" panose="020B0604030504040204" pitchFamily="50" charset="-128"/>
            </a:endParaRPr>
          </a:p>
        </p:txBody>
      </p:sp>
      <p:pic>
        <p:nvPicPr>
          <p:cNvPr id="9" name="グラフィックス 8" descr="ユーザー 単色塗りつぶし">
            <a:extLst>
              <a:ext uri="{FF2B5EF4-FFF2-40B4-BE49-F238E27FC236}">
                <a16:creationId xmlns:a16="http://schemas.microsoft.com/office/drawing/2014/main" id="{ABE281D2-1179-98AF-CDA7-64B362D3AD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9128" y="1977634"/>
            <a:ext cx="313184" cy="313184"/>
          </a:xfrm>
          <a:prstGeom prst="rect">
            <a:avLst/>
          </a:prstGeom>
        </p:spPr>
      </p:pic>
      <p:sp>
        <p:nvSpPr>
          <p:cNvPr id="13" name="円柱 12">
            <a:extLst>
              <a:ext uri="{FF2B5EF4-FFF2-40B4-BE49-F238E27FC236}">
                <a16:creationId xmlns:a16="http://schemas.microsoft.com/office/drawing/2014/main" id="{84C4F3A4-C87B-E2D0-D591-7BF011B9A8A8}"/>
              </a:ext>
            </a:extLst>
          </p:cNvPr>
          <p:cNvSpPr/>
          <p:nvPr/>
        </p:nvSpPr>
        <p:spPr>
          <a:xfrm>
            <a:off x="980237" y="1746936"/>
            <a:ext cx="397212" cy="194463"/>
          </a:xfrm>
          <a:prstGeom prst="can">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サーバ</a:t>
            </a:r>
          </a:p>
        </p:txBody>
      </p:sp>
      <p:cxnSp>
        <p:nvCxnSpPr>
          <p:cNvPr id="41" name="直線矢印コネクタ 40">
            <a:extLst>
              <a:ext uri="{FF2B5EF4-FFF2-40B4-BE49-F238E27FC236}">
                <a16:creationId xmlns:a16="http://schemas.microsoft.com/office/drawing/2014/main" id="{AF06B0DE-FB1F-2EE6-0362-DC4927E9E275}"/>
              </a:ext>
            </a:extLst>
          </p:cNvPr>
          <p:cNvCxnSpPr>
            <a:cxnSpLocks/>
            <a:stCxn id="13" idx="4"/>
          </p:cNvCxnSpPr>
          <p:nvPr/>
        </p:nvCxnSpPr>
        <p:spPr>
          <a:xfrm>
            <a:off x="1377449" y="1844168"/>
            <a:ext cx="639279"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DD2A76B2-723F-EAEA-D4D5-431C329D6BBF}"/>
              </a:ext>
            </a:extLst>
          </p:cNvPr>
          <p:cNvSpPr txBox="1"/>
          <p:nvPr/>
        </p:nvSpPr>
        <p:spPr>
          <a:xfrm>
            <a:off x="1400775" y="1644350"/>
            <a:ext cx="504000" cy="180000"/>
          </a:xfrm>
          <a:prstGeom prst="rect">
            <a:avLst/>
          </a:prstGeom>
          <a:noFill/>
        </p:spPr>
        <p:txBody>
          <a:bodyPr wrap="none" lIns="0" tIns="0" rIns="0" bIns="0" rtlCol="0">
            <a:noAutofit/>
          </a:bodyPr>
          <a:lstStyle/>
          <a:p>
            <a:pPr algn="ctr"/>
            <a:r>
              <a:rPr kumimoji="1" lang="en-US" altLang="ja-JP" sz="900">
                <a:latin typeface="Meiryo UI" panose="020B0604030504040204" pitchFamily="50" charset="-128"/>
                <a:ea typeface="Meiryo UI" panose="020B0604030504040204" pitchFamily="50" charset="-128"/>
              </a:rPr>
              <a:t>CSV</a:t>
            </a:r>
            <a:r>
              <a:rPr kumimoji="1" lang="ja-JP" altLang="en-US" sz="900">
                <a:latin typeface="Meiryo UI" panose="020B0604030504040204" pitchFamily="50" charset="-128"/>
                <a:ea typeface="Meiryo UI" panose="020B0604030504040204" pitchFamily="50" charset="-128"/>
              </a:rPr>
              <a:t>、</a:t>
            </a:r>
            <a:r>
              <a:rPr kumimoji="1" lang="en-US" altLang="ja-JP" sz="900">
                <a:latin typeface="Meiryo UI" panose="020B0604030504040204" pitchFamily="50" charset="-128"/>
                <a:ea typeface="Meiryo UI" panose="020B0604030504040204" pitchFamily="50" charset="-128"/>
              </a:rPr>
              <a:t>API</a:t>
            </a:r>
            <a:r>
              <a:rPr kumimoji="1" lang="ja-JP" altLang="en-US" sz="900">
                <a:latin typeface="Meiryo UI" panose="020B0604030504040204" pitchFamily="50" charset="-128"/>
                <a:ea typeface="Meiryo UI" panose="020B0604030504040204" pitchFamily="50" charset="-128"/>
              </a:rPr>
              <a:t>等</a:t>
            </a:r>
            <a:endParaRPr kumimoji="1" lang="en-US" altLang="ja-JP" sz="900">
              <a:latin typeface="Meiryo UI" panose="020B0604030504040204" pitchFamily="50" charset="-128"/>
              <a:ea typeface="Meiryo UI" panose="020B0604030504040204" pitchFamily="50" charset="-128"/>
            </a:endParaRPr>
          </a:p>
        </p:txBody>
      </p:sp>
      <p:sp>
        <p:nvSpPr>
          <p:cNvPr id="49" name="テキスト ボックス 48">
            <a:extLst>
              <a:ext uri="{FF2B5EF4-FFF2-40B4-BE49-F238E27FC236}">
                <a16:creationId xmlns:a16="http://schemas.microsoft.com/office/drawing/2014/main" id="{C445948F-28DE-6447-7841-BB329758ED2D}"/>
              </a:ext>
            </a:extLst>
          </p:cNvPr>
          <p:cNvSpPr txBox="1"/>
          <p:nvPr/>
        </p:nvSpPr>
        <p:spPr>
          <a:xfrm>
            <a:off x="1279296" y="1943675"/>
            <a:ext cx="645876" cy="180000"/>
          </a:xfrm>
          <a:prstGeom prst="rect">
            <a:avLst/>
          </a:prstGeom>
          <a:noFill/>
        </p:spPr>
        <p:txBody>
          <a:bodyPr wrap="none" lIns="0" tIns="0" rIns="0" bIns="0" rtlCol="0">
            <a:noAutofit/>
          </a:bodyPr>
          <a:lstStyle/>
          <a:p>
            <a:pPr algn="ctr"/>
            <a:r>
              <a:rPr kumimoji="1" lang="ja-JP" altLang="en-US" sz="900">
                <a:latin typeface="Meiryo UI" panose="020B0604030504040204" pitchFamily="50" charset="-128"/>
                <a:ea typeface="Meiryo UI" panose="020B0604030504040204" pitchFamily="50" charset="-128"/>
              </a:rPr>
              <a:t>手入力、</a:t>
            </a:r>
            <a:r>
              <a:rPr kumimoji="1" lang="en-US" altLang="ja-JP" sz="900">
                <a:latin typeface="Meiryo UI" panose="020B0604030504040204" pitchFamily="50" charset="-128"/>
                <a:ea typeface="Meiryo UI" panose="020B0604030504040204" pitchFamily="50" charset="-128"/>
              </a:rPr>
              <a:t>Excel</a:t>
            </a:r>
            <a:r>
              <a:rPr kumimoji="1" lang="ja-JP" altLang="en-US" sz="900">
                <a:latin typeface="Meiryo UI" panose="020B0604030504040204" pitchFamily="50" charset="-128"/>
                <a:ea typeface="Meiryo UI" panose="020B0604030504040204" pitchFamily="50" charset="-128"/>
              </a:rPr>
              <a:t>等</a:t>
            </a:r>
            <a:endParaRPr kumimoji="1" lang="en-US" altLang="ja-JP" sz="90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D1FD1E53-D53E-D447-D5FB-D1CC35BF8CC6}"/>
              </a:ext>
            </a:extLst>
          </p:cNvPr>
          <p:cNvSpPr/>
          <p:nvPr/>
        </p:nvSpPr>
        <p:spPr>
          <a:xfrm>
            <a:off x="181398" y="2744548"/>
            <a:ext cx="728237" cy="25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a:solidFill>
                  <a:schemeClr val="tx1"/>
                </a:solidFill>
                <a:latin typeface="Meiryo UI" panose="020B0604030504040204" pitchFamily="50" charset="-128"/>
                <a:ea typeface="Meiryo UI" panose="020B0604030504040204" pitchFamily="50" charset="-128"/>
              </a:rPr>
              <a:t>Scope3</a:t>
            </a:r>
            <a:endParaRPr kumimoji="1" lang="ja-JP" altLang="en-US" sz="1000" b="1">
              <a:solidFill>
                <a:schemeClr val="tx1"/>
              </a:solidFill>
              <a:latin typeface="Meiryo UI" panose="020B0604030504040204" pitchFamily="50" charset="-128"/>
              <a:ea typeface="Meiryo UI" panose="020B0604030504040204" pitchFamily="50" charset="-128"/>
            </a:endParaRPr>
          </a:p>
        </p:txBody>
      </p:sp>
      <p:pic>
        <p:nvPicPr>
          <p:cNvPr id="10" name="グラフィックス 9" descr="ユーザー 単色塗りつぶし">
            <a:extLst>
              <a:ext uri="{FF2B5EF4-FFF2-40B4-BE49-F238E27FC236}">
                <a16:creationId xmlns:a16="http://schemas.microsoft.com/office/drawing/2014/main" id="{973E2463-B76C-7725-6774-28BF8DE55F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9128" y="2713956"/>
            <a:ext cx="313184" cy="313184"/>
          </a:xfrm>
          <a:prstGeom prst="rect">
            <a:avLst/>
          </a:prstGeom>
        </p:spPr>
      </p:pic>
      <p:cxnSp>
        <p:nvCxnSpPr>
          <p:cNvPr id="38" name="直線矢印コネクタ 37">
            <a:extLst>
              <a:ext uri="{FF2B5EF4-FFF2-40B4-BE49-F238E27FC236}">
                <a16:creationId xmlns:a16="http://schemas.microsoft.com/office/drawing/2014/main" id="{FBDE6E4B-7481-96BA-9BB4-3347AF409AB6}"/>
              </a:ext>
            </a:extLst>
          </p:cNvPr>
          <p:cNvCxnSpPr>
            <a:cxnSpLocks/>
          </p:cNvCxnSpPr>
          <p:nvPr/>
        </p:nvCxnSpPr>
        <p:spPr>
          <a:xfrm flipV="1">
            <a:off x="1292312" y="2917321"/>
            <a:ext cx="724416"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F742EFBA-1230-E666-FFAF-EF37E724A477}"/>
              </a:ext>
            </a:extLst>
          </p:cNvPr>
          <p:cNvSpPr txBox="1"/>
          <p:nvPr/>
        </p:nvSpPr>
        <p:spPr>
          <a:xfrm>
            <a:off x="1279296" y="2711806"/>
            <a:ext cx="645876" cy="180000"/>
          </a:xfrm>
          <a:prstGeom prst="rect">
            <a:avLst/>
          </a:prstGeom>
          <a:noFill/>
        </p:spPr>
        <p:txBody>
          <a:bodyPr wrap="none" lIns="0" tIns="0" rIns="0" bIns="0" rtlCol="0">
            <a:noAutofit/>
          </a:bodyPr>
          <a:lstStyle/>
          <a:p>
            <a:pPr algn="ctr"/>
            <a:r>
              <a:rPr kumimoji="1" lang="ja-JP" altLang="en-US" sz="900">
                <a:latin typeface="Meiryo UI" panose="020B0604030504040204" pitchFamily="50" charset="-128"/>
                <a:ea typeface="Meiryo UI" panose="020B0604030504040204" pitchFamily="50" charset="-128"/>
              </a:rPr>
              <a:t>手入力、</a:t>
            </a:r>
            <a:r>
              <a:rPr kumimoji="1" lang="en-US" altLang="ja-JP" sz="900">
                <a:latin typeface="Meiryo UI" panose="020B0604030504040204" pitchFamily="50" charset="-128"/>
                <a:ea typeface="Meiryo UI" panose="020B0604030504040204" pitchFamily="50" charset="-128"/>
              </a:rPr>
              <a:t>Excel</a:t>
            </a:r>
            <a:r>
              <a:rPr kumimoji="1" lang="ja-JP" altLang="en-US" sz="900">
                <a:latin typeface="Meiryo UI" panose="020B0604030504040204" pitchFamily="50" charset="-128"/>
                <a:ea typeface="Meiryo UI" panose="020B0604030504040204" pitchFamily="50" charset="-128"/>
              </a:rPr>
              <a:t>等</a:t>
            </a:r>
            <a:endParaRPr kumimoji="1" lang="en-US" altLang="ja-JP" sz="90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4EB4A89E-6B27-4EDB-68F0-046F5D9B7032}"/>
              </a:ext>
            </a:extLst>
          </p:cNvPr>
          <p:cNvSpPr/>
          <p:nvPr/>
        </p:nvSpPr>
        <p:spPr>
          <a:xfrm>
            <a:off x="181398" y="3549329"/>
            <a:ext cx="728237" cy="25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a:solidFill>
                  <a:schemeClr val="tx1"/>
                </a:solidFill>
                <a:latin typeface="Meiryo UI" panose="020B0604030504040204" pitchFamily="50" charset="-128"/>
                <a:ea typeface="Meiryo UI" panose="020B0604030504040204" pitchFamily="50" charset="-128"/>
              </a:rPr>
              <a:t>GHG</a:t>
            </a:r>
            <a:r>
              <a:rPr kumimoji="1" lang="ja-JP" altLang="en-US" sz="1000" b="1">
                <a:solidFill>
                  <a:schemeClr val="tx1"/>
                </a:solidFill>
                <a:latin typeface="Meiryo UI" panose="020B0604030504040204" pitchFamily="50" charset="-128"/>
                <a:ea typeface="Meiryo UI" panose="020B0604030504040204" pitchFamily="50" charset="-128"/>
              </a:rPr>
              <a:t>以外環境</a:t>
            </a:r>
          </a:p>
        </p:txBody>
      </p:sp>
      <p:pic>
        <p:nvPicPr>
          <p:cNvPr id="11" name="グラフィックス 10" descr="ユーザー 単色塗りつぶし">
            <a:extLst>
              <a:ext uri="{FF2B5EF4-FFF2-40B4-BE49-F238E27FC236}">
                <a16:creationId xmlns:a16="http://schemas.microsoft.com/office/drawing/2014/main" id="{E72294AC-5C82-CF17-84E2-4382A6A1AA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9128" y="3513140"/>
            <a:ext cx="313184" cy="313184"/>
          </a:xfrm>
          <a:prstGeom prst="rect">
            <a:avLst/>
          </a:prstGeom>
        </p:spPr>
      </p:pic>
      <p:cxnSp>
        <p:nvCxnSpPr>
          <p:cNvPr id="39" name="直線矢印コネクタ 38">
            <a:extLst>
              <a:ext uri="{FF2B5EF4-FFF2-40B4-BE49-F238E27FC236}">
                <a16:creationId xmlns:a16="http://schemas.microsoft.com/office/drawing/2014/main" id="{74224A3E-6BD2-185B-C195-2B968E10EC07}"/>
              </a:ext>
            </a:extLst>
          </p:cNvPr>
          <p:cNvCxnSpPr>
            <a:cxnSpLocks/>
          </p:cNvCxnSpPr>
          <p:nvPr/>
        </p:nvCxnSpPr>
        <p:spPr>
          <a:xfrm>
            <a:off x="1279296" y="3654929"/>
            <a:ext cx="737432"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FD5782B9-68E9-01EB-86AA-D5019328420A}"/>
              </a:ext>
            </a:extLst>
          </p:cNvPr>
          <p:cNvSpPr txBox="1"/>
          <p:nvPr/>
        </p:nvSpPr>
        <p:spPr>
          <a:xfrm>
            <a:off x="1279296" y="3448128"/>
            <a:ext cx="645876" cy="180000"/>
          </a:xfrm>
          <a:prstGeom prst="rect">
            <a:avLst/>
          </a:prstGeom>
          <a:noFill/>
        </p:spPr>
        <p:txBody>
          <a:bodyPr wrap="none" lIns="0" tIns="0" rIns="0" bIns="0" rtlCol="0">
            <a:noAutofit/>
          </a:bodyPr>
          <a:lstStyle/>
          <a:p>
            <a:pPr algn="ctr"/>
            <a:r>
              <a:rPr kumimoji="1" lang="ja-JP" altLang="en-US" sz="900">
                <a:latin typeface="Meiryo UI" panose="020B0604030504040204" pitchFamily="50" charset="-128"/>
                <a:ea typeface="Meiryo UI" panose="020B0604030504040204" pitchFamily="50" charset="-128"/>
              </a:rPr>
              <a:t>手入力、</a:t>
            </a:r>
            <a:r>
              <a:rPr kumimoji="1" lang="en-US" altLang="ja-JP" sz="900">
                <a:latin typeface="Meiryo UI" panose="020B0604030504040204" pitchFamily="50" charset="-128"/>
                <a:ea typeface="Meiryo UI" panose="020B0604030504040204" pitchFamily="50" charset="-128"/>
              </a:rPr>
              <a:t>Excel</a:t>
            </a:r>
            <a:r>
              <a:rPr kumimoji="1" lang="ja-JP" altLang="en-US" sz="900">
                <a:latin typeface="Meiryo UI" panose="020B0604030504040204" pitchFamily="50" charset="-128"/>
                <a:ea typeface="Meiryo UI" panose="020B0604030504040204" pitchFamily="50" charset="-128"/>
              </a:rPr>
              <a:t>等</a:t>
            </a:r>
            <a:endParaRPr kumimoji="1" lang="en-US" altLang="ja-JP" sz="900">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42AD3A62-4639-FD22-6256-D193D201E766}"/>
              </a:ext>
            </a:extLst>
          </p:cNvPr>
          <p:cNvSpPr/>
          <p:nvPr/>
        </p:nvSpPr>
        <p:spPr>
          <a:xfrm>
            <a:off x="181398" y="4272261"/>
            <a:ext cx="728237" cy="25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環境以外</a:t>
            </a:r>
          </a:p>
        </p:txBody>
      </p:sp>
      <p:pic>
        <p:nvPicPr>
          <p:cNvPr id="12" name="グラフィックス 11" descr="ユーザー 単色塗りつぶし">
            <a:extLst>
              <a:ext uri="{FF2B5EF4-FFF2-40B4-BE49-F238E27FC236}">
                <a16:creationId xmlns:a16="http://schemas.microsoft.com/office/drawing/2014/main" id="{F4207F7A-5B42-25B4-8A67-866F7CF2C0D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9128" y="4247312"/>
            <a:ext cx="313184" cy="313184"/>
          </a:xfrm>
          <a:prstGeom prst="rect">
            <a:avLst/>
          </a:prstGeom>
        </p:spPr>
      </p:pic>
      <p:cxnSp>
        <p:nvCxnSpPr>
          <p:cNvPr id="40" name="直線矢印コネクタ 39">
            <a:extLst>
              <a:ext uri="{FF2B5EF4-FFF2-40B4-BE49-F238E27FC236}">
                <a16:creationId xmlns:a16="http://schemas.microsoft.com/office/drawing/2014/main" id="{E5F62EA8-6514-A6D5-CBB8-34BFC2B4DECF}"/>
              </a:ext>
            </a:extLst>
          </p:cNvPr>
          <p:cNvCxnSpPr>
            <a:cxnSpLocks/>
          </p:cNvCxnSpPr>
          <p:nvPr/>
        </p:nvCxnSpPr>
        <p:spPr>
          <a:xfrm>
            <a:off x="1279296" y="4460953"/>
            <a:ext cx="737432"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016FCFAB-2C60-F399-4081-8C98A5BEF91A}"/>
              </a:ext>
            </a:extLst>
          </p:cNvPr>
          <p:cNvSpPr txBox="1"/>
          <p:nvPr/>
        </p:nvSpPr>
        <p:spPr>
          <a:xfrm>
            <a:off x="1279296" y="4249022"/>
            <a:ext cx="645876" cy="180000"/>
          </a:xfrm>
          <a:prstGeom prst="rect">
            <a:avLst/>
          </a:prstGeom>
          <a:noFill/>
        </p:spPr>
        <p:txBody>
          <a:bodyPr wrap="none" lIns="0" tIns="0" rIns="0" bIns="0" rtlCol="0">
            <a:noAutofit/>
          </a:bodyPr>
          <a:lstStyle/>
          <a:p>
            <a:pPr algn="ctr"/>
            <a:r>
              <a:rPr kumimoji="1" lang="ja-JP" altLang="en-US" sz="900">
                <a:latin typeface="Meiryo UI" panose="020B0604030504040204" pitchFamily="50" charset="-128"/>
                <a:ea typeface="Meiryo UI" panose="020B0604030504040204" pitchFamily="50" charset="-128"/>
              </a:rPr>
              <a:t>手入力、</a:t>
            </a:r>
            <a:r>
              <a:rPr kumimoji="1" lang="en-US" altLang="ja-JP" sz="900">
                <a:latin typeface="Meiryo UI" panose="020B0604030504040204" pitchFamily="50" charset="-128"/>
                <a:ea typeface="Meiryo UI" panose="020B0604030504040204" pitchFamily="50" charset="-128"/>
              </a:rPr>
              <a:t>Excel</a:t>
            </a:r>
            <a:r>
              <a:rPr kumimoji="1" lang="ja-JP" altLang="en-US" sz="900">
                <a:latin typeface="Meiryo UI" panose="020B0604030504040204" pitchFamily="50" charset="-128"/>
                <a:ea typeface="Meiryo UI" panose="020B0604030504040204" pitchFamily="50" charset="-128"/>
              </a:rPr>
              <a:t>等</a:t>
            </a:r>
            <a:endParaRPr kumimoji="1" lang="en-US" altLang="ja-JP" sz="900">
              <a:latin typeface="Meiryo UI" panose="020B0604030504040204" pitchFamily="50" charset="-128"/>
              <a:ea typeface="Meiryo UI" panose="020B0604030504040204" pitchFamily="50" charset="-128"/>
            </a:endParaRPr>
          </a:p>
        </p:txBody>
      </p:sp>
      <p:sp>
        <p:nvSpPr>
          <p:cNvPr id="63" name="正方形/長方形 62">
            <a:extLst>
              <a:ext uri="{FF2B5EF4-FFF2-40B4-BE49-F238E27FC236}">
                <a16:creationId xmlns:a16="http://schemas.microsoft.com/office/drawing/2014/main" id="{0B58E3B3-7860-67E7-8DBF-5D669C78C23E}"/>
              </a:ext>
            </a:extLst>
          </p:cNvPr>
          <p:cNvSpPr/>
          <p:nvPr/>
        </p:nvSpPr>
        <p:spPr>
          <a:xfrm>
            <a:off x="4004828" y="2175496"/>
            <a:ext cx="862422" cy="287496"/>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温帯法用係数</a:t>
            </a:r>
          </a:p>
        </p:txBody>
      </p:sp>
      <p:sp>
        <p:nvSpPr>
          <p:cNvPr id="64" name="正方形/長方形 63">
            <a:extLst>
              <a:ext uri="{FF2B5EF4-FFF2-40B4-BE49-F238E27FC236}">
                <a16:creationId xmlns:a16="http://schemas.microsoft.com/office/drawing/2014/main" id="{D4AC029D-F42A-A615-7C9B-0C65C983D4D5}"/>
              </a:ext>
            </a:extLst>
          </p:cNvPr>
          <p:cNvSpPr/>
          <p:nvPr/>
        </p:nvSpPr>
        <p:spPr>
          <a:xfrm>
            <a:off x="4004828" y="2513244"/>
            <a:ext cx="862422" cy="287496"/>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800" b="1">
                <a:solidFill>
                  <a:schemeClr val="bg1"/>
                </a:solidFill>
                <a:latin typeface="Meiryo UI" panose="020B0604030504040204" pitchFamily="50" charset="-128"/>
                <a:ea typeface="Meiryo UI" panose="020B0604030504040204" pitchFamily="50" charset="-128"/>
              </a:rPr>
              <a:t>プロトコル用係数</a:t>
            </a:r>
            <a:endParaRPr kumimoji="1" lang="en-US" altLang="ja-JP" sz="800" b="1">
              <a:solidFill>
                <a:schemeClr val="bg1"/>
              </a:solidFill>
              <a:latin typeface="Meiryo UI" panose="020B0604030504040204" pitchFamily="50" charset="-128"/>
              <a:ea typeface="Meiryo UI" panose="020B0604030504040204" pitchFamily="50" charset="-128"/>
            </a:endParaRPr>
          </a:p>
          <a:p>
            <a:pPr algn="ctr"/>
            <a:r>
              <a:rPr kumimoji="1" lang="en-US" altLang="ja-JP" sz="800" b="1">
                <a:solidFill>
                  <a:schemeClr val="bg1"/>
                </a:solidFill>
                <a:latin typeface="Meiryo UI" panose="020B0604030504040204" pitchFamily="50" charset="-128"/>
                <a:ea typeface="Meiryo UI" panose="020B0604030504040204" pitchFamily="50" charset="-128"/>
              </a:rPr>
              <a:t>(Scope1,2)</a:t>
            </a:r>
            <a:endParaRPr kumimoji="1" lang="ja-JP" altLang="en-US" sz="800" b="1">
              <a:solidFill>
                <a:schemeClr val="bg1"/>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A9899B95-FE9E-0589-2802-DD5B83620726}"/>
              </a:ext>
            </a:extLst>
          </p:cNvPr>
          <p:cNvSpPr/>
          <p:nvPr/>
        </p:nvSpPr>
        <p:spPr>
          <a:xfrm>
            <a:off x="5506529" y="2175496"/>
            <a:ext cx="915914" cy="287496"/>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温対法排出量</a:t>
            </a:r>
          </a:p>
        </p:txBody>
      </p:sp>
      <p:sp>
        <p:nvSpPr>
          <p:cNvPr id="70" name="正方形/長方形 69">
            <a:extLst>
              <a:ext uri="{FF2B5EF4-FFF2-40B4-BE49-F238E27FC236}">
                <a16:creationId xmlns:a16="http://schemas.microsoft.com/office/drawing/2014/main" id="{EDAC6646-B38A-84ED-834A-39CBFD5C9440}"/>
              </a:ext>
            </a:extLst>
          </p:cNvPr>
          <p:cNvSpPr/>
          <p:nvPr/>
        </p:nvSpPr>
        <p:spPr>
          <a:xfrm>
            <a:off x="5506529" y="2506329"/>
            <a:ext cx="915914" cy="287496"/>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800" b="1">
                <a:solidFill>
                  <a:schemeClr val="bg1"/>
                </a:solidFill>
                <a:latin typeface="Meiryo UI" panose="020B0604030504040204" pitchFamily="50" charset="-128"/>
                <a:ea typeface="Meiryo UI" panose="020B0604030504040204" pitchFamily="50" charset="-128"/>
              </a:rPr>
              <a:t>Scope1,2</a:t>
            </a:r>
            <a:r>
              <a:rPr kumimoji="1" lang="ja-JP" altLang="en-US" sz="800" b="1">
                <a:solidFill>
                  <a:schemeClr val="bg1"/>
                </a:solidFill>
                <a:latin typeface="Meiryo UI" panose="020B0604030504040204" pitchFamily="50" charset="-128"/>
                <a:ea typeface="Meiryo UI" panose="020B0604030504040204" pitchFamily="50" charset="-128"/>
              </a:rPr>
              <a:t>排出量</a:t>
            </a:r>
          </a:p>
        </p:txBody>
      </p:sp>
      <p:cxnSp>
        <p:nvCxnSpPr>
          <p:cNvPr id="71" name="直線矢印コネクタ 70">
            <a:extLst>
              <a:ext uri="{FF2B5EF4-FFF2-40B4-BE49-F238E27FC236}">
                <a16:creationId xmlns:a16="http://schemas.microsoft.com/office/drawing/2014/main" id="{741C1C51-2CF2-2821-9AB9-9940816956C0}"/>
              </a:ext>
            </a:extLst>
          </p:cNvPr>
          <p:cNvCxnSpPr>
            <a:cxnSpLocks/>
            <a:stCxn id="63" idx="3"/>
            <a:endCxn id="69" idx="1"/>
          </p:cNvCxnSpPr>
          <p:nvPr/>
        </p:nvCxnSpPr>
        <p:spPr>
          <a:xfrm>
            <a:off x="4867250" y="2319244"/>
            <a:ext cx="639279"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19A52010-5EE1-8390-ECAC-E256FA5AD17B}"/>
              </a:ext>
            </a:extLst>
          </p:cNvPr>
          <p:cNvCxnSpPr>
            <a:cxnSpLocks/>
            <a:stCxn id="64" idx="3"/>
            <a:endCxn id="70" idx="1"/>
          </p:cNvCxnSpPr>
          <p:nvPr/>
        </p:nvCxnSpPr>
        <p:spPr>
          <a:xfrm flipV="1">
            <a:off x="4867250" y="2650077"/>
            <a:ext cx="639279" cy="6915"/>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コネクタ: カギ線 73">
            <a:extLst>
              <a:ext uri="{FF2B5EF4-FFF2-40B4-BE49-F238E27FC236}">
                <a16:creationId xmlns:a16="http://schemas.microsoft.com/office/drawing/2014/main" id="{69AEF4B5-FC3F-4BD2-86CA-71851858C214}"/>
              </a:ext>
            </a:extLst>
          </p:cNvPr>
          <p:cNvCxnSpPr>
            <a:cxnSpLocks/>
            <a:stCxn id="26" idx="3"/>
            <a:endCxn id="64" idx="1"/>
          </p:cNvCxnSpPr>
          <p:nvPr/>
        </p:nvCxnSpPr>
        <p:spPr>
          <a:xfrm>
            <a:off x="3108659" y="2319244"/>
            <a:ext cx="896169" cy="337748"/>
          </a:xfrm>
          <a:prstGeom prst="bentConnector3">
            <a:avLst>
              <a:gd name="adj1" fmla="val 50000"/>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9B751FBB-4CA2-B4C2-3BF6-6E86E2DE68DE}"/>
              </a:ext>
            </a:extLst>
          </p:cNvPr>
          <p:cNvSpPr txBox="1"/>
          <p:nvPr/>
        </p:nvSpPr>
        <p:spPr>
          <a:xfrm>
            <a:off x="4867250" y="2384706"/>
            <a:ext cx="670824" cy="144540"/>
          </a:xfrm>
          <a:prstGeom prst="rect">
            <a:avLst/>
          </a:prstGeom>
          <a:noFill/>
        </p:spPr>
        <p:txBody>
          <a:bodyPr wrap="none" lIns="0" tIns="0" rIns="0" bIns="0" rtlCol="0">
            <a:noAutofit/>
          </a:bodyPr>
          <a:lstStyle/>
          <a:p>
            <a:pPr algn="ctr"/>
            <a:r>
              <a:rPr kumimoji="1" lang="ja-JP" altLang="en-US" sz="800">
                <a:latin typeface="Meiryo UI" panose="020B0604030504040204" pitchFamily="50" charset="-128"/>
                <a:ea typeface="Meiryo UI" panose="020B0604030504040204" pitchFamily="50" charset="-128"/>
              </a:rPr>
              <a:t>算定・集計</a:t>
            </a:r>
            <a:endParaRPr kumimoji="1" lang="en-US" altLang="ja-JP" sz="800">
              <a:latin typeface="Meiryo UI" panose="020B0604030504040204" pitchFamily="50" charset="-128"/>
              <a:ea typeface="Meiryo UI" panose="020B0604030504040204" pitchFamily="50" charset="-128"/>
            </a:endParaRPr>
          </a:p>
        </p:txBody>
      </p:sp>
      <p:cxnSp>
        <p:nvCxnSpPr>
          <p:cNvPr id="94" name="直線矢印コネクタ 93">
            <a:extLst>
              <a:ext uri="{FF2B5EF4-FFF2-40B4-BE49-F238E27FC236}">
                <a16:creationId xmlns:a16="http://schemas.microsoft.com/office/drawing/2014/main" id="{235A08E7-3EA1-D98D-112F-0EC0C8E42E3F}"/>
              </a:ext>
            </a:extLst>
          </p:cNvPr>
          <p:cNvCxnSpPr>
            <a:cxnSpLocks/>
          </p:cNvCxnSpPr>
          <p:nvPr/>
        </p:nvCxnSpPr>
        <p:spPr>
          <a:xfrm>
            <a:off x="3108659" y="2233900"/>
            <a:ext cx="896169"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7E413678-BA51-2527-585B-D8D04F993D6E}"/>
              </a:ext>
            </a:extLst>
          </p:cNvPr>
          <p:cNvCxnSpPr>
            <a:cxnSpLocks/>
            <a:stCxn id="27" idx="3"/>
            <a:endCxn id="64" idx="1"/>
          </p:cNvCxnSpPr>
          <p:nvPr/>
        </p:nvCxnSpPr>
        <p:spPr>
          <a:xfrm>
            <a:off x="3108659" y="2656992"/>
            <a:ext cx="896169"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テキスト ボックス 101">
            <a:extLst>
              <a:ext uri="{FF2B5EF4-FFF2-40B4-BE49-F238E27FC236}">
                <a16:creationId xmlns:a16="http://schemas.microsoft.com/office/drawing/2014/main" id="{BAB95466-3E65-BC28-A6C3-DF89712DF088}"/>
              </a:ext>
            </a:extLst>
          </p:cNvPr>
          <p:cNvSpPr txBox="1"/>
          <p:nvPr/>
        </p:nvSpPr>
        <p:spPr>
          <a:xfrm>
            <a:off x="4867250" y="2714439"/>
            <a:ext cx="670824" cy="144540"/>
          </a:xfrm>
          <a:prstGeom prst="rect">
            <a:avLst/>
          </a:prstGeom>
          <a:noFill/>
        </p:spPr>
        <p:txBody>
          <a:bodyPr wrap="none" lIns="0" tIns="0" rIns="0" bIns="0" rtlCol="0">
            <a:noAutofit/>
          </a:bodyPr>
          <a:lstStyle/>
          <a:p>
            <a:pPr algn="ctr"/>
            <a:r>
              <a:rPr kumimoji="1" lang="ja-JP" altLang="en-US" sz="800">
                <a:latin typeface="Meiryo UI" panose="020B0604030504040204" pitchFamily="50" charset="-128"/>
                <a:ea typeface="Meiryo UI" panose="020B0604030504040204" pitchFamily="50" charset="-128"/>
              </a:rPr>
              <a:t>算定・集計</a:t>
            </a:r>
            <a:endParaRPr kumimoji="1" lang="en-US" altLang="ja-JP" sz="800">
              <a:latin typeface="Meiryo UI" panose="020B0604030504040204" pitchFamily="50" charset="-128"/>
              <a:ea typeface="Meiryo UI" panose="020B0604030504040204" pitchFamily="50" charset="-128"/>
            </a:endParaRPr>
          </a:p>
        </p:txBody>
      </p:sp>
      <p:grpSp>
        <p:nvGrpSpPr>
          <p:cNvPr id="203" name="グループ化 202">
            <a:extLst>
              <a:ext uri="{FF2B5EF4-FFF2-40B4-BE49-F238E27FC236}">
                <a16:creationId xmlns:a16="http://schemas.microsoft.com/office/drawing/2014/main" id="{62AB0869-5F01-D6FB-0594-D3DA1881CEEF}"/>
              </a:ext>
            </a:extLst>
          </p:cNvPr>
          <p:cNvGrpSpPr/>
          <p:nvPr/>
        </p:nvGrpSpPr>
        <p:grpSpPr>
          <a:xfrm>
            <a:off x="2191256" y="3501008"/>
            <a:ext cx="1696748" cy="732915"/>
            <a:chOff x="683994" y="4869535"/>
            <a:chExt cx="1696748" cy="732915"/>
          </a:xfrm>
        </p:grpSpPr>
        <p:sp>
          <p:nvSpPr>
            <p:cNvPr id="131" name="正方形/長方形 130">
              <a:extLst>
                <a:ext uri="{FF2B5EF4-FFF2-40B4-BE49-F238E27FC236}">
                  <a16:creationId xmlns:a16="http://schemas.microsoft.com/office/drawing/2014/main" id="{E93F2FEE-3527-2002-7C40-DF4C81A9773C}"/>
                </a:ext>
              </a:extLst>
            </p:cNvPr>
            <p:cNvSpPr/>
            <p:nvPr/>
          </p:nvSpPr>
          <p:spPr>
            <a:xfrm>
              <a:off x="683994" y="4869535"/>
              <a:ext cx="1696748" cy="732915"/>
            </a:xfrm>
            <a:prstGeom prst="rect">
              <a:avLst/>
            </a:prstGeom>
            <a:solidFill>
              <a:schemeClr val="bg1"/>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tlCol="0" anchor="t" anchorCtr="0"/>
            <a:lstStyle/>
            <a:p>
              <a:r>
                <a:rPr kumimoji="1" lang="ja-JP" altLang="en-US" sz="1000">
                  <a:solidFill>
                    <a:schemeClr val="tx1"/>
                  </a:solidFill>
                  <a:latin typeface="Meiryo UI" panose="020B0604030504040204" pitchFamily="50" charset="-128"/>
                  <a:ea typeface="Meiryo UI" panose="020B0604030504040204" pitchFamily="50" charset="-128"/>
                </a:rPr>
                <a:t>排出活動関連</a:t>
              </a:r>
            </a:p>
          </p:txBody>
        </p:sp>
        <p:sp>
          <p:nvSpPr>
            <p:cNvPr id="132" name="フローチャート: 書類 131">
              <a:extLst>
                <a:ext uri="{FF2B5EF4-FFF2-40B4-BE49-F238E27FC236}">
                  <a16:creationId xmlns:a16="http://schemas.microsoft.com/office/drawing/2014/main" id="{882B08F3-1390-94BC-C229-35DDA40FBBD3}"/>
                </a:ext>
              </a:extLst>
            </p:cNvPr>
            <p:cNvSpPr/>
            <p:nvPr/>
          </p:nvSpPr>
          <p:spPr>
            <a:xfrm>
              <a:off x="749701" y="5133571"/>
              <a:ext cx="721657" cy="364586"/>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温対法</a:t>
              </a:r>
              <a:endParaRPr kumimoji="1" lang="en-US" altLang="ja-JP" sz="900" b="1">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排出活動</a:t>
              </a:r>
            </a:p>
          </p:txBody>
        </p:sp>
        <p:sp>
          <p:nvSpPr>
            <p:cNvPr id="133" name="フローチャート: 書類 132">
              <a:extLst>
                <a:ext uri="{FF2B5EF4-FFF2-40B4-BE49-F238E27FC236}">
                  <a16:creationId xmlns:a16="http://schemas.microsoft.com/office/drawing/2014/main" id="{D786C283-9616-A5AB-7547-35F221DA4F5D}"/>
                </a:ext>
              </a:extLst>
            </p:cNvPr>
            <p:cNvSpPr/>
            <p:nvPr/>
          </p:nvSpPr>
          <p:spPr>
            <a:xfrm>
              <a:off x="1551526" y="5128787"/>
              <a:ext cx="721657" cy="364586"/>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en-US" altLang="ja-JP" sz="900" b="1">
                  <a:solidFill>
                    <a:schemeClr val="tx1"/>
                  </a:solidFill>
                  <a:latin typeface="Meiryo UI" panose="020B0604030504040204" pitchFamily="50" charset="-128"/>
                  <a:ea typeface="Meiryo UI" panose="020B0604030504040204" pitchFamily="50" charset="-128"/>
                </a:rPr>
                <a:t>GHG</a:t>
              </a:r>
              <a:r>
                <a:rPr kumimoji="1" lang="ja-JP" altLang="en-US" sz="900" b="1">
                  <a:solidFill>
                    <a:schemeClr val="tx1"/>
                  </a:solidFill>
                  <a:latin typeface="Meiryo UI" panose="020B0604030504040204" pitchFamily="50" charset="-128"/>
                  <a:ea typeface="Meiryo UI" panose="020B0604030504040204" pitchFamily="50" charset="-128"/>
                </a:rPr>
                <a:t>プロトコル</a:t>
              </a:r>
              <a:br>
                <a:rPr kumimoji="1" lang="en-US" altLang="ja-JP" sz="900" b="1">
                  <a:solidFill>
                    <a:schemeClr val="tx1"/>
                  </a:solidFill>
                  <a:latin typeface="Meiryo UI" panose="020B0604030504040204" pitchFamily="50" charset="-128"/>
                  <a:ea typeface="Meiryo UI" panose="020B0604030504040204" pitchFamily="50" charset="-128"/>
                </a:rPr>
              </a:br>
              <a:r>
                <a:rPr kumimoji="1" lang="ja-JP" altLang="en-US" sz="900" b="1">
                  <a:solidFill>
                    <a:schemeClr val="tx1"/>
                  </a:solidFill>
                  <a:latin typeface="Meiryo UI" panose="020B0604030504040204" pitchFamily="50" charset="-128"/>
                  <a:ea typeface="Meiryo UI" panose="020B0604030504040204" pitchFamily="50" charset="-128"/>
                </a:rPr>
                <a:t>排出活動</a:t>
              </a:r>
            </a:p>
          </p:txBody>
        </p:sp>
      </p:grpSp>
      <p:pic>
        <p:nvPicPr>
          <p:cNvPr id="134" name="グラフィックス 133" descr="紙 単色塗りつぶし">
            <a:extLst>
              <a:ext uri="{FF2B5EF4-FFF2-40B4-BE49-F238E27FC236}">
                <a16:creationId xmlns:a16="http://schemas.microsoft.com/office/drawing/2014/main" id="{5516549B-4B1A-8C9C-DA27-96D265F39E2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38227" y="2672673"/>
            <a:ext cx="565566" cy="565566"/>
          </a:xfrm>
          <a:prstGeom prst="rect">
            <a:avLst/>
          </a:prstGeom>
        </p:spPr>
      </p:pic>
      <p:sp>
        <p:nvSpPr>
          <p:cNvPr id="135" name="四角形: 角を丸くする 134">
            <a:extLst>
              <a:ext uri="{FF2B5EF4-FFF2-40B4-BE49-F238E27FC236}">
                <a16:creationId xmlns:a16="http://schemas.microsoft.com/office/drawing/2014/main" id="{66364C3B-902A-E1FD-784D-AE36B69CA1CE}"/>
              </a:ext>
            </a:extLst>
          </p:cNvPr>
          <p:cNvSpPr/>
          <p:nvPr/>
        </p:nvSpPr>
        <p:spPr>
          <a:xfrm>
            <a:off x="8261640" y="2824721"/>
            <a:ext cx="718740" cy="30867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50" b="1">
                <a:solidFill>
                  <a:schemeClr val="tx1"/>
                </a:solidFill>
                <a:latin typeface="Meiryo UI" panose="020B0604030504040204" pitchFamily="50" charset="-128"/>
                <a:ea typeface="Meiryo UI" panose="020B0604030504040204" pitchFamily="50" charset="-128"/>
              </a:rPr>
              <a:t>SSBJ</a:t>
            </a:r>
            <a:endParaRPr kumimoji="1" lang="ja-JP" altLang="en-US" sz="1050" b="1">
              <a:solidFill>
                <a:schemeClr val="tx1"/>
              </a:solidFill>
              <a:latin typeface="Meiryo UI" panose="020B0604030504040204" pitchFamily="50" charset="-128"/>
              <a:ea typeface="Meiryo UI" panose="020B0604030504040204" pitchFamily="50" charset="-128"/>
            </a:endParaRPr>
          </a:p>
        </p:txBody>
      </p:sp>
      <p:cxnSp>
        <p:nvCxnSpPr>
          <p:cNvPr id="136" name="直線矢印コネクタ 135">
            <a:extLst>
              <a:ext uri="{FF2B5EF4-FFF2-40B4-BE49-F238E27FC236}">
                <a16:creationId xmlns:a16="http://schemas.microsoft.com/office/drawing/2014/main" id="{68A5DDEB-3AB7-7D01-2C6B-D18247B1EAE3}"/>
              </a:ext>
            </a:extLst>
          </p:cNvPr>
          <p:cNvCxnSpPr>
            <a:cxnSpLocks/>
            <a:stCxn id="18" idx="3"/>
          </p:cNvCxnSpPr>
          <p:nvPr/>
        </p:nvCxnSpPr>
        <p:spPr>
          <a:xfrm>
            <a:off x="3108659" y="2976047"/>
            <a:ext cx="896169"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2" name="正方形/長方形 141">
            <a:extLst>
              <a:ext uri="{FF2B5EF4-FFF2-40B4-BE49-F238E27FC236}">
                <a16:creationId xmlns:a16="http://schemas.microsoft.com/office/drawing/2014/main" id="{D7B481BB-47F5-4EBB-51AC-8CBF5DE1494E}"/>
              </a:ext>
            </a:extLst>
          </p:cNvPr>
          <p:cNvSpPr/>
          <p:nvPr/>
        </p:nvSpPr>
        <p:spPr>
          <a:xfrm>
            <a:off x="4004828" y="2840720"/>
            <a:ext cx="862422" cy="287496"/>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800" b="1">
                <a:solidFill>
                  <a:schemeClr val="bg1"/>
                </a:solidFill>
                <a:latin typeface="Meiryo UI" panose="020B0604030504040204" pitchFamily="50" charset="-128"/>
                <a:ea typeface="Meiryo UI" panose="020B0604030504040204" pitchFamily="50" charset="-128"/>
              </a:rPr>
              <a:t>プロトコル用係数</a:t>
            </a:r>
            <a:br>
              <a:rPr kumimoji="1" lang="en-US" altLang="ja-JP" sz="800" b="1">
                <a:solidFill>
                  <a:schemeClr val="bg1"/>
                </a:solidFill>
                <a:latin typeface="Meiryo UI" panose="020B0604030504040204" pitchFamily="50" charset="-128"/>
                <a:ea typeface="Meiryo UI" panose="020B0604030504040204" pitchFamily="50" charset="-128"/>
              </a:rPr>
            </a:br>
            <a:r>
              <a:rPr kumimoji="1" lang="en-US" altLang="ja-JP" sz="800" b="1">
                <a:solidFill>
                  <a:schemeClr val="bg1"/>
                </a:solidFill>
                <a:latin typeface="Meiryo UI" panose="020B0604030504040204" pitchFamily="50" charset="-128"/>
                <a:ea typeface="Meiryo UI" panose="020B0604030504040204" pitchFamily="50" charset="-128"/>
              </a:rPr>
              <a:t>(Scope3)</a:t>
            </a:r>
            <a:endParaRPr kumimoji="1" lang="ja-JP" altLang="en-US" sz="800" b="1">
              <a:solidFill>
                <a:schemeClr val="bg1"/>
              </a:solidFill>
              <a:latin typeface="Meiryo UI" panose="020B0604030504040204" pitchFamily="50" charset="-128"/>
              <a:ea typeface="Meiryo UI" panose="020B0604030504040204" pitchFamily="50" charset="-128"/>
            </a:endParaRPr>
          </a:p>
        </p:txBody>
      </p:sp>
      <p:sp>
        <p:nvSpPr>
          <p:cNvPr id="143" name="正方形/長方形 142">
            <a:extLst>
              <a:ext uri="{FF2B5EF4-FFF2-40B4-BE49-F238E27FC236}">
                <a16:creationId xmlns:a16="http://schemas.microsoft.com/office/drawing/2014/main" id="{0DC28399-DACA-62F2-AF5D-60048D36F80D}"/>
              </a:ext>
            </a:extLst>
          </p:cNvPr>
          <p:cNvSpPr/>
          <p:nvPr/>
        </p:nvSpPr>
        <p:spPr>
          <a:xfrm>
            <a:off x="5506529" y="2837162"/>
            <a:ext cx="915914" cy="287496"/>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800" b="1">
                <a:solidFill>
                  <a:schemeClr val="bg1"/>
                </a:solidFill>
                <a:latin typeface="Meiryo UI" panose="020B0604030504040204" pitchFamily="50" charset="-128"/>
                <a:ea typeface="Meiryo UI" panose="020B0604030504040204" pitchFamily="50" charset="-128"/>
              </a:rPr>
              <a:t>Scope3</a:t>
            </a:r>
            <a:r>
              <a:rPr kumimoji="1" lang="ja-JP" altLang="en-US" sz="800" b="1">
                <a:solidFill>
                  <a:schemeClr val="bg1"/>
                </a:solidFill>
                <a:latin typeface="Meiryo UI" panose="020B0604030504040204" pitchFamily="50" charset="-128"/>
                <a:ea typeface="Meiryo UI" panose="020B0604030504040204" pitchFamily="50" charset="-128"/>
              </a:rPr>
              <a:t>排出量</a:t>
            </a:r>
          </a:p>
        </p:txBody>
      </p:sp>
      <p:cxnSp>
        <p:nvCxnSpPr>
          <p:cNvPr id="144" name="直線矢印コネクタ 143">
            <a:extLst>
              <a:ext uri="{FF2B5EF4-FFF2-40B4-BE49-F238E27FC236}">
                <a16:creationId xmlns:a16="http://schemas.microsoft.com/office/drawing/2014/main" id="{EF478848-1EB5-2DBF-B28D-439CB01FA998}"/>
              </a:ext>
            </a:extLst>
          </p:cNvPr>
          <p:cNvCxnSpPr>
            <a:cxnSpLocks/>
            <a:stCxn id="142" idx="3"/>
            <a:endCxn id="143" idx="1"/>
          </p:cNvCxnSpPr>
          <p:nvPr/>
        </p:nvCxnSpPr>
        <p:spPr>
          <a:xfrm flipV="1">
            <a:off x="4867250" y="2980910"/>
            <a:ext cx="639279" cy="3558"/>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5" name="テキスト ボックス 144">
            <a:extLst>
              <a:ext uri="{FF2B5EF4-FFF2-40B4-BE49-F238E27FC236}">
                <a16:creationId xmlns:a16="http://schemas.microsoft.com/office/drawing/2014/main" id="{515C5EEC-5AB3-1C4C-6541-2AC5FA290FB7}"/>
              </a:ext>
            </a:extLst>
          </p:cNvPr>
          <p:cNvSpPr txBox="1"/>
          <p:nvPr/>
        </p:nvSpPr>
        <p:spPr>
          <a:xfrm>
            <a:off x="4867250" y="3050400"/>
            <a:ext cx="670824" cy="144540"/>
          </a:xfrm>
          <a:prstGeom prst="rect">
            <a:avLst/>
          </a:prstGeom>
          <a:noFill/>
        </p:spPr>
        <p:txBody>
          <a:bodyPr wrap="none" lIns="0" tIns="0" rIns="0" bIns="0" rtlCol="0">
            <a:noAutofit/>
          </a:bodyPr>
          <a:lstStyle/>
          <a:p>
            <a:pPr algn="ctr"/>
            <a:r>
              <a:rPr kumimoji="1" lang="ja-JP" altLang="en-US" sz="800">
                <a:latin typeface="Meiryo UI" panose="020B0604030504040204" pitchFamily="50" charset="-128"/>
                <a:ea typeface="Meiryo UI" panose="020B0604030504040204" pitchFamily="50" charset="-128"/>
              </a:rPr>
              <a:t>算定・集計</a:t>
            </a:r>
            <a:endParaRPr kumimoji="1" lang="en-US" altLang="ja-JP" sz="800">
              <a:latin typeface="Meiryo UI" panose="020B0604030504040204" pitchFamily="50" charset="-128"/>
              <a:ea typeface="Meiryo UI" panose="020B0604030504040204" pitchFamily="50" charset="-128"/>
            </a:endParaRPr>
          </a:p>
        </p:txBody>
      </p:sp>
      <p:cxnSp>
        <p:nvCxnSpPr>
          <p:cNvPr id="146" name="直線矢印コネクタ 145">
            <a:extLst>
              <a:ext uri="{FF2B5EF4-FFF2-40B4-BE49-F238E27FC236}">
                <a16:creationId xmlns:a16="http://schemas.microsoft.com/office/drawing/2014/main" id="{4C952437-2C7F-3DCD-DF60-A65B9CDE2D20}"/>
              </a:ext>
            </a:extLst>
          </p:cNvPr>
          <p:cNvCxnSpPr>
            <a:cxnSpLocks/>
            <a:stCxn id="19" idx="3"/>
          </p:cNvCxnSpPr>
          <p:nvPr/>
        </p:nvCxnSpPr>
        <p:spPr>
          <a:xfrm flipV="1">
            <a:off x="3108659" y="3289268"/>
            <a:ext cx="2397870" cy="11673"/>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0" name="正方形/長方形 149">
            <a:extLst>
              <a:ext uri="{FF2B5EF4-FFF2-40B4-BE49-F238E27FC236}">
                <a16:creationId xmlns:a16="http://schemas.microsoft.com/office/drawing/2014/main" id="{0BEF5045-3D4E-D2B9-0D3E-9A96EBDA72A3}"/>
              </a:ext>
            </a:extLst>
          </p:cNvPr>
          <p:cNvSpPr/>
          <p:nvPr/>
        </p:nvSpPr>
        <p:spPr>
          <a:xfrm>
            <a:off x="5506529" y="3167996"/>
            <a:ext cx="915914" cy="287496"/>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800" b="1">
                <a:solidFill>
                  <a:schemeClr val="bg1"/>
                </a:solidFill>
                <a:latin typeface="Meiryo UI" panose="020B0604030504040204" pitchFamily="50" charset="-128"/>
                <a:ea typeface="Meiryo UI" panose="020B0604030504040204" pitchFamily="50" charset="-128"/>
              </a:rPr>
              <a:t>環境</a:t>
            </a:r>
            <a:r>
              <a:rPr kumimoji="1" lang="en-US" altLang="ja-JP" sz="800" b="1">
                <a:solidFill>
                  <a:schemeClr val="bg1"/>
                </a:solidFill>
                <a:latin typeface="Meiryo UI" panose="020B0604030504040204" pitchFamily="50" charset="-128"/>
                <a:ea typeface="Meiryo UI" panose="020B0604030504040204" pitchFamily="50" charset="-128"/>
              </a:rPr>
              <a:t>(GHG</a:t>
            </a:r>
            <a:r>
              <a:rPr kumimoji="1" lang="ja-JP" altLang="en-US" sz="800" b="1">
                <a:solidFill>
                  <a:schemeClr val="bg1"/>
                </a:solidFill>
                <a:latin typeface="Meiryo UI" panose="020B0604030504040204" pitchFamily="50" charset="-128"/>
                <a:ea typeface="Meiryo UI" panose="020B0604030504040204" pitchFamily="50" charset="-128"/>
              </a:rPr>
              <a:t>以外</a:t>
            </a:r>
            <a:r>
              <a:rPr kumimoji="1" lang="en-US" altLang="ja-JP" sz="800" b="1">
                <a:solidFill>
                  <a:schemeClr val="bg1"/>
                </a:solidFill>
                <a:latin typeface="Meiryo UI" panose="020B0604030504040204" pitchFamily="50" charset="-128"/>
                <a:ea typeface="Meiryo UI" panose="020B0604030504040204" pitchFamily="50" charset="-128"/>
              </a:rPr>
              <a:t>)</a:t>
            </a:r>
          </a:p>
          <a:p>
            <a:pPr algn="ctr"/>
            <a:r>
              <a:rPr kumimoji="1" lang="ja-JP" altLang="en-US" sz="800" b="1">
                <a:solidFill>
                  <a:schemeClr val="bg1"/>
                </a:solidFill>
                <a:latin typeface="Meiryo UI" panose="020B0604030504040204" pitchFamily="50" charset="-128"/>
                <a:ea typeface="Meiryo UI" panose="020B0604030504040204" pitchFamily="50" charset="-128"/>
              </a:rPr>
              <a:t>・環境以外</a:t>
            </a:r>
          </a:p>
        </p:txBody>
      </p:sp>
      <p:sp>
        <p:nvSpPr>
          <p:cNvPr id="152" name="テキスト ボックス 151">
            <a:extLst>
              <a:ext uri="{FF2B5EF4-FFF2-40B4-BE49-F238E27FC236}">
                <a16:creationId xmlns:a16="http://schemas.microsoft.com/office/drawing/2014/main" id="{1C41EE8E-D32F-C261-B2AA-4F97AF09EDA9}"/>
              </a:ext>
            </a:extLst>
          </p:cNvPr>
          <p:cNvSpPr txBox="1"/>
          <p:nvPr/>
        </p:nvSpPr>
        <p:spPr>
          <a:xfrm>
            <a:off x="4867250" y="3327893"/>
            <a:ext cx="670824" cy="144540"/>
          </a:xfrm>
          <a:prstGeom prst="rect">
            <a:avLst/>
          </a:prstGeom>
          <a:noFill/>
        </p:spPr>
        <p:txBody>
          <a:bodyPr wrap="none" lIns="0" tIns="0" rIns="0" bIns="0" rtlCol="0">
            <a:noAutofit/>
          </a:bodyPr>
          <a:lstStyle/>
          <a:p>
            <a:pPr algn="ctr"/>
            <a:r>
              <a:rPr kumimoji="1" lang="ja-JP" altLang="en-US" sz="800">
                <a:latin typeface="Meiryo UI" panose="020B0604030504040204" pitchFamily="50" charset="-128"/>
                <a:ea typeface="Meiryo UI" panose="020B0604030504040204" pitchFamily="50" charset="-128"/>
              </a:rPr>
              <a:t>集計</a:t>
            </a:r>
            <a:endParaRPr kumimoji="1" lang="en-US" altLang="ja-JP" sz="800">
              <a:latin typeface="Meiryo UI" panose="020B0604030504040204" pitchFamily="50" charset="-128"/>
              <a:ea typeface="Meiryo UI" panose="020B0604030504040204" pitchFamily="50" charset="-128"/>
            </a:endParaRPr>
          </a:p>
        </p:txBody>
      </p:sp>
      <p:cxnSp>
        <p:nvCxnSpPr>
          <p:cNvPr id="153" name="コネクタ: カギ線 152">
            <a:extLst>
              <a:ext uri="{FF2B5EF4-FFF2-40B4-BE49-F238E27FC236}">
                <a16:creationId xmlns:a16="http://schemas.microsoft.com/office/drawing/2014/main" id="{A70461CA-F889-2F69-F3FD-2EE571AEDC59}"/>
              </a:ext>
            </a:extLst>
          </p:cNvPr>
          <p:cNvCxnSpPr>
            <a:cxnSpLocks/>
            <a:stCxn id="70" idx="3"/>
            <a:endCxn id="135" idx="1"/>
          </p:cNvCxnSpPr>
          <p:nvPr/>
        </p:nvCxnSpPr>
        <p:spPr>
          <a:xfrm>
            <a:off x="6422443" y="2650077"/>
            <a:ext cx="1839197" cy="328982"/>
          </a:xfrm>
          <a:prstGeom prst="bentConnector3">
            <a:avLst>
              <a:gd name="adj1" fmla="val 50000"/>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コネクタ: カギ線 155">
            <a:extLst>
              <a:ext uri="{FF2B5EF4-FFF2-40B4-BE49-F238E27FC236}">
                <a16:creationId xmlns:a16="http://schemas.microsoft.com/office/drawing/2014/main" id="{71E11739-66EE-2B45-93D3-E284D196BEC2}"/>
              </a:ext>
            </a:extLst>
          </p:cNvPr>
          <p:cNvCxnSpPr>
            <a:cxnSpLocks/>
            <a:stCxn id="143" idx="3"/>
            <a:endCxn id="135" idx="1"/>
          </p:cNvCxnSpPr>
          <p:nvPr/>
        </p:nvCxnSpPr>
        <p:spPr>
          <a:xfrm flipV="1">
            <a:off x="6422443" y="2979059"/>
            <a:ext cx="1839197" cy="1851"/>
          </a:xfrm>
          <a:prstGeom prst="bentConnector3">
            <a:avLst>
              <a:gd name="adj1" fmla="val 50000"/>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コネクタ: カギ線 158">
            <a:extLst>
              <a:ext uri="{FF2B5EF4-FFF2-40B4-BE49-F238E27FC236}">
                <a16:creationId xmlns:a16="http://schemas.microsoft.com/office/drawing/2014/main" id="{C5CB00B7-4CB9-E238-2609-CCEB6A582112}"/>
              </a:ext>
            </a:extLst>
          </p:cNvPr>
          <p:cNvCxnSpPr>
            <a:cxnSpLocks/>
            <a:stCxn id="150" idx="3"/>
            <a:endCxn id="135" idx="1"/>
          </p:cNvCxnSpPr>
          <p:nvPr/>
        </p:nvCxnSpPr>
        <p:spPr>
          <a:xfrm flipV="1">
            <a:off x="6422443" y="2979059"/>
            <a:ext cx="1839197" cy="332685"/>
          </a:xfrm>
          <a:prstGeom prst="bentConnector3">
            <a:avLst>
              <a:gd name="adj1" fmla="val 50000"/>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直線矢印コネクタ 164">
            <a:extLst>
              <a:ext uri="{FF2B5EF4-FFF2-40B4-BE49-F238E27FC236}">
                <a16:creationId xmlns:a16="http://schemas.microsoft.com/office/drawing/2014/main" id="{425DFE96-E7F7-3ABF-DF01-7788C2361677}"/>
              </a:ext>
            </a:extLst>
          </p:cNvPr>
          <p:cNvCxnSpPr>
            <a:cxnSpLocks/>
            <a:stCxn id="69" idx="3"/>
            <a:endCxn id="25" idx="1"/>
          </p:cNvCxnSpPr>
          <p:nvPr/>
        </p:nvCxnSpPr>
        <p:spPr>
          <a:xfrm>
            <a:off x="6422443" y="2319244"/>
            <a:ext cx="1839197" cy="16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202" name="グループ化 201">
            <a:extLst>
              <a:ext uri="{FF2B5EF4-FFF2-40B4-BE49-F238E27FC236}">
                <a16:creationId xmlns:a16="http://schemas.microsoft.com/office/drawing/2014/main" id="{1AD4EDBC-0B16-394B-DBF2-3A6AB4DA6DF5}"/>
              </a:ext>
            </a:extLst>
          </p:cNvPr>
          <p:cNvGrpSpPr/>
          <p:nvPr/>
        </p:nvGrpSpPr>
        <p:grpSpPr>
          <a:xfrm>
            <a:off x="4177638" y="4366743"/>
            <a:ext cx="1696748" cy="788428"/>
            <a:chOff x="2512584" y="4869536"/>
            <a:chExt cx="1696748" cy="788428"/>
          </a:xfrm>
        </p:grpSpPr>
        <p:sp>
          <p:nvSpPr>
            <p:cNvPr id="170" name="正方形/長方形 169">
              <a:extLst>
                <a:ext uri="{FF2B5EF4-FFF2-40B4-BE49-F238E27FC236}">
                  <a16:creationId xmlns:a16="http://schemas.microsoft.com/office/drawing/2014/main" id="{93383013-A334-624D-E140-24011A735E16}"/>
                </a:ext>
              </a:extLst>
            </p:cNvPr>
            <p:cNvSpPr/>
            <p:nvPr/>
          </p:nvSpPr>
          <p:spPr>
            <a:xfrm>
              <a:off x="2512584" y="4869536"/>
              <a:ext cx="1696748" cy="788428"/>
            </a:xfrm>
            <a:prstGeom prst="rect">
              <a:avLst/>
            </a:prstGeom>
            <a:solidFill>
              <a:schemeClr val="bg1"/>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tlCol="0" anchor="t" anchorCtr="0"/>
            <a:lstStyle/>
            <a:p>
              <a:r>
                <a:rPr kumimoji="1" lang="ja-JP" altLang="en-US" sz="1000">
                  <a:solidFill>
                    <a:schemeClr val="tx1"/>
                  </a:solidFill>
                  <a:latin typeface="Meiryo UI" panose="020B0604030504040204" pitchFamily="50" charset="-128"/>
                  <a:ea typeface="Meiryo UI" panose="020B0604030504040204" pitchFamily="50" charset="-128"/>
                </a:rPr>
                <a:t>排出係数関連</a:t>
              </a:r>
            </a:p>
          </p:txBody>
        </p:sp>
        <p:sp>
          <p:nvSpPr>
            <p:cNvPr id="173" name="フローチャート: 書類 172">
              <a:extLst>
                <a:ext uri="{FF2B5EF4-FFF2-40B4-BE49-F238E27FC236}">
                  <a16:creationId xmlns:a16="http://schemas.microsoft.com/office/drawing/2014/main" id="{F1940731-5312-508A-C23D-9E96F22164DD}"/>
                </a:ext>
              </a:extLst>
            </p:cNvPr>
            <p:cNvSpPr/>
            <p:nvPr/>
          </p:nvSpPr>
          <p:spPr>
            <a:xfrm>
              <a:off x="2587207" y="5115108"/>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温対法係数</a:t>
              </a:r>
              <a:endParaRPr kumimoji="1" lang="en-US" altLang="ja-JP" sz="900" b="1">
                <a:solidFill>
                  <a:schemeClr val="tx1"/>
                </a:solidFill>
                <a:latin typeface="Meiryo UI" panose="020B0604030504040204" pitchFamily="50" charset="-128"/>
                <a:ea typeface="Meiryo UI" panose="020B0604030504040204" pitchFamily="50" charset="-128"/>
              </a:endParaRPr>
            </a:p>
          </p:txBody>
        </p:sp>
        <p:sp>
          <p:nvSpPr>
            <p:cNvPr id="175" name="フローチャート: 書類 174">
              <a:extLst>
                <a:ext uri="{FF2B5EF4-FFF2-40B4-BE49-F238E27FC236}">
                  <a16:creationId xmlns:a16="http://schemas.microsoft.com/office/drawing/2014/main" id="{8CEE12E2-4DC5-4A75-31CE-47ED00DF6DCC}"/>
                </a:ext>
              </a:extLst>
            </p:cNvPr>
            <p:cNvSpPr/>
            <p:nvPr/>
          </p:nvSpPr>
          <p:spPr>
            <a:xfrm>
              <a:off x="3393566" y="5103031"/>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en-US" altLang="ja-JP" sz="900" b="1">
                  <a:solidFill>
                    <a:schemeClr val="tx1"/>
                  </a:solidFill>
                  <a:latin typeface="Meiryo UI" panose="020B0604030504040204" pitchFamily="50" charset="-128"/>
                  <a:ea typeface="Meiryo UI" panose="020B0604030504040204" pitchFamily="50" charset="-128"/>
                </a:rPr>
                <a:t>GHG</a:t>
              </a:r>
              <a:r>
                <a:rPr kumimoji="1" lang="ja-JP" altLang="en-US" sz="900" b="1">
                  <a:solidFill>
                    <a:schemeClr val="tx1"/>
                  </a:solidFill>
                  <a:latin typeface="Meiryo UI" panose="020B0604030504040204" pitchFamily="50" charset="-128"/>
                  <a:ea typeface="Meiryo UI" panose="020B0604030504040204" pitchFamily="50" charset="-128"/>
                </a:rPr>
                <a:t>プロトコル</a:t>
              </a:r>
              <a:br>
                <a:rPr kumimoji="1" lang="en-US" altLang="ja-JP" sz="900" b="1">
                  <a:solidFill>
                    <a:schemeClr val="tx1"/>
                  </a:solidFill>
                  <a:latin typeface="Meiryo UI" panose="020B0604030504040204" pitchFamily="50" charset="-128"/>
                  <a:ea typeface="Meiryo UI" panose="020B0604030504040204" pitchFamily="50" charset="-128"/>
                </a:rPr>
              </a:br>
              <a:r>
                <a:rPr kumimoji="1" lang="ja-JP" altLang="en-US" sz="900" b="1">
                  <a:solidFill>
                    <a:schemeClr val="tx1"/>
                  </a:solidFill>
                  <a:latin typeface="Meiryo UI" panose="020B0604030504040204" pitchFamily="50" charset="-128"/>
                  <a:ea typeface="Meiryo UI" panose="020B0604030504040204" pitchFamily="50" charset="-128"/>
                </a:rPr>
                <a:t>係数</a:t>
              </a:r>
              <a:endParaRPr kumimoji="1" lang="en-US" altLang="ja-JP" sz="900" b="1">
                <a:solidFill>
                  <a:schemeClr val="tx1"/>
                </a:solidFill>
                <a:latin typeface="Meiryo UI" panose="020B0604030504040204" pitchFamily="50" charset="-128"/>
                <a:ea typeface="Meiryo UI" panose="020B0604030504040204" pitchFamily="50" charset="-128"/>
              </a:endParaRPr>
            </a:p>
          </p:txBody>
        </p:sp>
      </p:grpSp>
      <p:grpSp>
        <p:nvGrpSpPr>
          <p:cNvPr id="200" name="グループ化 199">
            <a:extLst>
              <a:ext uri="{FF2B5EF4-FFF2-40B4-BE49-F238E27FC236}">
                <a16:creationId xmlns:a16="http://schemas.microsoft.com/office/drawing/2014/main" id="{3C846677-4491-FC0C-1636-27CF85CBD2D8}"/>
              </a:ext>
            </a:extLst>
          </p:cNvPr>
          <p:cNvGrpSpPr/>
          <p:nvPr/>
        </p:nvGrpSpPr>
        <p:grpSpPr>
          <a:xfrm>
            <a:off x="4177638" y="3501008"/>
            <a:ext cx="1696748" cy="808040"/>
            <a:chOff x="4314037" y="4869536"/>
            <a:chExt cx="1696748" cy="808040"/>
          </a:xfrm>
        </p:grpSpPr>
        <p:sp>
          <p:nvSpPr>
            <p:cNvPr id="177" name="正方形/長方形 176">
              <a:extLst>
                <a:ext uri="{FF2B5EF4-FFF2-40B4-BE49-F238E27FC236}">
                  <a16:creationId xmlns:a16="http://schemas.microsoft.com/office/drawing/2014/main" id="{57E2B72F-F3BD-BA65-60DC-6D02B02DB71D}"/>
                </a:ext>
              </a:extLst>
            </p:cNvPr>
            <p:cNvSpPr/>
            <p:nvPr/>
          </p:nvSpPr>
          <p:spPr>
            <a:xfrm>
              <a:off x="4314037" y="4869536"/>
              <a:ext cx="1696748" cy="808040"/>
            </a:xfrm>
            <a:prstGeom prst="rect">
              <a:avLst/>
            </a:prstGeom>
            <a:solidFill>
              <a:schemeClr val="bg1"/>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tlCol="0" anchor="t" anchorCtr="0"/>
            <a:lstStyle/>
            <a:p>
              <a:r>
                <a:rPr kumimoji="1" lang="ja-JP" altLang="en-US" sz="1000">
                  <a:solidFill>
                    <a:schemeClr val="tx1"/>
                  </a:solidFill>
                  <a:latin typeface="Meiryo UI" panose="020B0604030504040204" pitchFamily="50" charset="-128"/>
                  <a:ea typeface="Meiryo UI" panose="020B0604030504040204" pitchFamily="50" charset="-128"/>
                </a:rPr>
                <a:t>ユーザ・権限関連</a:t>
              </a:r>
            </a:p>
          </p:txBody>
        </p:sp>
        <p:sp>
          <p:nvSpPr>
            <p:cNvPr id="180" name="フローチャート: 書類 179">
              <a:extLst>
                <a:ext uri="{FF2B5EF4-FFF2-40B4-BE49-F238E27FC236}">
                  <a16:creationId xmlns:a16="http://schemas.microsoft.com/office/drawing/2014/main" id="{33CE17E7-A477-8D66-A736-CF07DEF363BB}"/>
                </a:ext>
              </a:extLst>
            </p:cNvPr>
            <p:cNvSpPr/>
            <p:nvPr/>
          </p:nvSpPr>
          <p:spPr>
            <a:xfrm>
              <a:off x="4365717" y="5160047"/>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ユーザ</a:t>
              </a:r>
            </a:p>
          </p:txBody>
        </p:sp>
        <p:sp>
          <p:nvSpPr>
            <p:cNvPr id="181" name="フローチャート: 書類 180">
              <a:extLst>
                <a:ext uri="{FF2B5EF4-FFF2-40B4-BE49-F238E27FC236}">
                  <a16:creationId xmlns:a16="http://schemas.microsoft.com/office/drawing/2014/main" id="{CB07C4FD-C3DD-2C14-DA40-5471EDFF1110}"/>
                </a:ext>
              </a:extLst>
            </p:cNvPr>
            <p:cNvSpPr/>
            <p:nvPr/>
          </p:nvSpPr>
          <p:spPr>
            <a:xfrm>
              <a:off x="5186889" y="5160047"/>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権限</a:t>
              </a:r>
            </a:p>
          </p:txBody>
        </p:sp>
      </p:grpSp>
      <p:grpSp>
        <p:nvGrpSpPr>
          <p:cNvPr id="50" name="グループ化 49">
            <a:extLst>
              <a:ext uri="{FF2B5EF4-FFF2-40B4-BE49-F238E27FC236}">
                <a16:creationId xmlns:a16="http://schemas.microsoft.com/office/drawing/2014/main" id="{E43DBB75-6570-C441-DAD8-9D91D8AF9EE3}"/>
              </a:ext>
            </a:extLst>
          </p:cNvPr>
          <p:cNvGrpSpPr/>
          <p:nvPr/>
        </p:nvGrpSpPr>
        <p:grpSpPr>
          <a:xfrm>
            <a:off x="6164020" y="3501008"/>
            <a:ext cx="1757442" cy="1251463"/>
            <a:chOff x="6164020" y="3501008"/>
            <a:chExt cx="1757442" cy="1251463"/>
          </a:xfrm>
        </p:grpSpPr>
        <p:sp>
          <p:nvSpPr>
            <p:cNvPr id="182" name="正方形/長方形 181">
              <a:extLst>
                <a:ext uri="{FF2B5EF4-FFF2-40B4-BE49-F238E27FC236}">
                  <a16:creationId xmlns:a16="http://schemas.microsoft.com/office/drawing/2014/main" id="{05C891F0-D179-FDBD-B20C-D3931E3D925C}"/>
                </a:ext>
              </a:extLst>
            </p:cNvPr>
            <p:cNvSpPr/>
            <p:nvPr/>
          </p:nvSpPr>
          <p:spPr>
            <a:xfrm>
              <a:off x="6164020" y="3501008"/>
              <a:ext cx="1757442" cy="1251463"/>
            </a:xfrm>
            <a:prstGeom prst="rect">
              <a:avLst/>
            </a:prstGeom>
            <a:solidFill>
              <a:schemeClr val="bg1"/>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tlCol="0" anchor="t" anchorCtr="0"/>
            <a:lstStyle/>
            <a:p>
              <a:r>
                <a:rPr kumimoji="1" lang="ja-JP" altLang="en-US" sz="1000">
                  <a:solidFill>
                    <a:schemeClr val="tx1"/>
                  </a:solidFill>
                  <a:latin typeface="Meiryo UI" panose="020B0604030504040204" pitchFamily="50" charset="-128"/>
                  <a:ea typeface="Meiryo UI" panose="020B0604030504040204" pitchFamily="50" charset="-128"/>
                </a:rPr>
                <a:t>ログ・履歴関連</a:t>
              </a:r>
            </a:p>
          </p:txBody>
        </p:sp>
        <p:sp>
          <p:nvSpPr>
            <p:cNvPr id="185" name="フローチャート: 書類 184">
              <a:extLst>
                <a:ext uri="{FF2B5EF4-FFF2-40B4-BE49-F238E27FC236}">
                  <a16:creationId xmlns:a16="http://schemas.microsoft.com/office/drawing/2014/main" id="{FFC6CA5D-2A02-55E8-65AB-60F3303C10A6}"/>
                </a:ext>
              </a:extLst>
            </p:cNvPr>
            <p:cNvSpPr/>
            <p:nvPr/>
          </p:nvSpPr>
          <p:spPr>
            <a:xfrm>
              <a:off x="6247656" y="3781756"/>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アクセスログ</a:t>
              </a:r>
            </a:p>
          </p:txBody>
        </p:sp>
        <p:sp>
          <p:nvSpPr>
            <p:cNvPr id="186" name="フローチャート: 書類 185">
              <a:extLst>
                <a:ext uri="{FF2B5EF4-FFF2-40B4-BE49-F238E27FC236}">
                  <a16:creationId xmlns:a16="http://schemas.microsoft.com/office/drawing/2014/main" id="{7578C78B-1405-C383-00A1-9483A76B5926}"/>
                </a:ext>
              </a:extLst>
            </p:cNvPr>
            <p:cNvSpPr/>
            <p:nvPr/>
          </p:nvSpPr>
          <p:spPr>
            <a:xfrm>
              <a:off x="7068828" y="3781756"/>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承認履歴</a:t>
              </a:r>
            </a:p>
          </p:txBody>
        </p:sp>
        <p:sp>
          <p:nvSpPr>
            <p:cNvPr id="187" name="フローチャート: 書類 186">
              <a:extLst>
                <a:ext uri="{FF2B5EF4-FFF2-40B4-BE49-F238E27FC236}">
                  <a16:creationId xmlns:a16="http://schemas.microsoft.com/office/drawing/2014/main" id="{5EB18B21-7105-29DD-728E-A4C89B3BDDB5}"/>
                </a:ext>
              </a:extLst>
            </p:cNvPr>
            <p:cNvSpPr/>
            <p:nvPr/>
          </p:nvSpPr>
          <p:spPr>
            <a:xfrm>
              <a:off x="6247656" y="4274803"/>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ドキュメント</a:t>
              </a:r>
              <a:endParaRPr kumimoji="1" lang="en-US" altLang="ja-JP" sz="900" b="1">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修正履歴</a:t>
              </a:r>
            </a:p>
          </p:txBody>
        </p:sp>
        <p:sp>
          <p:nvSpPr>
            <p:cNvPr id="188" name="フローチャート: 書類 187">
              <a:extLst>
                <a:ext uri="{FF2B5EF4-FFF2-40B4-BE49-F238E27FC236}">
                  <a16:creationId xmlns:a16="http://schemas.microsoft.com/office/drawing/2014/main" id="{5810E573-A336-B435-7F2B-9E2E299BAB42}"/>
                </a:ext>
              </a:extLst>
            </p:cNvPr>
            <p:cNvSpPr/>
            <p:nvPr/>
          </p:nvSpPr>
          <p:spPr>
            <a:xfrm>
              <a:off x="7084559" y="4274803"/>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マスタ変更</a:t>
              </a:r>
              <a:endParaRPr kumimoji="1" lang="en-US" altLang="ja-JP" sz="900" b="1">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履歴</a:t>
              </a:r>
            </a:p>
          </p:txBody>
        </p:sp>
      </p:grpSp>
      <p:sp>
        <p:nvSpPr>
          <p:cNvPr id="48" name="フローチャート: 書類 47">
            <a:extLst>
              <a:ext uri="{FF2B5EF4-FFF2-40B4-BE49-F238E27FC236}">
                <a16:creationId xmlns:a16="http://schemas.microsoft.com/office/drawing/2014/main" id="{6E7AE8BC-FC8A-5754-F57D-1FBFD5EEDDBF}"/>
              </a:ext>
            </a:extLst>
          </p:cNvPr>
          <p:cNvSpPr/>
          <p:nvPr/>
        </p:nvSpPr>
        <p:spPr>
          <a:xfrm>
            <a:off x="7218862" y="1317363"/>
            <a:ext cx="407357" cy="255813"/>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マスタ</a:t>
            </a:r>
          </a:p>
        </p:txBody>
      </p:sp>
      <p:grpSp>
        <p:nvGrpSpPr>
          <p:cNvPr id="204" name="グループ化 203">
            <a:extLst>
              <a:ext uri="{FF2B5EF4-FFF2-40B4-BE49-F238E27FC236}">
                <a16:creationId xmlns:a16="http://schemas.microsoft.com/office/drawing/2014/main" id="{F9ECF7CE-44CD-4791-82B6-86FCE54A35CD}"/>
              </a:ext>
            </a:extLst>
          </p:cNvPr>
          <p:cNvGrpSpPr/>
          <p:nvPr/>
        </p:nvGrpSpPr>
        <p:grpSpPr>
          <a:xfrm>
            <a:off x="2191256" y="5085184"/>
            <a:ext cx="1696748" cy="732915"/>
            <a:chOff x="683994" y="5716666"/>
            <a:chExt cx="1696748" cy="732915"/>
          </a:xfrm>
        </p:grpSpPr>
        <p:sp>
          <p:nvSpPr>
            <p:cNvPr id="189" name="正方形/長方形 188">
              <a:extLst>
                <a:ext uri="{FF2B5EF4-FFF2-40B4-BE49-F238E27FC236}">
                  <a16:creationId xmlns:a16="http://schemas.microsoft.com/office/drawing/2014/main" id="{07A17666-794D-AB85-D096-7246D46736A0}"/>
                </a:ext>
              </a:extLst>
            </p:cNvPr>
            <p:cNvSpPr/>
            <p:nvPr/>
          </p:nvSpPr>
          <p:spPr>
            <a:xfrm>
              <a:off x="683994" y="5716666"/>
              <a:ext cx="1696748" cy="732915"/>
            </a:xfrm>
            <a:prstGeom prst="rect">
              <a:avLst/>
            </a:prstGeom>
            <a:solidFill>
              <a:schemeClr val="bg1"/>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tlCol="0" anchor="t" anchorCtr="0"/>
            <a:lstStyle/>
            <a:p>
              <a:r>
                <a:rPr kumimoji="1" lang="ja-JP" altLang="en-US" sz="1000">
                  <a:solidFill>
                    <a:schemeClr val="tx1"/>
                  </a:solidFill>
                  <a:latin typeface="Meiryo UI" panose="020B0604030504040204" pitchFamily="50" charset="-128"/>
                  <a:ea typeface="Meiryo UI" panose="020B0604030504040204" pitchFamily="50" charset="-128"/>
                </a:rPr>
                <a:t>算定・集計関連</a:t>
              </a:r>
            </a:p>
          </p:txBody>
        </p:sp>
        <p:sp>
          <p:nvSpPr>
            <p:cNvPr id="190" name="フローチャート: 書類 189">
              <a:extLst>
                <a:ext uri="{FF2B5EF4-FFF2-40B4-BE49-F238E27FC236}">
                  <a16:creationId xmlns:a16="http://schemas.microsoft.com/office/drawing/2014/main" id="{EC58C355-A43B-6DE6-13DD-14B77EFF393F}"/>
                </a:ext>
              </a:extLst>
            </p:cNvPr>
            <p:cNvSpPr/>
            <p:nvPr/>
          </p:nvSpPr>
          <p:spPr>
            <a:xfrm>
              <a:off x="749701" y="5980702"/>
              <a:ext cx="721657" cy="364586"/>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算定ロジック</a:t>
              </a:r>
            </a:p>
          </p:txBody>
        </p:sp>
        <p:sp>
          <p:nvSpPr>
            <p:cNvPr id="191" name="フローチャート: 書類 190">
              <a:extLst>
                <a:ext uri="{FF2B5EF4-FFF2-40B4-BE49-F238E27FC236}">
                  <a16:creationId xmlns:a16="http://schemas.microsoft.com/office/drawing/2014/main" id="{A3B0F8A1-DA55-9AC5-6B96-B389D5CBB7D6}"/>
                </a:ext>
              </a:extLst>
            </p:cNvPr>
            <p:cNvSpPr/>
            <p:nvPr/>
          </p:nvSpPr>
          <p:spPr>
            <a:xfrm>
              <a:off x="1551526" y="5975918"/>
              <a:ext cx="721657" cy="364586"/>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集計ロジック</a:t>
              </a:r>
            </a:p>
          </p:txBody>
        </p:sp>
      </p:grpSp>
      <p:grpSp>
        <p:nvGrpSpPr>
          <p:cNvPr id="201" name="グループ化 200">
            <a:extLst>
              <a:ext uri="{FF2B5EF4-FFF2-40B4-BE49-F238E27FC236}">
                <a16:creationId xmlns:a16="http://schemas.microsoft.com/office/drawing/2014/main" id="{09D3B815-76A0-303D-E1DE-FA208E386C47}"/>
              </a:ext>
            </a:extLst>
          </p:cNvPr>
          <p:cNvGrpSpPr/>
          <p:nvPr/>
        </p:nvGrpSpPr>
        <p:grpSpPr>
          <a:xfrm>
            <a:off x="6164020" y="4821421"/>
            <a:ext cx="1757442" cy="710614"/>
            <a:chOff x="4314037" y="5815960"/>
            <a:chExt cx="1757442" cy="808040"/>
          </a:xfrm>
        </p:grpSpPr>
        <p:sp>
          <p:nvSpPr>
            <p:cNvPr id="192" name="正方形/長方形 191">
              <a:extLst>
                <a:ext uri="{FF2B5EF4-FFF2-40B4-BE49-F238E27FC236}">
                  <a16:creationId xmlns:a16="http://schemas.microsoft.com/office/drawing/2014/main" id="{F3C7A62B-AA2D-E034-C125-C3621AB2CC9D}"/>
                </a:ext>
              </a:extLst>
            </p:cNvPr>
            <p:cNvSpPr/>
            <p:nvPr/>
          </p:nvSpPr>
          <p:spPr>
            <a:xfrm>
              <a:off x="4314037" y="5815960"/>
              <a:ext cx="1757442" cy="808040"/>
            </a:xfrm>
            <a:prstGeom prst="rect">
              <a:avLst/>
            </a:prstGeom>
            <a:solidFill>
              <a:schemeClr val="bg1"/>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tlCol="0" anchor="t" anchorCtr="0"/>
            <a:lstStyle/>
            <a:p>
              <a:r>
                <a:rPr kumimoji="1" lang="ja-JP" altLang="en-US" sz="1000">
                  <a:solidFill>
                    <a:schemeClr val="tx1"/>
                  </a:solidFill>
                  <a:latin typeface="Meiryo UI" panose="020B0604030504040204" pitchFamily="50" charset="-128"/>
                  <a:ea typeface="Meiryo UI" panose="020B0604030504040204" pitchFamily="50" charset="-128"/>
                </a:rPr>
                <a:t>レポーティング関連</a:t>
              </a:r>
            </a:p>
          </p:txBody>
        </p:sp>
        <p:sp>
          <p:nvSpPr>
            <p:cNvPr id="193" name="フローチャート: 書類 192">
              <a:extLst>
                <a:ext uri="{FF2B5EF4-FFF2-40B4-BE49-F238E27FC236}">
                  <a16:creationId xmlns:a16="http://schemas.microsoft.com/office/drawing/2014/main" id="{A53C1472-ECE2-17A1-4F7E-6F36B8AFC704}"/>
                </a:ext>
              </a:extLst>
            </p:cNvPr>
            <p:cNvSpPr/>
            <p:nvPr/>
          </p:nvSpPr>
          <p:spPr>
            <a:xfrm>
              <a:off x="4397673" y="6088102"/>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レポート</a:t>
              </a:r>
            </a:p>
          </p:txBody>
        </p:sp>
        <p:sp>
          <p:nvSpPr>
            <p:cNvPr id="194" name="フローチャート: 書類 193">
              <a:extLst>
                <a:ext uri="{FF2B5EF4-FFF2-40B4-BE49-F238E27FC236}">
                  <a16:creationId xmlns:a16="http://schemas.microsoft.com/office/drawing/2014/main" id="{9937C09F-297E-CA90-4783-B59703BA7004}"/>
                </a:ext>
              </a:extLst>
            </p:cNvPr>
            <p:cNvSpPr/>
            <p:nvPr/>
          </p:nvSpPr>
          <p:spPr>
            <a:xfrm>
              <a:off x="5218845" y="6088102"/>
              <a:ext cx="721657" cy="453187"/>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非財務情報</a:t>
              </a:r>
            </a:p>
          </p:txBody>
        </p:sp>
      </p:grpSp>
      <p:sp>
        <p:nvSpPr>
          <p:cNvPr id="205" name="円柱 204">
            <a:extLst>
              <a:ext uri="{FF2B5EF4-FFF2-40B4-BE49-F238E27FC236}">
                <a16:creationId xmlns:a16="http://schemas.microsoft.com/office/drawing/2014/main" id="{C3090288-372C-5720-4D72-D7D27BD41B9A}"/>
              </a:ext>
            </a:extLst>
          </p:cNvPr>
          <p:cNvSpPr/>
          <p:nvPr/>
        </p:nvSpPr>
        <p:spPr>
          <a:xfrm>
            <a:off x="2832915" y="6039770"/>
            <a:ext cx="1235029" cy="392261"/>
          </a:xfrm>
          <a:prstGeom prst="can">
            <a:avLst>
              <a:gd name="adj" fmla="val 13671"/>
            </a:avLst>
          </a:prstGeom>
          <a:solidFill>
            <a:schemeClr val="bg1">
              <a:lumMod val="95000"/>
            </a:schemeClr>
          </a:solidFill>
          <a:ln w="158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ベンダー係数情報</a:t>
            </a:r>
          </a:p>
        </p:txBody>
      </p:sp>
      <p:cxnSp>
        <p:nvCxnSpPr>
          <p:cNvPr id="206" name="コネクタ: カギ線 205">
            <a:extLst>
              <a:ext uri="{FF2B5EF4-FFF2-40B4-BE49-F238E27FC236}">
                <a16:creationId xmlns:a16="http://schemas.microsoft.com/office/drawing/2014/main" id="{4805BC74-38AB-AEE9-5654-9C0C660D7779}"/>
              </a:ext>
            </a:extLst>
          </p:cNvPr>
          <p:cNvCxnSpPr>
            <a:cxnSpLocks/>
            <a:stCxn id="22" idx="0"/>
            <a:endCxn id="175" idx="2"/>
          </p:cNvCxnSpPr>
          <p:nvPr/>
        </p:nvCxnSpPr>
        <p:spPr>
          <a:xfrm rot="5400000" flipH="1" flipV="1">
            <a:off x="4170905" y="4854277"/>
            <a:ext cx="1079357" cy="1417732"/>
          </a:xfrm>
          <a:prstGeom prst="bentConnector3">
            <a:avLst>
              <a:gd name="adj1" fmla="val 50000"/>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210" name="コネクタ: カギ線 209">
            <a:extLst>
              <a:ext uri="{FF2B5EF4-FFF2-40B4-BE49-F238E27FC236}">
                <a16:creationId xmlns:a16="http://schemas.microsoft.com/office/drawing/2014/main" id="{197597C3-9ADE-B157-F20D-2362AD4B794E}"/>
              </a:ext>
            </a:extLst>
          </p:cNvPr>
          <p:cNvCxnSpPr>
            <a:cxnSpLocks/>
            <a:endCxn id="173" idx="1"/>
          </p:cNvCxnSpPr>
          <p:nvPr/>
        </p:nvCxnSpPr>
        <p:spPr>
          <a:xfrm rot="5400000" flipH="1" flipV="1">
            <a:off x="3450223" y="5319996"/>
            <a:ext cx="1283125" cy="320952"/>
          </a:xfrm>
          <a:prstGeom prst="bentConnector2">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6" name="円柱 215">
            <a:extLst>
              <a:ext uri="{FF2B5EF4-FFF2-40B4-BE49-F238E27FC236}">
                <a16:creationId xmlns:a16="http://schemas.microsoft.com/office/drawing/2014/main" id="{0A9BA2DC-E982-6C17-D76C-6E0F3D9559FE}"/>
              </a:ext>
            </a:extLst>
          </p:cNvPr>
          <p:cNvSpPr/>
          <p:nvPr/>
        </p:nvSpPr>
        <p:spPr>
          <a:xfrm>
            <a:off x="4867250" y="6033172"/>
            <a:ext cx="1235029" cy="392261"/>
          </a:xfrm>
          <a:prstGeom prst="can">
            <a:avLst>
              <a:gd name="adj" fmla="val 13671"/>
            </a:avLst>
          </a:prstGeom>
          <a:solidFill>
            <a:schemeClr val="bg1">
              <a:lumMod val="95000"/>
            </a:schemeClr>
          </a:solidFill>
          <a:ln w="158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出光ユーザー情報</a:t>
            </a:r>
          </a:p>
        </p:txBody>
      </p:sp>
      <p:cxnSp>
        <p:nvCxnSpPr>
          <p:cNvPr id="217" name="コネクタ: カギ線 216">
            <a:extLst>
              <a:ext uri="{FF2B5EF4-FFF2-40B4-BE49-F238E27FC236}">
                <a16:creationId xmlns:a16="http://schemas.microsoft.com/office/drawing/2014/main" id="{70E70812-B3C8-5A81-A38F-5273407790D3}"/>
              </a:ext>
            </a:extLst>
          </p:cNvPr>
          <p:cNvCxnSpPr>
            <a:cxnSpLocks/>
            <a:stCxn id="220" idx="0"/>
            <a:endCxn id="177" idx="3"/>
          </p:cNvCxnSpPr>
          <p:nvPr/>
        </p:nvCxnSpPr>
        <p:spPr>
          <a:xfrm rot="16200000" flipV="1">
            <a:off x="4856297" y="4923118"/>
            <a:ext cx="2186703" cy="150524"/>
          </a:xfrm>
          <a:prstGeom prst="bentConnector2">
            <a:avLst/>
          </a:prstGeom>
          <a:ln w="2222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18" name="テキスト ボックス 217">
            <a:extLst>
              <a:ext uri="{FF2B5EF4-FFF2-40B4-BE49-F238E27FC236}">
                <a16:creationId xmlns:a16="http://schemas.microsoft.com/office/drawing/2014/main" id="{1AA4C44D-609B-71D2-E187-F528D10C90FA}"/>
              </a:ext>
            </a:extLst>
          </p:cNvPr>
          <p:cNvSpPr txBox="1"/>
          <p:nvPr/>
        </p:nvSpPr>
        <p:spPr>
          <a:xfrm>
            <a:off x="6091137" y="5942034"/>
            <a:ext cx="504000" cy="180000"/>
          </a:xfrm>
          <a:prstGeom prst="rect">
            <a:avLst/>
          </a:prstGeom>
          <a:noFill/>
        </p:spPr>
        <p:txBody>
          <a:bodyPr wrap="none" lIns="0" tIns="0" rIns="0" bIns="0" rtlCol="0">
            <a:noAutofit/>
          </a:bodyPr>
          <a:lstStyle/>
          <a:p>
            <a:pPr algn="ctr"/>
            <a:r>
              <a:rPr kumimoji="1" lang="en-US" altLang="ja-JP" sz="1050" b="1">
                <a:latin typeface="Meiryo UI" panose="020B0604030504040204" pitchFamily="50" charset="-128"/>
                <a:ea typeface="Meiryo UI" panose="020B0604030504040204" pitchFamily="50" charset="-128"/>
              </a:rPr>
              <a:t>AD</a:t>
            </a:r>
            <a:r>
              <a:rPr kumimoji="1" lang="ja-JP" altLang="en-US" sz="1050" b="1">
                <a:latin typeface="Meiryo UI" panose="020B0604030504040204" pitchFamily="50" charset="-128"/>
                <a:ea typeface="Meiryo UI" panose="020B0604030504040204" pitchFamily="50" charset="-128"/>
              </a:rPr>
              <a:t>連携</a:t>
            </a:r>
            <a:endParaRPr kumimoji="1" lang="en-US" altLang="ja-JP" sz="1050" b="1">
              <a:latin typeface="Meiryo UI" panose="020B0604030504040204" pitchFamily="50" charset="-128"/>
              <a:ea typeface="Meiryo UI" panose="020B0604030504040204" pitchFamily="50" charset="-128"/>
            </a:endParaRPr>
          </a:p>
        </p:txBody>
      </p:sp>
      <p:sp>
        <p:nvSpPr>
          <p:cNvPr id="220" name="正方形/長方形 219">
            <a:extLst>
              <a:ext uri="{FF2B5EF4-FFF2-40B4-BE49-F238E27FC236}">
                <a16:creationId xmlns:a16="http://schemas.microsoft.com/office/drawing/2014/main" id="{9D3F31F4-3E78-CA01-9C32-C9E7F0A1F6AE}"/>
              </a:ext>
            </a:extLst>
          </p:cNvPr>
          <p:cNvSpPr/>
          <p:nvPr/>
        </p:nvSpPr>
        <p:spPr>
          <a:xfrm>
            <a:off x="5973850" y="6091731"/>
            <a:ext cx="102119" cy="199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30" name="テキスト ボックス 229">
            <a:extLst>
              <a:ext uri="{FF2B5EF4-FFF2-40B4-BE49-F238E27FC236}">
                <a16:creationId xmlns:a16="http://schemas.microsoft.com/office/drawing/2014/main" id="{C0EAB379-F195-5309-D4DF-B9AB09E8F8E3}"/>
              </a:ext>
            </a:extLst>
          </p:cNvPr>
          <p:cNvSpPr txBox="1"/>
          <p:nvPr/>
        </p:nvSpPr>
        <p:spPr>
          <a:xfrm>
            <a:off x="1393415" y="5330482"/>
            <a:ext cx="504000" cy="180000"/>
          </a:xfrm>
          <a:prstGeom prst="rect">
            <a:avLst/>
          </a:prstGeom>
          <a:noFill/>
        </p:spPr>
        <p:txBody>
          <a:bodyPr wrap="none" lIns="0" tIns="0" rIns="0" bIns="0" rtlCol="0">
            <a:noAutofit/>
          </a:bodyPr>
          <a:lstStyle/>
          <a:p>
            <a:pPr algn="ctr"/>
            <a:r>
              <a:rPr kumimoji="1" lang="ja-JP" altLang="en-US" sz="900">
                <a:latin typeface="Meiryo UI" panose="020B0604030504040204" pitchFamily="50" charset="-128"/>
                <a:ea typeface="Meiryo UI" panose="020B0604030504040204" pitchFamily="50" charset="-128"/>
              </a:rPr>
              <a:t>データ連携</a:t>
            </a:r>
            <a:endParaRPr kumimoji="1" lang="en-US" altLang="ja-JP" sz="900">
              <a:latin typeface="Meiryo UI" panose="020B0604030504040204" pitchFamily="50" charset="-128"/>
              <a:ea typeface="Meiryo UI" panose="020B0604030504040204" pitchFamily="50" charset="-128"/>
            </a:endParaRPr>
          </a:p>
          <a:p>
            <a:pPr algn="ctr"/>
            <a:r>
              <a:rPr kumimoji="1" lang="en-US" altLang="ja-JP" sz="900">
                <a:latin typeface="Meiryo UI" panose="020B0604030504040204" pitchFamily="50" charset="-128"/>
                <a:ea typeface="Meiryo UI" panose="020B0604030504040204" pitchFamily="50" charset="-128"/>
              </a:rPr>
              <a:t>(</a:t>
            </a:r>
            <a:r>
              <a:rPr kumimoji="1" lang="ja-JP" altLang="en-US" sz="900">
                <a:latin typeface="Meiryo UI" panose="020B0604030504040204" pitchFamily="50" charset="-128"/>
                <a:ea typeface="Meiryo UI" panose="020B0604030504040204" pitchFamily="50" charset="-128"/>
              </a:rPr>
              <a:t>アンケート、</a:t>
            </a:r>
            <a:endParaRPr kumimoji="1" lang="en-US" altLang="ja-JP" sz="900">
              <a:latin typeface="Meiryo UI" panose="020B0604030504040204" pitchFamily="50" charset="-128"/>
              <a:ea typeface="Meiryo UI" panose="020B0604030504040204" pitchFamily="50" charset="-128"/>
            </a:endParaRPr>
          </a:p>
          <a:p>
            <a:pPr algn="ctr"/>
            <a:r>
              <a:rPr kumimoji="1" lang="en-US" altLang="ja-JP" sz="900">
                <a:latin typeface="Meiryo UI" panose="020B0604030504040204" pitchFamily="50" charset="-128"/>
                <a:ea typeface="Meiryo UI" panose="020B0604030504040204" pitchFamily="50" charset="-128"/>
              </a:rPr>
              <a:t>CSV</a:t>
            </a:r>
            <a:r>
              <a:rPr kumimoji="1" lang="ja-JP" altLang="en-US" sz="900">
                <a:latin typeface="Meiryo UI" panose="020B0604030504040204" pitchFamily="50" charset="-128"/>
                <a:ea typeface="Meiryo UI" panose="020B0604030504040204" pitchFamily="50" charset="-128"/>
              </a:rPr>
              <a:t>、</a:t>
            </a:r>
            <a:r>
              <a:rPr kumimoji="1" lang="en-US" altLang="ja-JP" sz="900">
                <a:latin typeface="Meiryo UI" panose="020B0604030504040204" pitchFamily="50" charset="-128"/>
                <a:ea typeface="Meiryo UI" panose="020B0604030504040204" pitchFamily="50" charset="-128"/>
              </a:rPr>
              <a:t>API</a:t>
            </a:r>
            <a:r>
              <a:rPr kumimoji="1" lang="ja-JP" altLang="en-US" sz="900">
                <a:latin typeface="Meiryo UI" panose="020B0604030504040204" pitchFamily="50" charset="-128"/>
                <a:ea typeface="Meiryo UI" panose="020B0604030504040204" pitchFamily="50" charset="-128"/>
              </a:rPr>
              <a:t>等）</a:t>
            </a:r>
            <a:endParaRPr kumimoji="1" lang="en-US" altLang="ja-JP" sz="900">
              <a:latin typeface="Meiryo UI" panose="020B0604030504040204" pitchFamily="50" charset="-128"/>
              <a:ea typeface="Meiryo UI" panose="020B0604030504040204" pitchFamily="50" charset="-128"/>
            </a:endParaRPr>
          </a:p>
        </p:txBody>
      </p:sp>
      <p:sp>
        <p:nvSpPr>
          <p:cNvPr id="231" name="テキスト ボックス 230">
            <a:extLst>
              <a:ext uri="{FF2B5EF4-FFF2-40B4-BE49-F238E27FC236}">
                <a16:creationId xmlns:a16="http://schemas.microsoft.com/office/drawing/2014/main" id="{016931B0-B2E1-B795-537D-F8B8E3FC418D}"/>
              </a:ext>
            </a:extLst>
          </p:cNvPr>
          <p:cNvSpPr txBox="1"/>
          <p:nvPr/>
        </p:nvSpPr>
        <p:spPr>
          <a:xfrm>
            <a:off x="1415585" y="5119244"/>
            <a:ext cx="504000" cy="180000"/>
          </a:xfrm>
          <a:prstGeom prst="rect">
            <a:avLst/>
          </a:prstGeom>
          <a:noFill/>
        </p:spPr>
        <p:txBody>
          <a:bodyPr wrap="none" lIns="0" tIns="0" rIns="0" bIns="0" rtlCol="0">
            <a:noAutofit/>
          </a:bodyPr>
          <a:lstStyle/>
          <a:p>
            <a:pPr algn="ctr"/>
            <a:r>
              <a:rPr kumimoji="1" lang="ja-JP" altLang="en-US" sz="900">
                <a:latin typeface="Meiryo UI" panose="020B0604030504040204" pitchFamily="50" charset="-128"/>
                <a:ea typeface="Meiryo UI" panose="020B0604030504040204" pitchFamily="50" charset="-128"/>
              </a:rPr>
              <a:t>係数更新</a:t>
            </a:r>
            <a:endParaRPr kumimoji="1" lang="en-US" altLang="ja-JP" sz="900">
              <a:latin typeface="Meiryo UI" panose="020B0604030504040204" pitchFamily="50" charset="-128"/>
              <a:ea typeface="Meiryo UI" panose="020B0604030504040204" pitchFamily="50" charset="-128"/>
            </a:endParaRPr>
          </a:p>
        </p:txBody>
      </p:sp>
      <p:sp>
        <p:nvSpPr>
          <p:cNvPr id="232" name="円柱 231">
            <a:extLst>
              <a:ext uri="{FF2B5EF4-FFF2-40B4-BE49-F238E27FC236}">
                <a16:creationId xmlns:a16="http://schemas.microsoft.com/office/drawing/2014/main" id="{E5242A37-45F0-EB04-8769-C8074B00F440}"/>
              </a:ext>
            </a:extLst>
          </p:cNvPr>
          <p:cNvSpPr/>
          <p:nvPr/>
        </p:nvSpPr>
        <p:spPr>
          <a:xfrm>
            <a:off x="945376" y="5126659"/>
            <a:ext cx="397212" cy="344502"/>
          </a:xfrm>
          <a:prstGeom prst="can">
            <a:avLst>
              <a:gd name="adj" fmla="val 18194"/>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外部</a:t>
            </a:r>
            <a:endParaRPr kumimoji="1" lang="en-US" altLang="ja-JP" sz="1050">
              <a:solidFill>
                <a:schemeClr val="tx1"/>
              </a:solidFill>
              <a:latin typeface="Meiryo UI" panose="020B0604030504040204" pitchFamily="50" charset="-128"/>
              <a:ea typeface="Meiryo UI" panose="020B0604030504040204" pitchFamily="50" charset="-128"/>
            </a:endParaRPr>
          </a:p>
          <a:p>
            <a:pPr algn="ctr"/>
            <a:r>
              <a:rPr kumimoji="1" lang="ja-JP" altLang="en-US" sz="1050">
                <a:solidFill>
                  <a:schemeClr val="tx1"/>
                </a:solidFill>
                <a:latin typeface="Meiryo UI" panose="020B0604030504040204" pitchFamily="50" charset="-128"/>
                <a:ea typeface="Meiryo UI" panose="020B0604030504040204" pitchFamily="50" charset="-128"/>
              </a:rPr>
              <a:t>情報</a:t>
            </a:r>
          </a:p>
        </p:txBody>
      </p:sp>
      <p:sp>
        <p:nvSpPr>
          <p:cNvPr id="233" name="四角形: 角を丸くする 232">
            <a:extLst>
              <a:ext uri="{FF2B5EF4-FFF2-40B4-BE49-F238E27FC236}">
                <a16:creationId xmlns:a16="http://schemas.microsoft.com/office/drawing/2014/main" id="{4DC12B13-F470-AB8D-D083-455CA74CCC5D}"/>
              </a:ext>
            </a:extLst>
          </p:cNvPr>
          <p:cNvSpPr/>
          <p:nvPr/>
        </p:nvSpPr>
        <p:spPr>
          <a:xfrm>
            <a:off x="165773" y="4981483"/>
            <a:ext cx="705389" cy="288000"/>
          </a:xfrm>
          <a:prstGeom prst="round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50" b="1">
                <a:solidFill>
                  <a:schemeClr val="tx1"/>
                </a:solidFill>
                <a:latin typeface="Meiryo UI" panose="020B0604030504040204" pitchFamily="50" charset="-128"/>
                <a:ea typeface="Meiryo UI" panose="020B0604030504040204" pitchFamily="50" charset="-128"/>
              </a:rPr>
              <a:t>サプライヤー情報</a:t>
            </a:r>
          </a:p>
        </p:txBody>
      </p:sp>
      <p:sp>
        <p:nvSpPr>
          <p:cNvPr id="234" name="四角形: 角を丸くする 233">
            <a:extLst>
              <a:ext uri="{FF2B5EF4-FFF2-40B4-BE49-F238E27FC236}">
                <a16:creationId xmlns:a16="http://schemas.microsoft.com/office/drawing/2014/main" id="{A65C4875-89BF-61A5-7A90-1DDA43B0C902}"/>
              </a:ext>
            </a:extLst>
          </p:cNvPr>
          <p:cNvSpPr/>
          <p:nvPr/>
        </p:nvSpPr>
        <p:spPr>
          <a:xfrm>
            <a:off x="171676" y="5330482"/>
            <a:ext cx="705389" cy="288000"/>
          </a:xfrm>
          <a:prstGeom prst="round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50" b="1">
                <a:solidFill>
                  <a:schemeClr val="tx1"/>
                </a:solidFill>
                <a:latin typeface="Meiryo UI" panose="020B0604030504040204" pitchFamily="50" charset="-128"/>
                <a:ea typeface="Meiryo UI" panose="020B0604030504040204" pitchFamily="50" charset="-128"/>
              </a:rPr>
              <a:t>外部排出</a:t>
            </a:r>
            <a:r>
              <a:rPr kumimoji="1" lang="en-US" altLang="ja-JP" sz="1050" b="1">
                <a:solidFill>
                  <a:schemeClr val="tx1"/>
                </a:solidFill>
                <a:latin typeface="Meiryo UI" panose="020B0604030504040204" pitchFamily="50" charset="-128"/>
                <a:ea typeface="Meiryo UI" panose="020B0604030504040204" pitchFamily="50" charset="-128"/>
              </a:rPr>
              <a:t>DB</a:t>
            </a:r>
            <a:r>
              <a:rPr kumimoji="1" lang="ja-JP" altLang="en-US" sz="1050" b="1">
                <a:solidFill>
                  <a:schemeClr val="tx1"/>
                </a:solidFill>
                <a:latin typeface="Meiryo UI" panose="020B0604030504040204" pitchFamily="50" charset="-128"/>
                <a:ea typeface="Meiryo UI" panose="020B0604030504040204" pitchFamily="50" charset="-128"/>
              </a:rPr>
              <a:t>等</a:t>
            </a:r>
          </a:p>
        </p:txBody>
      </p:sp>
      <p:cxnSp>
        <p:nvCxnSpPr>
          <p:cNvPr id="235" name="直線矢印コネクタ 234">
            <a:extLst>
              <a:ext uri="{FF2B5EF4-FFF2-40B4-BE49-F238E27FC236}">
                <a16:creationId xmlns:a16="http://schemas.microsoft.com/office/drawing/2014/main" id="{EB93CA2E-7419-9721-1E14-B54572EDB251}"/>
              </a:ext>
            </a:extLst>
          </p:cNvPr>
          <p:cNvCxnSpPr>
            <a:cxnSpLocks/>
            <a:stCxn id="232" idx="4"/>
          </p:cNvCxnSpPr>
          <p:nvPr/>
        </p:nvCxnSpPr>
        <p:spPr>
          <a:xfrm>
            <a:off x="1342588" y="5298910"/>
            <a:ext cx="674140"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7" name="楕円 236">
            <a:extLst>
              <a:ext uri="{FF2B5EF4-FFF2-40B4-BE49-F238E27FC236}">
                <a16:creationId xmlns:a16="http://schemas.microsoft.com/office/drawing/2014/main" id="{2B9CF7F0-30D3-8F3A-47CE-4C8084438815}"/>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249" name="正方形/長方形 248">
            <a:extLst>
              <a:ext uri="{FF2B5EF4-FFF2-40B4-BE49-F238E27FC236}">
                <a16:creationId xmlns:a16="http://schemas.microsoft.com/office/drawing/2014/main" id="{0EA0BD81-DC76-4C68-CBA3-457274C9035A}"/>
              </a:ext>
            </a:extLst>
          </p:cNvPr>
          <p:cNvSpPr/>
          <p:nvPr/>
        </p:nvSpPr>
        <p:spPr>
          <a:xfrm>
            <a:off x="7801563" y="1369570"/>
            <a:ext cx="402325" cy="134120"/>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900">
                <a:latin typeface="Meiryo UI" panose="020B0604030504040204" pitchFamily="50" charset="-128"/>
                <a:ea typeface="Meiryo UI" panose="020B0604030504040204" pitchFamily="50" charset="-128"/>
              </a:rPr>
              <a:t>温対法</a:t>
            </a:r>
            <a:endParaRPr kumimoji="1" lang="en-US" altLang="ja-JP" sz="900">
              <a:latin typeface="Meiryo UI" panose="020B0604030504040204" pitchFamily="50" charset="-128"/>
              <a:ea typeface="Meiryo UI" panose="020B0604030504040204" pitchFamily="50" charset="-128"/>
            </a:endParaRPr>
          </a:p>
        </p:txBody>
      </p:sp>
      <p:sp>
        <p:nvSpPr>
          <p:cNvPr id="250" name="正方形/長方形 249">
            <a:extLst>
              <a:ext uri="{FF2B5EF4-FFF2-40B4-BE49-F238E27FC236}">
                <a16:creationId xmlns:a16="http://schemas.microsoft.com/office/drawing/2014/main" id="{E4259A5D-800B-DE9F-9334-64CD7EF1A119}"/>
              </a:ext>
            </a:extLst>
          </p:cNvPr>
          <p:cNvSpPr/>
          <p:nvPr/>
        </p:nvSpPr>
        <p:spPr>
          <a:xfrm>
            <a:off x="8379233" y="1367312"/>
            <a:ext cx="402325" cy="134120"/>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800">
                <a:latin typeface="Meiryo UI" panose="020B0604030504040204" pitchFamily="50" charset="-128"/>
                <a:ea typeface="Meiryo UI" panose="020B0604030504040204" pitchFamily="50" charset="-128"/>
              </a:rPr>
              <a:t>SSBJ</a:t>
            </a:r>
            <a:endParaRPr kumimoji="1" lang="ja-JP" altLang="en-US" sz="800" b="1">
              <a:solidFill>
                <a:schemeClr val="bg1"/>
              </a:solidFill>
              <a:latin typeface="Meiryo UI" panose="020B0604030504040204" pitchFamily="50" charset="-128"/>
              <a:ea typeface="Meiryo UI" panose="020B0604030504040204" pitchFamily="50" charset="-128"/>
            </a:endParaRPr>
          </a:p>
        </p:txBody>
      </p:sp>
      <p:sp>
        <p:nvSpPr>
          <p:cNvPr id="251" name="左大かっこ 250">
            <a:extLst>
              <a:ext uri="{FF2B5EF4-FFF2-40B4-BE49-F238E27FC236}">
                <a16:creationId xmlns:a16="http://schemas.microsoft.com/office/drawing/2014/main" id="{F88D4C34-92F4-6E3B-1CCF-AC3246AB42E6}"/>
              </a:ext>
            </a:extLst>
          </p:cNvPr>
          <p:cNvSpPr/>
          <p:nvPr/>
        </p:nvSpPr>
        <p:spPr>
          <a:xfrm>
            <a:off x="871163" y="1687855"/>
            <a:ext cx="115142" cy="620531"/>
          </a:xfrm>
          <a:prstGeom prst="leftBracket">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82541B93-8F70-1E2A-33CC-FA9A79612C1D}"/>
              </a:ext>
            </a:extLst>
          </p:cNvPr>
          <p:cNvSpPr/>
          <p:nvPr/>
        </p:nvSpPr>
        <p:spPr>
          <a:xfrm>
            <a:off x="3950657" y="6102821"/>
            <a:ext cx="102119" cy="199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grpSp>
        <p:nvGrpSpPr>
          <p:cNvPr id="31" name="グループ化 30">
            <a:extLst>
              <a:ext uri="{FF2B5EF4-FFF2-40B4-BE49-F238E27FC236}">
                <a16:creationId xmlns:a16="http://schemas.microsoft.com/office/drawing/2014/main" id="{F4E30821-9F77-EEFB-3406-E6B67D20AC4E}"/>
              </a:ext>
            </a:extLst>
          </p:cNvPr>
          <p:cNvGrpSpPr/>
          <p:nvPr/>
        </p:nvGrpSpPr>
        <p:grpSpPr>
          <a:xfrm>
            <a:off x="2191256" y="4293096"/>
            <a:ext cx="1696748" cy="732915"/>
            <a:chOff x="683994" y="4869535"/>
            <a:chExt cx="1696748" cy="732915"/>
          </a:xfrm>
        </p:grpSpPr>
        <p:sp>
          <p:nvSpPr>
            <p:cNvPr id="32" name="正方形/長方形 31">
              <a:extLst>
                <a:ext uri="{FF2B5EF4-FFF2-40B4-BE49-F238E27FC236}">
                  <a16:creationId xmlns:a16="http://schemas.microsoft.com/office/drawing/2014/main" id="{4E26DEB7-8547-2A01-B53D-6E6BDC670C09}"/>
                </a:ext>
              </a:extLst>
            </p:cNvPr>
            <p:cNvSpPr/>
            <p:nvPr/>
          </p:nvSpPr>
          <p:spPr>
            <a:xfrm>
              <a:off x="683994" y="4869535"/>
              <a:ext cx="1696748" cy="732915"/>
            </a:xfrm>
            <a:prstGeom prst="rect">
              <a:avLst/>
            </a:prstGeom>
            <a:solidFill>
              <a:schemeClr val="bg1"/>
            </a:solid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tlCol="0" anchor="t" anchorCtr="0"/>
            <a:lstStyle/>
            <a:p>
              <a:r>
                <a:rPr kumimoji="1" lang="ja-JP" altLang="en-US" sz="1000">
                  <a:solidFill>
                    <a:schemeClr val="tx1"/>
                  </a:solidFill>
                  <a:latin typeface="Meiryo UI" panose="020B0604030504040204" pitchFamily="50" charset="-128"/>
                  <a:ea typeface="Meiryo UI" panose="020B0604030504040204" pitchFamily="50" charset="-128"/>
                </a:rPr>
                <a:t>環境</a:t>
              </a:r>
              <a:r>
                <a:rPr kumimoji="1" lang="en-US" altLang="ja-JP" sz="1000">
                  <a:solidFill>
                    <a:schemeClr val="tx1"/>
                  </a:solidFill>
                  <a:latin typeface="Meiryo UI" panose="020B0604030504040204" pitchFamily="50" charset="-128"/>
                  <a:ea typeface="Meiryo UI" panose="020B0604030504040204" pitchFamily="50" charset="-128"/>
                </a:rPr>
                <a:t>(GHG</a:t>
              </a:r>
              <a:r>
                <a:rPr kumimoji="1" lang="ja-JP" altLang="en-US" sz="1000">
                  <a:solidFill>
                    <a:schemeClr val="tx1"/>
                  </a:solidFill>
                  <a:latin typeface="Meiryo UI" panose="020B0604030504040204" pitchFamily="50" charset="-128"/>
                  <a:ea typeface="Meiryo UI" panose="020B0604030504040204" pitchFamily="50" charset="-128"/>
                </a:rPr>
                <a:t>以外</a:t>
              </a:r>
              <a:r>
                <a:rPr kumimoji="1" lang="en-US" altLang="ja-JP" sz="1000">
                  <a:solidFill>
                    <a:schemeClr val="tx1"/>
                  </a:solidFill>
                  <a:latin typeface="Meiryo UI" panose="020B0604030504040204" pitchFamily="50" charset="-128"/>
                  <a:ea typeface="Meiryo UI" panose="020B0604030504040204" pitchFamily="50" charset="-128"/>
                </a:rPr>
                <a:t>)</a:t>
              </a:r>
              <a:r>
                <a:rPr kumimoji="1" lang="ja-JP" altLang="en-US" sz="1000">
                  <a:solidFill>
                    <a:schemeClr val="tx1"/>
                  </a:solidFill>
                  <a:latin typeface="Meiryo UI" panose="020B0604030504040204" pitchFamily="50" charset="-128"/>
                  <a:ea typeface="Meiryo UI" panose="020B0604030504040204" pitchFamily="50" charset="-128"/>
                </a:rPr>
                <a:t>・人的資本</a:t>
              </a:r>
            </a:p>
          </p:txBody>
        </p:sp>
        <p:sp>
          <p:nvSpPr>
            <p:cNvPr id="33" name="フローチャート: 書類 32">
              <a:extLst>
                <a:ext uri="{FF2B5EF4-FFF2-40B4-BE49-F238E27FC236}">
                  <a16:creationId xmlns:a16="http://schemas.microsoft.com/office/drawing/2014/main" id="{EBB37D27-812A-EB0A-3C32-45E2E9FCCADF}"/>
                </a:ext>
              </a:extLst>
            </p:cNvPr>
            <p:cNvSpPr/>
            <p:nvPr/>
          </p:nvSpPr>
          <p:spPr>
            <a:xfrm>
              <a:off x="749701" y="5133571"/>
              <a:ext cx="721657" cy="364586"/>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en-US" altLang="ja-JP" sz="900" b="1">
                  <a:solidFill>
                    <a:schemeClr val="tx1"/>
                  </a:solidFill>
                  <a:latin typeface="Meiryo UI" panose="020B0604030504040204" pitchFamily="50" charset="-128"/>
                  <a:ea typeface="Meiryo UI" panose="020B0604030504040204" pitchFamily="50" charset="-128"/>
                </a:rPr>
                <a:t>GHG</a:t>
              </a:r>
              <a:r>
                <a:rPr kumimoji="1" lang="ja-JP" altLang="en-US" sz="900" b="1">
                  <a:solidFill>
                    <a:schemeClr val="tx1"/>
                  </a:solidFill>
                  <a:latin typeface="Meiryo UI" panose="020B0604030504040204" pitchFamily="50" charset="-128"/>
                  <a:ea typeface="Meiryo UI" panose="020B0604030504040204" pitchFamily="50" charset="-128"/>
                </a:rPr>
                <a:t>以外</a:t>
              </a:r>
              <a:endParaRPr kumimoji="1" lang="en-US" altLang="ja-JP" sz="900" b="1">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環境</a:t>
              </a:r>
            </a:p>
          </p:txBody>
        </p:sp>
        <p:sp>
          <p:nvSpPr>
            <p:cNvPr id="34" name="フローチャート: 書類 33">
              <a:extLst>
                <a:ext uri="{FF2B5EF4-FFF2-40B4-BE49-F238E27FC236}">
                  <a16:creationId xmlns:a16="http://schemas.microsoft.com/office/drawing/2014/main" id="{C88CCE01-0BF0-CBCF-343A-224A7DCC61F2}"/>
                </a:ext>
              </a:extLst>
            </p:cNvPr>
            <p:cNvSpPr/>
            <p:nvPr/>
          </p:nvSpPr>
          <p:spPr>
            <a:xfrm>
              <a:off x="1551526" y="5128787"/>
              <a:ext cx="721657" cy="364586"/>
            </a:xfrm>
            <a:prstGeom prst="flowChartDocument">
              <a:avLst/>
            </a:prstGeom>
            <a:solidFill>
              <a:schemeClr val="accent3">
                <a:lumMod val="40000"/>
                <a:lumOff val="60000"/>
              </a:schemeClr>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人的資本</a:t>
              </a:r>
            </a:p>
          </p:txBody>
        </p:sp>
      </p:grpSp>
      <p:sp>
        <p:nvSpPr>
          <p:cNvPr id="42" name="楕円 41">
            <a:extLst>
              <a:ext uri="{FF2B5EF4-FFF2-40B4-BE49-F238E27FC236}">
                <a16:creationId xmlns:a16="http://schemas.microsoft.com/office/drawing/2014/main" id="{965E984A-7409-236B-8891-C31B0F81063E}"/>
              </a:ext>
            </a:extLst>
          </p:cNvPr>
          <p:cNvSpPr/>
          <p:nvPr/>
        </p:nvSpPr>
        <p:spPr>
          <a:xfrm>
            <a:off x="3726913" y="4276303"/>
            <a:ext cx="204394" cy="20439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44" name="楕円 43">
            <a:extLst>
              <a:ext uri="{FF2B5EF4-FFF2-40B4-BE49-F238E27FC236}">
                <a16:creationId xmlns:a16="http://schemas.microsoft.com/office/drawing/2014/main" id="{F9732E7A-79A5-ED6A-6E10-2E5BB81152A5}"/>
              </a:ext>
            </a:extLst>
          </p:cNvPr>
          <p:cNvSpPr/>
          <p:nvPr/>
        </p:nvSpPr>
        <p:spPr>
          <a:xfrm>
            <a:off x="3052313" y="3499612"/>
            <a:ext cx="204394" cy="20439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45" name="楕円 44">
            <a:extLst>
              <a:ext uri="{FF2B5EF4-FFF2-40B4-BE49-F238E27FC236}">
                <a16:creationId xmlns:a16="http://schemas.microsoft.com/office/drawing/2014/main" id="{588C68D3-D027-286B-3B60-B704454359B9}"/>
              </a:ext>
            </a:extLst>
          </p:cNvPr>
          <p:cNvSpPr/>
          <p:nvPr/>
        </p:nvSpPr>
        <p:spPr>
          <a:xfrm>
            <a:off x="3241485" y="2009722"/>
            <a:ext cx="204394" cy="20439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2</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46" name="楕円 45">
            <a:extLst>
              <a:ext uri="{FF2B5EF4-FFF2-40B4-BE49-F238E27FC236}">
                <a16:creationId xmlns:a16="http://schemas.microsoft.com/office/drawing/2014/main" id="{A9D6A80E-DB85-E13F-67FA-AAF72EEBDC2C}"/>
              </a:ext>
            </a:extLst>
          </p:cNvPr>
          <p:cNvSpPr/>
          <p:nvPr/>
        </p:nvSpPr>
        <p:spPr>
          <a:xfrm>
            <a:off x="3935558" y="1988840"/>
            <a:ext cx="204394" cy="20439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3</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47" name="楕円 46">
            <a:extLst>
              <a:ext uri="{FF2B5EF4-FFF2-40B4-BE49-F238E27FC236}">
                <a16:creationId xmlns:a16="http://schemas.microsoft.com/office/drawing/2014/main" id="{D35738B0-D0D1-7DD1-556D-DE293DBE72E4}"/>
              </a:ext>
            </a:extLst>
          </p:cNvPr>
          <p:cNvSpPr/>
          <p:nvPr/>
        </p:nvSpPr>
        <p:spPr>
          <a:xfrm>
            <a:off x="3640447" y="5216088"/>
            <a:ext cx="204394" cy="20439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94D1C4E7-0AFC-15C4-868B-69239F2BE994}"/>
              </a:ext>
            </a:extLst>
          </p:cNvPr>
          <p:cNvSpPr/>
          <p:nvPr/>
        </p:nvSpPr>
        <p:spPr>
          <a:xfrm>
            <a:off x="7744647" y="1186619"/>
            <a:ext cx="516155" cy="1499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凡例</a:t>
            </a:r>
          </a:p>
        </p:txBody>
      </p:sp>
      <p:sp>
        <p:nvSpPr>
          <p:cNvPr id="56" name="テキスト ボックス 55">
            <a:extLst>
              <a:ext uri="{FF2B5EF4-FFF2-40B4-BE49-F238E27FC236}">
                <a16:creationId xmlns:a16="http://schemas.microsoft.com/office/drawing/2014/main" id="{04717E22-87B3-EF1F-A9F9-26B77D324A62}"/>
              </a:ext>
            </a:extLst>
          </p:cNvPr>
          <p:cNvSpPr txBox="1"/>
          <p:nvPr/>
        </p:nvSpPr>
        <p:spPr>
          <a:xfrm>
            <a:off x="3843031" y="5189109"/>
            <a:ext cx="748192" cy="180000"/>
          </a:xfrm>
          <a:prstGeom prst="rect">
            <a:avLst/>
          </a:prstGeom>
          <a:noFill/>
        </p:spPr>
        <p:txBody>
          <a:bodyPr wrap="none" lIns="0" tIns="0" rIns="0" bIns="0" rtlCol="0">
            <a:noAutofit/>
          </a:bodyPr>
          <a:lstStyle/>
          <a:p>
            <a:pPr algn="ctr"/>
            <a:r>
              <a:rPr kumimoji="1" lang="ja-JP" altLang="en-US" sz="1050" b="1">
                <a:latin typeface="Meiryo UI" panose="020B0604030504040204" pitchFamily="50" charset="-128"/>
                <a:ea typeface="Meiryo UI" panose="020B0604030504040204" pitchFamily="50" charset="-128"/>
              </a:rPr>
              <a:t>デフォルト</a:t>
            </a:r>
            <a:endParaRPr kumimoji="1" lang="en-US" altLang="ja-JP" sz="1050" b="1">
              <a:latin typeface="Meiryo UI" panose="020B0604030504040204" pitchFamily="50" charset="-128"/>
              <a:ea typeface="Meiryo UI" panose="020B0604030504040204" pitchFamily="50" charset="-128"/>
            </a:endParaRPr>
          </a:p>
          <a:p>
            <a:pPr algn="ctr"/>
            <a:r>
              <a:rPr kumimoji="1" lang="ja-JP" altLang="en-US" sz="1050" b="1">
                <a:latin typeface="Meiryo UI" panose="020B0604030504040204" pitchFamily="50" charset="-128"/>
                <a:ea typeface="Meiryo UI" panose="020B0604030504040204" pitchFamily="50" charset="-128"/>
              </a:rPr>
              <a:t>係数更新</a:t>
            </a:r>
            <a:endParaRPr kumimoji="1" lang="en-US" altLang="ja-JP" sz="1050" b="1">
              <a:latin typeface="Meiryo UI" panose="020B0604030504040204" pitchFamily="50" charset="-128"/>
              <a:ea typeface="Meiryo UI" panose="020B0604030504040204" pitchFamily="50" charset="-128"/>
            </a:endParaRPr>
          </a:p>
        </p:txBody>
      </p:sp>
      <p:sp>
        <p:nvSpPr>
          <p:cNvPr id="62" name="四角形: 角を丸くする 61">
            <a:extLst>
              <a:ext uri="{FF2B5EF4-FFF2-40B4-BE49-F238E27FC236}">
                <a16:creationId xmlns:a16="http://schemas.microsoft.com/office/drawing/2014/main" id="{98E11F8A-EC57-5A1D-1195-BA5F15052AC8}"/>
              </a:ext>
            </a:extLst>
          </p:cNvPr>
          <p:cNvSpPr/>
          <p:nvPr/>
        </p:nvSpPr>
        <p:spPr>
          <a:xfrm>
            <a:off x="7045749" y="169787"/>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　対応すべき複数の開示基準</a:t>
            </a:r>
          </a:p>
        </p:txBody>
      </p:sp>
      <p:sp>
        <p:nvSpPr>
          <p:cNvPr id="65" name="四角形: 角を丸くする 64">
            <a:extLst>
              <a:ext uri="{FF2B5EF4-FFF2-40B4-BE49-F238E27FC236}">
                <a16:creationId xmlns:a16="http://schemas.microsoft.com/office/drawing/2014/main" id="{83BF9EB4-CC68-E12A-FD3E-A1C5F22393CB}"/>
              </a:ext>
            </a:extLst>
          </p:cNvPr>
          <p:cNvSpPr/>
          <p:nvPr/>
        </p:nvSpPr>
        <p:spPr>
          <a:xfrm>
            <a:off x="7045749" y="561240"/>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暫定</a:t>
            </a:r>
            <a:r>
              <a:rPr kumimoji="1" lang="en-US" altLang="ja-JP" sz="900" b="1">
                <a:solidFill>
                  <a:schemeClr val="bg1"/>
                </a:solidFill>
                <a:latin typeface="Meiryo UI" panose="020B0604030504040204" pitchFamily="50" charset="-128"/>
                <a:ea typeface="Meiryo UI" panose="020B0604030504040204" pitchFamily="50" charset="-128"/>
              </a:rPr>
              <a:t>/</a:t>
            </a:r>
            <a:r>
              <a:rPr kumimoji="1" lang="ja-JP" altLang="en-US" sz="900" b="1">
                <a:solidFill>
                  <a:schemeClr val="bg1"/>
                </a:solidFill>
                <a:latin typeface="Meiryo UI" panose="020B0604030504040204" pitchFamily="50" charset="-128"/>
                <a:ea typeface="Meiryo UI" panose="020B0604030504040204" pitchFamily="50" charset="-128"/>
              </a:rPr>
              <a:t>確定係数の運用</a:t>
            </a:r>
          </a:p>
        </p:txBody>
      </p:sp>
      <p:sp>
        <p:nvSpPr>
          <p:cNvPr id="66" name="四角形: 角を丸くする 65">
            <a:extLst>
              <a:ext uri="{FF2B5EF4-FFF2-40B4-BE49-F238E27FC236}">
                <a16:creationId xmlns:a16="http://schemas.microsoft.com/office/drawing/2014/main" id="{9A9263DD-62EA-6561-9233-48746D5FD680}"/>
              </a:ext>
            </a:extLst>
          </p:cNvPr>
          <p:cNvSpPr/>
          <p:nvPr/>
        </p:nvSpPr>
        <p:spPr>
          <a:xfrm>
            <a:off x="7045749" y="365514"/>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複数算定ロジックの構築</a:t>
            </a:r>
          </a:p>
        </p:txBody>
      </p:sp>
      <p:sp>
        <p:nvSpPr>
          <p:cNvPr id="67" name="楕円 66">
            <a:extLst>
              <a:ext uri="{FF2B5EF4-FFF2-40B4-BE49-F238E27FC236}">
                <a16:creationId xmlns:a16="http://schemas.microsoft.com/office/drawing/2014/main" id="{5D6D2F0E-6697-A6FD-427C-825F486C04E1}"/>
              </a:ext>
            </a:extLst>
          </p:cNvPr>
          <p:cNvSpPr/>
          <p:nvPr/>
        </p:nvSpPr>
        <p:spPr>
          <a:xfrm>
            <a:off x="7020272" y="134576"/>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68" name="楕円 67">
            <a:extLst>
              <a:ext uri="{FF2B5EF4-FFF2-40B4-BE49-F238E27FC236}">
                <a16:creationId xmlns:a16="http://schemas.microsoft.com/office/drawing/2014/main" id="{0BB5D4BA-2C33-5E76-0C9C-18F679E63A12}"/>
              </a:ext>
            </a:extLst>
          </p:cNvPr>
          <p:cNvSpPr/>
          <p:nvPr/>
        </p:nvSpPr>
        <p:spPr>
          <a:xfrm>
            <a:off x="7020272" y="330302"/>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2</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72" name="楕円 71">
            <a:extLst>
              <a:ext uri="{FF2B5EF4-FFF2-40B4-BE49-F238E27FC236}">
                <a16:creationId xmlns:a16="http://schemas.microsoft.com/office/drawing/2014/main" id="{8CB33D5A-7C01-DA99-6893-83902F175997}"/>
              </a:ext>
            </a:extLst>
          </p:cNvPr>
          <p:cNvSpPr/>
          <p:nvPr/>
        </p:nvSpPr>
        <p:spPr>
          <a:xfrm>
            <a:off x="7020272" y="526029"/>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3</a:t>
            </a:r>
            <a:endParaRPr kumimoji="1" lang="ja-JP" altLang="en-US" sz="140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23934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楕円 15">
            <a:extLst>
              <a:ext uri="{FF2B5EF4-FFF2-40B4-BE49-F238E27FC236}">
                <a16:creationId xmlns:a16="http://schemas.microsoft.com/office/drawing/2014/main" id="{9FE409B6-8164-5890-9A9D-4A246C327EAC}"/>
              </a:ext>
            </a:extLst>
          </p:cNvPr>
          <p:cNvSpPr/>
          <p:nvPr/>
        </p:nvSpPr>
        <p:spPr>
          <a:xfrm>
            <a:off x="260575" y="2135265"/>
            <a:ext cx="1836792" cy="1836792"/>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602E71FA-563A-EC9E-3F7E-1D4CEFB95958}"/>
              </a:ext>
            </a:extLst>
          </p:cNvPr>
          <p:cNvSpPr>
            <a:spLocks noGrp="1"/>
          </p:cNvSpPr>
          <p:nvPr>
            <p:ph type="title"/>
          </p:nvPr>
        </p:nvSpPr>
        <p:spPr/>
        <p:txBody>
          <a:bodyPr wrap="none"/>
          <a:lstStyle/>
          <a:p>
            <a:r>
              <a:rPr kumimoji="1" lang="ja-JP" altLang="en-US">
                <a:latin typeface="Meiryo UI" panose="020B0604030504040204" pitchFamily="50" charset="-128"/>
                <a:ea typeface="Meiryo UI" panose="020B0604030504040204" pitchFamily="50" charset="-128"/>
              </a:rPr>
              <a:t>新</a:t>
            </a:r>
            <a:r>
              <a:rPr kumimoji="1" lang="en-US" altLang="ja-JP">
                <a:latin typeface="Meiryo UI" panose="020B0604030504040204" pitchFamily="50" charset="-128"/>
                <a:ea typeface="Meiryo UI" panose="020B0604030504040204" pitchFamily="50" charset="-128"/>
              </a:rPr>
              <a:t>ESG</a:t>
            </a:r>
            <a:r>
              <a:rPr kumimoji="1" lang="ja-JP" altLang="en-US">
                <a:latin typeface="Meiryo UI" panose="020B0604030504040204" pitchFamily="50" charset="-128"/>
                <a:ea typeface="Meiryo UI" panose="020B0604030504040204" pitchFamily="50" charset="-128"/>
              </a:rPr>
              <a:t>システムで保持するデータ</a:t>
            </a:r>
          </a:p>
        </p:txBody>
      </p:sp>
      <p:sp>
        <p:nvSpPr>
          <p:cNvPr id="3" name="スライド番号プレースホルダー 2">
            <a:extLst>
              <a:ext uri="{FF2B5EF4-FFF2-40B4-BE49-F238E27FC236}">
                <a16:creationId xmlns:a16="http://schemas.microsoft.com/office/drawing/2014/main" id="{82DD0504-F382-D5BA-CAE9-B7C5E1A6843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21</a:t>
            </a:fld>
            <a:endParaRPr kumimoji="1" lang="ja-JP" altLang="en-US">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DB3E151D-9E40-68DF-2150-96D433E4BCA8}"/>
              </a:ext>
            </a:extLst>
          </p:cNvPr>
          <p:cNvSpPr/>
          <p:nvPr/>
        </p:nvSpPr>
        <p:spPr>
          <a:xfrm>
            <a:off x="1115991" y="880450"/>
            <a:ext cx="7703999" cy="57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indent="-171450">
              <a:buFont typeface="Wingdings" panose="05000000000000000000" pitchFamily="2" charset="2"/>
              <a:buChar char="n"/>
            </a:pPr>
            <a:r>
              <a:rPr kumimoji="1" lang="ja-JP" altLang="en-US" sz="1400">
                <a:solidFill>
                  <a:schemeClr val="tx1"/>
                </a:solidFill>
                <a:latin typeface="Meiryo UI" panose="020B0604030504040204" pitchFamily="50" charset="-128"/>
                <a:ea typeface="Meiryo UI" panose="020B0604030504040204" pitchFamily="50" charset="-128"/>
              </a:rPr>
              <a:t>現在、</a:t>
            </a:r>
            <a:r>
              <a:rPr kumimoji="1" lang="en-US" altLang="ja-JP" sz="1400">
                <a:solidFill>
                  <a:schemeClr val="tx1"/>
                </a:solidFill>
                <a:latin typeface="Meiryo UI" panose="020B0604030504040204" pitchFamily="50" charset="-128"/>
                <a:ea typeface="Meiryo UI" panose="020B0604030504040204" pitchFamily="50" charset="-128"/>
              </a:rPr>
              <a:t>SHK</a:t>
            </a:r>
            <a:r>
              <a:rPr kumimoji="1" lang="ja-JP" altLang="en-US" sz="1400">
                <a:solidFill>
                  <a:schemeClr val="tx1"/>
                </a:solidFill>
                <a:latin typeface="Meiryo UI" panose="020B0604030504040204" pitchFamily="50" charset="-128"/>
                <a:ea typeface="Meiryo UI" panose="020B0604030504040204" pitchFamily="50" charset="-128"/>
              </a:rPr>
              <a:t>制度（温対法）用データと一部任意開示（統合報告書）用のデータのみ</a:t>
            </a:r>
            <a:r>
              <a:rPr kumimoji="1" lang="en-US" altLang="ja-JP" sz="1400">
                <a:solidFill>
                  <a:schemeClr val="tx1"/>
                </a:solidFill>
                <a:latin typeface="Meiryo UI" panose="020B0604030504040204" pitchFamily="50" charset="-128"/>
                <a:ea typeface="Meiryo UI" panose="020B0604030504040204" pitchFamily="50" charset="-128"/>
              </a:rPr>
              <a:t>GGX</a:t>
            </a:r>
            <a:r>
              <a:rPr kumimoji="1" lang="ja-JP" altLang="en-US" sz="1400">
                <a:solidFill>
                  <a:schemeClr val="tx1"/>
                </a:solidFill>
                <a:latin typeface="Meiryo UI" panose="020B0604030504040204" pitchFamily="50" charset="-128"/>
                <a:ea typeface="Meiryo UI" panose="020B0604030504040204" pitchFamily="50" charset="-128"/>
              </a:rPr>
              <a:t>保持しているが、今後は</a:t>
            </a:r>
            <a:r>
              <a:rPr kumimoji="1" lang="en-US" altLang="ja-JP" sz="1400">
                <a:solidFill>
                  <a:schemeClr val="tx1"/>
                </a:solidFill>
                <a:latin typeface="Meiryo UI" panose="020B0604030504040204" pitchFamily="50" charset="-128"/>
                <a:ea typeface="Meiryo UI" panose="020B0604030504040204" pitchFamily="50" charset="-128"/>
              </a:rPr>
              <a:t>SHK</a:t>
            </a:r>
            <a:r>
              <a:rPr kumimoji="1" lang="ja-JP" altLang="en-US" sz="1400">
                <a:solidFill>
                  <a:schemeClr val="tx1"/>
                </a:solidFill>
                <a:latin typeface="Meiryo UI" panose="020B0604030504040204" pitchFamily="50" charset="-128"/>
                <a:ea typeface="Meiryo UI" panose="020B0604030504040204" pitchFamily="50" charset="-128"/>
              </a:rPr>
              <a:t>制度・</a:t>
            </a:r>
            <a:r>
              <a:rPr kumimoji="1" lang="en-US" altLang="ja-JP" sz="1400">
                <a:solidFill>
                  <a:schemeClr val="tx1"/>
                </a:solidFill>
                <a:latin typeface="Meiryo UI" panose="020B0604030504040204" pitchFamily="50" charset="-128"/>
                <a:ea typeface="Meiryo UI" panose="020B0604030504040204" pitchFamily="50" charset="-128"/>
              </a:rPr>
              <a:t>SSBJ</a:t>
            </a:r>
            <a:r>
              <a:rPr kumimoji="1" lang="en-US" altLang="ja-JP" sz="1400" baseline="30000">
                <a:solidFill>
                  <a:schemeClr val="tx1"/>
                </a:solidFill>
                <a:latin typeface="Meiryo UI" panose="020B0604030504040204" pitchFamily="50" charset="-128"/>
                <a:ea typeface="Meiryo UI" panose="020B0604030504040204" pitchFamily="50" charset="-128"/>
              </a:rPr>
              <a:t>※2</a:t>
            </a:r>
            <a:r>
              <a:rPr kumimoji="1" lang="ja-JP" altLang="en-US" sz="1400">
                <a:solidFill>
                  <a:schemeClr val="tx1"/>
                </a:solidFill>
                <a:latin typeface="Meiryo UI" panose="020B0604030504040204" pitchFamily="50" charset="-128"/>
                <a:ea typeface="Meiryo UI" panose="020B0604030504040204" pitchFamily="50" charset="-128"/>
              </a:rPr>
              <a:t>のデータを新システム上で統合管理したい</a:t>
            </a:r>
            <a:endParaRPr kumimoji="1" lang="en-US" altLang="ja-JP" sz="1400">
              <a:solidFill>
                <a:schemeClr val="tx1"/>
              </a:solidFill>
              <a:latin typeface="Meiryo UI" panose="020B0604030504040204" pitchFamily="50" charset="-128"/>
              <a:ea typeface="Meiryo UI" panose="020B0604030504040204" pitchFamily="50" charset="-128"/>
            </a:endParaRPr>
          </a:p>
        </p:txBody>
      </p:sp>
      <p:sp>
        <p:nvSpPr>
          <p:cNvPr id="8" name="四角形: 角を丸くする 7">
            <a:extLst>
              <a:ext uri="{FF2B5EF4-FFF2-40B4-BE49-F238E27FC236}">
                <a16:creationId xmlns:a16="http://schemas.microsoft.com/office/drawing/2014/main" id="{3F35853B-3990-FF15-50B2-804F4FE22084}"/>
              </a:ext>
            </a:extLst>
          </p:cNvPr>
          <p:cNvSpPr/>
          <p:nvPr/>
        </p:nvSpPr>
        <p:spPr>
          <a:xfrm>
            <a:off x="4889572" y="5383510"/>
            <a:ext cx="4008830" cy="77238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r>
              <a:rPr kumimoji="1" lang="ja-JP" altLang="en-US" sz="1100">
                <a:solidFill>
                  <a:schemeClr val="tx1"/>
                </a:solidFill>
                <a:latin typeface="Meiryo UI" panose="020B0604030504040204" pitchFamily="50" charset="-128"/>
                <a:ea typeface="Meiryo UI" panose="020B0604030504040204" pitchFamily="50" charset="-128"/>
              </a:rPr>
              <a:t>環境データ以外</a:t>
            </a:r>
            <a:r>
              <a:rPr kumimoji="1" lang="en-US" altLang="ja-JP" sz="1100" baseline="30000">
                <a:solidFill>
                  <a:schemeClr val="tx1"/>
                </a:solidFill>
                <a:latin typeface="Meiryo UI" panose="020B0604030504040204" pitchFamily="50" charset="-128"/>
                <a:ea typeface="Meiryo UI" panose="020B0604030504040204" pitchFamily="50" charset="-128"/>
              </a:rPr>
              <a:t>※1</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1CCABEDA-9A33-2ED6-E96D-1456910CEABA}"/>
              </a:ext>
            </a:extLst>
          </p:cNvPr>
          <p:cNvSpPr/>
          <p:nvPr/>
        </p:nvSpPr>
        <p:spPr>
          <a:xfrm>
            <a:off x="4889572" y="1783178"/>
            <a:ext cx="4008830" cy="2715271"/>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tIns="0" rtlCol="0" anchor="t"/>
          <a:lstStyle/>
          <a:p>
            <a:pPr algn="ctr"/>
            <a:r>
              <a:rPr kumimoji="1" lang="ja-JP" altLang="en-US" sz="1100">
                <a:solidFill>
                  <a:schemeClr val="tx1"/>
                </a:solidFill>
                <a:latin typeface="Meiryo UI" panose="020B0604030504040204" pitchFamily="50" charset="-128"/>
                <a:ea typeface="Meiryo UI" panose="020B0604030504040204" pitchFamily="50" charset="-128"/>
              </a:rPr>
              <a:t>環境データ（</a:t>
            </a:r>
            <a:r>
              <a:rPr kumimoji="1" lang="en-US" altLang="ja-JP" sz="1100">
                <a:solidFill>
                  <a:schemeClr val="tx1"/>
                </a:solidFill>
                <a:latin typeface="Meiryo UI" panose="020B0604030504040204" pitchFamily="50" charset="-128"/>
                <a:ea typeface="Meiryo UI" panose="020B0604030504040204" pitchFamily="50" charset="-128"/>
              </a:rPr>
              <a:t>GHG</a:t>
            </a:r>
            <a:r>
              <a:rPr kumimoji="1" lang="ja-JP" altLang="en-US" sz="1100">
                <a:solidFill>
                  <a:schemeClr val="tx1"/>
                </a:solidFill>
                <a:latin typeface="Meiryo UI" panose="020B0604030504040204" pitchFamily="50" charset="-128"/>
                <a:ea typeface="Meiryo UI" panose="020B0604030504040204" pitchFamily="50" charset="-128"/>
              </a:rPr>
              <a:t>）</a:t>
            </a:r>
          </a:p>
        </p:txBody>
      </p:sp>
      <p:sp>
        <p:nvSpPr>
          <p:cNvPr id="25" name="正方形/長方形 24">
            <a:extLst>
              <a:ext uri="{FF2B5EF4-FFF2-40B4-BE49-F238E27FC236}">
                <a16:creationId xmlns:a16="http://schemas.microsoft.com/office/drawing/2014/main" id="{6CA442FA-BFBB-983D-F628-DDF555E2EF0A}"/>
              </a:ext>
            </a:extLst>
          </p:cNvPr>
          <p:cNvSpPr/>
          <p:nvPr/>
        </p:nvSpPr>
        <p:spPr>
          <a:xfrm>
            <a:off x="366249" y="2325217"/>
            <a:ext cx="1422756" cy="356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b="1">
                <a:solidFill>
                  <a:schemeClr val="tx1"/>
                </a:solidFill>
                <a:latin typeface="Meiryo UI" panose="020B0604030504040204" pitchFamily="50" charset="-128"/>
                <a:ea typeface="Meiryo UI" panose="020B0604030504040204" pitchFamily="50" charset="-128"/>
              </a:rPr>
              <a:t>SHK</a:t>
            </a:r>
            <a:r>
              <a:rPr kumimoji="1" lang="ja-JP" altLang="en-US" sz="1100" b="1">
                <a:solidFill>
                  <a:schemeClr val="tx1"/>
                </a:solidFill>
                <a:latin typeface="Meiryo UI" panose="020B0604030504040204" pitchFamily="50" charset="-128"/>
                <a:ea typeface="Meiryo UI" panose="020B0604030504040204" pitchFamily="50" charset="-128"/>
              </a:rPr>
              <a:t>制度</a:t>
            </a:r>
          </a:p>
        </p:txBody>
      </p:sp>
      <p:sp>
        <p:nvSpPr>
          <p:cNvPr id="28" name="楕円 27">
            <a:extLst>
              <a:ext uri="{FF2B5EF4-FFF2-40B4-BE49-F238E27FC236}">
                <a16:creationId xmlns:a16="http://schemas.microsoft.com/office/drawing/2014/main" id="{B867D185-502A-133B-EE6E-3267AE2CFD8C}"/>
              </a:ext>
            </a:extLst>
          </p:cNvPr>
          <p:cNvSpPr/>
          <p:nvPr/>
        </p:nvSpPr>
        <p:spPr>
          <a:xfrm>
            <a:off x="7039129" y="2135265"/>
            <a:ext cx="1836792" cy="1836792"/>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29" name="楕円 28">
            <a:extLst>
              <a:ext uri="{FF2B5EF4-FFF2-40B4-BE49-F238E27FC236}">
                <a16:creationId xmlns:a16="http://schemas.microsoft.com/office/drawing/2014/main" id="{9CABA333-BBCB-F149-41BE-ECFC72B6B8BB}"/>
              </a:ext>
            </a:extLst>
          </p:cNvPr>
          <p:cNvSpPr/>
          <p:nvPr/>
        </p:nvSpPr>
        <p:spPr>
          <a:xfrm>
            <a:off x="4926650" y="2135265"/>
            <a:ext cx="1836792" cy="1836792"/>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30" name="楕円 29">
            <a:extLst>
              <a:ext uri="{FF2B5EF4-FFF2-40B4-BE49-F238E27FC236}">
                <a16:creationId xmlns:a16="http://schemas.microsoft.com/office/drawing/2014/main" id="{A7B3E5BC-A681-A4BA-C4C8-E927C8E920B9}"/>
              </a:ext>
            </a:extLst>
          </p:cNvPr>
          <p:cNvSpPr/>
          <p:nvPr/>
        </p:nvSpPr>
        <p:spPr>
          <a:xfrm>
            <a:off x="5982890" y="2135265"/>
            <a:ext cx="1836792" cy="1836792"/>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31" name="フリーフォーム: 図形 30">
            <a:extLst>
              <a:ext uri="{FF2B5EF4-FFF2-40B4-BE49-F238E27FC236}">
                <a16:creationId xmlns:a16="http://schemas.microsoft.com/office/drawing/2014/main" id="{423FC944-3A57-E501-8C03-02A9535C790E}"/>
              </a:ext>
            </a:extLst>
          </p:cNvPr>
          <p:cNvSpPr/>
          <p:nvPr/>
        </p:nvSpPr>
        <p:spPr>
          <a:xfrm>
            <a:off x="6053809" y="3350201"/>
            <a:ext cx="1716007" cy="621856"/>
          </a:xfrm>
          <a:custGeom>
            <a:avLst/>
            <a:gdLst>
              <a:gd name="connsiteX0" fmla="*/ 0 w 1716007"/>
              <a:gd name="connsiteY0" fmla="*/ 0 h 621856"/>
              <a:gd name="connsiteX1" fmla="*/ 1716007 w 1716007"/>
              <a:gd name="connsiteY1" fmla="*/ 0 h 621856"/>
              <a:gd name="connsiteX2" fmla="*/ 1693702 w 1716007"/>
              <a:gd name="connsiteY2" fmla="*/ 60941 h 621856"/>
              <a:gd name="connsiteX3" fmla="*/ 847478 w 1716007"/>
              <a:gd name="connsiteY3" fmla="*/ 621856 h 621856"/>
              <a:gd name="connsiteX4" fmla="*/ 1254 w 1716007"/>
              <a:gd name="connsiteY4" fmla="*/ 60941 h 621856"/>
              <a:gd name="connsiteX5" fmla="*/ 0 w 1716007"/>
              <a:gd name="connsiteY5" fmla="*/ 57515 h 621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6007" h="621856">
                <a:moveTo>
                  <a:pt x="0" y="0"/>
                </a:moveTo>
                <a:lnTo>
                  <a:pt x="1716007" y="0"/>
                </a:lnTo>
                <a:lnTo>
                  <a:pt x="1693702" y="60941"/>
                </a:lnTo>
                <a:cubicBezTo>
                  <a:pt x="1554282" y="390568"/>
                  <a:pt x="1227890" y="621856"/>
                  <a:pt x="847478" y="621856"/>
                </a:cubicBezTo>
                <a:cubicBezTo>
                  <a:pt x="467066" y="621856"/>
                  <a:pt x="140674" y="390568"/>
                  <a:pt x="1254" y="60941"/>
                </a:cubicBezTo>
                <a:lnTo>
                  <a:pt x="0" y="57515"/>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1215ECAB-6058-08AE-A598-0E0443669080}"/>
              </a:ext>
            </a:extLst>
          </p:cNvPr>
          <p:cNvSpPr/>
          <p:nvPr/>
        </p:nvSpPr>
        <p:spPr>
          <a:xfrm>
            <a:off x="5032324" y="2325217"/>
            <a:ext cx="1422756" cy="356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b="1">
                <a:solidFill>
                  <a:schemeClr val="tx1"/>
                </a:solidFill>
                <a:latin typeface="Meiryo UI" panose="020B0604030504040204" pitchFamily="50" charset="-128"/>
                <a:ea typeface="Meiryo UI" panose="020B0604030504040204" pitchFamily="50" charset="-128"/>
              </a:rPr>
              <a:t>SHK</a:t>
            </a:r>
            <a:r>
              <a:rPr kumimoji="1" lang="ja-JP" altLang="en-US" sz="1100" b="1">
                <a:solidFill>
                  <a:schemeClr val="tx1"/>
                </a:solidFill>
                <a:latin typeface="Meiryo UI" panose="020B0604030504040204" pitchFamily="50" charset="-128"/>
                <a:ea typeface="Meiryo UI" panose="020B0604030504040204" pitchFamily="50" charset="-128"/>
              </a:rPr>
              <a:t>制度</a:t>
            </a:r>
          </a:p>
        </p:txBody>
      </p:sp>
      <p:sp>
        <p:nvSpPr>
          <p:cNvPr id="33" name="正方形/長方形 32">
            <a:extLst>
              <a:ext uri="{FF2B5EF4-FFF2-40B4-BE49-F238E27FC236}">
                <a16:creationId xmlns:a16="http://schemas.microsoft.com/office/drawing/2014/main" id="{71C9C3AD-D347-BDAF-EE3C-2A867130FE33}"/>
              </a:ext>
            </a:extLst>
          </p:cNvPr>
          <p:cNvSpPr/>
          <p:nvPr/>
        </p:nvSpPr>
        <p:spPr>
          <a:xfrm>
            <a:off x="7459385" y="2325217"/>
            <a:ext cx="1422756" cy="356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b="1">
                <a:solidFill>
                  <a:schemeClr val="tx1"/>
                </a:solidFill>
                <a:latin typeface="Meiryo UI" panose="020B0604030504040204" pitchFamily="50" charset="-128"/>
                <a:ea typeface="Meiryo UI" panose="020B0604030504040204" pitchFamily="50" charset="-128"/>
              </a:rPr>
              <a:t>GHG</a:t>
            </a:r>
            <a:r>
              <a:rPr kumimoji="1" lang="ja-JP" altLang="en-US" sz="1100" b="1">
                <a:solidFill>
                  <a:schemeClr val="tx1"/>
                </a:solidFill>
                <a:latin typeface="Meiryo UI" panose="020B0604030504040204" pitchFamily="50" charset="-128"/>
                <a:ea typeface="Meiryo UI" panose="020B0604030504040204" pitchFamily="50" charset="-128"/>
              </a:rPr>
              <a:t>プロトコル</a:t>
            </a:r>
          </a:p>
        </p:txBody>
      </p:sp>
      <p:sp>
        <p:nvSpPr>
          <p:cNvPr id="34" name="正方形/長方形 33">
            <a:extLst>
              <a:ext uri="{FF2B5EF4-FFF2-40B4-BE49-F238E27FC236}">
                <a16:creationId xmlns:a16="http://schemas.microsoft.com/office/drawing/2014/main" id="{8620330B-D5C5-8809-E4BD-FE42E2DE99EF}"/>
              </a:ext>
            </a:extLst>
          </p:cNvPr>
          <p:cNvSpPr/>
          <p:nvPr/>
        </p:nvSpPr>
        <p:spPr>
          <a:xfrm>
            <a:off x="6196700" y="2325217"/>
            <a:ext cx="1422756" cy="356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b="1">
                <a:solidFill>
                  <a:schemeClr val="bg1"/>
                </a:solidFill>
                <a:latin typeface="Meiryo UI" panose="020B0604030504040204" pitchFamily="50" charset="-128"/>
                <a:ea typeface="Meiryo UI" panose="020B0604030504040204" pitchFamily="50" charset="-128"/>
              </a:rPr>
              <a:t>共通</a:t>
            </a:r>
          </a:p>
        </p:txBody>
      </p:sp>
      <p:sp>
        <p:nvSpPr>
          <p:cNvPr id="35" name="正方形/長方形 34">
            <a:extLst>
              <a:ext uri="{FF2B5EF4-FFF2-40B4-BE49-F238E27FC236}">
                <a16:creationId xmlns:a16="http://schemas.microsoft.com/office/drawing/2014/main" id="{2B62B3B6-2D5A-BE3F-12C1-7E3D090C59FA}"/>
              </a:ext>
            </a:extLst>
          </p:cNvPr>
          <p:cNvSpPr/>
          <p:nvPr/>
        </p:nvSpPr>
        <p:spPr>
          <a:xfrm>
            <a:off x="6196700" y="3425055"/>
            <a:ext cx="1422756" cy="356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b="1">
                <a:solidFill>
                  <a:schemeClr val="tx1"/>
                </a:solidFill>
                <a:latin typeface="Meiryo UI" panose="020B0604030504040204" pitchFamily="50" charset="-128"/>
                <a:ea typeface="Meiryo UI" panose="020B0604030504040204" pitchFamily="50" charset="-128"/>
              </a:rPr>
              <a:t>算定方法の違い</a:t>
            </a:r>
          </a:p>
        </p:txBody>
      </p:sp>
      <p:sp>
        <p:nvSpPr>
          <p:cNvPr id="36" name="楕円 35">
            <a:extLst>
              <a:ext uri="{FF2B5EF4-FFF2-40B4-BE49-F238E27FC236}">
                <a16:creationId xmlns:a16="http://schemas.microsoft.com/office/drawing/2014/main" id="{EACC8DAA-81DA-E677-274D-CA896AC7E697}"/>
              </a:ext>
            </a:extLst>
          </p:cNvPr>
          <p:cNvSpPr/>
          <p:nvPr/>
        </p:nvSpPr>
        <p:spPr>
          <a:xfrm>
            <a:off x="2376282" y="2135265"/>
            <a:ext cx="1836792" cy="1836792"/>
          </a:xfrm>
          <a:prstGeom prst="ellipse">
            <a:avLst/>
          </a:prstGeom>
          <a:noFill/>
          <a:ln w="28575">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37" name="楕円 36">
            <a:extLst>
              <a:ext uri="{FF2B5EF4-FFF2-40B4-BE49-F238E27FC236}">
                <a16:creationId xmlns:a16="http://schemas.microsoft.com/office/drawing/2014/main" id="{A5A5F294-3E49-82E6-1171-F8A5E7CE1A26}"/>
              </a:ext>
            </a:extLst>
          </p:cNvPr>
          <p:cNvSpPr/>
          <p:nvPr/>
        </p:nvSpPr>
        <p:spPr>
          <a:xfrm>
            <a:off x="1320043" y="2135265"/>
            <a:ext cx="1836792" cy="1836792"/>
          </a:xfrm>
          <a:prstGeom prst="ellipse">
            <a:avLst/>
          </a:prstGeom>
          <a:noFill/>
          <a:ln w="28575">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A36C3337-9199-ABA9-2711-068B9F17B366}"/>
              </a:ext>
            </a:extLst>
          </p:cNvPr>
          <p:cNvSpPr/>
          <p:nvPr/>
        </p:nvSpPr>
        <p:spPr>
          <a:xfrm>
            <a:off x="2796538" y="2325217"/>
            <a:ext cx="1422756" cy="356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a:solidFill>
                  <a:schemeClr val="bg1">
                    <a:lumMod val="65000"/>
                  </a:schemeClr>
                </a:solidFill>
                <a:latin typeface="Meiryo UI" panose="020B0604030504040204" pitchFamily="50" charset="-128"/>
                <a:ea typeface="Meiryo UI" panose="020B0604030504040204" pitchFamily="50" charset="-128"/>
              </a:rPr>
              <a:t>GHG</a:t>
            </a:r>
            <a:r>
              <a:rPr kumimoji="1" lang="ja-JP" altLang="en-US" sz="1100">
                <a:solidFill>
                  <a:schemeClr val="bg1">
                    <a:lumMod val="65000"/>
                  </a:schemeClr>
                </a:solidFill>
                <a:latin typeface="Meiryo UI" panose="020B0604030504040204" pitchFamily="50" charset="-128"/>
                <a:ea typeface="Meiryo UI" panose="020B0604030504040204" pitchFamily="50" charset="-128"/>
              </a:rPr>
              <a:t>プロトコル</a:t>
            </a:r>
          </a:p>
        </p:txBody>
      </p:sp>
      <p:sp>
        <p:nvSpPr>
          <p:cNvPr id="40" name="正方形/長方形 39">
            <a:extLst>
              <a:ext uri="{FF2B5EF4-FFF2-40B4-BE49-F238E27FC236}">
                <a16:creationId xmlns:a16="http://schemas.microsoft.com/office/drawing/2014/main" id="{C9F87C15-A983-8BCA-D8C1-C18B66DF8A82}"/>
              </a:ext>
            </a:extLst>
          </p:cNvPr>
          <p:cNvSpPr/>
          <p:nvPr/>
        </p:nvSpPr>
        <p:spPr>
          <a:xfrm>
            <a:off x="1533853" y="3425055"/>
            <a:ext cx="1422756" cy="356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lumMod val="65000"/>
                  </a:schemeClr>
                </a:solidFill>
                <a:latin typeface="Meiryo UI" panose="020B0604030504040204" pitchFamily="50" charset="-128"/>
                <a:ea typeface="Meiryo UI" panose="020B0604030504040204" pitchFamily="50" charset="-128"/>
              </a:rPr>
              <a:t>算定方法の違い</a:t>
            </a:r>
          </a:p>
        </p:txBody>
      </p:sp>
      <p:sp>
        <p:nvSpPr>
          <p:cNvPr id="41" name="フリーフォーム: 図形 40">
            <a:extLst>
              <a:ext uri="{FF2B5EF4-FFF2-40B4-BE49-F238E27FC236}">
                <a16:creationId xmlns:a16="http://schemas.microsoft.com/office/drawing/2014/main" id="{ED314CE8-575D-4EA3-75B4-926BC2A57890}"/>
              </a:ext>
            </a:extLst>
          </p:cNvPr>
          <p:cNvSpPr/>
          <p:nvPr/>
        </p:nvSpPr>
        <p:spPr>
          <a:xfrm>
            <a:off x="1387227" y="3350201"/>
            <a:ext cx="1716007" cy="621856"/>
          </a:xfrm>
          <a:custGeom>
            <a:avLst/>
            <a:gdLst>
              <a:gd name="connsiteX0" fmla="*/ 0 w 1716007"/>
              <a:gd name="connsiteY0" fmla="*/ 0 h 621856"/>
              <a:gd name="connsiteX1" fmla="*/ 1716007 w 1716007"/>
              <a:gd name="connsiteY1" fmla="*/ 0 h 621856"/>
              <a:gd name="connsiteX2" fmla="*/ 1693702 w 1716007"/>
              <a:gd name="connsiteY2" fmla="*/ 60941 h 621856"/>
              <a:gd name="connsiteX3" fmla="*/ 847478 w 1716007"/>
              <a:gd name="connsiteY3" fmla="*/ 621856 h 621856"/>
              <a:gd name="connsiteX4" fmla="*/ 1254 w 1716007"/>
              <a:gd name="connsiteY4" fmla="*/ 60941 h 621856"/>
              <a:gd name="connsiteX5" fmla="*/ 0 w 1716007"/>
              <a:gd name="connsiteY5" fmla="*/ 57515 h 621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6007" h="621856">
                <a:moveTo>
                  <a:pt x="0" y="0"/>
                </a:moveTo>
                <a:lnTo>
                  <a:pt x="1716007" y="0"/>
                </a:lnTo>
                <a:lnTo>
                  <a:pt x="1693702" y="60941"/>
                </a:lnTo>
                <a:cubicBezTo>
                  <a:pt x="1554282" y="390568"/>
                  <a:pt x="1227890" y="621856"/>
                  <a:pt x="847478" y="621856"/>
                </a:cubicBezTo>
                <a:cubicBezTo>
                  <a:pt x="467066" y="621856"/>
                  <a:pt x="140674" y="390568"/>
                  <a:pt x="1254" y="60941"/>
                </a:cubicBezTo>
                <a:lnTo>
                  <a:pt x="0" y="57515"/>
                </a:lnTo>
                <a:close/>
              </a:path>
            </a:pathLst>
          </a:custGeom>
          <a:noFill/>
          <a:ln w="28575">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CB4C47B2-4811-DFD1-41EC-D7313396C9AF}"/>
              </a:ext>
            </a:extLst>
          </p:cNvPr>
          <p:cNvSpPr/>
          <p:nvPr/>
        </p:nvSpPr>
        <p:spPr>
          <a:xfrm>
            <a:off x="1527061" y="2325217"/>
            <a:ext cx="1422756" cy="356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lumMod val="65000"/>
                  </a:schemeClr>
                </a:solidFill>
                <a:latin typeface="Meiryo UI" panose="020B0604030504040204" pitchFamily="50" charset="-128"/>
                <a:ea typeface="Meiryo UI" panose="020B0604030504040204" pitchFamily="50" charset="-128"/>
              </a:rPr>
              <a:t>共通</a:t>
            </a:r>
          </a:p>
        </p:txBody>
      </p:sp>
      <p:sp>
        <p:nvSpPr>
          <p:cNvPr id="43" name="四角形: 角を丸くする 42">
            <a:extLst>
              <a:ext uri="{FF2B5EF4-FFF2-40B4-BE49-F238E27FC236}">
                <a16:creationId xmlns:a16="http://schemas.microsoft.com/office/drawing/2014/main" id="{68D47299-210B-A2B3-DB88-EA41C281D674}"/>
              </a:ext>
            </a:extLst>
          </p:cNvPr>
          <p:cNvSpPr/>
          <p:nvPr/>
        </p:nvSpPr>
        <p:spPr>
          <a:xfrm>
            <a:off x="239380" y="1783178"/>
            <a:ext cx="4008830" cy="2715271"/>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tIns="0" rtlCol="0" anchor="t"/>
          <a:lstStyle/>
          <a:p>
            <a:pPr algn="ctr"/>
            <a:r>
              <a:rPr kumimoji="1" lang="ja-JP" altLang="en-US" sz="1100">
                <a:solidFill>
                  <a:schemeClr val="tx1"/>
                </a:solidFill>
                <a:latin typeface="Meiryo UI" panose="020B0604030504040204" pitchFamily="50" charset="-128"/>
                <a:ea typeface="Meiryo UI" panose="020B0604030504040204" pitchFamily="50" charset="-128"/>
              </a:rPr>
              <a:t>環境データ（</a:t>
            </a:r>
            <a:r>
              <a:rPr kumimoji="1" lang="en-US" altLang="ja-JP" sz="1100">
                <a:solidFill>
                  <a:schemeClr val="tx1"/>
                </a:solidFill>
                <a:latin typeface="Meiryo UI" panose="020B0604030504040204" pitchFamily="50" charset="-128"/>
                <a:ea typeface="Meiryo UI" panose="020B0604030504040204" pitchFamily="50" charset="-128"/>
              </a:rPr>
              <a:t>GHG</a:t>
            </a:r>
            <a:r>
              <a:rPr kumimoji="1" lang="ja-JP" altLang="en-US" sz="1100">
                <a:solidFill>
                  <a:schemeClr val="tx1"/>
                </a:solidFill>
                <a:latin typeface="Meiryo UI" panose="020B0604030504040204" pitchFamily="50" charset="-128"/>
                <a:ea typeface="Meiryo UI" panose="020B0604030504040204" pitchFamily="50" charset="-128"/>
              </a:rPr>
              <a:t>）</a:t>
            </a:r>
          </a:p>
        </p:txBody>
      </p:sp>
      <p:sp>
        <p:nvSpPr>
          <p:cNvPr id="44" name="四角形: 角を丸くする 43">
            <a:extLst>
              <a:ext uri="{FF2B5EF4-FFF2-40B4-BE49-F238E27FC236}">
                <a16:creationId xmlns:a16="http://schemas.microsoft.com/office/drawing/2014/main" id="{A61350FD-E894-095E-8E46-7960ADF6D224}"/>
              </a:ext>
            </a:extLst>
          </p:cNvPr>
          <p:cNvSpPr/>
          <p:nvPr/>
        </p:nvSpPr>
        <p:spPr>
          <a:xfrm>
            <a:off x="239380" y="5383510"/>
            <a:ext cx="4008830" cy="772386"/>
          </a:xfrm>
          <a:prstGeom prst="roundRect">
            <a:avLst/>
          </a:prstGeom>
          <a:noFill/>
          <a:ln w="28575">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r>
              <a:rPr kumimoji="1" lang="ja-JP" altLang="en-US" sz="1100">
                <a:solidFill>
                  <a:schemeClr val="bg1">
                    <a:lumMod val="65000"/>
                  </a:schemeClr>
                </a:solidFill>
                <a:latin typeface="Meiryo UI" panose="020B0604030504040204" pitchFamily="50" charset="-128"/>
                <a:ea typeface="Meiryo UI" panose="020B0604030504040204" pitchFamily="50" charset="-128"/>
              </a:rPr>
              <a:t>環境データ以外</a:t>
            </a:r>
          </a:p>
        </p:txBody>
      </p:sp>
      <p:sp>
        <p:nvSpPr>
          <p:cNvPr id="45" name="四角形: 角を丸くする 44">
            <a:extLst>
              <a:ext uri="{FF2B5EF4-FFF2-40B4-BE49-F238E27FC236}">
                <a16:creationId xmlns:a16="http://schemas.microsoft.com/office/drawing/2014/main" id="{09302FE9-5C01-FEF7-8CDF-BE2570F35108}"/>
              </a:ext>
            </a:extLst>
          </p:cNvPr>
          <p:cNvSpPr/>
          <p:nvPr/>
        </p:nvSpPr>
        <p:spPr>
          <a:xfrm>
            <a:off x="7819682" y="2747401"/>
            <a:ext cx="1035185" cy="21101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a:solidFill>
                  <a:schemeClr val="bg1"/>
                </a:solidFill>
                <a:latin typeface="Meiryo UI" panose="020B0604030504040204" pitchFamily="50" charset="-128"/>
                <a:ea typeface="Meiryo UI" panose="020B0604030504040204" pitchFamily="50" charset="-128"/>
              </a:rPr>
              <a:t>Scope3</a:t>
            </a:r>
            <a:endParaRPr kumimoji="1" lang="ja-JP" altLang="en-US" sz="1100">
              <a:solidFill>
                <a:schemeClr val="bg1"/>
              </a:solidFill>
              <a:latin typeface="Meiryo UI" panose="020B0604030504040204" pitchFamily="50" charset="-128"/>
              <a:ea typeface="Meiryo UI" panose="020B0604030504040204" pitchFamily="50" charset="-128"/>
            </a:endParaRPr>
          </a:p>
        </p:txBody>
      </p:sp>
      <p:sp>
        <p:nvSpPr>
          <p:cNvPr id="46" name="四角形: 角を丸くする 45">
            <a:extLst>
              <a:ext uri="{FF2B5EF4-FFF2-40B4-BE49-F238E27FC236}">
                <a16:creationId xmlns:a16="http://schemas.microsoft.com/office/drawing/2014/main" id="{B9E1B34B-6854-13D0-8699-89851F049F01}"/>
              </a:ext>
            </a:extLst>
          </p:cNvPr>
          <p:cNvSpPr/>
          <p:nvPr/>
        </p:nvSpPr>
        <p:spPr>
          <a:xfrm>
            <a:off x="6436787" y="2747401"/>
            <a:ext cx="914400" cy="21101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a:solidFill>
                  <a:schemeClr val="bg1"/>
                </a:solidFill>
                <a:latin typeface="Meiryo UI" panose="020B0604030504040204" pitchFamily="50" charset="-128"/>
                <a:ea typeface="Meiryo UI" panose="020B0604030504040204" pitchFamily="50" charset="-128"/>
              </a:rPr>
              <a:t>Scope1,2</a:t>
            </a:r>
            <a:endParaRPr kumimoji="1" lang="ja-JP" altLang="en-US" sz="1100">
              <a:solidFill>
                <a:schemeClr val="bg1"/>
              </a:solidFill>
              <a:latin typeface="Meiryo UI" panose="020B0604030504040204" pitchFamily="50" charset="-128"/>
              <a:ea typeface="Meiryo UI" panose="020B0604030504040204" pitchFamily="50" charset="-128"/>
            </a:endParaRPr>
          </a:p>
        </p:txBody>
      </p:sp>
      <p:sp>
        <p:nvSpPr>
          <p:cNvPr id="47" name="四角形: 角を丸くする 46">
            <a:extLst>
              <a:ext uri="{FF2B5EF4-FFF2-40B4-BE49-F238E27FC236}">
                <a16:creationId xmlns:a16="http://schemas.microsoft.com/office/drawing/2014/main" id="{A74C6DD0-0B95-B736-C89B-AADA0F94048C}"/>
              </a:ext>
            </a:extLst>
          </p:cNvPr>
          <p:cNvSpPr/>
          <p:nvPr/>
        </p:nvSpPr>
        <p:spPr>
          <a:xfrm>
            <a:off x="7819682" y="3024366"/>
            <a:ext cx="1035185" cy="542445"/>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a:solidFill>
                  <a:schemeClr val="bg1"/>
                </a:solidFill>
                <a:latin typeface="Meiryo UI" panose="020B0604030504040204" pitchFamily="50" charset="-128"/>
                <a:ea typeface="Meiryo UI" panose="020B0604030504040204" pitchFamily="50" charset="-128"/>
              </a:rPr>
              <a:t>GHG</a:t>
            </a:r>
            <a:r>
              <a:rPr kumimoji="1" lang="ja-JP" altLang="en-US" sz="1100">
                <a:solidFill>
                  <a:schemeClr val="bg1"/>
                </a:solidFill>
                <a:latin typeface="Meiryo UI" panose="020B0604030504040204" pitchFamily="50" charset="-128"/>
                <a:ea typeface="Meiryo UI" panose="020B0604030504040204" pitchFamily="50" charset="-128"/>
              </a:rPr>
              <a:t>プロトコルのみ</a:t>
            </a:r>
            <a:endParaRPr kumimoji="1" lang="en-US" altLang="ja-JP" sz="1100">
              <a:solidFill>
                <a:schemeClr val="bg1"/>
              </a:solidFill>
              <a:latin typeface="Meiryo UI" panose="020B0604030504040204" pitchFamily="50" charset="-128"/>
              <a:ea typeface="Meiryo UI" panose="020B0604030504040204" pitchFamily="50" charset="-128"/>
            </a:endParaRPr>
          </a:p>
          <a:p>
            <a:pPr algn="ctr"/>
            <a:r>
              <a:rPr kumimoji="1" lang="ja-JP" altLang="en-US" sz="1100">
                <a:solidFill>
                  <a:schemeClr val="bg1"/>
                </a:solidFill>
                <a:latin typeface="Meiryo UI" panose="020B0604030504040204" pitchFamily="50" charset="-128"/>
                <a:ea typeface="Meiryo UI" panose="020B0604030504040204" pitchFamily="50" charset="-128"/>
              </a:rPr>
              <a:t>算定対象</a:t>
            </a:r>
            <a:endParaRPr kumimoji="1" lang="en-US" altLang="ja-JP" sz="1100">
              <a:solidFill>
                <a:schemeClr val="bg1"/>
              </a:solidFill>
              <a:latin typeface="Meiryo UI" panose="020B0604030504040204" pitchFamily="50" charset="-128"/>
              <a:ea typeface="Meiryo UI" panose="020B0604030504040204" pitchFamily="50" charset="-128"/>
            </a:endParaRPr>
          </a:p>
          <a:p>
            <a:pPr algn="ctr"/>
            <a:r>
              <a:rPr kumimoji="1" lang="en-US" altLang="ja-JP" sz="1100">
                <a:solidFill>
                  <a:schemeClr val="bg1"/>
                </a:solidFill>
                <a:latin typeface="Meiryo UI" panose="020B0604030504040204" pitchFamily="50" charset="-128"/>
                <a:ea typeface="Meiryo UI" panose="020B0604030504040204" pitchFamily="50" charset="-128"/>
              </a:rPr>
              <a:t>(Scope1,2)</a:t>
            </a:r>
            <a:endParaRPr kumimoji="1" lang="ja-JP" altLang="en-US" sz="1100">
              <a:solidFill>
                <a:schemeClr val="bg1"/>
              </a:solidFill>
              <a:latin typeface="Meiryo UI" panose="020B0604030504040204" pitchFamily="50" charset="-128"/>
              <a:ea typeface="Meiryo UI" panose="020B0604030504040204" pitchFamily="50" charset="-128"/>
            </a:endParaRPr>
          </a:p>
        </p:txBody>
      </p:sp>
      <p:sp>
        <p:nvSpPr>
          <p:cNvPr id="48" name="四角形: 角を丸くする 47">
            <a:extLst>
              <a:ext uri="{FF2B5EF4-FFF2-40B4-BE49-F238E27FC236}">
                <a16:creationId xmlns:a16="http://schemas.microsoft.com/office/drawing/2014/main" id="{757DABE3-5CBF-2CAF-51F8-54CBFE06304D}"/>
              </a:ext>
            </a:extLst>
          </p:cNvPr>
          <p:cNvSpPr/>
          <p:nvPr/>
        </p:nvSpPr>
        <p:spPr>
          <a:xfrm>
            <a:off x="5032324" y="2747401"/>
            <a:ext cx="914400" cy="382458"/>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温対法のみ</a:t>
            </a:r>
            <a:endParaRPr kumimoji="1" lang="en-US" altLang="ja-JP" sz="1100">
              <a:solidFill>
                <a:schemeClr val="bg1"/>
              </a:solidFill>
              <a:latin typeface="Meiryo UI" panose="020B0604030504040204" pitchFamily="50" charset="-128"/>
              <a:ea typeface="Meiryo UI" panose="020B0604030504040204" pitchFamily="50" charset="-128"/>
            </a:endParaRPr>
          </a:p>
          <a:p>
            <a:pPr algn="ctr"/>
            <a:r>
              <a:rPr kumimoji="1" lang="ja-JP" altLang="en-US" sz="1100">
                <a:solidFill>
                  <a:schemeClr val="bg1"/>
                </a:solidFill>
                <a:latin typeface="Meiryo UI" panose="020B0604030504040204" pitchFamily="50" charset="-128"/>
                <a:ea typeface="Meiryo UI" panose="020B0604030504040204" pitchFamily="50" charset="-128"/>
              </a:rPr>
              <a:t>算定対象</a:t>
            </a:r>
          </a:p>
        </p:txBody>
      </p:sp>
      <p:sp>
        <p:nvSpPr>
          <p:cNvPr id="50" name="四角形: 角を丸くする 49">
            <a:extLst>
              <a:ext uri="{FF2B5EF4-FFF2-40B4-BE49-F238E27FC236}">
                <a16:creationId xmlns:a16="http://schemas.microsoft.com/office/drawing/2014/main" id="{543911E4-521E-7391-868D-48AAA1AD8008}"/>
              </a:ext>
            </a:extLst>
          </p:cNvPr>
          <p:cNvSpPr/>
          <p:nvPr/>
        </p:nvSpPr>
        <p:spPr>
          <a:xfrm>
            <a:off x="4889572" y="4606577"/>
            <a:ext cx="4008830" cy="668808"/>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r>
              <a:rPr kumimoji="1" lang="ja-JP" altLang="en-US" sz="1100">
                <a:solidFill>
                  <a:schemeClr val="tx1"/>
                </a:solidFill>
                <a:latin typeface="Meiryo UI" panose="020B0604030504040204" pitchFamily="50" charset="-128"/>
                <a:ea typeface="Meiryo UI" panose="020B0604030504040204" pitchFamily="50" charset="-128"/>
              </a:rPr>
              <a:t>環境データ（</a:t>
            </a:r>
            <a:r>
              <a:rPr kumimoji="1" lang="en-US" altLang="ja-JP" sz="1100">
                <a:solidFill>
                  <a:schemeClr val="tx1"/>
                </a:solidFill>
                <a:latin typeface="Meiryo UI" panose="020B0604030504040204" pitchFamily="50" charset="-128"/>
                <a:ea typeface="Meiryo UI" panose="020B0604030504040204" pitchFamily="50" charset="-128"/>
              </a:rPr>
              <a:t>GHG</a:t>
            </a:r>
            <a:r>
              <a:rPr kumimoji="1" lang="ja-JP" altLang="en-US" sz="1100">
                <a:solidFill>
                  <a:schemeClr val="tx1"/>
                </a:solidFill>
                <a:latin typeface="Meiryo UI" panose="020B0604030504040204" pitchFamily="50" charset="-128"/>
                <a:ea typeface="Meiryo UI" panose="020B0604030504040204" pitchFamily="50" charset="-128"/>
              </a:rPr>
              <a:t>以外）</a:t>
            </a:r>
            <a:r>
              <a:rPr kumimoji="1" lang="en-US" altLang="ja-JP" sz="1100" baseline="30000">
                <a:solidFill>
                  <a:schemeClr val="tx1"/>
                </a:solidFill>
                <a:latin typeface="Meiryo UI" panose="020B0604030504040204" pitchFamily="50" charset="-128"/>
                <a:ea typeface="Meiryo UI" panose="020B0604030504040204" pitchFamily="50" charset="-128"/>
              </a:rPr>
              <a:t> ※1</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268C13A4-5580-25C6-1C0A-8D09C57C2A36}"/>
              </a:ext>
            </a:extLst>
          </p:cNvPr>
          <p:cNvSpPr/>
          <p:nvPr/>
        </p:nvSpPr>
        <p:spPr>
          <a:xfrm>
            <a:off x="239380" y="4606577"/>
            <a:ext cx="4008830" cy="668808"/>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ctr"/>
            <a:r>
              <a:rPr kumimoji="1" lang="ja-JP" altLang="en-US" sz="1100">
                <a:solidFill>
                  <a:schemeClr val="tx1"/>
                </a:solidFill>
                <a:latin typeface="Meiryo UI" panose="020B0604030504040204" pitchFamily="50" charset="-128"/>
                <a:ea typeface="Meiryo UI" panose="020B0604030504040204" pitchFamily="50" charset="-128"/>
              </a:rPr>
              <a:t>環境データ（</a:t>
            </a:r>
            <a:r>
              <a:rPr kumimoji="1" lang="en-US" altLang="ja-JP" sz="1100">
                <a:solidFill>
                  <a:schemeClr val="tx1"/>
                </a:solidFill>
                <a:latin typeface="Meiryo UI" panose="020B0604030504040204" pitchFamily="50" charset="-128"/>
                <a:ea typeface="Meiryo UI" panose="020B0604030504040204" pitchFamily="50" charset="-128"/>
              </a:rPr>
              <a:t>GHG</a:t>
            </a:r>
            <a:r>
              <a:rPr kumimoji="1" lang="ja-JP" altLang="en-US" sz="1100">
                <a:solidFill>
                  <a:schemeClr val="tx1"/>
                </a:solidFill>
                <a:latin typeface="Meiryo UI" panose="020B0604030504040204" pitchFamily="50" charset="-128"/>
                <a:ea typeface="Meiryo UI" panose="020B0604030504040204" pitchFamily="50" charset="-128"/>
              </a:rPr>
              <a:t>以外）</a:t>
            </a:r>
          </a:p>
        </p:txBody>
      </p:sp>
      <p:sp>
        <p:nvSpPr>
          <p:cNvPr id="52" name="四角形: 角を丸くする 51">
            <a:extLst>
              <a:ext uri="{FF2B5EF4-FFF2-40B4-BE49-F238E27FC236}">
                <a16:creationId xmlns:a16="http://schemas.microsoft.com/office/drawing/2014/main" id="{5C7C8DC3-AFDF-B0F3-4021-43352B9D1EDC}"/>
              </a:ext>
            </a:extLst>
          </p:cNvPr>
          <p:cNvSpPr/>
          <p:nvPr/>
        </p:nvSpPr>
        <p:spPr>
          <a:xfrm>
            <a:off x="4967990" y="4883702"/>
            <a:ext cx="1160346" cy="22054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水資源</a:t>
            </a:r>
            <a:endParaRPr kumimoji="1" lang="en-US" altLang="ja-JP" sz="1100">
              <a:solidFill>
                <a:schemeClr val="bg1"/>
              </a:solidFill>
              <a:latin typeface="Meiryo UI" panose="020B0604030504040204" pitchFamily="50" charset="-128"/>
              <a:ea typeface="Meiryo UI" panose="020B0604030504040204" pitchFamily="50" charset="-128"/>
            </a:endParaRPr>
          </a:p>
        </p:txBody>
      </p:sp>
      <p:sp>
        <p:nvSpPr>
          <p:cNvPr id="53" name="四角形: 角を丸くする 52">
            <a:extLst>
              <a:ext uri="{FF2B5EF4-FFF2-40B4-BE49-F238E27FC236}">
                <a16:creationId xmlns:a16="http://schemas.microsoft.com/office/drawing/2014/main" id="{44E451A0-3C14-6A43-5B37-EAEAF8987053}"/>
              </a:ext>
            </a:extLst>
          </p:cNvPr>
          <p:cNvSpPr/>
          <p:nvPr/>
        </p:nvSpPr>
        <p:spPr>
          <a:xfrm>
            <a:off x="6313814" y="4883702"/>
            <a:ext cx="1160346" cy="22054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廃棄物</a:t>
            </a:r>
            <a:endParaRPr kumimoji="1" lang="en-US" altLang="ja-JP" sz="1100">
              <a:solidFill>
                <a:schemeClr val="bg1"/>
              </a:solidFill>
              <a:latin typeface="Meiryo UI" panose="020B0604030504040204" pitchFamily="50" charset="-128"/>
              <a:ea typeface="Meiryo UI" panose="020B0604030504040204" pitchFamily="50" charset="-128"/>
            </a:endParaRPr>
          </a:p>
        </p:txBody>
      </p:sp>
      <p:sp>
        <p:nvSpPr>
          <p:cNvPr id="54" name="四角形: 角を丸くする 53">
            <a:extLst>
              <a:ext uri="{FF2B5EF4-FFF2-40B4-BE49-F238E27FC236}">
                <a16:creationId xmlns:a16="http://schemas.microsoft.com/office/drawing/2014/main" id="{2CE435E2-8F7E-F96C-9C58-5BC9D6CB78A9}"/>
              </a:ext>
            </a:extLst>
          </p:cNvPr>
          <p:cNvSpPr/>
          <p:nvPr/>
        </p:nvSpPr>
        <p:spPr>
          <a:xfrm>
            <a:off x="7659644" y="4883702"/>
            <a:ext cx="1160346" cy="22054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環境負荷</a:t>
            </a:r>
            <a:endParaRPr kumimoji="1" lang="en-US" altLang="ja-JP" sz="1100">
              <a:solidFill>
                <a:schemeClr val="bg1"/>
              </a:solidFill>
              <a:latin typeface="Meiryo UI" panose="020B0604030504040204" pitchFamily="50" charset="-128"/>
              <a:ea typeface="Meiryo UI" panose="020B0604030504040204" pitchFamily="50" charset="-128"/>
            </a:endParaRPr>
          </a:p>
        </p:txBody>
      </p:sp>
      <p:sp>
        <p:nvSpPr>
          <p:cNvPr id="55" name="四角形: 角を丸くする 54">
            <a:extLst>
              <a:ext uri="{FF2B5EF4-FFF2-40B4-BE49-F238E27FC236}">
                <a16:creationId xmlns:a16="http://schemas.microsoft.com/office/drawing/2014/main" id="{D4D49ECD-1792-BEBE-DAA7-E81AF26169E5}"/>
              </a:ext>
            </a:extLst>
          </p:cNvPr>
          <p:cNvSpPr/>
          <p:nvPr/>
        </p:nvSpPr>
        <p:spPr>
          <a:xfrm>
            <a:off x="324010" y="4883702"/>
            <a:ext cx="1160346" cy="22054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水資源</a:t>
            </a:r>
            <a:endParaRPr kumimoji="1" lang="en-US" altLang="ja-JP" sz="1100">
              <a:solidFill>
                <a:schemeClr val="bg1"/>
              </a:solidFill>
              <a:latin typeface="Meiryo UI" panose="020B0604030504040204" pitchFamily="50" charset="-128"/>
              <a:ea typeface="Meiryo UI" panose="020B0604030504040204" pitchFamily="50" charset="-128"/>
            </a:endParaRPr>
          </a:p>
        </p:txBody>
      </p:sp>
      <p:sp>
        <p:nvSpPr>
          <p:cNvPr id="56" name="四角形: 角を丸くする 55">
            <a:extLst>
              <a:ext uri="{FF2B5EF4-FFF2-40B4-BE49-F238E27FC236}">
                <a16:creationId xmlns:a16="http://schemas.microsoft.com/office/drawing/2014/main" id="{57267E9E-7941-F9A7-52A6-499C233FFA72}"/>
              </a:ext>
            </a:extLst>
          </p:cNvPr>
          <p:cNvSpPr/>
          <p:nvPr/>
        </p:nvSpPr>
        <p:spPr>
          <a:xfrm>
            <a:off x="1669834" y="4883702"/>
            <a:ext cx="1160346" cy="22054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廃棄物</a:t>
            </a:r>
            <a:endParaRPr kumimoji="1" lang="en-US" altLang="ja-JP" sz="1100">
              <a:solidFill>
                <a:schemeClr val="bg1"/>
              </a:solidFill>
              <a:latin typeface="Meiryo UI" panose="020B0604030504040204" pitchFamily="50" charset="-128"/>
              <a:ea typeface="Meiryo UI" panose="020B0604030504040204" pitchFamily="50" charset="-128"/>
            </a:endParaRPr>
          </a:p>
        </p:txBody>
      </p:sp>
      <p:sp>
        <p:nvSpPr>
          <p:cNvPr id="57" name="四角形: 角を丸くする 56">
            <a:extLst>
              <a:ext uri="{FF2B5EF4-FFF2-40B4-BE49-F238E27FC236}">
                <a16:creationId xmlns:a16="http://schemas.microsoft.com/office/drawing/2014/main" id="{23789CD2-E5AB-8F99-34F7-E866BB4DCBA6}"/>
              </a:ext>
            </a:extLst>
          </p:cNvPr>
          <p:cNvSpPr/>
          <p:nvPr/>
        </p:nvSpPr>
        <p:spPr>
          <a:xfrm>
            <a:off x="3015664" y="4883702"/>
            <a:ext cx="1160346" cy="22054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環境負荷</a:t>
            </a:r>
            <a:endParaRPr kumimoji="1" lang="en-US" altLang="ja-JP" sz="1100">
              <a:solidFill>
                <a:schemeClr val="bg1"/>
              </a:solidFill>
              <a:latin typeface="Meiryo UI" panose="020B0604030504040204" pitchFamily="50" charset="-128"/>
              <a:ea typeface="Meiryo UI" panose="020B0604030504040204" pitchFamily="50" charset="-128"/>
            </a:endParaRPr>
          </a:p>
        </p:txBody>
      </p:sp>
      <p:sp>
        <p:nvSpPr>
          <p:cNvPr id="58" name="四角形: 角を丸くする 57">
            <a:extLst>
              <a:ext uri="{FF2B5EF4-FFF2-40B4-BE49-F238E27FC236}">
                <a16:creationId xmlns:a16="http://schemas.microsoft.com/office/drawing/2014/main" id="{CEED2446-D984-4635-A74C-B35449E00D0F}"/>
              </a:ext>
            </a:extLst>
          </p:cNvPr>
          <p:cNvSpPr/>
          <p:nvPr/>
        </p:nvSpPr>
        <p:spPr>
          <a:xfrm>
            <a:off x="351134" y="2747401"/>
            <a:ext cx="914400" cy="382458"/>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温対法のみ</a:t>
            </a:r>
            <a:endParaRPr kumimoji="1" lang="en-US" altLang="ja-JP" sz="1100">
              <a:solidFill>
                <a:schemeClr val="bg1"/>
              </a:solidFill>
              <a:latin typeface="Meiryo UI" panose="020B0604030504040204" pitchFamily="50" charset="-128"/>
              <a:ea typeface="Meiryo UI" panose="020B0604030504040204" pitchFamily="50" charset="-128"/>
            </a:endParaRPr>
          </a:p>
          <a:p>
            <a:pPr algn="ctr"/>
            <a:r>
              <a:rPr kumimoji="1" lang="ja-JP" altLang="en-US" sz="1100">
                <a:solidFill>
                  <a:schemeClr val="bg1"/>
                </a:solidFill>
                <a:latin typeface="Meiryo UI" panose="020B0604030504040204" pitchFamily="50" charset="-128"/>
                <a:ea typeface="Meiryo UI" panose="020B0604030504040204" pitchFamily="50" charset="-128"/>
              </a:rPr>
              <a:t>算定対象</a:t>
            </a:r>
          </a:p>
        </p:txBody>
      </p:sp>
      <p:sp>
        <p:nvSpPr>
          <p:cNvPr id="61" name="四角形: 角を丸くする 60">
            <a:extLst>
              <a:ext uri="{FF2B5EF4-FFF2-40B4-BE49-F238E27FC236}">
                <a16:creationId xmlns:a16="http://schemas.microsoft.com/office/drawing/2014/main" id="{CAD6AB96-3E68-157B-D4CF-4ECD68658F7E}"/>
              </a:ext>
            </a:extLst>
          </p:cNvPr>
          <p:cNvSpPr/>
          <p:nvPr/>
        </p:nvSpPr>
        <p:spPr>
          <a:xfrm>
            <a:off x="5584662" y="5769703"/>
            <a:ext cx="1160346" cy="22054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人事系</a:t>
            </a:r>
            <a:endParaRPr kumimoji="1" lang="en-US" altLang="ja-JP" sz="1100">
              <a:solidFill>
                <a:schemeClr val="bg1"/>
              </a:solidFill>
              <a:latin typeface="Meiryo UI" panose="020B0604030504040204" pitchFamily="50" charset="-128"/>
              <a:ea typeface="Meiryo UI" panose="020B0604030504040204" pitchFamily="50" charset="-128"/>
            </a:endParaRPr>
          </a:p>
        </p:txBody>
      </p:sp>
      <p:cxnSp>
        <p:nvCxnSpPr>
          <p:cNvPr id="63" name="直線矢印コネクタ 62">
            <a:extLst>
              <a:ext uri="{FF2B5EF4-FFF2-40B4-BE49-F238E27FC236}">
                <a16:creationId xmlns:a16="http://schemas.microsoft.com/office/drawing/2014/main" id="{BE48AD4A-6D07-60F3-6A6C-6423FB2A7E7F}"/>
              </a:ext>
            </a:extLst>
          </p:cNvPr>
          <p:cNvCxnSpPr>
            <a:cxnSpLocks/>
          </p:cNvCxnSpPr>
          <p:nvPr/>
        </p:nvCxnSpPr>
        <p:spPr>
          <a:xfrm>
            <a:off x="510995" y="1619814"/>
            <a:ext cx="3465601" cy="0"/>
          </a:xfrm>
          <a:prstGeom prst="straightConnector1">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B9F874BF-DB4C-CE2F-3A67-9AA60B829FD1}"/>
              </a:ext>
            </a:extLst>
          </p:cNvPr>
          <p:cNvSpPr/>
          <p:nvPr/>
        </p:nvSpPr>
        <p:spPr>
          <a:xfrm>
            <a:off x="1215213" y="1462712"/>
            <a:ext cx="2057164" cy="2918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現在</a:t>
            </a:r>
            <a:r>
              <a:rPr kumimoji="1" lang="en-US" altLang="ja-JP" sz="1200">
                <a:solidFill>
                  <a:schemeClr val="tx1"/>
                </a:solidFill>
                <a:latin typeface="Meiryo UI" panose="020B0604030504040204" pitchFamily="50" charset="-128"/>
                <a:ea typeface="Meiryo UI" panose="020B0604030504040204" pitchFamily="50" charset="-128"/>
              </a:rPr>
              <a:t>GGX</a:t>
            </a:r>
            <a:r>
              <a:rPr kumimoji="1" lang="ja-JP" altLang="en-US" sz="1200">
                <a:solidFill>
                  <a:schemeClr val="tx1"/>
                </a:solidFill>
                <a:latin typeface="Meiryo UI" panose="020B0604030504040204" pitchFamily="50" charset="-128"/>
                <a:ea typeface="Meiryo UI" panose="020B0604030504040204" pitchFamily="50" charset="-128"/>
              </a:rPr>
              <a:t>で保持している情報</a:t>
            </a:r>
          </a:p>
        </p:txBody>
      </p:sp>
      <p:cxnSp>
        <p:nvCxnSpPr>
          <p:cNvPr id="74" name="直線矢印コネクタ 73">
            <a:extLst>
              <a:ext uri="{FF2B5EF4-FFF2-40B4-BE49-F238E27FC236}">
                <a16:creationId xmlns:a16="http://schemas.microsoft.com/office/drawing/2014/main" id="{4CA4FE4D-CA28-6765-F2CE-59AB6152A598}"/>
              </a:ext>
            </a:extLst>
          </p:cNvPr>
          <p:cNvCxnSpPr>
            <a:cxnSpLocks/>
          </p:cNvCxnSpPr>
          <p:nvPr/>
        </p:nvCxnSpPr>
        <p:spPr>
          <a:xfrm>
            <a:off x="5146939" y="1619814"/>
            <a:ext cx="3465601" cy="0"/>
          </a:xfrm>
          <a:prstGeom prst="straightConnector1">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029D1B19-D89E-569B-F825-1911DF95191F}"/>
              </a:ext>
            </a:extLst>
          </p:cNvPr>
          <p:cNvSpPr/>
          <p:nvPr/>
        </p:nvSpPr>
        <p:spPr>
          <a:xfrm>
            <a:off x="5851157" y="1462712"/>
            <a:ext cx="2057164" cy="2918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今後システムで保持したい情報</a:t>
            </a:r>
            <a:endParaRPr kumimoji="1" lang="ja-JP" altLang="en-US" sz="1200" baseline="30000">
              <a:solidFill>
                <a:schemeClr val="tx1"/>
              </a:solidFill>
              <a:latin typeface="Meiryo UI" panose="020B0604030504040204" pitchFamily="50" charset="-128"/>
              <a:ea typeface="Meiryo UI" panose="020B0604030504040204" pitchFamily="50" charset="-128"/>
            </a:endParaRPr>
          </a:p>
        </p:txBody>
      </p:sp>
      <p:sp>
        <p:nvSpPr>
          <p:cNvPr id="75" name="四角形: 角を丸くする 74">
            <a:extLst>
              <a:ext uri="{FF2B5EF4-FFF2-40B4-BE49-F238E27FC236}">
                <a16:creationId xmlns:a16="http://schemas.microsoft.com/office/drawing/2014/main" id="{FE480234-D288-B328-5FA1-35A724FFB43E}"/>
              </a:ext>
            </a:extLst>
          </p:cNvPr>
          <p:cNvSpPr/>
          <p:nvPr/>
        </p:nvSpPr>
        <p:spPr>
          <a:xfrm>
            <a:off x="5257033" y="4137124"/>
            <a:ext cx="3310604" cy="220546"/>
          </a:xfrm>
          <a:prstGeom prst="roundRect">
            <a:avLst/>
          </a:prstGeom>
          <a:noFill/>
          <a:ln w="28575">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a:solidFill>
                  <a:schemeClr val="bg1">
                    <a:lumMod val="65000"/>
                  </a:schemeClr>
                </a:solidFill>
                <a:highlight>
                  <a:srgbClr val="FFFF00"/>
                </a:highlight>
                <a:latin typeface="Meiryo UI" panose="020B0604030504040204" pitchFamily="50" charset="-128"/>
                <a:ea typeface="Meiryo UI" panose="020B0604030504040204" pitchFamily="50" charset="-128"/>
              </a:rPr>
              <a:t>GX</a:t>
            </a:r>
            <a:r>
              <a:rPr kumimoji="1" lang="ja-JP" altLang="en-US" sz="1100">
                <a:solidFill>
                  <a:schemeClr val="bg1">
                    <a:lumMod val="65000"/>
                  </a:schemeClr>
                </a:solidFill>
                <a:highlight>
                  <a:srgbClr val="FFFF00"/>
                </a:highlight>
                <a:latin typeface="Meiryo UI" panose="020B0604030504040204" pitchFamily="50" charset="-128"/>
                <a:ea typeface="Meiryo UI" panose="020B0604030504040204" pitchFamily="50" charset="-128"/>
              </a:rPr>
              <a:t>リーグモニタリングポイントデータ</a:t>
            </a:r>
            <a:endParaRPr kumimoji="1" lang="en-US" altLang="ja-JP" sz="1100">
              <a:solidFill>
                <a:schemeClr val="bg1">
                  <a:lumMod val="65000"/>
                </a:schemeClr>
              </a:solidFill>
              <a:highlight>
                <a:srgbClr val="FFFF00"/>
              </a:highlight>
              <a:latin typeface="Meiryo UI" panose="020B0604030504040204" pitchFamily="50" charset="-128"/>
              <a:ea typeface="Meiryo UI" panose="020B0604030504040204" pitchFamily="50" charset="-128"/>
            </a:endParaRPr>
          </a:p>
        </p:txBody>
      </p:sp>
      <p:sp>
        <p:nvSpPr>
          <p:cNvPr id="76" name="四角形: 角を丸くする 75">
            <a:extLst>
              <a:ext uri="{FF2B5EF4-FFF2-40B4-BE49-F238E27FC236}">
                <a16:creationId xmlns:a16="http://schemas.microsoft.com/office/drawing/2014/main" id="{F133F161-0774-338C-00E5-89F03C061F71}"/>
              </a:ext>
            </a:extLst>
          </p:cNvPr>
          <p:cNvSpPr/>
          <p:nvPr/>
        </p:nvSpPr>
        <p:spPr>
          <a:xfrm>
            <a:off x="583137" y="4137124"/>
            <a:ext cx="3310604" cy="220546"/>
          </a:xfrm>
          <a:prstGeom prst="roundRect">
            <a:avLst/>
          </a:prstGeom>
          <a:noFill/>
          <a:ln w="28575">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100">
                <a:solidFill>
                  <a:schemeClr val="bg1">
                    <a:lumMod val="65000"/>
                  </a:schemeClr>
                </a:solidFill>
                <a:latin typeface="Meiryo UI" panose="020B0604030504040204" pitchFamily="50" charset="-128"/>
                <a:ea typeface="Meiryo UI" panose="020B0604030504040204" pitchFamily="50" charset="-128"/>
              </a:rPr>
              <a:t>GX</a:t>
            </a:r>
            <a:r>
              <a:rPr kumimoji="1" lang="ja-JP" altLang="en-US" sz="1100">
                <a:solidFill>
                  <a:schemeClr val="bg1">
                    <a:lumMod val="65000"/>
                  </a:schemeClr>
                </a:solidFill>
                <a:latin typeface="Meiryo UI" panose="020B0604030504040204" pitchFamily="50" charset="-128"/>
                <a:ea typeface="Meiryo UI" panose="020B0604030504040204" pitchFamily="50" charset="-128"/>
              </a:rPr>
              <a:t>リーグモニタリングポイントデータ</a:t>
            </a:r>
            <a:endParaRPr kumimoji="1" lang="en-US" altLang="ja-JP" sz="1100">
              <a:solidFill>
                <a:schemeClr val="bg1">
                  <a:lumMod val="65000"/>
                </a:schemeClr>
              </a:solidFill>
              <a:latin typeface="Meiryo UI" panose="020B0604030504040204" pitchFamily="50" charset="-128"/>
              <a:ea typeface="Meiryo UI" panose="020B0604030504040204" pitchFamily="50" charset="-128"/>
            </a:endParaRPr>
          </a:p>
        </p:txBody>
      </p:sp>
      <p:cxnSp>
        <p:nvCxnSpPr>
          <p:cNvPr id="77" name="直線コネクタ 76">
            <a:extLst>
              <a:ext uri="{FF2B5EF4-FFF2-40B4-BE49-F238E27FC236}">
                <a16:creationId xmlns:a16="http://schemas.microsoft.com/office/drawing/2014/main" id="{A3616466-B8B0-63EA-ADDE-275A80E043C8}"/>
              </a:ext>
            </a:extLst>
          </p:cNvPr>
          <p:cNvCxnSpPr>
            <a:cxnSpLocks/>
          </p:cNvCxnSpPr>
          <p:nvPr/>
        </p:nvCxnSpPr>
        <p:spPr>
          <a:xfrm>
            <a:off x="5419097" y="5595043"/>
            <a:ext cx="906169" cy="29954"/>
          </a:xfrm>
          <a:prstGeom prst="line">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83" name="直線コネクタ 82">
            <a:extLst>
              <a:ext uri="{FF2B5EF4-FFF2-40B4-BE49-F238E27FC236}">
                <a16:creationId xmlns:a16="http://schemas.microsoft.com/office/drawing/2014/main" id="{100AE58B-994F-6408-D637-5C13E41AFC9B}"/>
              </a:ext>
            </a:extLst>
          </p:cNvPr>
          <p:cNvCxnSpPr>
            <a:cxnSpLocks/>
          </p:cNvCxnSpPr>
          <p:nvPr/>
        </p:nvCxnSpPr>
        <p:spPr>
          <a:xfrm flipV="1">
            <a:off x="4249209" y="4318108"/>
            <a:ext cx="783115" cy="1223026"/>
          </a:xfrm>
          <a:prstGeom prst="line">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87" name="正方形/長方形 86">
            <a:extLst>
              <a:ext uri="{FF2B5EF4-FFF2-40B4-BE49-F238E27FC236}">
                <a16:creationId xmlns:a16="http://schemas.microsoft.com/office/drawing/2014/main" id="{4DFC2196-9911-CC74-6D81-933D05501C79}"/>
              </a:ext>
            </a:extLst>
          </p:cNvPr>
          <p:cNvSpPr/>
          <p:nvPr/>
        </p:nvSpPr>
        <p:spPr>
          <a:xfrm>
            <a:off x="351134" y="6257495"/>
            <a:ext cx="8150617" cy="1821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kumimoji="1" lang="en-US" altLang="ja-JP" sz="1000">
                <a:solidFill>
                  <a:schemeClr val="tx1"/>
                </a:solidFill>
                <a:latin typeface="Meiryo UI" panose="020B0604030504040204" pitchFamily="50" charset="-128"/>
                <a:ea typeface="Meiryo UI" panose="020B0604030504040204" pitchFamily="50" charset="-128"/>
              </a:rPr>
              <a:t>※1 </a:t>
            </a:r>
            <a:r>
              <a:rPr kumimoji="1" lang="ja-JP" altLang="en-US" sz="1000">
                <a:solidFill>
                  <a:schemeClr val="tx1"/>
                </a:solidFill>
                <a:latin typeface="Meiryo UI" panose="020B0604030504040204" pitchFamily="50" charset="-128"/>
                <a:ea typeface="Meiryo UI" panose="020B0604030504040204" pitchFamily="50" charset="-128"/>
              </a:rPr>
              <a:t>マテリアリティ評価結果により増減の可能性あり　　</a:t>
            </a:r>
            <a:r>
              <a:rPr kumimoji="1" lang="en-US" altLang="ja-JP" sz="1000">
                <a:solidFill>
                  <a:schemeClr val="tx1"/>
                </a:solidFill>
                <a:latin typeface="Meiryo UI" panose="020B0604030504040204" pitchFamily="50" charset="-128"/>
                <a:ea typeface="Meiryo UI" panose="020B0604030504040204" pitchFamily="50" charset="-128"/>
              </a:rPr>
              <a:t>※2 SSBJ</a:t>
            </a:r>
            <a:r>
              <a:rPr kumimoji="1" lang="ja-JP" altLang="en-US" sz="1000">
                <a:solidFill>
                  <a:schemeClr val="tx1"/>
                </a:solidFill>
                <a:latin typeface="Meiryo UI" panose="020B0604030504040204" pitchFamily="50" charset="-128"/>
                <a:ea typeface="Meiryo UI" panose="020B0604030504040204" pitchFamily="50" charset="-128"/>
              </a:rPr>
              <a:t>で収集するデータは「</a:t>
            </a:r>
            <a:r>
              <a:rPr kumimoji="1" lang="en-US" altLang="ja-JP" sz="1000">
                <a:solidFill>
                  <a:schemeClr val="tx1"/>
                </a:solidFill>
                <a:latin typeface="Meiryo UI" panose="020B0604030504040204" pitchFamily="50" charset="-128"/>
                <a:ea typeface="Meiryo UI" panose="020B0604030504040204" pitchFamily="50" charset="-128"/>
              </a:rPr>
              <a:t>GHG</a:t>
            </a:r>
            <a:r>
              <a:rPr kumimoji="1" lang="ja-JP" altLang="en-US" sz="1000">
                <a:solidFill>
                  <a:schemeClr val="tx1"/>
                </a:solidFill>
                <a:latin typeface="Meiryo UI" panose="020B0604030504040204" pitchFamily="50" charset="-128"/>
                <a:ea typeface="Meiryo UI" panose="020B0604030504040204" pitchFamily="50" charset="-128"/>
              </a:rPr>
              <a:t>データ」、「環境データ（</a:t>
            </a:r>
            <a:r>
              <a:rPr kumimoji="1" lang="en-US" altLang="ja-JP" sz="1000">
                <a:solidFill>
                  <a:schemeClr val="tx1"/>
                </a:solidFill>
                <a:latin typeface="Meiryo UI" panose="020B0604030504040204" pitchFamily="50" charset="-128"/>
                <a:ea typeface="Meiryo UI" panose="020B0604030504040204" pitchFamily="50" charset="-128"/>
              </a:rPr>
              <a:t>GHG</a:t>
            </a:r>
            <a:r>
              <a:rPr kumimoji="1" lang="ja-JP" altLang="en-US" sz="1000">
                <a:solidFill>
                  <a:schemeClr val="tx1"/>
                </a:solidFill>
                <a:latin typeface="Meiryo UI" panose="020B0604030504040204" pitchFamily="50" charset="-128"/>
                <a:ea typeface="Meiryo UI" panose="020B0604030504040204" pitchFamily="50" charset="-128"/>
              </a:rPr>
              <a:t>以外）」、「環境データ以外」の</a:t>
            </a:r>
            <a:r>
              <a:rPr kumimoji="1" lang="en-US" altLang="ja-JP" sz="1000">
                <a:solidFill>
                  <a:schemeClr val="tx1"/>
                </a:solidFill>
                <a:latin typeface="Meiryo UI" panose="020B0604030504040204" pitchFamily="50" charset="-128"/>
                <a:ea typeface="Meiryo UI" panose="020B0604030504040204" pitchFamily="50" charset="-128"/>
              </a:rPr>
              <a:t>3</a:t>
            </a:r>
            <a:r>
              <a:rPr kumimoji="1" lang="ja-JP" altLang="en-US" sz="1000">
                <a:solidFill>
                  <a:schemeClr val="tx1"/>
                </a:solidFill>
                <a:latin typeface="Meiryo UI" panose="020B0604030504040204" pitchFamily="50" charset="-128"/>
                <a:ea typeface="Meiryo UI" panose="020B0604030504040204" pitchFamily="50" charset="-128"/>
              </a:rPr>
              <a:t>種</a:t>
            </a:r>
          </a:p>
        </p:txBody>
      </p:sp>
      <p:sp>
        <p:nvSpPr>
          <p:cNvPr id="88" name="四角形: 角を丸くする 87">
            <a:extLst>
              <a:ext uri="{FF2B5EF4-FFF2-40B4-BE49-F238E27FC236}">
                <a16:creationId xmlns:a16="http://schemas.microsoft.com/office/drawing/2014/main" id="{833D8ED3-9A6A-B247-5E74-2F5FEBFD0A3A}"/>
              </a:ext>
            </a:extLst>
          </p:cNvPr>
          <p:cNvSpPr/>
          <p:nvPr/>
        </p:nvSpPr>
        <p:spPr>
          <a:xfrm>
            <a:off x="937021" y="5776281"/>
            <a:ext cx="1160346" cy="220546"/>
          </a:xfrm>
          <a:prstGeom prst="roundRect">
            <a:avLst/>
          </a:prstGeom>
          <a:noFill/>
          <a:ln w="28575">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lumMod val="65000"/>
                  </a:schemeClr>
                </a:solidFill>
                <a:latin typeface="Meiryo UI" panose="020B0604030504040204" pitchFamily="50" charset="-128"/>
                <a:ea typeface="Meiryo UI" panose="020B0604030504040204" pitchFamily="50" charset="-128"/>
              </a:rPr>
              <a:t>人事系</a:t>
            </a:r>
            <a:endParaRPr kumimoji="1" lang="en-US" altLang="ja-JP" sz="1100">
              <a:solidFill>
                <a:schemeClr val="bg1">
                  <a:lumMod val="65000"/>
                </a:schemeClr>
              </a:solidFill>
              <a:latin typeface="Meiryo UI" panose="020B0604030504040204" pitchFamily="50" charset="-128"/>
              <a:ea typeface="Meiryo UI" panose="020B0604030504040204" pitchFamily="50" charset="-128"/>
            </a:endParaRPr>
          </a:p>
        </p:txBody>
      </p:sp>
      <p:sp>
        <p:nvSpPr>
          <p:cNvPr id="4" name="四角形: 角を丸くする 3">
            <a:extLst>
              <a:ext uri="{FF2B5EF4-FFF2-40B4-BE49-F238E27FC236}">
                <a16:creationId xmlns:a16="http://schemas.microsoft.com/office/drawing/2014/main" id="{BC0D7BAA-1410-66CE-2CFC-C644C3F42600}"/>
              </a:ext>
            </a:extLst>
          </p:cNvPr>
          <p:cNvSpPr/>
          <p:nvPr/>
        </p:nvSpPr>
        <p:spPr>
          <a:xfrm>
            <a:off x="7079471" y="5769703"/>
            <a:ext cx="1160346" cy="22054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労働安全系</a:t>
            </a:r>
            <a:endParaRPr kumimoji="1" lang="en-US" altLang="ja-JP" sz="1100">
              <a:solidFill>
                <a:schemeClr val="bg1"/>
              </a:solidFill>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a16="http://schemas.microsoft.com/office/drawing/2014/main" id="{376E059A-AEA9-459B-B2EE-69FB30856C40}"/>
              </a:ext>
            </a:extLst>
          </p:cNvPr>
          <p:cNvSpPr/>
          <p:nvPr/>
        </p:nvSpPr>
        <p:spPr>
          <a:xfrm>
            <a:off x="2431830" y="5776281"/>
            <a:ext cx="1160346" cy="220546"/>
          </a:xfrm>
          <a:prstGeom prst="roundRect">
            <a:avLst/>
          </a:prstGeom>
          <a:noFill/>
          <a:ln w="28575">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100">
                <a:solidFill>
                  <a:schemeClr val="bg1">
                    <a:lumMod val="65000"/>
                  </a:schemeClr>
                </a:solidFill>
                <a:latin typeface="Meiryo UI" panose="020B0604030504040204" pitchFamily="50" charset="-128"/>
                <a:ea typeface="Meiryo UI" panose="020B0604030504040204" pitchFamily="50" charset="-128"/>
              </a:rPr>
              <a:t>労働安全系</a:t>
            </a:r>
            <a:endParaRPr kumimoji="1" lang="en-US" altLang="ja-JP" sz="1100">
              <a:solidFill>
                <a:schemeClr val="bg1">
                  <a:lumMod val="65000"/>
                </a:schemeClr>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4C4B77EC-80BC-75B8-69A8-F14FE725F99E}"/>
              </a:ext>
            </a:extLst>
          </p:cNvPr>
          <p:cNvSpPr/>
          <p:nvPr/>
        </p:nvSpPr>
        <p:spPr>
          <a:xfrm>
            <a:off x="3211994" y="5414702"/>
            <a:ext cx="2333108" cy="741194"/>
          </a:xfrm>
          <a:prstGeom prst="rect">
            <a:avLst/>
          </a:prstGeom>
          <a:solidFill>
            <a:schemeClr val="bg1"/>
          </a:solid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r>
              <a:rPr kumimoji="1" lang="ja-JP" altLang="en-US" sz="1100">
                <a:solidFill>
                  <a:schemeClr val="tx1"/>
                </a:solidFill>
                <a:latin typeface="Meiryo UI" panose="020B0604030504040204" pitchFamily="50" charset="-128"/>
                <a:ea typeface="Meiryo UI" panose="020B0604030504040204" pitchFamily="50" charset="-128"/>
              </a:rPr>
              <a:t>現在</a:t>
            </a:r>
            <a:r>
              <a:rPr kumimoji="1" lang="en-US" altLang="ja-JP" sz="1100">
                <a:solidFill>
                  <a:schemeClr val="tx1"/>
                </a:solidFill>
                <a:latin typeface="Meiryo UI" panose="020B0604030504040204" pitchFamily="50" charset="-128"/>
                <a:ea typeface="Meiryo UI" panose="020B0604030504040204" pitchFamily="50" charset="-128"/>
              </a:rPr>
              <a:t>GGX</a:t>
            </a:r>
            <a:r>
              <a:rPr kumimoji="1" lang="ja-JP" altLang="en-US" sz="1100">
                <a:solidFill>
                  <a:schemeClr val="tx1"/>
                </a:solidFill>
                <a:latin typeface="Meiryo UI" panose="020B0604030504040204" pitchFamily="50" charset="-128"/>
                <a:ea typeface="Meiryo UI" panose="020B0604030504040204" pitchFamily="50" charset="-128"/>
              </a:rPr>
              <a:t>上で保持しているデータに加え、</a:t>
            </a:r>
            <a:r>
              <a:rPr kumimoji="1" lang="en-US" altLang="ja-JP" sz="1100" b="1" u="sng">
                <a:solidFill>
                  <a:schemeClr val="tx1"/>
                </a:solidFill>
                <a:latin typeface="Meiryo UI" panose="020B0604030504040204" pitchFamily="50" charset="-128"/>
                <a:ea typeface="Meiryo UI" panose="020B0604030504040204" pitchFamily="50" charset="-128"/>
              </a:rPr>
              <a:t>GHG</a:t>
            </a:r>
            <a:r>
              <a:rPr kumimoji="1" lang="ja-JP" altLang="en-US" sz="1100" b="1" u="sng">
                <a:solidFill>
                  <a:schemeClr val="tx1"/>
                </a:solidFill>
                <a:latin typeface="Meiryo UI" panose="020B0604030504040204" pitchFamily="50" charset="-128"/>
                <a:ea typeface="Meiryo UI" panose="020B0604030504040204" pitchFamily="50" charset="-128"/>
              </a:rPr>
              <a:t>プロトコルに必要なデータと人的資本データ</a:t>
            </a:r>
            <a:r>
              <a:rPr kumimoji="1" lang="ja-JP" altLang="en-US" sz="1100">
                <a:solidFill>
                  <a:schemeClr val="tx1"/>
                </a:solidFill>
                <a:latin typeface="Meiryo UI" panose="020B0604030504040204" pitchFamily="50" charset="-128"/>
                <a:ea typeface="Meiryo UI" panose="020B0604030504040204" pitchFamily="50" charset="-128"/>
              </a:rPr>
              <a:t>も新システムで保持</a:t>
            </a:r>
            <a:endParaRPr kumimoji="1" lang="en-US" altLang="ja-JP" sz="1100">
              <a:solidFill>
                <a:schemeClr val="tx1"/>
              </a:solidFill>
              <a:latin typeface="Meiryo UI" panose="020B0604030504040204" pitchFamily="50" charset="-128"/>
              <a:ea typeface="Meiryo UI" panose="020B0604030504040204" pitchFamily="50" charset="-128"/>
            </a:endParaRPr>
          </a:p>
        </p:txBody>
      </p:sp>
      <p:sp>
        <p:nvSpPr>
          <p:cNvPr id="15" name="楕円 14">
            <a:extLst>
              <a:ext uri="{FF2B5EF4-FFF2-40B4-BE49-F238E27FC236}">
                <a16:creationId xmlns:a16="http://schemas.microsoft.com/office/drawing/2014/main" id="{BF5D9B38-1F06-1E32-7559-5A622C226EA8}"/>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11" name="四角形: 角を丸くする 10">
            <a:extLst>
              <a:ext uri="{FF2B5EF4-FFF2-40B4-BE49-F238E27FC236}">
                <a16:creationId xmlns:a16="http://schemas.microsoft.com/office/drawing/2014/main" id="{3088A219-8FB8-E602-E456-CB493CB83D40}"/>
              </a:ext>
            </a:extLst>
          </p:cNvPr>
          <p:cNvSpPr/>
          <p:nvPr/>
        </p:nvSpPr>
        <p:spPr>
          <a:xfrm>
            <a:off x="7045749" y="169787"/>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　対応すべき複数の開示基準</a:t>
            </a:r>
          </a:p>
        </p:txBody>
      </p:sp>
      <p:sp>
        <p:nvSpPr>
          <p:cNvPr id="14" name="四角形: 角を丸くする 13">
            <a:extLst>
              <a:ext uri="{FF2B5EF4-FFF2-40B4-BE49-F238E27FC236}">
                <a16:creationId xmlns:a16="http://schemas.microsoft.com/office/drawing/2014/main" id="{33B4EC67-7B32-7157-0842-04451E0ECB17}"/>
              </a:ext>
            </a:extLst>
          </p:cNvPr>
          <p:cNvSpPr/>
          <p:nvPr/>
        </p:nvSpPr>
        <p:spPr>
          <a:xfrm>
            <a:off x="7045749" y="561240"/>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暫定</a:t>
            </a:r>
            <a:r>
              <a:rPr kumimoji="1" lang="en-US" altLang="ja-JP" sz="900" b="1">
                <a:solidFill>
                  <a:schemeClr val="bg1">
                    <a:lumMod val="50000"/>
                  </a:schemeClr>
                </a:solidFill>
                <a:latin typeface="Meiryo UI" panose="020B0604030504040204" pitchFamily="50" charset="-128"/>
                <a:ea typeface="Meiryo UI" panose="020B0604030504040204" pitchFamily="50" charset="-128"/>
              </a:rPr>
              <a:t>/</a:t>
            </a:r>
            <a:r>
              <a:rPr kumimoji="1" lang="ja-JP" altLang="en-US" sz="900" b="1">
                <a:solidFill>
                  <a:schemeClr val="bg1">
                    <a:lumMod val="50000"/>
                  </a:schemeClr>
                </a:solidFill>
                <a:latin typeface="Meiryo UI" panose="020B0604030504040204" pitchFamily="50" charset="-128"/>
                <a:ea typeface="Meiryo UI" panose="020B0604030504040204" pitchFamily="50" charset="-128"/>
              </a:rPr>
              <a:t>確定係数の運用</a:t>
            </a:r>
          </a:p>
        </p:txBody>
      </p:sp>
      <p:sp>
        <p:nvSpPr>
          <p:cNvPr id="18" name="四角形: 角を丸くする 17">
            <a:extLst>
              <a:ext uri="{FF2B5EF4-FFF2-40B4-BE49-F238E27FC236}">
                <a16:creationId xmlns:a16="http://schemas.microsoft.com/office/drawing/2014/main" id="{1965A5AC-F7F3-2DC8-171F-DB29A5374810}"/>
              </a:ext>
            </a:extLst>
          </p:cNvPr>
          <p:cNvSpPr/>
          <p:nvPr/>
        </p:nvSpPr>
        <p:spPr>
          <a:xfrm>
            <a:off x="7045749" y="365514"/>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複数算定ロジックの構築</a:t>
            </a:r>
          </a:p>
        </p:txBody>
      </p:sp>
      <p:sp>
        <p:nvSpPr>
          <p:cNvPr id="19" name="楕円 18">
            <a:extLst>
              <a:ext uri="{FF2B5EF4-FFF2-40B4-BE49-F238E27FC236}">
                <a16:creationId xmlns:a16="http://schemas.microsoft.com/office/drawing/2014/main" id="{2FB728DB-A0A6-AB5D-79F5-96AE4321EDA6}"/>
              </a:ext>
            </a:extLst>
          </p:cNvPr>
          <p:cNvSpPr/>
          <p:nvPr/>
        </p:nvSpPr>
        <p:spPr>
          <a:xfrm>
            <a:off x="7020272" y="134576"/>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20" name="楕円 19">
            <a:extLst>
              <a:ext uri="{FF2B5EF4-FFF2-40B4-BE49-F238E27FC236}">
                <a16:creationId xmlns:a16="http://schemas.microsoft.com/office/drawing/2014/main" id="{48342D8D-A782-1EB4-B588-D2BBE3AC5023}"/>
              </a:ext>
            </a:extLst>
          </p:cNvPr>
          <p:cNvSpPr/>
          <p:nvPr/>
        </p:nvSpPr>
        <p:spPr>
          <a:xfrm>
            <a:off x="7020272" y="330302"/>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2</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B57A6AF7-8E4D-E288-8AE5-60AB7270E5D3}"/>
              </a:ext>
            </a:extLst>
          </p:cNvPr>
          <p:cNvSpPr/>
          <p:nvPr/>
        </p:nvSpPr>
        <p:spPr>
          <a:xfrm>
            <a:off x="7020272" y="526029"/>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3</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
        <p:nvSpPr>
          <p:cNvPr id="12" name="四角形: 角を丸くする 11">
            <a:extLst>
              <a:ext uri="{FF2B5EF4-FFF2-40B4-BE49-F238E27FC236}">
                <a16:creationId xmlns:a16="http://schemas.microsoft.com/office/drawing/2014/main" id="{B97B3F67-76F7-E036-9B91-9A89510BAF81}"/>
              </a:ext>
            </a:extLst>
          </p:cNvPr>
          <p:cNvSpPr/>
          <p:nvPr/>
        </p:nvSpPr>
        <p:spPr>
          <a:xfrm>
            <a:off x="3724712" y="66589"/>
            <a:ext cx="3168103" cy="22746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については新</a:t>
            </a:r>
            <a:r>
              <a:rPr kumimoji="1" lang="en-US" altLang="ja-JP" sz="1000">
                <a:solidFill>
                  <a:schemeClr val="tx1"/>
                </a:solidFill>
                <a:latin typeface="Meiryo UI" panose="020B0604030504040204" pitchFamily="50" charset="-128"/>
                <a:ea typeface="Meiryo UI" panose="020B0604030504040204" pitchFamily="50" charset="-128"/>
              </a:rPr>
              <a:t>ESG</a:t>
            </a:r>
            <a:r>
              <a:rPr kumimoji="1" lang="ja-JP" altLang="en-US" sz="1000">
                <a:solidFill>
                  <a:schemeClr val="tx1"/>
                </a:solidFill>
                <a:latin typeface="Meiryo UI" panose="020B0604030504040204" pitchFamily="50" charset="-128"/>
                <a:ea typeface="Meiryo UI" panose="020B0604030504040204" pitchFamily="50" charset="-128"/>
              </a:rPr>
              <a:t>システムのスコープ外として記載</a:t>
            </a:r>
          </a:p>
        </p:txBody>
      </p:sp>
    </p:spTree>
    <p:extLst>
      <p:ext uri="{BB962C8B-B14F-4D97-AF65-F5344CB8AC3E}">
        <p14:creationId xmlns:p14="http://schemas.microsoft.com/office/powerpoint/2010/main" val="1305841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DF96A-5CE3-AE2A-FFC2-92570ADFE5B6}"/>
            </a:ext>
          </a:extLst>
        </p:cNvPr>
        <p:cNvGrpSpPr/>
        <p:nvPr/>
      </p:nvGrpSpPr>
      <p:grpSpPr>
        <a:xfrm>
          <a:off x="0" y="0"/>
          <a:ext cx="0" cy="0"/>
          <a:chOff x="0" y="0"/>
          <a:chExt cx="0" cy="0"/>
        </a:xfrm>
      </p:grpSpPr>
      <p:sp>
        <p:nvSpPr>
          <p:cNvPr id="66" name="正方形/長方形 65">
            <a:extLst>
              <a:ext uri="{FF2B5EF4-FFF2-40B4-BE49-F238E27FC236}">
                <a16:creationId xmlns:a16="http://schemas.microsoft.com/office/drawing/2014/main" id="{808F6610-4C6A-506C-ECC0-F53BA48B29C5}"/>
              </a:ext>
            </a:extLst>
          </p:cNvPr>
          <p:cNvSpPr/>
          <p:nvPr/>
        </p:nvSpPr>
        <p:spPr>
          <a:xfrm>
            <a:off x="133529" y="2738786"/>
            <a:ext cx="8880153" cy="3583185"/>
          </a:xfrm>
          <a:prstGeom prst="rect">
            <a:avLst/>
          </a:prstGeom>
          <a:solidFill>
            <a:schemeClr val="accent5">
              <a:lumMod val="20000"/>
              <a:lumOff val="8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680899D5-1C5E-8BEF-21C1-71823BA483F5}"/>
              </a:ext>
            </a:extLst>
          </p:cNvPr>
          <p:cNvSpPr/>
          <p:nvPr/>
        </p:nvSpPr>
        <p:spPr>
          <a:xfrm>
            <a:off x="249199" y="2870203"/>
            <a:ext cx="5648012" cy="3144342"/>
          </a:xfrm>
          <a:prstGeom prst="rect">
            <a:avLst/>
          </a:prstGeom>
          <a:solidFill>
            <a:schemeClr val="accent2">
              <a:lumMod val="20000"/>
              <a:lumOff val="80000"/>
            </a:schemeClr>
          </a:solid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E44EAD6E-FB02-55F6-CA70-E37722295FC9}"/>
              </a:ext>
            </a:extLst>
          </p:cNvPr>
          <p:cNvSpPr txBox="1"/>
          <p:nvPr/>
        </p:nvSpPr>
        <p:spPr>
          <a:xfrm>
            <a:off x="3930702" y="1629553"/>
            <a:ext cx="1498600" cy="523220"/>
          </a:xfrm>
          <a:prstGeom prst="rect">
            <a:avLst/>
          </a:prstGeom>
          <a:solidFill>
            <a:schemeClr val="bg1">
              <a:lumMod val="50000"/>
            </a:schemeClr>
          </a:solidFill>
          <a:ln w="12700" algn="ctr">
            <a:solidFill>
              <a:srgbClr val="75787B"/>
            </a:solidFill>
            <a:miter lim="800000"/>
            <a:headEnd type="none" w="sm" len="sm"/>
            <a:tailEnd type="none" w="sm" len="sm"/>
          </a:ln>
        </p:spPr>
        <p:txBody>
          <a:bodyPr wrap="none" lIns="54000" tIns="54000" rIns="54000" bIns="54000" anchor="ctr"/>
          <a:lstStyle>
            <a:defPPr>
              <a:defRPr lang="en-US"/>
            </a:defPPr>
            <a:lvl1pPr algn="ctr">
              <a:defRPr sz="1200">
                <a:solidFill>
                  <a:schemeClr val="bg1"/>
                </a:solidFill>
              </a:defRPr>
            </a:lvl1pPr>
          </a:lstStyle>
          <a:p>
            <a:r>
              <a:rPr lang="ja-JP" altLang="en-US" sz="1600">
                <a:latin typeface="Meiryo UI" panose="020B0604030504040204" pitchFamily="50" charset="-128"/>
                <a:ea typeface="Meiryo UI" panose="020B0604030504040204" pitchFamily="50" charset="-128"/>
              </a:rPr>
              <a:t>出光興産</a:t>
            </a:r>
            <a:endParaRPr lang="en-US" altLang="ja-JP" sz="1600">
              <a:latin typeface="Meiryo UI" panose="020B0604030504040204" pitchFamily="50" charset="-128"/>
              <a:ea typeface="Meiryo UI" panose="020B0604030504040204" pitchFamily="50" charset="-128"/>
            </a:endParaRPr>
          </a:p>
          <a:p>
            <a:r>
              <a:rPr lang="ja-JP" altLang="en-US" sz="1600">
                <a:latin typeface="Meiryo UI" panose="020B0604030504040204" pitchFamily="50" charset="-128"/>
                <a:ea typeface="Meiryo UI" panose="020B0604030504040204" pitchFamily="50" charset="-128"/>
              </a:rPr>
              <a:t>（連結）</a:t>
            </a:r>
          </a:p>
        </p:txBody>
      </p:sp>
      <p:sp>
        <p:nvSpPr>
          <p:cNvPr id="13" name="テキスト ボックス 12">
            <a:extLst>
              <a:ext uri="{FF2B5EF4-FFF2-40B4-BE49-F238E27FC236}">
                <a16:creationId xmlns:a16="http://schemas.microsoft.com/office/drawing/2014/main" id="{858BCA91-6F49-549C-C556-3ED449105F76}"/>
              </a:ext>
            </a:extLst>
          </p:cNvPr>
          <p:cNvSpPr txBox="1"/>
          <p:nvPr/>
        </p:nvSpPr>
        <p:spPr>
          <a:xfrm>
            <a:off x="403347" y="3049055"/>
            <a:ext cx="1200098" cy="684000"/>
          </a:xfrm>
          <a:prstGeom prst="rect">
            <a:avLst/>
          </a:prstGeom>
          <a:solidFill>
            <a:schemeClr val="bg1"/>
          </a:solidFill>
          <a:ln w="22225" algn="ctr">
            <a:solidFill>
              <a:schemeClr val="bg1">
                <a:lumMod val="50000"/>
              </a:schemeClr>
            </a:solidFill>
            <a:miter lim="800000"/>
            <a:headEnd type="none" w="sm" len="sm"/>
            <a:tailEnd type="none" w="sm" len="sm"/>
          </a:ln>
        </p:spPr>
        <p:txBody>
          <a:bodyPr wrap="none" lIns="54000" tIns="54000" rIns="54000" bIns="54000" anchor="ctr"/>
          <a:lstStyle>
            <a:defPPr>
              <a:defRPr lang="en-US"/>
            </a:defPPr>
            <a:lvl1pPr algn="ctr">
              <a:defRPr sz="1200"/>
            </a:lvl1pPr>
          </a:lstStyle>
          <a:p>
            <a:r>
              <a:rPr lang="ja-JP" altLang="en-US">
                <a:latin typeface="Meiryo UI" panose="020B0604030504040204" pitchFamily="50" charset="-128"/>
                <a:ea typeface="Meiryo UI" panose="020B0604030504040204" pitchFamily="50" charset="-128"/>
              </a:rPr>
              <a:t>出光興産</a:t>
            </a:r>
            <a:endParaRPr lang="en-US" altLang="ja-JP">
              <a:latin typeface="Meiryo UI" panose="020B0604030504040204" pitchFamily="50" charset="-128"/>
              <a:ea typeface="Meiryo UI" panose="020B0604030504040204" pitchFamily="50" charset="-128"/>
            </a:endParaRPr>
          </a:p>
          <a:p>
            <a:r>
              <a:rPr lang="ja-JP" altLang="en-US">
                <a:latin typeface="Meiryo UI" panose="020B0604030504040204" pitchFamily="50" charset="-128"/>
                <a:ea typeface="Meiryo UI" panose="020B0604030504040204" pitchFamily="50" charset="-128"/>
              </a:rPr>
              <a:t>（単体）</a:t>
            </a:r>
          </a:p>
        </p:txBody>
      </p:sp>
      <p:sp>
        <p:nvSpPr>
          <p:cNvPr id="14" name="テキスト ボックス 13">
            <a:extLst>
              <a:ext uri="{FF2B5EF4-FFF2-40B4-BE49-F238E27FC236}">
                <a16:creationId xmlns:a16="http://schemas.microsoft.com/office/drawing/2014/main" id="{C0114642-92E4-5F1D-4EB9-4D6610E19222}"/>
              </a:ext>
            </a:extLst>
          </p:cNvPr>
          <p:cNvSpPr txBox="1"/>
          <p:nvPr/>
        </p:nvSpPr>
        <p:spPr>
          <a:xfrm>
            <a:off x="1849425" y="3052101"/>
            <a:ext cx="938800" cy="684000"/>
          </a:xfrm>
          <a:prstGeom prst="rect">
            <a:avLst/>
          </a:prstGeom>
          <a:solidFill>
            <a:schemeClr val="bg1"/>
          </a:solidFill>
          <a:ln w="22225" algn="ctr">
            <a:solidFill>
              <a:schemeClr val="bg1">
                <a:lumMod val="50000"/>
              </a:schemeClr>
            </a:solidFill>
            <a:miter lim="800000"/>
            <a:headEnd type="none" w="sm" len="sm"/>
            <a:tailEnd type="none" w="sm" len="sm"/>
          </a:ln>
        </p:spPr>
        <p:txBody>
          <a:bodyPr wrap="none" lIns="54000" tIns="54000" rIns="54000" bIns="54000" anchor="ctr"/>
          <a:lstStyle>
            <a:defPPr>
              <a:defRPr lang="en-US"/>
            </a:defPPr>
            <a:lvl1pPr algn="ctr">
              <a:defRPr sz="1200"/>
            </a:lvl1pPr>
          </a:lstStyle>
          <a:p>
            <a:r>
              <a:rPr lang="ja-JP" altLang="en-US">
                <a:latin typeface="Meiryo UI" panose="020B0604030504040204" pitchFamily="50" charset="-128"/>
                <a:ea typeface="Meiryo UI" panose="020B0604030504040204" pitchFamily="50" charset="-128"/>
              </a:rPr>
              <a:t>東亜石油</a:t>
            </a:r>
            <a:endParaRPr lang="en-US" altLang="ja-JP">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571877C8-DD28-2E1F-16B9-B708C7FFE95F}"/>
              </a:ext>
            </a:extLst>
          </p:cNvPr>
          <p:cNvSpPr txBox="1"/>
          <p:nvPr/>
        </p:nvSpPr>
        <p:spPr>
          <a:xfrm>
            <a:off x="3034205" y="3049056"/>
            <a:ext cx="1157348" cy="684000"/>
          </a:xfrm>
          <a:prstGeom prst="rect">
            <a:avLst/>
          </a:prstGeom>
          <a:solidFill>
            <a:schemeClr val="bg1"/>
          </a:solidFill>
          <a:ln w="22225" algn="ctr">
            <a:solidFill>
              <a:schemeClr val="bg1">
                <a:lumMod val="50000"/>
              </a:schemeClr>
            </a:solidFill>
            <a:miter lim="800000"/>
            <a:headEnd type="none" w="sm" len="sm"/>
            <a:tailEnd type="none" w="sm" len="sm"/>
          </a:ln>
        </p:spPr>
        <p:txBody>
          <a:bodyPr wrap="none" lIns="54000" tIns="54000" rIns="54000" bIns="54000" anchor="ctr"/>
          <a:lstStyle>
            <a:defPPr>
              <a:defRPr lang="en-US"/>
            </a:defPPr>
            <a:lvl1pPr algn="ctr">
              <a:defRPr sz="1200"/>
            </a:lvl1pPr>
          </a:lstStyle>
          <a:p>
            <a:r>
              <a:rPr lang="ja-JP" altLang="en-US">
                <a:latin typeface="Meiryo UI" panose="020B0604030504040204" pitchFamily="50" charset="-128"/>
                <a:ea typeface="Meiryo UI" panose="020B0604030504040204" pitchFamily="50" charset="-128"/>
              </a:rPr>
              <a:t>昭和四日市</a:t>
            </a:r>
            <a:endParaRPr lang="en-US" altLang="ja-JP">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571E4910-A812-7D9A-F642-696B7EF7EA44}"/>
              </a:ext>
            </a:extLst>
          </p:cNvPr>
          <p:cNvSpPr txBox="1"/>
          <p:nvPr/>
        </p:nvSpPr>
        <p:spPr>
          <a:xfrm>
            <a:off x="4437533" y="3052101"/>
            <a:ext cx="1330100" cy="684000"/>
          </a:xfrm>
          <a:prstGeom prst="rect">
            <a:avLst/>
          </a:prstGeom>
          <a:solidFill>
            <a:schemeClr val="bg1"/>
          </a:solidFill>
          <a:ln w="22225" algn="ctr">
            <a:solidFill>
              <a:schemeClr val="bg1">
                <a:lumMod val="50000"/>
              </a:schemeClr>
            </a:solidFill>
            <a:miter lim="800000"/>
            <a:headEnd type="none" w="sm" len="sm"/>
            <a:tailEnd type="none" w="sm" len="sm"/>
          </a:ln>
        </p:spPr>
        <p:txBody>
          <a:bodyPr wrap="none" lIns="54000" tIns="54000" rIns="54000" bIns="54000" anchor="ctr"/>
          <a:lstStyle>
            <a:defPPr>
              <a:defRPr lang="en-US"/>
            </a:defPPr>
            <a:lvl1pPr algn="ctr">
              <a:defRPr sz="1200"/>
            </a:lvl1pPr>
          </a:lstStyle>
          <a:p>
            <a:r>
              <a:rPr lang="ja-JP" altLang="en-US">
                <a:latin typeface="Meiryo UI" panose="020B0604030504040204" pitchFamily="50" charset="-128"/>
                <a:ea typeface="Meiryo UI" panose="020B0604030504040204" pitchFamily="50" charset="-128"/>
              </a:rPr>
              <a:t>その他子会社</a:t>
            </a:r>
            <a:endParaRPr lang="en-US" altLang="ja-JP">
              <a:latin typeface="Meiryo UI" panose="020B0604030504040204" pitchFamily="50" charset="-128"/>
              <a:ea typeface="Meiryo UI" panose="020B0604030504040204" pitchFamily="50" charset="-128"/>
            </a:endParaRPr>
          </a:p>
          <a:p>
            <a:r>
              <a:rPr lang="ja-JP" altLang="en-US">
                <a:latin typeface="Meiryo UI" panose="020B0604030504040204" pitchFamily="50" charset="-128"/>
                <a:ea typeface="Meiryo UI" panose="020B0604030504040204" pitchFamily="50" charset="-128"/>
              </a:rPr>
              <a:t>（国内）</a:t>
            </a:r>
            <a:endParaRPr lang="en-US" altLang="ja-JP">
              <a:latin typeface="Meiryo UI" panose="020B0604030504040204" pitchFamily="50" charset="-128"/>
              <a:ea typeface="Meiryo UI" panose="020B0604030504040204" pitchFamily="50" charset="-128"/>
            </a:endParaRPr>
          </a:p>
          <a:p>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温対法対象</a:t>
            </a:r>
          </a:p>
        </p:txBody>
      </p:sp>
      <p:sp>
        <p:nvSpPr>
          <p:cNvPr id="19" name="テキスト ボックス 18">
            <a:extLst>
              <a:ext uri="{FF2B5EF4-FFF2-40B4-BE49-F238E27FC236}">
                <a16:creationId xmlns:a16="http://schemas.microsoft.com/office/drawing/2014/main" id="{ADC2B93A-D12B-1B89-7E4D-0E08E47F74C7}"/>
              </a:ext>
            </a:extLst>
          </p:cNvPr>
          <p:cNvSpPr txBox="1"/>
          <p:nvPr/>
        </p:nvSpPr>
        <p:spPr>
          <a:xfrm>
            <a:off x="6013613" y="3049056"/>
            <a:ext cx="1330100" cy="684000"/>
          </a:xfrm>
          <a:prstGeom prst="rect">
            <a:avLst/>
          </a:prstGeom>
          <a:solidFill>
            <a:schemeClr val="bg1"/>
          </a:solidFill>
          <a:ln w="22225" algn="ctr">
            <a:solidFill>
              <a:schemeClr val="bg1">
                <a:lumMod val="50000"/>
              </a:schemeClr>
            </a:solidFill>
            <a:miter lim="800000"/>
            <a:headEnd type="none" w="sm" len="sm"/>
            <a:tailEnd type="none" w="sm" len="sm"/>
          </a:ln>
        </p:spPr>
        <p:txBody>
          <a:bodyPr wrap="none" lIns="54000" tIns="54000" rIns="54000" bIns="54000" anchor="ctr"/>
          <a:lstStyle>
            <a:defPPr>
              <a:defRPr lang="en-US"/>
            </a:defPPr>
            <a:lvl1pPr algn="ctr">
              <a:defRPr sz="1200"/>
            </a:lvl1pPr>
          </a:lstStyle>
          <a:p>
            <a:r>
              <a:rPr lang="ja-JP" altLang="en-US">
                <a:latin typeface="Meiryo UI" panose="020B0604030504040204" pitchFamily="50" charset="-128"/>
                <a:ea typeface="Meiryo UI" panose="020B0604030504040204" pitchFamily="50" charset="-128"/>
              </a:rPr>
              <a:t>その他子会社</a:t>
            </a:r>
            <a:endParaRPr lang="en-US" altLang="ja-JP">
              <a:latin typeface="Meiryo UI" panose="020B0604030504040204" pitchFamily="50" charset="-128"/>
              <a:ea typeface="Meiryo UI" panose="020B0604030504040204" pitchFamily="50" charset="-128"/>
            </a:endParaRPr>
          </a:p>
          <a:p>
            <a:r>
              <a:rPr lang="ja-JP" altLang="en-US">
                <a:latin typeface="Meiryo UI" panose="020B0604030504040204" pitchFamily="50" charset="-128"/>
                <a:ea typeface="Meiryo UI" panose="020B0604030504040204" pitchFamily="50" charset="-128"/>
              </a:rPr>
              <a:t>（国内）</a:t>
            </a:r>
            <a:endParaRPr lang="en-US" altLang="ja-JP">
              <a:latin typeface="Meiryo UI" panose="020B0604030504040204" pitchFamily="50" charset="-128"/>
              <a:ea typeface="Meiryo UI" panose="020B0604030504040204" pitchFamily="50" charset="-128"/>
            </a:endParaRPr>
          </a:p>
          <a:p>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温対法対象外</a:t>
            </a:r>
          </a:p>
        </p:txBody>
      </p:sp>
      <p:sp>
        <p:nvSpPr>
          <p:cNvPr id="20" name="テキスト ボックス 19">
            <a:extLst>
              <a:ext uri="{FF2B5EF4-FFF2-40B4-BE49-F238E27FC236}">
                <a16:creationId xmlns:a16="http://schemas.microsoft.com/office/drawing/2014/main" id="{CC7C49D1-1838-8F03-909B-2B14AC8BB1BF}"/>
              </a:ext>
            </a:extLst>
          </p:cNvPr>
          <p:cNvSpPr txBox="1"/>
          <p:nvPr/>
        </p:nvSpPr>
        <p:spPr>
          <a:xfrm>
            <a:off x="7589692" y="3049056"/>
            <a:ext cx="1330100" cy="684000"/>
          </a:xfrm>
          <a:prstGeom prst="rect">
            <a:avLst/>
          </a:prstGeom>
          <a:solidFill>
            <a:schemeClr val="bg1"/>
          </a:solidFill>
          <a:ln w="22225" algn="ctr">
            <a:solidFill>
              <a:schemeClr val="bg1">
                <a:lumMod val="50000"/>
              </a:schemeClr>
            </a:solidFill>
            <a:miter lim="800000"/>
            <a:headEnd type="none" w="sm" len="sm"/>
            <a:tailEnd type="none" w="sm" len="sm"/>
          </a:ln>
        </p:spPr>
        <p:txBody>
          <a:bodyPr wrap="none" lIns="54000" tIns="54000" rIns="54000" bIns="54000" anchor="ctr"/>
          <a:lstStyle>
            <a:defPPr>
              <a:defRPr lang="en-US"/>
            </a:defPPr>
            <a:lvl1pPr algn="ctr">
              <a:defRPr sz="1200"/>
            </a:lvl1pPr>
          </a:lstStyle>
          <a:p>
            <a:r>
              <a:rPr lang="ja-JP" altLang="en-US">
                <a:latin typeface="Meiryo UI" panose="020B0604030504040204" pitchFamily="50" charset="-128"/>
                <a:ea typeface="Meiryo UI" panose="020B0604030504040204" pitchFamily="50" charset="-128"/>
              </a:rPr>
              <a:t>その他子会社</a:t>
            </a:r>
            <a:endParaRPr lang="en-US" altLang="ja-JP">
              <a:latin typeface="Meiryo UI" panose="020B0604030504040204" pitchFamily="50" charset="-128"/>
              <a:ea typeface="Meiryo UI" panose="020B0604030504040204" pitchFamily="50" charset="-128"/>
            </a:endParaRPr>
          </a:p>
          <a:p>
            <a:r>
              <a:rPr lang="ja-JP" altLang="en-US">
                <a:latin typeface="Meiryo UI" panose="020B0604030504040204" pitchFamily="50" charset="-128"/>
                <a:ea typeface="Meiryo UI" panose="020B0604030504040204" pitchFamily="50" charset="-128"/>
              </a:rPr>
              <a:t>（海外）</a:t>
            </a:r>
          </a:p>
        </p:txBody>
      </p:sp>
      <p:sp>
        <p:nvSpPr>
          <p:cNvPr id="21" name="テキスト ボックス 20">
            <a:extLst>
              <a:ext uri="{FF2B5EF4-FFF2-40B4-BE49-F238E27FC236}">
                <a16:creationId xmlns:a16="http://schemas.microsoft.com/office/drawing/2014/main" id="{B60045FE-DD00-5E20-49A1-E7B852632672}"/>
              </a:ext>
            </a:extLst>
          </p:cNvPr>
          <p:cNvSpPr txBox="1"/>
          <p:nvPr/>
        </p:nvSpPr>
        <p:spPr>
          <a:xfrm>
            <a:off x="555747" y="4471604"/>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製油所事業所</a:t>
            </a:r>
          </a:p>
        </p:txBody>
      </p:sp>
      <p:sp>
        <p:nvSpPr>
          <p:cNvPr id="23" name="テキスト ボックス 22">
            <a:extLst>
              <a:ext uri="{FF2B5EF4-FFF2-40B4-BE49-F238E27FC236}">
                <a16:creationId xmlns:a16="http://schemas.microsoft.com/office/drawing/2014/main" id="{8AFF8B5C-3EB9-C0D4-7D4E-4D30045CBF7B}"/>
              </a:ext>
            </a:extLst>
          </p:cNvPr>
          <p:cNvSpPr txBox="1"/>
          <p:nvPr/>
        </p:nvSpPr>
        <p:spPr>
          <a:xfrm>
            <a:off x="1102177" y="4471604"/>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その他拠点</a:t>
            </a:r>
          </a:p>
        </p:txBody>
      </p:sp>
      <p:sp>
        <p:nvSpPr>
          <p:cNvPr id="24" name="テキスト ボックス 23">
            <a:extLst>
              <a:ext uri="{FF2B5EF4-FFF2-40B4-BE49-F238E27FC236}">
                <a16:creationId xmlns:a16="http://schemas.microsoft.com/office/drawing/2014/main" id="{B4C3BD98-5221-55F1-E7CE-0B93B622081C}"/>
              </a:ext>
            </a:extLst>
          </p:cNvPr>
          <p:cNvSpPr txBox="1"/>
          <p:nvPr/>
        </p:nvSpPr>
        <p:spPr>
          <a:xfrm>
            <a:off x="1883687" y="4503585"/>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京浜製油所</a:t>
            </a:r>
          </a:p>
        </p:txBody>
      </p:sp>
      <p:sp>
        <p:nvSpPr>
          <p:cNvPr id="25" name="テキスト ボックス 24">
            <a:extLst>
              <a:ext uri="{FF2B5EF4-FFF2-40B4-BE49-F238E27FC236}">
                <a16:creationId xmlns:a16="http://schemas.microsoft.com/office/drawing/2014/main" id="{068B4325-22A5-4081-2369-1991F108EF25}"/>
              </a:ext>
            </a:extLst>
          </p:cNvPr>
          <p:cNvSpPr txBox="1"/>
          <p:nvPr/>
        </p:nvSpPr>
        <p:spPr>
          <a:xfrm>
            <a:off x="2430117" y="4503585"/>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その他拠点</a:t>
            </a:r>
          </a:p>
        </p:txBody>
      </p:sp>
      <p:sp>
        <p:nvSpPr>
          <p:cNvPr id="26" name="テキスト ボックス 25">
            <a:extLst>
              <a:ext uri="{FF2B5EF4-FFF2-40B4-BE49-F238E27FC236}">
                <a16:creationId xmlns:a16="http://schemas.microsoft.com/office/drawing/2014/main" id="{6D831353-36D5-BB86-9445-F25E43A79E7F}"/>
              </a:ext>
            </a:extLst>
          </p:cNvPr>
          <p:cNvSpPr txBox="1"/>
          <p:nvPr/>
        </p:nvSpPr>
        <p:spPr>
          <a:xfrm>
            <a:off x="3171355" y="4490886"/>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四日市製油所</a:t>
            </a:r>
          </a:p>
        </p:txBody>
      </p:sp>
      <p:sp>
        <p:nvSpPr>
          <p:cNvPr id="27" name="テキスト ボックス 26">
            <a:extLst>
              <a:ext uri="{FF2B5EF4-FFF2-40B4-BE49-F238E27FC236}">
                <a16:creationId xmlns:a16="http://schemas.microsoft.com/office/drawing/2014/main" id="{3D2E5425-AB33-ECD0-EA30-E12C3B228FBA}"/>
              </a:ext>
            </a:extLst>
          </p:cNvPr>
          <p:cNvSpPr txBox="1"/>
          <p:nvPr/>
        </p:nvSpPr>
        <p:spPr>
          <a:xfrm>
            <a:off x="3717785" y="4490885"/>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その他拠点</a:t>
            </a:r>
          </a:p>
        </p:txBody>
      </p:sp>
      <p:sp>
        <p:nvSpPr>
          <p:cNvPr id="28" name="テキスト ボックス 27">
            <a:extLst>
              <a:ext uri="{FF2B5EF4-FFF2-40B4-BE49-F238E27FC236}">
                <a16:creationId xmlns:a16="http://schemas.microsoft.com/office/drawing/2014/main" id="{9DEEA49D-11EA-D72B-27C0-7FA73CED6D9E}"/>
              </a:ext>
            </a:extLst>
          </p:cNvPr>
          <p:cNvSpPr txBox="1"/>
          <p:nvPr/>
        </p:nvSpPr>
        <p:spPr>
          <a:xfrm>
            <a:off x="4929607" y="4516723"/>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子会社拠点</a:t>
            </a:r>
          </a:p>
        </p:txBody>
      </p:sp>
      <p:sp>
        <p:nvSpPr>
          <p:cNvPr id="29" name="テキスト ボックス 28">
            <a:extLst>
              <a:ext uri="{FF2B5EF4-FFF2-40B4-BE49-F238E27FC236}">
                <a16:creationId xmlns:a16="http://schemas.microsoft.com/office/drawing/2014/main" id="{CC0AB50D-3A4F-A780-FF94-6067BAC95419}"/>
              </a:ext>
            </a:extLst>
          </p:cNvPr>
          <p:cNvSpPr txBox="1"/>
          <p:nvPr/>
        </p:nvSpPr>
        <p:spPr>
          <a:xfrm>
            <a:off x="6505687" y="4528985"/>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子会社拠点</a:t>
            </a:r>
          </a:p>
        </p:txBody>
      </p:sp>
      <p:sp>
        <p:nvSpPr>
          <p:cNvPr id="30" name="テキスト ボックス 29">
            <a:extLst>
              <a:ext uri="{FF2B5EF4-FFF2-40B4-BE49-F238E27FC236}">
                <a16:creationId xmlns:a16="http://schemas.microsoft.com/office/drawing/2014/main" id="{128A1018-5B01-5AEA-EBB5-CF97DC34524B}"/>
              </a:ext>
            </a:extLst>
          </p:cNvPr>
          <p:cNvSpPr txBox="1"/>
          <p:nvPr/>
        </p:nvSpPr>
        <p:spPr>
          <a:xfrm>
            <a:off x="8081766" y="4552804"/>
            <a:ext cx="345953" cy="1198800"/>
          </a:xfrm>
          <a:prstGeom prst="rect">
            <a:avLst/>
          </a:prstGeom>
          <a:solidFill>
            <a:schemeClr val="bg1"/>
          </a:solidFill>
          <a:ln w="15875">
            <a:solidFill>
              <a:schemeClr val="bg1">
                <a:lumMod val="50000"/>
              </a:schemeClr>
            </a:solidFill>
          </a:ln>
        </p:spPr>
        <p:txBody>
          <a:bodyPr wrap="square" rtlCol="0" anchor="ctr">
            <a:noAutofit/>
          </a:bodyPr>
          <a:lstStyle/>
          <a:p>
            <a:pPr algn="ctr"/>
            <a:r>
              <a:rPr kumimoji="1" lang="ja-JP" altLang="en-US" sz="1200">
                <a:latin typeface="Meiryo UI" panose="020B0604030504040204" pitchFamily="50" charset="-128"/>
                <a:ea typeface="Meiryo UI" panose="020B0604030504040204" pitchFamily="50" charset="-128"/>
              </a:rPr>
              <a:t>子会社拠点</a:t>
            </a:r>
          </a:p>
        </p:txBody>
      </p:sp>
      <p:cxnSp>
        <p:nvCxnSpPr>
          <p:cNvPr id="56" name="直線コネクタ 55">
            <a:extLst>
              <a:ext uri="{FF2B5EF4-FFF2-40B4-BE49-F238E27FC236}">
                <a16:creationId xmlns:a16="http://schemas.microsoft.com/office/drawing/2014/main" id="{BC9AE4D4-429B-6E74-A396-329712A40760}"/>
              </a:ext>
            </a:extLst>
          </p:cNvPr>
          <p:cNvCxnSpPr>
            <a:cxnSpLocks/>
            <a:stCxn id="16" idx="2"/>
            <a:endCxn id="28" idx="0"/>
          </p:cNvCxnSpPr>
          <p:nvPr/>
        </p:nvCxnSpPr>
        <p:spPr>
          <a:xfrm>
            <a:off x="5102583" y="3736101"/>
            <a:ext cx="1" cy="780622"/>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0E00BB44-5F67-55FF-E10A-9E221AA839C1}"/>
              </a:ext>
            </a:extLst>
          </p:cNvPr>
          <p:cNvCxnSpPr>
            <a:cxnSpLocks/>
            <a:stCxn id="19" idx="2"/>
            <a:endCxn id="29" idx="0"/>
          </p:cNvCxnSpPr>
          <p:nvPr/>
        </p:nvCxnSpPr>
        <p:spPr>
          <a:xfrm>
            <a:off x="6678663" y="3733056"/>
            <a:ext cx="1" cy="795929"/>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C0CE5E34-7906-9553-95BE-3F9823A366F9}"/>
              </a:ext>
            </a:extLst>
          </p:cNvPr>
          <p:cNvCxnSpPr>
            <a:cxnSpLocks/>
            <a:stCxn id="20" idx="2"/>
            <a:endCxn id="30" idx="0"/>
          </p:cNvCxnSpPr>
          <p:nvPr/>
        </p:nvCxnSpPr>
        <p:spPr>
          <a:xfrm>
            <a:off x="8254742" y="3733056"/>
            <a:ext cx="1" cy="819748"/>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B5D37697-43FC-F255-5E1B-2E659A991EA1}"/>
              </a:ext>
            </a:extLst>
          </p:cNvPr>
          <p:cNvSpPr/>
          <p:nvPr/>
        </p:nvSpPr>
        <p:spPr>
          <a:xfrm>
            <a:off x="387632" y="1751509"/>
            <a:ext cx="2891107" cy="741194"/>
          </a:xfrm>
          <a:prstGeom prst="rect">
            <a:avLst/>
          </a:prstGeom>
          <a:solidFill>
            <a:schemeClr val="bg1"/>
          </a:solid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r>
              <a:rPr kumimoji="1" lang="ja-JP" altLang="en-US" sz="1400" b="1" u="sng">
                <a:solidFill>
                  <a:schemeClr val="tx1"/>
                </a:solidFill>
                <a:latin typeface="Meiryo UI" panose="020B0604030504040204" pitchFamily="50" charset="-128"/>
                <a:ea typeface="Meiryo UI" panose="020B0604030504040204" pitchFamily="50" charset="-128"/>
              </a:rPr>
              <a:t>基準により、集計対象とする組織を可変にしたい</a:t>
            </a:r>
            <a:r>
              <a:rPr kumimoji="1" lang="ja-JP" altLang="en-US" sz="1400">
                <a:solidFill>
                  <a:schemeClr val="tx1"/>
                </a:solidFill>
                <a:latin typeface="Meiryo UI" panose="020B0604030504040204" pitchFamily="50" charset="-128"/>
                <a:ea typeface="Meiryo UI" panose="020B0604030504040204" pitchFamily="50" charset="-128"/>
              </a:rPr>
              <a:t>（図の例では、東亜石油株式会社は</a:t>
            </a:r>
            <a:r>
              <a:rPr kumimoji="1" lang="en-US" altLang="ja-JP" sz="1400">
                <a:solidFill>
                  <a:schemeClr val="tx1"/>
                </a:solidFill>
                <a:highlight>
                  <a:srgbClr val="FFFF00"/>
                </a:highlight>
                <a:latin typeface="Meiryo UI" panose="020B0604030504040204" pitchFamily="50" charset="-128"/>
                <a:ea typeface="Meiryo UI" panose="020B0604030504040204" pitchFamily="50" charset="-128"/>
              </a:rPr>
              <a:t>SSBJ</a:t>
            </a:r>
            <a:r>
              <a:rPr kumimoji="1" lang="ja-JP" altLang="en-US" sz="1400">
                <a:solidFill>
                  <a:schemeClr val="tx1"/>
                </a:solidFill>
                <a:highlight>
                  <a:srgbClr val="FFFF00"/>
                </a:highlight>
                <a:latin typeface="Meiryo UI" panose="020B0604030504040204" pitchFamily="50" charset="-128"/>
                <a:ea typeface="Meiryo UI" panose="020B0604030504040204" pitchFamily="50" charset="-128"/>
              </a:rPr>
              <a:t>・温対法</a:t>
            </a:r>
            <a:r>
              <a:rPr kumimoji="1" lang="ja-JP" altLang="en-US" sz="1400">
                <a:solidFill>
                  <a:schemeClr val="tx1"/>
                </a:solidFill>
                <a:latin typeface="Meiryo UI" panose="020B0604030504040204" pitchFamily="50" charset="-128"/>
                <a:ea typeface="Meiryo UI" panose="020B0604030504040204" pitchFamily="50" charset="-128"/>
              </a:rPr>
              <a:t>の集計対象）</a:t>
            </a:r>
          </a:p>
        </p:txBody>
      </p:sp>
      <p:cxnSp>
        <p:nvCxnSpPr>
          <p:cNvPr id="7" name="コネクタ: カギ線 6">
            <a:extLst>
              <a:ext uri="{FF2B5EF4-FFF2-40B4-BE49-F238E27FC236}">
                <a16:creationId xmlns:a16="http://schemas.microsoft.com/office/drawing/2014/main" id="{0B2D892D-E4D4-2269-87BF-CEEFA2EA0E02}"/>
              </a:ext>
            </a:extLst>
          </p:cNvPr>
          <p:cNvCxnSpPr>
            <a:stCxn id="15" idx="2"/>
            <a:endCxn id="26" idx="0"/>
          </p:cNvCxnSpPr>
          <p:nvPr/>
        </p:nvCxnSpPr>
        <p:spPr>
          <a:xfrm rot="5400000">
            <a:off x="3099691" y="3977698"/>
            <a:ext cx="757830" cy="268547"/>
          </a:xfrm>
          <a:prstGeom prst="bentConnector3">
            <a:avLst/>
          </a:prstGeom>
          <a:noFill/>
          <a:ln w="22225">
            <a:solidFill>
              <a:schemeClr val="bg1">
                <a:lumMod val="50000"/>
              </a:schemeClr>
            </a:solidFill>
            <a:miter lim="800000"/>
            <a:headEnd/>
            <a:tailEnd/>
          </a:ln>
        </p:spPr>
      </p:cxnSp>
      <p:cxnSp>
        <p:nvCxnSpPr>
          <p:cNvPr id="8" name="コネクタ: カギ線 7">
            <a:extLst>
              <a:ext uri="{FF2B5EF4-FFF2-40B4-BE49-F238E27FC236}">
                <a16:creationId xmlns:a16="http://schemas.microsoft.com/office/drawing/2014/main" id="{CB9B7B6A-1453-31BB-E3AC-9B75B4CD9153}"/>
              </a:ext>
            </a:extLst>
          </p:cNvPr>
          <p:cNvCxnSpPr>
            <a:cxnSpLocks/>
            <a:stCxn id="15" idx="2"/>
            <a:endCxn id="27" idx="0"/>
          </p:cNvCxnSpPr>
          <p:nvPr/>
        </p:nvCxnSpPr>
        <p:spPr>
          <a:xfrm rot="16200000" flipH="1">
            <a:off x="3372906" y="3973028"/>
            <a:ext cx="757829" cy="277883"/>
          </a:xfrm>
          <a:prstGeom prst="bentConnector3">
            <a:avLst/>
          </a:prstGeom>
          <a:noFill/>
          <a:ln w="22225">
            <a:solidFill>
              <a:schemeClr val="bg1">
                <a:lumMod val="50000"/>
              </a:schemeClr>
            </a:solidFill>
            <a:miter lim="800000"/>
            <a:headEnd/>
            <a:tailEnd/>
          </a:ln>
        </p:spPr>
      </p:cxnSp>
      <p:cxnSp>
        <p:nvCxnSpPr>
          <p:cNvPr id="18" name="コネクタ: カギ線 17">
            <a:extLst>
              <a:ext uri="{FF2B5EF4-FFF2-40B4-BE49-F238E27FC236}">
                <a16:creationId xmlns:a16="http://schemas.microsoft.com/office/drawing/2014/main" id="{925BE62C-5857-813B-9589-F4226B146678}"/>
              </a:ext>
            </a:extLst>
          </p:cNvPr>
          <p:cNvCxnSpPr>
            <a:cxnSpLocks/>
            <a:stCxn id="14" idx="2"/>
            <a:endCxn id="24" idx="0"/>
          </p:cNvCxnSpPr>
          <p:nvPr/>
        </p:nvCxnSpPr>
        <p:spPr>
          <a:xfrm rot="5400000">
            <a:off x="1804003" y="3988763"/>
            <a:ext cx="767484" cy="262161"/>
          </a:xfrm>
          <a:prstGeom prst="bentConnector3">
            <a:avLst/>
          </a:prstGeom>
          <a:noFill/>
          <a:ln w="22225">
            <a:solidFill>
              <a:schemeClr val="bg1">
                <a:lumMod val="50000"/>
              </a:schemeClr>
            </a:solidFill>
            <a:miter lim="800000"/>
            <a:headEnd/>
            <a:tailEnd/>
          </a:ln>
        </p:spPr>
      </p:cxnSp>
      <p:cxnSp>
        <p:nvCxnSpPr>
          <p:cNvPr id="22" name="コネクタ: カギ線 21">
            <a:extLst>
              <a:ext uri="{FF2B5EF4-FFF2-40B4-BE49-F238E27FC236}">
                <a16:creationId xmlns:a16="http://schemas.microsoft.com/office/drawing/2014/main" id="{67858660-50D4-03D3-A574-D9687B25A3FF}"/>
              </a:ext>
            </a:extLst>
          </p:cNvPr>
          <p:cNvCxnSpPr>
            <a:cxnSpLocks/>
            <a:stCxn id="14" idx="2"/>
            <a:endCxn id="25" idx="0"/>
          </p:cNvCxnSpPr>
          <p:nvPr/>
        </p:nvCxnSpPr>
        <p:spPr>
          <a:xfrm rot="16200000" flipH="1">
            <a:off x="2077217" y="3977708"/>
            <a:ext cx="767484" cy="284269"/>
          </a:xfrm>
          <a:prstGeom prst="bentConnector3">
            <a:avLst/>
          </a:prstGeom>
          <a:noFill/>
          <a:ln w="22225">
            <a:solidFill>
              <a:schemeClr val="bg1">
                <a:lumMod val="50000"/>
              </a:schemeClr>
            </a:solidFill>
            <a:miter lim="800000"/>
            <a:headEnd/>
            <a:tailEnd/>
          </a:ln>
        </p:spPr>
      </p:cxnSp>
      <p:cxnSp>
        <p:nvCxnSpPr>
          <p:cNvPr id="31" name="コネクタ: カギ線 30">
            <a:extLst>
              <a:ext uri="{FF2B5EF4-FFF2-40B4-BE49-F238E27FC236}">
                <a16:creationId xmlns:a16="http://schemas.microsoft.com/office/drawing/2014/main" id="{6FE14D09-B781-9498-A8E1-7920D17BAEF3}"/>
              </a:ext>
            </a:extLst>
          </p:cNvPr>
          <p:cNvCxnSpPr>
            <a:cxnSpLocks/>
            <a:stCxn id="13" idx="2"/>
            <a:endCxn id="21" idx="0"/>
          </p:cNvCxnSpPr>
          <p:nvPr/>
        </p:nvCxnSpPr>
        <p:spPr>
          <a:xfrm rot="5400000">
            <a:off x="496786" y="3964993"/>
            <a:ext cx="738549" cy="274672"/>
          </a:xfrm>
          <a:prstGeom prst="bentConnector3">
            <a:avLst/>
          </a:prstGeom>
          <a:noFill/>
          <a:ln w="22225">
            <a:solidFill>
              <a:schemeClr val="bg1">
                <a:lumMod val="50000"/>
              </a:schemeClr>
            </a:solidFill>
            <a:miter lim="800000"/>
            <a:headEnd/>
            <a:tailEnd/>
          </a:ln>
        </p:spPr>
      </p:cxnSp>
      <p:cxnSp>
        <p:nvCxnSpPr>
          <p:cNvPr id="40" name="コネクタ: カギ線 39">
            <a:extLst>
              <a:ext uri="{FF2B5EF4-FFF2-40B4-BE49-F238E27FC236}">
                <a16:creationId xmlns:a16="http://schemas.microsoft.com/office/drawing/2014/main" id="{28279852-E63E-AAAD-0521-2C1AE3D39698}"/>
              </a:ext>
            </a:extLst>
          </p:cNvPr>
          <p:cNvCxnSpPr>
            <a:cxnSpLocks/>
            <a:stCxn id="13" idx="2"/>
            <a:endCxn id="23" idx="0"/>
          </p:cNvCxnSpPr>
          <p:nvPr/>
        </p:nvCxnSpPr>
        <p:spPr>
          <a:xfrm rot="16200000" flipH="1">
            <a:off x="770001" y="3966450"/>
            <a:ext cx="738549" cy="271758"/>
          </a:xfrm>
          <a:prstGeom prst="bentConnector3">
            <a:avLst/>
          </a:prstGeom>
          <a:noFill/>
          <a:ln w="22225">
            <a:solidFill>
              <a:schemeClr val="bg1">
                <a:lumMod val="50000"/>
              </a:schemeClr>
            </a:solidFill>
            <a:miter lim="800000"/>
            <a:headEnd/>
            <a:tailEnd/>
          </a:ln>
        </p:spPr>
      </p:cxnSp>
      <p:cxnSp>
        <p:nvCxnSpPr>
          <p:cNvPr id="78" name="コネクタ: カギ線 77">
            <a:extLst>
              <a:ext uri="{FF2B5EF4-FFF2-40B4-BE49-F238E27FC236}">
                <a16:creationId xmlns:a16="http://schemas.microsoft.com/office/drawing/2014/main" id="{CEC7CD30-DFB6-B770-A41F-11B9E12C2F92}"/>
              </a:ext>
            </a:extLst>
          </p:cNvPr>
          <p:cNvCxnSpPr>
            <a:cxnSpLocks/>
            <a:stCxn id="12" idx="2"/>
            <a:endCxn id="13" idx="0"/>
          </p:cNvCxnSpPr>
          <p:nvPr/>
        </p:nvCxnSpPr>
        <p:spPr>
          <a:xfrm rot="5400000">
            <a:off x="2362781" y="731833"/>
            <a:ext cx="957837" cy="3676606"/>
          </a:xfrm>
          <a:prstGeom prst="bentConnector3">
            <a:avLst>
              <a:gd name="adj1" fmla="val 50000"/>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コネクタ: カギ線 80">
            <a:extLst>
              <a:ext uri="{FF2B5EF4-FFF2-40B4-BE49-F238E27FC236}">
                <a16:creationId xmlns:a16="http://schemas.microsoft.com/office/drawing/2014/main" id="{08A7ED52-8D42-4B1C-E210-B2F98B505493}"/>
              </a:ext>
            </a:extLst>
          </p:cNvPr>
          <p:cNvCxnSpPr>
            <a:cxnSpLocks/>
            <a:stCxn id="14" idx="0"/>
            <a:endCxn id="12" idx="2"/>
          </p:cNvCxnSpPr>
          <p:nvPr/>
        </p:nvCxnSpPr>
        <p:spPr>
          <a:xfrm rot="5400000" flipH="1" flipV="1">
            <a:off x="3018972" y="1391072"/>
            <a:ext cx="960883" cy="2361177"/>
          </a:xfrm>
          <a:prstGeom prst="bentConnector3">
            <a:avLst>
              <a:gd name="adj1" fmla="val 50000"/>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ACB6C635-F0B0-63C2-80E8-6B6411476A96}"/>
              </a:ext>
            </a:extLst>
          </p:cNvPr>
          <p:cNvCxnSpPr>
            <a:cxnSpLocks/>
            <a:stCxn id="15" idx="0"/>
            <a:endCxn id="12" idx="2"/>
          </p:cNvCxnSpPr>
          <p:nvPr/>
        </p:nvCxnSpPr>
        <p:spPr>
          <a:xfrm rot="5400000" flipH="1" flipV="1">
            <a:off x="3667521" y="2036576"/>
            <a:ext cx="957838" cy="1067123"/>
          </a:xfrm>
          <a:prstGeom prst="bentConnector3">
            <a:avLst>
              <a:gd name="adj1" fmla="val 50000"/>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コネクタ: カギ線 87">
            <a:extLst>
              <a:ext uri="{FF2B5EF4-FFF2-40B4-BE49-F238E27FC236}">
                <a16:creationId xmlns:a16="http://schemas.microsoft.com/office/drawing/2014/main" id="{955F05D4-730A-013D-10F1-01BF7B58EA04}"/>
              </a:ext>
            </a:extLst>
          </p:cNvPr>
          <p:cNvCxnSpPr>
            <a:cxnSpLocks/>
            <a:stCxn id="16" idx="0"/>
            <a:endCxn id="12" idx="2"/>
          </p:cNvCxnSpPr>
          <p:nvPr/>
        </p:nvCxnSpPr>
        <p:spPr>
          <a:xfrm rot="16200000" flipV="1">
            <a:off x="4410852" y="2360369"/>
            <a:ext cx="960883" cy="422581"/>
          </a:xfrm>
          <a:prstGeom prst="bentConnector3">
            <a:avLst>
              <a:gd name="adj1" fmla="val 50000"/>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コネクタ: カギ線 90">
            <a:extLst>
              <a:ext uri="{FF2B5EF4-FFF2-40B4-BE49-F238E27FC236}">
                <a16:creationId xmlns:a16="http://schemas.microsoft.com/office/drawing/2014/main" id="{E606012D-DBC3-F386-02FB-B988D42F5DF5}"/>
              </a:ext>
            </a:extLst>
          </p:cNvPr>
          <p:cNvCxnSpPr>
            <a:cxnSpLocks/>
            <a:stCxn id="19" idx="0"/>
            <a:endCxn id="12" idx="2"/>
          </p:cNvCxnSpPr>
          <p:nvPr/>
        </p:nvCxnSpPr>
        <p:spPr>
          <a:xfrm rot="16200000" flipV="1">
            <a:off x="5200414" y="1570806"/>
            <a:ext cx="957838" cy="1998661"/>
          </a:xfrm>
          <a:prstGeom prst="bentConnector3">
            <a:avLst>
              <a:gd name="adj1" fmla="val 50000"/>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コネクタ: カギ線 93">
            <a:extLst>
              <a:ext uri="{FF2B5EF4-FFF2-40B4-BE49-F238E27FC236}">
                <a16:creationId xmlns:a16="http://schemas.microsoft.com/office/drawing/2014/main" id="{66202F21-358F-3971-69F2-7B01A66FB5D0}"/>
              </a:ext>
            </a:extLst>
          </p:cNvPr>
          <p:cNvCxnSpPr>
            <a:cxnSpLocks/>
            <a:stCxn id="20" idx="0"/>
            <a:endCxn id="12" idx="2"/>
          </p:cNvCxnSpPr>
          <p:nvPr/>
        </p:nvCxnSpPr>
        <p:spPr>
          <a:xfrm rot="16200000" flipV="1">
            <a:off x="5988453" y="782767"/>
            <a:ext cx="957838" cy="3574740"/>
          </a:xfrm>
          <a:prstGeom prst="bentConnector3">
            <a:avLst>
              <a:gd name="adj1" fmla="val 50000"/>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01BC8440-425F-7A7B-5BCD-A2A23A209EF8}"/>
              </a:ext>
            </a:extLst>
          </p:cNvPr>
          <p:cNvCxnSpPr>
            <a:cxnSpLocks/>
            <a:stCxn id="2" idx="2"/>
          </p:cNvCxnSpPr>
          <p:nvPr/>
        </p:nvCxnSpPr>
        <p:spPr>
          <a:xfrm>
            <a:off x="1833186" y="2492703"/>
            <a:ext cx="203612" cy="647567"/>
          </a:xfrm>
          <a:prstGeom prst="line">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07" name="タイトル 106">
            <a:extLst>
              <a:ext uri="{FF2B5EF4-FFF2-40B4-BE49-F238E27FC236}">
                <a16:creationId xmlns:a16="http://schemas.microsoft.com/office/drawing/2014/main" id="{85295FFC-CF92-9039-EFBB-E6EEA4767AF4}"/>
              </a:ext>
            </a:extLst>
          </p:cNvPr>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対象とする組織バウンダリー</a:t>
            </a:r>
            <a:endParaRPr lang="ja-JP" altLang="en-US">
              <a:latin typeface="Meiryo UI" panose="020B0604030504040204" pitchFamily="50" charset="-128"/>
              <a:ea typeface="Meiryo UI" panose="020B0604030504040204" pitchFamily="50" charset="-128"/>
            </a:endParaRPr>
          </a:p>
        </p:txBody>
      </p:sp>
      <p:sp>
        <p:nvSpPr>
          <p:cNvPr id="41" name="テキスト プレースホルダー 40">
            <a:extLst>
              <a:ext uri="{FF2B5EF4-FFF2-40B4-BE49-F238E27FC236}">
                <a16:creationId xmlns:a16="http://schemas.microsoft.com/office/drawing/2014/main" id="{83650B3C-0A36-90E9-B220-79931F64A98C}"/>
              </a:ext>
            </a:extLst>
          </p:cNvPr>
          <p:cNvSpPr>
            <a:spLocks noGrp="1"/>
          </p:cNvSpPr>
          <p:nvPr>
            <p:ph type="body" sz="quarter" idx="13"/>
          </p:nvPr>
        </p:nvSpPr>
        <p:spPr/>
        <p:txBody>
          <a:bodyPr/>
          <a:lstStyle/>
          <a:p>
            <a:r>
              <a:rPr lang="en-US" altLang="ja-JP">
                <a:highlight>
                  <a:srgbClr val="FFFF00"/>
                </a:highlight>
              </a:rPr>
              <a:t>SSBJ</a:t>
            </a:r>
            <a:r>
              <a:rPr lang="ja-JP" altLang="en-US">
                <a:highlight>
                  <a:srgbClr val="FFFF00"/>
                </a:highlight>
              </a:rPr>
              <a:t>と温対法では開示すべき組織バウンダリーが異なるため、開示レポートごとに集計対象が新システム内で設定可能であることが求められる</a:t>
            </a:r>
            <a:endParaRPr lang="en-US" altLang="ja-JP">
              <a:highlight>
                <a:srgbClr val="FFFF00"/>
              </a:highlight>
            </a:endParaRPr>
          </a:p>
        </p:txBody>
      </p:sp>
      <p:sp>
        <p:nvSpPr>
          <p:cNvPr id="4" name="正方形/長方形 3">
            <a:extLst>
              <a:ext uri="{FF2B5EF4-FFF2-40B4-BE49-F238E27FC236}">
                <a16:creationId xmlns:a16="http://schemas.microsoft.com/office/drawing/2014/main" id="{4E0B994D-817E-35FD-F194-2E1BCD16E66C}"/>
              </a:ext>
            </a:extLst>
          </p:cNvPr>
          <p:cNvSpPr/>
          <p:nvPr/>
        </p:nvSpPr>
        <p:spPr>
          <a:xfrm>
            <a:off x="7020272" y="1629113"/>
            <a:ext cx="1656000" cy="6685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AFDA426B-D463-6133-942C-9455E931428F}"/>
              </a:ext>
            </a:extLst>
          </p:cNvPr>
          <p:cNvSpPr/>
          <p:nvPr/>
        </p:nvSpPr>
        <p:spPr>
          <a:xfrm>
            <a:off x="7093106" y="1794039"/>
            <a:ext cx="1502446" cy="144000"/>
          </a:xfrm>
          <a:prstGeom prst="rect">
            <a:avLst/>
          </a:prstGeom>
          <a:solidFill>
            <a:schemeClr val="accent2">
              <a:lumMod val="20000"/>
              <a:lumOff val="80000"/>
            </a:schemeClr>
          </a:solid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温対法</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DFDCCB82-8ED5-842D-9242-A068D510245F}"/>
              </a:ext>
            </a:extLst>
          </p:cNvPr>
          <p:cNvSpPr/>
          <p:nvPr/>
        </p:nvSpPr>
        <p:spPr>
          <a:xfrm>
            <a:off x="7093106" y="1999882"/>
            <a:ext cx="1502446" cy="144000"/>
          </a:xfrm>
          <a:prstGeom prst="rect">
            <a:avLst/>
          </a:prstGeom>
          <a:solidFill>
            <a:schemeClr val="accent5">
              <a:lumMod val="20000"/>
              <a:lumOff val="8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SSBJ</a:t>
            </a:r>
          </a:p>
        </p:txBody>
      </p:sp>
      <p:sp>
        <p:nvSpPr>
          <p:cNvPr id="32" name="正方形/長方形 31">
            <a:extLst>
              <a:ext uri="{FF2B5EF4-FFF2-40B4-BE49-F238E27FC236}">
                <a16:creationId xmlns:a16="http://schemas.microsoft.com/office/drawing/2014/main" id="{1A06B3DB-0FC2-5BBC-6DFF-4CDAB7147C99}"/>
              </a:ext>
            </a:extLst>
          </p:cNvPr>
          <p:cNvSpPr/>
          <p:nvPr/>
        </p:nvSpPr>
        <p:spPr>
          <a:xfrm>
            <a:off x="7454775" y="1566698"/>
            <a:ext cx="793415" cy="1470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凡例</a:t>
            </a:r>
          </a:p>
        </p:txBody>
      </p:sp>
      <p:sp>
        <p:nvSpPr>
          <p:cNvPr id="36" name="正方形/長方形 35">
            <a:extLst>
              <a:ext uri="{FF2B5EF4-FFF2-40B4-BE49-F238E27FC236}">
                <a16:creationId xmlns:a16="http://schemas.microsoft.com/office/drawing/2014/main" id="{31746680-6B5E-5500-9245-74DF0AB4B2CF}"/>
              </a:ext>
            </a:extLst>
          </p:cNvPr>
          <p:cNvSpPr/>
          <p:nvPr/>
        </p:nvSpPr>
        <p:spPr>
          <a:xfrm>
            <a:off x="133529" y="1538096"/>
            <a:ext cx="2054216" cy="1871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solidFill>
                  <a:schemeClr val="tx1"/>
                </a:solidFill>
                <a:latin typeface="Meiryo UI" panose="020B0604030504040204" pitchFamily="50" charset="-128"/>
                <a:ea typeface="Meiryo UI" panose="020B0604030504040204" pitchFamily="50" charset="-128"/>
              </a:rPr>
              <a:t>組織構造イメージ図</a:t>
            </a:r>
          </a:p>
        </p:txBody>
      </p:sp>
      <p:sp>
        <p:nvSpPr>
          <p:cNvPr id="34" name="楕円 33">
            <a:extLst>
              <a:ext uri="{FF2B5EF4-FFF2-40B4-BE49-F238E27FC236}">
                <a16:creationId xmlns:a16="http://schemas.microsoft.com/office/drawing/2014/main" id="{D3F34507-5E88-B3E7-B1C3-EDAB0FCEF3C0}"/>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5" name="四角形: 角を丸くする 4">
            <a:extLst>
              <a:ext uri="{FF2B5EF4-FFF2-40B4-BE49-F238E27FC236}">
                <a16:creationId xmlns:a16="http://schemas.microsoft.com/office/drawing/2014/main" id="{C81C717B-D912-9B28-BA5E-9843F3E7EB2F}"/>
              </a:ext>
            </a:extLst>
          </p:cNvPr>
          <p:cNvSpPr/>
          <p:nvPr/>
        </p:nvSpPr>
        <p:spPr>
          <a:xfrm>
            <a:off x="7045749" y="169787"/>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　対応すべき複数の開示基準</a:t>
            </a:r>
          </a:p>
        </p:txBody>
      </p:sp>
      <p:sp>
        <p:nvSpPr>
          <p:cNvPr id="6" name="四角形: 角を丸くする 5">
            <a:extLst>
              <a:ext uri="{FF2B5EF4-FFF2-40B4-BE49-F238E27FC236}">
                <a16:creationId xmlns:a16="http://schemas.microsoft.com/office/drawing/2014/main" id="{A81B9157-08A3-43F5-95B2-EEBF0DE10744}"/>
              </a:ext>
            </a:extLst>
          </p:cNvPr>
          <p:cNvSpPr/>
          <p:nvPr/>
        </p:nvSpPr>
        <p:spPr>
          <a:xfrm>
            <a:off x="7045749" y="561240"/>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暫定</a:t>
            </a:r>
            <a:r>
              <a:rPr kumimoji="1" lang="en-US" altLang="ja-JP" sz="900" b="1">
                <a:solidFill>
                  <a:schemeClr val="bg1">
                    <a:lumMod val="50000"/>
                  </a:schemeClr>
                </a:solidFill>
                <a:latin typeface="Meiryo UI" panose="020B0604030504040204" pitchFamily="50" charset="-128"/>
                <a:ea typeface="Meiryo UI" panose="020B0604030504040204" pitchFamily="50" charset="-128"/>
              </a:rPr>
              <a:t>/</a:t>
            </a:r>
            <a:r>
              <a:rPr kumimoji="1" lang="ja-JP" altLang="en-US" sz="900" b="1">
                <a:solidFill>
                  <a:schemeClr val="bg1">
                    <a:lumMod val="50000"/>
                  </a:schemeClr>
                </a:solidFill>
                <a:latin typeface="Meiryo UI" panose="020B0604030504040204" pitchFamily="50" charset="-128"/>
                <a:ea typeface="Meiryo UI" panose="020B0604030504040204" pitchFamily="50" charset="-128"/>
              </a:rPr>
              <a:t>確定係数の運用</a:t>
            </a:r>
          </a:p>
        </p:txBody>
      </p:sp>
      <p:sp>
        <p:nvSpPr>
          <p:cNvPr id="33" name="四角形: 角を丸くする 32">
            <a:extLst>
              <a:ext uri="{FF2B5EF4-FFF2-40B4-BE49-F238E27FC236}">
                <a16:creationId xmlns:a16="http://schemas.microsoft.com/office/drawing/2014/main" id="{0754A3C2-9BC2-FFE3-63BA-D6AD86A4ED53}"/>
              </a:ext>
            </a:extLst>
          </p:cNvPr>
          <p:cNvSpPr/>
          <p:nvPr/>
        </p:nvSpPr>
        <p:spPr>
          <a:xfrm>
            <a:off x="7045749" y="365514"/>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複数算定ロジックの構築</a:t>
            </a:r>
          </a:p>
        </p:txBody>
      </p:sp>
      <p:sp>
        <p:nvSpPr>
          <p:cNvPr id="37" name="楕円 36">
            <a:extLst>
              <a:ext uri="{FF2B5EF4-FFF2-40B4-BE49-F238E27FC236}">
                <a16:creationId xmlns:a16="http://schemas.microsoft.com/office/drawing/2014/main" id="{A4F5537E-D43D-5D99-E690-A500B848F332}"/>
              </a:ext>
            </a:extLst>
          </p:cNvPr>
          <p:cNvSpPr/>
          <p:nvPr/>
        </p:nvSpPr>
        <p:spPr>
          <a:xfrm>
            <a:off x="7020272" y="134576"/>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38" name="楕円 37">
            <a:extLst>
              <a:ext uri="{FF2B5EF4-FFF2-40B4-BE49-F238E27FC236}">
                <a16:creationId xmlns:a16="http://schemas.microsoft.com/office/drawing/2014/main" id="{BF0E40CE-95A5-EC41-9035-9A1952422B2C}"/>
              </a:ext>
            </a:extLst>
          </p:cNvPr>
          <p:cNvSpPr/>
          <p:nvPr/>
        </p:nvSpPr>
        <p:spPr>
          <a:xfrm>
            <a:off x="7020272" y="330302"/>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2</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
        <p:nvSpPr>
          <p:cNvPr id="39" name="楕円 38">
            <a:extLst>
              <a:ext uri="{FF2B5EF4-FFF2-40B4-BE49-F238E27FC236}">
                <a16:creationId xmlns:a16="http://schemas.microsoft.com/office/drawing/2014/main" id="{41EA75E0-F4D1-C100-D6B5-44E1B987B4BB}"/>
              </a:ext>
            </a:extLst>
          </p:cNvPr>
          <p:cNvSpPr/>
          <p:nvPr/>
        </p:nvSpPr>
        <p:spPr>
          <a:xfrm>
            <a:off x="7020272" y="526029"/>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3</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
        <p:nvSpPr>
          <p:cNvPr id="11" name="四角形: 角を丸くする 10">
            <a:extLst>
              <a:ext uri="{FF2B5EF4-FFF2-40B4-BE49-F238E27FC236}">
                <a16:creationId xmlns:a16="http://schemas.microsoft.com/office/drawing/2014/main" id="{28E5EB04-F4E0-5580-23CC-AAEB4B4E97E9}"/>
              </a:ext>
            </a:extLst>
          </p:cNvPr>
          <p:cNvSpPr/>
          <p:nvPr/>
        </p:nvSpPr>
        <p:spPr>
          <a:xfrm>
            <a:off x="5102583" y="66589"/>
            <a:ext cx="1790232" cy="22746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については削除</a:t>
            </a:r>
          </a:p>
        </p:txBody>
      </p:sp>
    </p:spTree>
    <p:extLst>
      <p:ext uri="{BB962C8B-B14F-4D97-AF65-F5344CB8AC3E}">
        <p14:creationId xmlns:p14="http://schemas.microsoft.com/office/powerpoint/2010/main" val="2321964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50870D-4094-A09A-424D-1AA3D9EE2EF2}"/>
              </a:ext>
            </a:extLst>
          </p:cNvPr>
          <p:cNvSpPr>
            <a:spLocks noGrp="1"/>
          </p:cNvSpPr>
          <p:nvPr>
            <p:ph type="title"/>
          </p:nvPr>
        </p:nvSpPr>
        <p:spPr/>
        <p:txBody>
          <a:bodyPr/>
          <a:lstStyle/>
          <a:p>
            <a:r>
              <a:rPr kumimoji="1" lang="en-US" altLang="ja-JP">
                <a:latin typeface="Meiryo UI" panose="020B0604030504040204" pitchFamily="50" charset="-128"/>
                <a:ea typeface="Meiryo UI" panose="020B0604030504040204" pitchFamily="50" charset="-128"/>
              </a:rPr>
              <a:t>Scope3</a:t>
            </a:r>
            <a:r>
              <a:rPr kumimoji="1" lang="ja-JP" altLang="en-US">
                <a:latin typeface="Meiryo UI" panose="020B0604030504040204" pitchFamily="50" charset="-128"/>
                <a:ea typeface="Meiryo UI" panose="020B0604030504040204" pitchFamily="50" charset="-128"/>
              </a:rPr>
              <a:t>データ収集におけるシステムスコープ</a:t>
            </a:r>
          </a:p>
        </p:txBody>
      </p:sp>
      <p:sp>
        <p:nvSpPr>
          <p:cNvPr id="3" name="スライド番号プレースホルダー 2">
            <a:extLst>
              <a:ext uri="{FF2B5EF4-FFF2-40B4-BE49-F238E27FC236}">
                <a16:creationId xmlns:a16="http://schemas.microsoft.com/office/drawing/2014/main" id="{04E66758-494F-397D-2857-5CFDECB48BD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23</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6FE59BC2-424D-E0D2-3DBE-2A57D9E338C2}"/>
              </a:ext>
            </a:extLst>
          </p:cNvPr>
          <p:cNvSpPr>
            <a:spLocks noGrp="1"/>
          </p:cNvSpPr>
          <p:nvPr>
            <p:ph type="body" sz="quarter" idx="13"/>
          </p:nvPr>
        </p:nvSpPr>
        <p:spPr/>
        <p:txBody>
          <a:bodyPr>
            <a:noAutofit/>
          </a:bodyPr>
          <a:lstStyle/>
          <a:p>
            <a:r>
              <a:rPr kumimoji="1" lang="en-US" altLang="ja-JP"/>
              <a:t>Scope3</a:t>
            </a:r>
            <a:r>
              <a:rPr lang="ja-JP" altLang="en-US"/>
              <a:t>は</a:t>
            </a:r>
            <a:r>
              <a:rPr kumimoji="1" lang="ja-JP" altLang="en-US"/>
              <a:t>、基本方針としてはシステムに活動量を入力しシステム内の係数をかけるのみのシンプルな要求とする。現時点で、各カテゴリの算定方法は未確定と認識しており、</a:t>
            </a:r>
            <a:r>
              <a:rPr kumimoji="1" lang="ja-JP" altLang="en-US" b="1" u="sng"/>
              <a:t>汎用的な仕組み</a:t>
            </a:r>
            <a:r>
              <a:rPr lang="ja-JP" altLang="en-US"/>
              <a:t>として</a:t>
            </a:r>
            <a:r>
              <a:rPr kumimoji="1" lang="en-US" altLang="ja-JP"/>
              <a:t>Scope3</a:t>
            </a:r>
            <a:r>
              <a:rPr kumimoji="1" lang="ja-JP" altLang="en-US"/>
              <a:t>要求を整理</a:t>
            </a:r>
          </a:p>
        </p:txBody>
      </p:sp>
      <p:sp>
        <p:nvSpPr>
          <p:cNvPr id="9" name="正方形/長方形 8">
            <a:extLst>
              <a:ext uri="{FF2B5EF4-FFF2-40B4-BE49-F238E27FC236}">
                <a16:creationId xmlns:a16="http://schemas.microsoft.com/office/drawing/2014/main" id="{E1DFC104-7465-A410-1FBD-D1EF5DB6864C}"/>
              </a:ext>
            </a:extLst>
          </p:cNvPr>
          <p:cNvSpPr/>
          <p:nvPr/>
        </p:nvSpPr>
        <p:spPr>
          <a:xfrm>
            <a:off x="756965" y="1810834"/>
            <a:ext cx="1636545" cy="232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入力者</a:t>
            </a:r>
          </a:p>
        </p:txBody>
      </p:sp>
      <p:cxnSp>
        <p:nvCxnSpPr>
          <p:cNvPr id="10" name="直線コネクタ 9">
            <a:extLst>
              <a:ext uri="{FF2B5EF4-FFF2-40B4-BE49-F238E27FC236}">
                <a16:creationId xmlns:a16="http://schemas.microsoft.com/office/drawing/2014/main" id="{88885C5F-1321-F83B-E4F0-2C66312E2FB5}"/>
              </a:ext>
            </a:extLst>
          </p:cNvPr>
          <p:cNvCxnSpPr>
            <a:cxnSpLocks/>
          </p:cNvCxnSpPr>
          <p:nvPr/>
        </p:nvCxnSpPr>
        <p:spPr>
          <a:xfrm>
            <a:off x="615623" y="2034373"/>
            <a:ext cx="189869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四角形: 角を丸くする 18">
            <a:extLst>
              <a:ext uri="{FF2B5EF4-FFF2-40B4-BE49-F238E27FC236}">
                <a16:creationId xmlns:a16="http://schemas.microsoft.com/office/drawing/2014/main" id="{3558C547-F2C5-8DEF-21B0-6E3010869EC6}"/>
              </a:ext>
            </a:extLst>
          </p:cNvPr>
          <p:cNvSpPr/>
          <p:nvPr/>
        </p:nvSpPr>
        <p:spPr>
          <a:xfrm>
            <a:off x="3635896" y="2420888"/>
            <a:ext cx="1260000" cy="324000"/>
          </a:xfrm>
          <a:prstGeom prst="roundRect">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活動量①</a:t>
            </a:r>
            <a:endParaRPr kumimoji="1" lang="en-US" altLang="ja-JP" sz="140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71FCA875-BBF9-D3F4-F21A-1190EB96881D}"/>
              </a:ext>
            </a:extLst>
          </p:cNvPr>
          <p:cNvSpPr/>
          <p:nvPr/>
        </p:nvSpPr>
        <p:spPr>
          <a:xfrm>
            <a:off x="6118006" y="5562998"/>
            <a:ext cx="2736000" cy="726542"/>
          </a:xfrm>
          <a:prstGeom prst="rec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kumimoji="1" lang="ja-JP" altLang="en-US" sz="1100">
                <a:solidFill>
                  <a:schemeClr val="tx1"/>
                </a:solidFill>
                <a:latin typeface="Meiryo UI" panose="020B0604030504040204" pitchFamily="50" charset="-128"/>
                <a:ea typeface="Meiryo UI" panose="020B0604030504040204" pitchFamily="50" charset="-128"/>
              </a:rPr>
              <a:t>入力データは活動量そのものとし、</a:t>
            </a:r>
            <a:r>
              <a:rPr kumimoji="1" lang="ja-JP" altLang="en-US" sz="1100" b="1" u="sng">
                <a:solidFill>
                  <a:schemeClr val="tx1"/>
                </a:solidFill>
                <a:latin typeface="Meiryo UI" panose="020B0604030504040204" pitchFamily="50" charset="-128"/>
                <a:ea typeface="Meiryo UI" panose="020B0604030504040204" pitchFamily="50" charset="-128"/>
              </a:rPr>
              <a:t>活動量自体の計算は新システムには</a:t>
            </a:r>
            <a:r>
              <a:rPr kumimoji="1" lang="en-US" altLang="ja-JP" sz="1100" b="1" u="sng">
                <a:solidFill>
                  <a:schemeClr val="tx1"/>
                </a:solidFill>
                <a:highlight>
                  <a:srgbClr val="FFFF00"/>
                </a:highlight>
                <a:latin typeface="Meiryo UI" panose="020B0604030504040204" pitchFamily="50" charset="-128"/>
                <a:ea typeface="Meiryo UI" panose="020B0604030504040204" pitchFamily="50" charset="-128"/>
              </a:rPr>
              <a:t>Must</a:t>
            </a:r>
            <a:r>
              <a:rPr kumimoji="1" lang="ja-JP" altLang="en-US" sz="1100" b="1" u="sng">
                <a:solidFill>
                  <a:schemeClr val="tx1"/>
                </a:solidFill>
                <a:highlight>
                  <a:srgbClr val="FFFF00"/>
                </a:highlight>
                <a:latin typeface="Meiryo UI" panose="020B0604030504040204" pitchFamily="50" charset="-128"/>
                <a:ea typeface="Meiryo UI" panose="020B0604030504040204" pitchFamily="50" charset="-128"/>
              </a:rPr>
              <a:t>要求としては求めない</a:t>
            </a:r>
          </a:p>
        </p:txBody>
      </p:sp>
      <p:sp>
        <p:nvSpPr>
          <p:cNvPr id="79" name="楕円 78">
            <a:extLst>
              <a:ext uri="{FF2B5EF4-FFF2-40B4-BE49-F238E27FC236}">
                <a16:creationId xmlns:a16="http://schemas.microsoft.com/office/drawing/2014/main" id="{E59A6DA1-ABA2-C16D-6E77-EC0883AB228A}"/>
              </a:ext>
            </a:extLst>
          </p:cNvPr>
          <p:cNvSpPr/>
          <p:nvPr/>
        </p:nvSpPr>
        <p:spPr>
          <a:xfrm>
            <a:off x="6010186" y="5419393"/>
            <a:ext cx="215640" cy="21564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bg1"/>
                </a:solidFill>
                <a:latin typeface="Meiryo UI" panose="020B0604030504040204" pitchFamily="50" charset="-128"/>
                <a:ea typeface="Meiryo UI" panose="020B0604030504040204" pitchFamily="50" charset="-128"/>
              </a:rPr>
              <a:t>3</a:t>
            </a:r>
            <a:endParaRPr kumimoji="1" lang="ja-JP" altLang="en-US" sz="1000">
              <a:solidFill>
                <a:schemeClr val="bg1"/>
              </a:solidFill>
              <a:latin typeface="Meiryo UI" panose="020B0604030504040204" pitchFamily="50" charset="-128"/>
              <a:ea typeface="Meiryo UI" panose="020B0604030504040204" pitchFamily="50" charset="-128"/>
            </a:endParaRPr>
          </a:p>
        </p:txBody>
      </p:sp>
      <p:sp>
        <p:nvSpPr>
          <p:cNvPr id="11" name="フローチャート: 磁気ディスク 10">
            <a:extLst>
              <a:ext uri="{FF2B5EF4-FFF2-40B4-BE49-F238E27FC236}">
                <a16:creationId xmlns:a16="http://schemas.microsoft.com/office/drawing/2014/main" id="{2404396B-E5A0-D1DB-C82C-B8ABE15C1748}"/>
              </a:ext>
            </a:extLst>
          </p:cNvPr>
          <p:cNvSpPr/>
          <p:nvPr/>
        </p:nvSpPr>
        <p:spPr>
          <a:xfrm>
            <a:off x="1234178" y="2420888"/>
            <a:ext cx="936000" cy="418447"/>
          </a:xfrm>
          <a:prstGeom prst="flowChartMagneticDisk">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会計システム等</a:t>
            </a:r>
          </a:p>
        </p:txBody>
      </p:sp>
      <p:sp>
        <p:nvSpPr>
          <p:cNvPr id="25" name="正方形/長方形 24">
            <a:extLst>
              <a:ext uri="{FF2B5EF4-FFF2-40B4-BE49-F238E27FC236}">
                <a16:creationId xmlns:a16="http://schemas.microsoft.com/office/drawing/2014/main" id="{337ADA96-3CB2-9566-28F6-AFA65BD9C95D}"/>
              </a:ext>
            </a:extLst>
          </p:cNvPr>
          <p:cNvSpPr/>
          <p:nvPr/>
        </p:nvSpPr>
        <p:spPr>
          <a:xfrm>
            <a:off x="589351" y="2372595"/>
            <a:ext cx="520714" cy="130710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本社で一括入力</a:t>
            </a:r>
          </a:p>
        </p:txBody>
      </p:sp>
      <p:sp>
        <p:nvSpPr>
          <p:cNvPr id="30" name="正方形/長方形 29">
            <a:extLst>
              <a:ext uri="{FF2B5EF4-FFF2-40B4-BE49-F238E27FC236}">
                <a16:creationId xmlns:a16="http://schemas.microsoft.com/office/drawing/2014/main" id="{B72DAFAE-3F9D-8443-EE40-C63529AEE3B0}"/>
              </a:ext>
            </a:extLst>
          </p:cNvPr>
          <p:cNvSpPr/>
          <p:nvPr/>
        </p:nvSpPr>
        <p:spPr>
          <a:xfrm>
            <a:off x="589351" y="4009153"/>
            <a:ext cx="520714" cy="130710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各拠点で入力</a:t>
            </a:r>
          </a:p>
        </p:txBody>
      </p:sp>
      <p:sp>
        <p:nvSpPr>
          <p:cNvPr id="31" name="正方形/長方形 30">
            <a:extLst>
              <a:ext uri="{FF2B5EF4-FFF2-40B4-BE49-F238E27FC236}">
                <a16:creationId xmlns:a16="http://schemas.microsoft.com/office/drawing/2014/main" id="{0D2F168F-DBE3-9245-3E37-5E4F663A7073}"/>
              </a:ext>
            </a:extLst>
          </p:cNvPr>
          <p:cNvSpPr/>
          <p:nvPr/>
        </p:nvSpPr>
        <p:spPr>
          <a:xfrm>
            <a:off x="2519872" y="2420888"/>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拠点</a:t>
            </a:r>
            <a:r>
              <a:rPr kumimoji="1" lang="en-US" altLang="ja-JP" sz="1400">
                <a:solidFill>
                  <a:schemeClr val="tx1"/>
                </a:solidFill>
                <a:latin typeface="Meiryo UI" panose="020B0604030504040204" pitchFamily="50" charset="-128"/>
                <a:ea typeface="Meiryo UI" panose="020B0604030504040204" pitchFamily="50" charset="-128"/>
              </a:rPr>
              <a:t>A</a:t>
            </a:r>
            <a:endParaRPr kumimoji="1" lang="ja-JP" altLang="en-US" sz="1400">
              <a:solidFill>
                <a:schemeClr val="tx1"/>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2CEE7BD6-D618-A44A-3C08-D50D89769395}"/>
              </a:ext>
            </a:extLst>
          </p:cNvPr>
          <p:cNvSpPr/>
          <p:nvPr/>
        </p:nvSpPr>
        <p:spPr>
          <a:xfrm>
            <a:off x="2519872" y="3069990"/>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拠点</a:t>
            </a:r>
            <a:r>
              <a:rPr kumimoji="1" lang="en-US" altLang="ja-JP" sz="1400">
                <a:solidFill>
                  <a:schemeClr val="tx1"/>
                </a:solidFill>
                <a:latin typeface="Meiryo UI" panose="020B0604030504040204" pitchFamily="50" charset="-128"/>
                <a:ea typeface="Meiryo UI" panose="020B0604030504040204" pitchFamily="50" charset="-128"/>
              </a:rPr>
              <a:t>B</a:t>
            </a:r>
          </a:p>
        </p:txBody>
      </p:sp>
      <p:sp>
        <p:nvSpPr>
          <p:cNvPr id="34" name="正方形/長方形 33">
            <a:extLst>
              <a:ext uri="{FF2B5EF4-FFF2-40B4-BE49-F238E27FC236}">
                <a16:creationId xmlns:a16="http://schemas.microsoft.com/office/drawing/2014/main" id="{8B62B609-DC0F-8885-737C-5D77F62579DC}"/>
              </a:ext>
            </a:extLst>
          </p:cNvPr>
          <p:cNvSpPr/>
          <p:nvPr/>
        </p:nvSpPr>
        <p:spPr>
          <a:xfrm>
            <a:off x="2519872" y="4080013"/>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拠点</a:t>
            </a:r>
            <a:r>
              <a:rPr kumimoji="1" lang="en-US" altLang="ja-JP" sz="1400">
                <a:solidFill>
                  <a:schemeClr val="tx1"/>
                </a:solidFill>
                <a:latin typeface="Meiryo UI" panose="020B0604030504040204" pitchFamily="50" charset="-128"/>
                <a:ea typeface="Meiryo UI" panose="020B0604030504040204" pitchFamily="50" charset="-128"/>
              </a:rPr>
              <a:t>C</a:t>
            </a:r>
          </a:p>
        </p:txBody>
      </p:sp>
      <p:sp>
        <p:nvSpPr>
          <p:cNvPr id="35" name="正方形/長方形 34">
            <a:extLst>
              <a:ext uri="{FF2B5EF4-FFF2-40B4-BE49-F238E27FC236}">
                <a16:creationId xmlns:a16="http://schemas.microsoft.com/office/drawing/2014/main" id="{43F66292-F0C0-1139-6DDE-1A1C9380A475}"/>
              </a:ext>
            </a:extLst>
          </p:cNvPr>
          <p:cNvSpPr/>
          <p:nvPr/>
        </p:nvSpPr>
        <p:spPr>
          <a:xfrm>
            <a:off x="2519872" y="4725144"/>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拠点</a:t>
            </a:r>
            <a:r>
              <a:rPr kumimoji="1" lang="en-US" altLang="ja-JP" sz="1400">
                <a:solidFill>
                  <a:schemeClr val="tx1"/>
                </a:solidFill>
                <a:latin typeface="Meiryo UI" panose="020B0604030504040204" pitchFamily="50" charset="-128"/>
                <a:ea typeface="Meiryo UI" panose="020B0604030504040204" pitchFamily="50" charset="-128"/>
              </a:rPr>
              <a:t>D</a:t>
            </a:r>
          </a:p>
        </p:txBody>
      </p:sp>
      <p:cxnSp>
        <p:nvCxnSpPr>
          <p:cNvPr id="38" name="直線矢印コネクタ 37">
            <a:extLst>
              <a:ext uri="{FF2B5EF4-FFF2-40B4-BE49-F238E27FC236}">
                <a16:creationId xmlns:a16="http://schemas.microsoft.com/office/drawing/2014/main" id="{9FA5FEFD-84E2-102B-8017-1892572F17CE}"/>
              </a:ext>
            </a:extLst>
          </p:cNvPr>
          <p:cNvCxnSpPr>
            <a:cxnSpLocks/>
            <a:endCxn id="31" idx="1"/>
          </p:cNvCxnSpPr>
          <p:nvPr/>
        </p:nvCxnSpPr>
        <p:spPr>
          <a:xfrm flipV="1">
            <a:off x="1997700" y="2600888"/>
            <a:ext cx="522172" cy="41730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88F25F5A-CFBA-4CA5-62B5-E0F859053D77}"/>
              </a:ext>
            </a:extLst>
          </p:cNvPr>
          <p:cNvCxnSpPr>
            <a:cxnSpLocks/>
            <a:endCxn id="33" idx="1"/>
          </p:cNvCxnSpPr>
          <p:nvPr/>
        </p:nvCxnSpPr>
        <p:spPr>
          <a:xfrm>
            <a:off x="1994143" y="3023855"/>
            <a:ext cx="525729" cy="22613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6" name="グラフィックス 45" descr="ユーザー 単色塗りつぶし">
            <a:extLst>
              <a:ext uri="{FF2B5EF4-FFF2-40B4-BE49-F238E27FC236}">
                <a16:creationId xmlns:a16="http://schemas.microsoft.com/office/drawing/2014/main" id="{0626AE93-694F-43CE-CF8F-7FAD3A8EBD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9293" y="4081196"/>
            <a:ext cx="358411" cy="358411"/>
          </a:xfrm>
          <a:prstGeom prst="rect">
            <a:avLst/>
          </a:prstGeom>
        </p:spPr>
      </p:pic>
      <p:pic>
        <p:nvPicPr>
          <p:cNvPr id="47" name="グラフィックス 46" descr="ユーザー 単色塗りつぶし">
            <a:extLst>
              <a:ext uri="{FF2B5EF4-FFF2-40B4-BE49-F238E27FC236}">
                <a16:creationId xmlns:a16="http://schemas.microsoft.com/office/drawing/2014/main" id="{3AAE522C-48EE-6ACE-B80B-56351539D7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9293" y="4738931"/>
            <a:ext cx="358411" cy="358411"/>
          </a:xfrm>
          <a:prstGeom prst="rect">
            <a:avLst/>
          </a:prstGeom>
        </p:spPr>
      </p:pic>
      <p:sp>
        <p:nvSpPr>
          <p:cNvPr id="52" name="正方形/長方形 51">
            <a:extLst>
              <a:ext uri="{FF2B5EF4-FFF2-40B4-BE49-F238E27FC236}">
                <a16:creationId xmlns:a16="http://schemas.microsoft.com/office/drawing/2014/main" id="{211B794C-F68A-E3FB-F9D2-6210B9B61E27}"/>
              </a:ext>
            </a:extLst>
          </p:cNvPr>
          <p:cNvSpPr/>
          <p:nvPr/>
        </p:nvSpPr>
        <p:spPr>
          <a:xfrm>
            <a:off x="1470088" y="2952575"/>
            <a:ext cx="453024" cy="1751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OR</a:t>
            </a:r>
            <a:endParaRPr kumimoji="1" lang="ja-JP" altLang="en-US" sz="1000">
              <a:solidFill>
                <a:schemeClr val="tx1"/>
              </a:solidFill>
              <a:latin typeface="Meiryo UI" panose="020B0604030504040204" pitchFamily="50" charset="-128"/>
              <a:ea typeface="Meiryo UI" panose="020B0604030504040204" pitchFamily="50" charset="-128"/>
            </a:endParaRPr>
          </a:p>
        </p:txBody>
      </p:sp>
      <p:pic>
        <p:nvPicPr>
          <p:cNvPr id="1026" name="Picture 2" descr="Microsoft Excel logo transparent PNG 22100783 PNG">
            <a:extLst>
              <a:ext uri="{FF2B5EF4-FFF2-40B4-BE49-F238E27FC236}">
                <a16:creationId xmlns:a16="http://schemas.microsoft.com/office/drawing/2014/main" id="{905D1A39-C7FB-688F-34CB-806178E41B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272" y="3172658"/>
            <a:ext cx="415548" cy="415548"/>
          </a:xfrm>
          <a:prstGeom prst="rect">
            <a:avLst/>
          </a:prstGeom>
          <a:noFill/>
          <a:extLst>
            <a:ext uri="{909E8E84-426E-40DD-AFC4-6F175D3DCCD1}">
              <a14:hiddenFill xmlns:a14="http://schemas.microsoft.com/office/drawing/2010/main">
                <a:solidFill>
                  <a:srgbClr val="FFFFFF"/>
                </a:solidFill>
              </a14:hiddenFill>
            </a:ext>
          </a:extLst>
        </p:spPr>
      </p:pic>
      <p:cxnSp>
        <p:nvCxnSpPr>
          <p:cNvPr id="58" name="直線矢印コネクタ 57">
            <a:extLst>
              <a:ext uri="{FF2B5EF4-FFF2-40B4-BE49-F238E27FC236}">
                <a16:creationId xmlns:a16="http://schemas.microsoft.com/office/drawing/2014/main" id="{CEE0E706-6861-9512-E2CB-B9C5A0C31C38}"/>
              </a:ext>
            </a:extLst>
          </p:cNvPr>
          <p:cNvCxnSpPr>
            <a:cxnSpLocks/>
            <a:stCxn id="46" idx="3"/>
            <a:endCxn id="34" idx="1"/>
          </p:cNvCxnSpPr>
          <p:nvPr/>
        </p:nvCxnSpPr>
        <p:spPr>
          <a:xfrm flipV="1">
            <a:off x="1907704" y="4260013"/>
            <a:ext cx="612168" cy="38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0C44D34F-151C-CCA1-D4DF-E90BF1DE924B}"/>
              </a:ext>
            </a:extLst>
          </p:cNvPr>
          <p:cNvCxnSpPr>
            <a:cxnSpLocks/>
            <a:stCxn id="65" idx="0"/>
            <a:endCxn id="35" idx="1"/>
          </p:cNvCxnSpPr>
          <p:nvPr/>
        </p:nvCxnSpPr>
        <p:spPr>
          <a:xfrm>
            <a:off x="1945079" y="4900709"/>
            <a:ext cx="574793" cy="443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4" name="Picture 2" descr="Microsoft Excel logo transparent PNG 22100783 PNG">
            <a:extLst>
              <a:ext uri="{FF2B5EF4-FFF2-40B4-BE49-F238E27FC236}">
                <a16:creationId xmlns:a16="http://schemas.microsoft.com/office/drawing/2014/main" id="{DA63DF4A-1FB9-04DC-75F2-19DF7ADD9F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208" y="4291950"/>
            <a:ext cx="415548" cy="415548"/>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Microsoft Excel logo transparent PNG 22100783 PNG">
            <a:extLst>
              <a:ext uri="{FF2B5EF4-FFF2-40B4-BE49-F238E27FC236}">
                <a16:creationId xmlns:a16="http://schemas.microsoft.com/office/drawing/2014/main" id="{BD869DC0-5291-49BD-2E5E-81D23DBCD4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7305" y="4900709"/>
            <a:ext cx="415548" cy="415548"/>
          </a:xfrm>
          <a:prstGeom prst="rect">
            <a:avLst/>
          </a:prstGeom>
          <a:noFill/>
          <a:extLst>
            <a:ext uri="{909E8E84-426E-40DD-AFC4-6F175D3DCCD1}">
              <a14:hiddenFill xmlns:a14="http://schemas.microsoft.com/office/drawing/2010/main">
                <a:solidFill>
                  <a:srgbClr val="FFFFFF"/>
                </a:solidFill>
              </a14:hiddenFill>
            </a:ext>
          </a:extLst>
        </p:spPr>
      </p:pic>
      <p:sp>
        <p:nvSpPr>
          <p:cNvPr id="67" name="正方形/長方形 66">
            <a:extLst>
              <a:ext uri="{FF2B5EF4-FFF2-40B4-BE49-F238E27FC236}">
                <a16:creationId xmlns:a16="http://schemas.microsoft.com/office/drawing/2014/main" id="{27B8FD62-EC2C-D3C4-3560-912F9F2710D8}"/>
              </a:ext>
            </a:extLst>
          </p:cNvPr>
          <p:cNvSpPr/>
          <p:nvPr/>
        </p:nvSpPr>
        <p:spPr>
          <a:xfrm>
            <a:off x="1977849" y="4341017"/>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入力</a:t>
            </a:r>
          </a:p>
        </p:txBody>
      </p:sp>
      <p:sp>
        <p:nvSpPr>
          <p:cNvPr id="68" name="正方形/長方形 67">
            <a:extLst>
              <a:ext uri="{FF2B5EF4-FFF2-40B4-BE49-F238E27FC236}">
                <a16:creationId xmlns:a16="http://schemas.microsoft.com/office/drawing/2014/main" id="{3A992B55-38E5-4FF3-519D-562D819872E5}"/>
              </a:ext>
            </a:extLst>
          </p:cNvPr>
          <p:cNvSpPr/>
          <p:nvPr/>
        </p:nvSpPr>
        <p:spPr>
          <a:xfrm>
            <a:off x="1977849" y="4984987"/>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入力</a:t>
            </a:r>
          </a:p>
        </p:txBody>
      </p:sp>
      <p:sp>
        <p:nvSpPr>
          <p:cNvPr id="69" name="正方形/長方形 68">
            <a:extLst>
              <a:ext uri="{FF2B5EF4-FFF2-40B4-BE49-F238E27FC236}">
                <a16:creationId xmlns:a16="http://schemas.microsoft.com/office/drawing/2014/main" id="{B17E25EF-F5D4-31FA-9C18-541017EC2584}"/>
              </a:ext>
            </a:extLst>
          </p:cNvPr>
          <p:cNvSpPr/>
          <p:nvPr/>
        </p:nvSpPr>
        <p:spPr>
          <a:xfrm>
            <a:off x="1234178" y="3474384"/>
            <a:ext cx="978258"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一括取込み？</a:t>
            </a:r>
          </a:p>
        </p:txBody>
      </p:sp>
      <p:sp>
        <p:nvSpPr>
          <p:cNvPr id="74" name="四角形: 角を丸くする 73">
            <a:extLst>
              <a:ext uri="{FF2B5EF4-FFF2-40B4-BE49-F238E27FC236}">
                <a16:creationId xmlns:a16="http://schemas.microsoft.com/office/drawing/2014/main" id="{A8CECFB4-5C47-5F41-577C-3F94FD018679}"/>
              </a:ext>
            </a:extLst>
          </p:cNvPr>
          <p:cNvSpPr/>
          <p:nvPr/>
        </p:nvSpPr>
        <p:spPr>
          <a:xfrm>
            <a:off x="3635896" y="3119752"/>
            <a:ext cx="1260000" cy="324000"/>
          </a:xfrm>
          <a:prstGeom prst="roundRect">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活動量①</a:t>
            </a:r>
          </a:p>
        </p:txBody>
      </p:sp>
      <p:sp>
        <p:nvSpPr>
          <p:cNvPr id="75" name="四角形: 角を丸くする 74">
            <a:extLst>
              <a:ext uri="{FF2B5EF4-FFF2-40B4-BE49-F238E27FC236}">
                <a16:creationId xmlns:a16="http://schemas.microsoft.com/office/drawing/2014/main" id="{BE83ECB6-AA71-9C67-2C21-D7846711B192}"/>
              </a:ext>
            </a:extLst>
          </p:cNvPr>
          <p:cNvSpPr/>
          <p:nvPr/>
        </p:nvSpPr>
        <p:spPr>
          <a:xfrm>
            <a:off x="3635896" y="4081289"/>
            <a:ext cx="1260000" cy="324000"/>
          </a:xfrm>
          <a:prstGeom prst="roundRect">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活動量②</a:t>
            </a:r>
          </a:p>
        </p:txBody>
      </p:sp>
      <p:sp>
        <p:nvSpPr>
          <p:cNvPr id="76" name="四角形: 角を丸くする 75">
            <a:extLst>
              <a:ext uri="{FF2B5EF4-FFF2-40B4-BE49-F238E27FC236}">
                <a16:creationId xmlns:a16="http://schemas.microsoft.com/office/drawing/2014/main" id="{3D55B6C2-CD33-9563-5D13-69873BDC5218}"/>
              </a:ext>
            </a:extLst>
          </p:cNvPr>
          <p:cNvSpPr/>
          <p:nvPr/>
        </p:nvSpPr>
        <p:spPr>
          <a:xfrm>
            <a:off x="3635896" y="4737273"/>
            <a:ext cx="1260000" cy="324000"/>
          </a:xfrm>
          <a:prstGeom prst="roundRect">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活動量②</a:t>
            </a:r>
          </a:p>
        </p:txBody>
      </p:sp>
      <p:sp>
        <p:nvSpPr>
          <p:cNvPr id="82" name="四角形: 角を丸くする 81">
            <a:extLst>
              <a:ext uri="{FF2B5EF4-FFF2-40B4-BE49-F238E27FC236}">
                <a16:creationId xmlns:a16="http://schemas.microsoft.com/office/drawing/2014/main" id="{E3092387-E6D8-4658-D5AA-3BCFA5185122}"/>
              </a:ext>
            </a:extLst>
          </p:cNvPr>
          <p:cNvSpPr/>
          <p:nvPr/>
        </p:nvSpPr>
        <p:spPr>
          <a:xfrm>
            <a:off x="5247624" y="2420888"/>
            <a:ext cx="1260000" cy="324000"/>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係数①</a:t>
            </a:r>
          </a:p>
        </p:txBody>
      </p:sp>
      <p:sp>
        <p:nvSpPr>
          <p:cNvPr id="83" name="四角形: 角を丸くする 82">
            <a:extLst>
              <a:ext uri="{FF2B5EF4-FFF2-40B4-BE49-F238E27FC236}">
                <a16:creationId xmlns:a16="http://schemas.microsoft.com/office/drawing/2014/main" id="{DC286100-D45B-43C2-4336-77F6650B86DD}"/>
              </a:ext>
            </a:extLst>
          </p:cNvPr>
          <p:cNvSpPr/>
          <p:nvPr/>
        </p:nvSpPr>
        <p:spPr>
          <a:xfrm>
            <a:off x="5247624" y="3119752"/>
            <a:ext cx="1260000" cy="324000"/>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係数①</a:t>
            </a:r>
          </a:p>
        </p:txBody>
      </p:sp>
      <p:sp>
        <p:nvSpPr>
          <p:cNvPr id="86" name="四角形: 角を丸くする 85">
            <a:extLst>
              <a:ext uri="{FF2B5EF4-FFF2-40B4-BE49-F238E27FC236}">
                <a16:creationId xmlns:a16="http://schemas.microsoft.com/office/drawing/2014/main" id="{FFE4916D-B28C-A91C-3BBE-D2A0D5ABA0EA}"/>
              </a:ext>
            </a:extLst>
          </p:cNvPr>
          <p:cNvSpPr/>
          <p:nvPr/>
        </p:nvSpPr>
        <p:spPr>
          <a:xfrm>
            <a:off x="5247624" y="4081289"/>
            <a:ext cx="1260000" cy="324000"/>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係数②</a:t>
            </a:r>
          </a:p>
        </p:txBody>
      </p:sp>
      <p:sp>
        <p:nvSpPr>
          <p:cNvPr id="89" name="四角形: 角を丸くする 88">
            <a:extLst>
              <a:ext uri="{FF2B5EF4-FFF2-40B4-BE49-F238E27FC236}">
                <a16:creationId xmlns:a16="http://schemas.microsoft.com/office/drawing/2014/main" id="{95705F4B-D9F0-CB9C-69F0-3E4978C86187}"/>
              </a:ext>
            </a:extLst>
          </p:cNvPr>
          <p:cNvSpPr/>
          <p:nvPr/>
        </p:nvSpPr>
        <p:spPr>
          <a:xfrm>
            <a:off x="5247624" y="4737273"/>
            <a:ext cx="1260000" cy="324000"/>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係数②</a:t>
            </a:r>
            <a:endParaRPr kumimoji="1" lang="en-US" altLang="ja-JP" sz="1400">
              <a:solidFill>
                <a:schemeClr val="tx1"/>
              </a:solidFill>
              <a:latin typeface="Meiryo UI" panose="020B0604030504040204" pitchFamily="50" charset="-128"/>
              <a:ea typeface="Meiryo UI" panose="020B0604030504040204" pitchFamily="50" charset="-128"/>
            </a:endParaRPr>
          </a:p>
        </p:txBody>
      </p:sp>
      <p:sp>
        <p:nvSpPr>
          <p:cNvPr id="90" name="四角形: 角を丸くする 89">
            <a:extLst>
              <a:ext uri="{FF2B5EF4-FFF2-40B4-BE49-F238E27FC236}">
                <a16:creationId xmlns:a16="http://schemas.microsoft.com/office/drawing/2014/main" id="{9BE3F221-BD6D-0A4D-8EBB-CC90B7E4A183}"/>
              </a:ext>
            </a:extLst>
          </p:cNvPr>
          <p:cNvSpPr/>
          <p:nvPr/>
        </p:nvSpPr>
        <p:spPr>
          <a:xfrm>
            <a:off x="6903808" y="2420888"/>
            <a:ext cx="1260000" cy="324000"/>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排出量</a:t>
            </a:r>
          </a:p>
        </p:txBody>
      </p:sp>
      <p:sp>
        <p:nvSpPr>
          <p:cNvPr id="91" name="四角形: 角を丸くする 90">
            <a:extLst>
              <a:ext uri="{FF2B5EF4-FFF2-40B4-BE49-F238E27FC236}">
                <a16:creationId xmlns:a16="http://schemas.microsoft.com/office/drawing/2014/main" id="{CDB6621F-C183-1FB1-0447-C7310728209E}"/>
              </a:ext>
            </a:extLst>
          </p:cNvPr>
          <p:cNvSpPr/>
          <p:nvPr/>
        </p:nvSpPr>
        <p:spPr>
          <a:xfrm>
            <a:off x="6903808" y="3129448"/>
            <a:ext cx="1260000" cy="324000"/>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排出量</a:t>
            </a:r>
          </a:p>
        </p:txBody>
      </p:sp>
      <p:sp>
        <p:nvSpPr>
          <p:cNvPr id="92" name="四角形: 角を丸くする 91">
            <a:extLst>
              <a:ext uri="{FF2B5EF4-FFF2-40B4-BE49-F238E27FC236}">
                <a16:creationId xmlns:a16="http://schemas.microsoft.com/office/drawing/2014/main" id="{74073186-A4DE-789A-996C-664B7B539E27}"/>
              </a:ext>
            </a:extLst>
          </p:cNvPr>
          <p:cNvSpPr/>
          <p:nvPr/>
        </p:nvSpPr>
        <p:spPr>
          <a:xfrm>
            <a:off x="6903808" y="4063944"/>
            <a:ext cx="1260000" cy="324000"/>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排出量</a:t>
            </a:r>
          </a:p>
        </p:txBody>
      </p:sp>
      <p:sp>
        <p:nvSpPr>
          <p:cNvPr id="93" name="四角形: 角を丸くする 92">
            <a:extLst>
              <a:ext uri="{FF2B5EF4-FFF2-40B4-BE49-F238E27FC236}">
                <a16:creationId xmlns:a16="http://schemas.microsoft.com/office/drawing/2014/main" id="{28D1644C-417D-5741-C7CF-01E15088ABD5}"/>
              </a:ext>
            </a:extLst>
          </p:cNvPr>
          <p:cNvSpPr/>
          <p:nvPr/>
        </p:nvSpPr>
        <p:spPr>
          <a:xfrm>
            <a:off x="6903808" y="4747898"/>
            <a:ext cx="1260000" cy="324000"/>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排出量</a:t>
            </a:r>
          </a:p>
        </p:txBody>
      </p:sp>
      <p:sp>
        <p:nvSpPr>
          <p:cNvPr id="94" name="乗算記号 93">
            <a:extLst>
              <a:ext uri="{FF2B5EF4-FFF2-40B4-BE49-F238E27FC236}">
                <a16:creationId xmlns:a16="http://schemas.microsoft.com/office/drawing/2014/main" id="{148F116D-734E-54B5-67E1-04E59BCF5C37}"/>
              </a:ext>
            </a:extLst>
          </p:cNvPr>
          <p:cNvSpPr/>
          <p:nvPr/>
        </p:nvSpPr>
        <p:spPr>
          <a:xfrm>
            <a:off x="4899453" y="2413493"/>
            <a:ext cx="366159" cy="366159"/>
          </a:xfrm>
          <a:prstGeom prst="mathMultiply">
            <a:avLst>
              <a:gd name="adj1" fmla="val 6173"/>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6" name="乗算記号 95">
            <a:extLst>
              <a:ext uri="{FF2B5EF4-FFF2-40B4-BE49-F238E27FC236}">
                <a16:creationId xmlns:a16="http://schemas.microsoft.com/office/drawing/2014/main" id="{B5E5D8EC-EA5C-1D08-7B76-D30EDF6432F9}"/>
              </a:ext>
            </a:extLst>
          </p:cNvPr>
          <p:cNvSpPr/>
          <p:nvPr/>
        </p:nvSpPr>
        <p:spPr>
          <a:xfrm>
            <a:off x="4899453" y="3087289"/>
            <a:ext cx="366159" cy="366159"/>
          </a:xfrm>
          <a:prstGeom prst="mathMultiply">
            <a:avLst>
              <a:gd name="adj1" fmla="val 6173"/>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7" name="乗算記号 96">
            <a:extLst>
              <a:ext uri="{FF2B5EF4-FFF2-40B4-BE49-F238E27FC236}">
                <a16:creationId xmlns:a16="http://schemas.microsoft.com/office/drawing/2014/main" id="{047E25BA-4339-2852-DCD9-AFEB948B88CF}"/>
              </a:ext>
            </a:extLst>
          </p:cNvPr>
          <p:cNvSpPr/>
          <p:nvPr/>
        </p:nvSpPr>
        <p:spPr>
          <a:xfrm>
            <a:off x="4899453" y="4038550"/>
            <a:ext cx="366159" cy="366159"/>
          </a:xfrm>
          <a:prstGeom prst="mathMultiply">
            <a:avLst>
              <a:gd name="adj1" fmla="val 6173"/>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8" name="乗算記号 97">
            <a:extLst>
              <a:ext uri="{FF2B5EF4-FFF2-40B4-BE49-F238E27FC236}">
                <a16:creationId xmlns:a16="http://schemas.microsoft.com/office/drawing/2014/main" id="{8B2444D6-D0B1-91CF-7525-88EA35E9868A}"/>
              </a:ext>
            </a:extLst>
          </p:cNvPr>
          <p:cNvSpPr/>
          <p:nvPr/>
        </p:nvSpPr>
        <p:spPr>
          <a:xfrm>
            <a:off x="4899453" y="4738502"/>
            <a:ext cx="366159" cy="366159"/>
          </a:xfrm>
          <a:prstGeom prst="mathMultiply">
            <a:avLst>
              <a:gd name="adj1" fmla="val 6173"/>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9" name="次の値と等しい 98">
            <a:extLst>
              <a:ext uri="{FF2B5EF4-FFF2-40B4-BE49-F238E27FC236}">
                <a16:creationId xmlns:a16="http://schemas.microsoft.com/office/drawing/2014/main" id="{47FB2758-6E76-4734-8683-D4252032E630}"/>
              </a:ext>
            </a:extLst>
          </p:cNvPr>
          <p:cNvSpPr/>
          <p:nvPr/>
        </p:nvSpPr>
        <p:spPr>
          <a:xfrm>
            <a:off x="6564180" y="2416942"/>
            <a:ext cx="283072" cy="283072"/>
          </a:xfrm>
          <a:prstGeom prst="mathEqual">
            <a:avLst>
              <a:gd name="adj1" fmla="val 7194"/>
              <a:gd name="adj2" fmla="val 1176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00" name="次の値と等しい 99">
            <a:extLst>
              <a:ext uri="{FF2B5EF4-FFF2-40B4-BE49-F238E27FC236}">
                <a16:creationId xmlns:a16="http://schemas.microsoft.com/office/drawing/2014/main" id="{39E64FDA-62DB-7843-50DA-6938A695FE2D}"/>
              </a:ext>
            </a:extLst>
          </p:cNvPr>
          <p:cNvSpPr/>
          <p:nvPr/>
        </p:nvSpPr>
        <p:spPr>
          <a:xfrm>
            <a:off x="6564180" y="3181737"/>
            <a:ext cx="283072" cy="283072"/>
          </a:xfrm>
          <a:prstGeom prst="mathEqual">
            <a:avLst>
              <a:gd name="adj1" fmla="val 7194"/>
              <a:gd name="adj2" fmla="val 1176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01" name="次の値と等しい 100">
            <a:extLst>
              <a:ext uri="{FF2B5EF4-FFF2-40B4-BE49-F238E27FC236}">
                <a16:creationId xmlns:a16="http://schemas.microsoft.com/office/drawing/2014/main" id="{215C2929-0233-9749-A2DD-B59E33B9F6BD}"/>
              </a:ext>
            </a:extLst>
          </p:cNvPr>
          <p:cNvSpPr/>
          <p:nvPr/>
        </p:nvSpPr>
        <p:spPr>
          <a:xfrm>
            <a:off x="6564180" y="4096636"/>
            <a:ext cx="283072" cy="283072"/>
          </a:xfrm>
          <a:prstGeom prst="mathEqual">
            <a:avLst>
              <a:gd name="adj1" fmla="val 7194"/>
              <a:gd name="adj2" fmla="val 1176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02" name="次の値と等しい 101">
            <a:extLst>
              <a:ext uri="{FF2B5EF4-FFF2-40B4-BE49-F238E27FC236}">
                <a16:creationId xmlns:a16="http://schemas.microsoft.com/office/drawing/2014/main" id="{0F37F252-E412-B0A3-CA86-937BC69322C6}"/>
              </a:ext>
            </a:extLst>
          </p:cNvPr>
          <p:cNvSpPr/>
          <p:nvPr/>
        </p:nvSpPr>
        <p:spPr>
          <a:xfrm>
            <a:off x="6564180" y="4813986"/>
            <a:ext cx="283072" cy="283072"/>
          </a:xfrm>
          <a:prstGeom prst="mathEqual">
            <a:avLst>
              <a:gd name="adj1" fmla="val 7194"/>
              <a:gd name="adj2" fmla="val 1176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cxnSp>
        <p:nvCxnSpPr>
          <p:cNvPr id="103" name="直線コネクタ 102">
            <a:extLst>
              <a:ext uri="{FF2B5EF4-FFF2-40B4-BE49-F238E27FC236}">
                <a16:creationId xmlns:a16="http://schemas.microsoft.com/office/drawing/2014/main" id="{D8AE5C3F-1820-75B9-F9C2-53371FE31CD0}"/>
              </a:ext>
            </a:extLst>
          </p:cNvPr>
          <p:cNvCxnSpPr>
            <a:cxnSpLocks/>
          </p:cNvCxnSpPr>
          <p:nvPr/>
        </p:nvCxnSpPr>
        <p:spPr>
          <a:xfrm>
            <a:off x="2597356" y="2034373"/>
            <a:ext cx="23106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5" name="正方形/長方形 104">
            <a:extLst>
              <a:ext uri="{FF2B5EF4-FFF2-40B4-BE49-F238E27FC236}">
                <a16:creationId xmlns:a16="http://schemas.microsoft.com/office/drawing/2014/main" id="{DF686B09-522E-0E7C-17F1-39CF5F00B947}"/>
              </a:ext>
            </a:extLst>
          </p:cNvPr>
          <p:cNvSpPr/>
          <p:nvPr/>
        </p:nvSpPr>
        <p:spPr>
          <a:xfrm>
            <a:off x="2969872" y="1810834"/>
            <a:ext cx="1636545" cy="232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入力データ</a:t>
            </a:r>
          </a:p>
        </p:txBody>
      </p:sp>
      <p:cxnSp>
        <p:nvCxnSpPr>
          <p:cNvPr id="106" name="直線コネクタ 105">
            <a:extLst>
              <a:ext uri="{FF2B5EF4-FFF2-40B4-BE49-F238E27FC236}">
                <a16:creationId xmlns:a16="http://schemas.microsoft.com/office/drawing/2014/main" id="{CED43DB5-0FAF-F519-DA40-FC783D127DD5}"/>
              </a:ext>
            </a:extLst>
          </p:cNvPr>
          <p:cNvCxnSpPr>
            <a:cxnSpLocks/>
          </p:cNvCxnSpPr>
          <p:nvPr/>
        </p:nvCxnSpPr>
        <p:spPr>
          <a:xfrm>
            <a:off x="4991019" y="2034373"/>
            <a:ext cx="3172789"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7" name="正方形/長方形 106">
            <a:extLst>
              <a:ext uri="{FF2B5EF4-FFF2-40B4-BE49-F238E27FC236}">
                <a16:creationId xmlns:a16="http://schemas.microsoft.com/office/drawing/2014/main" id="{E743CB5F-46F1-FBBB-34A7-CA16B19928CD}"/>
              </a:ext>
            </a:extLst>
          </p:cNvPr>
          <p:cNvSpPr/>
          <p:nvPr/>
        </p:nvSpPr>
        <p:spPr>
          <a:xfrm>
            <a:off x="5759140" y="1810834"/>
            <a:ext cx="1636545" cy="232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システム算定</a:t>
            </a:r>
          </a:p>
        </p:txBody>
      </p:sp>
      <p:grpSp>
        <p:nvGrpSpPr>
          <p:cNvPr id="113" name="グループ化 112">
            <a:extLst>
              <a:ext uri="{FF2B5EF4-FFF2-40B4-BE49-F238E27FC236}">
                <a16:creationId xmlns:a16="http://schemas.microsoft.com/office/drawing/2014/main" id="{9C2A566D-569F-D40A-92A7-FDD776908D90}"/>
              </a:ext>
            </a:extLst>
          </p:cNvPr>
          <p:cNvGrpSpPr/>
          <p:nvPr/>
        </p:nvGrpSpPr>
        <p:grpSpPr>
          <a:xfrm>
            <a:off x="4346769" y="2136657"/>
            <a:ext cx="513263" cy="278050"/>
            <a:chOff x="4346769" y="2136657"/>
            <a:chExt cx="513263" cy="278050"/>
          </a:xfrm>
        </p:grpSpPr>
        <p:pic>
          <p:nvPicPr>
            <p:cNvPr id="110" name="グラフィックス 109" descr="ユーザー 単色塗りつぶし">
              <a:extLst>
                <a:ext uri="{FF2B5EF4-FFF2-40B4-BE49-F238E27FC236}">
                  <a16:creationId xmlns:a16="http://schemas.microsoft.com/office/drawing/2014/main" id="{2852429D-6100-7865-E50F-9F6246C6C1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111" name="正方形/長方形 110">
              <a:extLst>
                <a:ext uri="{FF2B5EF4-FFF2-40B4-BE49-F238E27FC236}">
                  <a16:creationId xmlns:a16="http://schemas.microsoft.com/office/drawing/2014/main" id="{5C22215C-22BB-F21E-D529-A3FFA4ED1B1F}"/>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112" name="正方形/長方形 111">
              <a:extLst>
                <a:ext uri="{FF2B5EF4-FFF2-40B4-BE49-F238E27FC236}">
                  <a16:creationId xmlns:a16="http://schemas.microsoft.com/office/drawing/2014/main" id="{F98FC43C-CF75-E33B-E267-D253803177DD}"/>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本社</a:t>
              </a:r>
            </a:p>
          </p:txBody>
        </p:sp>
      </p:grpSp>
      <p:grpSp>
        <p:nvGrpSpPr>
          <p:cNvPr id="114" name="グループ化 113">
            <a:extLst>
              <a:ext uri="{FF2B5EF4-FFF2-40B4-BE49-F238E27FC236}">
                <a16:creationId xmlns:a16="http://schemas.microsoft.com/office/drawing/2014/main" id="{26A80C1F-EE7B-3124-432C-D2E0781BB101}"/>
              </a:ext>
            </a:extLst>
          </p:cNvPr>
          <p:cNvGrpSpPr/>
          <p:nvPr/>
        </p:nvGrpSpPr>
        <p:grpSpPr>
          <a:xfrm>
            <a:off x="4357912" y="2845700"/>
            <a:ext cx="513263" cy="278050"/>
            <a:chOff x="4346769" y="2136657"/>
            <a:chExt cx="513263" cy="278050"/>
          </a:xfrm>
        </p:grpSpPr>
        <p:pic>
          <p:nvPicPr>
            <p:cNvPr id="115" name="グラフィックス 114" descr="ユーザー 単色塗りつぶし">
              <a:extLst>
                <a:ext uri="{FF2B5EF4-FFF2-40B4-BE49-F238E27FC236}">
                  <a16:creationId xmlns:a16="http://schemas.microsoft.com/office/drawing/2014/main" id="{D6157784-8E4D-B669-6BF9-0377B204D2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116" name="正方形/長方形 115">
              <a:extLst>
                <a:ext uri="{FF2B5EF4-FFF2-40B4-BE49-F238E27FC236}">
                  <a16:creationId xmlns:a16="http://schemas.microsoft.com/office/drawing/2014/main" id="{D0A89E3E-909F-0C1F-7B96-32A88029A9AD}"/>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117" name="正方形/長方形 116">
              <a:extLst>
                <a:ext uri="{FF2B5EF4-FFF2-40B4-BE49-F238E27FC236}">
                  <a16:creationId xmlns:a16="http://schemas.microsoft.com/office/drawing/2014/main" id="{380C2E1A-3ED3-DD32-9809-0261694BFA10}"/>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本社</a:t>
              </a:r>
            </a:p>
          </p:txBody>
        </p:sp>
      </p:grpSp>
      <p:grpSp>
        <p:nvGrpSpPr>
          <p:cNvPr id="118" name="グループ化 117">
            <a:extLst>
              <a:ext uri="{FF2B5EF4-FFF2-40B4-BE49-F238E27FC236}">
                <a16:creationId xmlns:a16="http://schemas.microsoft.com/office/drawing/2014/main" id="{2993EB39-7495-AE5B-DF35-602E74701677}"/>
              </a:ext>
            </a:extLst>
          </p:cNvPr>
          <p:cNvGrpSpPr/>
          <p:nvPr/>
        </p:nvGrpSpPr>
        <p:grpSpPr>
          <a:xfrm>
            <a:off x="4357912" y="3782559"/>
            <a:ext cx="513263" cy="278050"/>
            <a:chOff x="4346769" y="2136657"/>
            <a:chExt cx="513263" cy="278050"/>
          </a:xfrm>
        </p:grpSpPr>
        <p:pic>
          <p:nvPicPr>
            <p:cNvPr id="119" name="グラフィックス 118" descr="ユーザー 単色塗りつぶし">
              <a:extLst>
                <a:ext uri="{FF2B5EF4-FFF2-40B4-BE49-F238E27FC236}">
                  <a16:creationId xmlns:a16="http://schemas.microsoft.com/office/drawing/2014/main" id="{AFC76B39-9399-2C51-2784-C4C714FBE0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120" name="正方形/長方形 119">
              <a:extLst>
                <a:ext uri="{FF2B5EF4-FFF2-40B4-BE49-F238E27FC236}">
                  <a16:creationId xmlns:a16="http://schemas.microsoft.com/office/drawing/2014/main" id="{FD8A0BA0-93A8-0C31-51E5-EEF25D9BDEBF}"/>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121" name="正方形/長方形 120">
              <a:extLst>
                <a:ext uri="{FF2B5EF4-FFF2-40B4-BE49-F238E27FC236}">
                  <a16:creationId xmlns:a16="http://schemas.microsoft.com/office/drawing/2014/main" id="{BDEAB858-FC56-7E5F-A595-6FD8CDD63809}"/>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拠点</a:t>
              </a:r>
              <a:r>
                <a:rPr kumimoji="1" lang="en-US" altLang="ja-JP" sz="900" b="1">
                  <a:solidFill>
                    <a:schemeClr val="tx1"/>
                  </a:solidFill>
                  <a:latin typeface="Meiryo UI" panose="020B0604030504040204" pitchFamily="50" charset="-128"/>
                  <a:ea typeface="Meiryo UI" panose="020B0604030504040204" pitchFamily="50" charset="-128"/>
                </a:rPr>
                <a:t>C</a:t>
              </a:r>
              <a:br>
                <a:rPr kumimoji="1" lang="en-US" altLang="ja-JP" sz="900" b="1">
                  <a:solidFill>
                    <a:schemeClr val="tx1"/>
                  </a:solidFill>
                  <a:latin typeface="Meiryo UI" panose="020B0604030504040204" pitchFamily="50" charset="-128"/>
                  <a:ea typeface="Meiryo UI" panose="020B0604030504040204" pitchFamily="50" charset="-128"/>
                </a:rPr>
              </a:br>
              <a:r>
                <a:rPr kumimoji="1" lang="ja-JP" altLang="en-US" sz="900" b="1">
                  <a:solidFill>
                    <a:schemeClr val="tx1"/>
                  </a:solidFill>
                  <a:latin typeface="Meiryo UI" panose="020B0604030504040204" pitchFamily="50" charset="-128"/>
                  <a:ea typeface="Meiryo UI" panose="020B0604030504040204" pitchFamily="50" charset="-128"/>
                </a:rPr>
                <a:t>上長</a:t>
              </a:r>
            </a:p>
          </p:txBody>
        </p:sp>
      </p:grpSp>
      <p:grpSp>
        <p:nvGrpSpPr>
          <p:cNvPr id="122" name="グループ化 121">
            <a:extLst>
              <a:ext uri="{FF2B5EF4-FFF2-40B4-BE49-F238E27FC236}">
                <a16:creationId xmlns:a16="http://schemas.microsoft.com/office/drawing/2014/main" id="{91EE947D-E211-971F-A9AF-08A1E2D91B65}"/>
              </a:ext>
            </a:extLst>
          </p:cNvPr>
          <p:cNvGrpSpPr/>
          <p:nvPr/>
        </p:nvGrpSpPr>
        <p:grpSpPr>
          <a:xfrm>
            <a:off x="4357912" y="4437112"/>
            <a:ext cx="513263" cy="278050"/>
            <a:chOff x="4346769" y="2136657"/>
            <a:chExt cx="513263" cy="278050"/>
          </a:xfrm>
        </p:grpSpPr>
        <p:pic>
          <p:nvPicPr>
            <p:cNvPr id="123" name="グラフィックス 122" descr="ユーザー 単色塗りつぶし">
              <a:extLst>
                <a:ext uri="{FF2B5EF4-FFF2-40B4-BE49-F238E27FC236}">
                  <a16:creationId xmlns:a16="http://schemas.microsoft.com/office/drawing/2014/main" id="{CD964BCD-72F6-EA6D-4E85-0F8257A925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124" name="正方形/長方形 123">
              <a:extLst>
                <a:ext uri="{FF2B5EF4-FFF2-40B4-BE49-F238E27FC236}">
                  <a16:creationId xmlns:a16="http://schemas.microsoft.com/office/drawing/2014/main" id="{F062E333-893E-FFF0-2DCE-C465A6055DF3}"/>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125" name="正方形/長方形 124">
              <a:extLst>
                <a:ext uri="{FF2B5EF4-FFF2-40B4-BE49-F238E27FC236}">
                  <a16:creationId xmlns:a16="http://schemas.microsoft.com/office/drawing/2014/main" id="{522623B6-B7B8-10AD-29E2-0612F42DA30F}"/>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拠点</a:t>
              </a:r>
              <a:r>
                <a:rPr kumimoji="1" lang="en-US" altLang="ja-JP" sz="900" b="1">
                  <a:solidFill>
                    <a:schemeClr val="tx1"/>
                  </a:solidFill>
                  <a:latin typeface="Meiryo UI" panose="020B0604030504040204" pitchFamily="50" charset="-128"/>
                  <a:ea typeface="Meiryo UI" panose="020B0604030504040204" pitchFamily="50" charset="-128"/>
                </a:rPr>
                <a:t>D</a:t>
              </a:r>
              <a:br>
                <a:rPr kumimoji="1" lang="en-US" altLang="ja-JP" sz="900" b="1">
                  <a:solidFill>
                    <a:schemeClr val="tx1"/>
                  </a:solidFill>
                  <a:latin typeface="Meiryo UI" panose="020B0604030504040204" pitchFamily="50" charset="-128"/>
                  <a:ea typeface="Meiryo UI" panose="020B0604030504040204" pitchFamily="50" charset="-128"/>
                </a:rPr>
              </a:br>
              <a:r>
                <a:rPr kumimoji="1" lang="ja-JP" altLang="en-US" sz="900" b="1">
                  <a:solidFill>
                    <a:schemeClr val="tx1"/>
                  </a:solidFill>
                  <a:latin typeface="Meiryo UI" panose="020B0604030504040204" pitchFamily="50" charset="-128"/>
                  <a:ea typeface="Meiryo UI" panose="020B0604030504040204" pitchFamily="50" charset="-128"/>
                </a:rPr>
                <a:t>上長</a:t>
              </a:r>
            </a:p>
          </p:txBody>
        </p:sp>
      </p:grpSp>
      <p:sp>
        <p:nvSpPr>
          <p:cNvPr id="126" name="正方形/長方形 125">
            <a:extLst>
              <a:ext uri="{FF2B5EF4-FFF2-40B4-BE49-F238E27FC236}">
                <a16:creationId xmlns:a16="http://schemas.microsoft.com/office/drawing/2014/main" id="{1945C123-7861-5A41-154D-8384F384CD0D}"/>
              </a:ext>
            </a:extLst>
          </p:cNvPr>
          <p:cNvSpPr/>
          <p:nvPr/>
        </p:nvSpPr>
        <p:spPr>
          <a:xfrm>
            <a:off x="365829" y="5562998"/>
            <a:ext cx="2736000" cy="726542"/>
          </a:xfrm>
          <a:prstGeom prst="rec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kumimoji="1" lang="ja-JP" altLang="en-US" sz="1100">
                <a:solidFill>
                  <a:schemeClr val="tx1"/>
                </a:solidFill>
                <a:latin typeface="Meiryo UI" panose="020B0604030504040204" pitchFamily="50" charset="-128"/>
                <a:ea typeface="Meiryo UI" panose="020B0604030504040204" pitchFamily="50" charset="-128"/>
              </a:rPr>
              <a:t>拠点データでも、本社で一括入力する場合がある（入力データ≠入力拠点）</a:t>
            </a:r>
            <a:endParaRPr kumimoji="1" lang="en-US" altLang="ja-JP" sz="1100">
              <a:solidFill>
                <a:schemeClr val="tx1"/>
              </a:solidFill>
              <a:latin typeface="Meiryo UI" panose="020B0604030504040204" pitchFamily="50" charset="-128"/>
              <a:ea typeface="Meiryo UI" panose="020B0604030504040204" pitchFamily="50" charset="-128"/>
            </a:endParaRPr>
          </a:p>
          <a:p>
            <a:r>
              <a:rPr kumimoji="1" lang="en-US" altLang="ja-JP" sz="1100">
                <a:solidFill>
                  <a:schemeClr val="tx1"/>
                </a:solidFill>
                <a:latin typeface="Meiryo UI" panose="020B0604030504040204" pitchFamily="50" charset="-128"/>
                <a:ea typeface="Meiryo UI" panose="020B0604030504040204" pitchFamily="50" charset="-128"/>
              </a:rPr>
              <a:t>※</a:t>
            </a:r>
            <a:r>
              <a:rPr kumimoji="1" lang="ja-JP" altLang="en-US" sz="1100">
                <a:solidFill>
                  <a:schemeClr val="tx1"/>
                </a:solidFill>
                <a:latin typeface="Meiryo UI" panose="020B0604030504040204" pitchFamily="50" charset="-128"/>
                <a:ea typeface="Meiryo UI" panose="020B0604030504040204" pitchFamily="50" charset="-128"/>
              </a:rPr>
              <a:t>基幹システムから物量データを投入等。この要求は、</a:t>
            </a:r>
            <a:r>
              <a:rPr kumimoji="1" lang="en-US" altLang="ja-JP" sz="1100">
                <a:solidFill>
                  <a:schemeClr val="tx1"/>
                </a:solidFill>
                <a:latin typeface="Meiryo UI" panose="020B0604030504040204" pitchFamily="50" charset="-128"/>
                <a:ea typeface="Meiryo UI" panose="020B0604030504040204" pitchFamily="50" charset="-128"/>
              </a:rPr>
              <a:t>Scope1,2</a:t>
            </a:r>
            <a:r>
              <a:rPr kumimoji="1" lang="ja-JP" altLang="en-US" sz="1100">
                <a:solidFill>
                  <a:schemeClr val="tx1"/>
                </a:solidFill>
                <a:latin typeface="Meiryo UI" panose="020B0604030504040204" pitchFamily="50" charset="-128"/>
                <a:ea typeface="Meiryo UI" panose="020B0604030504040204" pitchFamily="50" charset="-128"/>
              </a:rPr>
              <a:t>との差分）</a:t>
            </a:r>
            <a:endParaRPr kumimoji="1" lang="en-US" altLang="ja-JP" sz="1100">
              <a:solidFill>
                <a:schemeClr val="tx1"/>
              </a:solidFill>
              <a:latin typeface="Meiryo UI" panose="020B0604030504040204" pitchFamily="50" charset="-128"/>
              <a:ea typeface="Meiryo UI" panose="020B0604030504040204" pitchFamily="50" charset="-128"/>
            </a:endParaRPr>
          </a:p>
        </p:txBody>
      </p:sp>
      <p:sp>
        <p:nvSpPr>
          <p:cNvPr id="127" name="楕円 126">
            <a:extLst>
              <a:ext uri="{FF2B5EF4-FFF2-40B4-BE49-F238E27FC236}">
                <a16:creationId xmlns:a16="http://schemas.microsoft.com/office/drawing/2014/main" id="{87C46FD5-DFEA-3FCD-39A7-83068F3FB117}"/>
              </a:ext>
            </a:extLst>
          </p:cNvPr>
          <p:cNvSpPr/>
          <p:nvPr/>
        </p:nvSpPr>
        <p:spPr>
          <a:xfrm>
            <a:off x="239584" y="5438871"/>
            <a:ext cx="215640" cy="21564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000">
              <a:solidFill>
                <a:schemeClr val="bg1"/>
              </a:solidFill>
              <a:latin typeface="Meiryo UI" panose="020B0604030504040204" pitchFamily="50" charset="-128"/>
              <a:ea typeface="Meiryo UI" panose="020B0604030504040204" pitchFamily="50" charset="-128"/>
            </a:endParaRPr>
          </a:p>
        </p:txBody>
      </p:sp>
      <p:cxnSp>
        <p:nvCxnSpPr>
          <p:cNvPr id="1025" name="直線コネクタ 1024">
            <a:extLst>
              <a:ext uri="{FF2B5EF4-FFF2-40B4-BE49-F238E27FC236}">
                <a16:creationId xmlns:a16="http://schemas.microsoft.com/office/drawing/2014/main" id="{374D6CB1-95B3-6B3E-4501-EC0728E1105B}"/>
              </a:ext>
            </a:extLst>
          </p:cNvPr>
          <p:cNvCxnSpPr>
            <a:cxnSpLocks/>
            <a:stCxn id="126" idx="0"/>
          </p:cNvCxnSpPr>
          <p:nvPr/>
        </p:nvCxnSpPr>
        <p:spPr>
          <a:xfrm flipH="1" flipV="1">
            <a:off x="1043608" y="3706179"/>
            <a:ext cx="690221" cy="1856819"/>
          </a:xfrm>
          <a:prstGeom prst="line">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1027" name="直線コネクタ 1026">
            <a:extLst>
              <a:ext uri="{FF2B5EF4-FFF2-40B4-BE49-F238E27FC236}">
                <a16:creationId xmlns:a16="http://schemas.microsoft.com/office/drawing/2014/main" id="{EAAF7320-96AE-BE21-E129-30697CEB0E0D}"/>
              </a:ext>
            </a:extLst>
          </p:cNvPr>
          <p:cNvCxnSpPr>
            <a:cxnSpLocks/>
            <a:stCxn id="1030" idx="0"/>
          </p:cNvCxnSpPr>
          <p:nvPr/>
        </p:nvCxnSpPr>
        <p:spPr>
          <a:xfrm flipH="1" flipV="1">
            <a:off x="4420823" y="5117081"/>
            <a:ext cx="189095" cy="445917"/>
          </a:xfrm>
          <a:prstGeom prst="line">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030" name="正方形/長方形 1029">
            <a:extLst>
              <a:ext uri="{FF2B5EF4-FFF2-40B4-BE49-F238E27FC236}">
                <a16:creationId xmlns:a16="http://schemas.microsoft.com/office/drawing/2014/main" id="{A2B84C9C-1BAF-2DE8-589A-9162A7304B69}"/>
              </a:ext>
            </a:extLst>
          </p:cNvPr>
          <p:cNvSpPr/>
          <p:nvPr/>
        </p:nvSpPr>
        <p:spPr>
          <a:xfrm>
            <a:off x="3241918" y="5562998"/>
            <a:ext cx="2736000" cy="726542"/>
          </a:xfrm>
          <a:prstGeom prst="rec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solidFill>
                <a:latin typeface="Meiryo UI" panose="020B0604030504040204" pitchFamily="50" charset="-128"/>
                <a:ea typeface="Meiryo UI" panose="020B0604030504040204" pitchFamily="50" charset="-128"/>
              </a:rPr>
              <a:t>本社で一括入力があり得るため、組織は拠点だが、承認先は本社となる場合がある。つまり、</a:t>
            </a:r>
            <a:r>
              <a:rPr kumimoji="1" lang="ja-JP" altLang="en-US" sz="1100" b="1" u="sng">
                <a:solidFill>
                  <a:schemeClr val="tx1"/>
                </a:solidFill>
                <a:latin typeface="Meiryo UI" panose="020B0604030504040204" pitchFamily="50" charset="-128"/>
                <a:ea typeface="Meiryo UI" panose="020B0604030504040204" pitchFamily="50" charset="-128"/>
              </a:rPr>
              <a:t>拠点</a:t>
            </a:r>
            <a:r>
              <a:rPr kumimoji="1" lang="en-US" altLang="ja-JP" sz="1100" b="1" u="sng">
                <a:solidFill>
                  <a:schemeClr val="tx1"/>
                </a:solidFill>
                <a:latin typeface="Meiryo UI" panose="020B0604030504040204" pitchFamily="50" charset="-128"/>
                <a:ea typeface="Meiryo UI" panose="020B0604030504040204" pitchFamily="50" charset="-128"/>
              </a:rPr>
              <a:t>×</a:t>
            </a:r>
            <a:r>
              <a:rPr kumimoji="1" lang="ja-JP" altLang="en-US" sz="1100" b="1" u="sng">
                <a:solidFill>
                  <a:schemeClr val="tx1"/>
                </a:solidFill>
                <a:latin typeface="Meiryo UI" panose="020B0604030504040204" pitchFamily="50" charset="-128"/>
                <a:ea typeface="Meiryo UI" panose="020B0604030504040204" pitchFamily="50" charset="-128"/>
              </a:rPr>
              <a:t>活動量の組み合わせで、承認</a:t>
            </a:r>
            <a:r>
              <a:rPr kumimoji="1" lang="en-US" altLang="ja-JP" sz="1100" b="1" u="sng">
                <a:solidFill>
                  <a:schemeClr val="tx1"/>
                </a:solidFill>
                <a:latin typeface="Meiryo UI" panose="020B0604030504040204" pitchFamily="50" charset="-128"/>
                <a:ea typeface="Meiryo UI" panose="020B0604030504040204" pitchFamily="50" charset="-128"/>
              </a:rPr>
              <a:t>WF</a:t>
            </a:r>
            <a:r>
              <a:rPr kumimoji="1" lang="ja-JP" altLang="en-US" sz="1100" b="1" u="sng">
                <a:solidFill>
                  <a:schemeClr val="tx1"/>
                </a:solidFill>
                <a:latin typeface="Meiryo UI" panose="020B0604030504040204" pitchFamily="50" charset="-128"/>
                <a:ea typeface="Meiryo UI" panose="020B0604030504040204" pitchFamily="50" charset="-128"/>
              </a:rPr>
              <a:t>を定義可能であることが求められる</a:t>
            </a:r>
          </a:p>
        </p:txBody>
      </p:sp>
      <p:sp>
        <p:nvSpPr>
          <p:cNvPr id="1031" name="楕円 1030">
            <a:extLst>
              <a:ext uri="{FF2B5EF4-FFF2-40B4-BE49-F238E27FC236}">
                <a16:creationId xmlns:a16="http://schemas.microsoft.com/office/drawing/2014/main" id="{F2EEE817-C4DE-3B77-D4AD-58AEF6092DC1}"/>
              </a:ext>
            </a:extLst>
          </p:cNvPr>
          <p:cNvSpPr/>
          <p:nvPr/>
        </p:nvSpPr>
        <p:spPr>
          <a:xfrm>
            <a:off x="3146009" y="5468058"/>
            <a:ext cx="215640" cy="21564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2</a:t>
            </a:r>
            <a:endParaRPr kumimoji="1" lang="ja-JP" altLang="en-US" sz="1000">
              <a:solidFill>
                <a:schemeClr val="bg1"/>
              </a:solidFill>
              <a:latin typeface="Meiryo UI" panose="020B0604030504040204" pitchFamily="50" charset="-128"/>
              <a:ea typeface="Meiryo UI" panose="020B0604030504040204" pitchFamily="50" charset="-128"/>
            </a:endParaRPr>
          </a:p>
        </p:txBody>
      </p:sp>
      <p:cxnSp>
        <p:nvCxnSpPr>
          <p:cNvPr id="1029" name="直線コネクタ 1028">
            <a:extLst>
              <a:ext uri="{FF2B5EF4-FFF2-40B4-BE49-F238E27FC236}">
                <a16:creationId xmlns:a16="http://schemas.microsoft.com/office/drawing/2014/main" id="{1726B10D-69F9-EA76-7209-9FCF5A228D74}"/>
              </a:ext>
            </a:extLst>
          </p:cNvPr>
          <p:cNvCxnSpPr>
            <a:cxnSpLocks/>
            <a:stCxn id="77" idx="0"/>
          </p:cNvCxnSpPr>
          <p:nvPr/>
        </p:nvCxnSpPr>
        <p:spPr>
          <a:xfrm flipH="1" flipV="1">
            <a:off x="4720909" y="5104661"/>
            <a:ext cx="2765097" cy="458337"/>
          </a:xfrm>
          <a:prstGeom prst="line">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5" name="楕円 4">
            <a:extLst>
              <a:ext uri="{FF2B5EF4-FFF2-40B4-BE49-F238E27FC236}">
                <a16:creationId xmlns:a16="http://schemas.microsoft.com/office/drawing/2014/main" id="{F8210532-6F32-3F1B-4EDB-E4FCE27E6C42}"/>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6" name="四角形: 角を丸くする 5">
            <a:extLst>
              <a:ext uri="{FF2B5EF4-FFF2-40B4-BE49-F238E27FC236}">
                <a16:creationId xmlns:a16="http://schemas.microsoft.com/office/drawing/2014/main" id="{16187E6E-D117-097E-A00B-0FFBC4E905C2}"/>
              </a:ext>
            </a:extLst>
          </p:cNvPr>
          <p:cNvSpPr/>
          <p:nvPr/>
        </p:nvSpPr>
        <p:spPr>
          <a:xfrm>
            <a:off x="7045749" y="169787"/>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　対応すべき複数の開示基準</a:t>
            </a:r>
          </a:p>
        </p:txBody>
      </p:sp>
      <p:sp>
        <p:nvSpPr>
          <p:cNvPr id="7" name="四角形: 角を丸くする 6">
            <a:extLst>
              <a:ext uri="{FF2B5EF4-FFF2-40B4-BE49-F238E27FC236}">
                <a16:creationId xmlns:a16="http://schemas.microsoft.com/office/drawing/2014/main" id="{6471D8FB-2AE9-11CF-EAE9-1CDEC551D681}"/>
              </a:ext>
            </a:extLst>
          </p:cNvPr>
          <p:cNvSpPr/>
          <p:nvPr/>
        </p:nvSpPr>
        <p:spPr>
          <a:xfrm>
            <a:off x="7045749" y="561240"/>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暫定</a:t>
            </a:r>
            <a:r>
              <a:rPr kumimoji="1" lang="en-US" altLang="ja-JP" sz="900" b="1">
                <a:solidFill>
                  <a:schemeClr val="bg1">
                    <a:lumMod val="50000"/>
                  </a:schemeClr>
                </a:solidFill>
                <a:latin typeface="Meiryo UI" panose="020B0604030504040204" pitchFamily="50" charset="-128"/>
                <a:ea typeface="Meiryo UI" panose="020B0604030504040204" pitchFamily="50" charset="-128"/>
              </a:rPr>
              <a:t>/</a:t>
            </a:r>
            <a:r>
              <a:rPr kumimoji="1" lang="ja-JP" altLang="en-US" sz="900" b="1">
                <a:solidFill>
                  <a:schemeClr val="bg1">
                    <a:lumMod val="50000"/>
                  </a:schemeClr>
                </a:solidFill>
                <a:latin typeface="Meiryo UI" panose="020B0604030504040204" pitchFamily="50" charset="-128"/>
                <a:ea typeface="Meiryo UI" panose="020B0604030504040204" pitchFamily="50" charset="-128"/>
              </a:rPr>
              <a:t>確定係数の運用</a:t>
            </a:r>
          </a:p>
        </p:txBody>
      </p:sp>
      <p:sp>
        <p:nvSpPr>
          <p:cNvPr id="8" name="四角形: 角を丸くする 7">
            <a:extLst>
              <a:ext uri="{FF2B5EF4-FFF2-40B4-BE49-F238E27FC236}">
                <a16:creationId xmlns:a16="http://schemas.microsoft.com/office/drawing/2014/main" id="{5E414D96-A5BC-6C75-1C1F-081E9B4EB23F}"/>
              </a:ext>
            </a:extLst>
          </p:cNvPr>
          <p:cNvSpPr/>
          <p:nvPr/>
        </p:nvSpPr>
        <p:spPr>
          <a:xfrm>
            <a:off x="7045749" y="365514"/>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複数算定ロジックの構築</a:t>
            </a:r>
          </a:p>
        </p:txBody>
      </p:sp>
      <p:sp>
        <p:nvSpPr>
          <p:cNvPr id="12" name="楕円 11">
            <a:extLst>
              <a:ext uri="{FF2B5EF4-FFF2-40B4-BE49-F238E27FC236}">
                <a16:creationId xmlns:a16="http://schemas.microsoft.com/office/drawing/2014/main" id="{238F02C0-E6D3-32EA-1741-AC346734FDC6}"/>
              </a:ext>
            </a:extLst>
          </p:cNvPr>
          <p:cNvSpPr/>
          <p:nvPr/>
        </p:nvSpPr>
        <p:spPr>
          <a:xfrm>
            <a:off x="7020272" y="134576"/>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13" name="楕円 12">
            <a:extLst>
              <a:ext uri="{FF2B5EF4-FFF2-40B4-BE49-F238E27FC236}">
                <a16:creationId xmlns:a16="http://schemas.microsoft.com/office/drawing/2014/main" id="{A87DF548-BF6B-3477-AE3D-CFD62B52A025}"/>
              </a:ext>
            </a:extLst>
          </p:cNvPr>
          <p:cNvSpPr/>
          <p:nvPr/>
        </p:nvSpPr>
        <p:spPr>
          <a:xfrm>
            <a:off x="7020272" y="330302"/>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2</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
        <p:nvSpPr>
          <p:cNvPr id="14" name="楕円 13">
            <a:extLst>
              <a:ext uri="{FF2B5EF4-FFF2-40B4-BE49-F238E27FC236}">
                <a16:creationId xmlns:a16="http://schemas.microsoft.com/office/drawing/2014/main" id="{25845D68-2010-74D9-ADFF-DBA9205865EC}"/>
              </a:ext>
            </a:extLst>
          </p:cNvPr>
          <p:cNvSpPr/>
          <p:nvPr/>
        </p:nvSpPr>
        <p:spPr>
          <a:xfrm>
            <a:off x="7020272" y="526029"/>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3</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21433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正方形/長方形 41">
            <a:extLst>
              <a:ext uri="{FF2B5EF4-FFF2-40B4-BE49-F238E27FC236}">
                <a16:creationId xmlns:a16="http://schemas.microsoft.com/office/drawing/2014/main" id="{599366E8-C9A0-8D1A-B909-3705F2ED348F}"/>
              </a:ext>
            </a:extLst>
          </p:cNvPr>
          <p:cNvSpPr/>
          <p:nvPr/>
        </p:nvSpPr>
        <p:spPr>
          <a:xfrm>
            <a:off x="4994436" y="2229379"/>
            <a:ext cx="3169371" cy="4039349"/>
          </a:xfrm>
          <a:prstGeom prst="rect">
            <a:avLst/>
          </a:pr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a:solidFill>
                  <a:schemeClr val="tx1"/>
                </a:solidFill>
                <a:latin typeface="Meiryo UI" panose="020B0604030504040204" pitchFamily="50" charset="-128"/>
                <a:ea typeface="Meiryo UI" panose="020B0604030504040204" pitchFamily="50" charset="-128"/>
              </a:rPr>
              <a:t>集計のみ（算定なし）</a:t>
            </a:r>
            <a:endParaRPr kumimoji="1" lang="en-US" altLang="ja-JP" sz="2000" b="1">
              <a:solidFill>
                <a:schemeClr val="tx1"/>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D450870D-4094-A09A-424D-1AA3D9EE2EF2}"/>
              </a:ext>
            </a:extLst>
          </p:cNvPr>
          <p:cNvSpPr>
            <a:spLocks noGrp="1"/>
          </p:cNvSpPr>
          <p:nvPr>
            <p:ph type="title"/>
          </p:nvPr>
        </p:nvSpPr>
        <p:spPr/>
        <p:txBody>
          <a:bodyPr/>
          <a:lstStyle/>
          <a:p>
            <a:r>
              <a:rPr kumimoji="1" lang="en-US" altLang="ja-JP">
                <a:latin typeface="Meiryo UI" panose="020B0604030504040204" pitchFamily="50" charset="-128"/>
                <a:ea typeface="Meiryo UI" panose="020B0604030504040204" pitchFamily="50" charset="-128"/>
              </a:rPr>
              <a:t>GHG</a:t>
            </a:r>
            <a:r>
              <a:rPr kumimoji="1" lang="ja-JP" altLang="en-US">
                <a:latin typeface="Meiryo UI" panose="020B0604030504040204" pitchFamily="50" charset="-128"/>
                <a:ea typeface="Meiryo UI" panose="020B0604030504040204" pitchFamily="50" charset="-128"/>
              </a:rPr>
              <a:t>以外のデータ収集におけるシステムスコープ</a:t>
            </a:r>
          </a:p>
        </p:txBody>
      </p:sp>
      <p:sp>
        <p:nvSpPr>
          <p:cNvPr id="3" name="スライド番号プレースホルダー 2">
            <a:extLst>
              <a:ext uri="{FF2B5EF4-FFF2-40B4-BE49-F238E27FC236}">
                <a16:creationId xmlns:a16="http://schemas.microsoft.com/office/drawing/2014/main" id="{04E66758-494F-397D-2857-5CFDECB48BD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24</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6FE59BC2-424D-E0D2-3DBE-2A57D9E338C2}"/>
              </a:ext>
            </a:extLst>
          </p:cNvPr>
          <p:cNvSpPr>
            <a:spLocks noGrp="1"/>
          </p:cNvSpPr>
          <p:nvPr>
            <p:ph type="body" sz="quarter" idx="13"/>
          </p:nvPr>
        </p:nvSpPr>
        <p:spPr/>
        <p:txBody>
          <a:bodyPr>
            <a:noAutofit/>
          </a:bodyPr>
          <a:lstStyle/>
          <a:p>
            <a:r>
              <a:rPr kumimoji="1" lang="en-US" altLang="ja-JP"/>
              <a:t>GHG</a:t>
            </a:r>
            <a:r>
              <a:rPr kumimoji="1" lang="ja-JP" altLang="en-US"/>
              <a:t>以外のデータについては、</a:t>
            </a:r>
            <a:r>
              <a:rPr kumimoji="1" lang="ja-JP" altLang="en-US" b="1" u="sng"/>
              <a:t>システム上で算定作業は実施しない</a:t>
            </a:r>
            <a:r>
              <a:rPr kumimoji="1" lang="ja-JP" altLang="en-US"/>
              <a:t>（集計のみ実施）</a:t>
            </a:r>
          </a:p>
        </p:txBody>
      </p:sp>
      <p:sp>
        <p:nvSpPr>
          <p:cNvPr id="9" name="正方形/長方形 8">
            <a:extLst>
              <a:ext uri="{FF2B5EF4-FFF2-40B4-BE49-F238E27FC236}">
                <a16:creationId xmlns:a16="http://schemas.microsoft.com/office/drawing/2014/main" id="{E1DFC104-7465-A410-1FBD-D1EF5DB6864C}"/>
              </a:ext>
            </a:extLst>
          </p:cNvPr>
          <p:cNvSpPr/>
          <p:nvPr/>
        </p:nvSpPr>
        <p:spPr>
          <a:xfrm>
            <a:off x="756965" y="1810834"/>
            <a:ext cx="1636545" cy="232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入力者</a:t>
            </a:r>
          </a:p>
        </p:txBody>
      </p:sp>
      <p:cxnSp>
        <p:nvCxnSpPr>
          <p:cNvPr id="10" name="直線コネクタ 9">
            <a:extLst>
              <a:ext uri="{FF2B5EF4-FFF2-40B4-BE49-F238E27FC236}">
                <a16:creationId xmlns:a16="http://schemas.microsoft.com/office/drawing/2014/main" id="{88885C5F-1321-F83B-E4F0-2C66312E2FB5}"/>
              </a:ext>
            </a:extLst>
          </p:cNvPr>
          <p:cNvCxnSpPr>
            <a:cxnSpLocks/>
          </p:cNvCxnSpPr>
          <p:nvPr/>
        </p:nvCxnSpPr>
        <p:spPr>
          <a:xfrm>
            <a:off x="615623" y="2034373"/>
            <a:ext cx="189869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7" name="正方形/長方形 76">
            <a:extLst>
              <a:ext uri="{FF2B5EF4-FFF2-40B4-BE49-F238E27FC236}">
                <a16:creationId xmlns:a16="http://schemas.microsoft.com/office/drawing/2014/main" id="{71FCA875-BBF9-D3F4-F21A-1190EB96881D}"/>
              </a:ext>
            </a:extLst>
          </p:cNvPr>
          <p:cNvSpPr/>
          <p:nvPr/>
        </p:nvSpPr>
        <p:spPr>
          <a:xfrm>
            <a:off x="6119527" y="3024631"/>
            <a:ext cx="2736000" cy="726542"/>
          </a:xfrm>
          <a:prstGeom prst="rec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kumimoji="1" lang="ja-JP" altLang="en-US" sz="1200">
                <a:solidFill>
                  <a:schemeClr val="tx1"/>
                </a:solidFill>
                <a:latin typeface="Meiryo UI" panose="020B0604030504040204" pitchFamily="50" charset="-128"/>
                <a:ea typeface="Meiryo UI" panose="020B0604030504040204" pitchFamily="50" charset="-128"/>
              </a:rPr>
              <a:t>入力するデータは開示用のデータそのものであり、</a:t>
            </a:r>
            <a:r>
              <a:rPr kumimoji="1" lang="ja-JP" altLang="en-US" sz="1200" b="1" u="sng">
                <a:solidFill>
                  <a:schemeClr val="tx1"/>
                </a:solidFill>
                <a:latin typeface="Meiryo UI" panose="020B0604030504040204" pitchFamily="50" charset="-128"/>
                <a:ea typeface="Meiryo UI" panose="020B0604030504040204" pitchFamily="50" charset="-128"/>
              </a:rPr>
              <a:t>システム内での算定は新システムには求めない</a:t>
            </a:r>
          </a:p>
        </p:txBody>
      </p:sp>
      <p:sp>
        <p:nvSpPr>
          <p:cNvPr id="25" name="正方形/長方形 24">
            <a:extLst>
              <a:ext uri="{FF2B5EF4-FFF2-40B4-BE49-F238E27FC236}">
                <a16:creationId xmlns:a16="http://schemas.microsoft.com/office/drawing/2014/main" id="{337ADA96-3CB2-9566-28F6-AFA65BD9C95D}"/>
              </a:ext>
            </a:extLst>
          </p:cNvPr>
          <p:cNvSpPr/>
          <p:nvPr/>
        </p:nvSpPr>
        <p:spPr>
          <a:xfrm>
            <a:off x="589351" y="2229379"/>
            <a:ext cx="520714" cy="130710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GHG</a:t>
            </a:r>
            <a:r>
              <a:rPr kumimoji="1" lang="ja-JP" altLang="en-US" sz="1200">
                <a:solidFill>
                  <a:schemeClr val="tx1"/>
                </a:solidFill>
                <a:latin typeface="Meiryo UI" panose="020B0604030504040204" pitchFamily="50" charset="-128"/>
                <a:ea typeface="Meiryo UI" panose="020B0604030504040204" pitchFamily="50" charset="-128"/>
              </a:rPr>
              <a:t>以外環境</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8B62B609-DC0F-8885-737C-5D77F62579DC}"/>
              </a:ext>
            </a:extLst>
          </p:cNvPr>
          <p:cNvSpPr/>
          <p:nvPr/>
        </p:nvSpPr>
        <p:spPr>
          <a:xfrm>
            <a:off x="2519872" y="2367371"/>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拠点</a:t>
            </a:r>
            <a:r>
              <a:rPr kumimoji="1" lang="en-US" altLang="ja-JP" sz="1400">
                <a:solidFill>
                  <a:schemeClr val="tx1"/>
                </a:solidFill>
                <a:latin typeface="Meiryo UI" panose="020B0604030504040204" pitchFamily="50" charset="-128"/>
                <a:ea typeface="Meiryo UI" panose="020B0604030504040204" pitchFamily="50" charset="-128"/>
              </a:rPr>
              <a:t>A</a:t>
            </a:r>
          </a:p>
        </p:txBody>
      </p:sp>
      <p:sp>
        <p:nvSpPr>
          <p:cNvPr id="35" name="正方形/長方形 34">
            <a:extLst>
              <a:ext uri="{FF2B5EF4-FFF2-40B4-BE49-F238E27FC236}">
                <a16:creationId xmlns:a16="http://schemas.microsoft.com/office/drawing/2014/main" id="{43F66292-F0C0-1139-6DDE-1A1C9380A475}"/>
              </a:ext>
            </a:extLst>
          </p:cNvPr>
          <p:cNvSpPr/>
          <p:nvPr/>
        </p:nvSpPr>
        <p:spPr>
          <a:xfrm>
            <a:off x="2519872" y="3012502"/>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拠点</a:t>
            </a:r>
            <a:r>
              <a:rPr kumimoji="1" lang="en-US" altLang="ja-JP" sz="1400">
                <a:solidFill>
                  <a:schemeClr val="tx1"/>
                </a:solidFill>
                <a:latin typeface="Meiryo UI" panose="020B0604030504040204" pitchFamily="50" charset="-128"/>
                <a:ea typeface="Meiryo UI" panose="020B0604030504040204" pitchFamily="50" charset="-128"/>
              </a:rPr>
              <a:t>B</a:t>
            </a:r>
          </a:p>
        </p:txBody>
      </p:sp>
      <p:pic>
        <p:nvPicPr>
          <p:cNvPr id="46" name="グラフィックス 45" descr="ユーザー 単色塗りつぶし">
            <a:extLst>
              <a:ext uri="{FF2B5EF4-FFF2-40B4-BE49-F238E27FC236}">
                <a16:creationId xmlns:a16="http://schemas.microsoft.com/office/drawing/2014/main" id="{0626AE93-694F-43CE-CF8F-7FAD3A8EBD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9293" y="2368554"/>
            <a:ext cx="358411" cy="358411"/>
          </a:xfrm>
          <a:prstGeom prst="rect">
            <a:avLst/>
          </a:prstGeom>
        </p:spPr>
      </p:pic>
      <p:pic>
        <p:nvPicPr>
          <p:cNvPr id="47" name="グラフィックス 46" descr="ユーザー 単色塗りつぶし">
            <a:extLst>
              <a:ext uri="{FF2B5EF4-FFF2-40B4-BE49-F238E27FC236}">
                <a16:creationId xmlns:a16="http://schemas.microsoft.com/office/drawing/2014/main" id="{3AAE522C-48EE-6ACE-B80B-56351539D7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9293" y="3026289"/>
            <a:ext cx="358411" cy="358411"/>
          </a:xfrm>
          <a:prstGeom prst="rect">
            <a:avLst/>
          </a:prstGeom>
        </p:spPr>
      </p:pic>
      <p:cxnSp>
        <p:nvCxnSpPr>
          <p:cNvPr id="58" name="直線矢印コネクタ 57">
            <a:extLst>
              <a:ext uri="{FF2B5EF4-FFF2-40B4-BE49-F238E27FC236}">
                <a16:creationId xmlns:a16="http://schemas.microsoft.com/office/drawing/2014/main" id="{CEE0E706-6861-9512-E2CB-B9C5A0C31C38}"/>
              </a:ext>
            </a:extLst>
          </p:cNvPr>
          <p:cNvCxnSpPr>
            <a:cxnSpLocks/>
            <a:stCxn id="46" idx="3"/>
            <a:endCxn id="34" idx="1"/>
          </p:cNvCxnSpPr>
          <p:nvPr/>
        </p:nvCxnSpPr>
        <p:spPr>
          <a:xfrm flipV="1">
            <a:off x="1907704" y="2547371"/>
            <a:ext cx="612168" cy="38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0C44D34F-151C-CCA1-D4DF-E90BF1DE924B}"/>
              </a:ext>
            </a:extLst>
          </p:cNvPr>
          <p:cNvCxnSpPr>
            <a:cxnSpLocks/>
            <a:stCxn id="65" idx="0"/>
            <a:endCxn id="35" idx="1"/>
          </p:cNvCxnSpPr>
          <p:nvPr/>
        </p:nvCxnSpPr>
        <p:spPr>
          <a:xfrm>
            <a:off x="1945079" y="3188067"/>
            <a:ext cx="574793" cy="443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4" name="Picture 2" descr="Microsoft Excel logo transparent PNG 22100783 PNG">
            <a:extLst>
              <a:ext uri="{FF2B5EF4-FFF2-40B4-BE49-F238E27FC236}">
                <a16:creationId xmlns:a16="http://schemas.microsoft.com/office/drawing/2014/main" id="{DA63DF4A-1FB9-04DC-75F2-19DF7ADD9F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208" y="2579308"/>
            <a:ext cx="415548" cy="415548"/>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Microsoft Excel logo transparent PNG 22100783 PNG">
            <a:extLst>
              <a:ext uri="{FF2B5EF4-FFF2-40B4-BE49-F238E27FC236}">
                <a16:creationId xmlns:a16="http://schemas.microsoft.com/office/drawing/2014/main" id="{BD869DC0-5291-49BD-2E5E-81D23DBCD4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7305" y="3188067"/>
            <a:ext cx="415548" cy="415548"/>
          </a:xfrm>
          <a:prstGeom prst="rect">
            <a:avLst/>
          </a:prstGeom>
          <a:noFill/>
          <a:extLst>
            <a:ext uri="{909E8E84-426E-40DD-AFC4-6F175D3DCCD1}">
              <a14:hiddenFill xmlns:a14="http://schemas.microsoft.com/office/drawing/2010/main">
                <a:solidFill>
                  <a:srgbClr val="FFFFFF"/>
                </a:solidFill>
              </a14:hiddenFill>
            </a:ext>
          </a:extLst>
        </p:spPr>
      </p:pic>
      <p:sp>
        <p:nvSpPr>
          <p:cNvPr id="67" name="正方形/長方形 66">
            <a:extLst>
              <a:ext uri="{FF2B5EF4-FFF2-40B4-BE49-F238E27FC236}">
                <a16:creationId xmlns:a16="http://schemas.microsoft.com/office/drawing/2014/main" id="{27B8FD62-EC2C-D3C4-3560-912F9F2710D8}"/>
              </a:ext>
            </a:extLst>
          </p:cNvPr>
          <p:cNvSpPr/>
          <p:nvPr/>
        </p:nvSpPr>
        <p:spPr>
          <a:xfrm>
            <a:off x="1977849" y="2628375"/>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入力</a:t>
            </a:r>
          </a:p>
        </p:txBody>
      </p:sp>
      <p:sp>
        <p:nvSpPr>
          <p:cNvPr id="68" name="正方形/長方形 67">
            <a:extLst>
              <a:ext uri="{FF2B5EF4-FFF2-40B4-BE49-F238E27FC236}">
                <a16:creationId xmlns:a16="http://schemas.microsoft.com/office/drawing/2014/main" id="{3A992B55-38E5-4FF3-519D-562D819872E5}"/>
              </a:ext>
            </a:extLst>
          </p:cNvPr>
          <p:cNvSpPr/>
          <p:nvPr/>
        </p:nvSpPr>
        <p:spPr>
          <a:xfrm>
            <a:off x="1977849" y="3272345"/>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入力</a:t>
            </a:r>
          </a:p>
        </p:txBody>
      </p:sp>
      <p:sp>
        <p:nvSpPr>
          <p:cNvPr id="75" name="四角形: 角を丸くする 74">
            <a:extLst>
              <a:ext uri="{FF2B5EF4-FFF2-40B4-BE49-F238E27FC236}">
                <a16:creationId xmlns:a16="http://schemas.microsoft.com/office/drawing/2014/main" id="{BE83ECB6-AA71-9C67-2C21-D7846711B192}"/>
              </a:ext>
            </a:extLst>
          </p:cNvPr>
          <p:cNvSpPr/>
          <p:nvPr/>
        </p:nvSpPr>
        <p:spPr>
          <a:xfrm>
            <a:off x="3635896" y="2368647"/>
            <a:ext cx="1260000" cy="324000"/>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例</a:t>
            </a: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取水量</a:t>
            </a:r>
          </a:p>
        </p:txBody>
      </p:sp>
      <p:sp>
        <p:nvSpPr>
          <p:cNvPr id="76" name="四角形: 角を丸くする 75">
            <a:extLst>
              <a:ext uri="{FF2B5EF4-FFF2-40B4-BE49-F238E27FC236}">
                <a16:creationId xmlns:a16="http://schemas.microsoft.com/office/drawing/2014/main" id="{3D55B6C2-CD33-9563-5D13-69873BDC5218}"/>
              </a:ext>
            </a:extLst>
          </p:cNvPr>
          <p:cNvSpPr/>
          <p:nvPr/>
        </p:nvSpPr>
        <p:spPr>
          <a:xfrm>
            <a:off x="3635896" y="3024631"/>
            <a:ext cx="1260000" cy="324000"/>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例</a:t>
            </a: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廃棄物</a:t>
            </a:r>
          </a:p>
        </p:txBody>
      </p:sp>
      <p:cxnSp>
        <p:nvCxnSpPr>
          <p:cNvPr id="103" name="直線コネクタ 102">
            <a:extLst>
              <a:ext uri="{FF2B5EF4-FFF2-40B4-BE49-F238E27FC236}">
                <a16:creationId xmlns:a16="http://schemas.microsoft.com/office/drawing/2014/main" id="{D8AE5C3F-1820-75B9-F9C2-53371FE31CD0}"/>
              </a:ext>
            </a:extLst>
          </p:cNvPr>
          <p:cNvCxnSpPr>
            <a:cxnSpLocks/>
          </p:cNvCxnSpPr>
          <p:nvPr/>
        </p:nvCxnSpPr>
        <p:spPr>
          <a:xfrm>
            <a:off x="2597356" y="2034373"/>
            <a:ext cx="23106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5" name="正方形/長方形 104">
            <a:extLst>
              <a:ext uri="{FF2B5EF4-FFF2-40B4-BE49-F238E27FC236}">
                <a16:creationId xmlns:a16="http://schemas.microsoft.com/office/drawing/2014/main" id="{DF686B09-522E-0E7C-17F1-39CF5F00B947}"/>
              </a:ext>
            </a:extLst>
          </p:cNvPr>
          <p:cNvSpPr/>
          <p:nvPr/>
        </p:nvSpPr>
        <p:spPr>
          <a:xfrm>
            <a:off x="2969872" y="1810834"/>
            <a:ext cx="1636545" cy="232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入力データ</a:t>
            </a:r>
          </a:p>
        </p:txBody>
      </p:sp>
      <p:cxnSp>
        <p:nvCxnSpPr>
          <p:cNvPr id="106" name="直線コネクタ 105">
            <a:extLst>
              <a:ext uri="{FF2B5EF4-FFF2-40B4-BE49-F238E27FC236}">
                <a16:creationId xmlns:a16="http://schemas.microsoft.com/office/drawing/2014/main" id="{CED43DB5-0FAF-F519-DA40-FC783D127DD5}"/>
              </a:ext>
            </a:extLst>
          </p:cNvPr>
          <p:cNvCxnSpPr>
            <a:cxnSpLocks/>
          </p:cNvCxnSpPr>
          <p:nvPr/>
        </p:nvCxnSpPr>
        <p:spPr>
          <a:xfrm>
            <a:off x="4991019" y="2034373"/>
            <a:ext cx="3172789"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7" name="正方形/長方形 106">
            <a:extLst>
              <a:ext uri="{FF2B5EF4-FFF2-40B4-BE49-F238E27FC236}">
                <a16:creationId xmlns:a16="http://schemas.microsoft.com/office/drawing/2014/main" id="{E743CB5F-46F1-FBBB-34A7-CA16B19928CD}"/>
              </a:ext>
            </a:extLst>
          </p:cNvPr>
          <p:cNvSpPr/>
          <p:nvPr/>
        </p:nvSpPr>
        <p:spPr>
          <a:xfrm>
            <a:off x="5759140" y="1810834"/>
            <a:ext cx="1636545" cy="232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システム算定</a:t>
            </a:r>
          </a:p>
        </p:txBody>
      </p:sp>
      <p:grpSp>
        <p:nvGrpSpPr>
          <p:cNvPr id="118" name="グループ化 117">
            <a:extLst>
              <a:ext uri="{FF2B5EF4-FFF2-40B4-BE49-F238E27FC236}">
                <a16:creationId xmlns:a16="http://schemas.microsoft.com/office/drawing/2014/main" id="{2993EB39-7495-AE5B-DF35-602E74701677}"/>
              </a:ext>
            </a:extLst>
          </p:cNvPr>
          <p:cNvGrpSpPr/>
          <p:nvPr/>
        </p:nvGrpSpPr>
        <p:grpSpPr>
          <a:xfrm>
            <a:off x="4357912" y="2069917"/>
            <a:ext cx="513263" cy="278050"/>
            <a:chOff x="4346769" y="2136657"/>
            <a:chExt cx="513263" cy="278050"/>
          </a:xfrm>
        </p:grpSpPr>
        <p:pic>
          <p:nvPicPr>
            <p:cNvPr id="119" name="グラフィックス 118" descr="ユーザー 単色塗りつぶし">
              <a:extLst>
                <a:ext uri="{FF2B5EF4-FFF2-40B4-BE49-F238E27FC236}">
                  <a16:creationId xmlns:a16="http://schemas.microsoft.com/office/drawing/2014/main" id="{AFC76B39-9399-2C51-2784-C4C714FBE0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120" name="正方形/長方形 119">
              <a:extLst>
                <a:ext uri="{FF2B5EF4-FFF2-40B4-BE49-F238E27FC236}">
                  <a16:creationId xmlns:a16="http://schemas.microsoft.com/office/drawing/2014/main" id="{FD8A0BA0-93A8-0C31-51E5-EEF25D9BDEBF}"/>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121" name="正方形/長方形 120">
              <a:extLst>
                <a:ext uri="{FF2B5EF4-FFF2-40B4-BE49-F238E27FC236}">
                  <a16:creationId xmlns:a16="http://schemas.microsoft.com/office/drawing/2014/main" id="{BDEAB858-FC56-7E5F-A595-6FD8CDD63809}"/>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拠点</a:t>
              </a:r>
              <a:r>
                <a:rPr kumimoji="1" lang="en-US" altLang="ja-JP" sz="900" b="1">
                  <a:solidFill>
                    <a:schemeClr val="tx1"/>
                  </a:solidFill>
                  <a:latin typeface="Meiryo UI" panose="020B0604030504040204" pitchFamily="50" charset="-128"/>
                  <a:ea typeface="Meiryo UI" panose="020B0604030504040204" pitchFamily="50" charset="-128"/>
                </a:rPr>
                <a:t>A</a:t>
              </a:r>
              <a:br>
                <a:rPr kumimoji="1" lang="en-US" altLang="ja-JP" sz="900" b="1">
                  <a:solidFill>
                    <a:schemeClr val="tx1"/>
                  </a:solidFill>
                  <a:latin typeface="Meiryo UI" panose="020B0604030504040204" pitchFamily="50" charset="-128"/>
                  <a:ea typeface="Meiryo UI" panose="020B0604030504040204" pitchFamily="50" charset="-128"/>
                </a:rPr>
              </a:br>
              <a:r>
                <a:rPr kumimoji="1" lang="ja-JP" altLang="en-US" sz="900" b="1">
                  <a:solidFill>
                    <a:schemeClr val="tx1"/>
                  </a:solidFill>
                  <a:latin typeface="Meiryo UI" panose="020B0604030504040204" pitchFamily="50" charset="-128"/>
                  <a:ea typeface="Meiryo UI" panose="020B0604030504040204" pitchFamily="50" charset="-128"/>
                </a:rPr>
                <a:t>上長</a:t>
              </a:r>
            </a:p>
          </p:txBody>
        </p:sp>
      </p:grpSp>
      <p:grpSp>
        <p:nvGrpSpPr>
          <p:cNvPr id="122" name="グループ化 121">
            <a:extLst>
              <a:ext uri="{FF2B5EF4-FFF2-40B4-BE49-F238E27FC236}">
                <a16:creationId xmlns:a16="http://schemas.microsoft.com/office/drawing/2014/main" id="{91EE947D-E211-971F-A9AF-08A1E2D91B65}"/>
              </a:ext>
            </a:extLst>
          </p:cNvPr>
          <p:cNvGrpSpPr/>
          <p:nvPr/>
        </p:nvGrpSpPr>
        <p:grpSpPr>
          <a:xfrm>
            <a:off x="4357912" y="2724470"/>
            <a:ext cx="513263" cy="278050"/>
            <a:chOff x="4346769" y="2136657"/>
            <a:chExt cx="513263" cy="278050"/>
          </a:xfrm>
        </p:grpSpPr>
        <p:pic>
          <p:nvPicPr>
            <p:cNvPr id="123" name="グラフィックス 122" descr="ユーザー 単色塗りつぶし">
              <a:extLst>
                <a:ext uri="{FF2B5EF4-FFF2-40B4-BE49-F238E27FC236}">
                  <a16:creationId xmlns:a16="http://schemas.microsoft.com/office/drawing/2014/main" id="{CD964BCD-72F6-EA6D-4E85-0F8257A925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124" name="正方形/長方形 123">
              <a:extLst>
                <a:ext uri="{FF2B5EF4-FFF2-40B4-BE49-F238E27FC236}">
                  <a16:creationId xmlns:a16="http://schemas.microsoft.com/office/drawing/2014/main" id="{F062E333-893E-FFF0-2DCE-C465A6055DF3}"/>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125" name="正方形/長方形 124">
              <a:extLst>
                <a:ext uri="{FF2B5EF4-FFF2-40B4-BE49-F238E27FC236}">
                  <a16:creationId xmlns:a16="http://schemas.microsoft.com/office/drawing/2014/main" id="{522623B6-B7B8-10AD-29E2-0612F42DA30F}"/>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拠点</a:t>
              </a:r>
              <a:r>
                <a:rPr kumimoji="1" lang="en-US" altLang="ja-JP" sz="900" b="1">
                  <a:solidFill>
                    <a:schemeClr val="tx1"/>
                  </a:solidFill>
                  <a:latin typeface="Meiryo UI" panose="020B0604030504040204" pitchFamily="50" charset="-128"/>
                  <a:ea typeface="Meiryo UI" panose="020B0604030504040204" pitchFamily="50" charset="-128"/>
                </a:rPr>
                <a:t>B</a:t>
              </a:r>
              <a:br>
                <a:rPr kumimoji="1" lang="en-US" altLang="ja-JP" sz="900" b="1">
                  <a:solidFill>
                    <a:schemeClr val="tx1"/>
                  </a:solidFill>
                  <a:latin typeface="Meiryo UI" panose="020B0604030504040204" pitchFamily="50" charset="-128"/>
                  <a:ea typeface="Meiryo UI" panose="020B0604030504040204" pitchFamily="50" charset="-128"/>
                </a:rPr>
              </a:br>
              <a:r>
                <a:rPr kumimoji="1" lang="ja-JP" altLang="en-US" sz="900" b="1">
                  <a:solidFill>
                    <a:schemeClr val="tx1"/>
                  </a:solidFill>
                  <a:latin typeface="Meiryo UI" panose="020B0604030504040204" pitchFamily="50" charset="-128"/>
                  <a:ea typeface="Meiryo UI" panose="020B0604030504040204" pitchFamily="50" charset="-128"/>
                </a:rPr>
                <a:t>上長</a:t>
              </a:r>
            </a:p>
          </p:txBody>
        </p:sp>
      </p:grpSp>
      <p:cxnSp>
        <p:nvCxnSpPr>
          <p:cNvPr id="1029" name="直線コネクタ 1028">
            <a:extLst>
              <a:ext uri="{FF2B5EF4-FFF2-40B4-BE49-F238E27FC236}">
                <a16:creationId xmlns:a16="http://schemas.microsoft.com/office/drawing/2014/main" id="{1726B10D-69F9-EA76-7209-9FCF5A228D74}"/>
              </a:ext>
            </a:extLst>
          </p:cNvPr>
          <p:cNvCxnSpPr>
            <a:cxnSpLocks/>
            <a:stCxn id="77" idx="2"/>
          </p:cNvCxnSpPr>
          <p:nvPr/>
        </p:nvCxnSpPr>
        <p:spPr>
          <a:xfrm flipH="1">
            <a:off x="6542202" y="3751173"/>
            <a:ext cx="945325" cy="290107"/>
          </a:xfrm>
          <a:prstGeom prst="line">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2" name="正方形/長方形 11">
            <a:extLst>
              <a:ext uri="{FF2B5EF4-FFF2-40B4-BE49-F238E27FC236}">
                <a16:creationId xmlns:a16="http://schemas.microsoft.com/office/drawing/2014/main" id="{107DE04E-8DB7-2399-A72E-53AA47D2105C}"/>
              </a:ext>
            </a:extLst>
          </p:cNvPr>
          <p:cNvSpPr/>
          <p:nvPr/>
        </p:nvSpPr>
        <p:spPr>
          <a:xfrm>
            <a:off x="589351" y="3595502"/>
            <a:ext cx="520714" cy="130710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労働安全系</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1D3EE642-C579-C772-0950-CEA88728D515}"/>
              </a:ext>
            </a:extLst>
          </p:cNvPr>
          <p:cNvSpPr/>
          <p:nvPr/>
        </p:nvSpPr>
        <p:spPr>
          <a:xfrm>
            <a:off x="2519872" y="3737294"/>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拠点</a:t>
            </a:r>
            <a:r>
              <a:rPr kumimoji="1" lang="en-US" altLang="ja-JP" sz="1400">
                <a:solidFill>
                  <a:schemeClr val="tx1"/>
                </a:solidFill>
                <a:latin typeface="Meiryo UI" panose="020B0604030504040204" pitchFamily="50" charset="-128"/>
                <a:ea typeface="Meiryo UI" panose="020B0604030504040204" pitchFamily="50" charset="-128"/>
              </a:rPr>
              <a:t>C</a:t>
            </a:r>
          </a:p>
        </p:txBody>
      </p:sp>
      <p:sp>
        <p:nvSpPr>
          <p:cNvPr id="14" name="正方形/長方形 13">
            <a:extLst>
              <a:ext uri="{FF2B5EF4-FFF2-40B4-BE49-F238E27FC236}">
                <a16:creationId xmlns:a16="http://schemas.microsoft.com/office/drawing/2014/main" id="{F9A372AE-00F8-7343-D6D6-BC9D1B70524A}"/>
              </a:ext>
            </a:extLst>
          </p:cNvPr>
          <p:cNvSpPr/>
          <p:nvPr/>
        </p:nvSpPr>
        <p:spPr>
          <a:xfrm>
            <a:off x="2519872" y="4382425"/>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拠点</a:t>
            </a:r>
            <a:r>
              <a:rPr kumimoji="1" lang="en-US" altLang="ja-JP" sz="1400">
                <a:solidFill>
                  <a:schemeClr val="tx1"/>
                </a:solidFill>
                <a:latin typeface="Meiryo UI" panose="020B0604030504040204" pitchFamily="50" charset="-128"/>
                <a:ea typeface="Meiryo UI" panose="020B0604030504040204" pitchFamily="50" charset="-128"/>
              </a:rPr>
              <a:t>D</a:t>
            </a:r>
          </a:p>
        </p:txBody>
      </p:sp>
      <p:pic>
        <p:nvPicPr>
          <p:cNvPr id="15" name="グラフィックス 14" descr="ユーザー 単色塗りつぶし">
            <a:extLst>
              <a:ext uri="{FF2B5EF4-FFF2-40B4-BE49-F238E27FC236}">
                <a16:creationId xmlns:a16="http://schemas.microsoft.com/office/drawing/2014/main" id="{16F76B24-36AE-3C9A-C2AD-5847BD8E3B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9293" y="3738477"/>
            <a:ext cx="358411" cy="358411"/>
          </a:xfrm>
          <a:prstGeom prst="rect">
            <a:avLst/>
          </a:prstGeom>
        </p:spPr>
      </p:pic>
      <p:pic>
        <p:nvPicPr>
          <p:cNvPr id="16" name="グラフィックス 15" descr="ユーザー 単色塗りつぶし">
            <a:extLst>
              <a:ext uri="{FF2B5EF4-FFF2-40B4-BE49-F238E27FC236}">
                <a16:creationId xmlns:a16="http://schemas.microsoft.com/office/drawing/2014/main" id="{9FFB53C5-C4D3-35FD-C476-EC03D9E71B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9293" y="4396212"/>
            <a:ext cx="358411" cy="358411"/>
          </a:xfrm>
          <a:prstGeom prst="rect">
            <a:avLst/>
          </a:prstGeom>
        </p:spPr>
      </p:pic>
      <p:cxnSp>
        <p:nvCxnSpPr>
          <p:cNvPr id="17" name="直線矢印コネクタ 16">
            <a:extLst>
              <a:ext uri="{FF2B5EF4-FFF2-40B4-BE49-F238E27FC236}">
                <a16:creationId xmlns:a16="http://schemas.microsoft.com/office/drawing/2014/main" id="{A4816FB3-086F-6E8B-5C03-7D109094781D}"/>
              </a:ext>
            </a:extLst>
          </p:cNvPr>
          <p:cNvCxnSpPr>
            <a:cxnSpLocks/>
            <a:stCxn id="15" idx="3"/>
            <a:endCxn id="13" idx="1"/>
          </p:cNvCxnSpPr>
          <p:nvPr/>
        </p:nvCxnSpPr>
        <p:spPr>
          <a:xfrm flipV="1">
            <a:off x="1907704" y="3917294"/>
            <a:ext cx="612168" cy="38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F1398F2D-E168-42E2-2790-4EE4E9AFA14E}"/>
              </a:ext>
            </a:extLst>
          </p:cNvPr>
          <p:cNvCxnSpPr>
            <a:cxnSpLocks/>
            <a:stCxn id="21" idx="0"/>
            <a:endCxn id="14" idx="1"/>
          </p:cNvCxnSpPr>
          <p:nvPr/>
        </p:nvCxnSpPr>
        <p:spPr>
          <a:xfrm>
            <a:off x="1945079" y="4557990"/>
            <a:ext cx="574793" cy="443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2" descr="Microsoft Excel logo transparent PNG 22100783 PNG">
            <a:extLst>
              <a:ext uri="{FF2B5EF4-FFF2-40B4-BE49-F238E27FC236}">
                <a16:creationId xmlns:a16="http://schemas.microsoft.com/office/drawing/2014/main" id="{AA4498CB-BC3A-F7AF-1231-03FF02D976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208" y="3949231"/>
            <a:ext cx="415548" cy="41554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Microsoft Excel logo transparent PNG 22100783 PNG">
            <a:extLst>
              <a:ext uri="{FF2B5EF4-FFF2-40B4-BE49-F238E27FC236}">
                <a16:creationId xmlns:a16="http://schemas.microsoft.com/office/drawing/2014/main" id="{7BB10568-F6EF-8EBE-8913-6E05D75FB8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7305" y="4557990"/>
            <a:ext cx="415548" cy="415548"/>
          </a:xfrm>
          <a:prstGeom prst="rect">
            <a:avLst/>
          </a:prstGeom>
          <a:noFill/>
          <a:extLst>
            <a:ext uri="{909E8E84-426E-40DD-AFC4-6F175D3DCCD1}">
              <a14:hiddenFill xmlns:a14="http://schemas.microsoft.com/office/drawing/2010/main">
                <a:solidFill>
                  <a:srgbClr val="FFFFFF"/>
                </a:solidFill>
              </a14:hiddenFill>
            </a:ext>
          </a:extLst>
        </p:spPr>
      </p:pic>
      <p:sp>
        <p:nvSpPr>
          <p:cNvPr id="22" name="正方形/長方形 21">
            <a:extLst>
              <a:ext uri="{FF2B5EF4-FFF2-40B4-BE49-F238E27FC236}">
                <a16:creationId xmlns:a16="http://schemas.microsoft.com/office/drawing/2014/main" id="{0F4E242C-E3FA-CD88-241D-282715CB3B6E}"/>
              </a:ext>
            </a:extLst>
          </p:cNvPr>
          <p:cNvSpPr/>
          <p:nvPr/>
        </p:nvSpPr>
        <p:spPr>
          <a:xfrm>
            <a:off x="1977849" y="3998298"/>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入力</a:t>
            </a:r>
          </a:p>
        </p:txBody>
      </p:sp>
      <p:sp>
        <p:nvSpPr>
          <p:cNvPr id="23" name="正方形/長方形 22">
            <a:extLst>
              <a:ext uri="{FF2B5EF4-FFF2-40B4-BE49-F238E27FC236}">
                <a16:creationId xmlns:a16="http://schemas.microsoft.com/office/drawing/2014/main" id="{3AB54ABC-ACF0-143E-CC9B-5644B7099E76}"/>
              </a:ext>
            </a:extLst>
          </p:cNvPr>
          <p:cNvSpPr/>
          <p:nvPr/>
        </p:nvSpPr>
        <p:spPr>
          <a:xfrm>
            <a:off x="1977849" y="4642268"/>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入力</a:t>
            </a:r>
          </a:p>
        </p:txBody>
      </p:sp>
      <p:sp>
        <p:nvSpPr>
          <p:cNvPr id="24" name="四角形: 角を丸くする 23">
            <a:extLst>
              <a:ext uri="{FF2B5EF4-FFF2-40B4-BE49-F238E27FC236}">
                <a16:creationId xmlns:a16="http://schemas.microsoft.com/office/drawing/2014/main" id="{6594F31D-52EB-C8AD-0C51-77F26417B047}"/>
              </a:ext>
            </a:extLst>
          </p:cNvPr>
          <p:cNvSpPr/>
          <p:nvPr/>
        </p:nvSpPr>
        <p:spPr>
          <a:xfrm>
            <a:off x="3635896" y="3738570"/>
            <a:ext cx="1260000" cy="324000"/>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例</a:t>
            </a: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死亡事故</a:t>
            </a:r>
          </a:p>
        </p:txBody>
      </p:sp>
      <p:sp>
        <p:nvSpPr>
          <p:cNvPr id="26" name="四角形: 角を丸くする 25">
            <a:extLst>
              <a:ext uri="{FF2B5EF4-FFF2-40B4-BE49-F238E27FC236}">
                <a16:creationId xmlns:a16="http://schemas.microsoft.com/office/drawing/2014/main" id="{F493C82F-4F56-EF1D-E233-52852D119CA3}"/>
              </a:ext>
            </a:extLst>
          </p:cNvPr>
          <p:cNvSpPr/>
          <p:nvPr/>
        </p:nvSpPr>
        <p:spPr>
          <a:xfrm>
            <a:off x="3635896" y="4394554"/>
            <a:ext cx="1260000" cy="324000"/>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例</a:t>
            </a: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度数率</a:t>
            </a:r>
            <a:r>
              <a:rPr kumimoji="1" lang="en-US" altLang="ja-JP" sz="1400" baseline="30000">
                <a:solidFill>
                  <a:schemeClr val="tx1"/>
                </a:solidFill>
                <a:latin typeface="Meiryo UI" panose="020B0604030504040204" pitchFamily="50" charset="-128"/>
                <a:ea typeface="Meiryo UI" panose="020B0604030504040204" pitchFamily="50" charset="-128"/>
              </a:rPr>
              <a:t>※1</a:t>
            </a:r>
            <a:endParaRPr kumimoji="1" lang="ja-JP" altLang="en-US" sz="1400" baseline="30000">
              <a:solidFill>
                <a:schemeClr val="tx1"/>
              </a:solidFill>
              <a:latin typeface="Meiryo UI" panose="020B0604030504040204" pitchFamily="50" charset="-128"/>
              <a:ea typeface="Meiryo UI" panose="020B0604030504040204" pitchFamily="50" charset="-128"/>
            </a:endParaRPr>
          </a:p>
        </p:txBody>
      </p:sp>
      <p:grpSp>
        <p:nvGrpSpPr>
          <p:cNvPr id="27" name="グループ化 26">
            <a:extLst>
              <a:ext uri="{FF2B5EF4-FFF2-40B4-BE49-F238E27FC236}">
                <a16:creationId xmlns:a16="http://schemas.microsoft.com/office/drawing/2014/main" id="{F072DD0A-FAC8-FF80-06AB-F497B5AD02EE}"/>
              </a:ext>
            </a:extLst>
          </p:cNvPr>
          <p:cNvGrpSpPr/>
          <p:nvPr/>
        </p:nvGrpSpPr>
        <p:grpSpPr>
          <a:xfrm>
            <a:off x="4357912" y="3439840"/>
            <a:ext cx="513263" cy="278050"/>
            <a:chOff x="4346769" y="2136657"/>
            <a:chExt cx="513263" cy="278050"/>
          </a:xfrm>
        </p:grpSpPr>
        <p:pic>
          <p:nvPicPr>
            <p:cNvPr id="28" name="グラフィックス 27" descr="ユーザー 単色塗りつぶし">
              <a:extLst>
                <a:ext uri="{FF2B5EF4-FFF2-40B4-BE49-F238E27FC236}">
                  <a16:creationId xmlns:a16="http://schemas.microsoft.com/office/drawing/2014/main" id="{E4031078-D8E3-167F-498F-962D66B376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29" name="正方形/長方形 28">
              <a:extLst>
                <a:ext uri="{FF2B5EF4-FFF2-40B4-BE49-F238E27FC236}">
                  <a16:creationId xmlns:a16="http://schemas.microsoft.com/office/drawing/2014/main" id="{85C1EB2E-2A97-7347-255D-72CF5A76CA28}"/>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32" name="正方形/長方形 31">
              <a:extLst>
                <a:ext uri="{FF2B5EF4-FFF2-40B4-BE49-F238E27FC236}">
                  <a16:creationId xmlns:a16="http://schemas.microsoft.com/office/drawing/2014/main" id="{E52542D0-BF4C-5E42-7AB9-0FDC0D308A9D}"/>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拠点</a:t>
              </a:r>
              <a:r>
                <a:rPr kumimoji="1" lang="en-US" altLang="ja-JP" sz="900" b="1">
                  <a:solidFill>
                    <a:schemeClr val="tx1"/>
                  </a:solidFill>
                  <a:latin typeface="Meiryo UI" panose="020B0604030504040204" pitchFamily="50" charset="-128"/>
                  <a:ea typeface="Meiryo UI" panose="020B0604030504040204" pitchFamily="50" charset="-128"/>
                </a:rPr>
                <a:t>A</a:t>
              </a:r>
            </a:p>
            <a:p>
              <a:pPr algn="ctr"/>
              <a:r>
                <a:rPr kumimoji="1" lang="ja-JP" altLang="en-US" sz="900" b="1">
                  <a:solidFill>
                    <a:schemeClr val="tx1"/>
                  </a:solidFill>
                  <a:latin typeface="Meiryo UI" panose="020B0604030504040204" pitchFamily="50" charset="-128"/>
                  <a:ea typeface="Meiryo UI" panose="020B0604030504040204" pitchFamily="50" charset="-128"/>
                </a:rPr>
                <a:t>上長</a:t>
              </a:r>
            </a:p>
          </p:txBody>
        </p:sp>
      </p:grpSp>
      <p:grpSp>
        <p:nvGrpSpPr>
          <p:cNvPr id="36" name="グループ化 35">
            <a:extLst>
              <a:ext uri="{FF2B5EF4-FFF2-40B4-BE49-F238E27FC236}">
                <a16:creationId xmlns:a16="http://schemas.microsoft.com/office/drawing/2014/main" id="{4622F402-C5DB-62BB-5C9D-FACC66CBD8B2}"/>
              </a:ext>
            </a:extLst>
          </p:cNvPr>
          <p:cNvGrpSpPr/>
          <p:nvPr/>
        </p:nvGrpSpPr>
        <p:grpSpPr>
          <a:xfrm>
            <a:off x="4357912" y="4094393"/>
            <a:ext cx="513263" cy="278050"/>
            <a:chOff x="4346769" y="2136657"/>
            <a:chExt cx="513263" cy="278050"/>
          </a:xfrm>
        </p:grpSpPr>
        <p:pic>
          <p:nvPicPr>
            <p:cNvPr id="37" name="グラフィックス 36" descr="ユーザー 単色塗りつぶし">
              <a:extLst>
                <a:ext uri="{FF2B5EF4-FFF2-40B4-BE49-F238E27FC236}">
                  <a16:creationId xmlns:a16="http://schemas.microsoft.com/office/drawing/2014/main" id="{D4AB45C1-CB5B-FD39-FD8D-14E3C7EF2E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39" name="正方形/長方形 38">
              <a:extLst>
                <a:ext uri="{FF2B5EF4-FFF2-40B4-BE49-F238E27FC236}">
                  <a16:creationId xmlns:a16="http://schemas.microsoft.com/office/drawing/2014/main" id="{AC965E95-08F3-0EC3-5B86-AB28443182D9}"/>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41" name="正方形/長方形 40">
              <a:extLst>
                <a:ext uri="{FF2B5EF4-FFF2-40B4-BE49-F238E27FC236}">
                  <a16:creationId xmlns:a16="http://schemas.microsoft.com/office/drawing/2014/main" id="{6C6E5A51-C152-DDB3-2A2F-C4B61F8B2C40}"/>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900" b="1">
                  <a:solidFill>
                    <a:schemeClr val="tx1"/>
                  </a:solidFill>
                  <a:latin typeface="Meiryo UI" panose="020B0604030504040204" pitchFamily="50" charset="-128"/>
                  <a:ea typeface="Meiryo UI" panose="020B0604030504040204" pitchFamily="50" charset="-128"/>
                </a:rPr>
                <a:t>拠点</a:t>
              </a:r>
              <a:r>
                <a:rPr kumimoji="1" lang="en-US" altLang="ja-JP" sz="900" b="1">
                  <a:solidFill>
                    <a:schemeClr val="tx1"/>
                  </a:solidFill>
                  <a:latin typeface="Meiryo UI" panose="020B0604030504040204" pitchFamily="50" charset="-128"/>
                  <a:ea typeface="Meiryo UI" panose="020B0604030504040204" pitchFamily="50" charset="-128"/>
                </a:rPr>
                <a:t>B</a:t>
              </a:r>
              <a:br>
                <a:rPr kumimoji="1" lang="en-US" altLang="ja-JP" sz="900" b="1">
                  <a:solidFill>
                    <a:schemeClr val="tx1"/>
                  </a:solidFill>
                  <a:latin typeface="Meiryo UI" panose="020B0604030504040204" pitchFamily="50" charset="-128"/>
                  <a:ea typeface="Meiryo UI" panose="020B0604030504040204" pitchFamily="50" charset="-128"/>
                </a:rPr>
              </a:br>
              <a:r>
                <a:rPr kumimoji="1" lang="ja-JP" altLang="en-US" sz="900" b="1">
                  <a:solidFill>
                    <a:schemeClr val="tx1"/>
                  </a:solidFill>
                  <a:latin typeface="Meiryo UI" panose="020B0604030504040204" pitchFamily="50" charset="-128"/>
                  <a:ea typeface="Meiryo UI" panose="020B0604030504040204" pitchFamily="50" charset="-128"/>
                </a:rPr>
                <a:t>上長</a:t>
              </a:r>
            </a:p>
          </p:txBody>
        </p:sp>
      </p:grpSp>
      <p:sp>
        <p:nvSpPr>
          <p:cNvPr id="43" name="正方形/長方形 42">
            <a:extLst>
              <a:ext uri="{FF2B5EF4-FFF2-40B4-BE49-F238E27FC236}">
                <a16:creationId xmlns:a16="http://schemas.microsoft.com/office/drawing/2014/main" id="{691F783B-85DD-13C7-E060-8856F35566E3}"/>
              </a:ext>
            </a:extLst>
          </p:cNvPr>
          <p:cNvSpPr/>
          <p:nvPr/>
        </p:nvSpPr>
        <p:spPr>
          <a:xfrm>
            <a:off x="589351" y="4961626"/>
            <a:ext cx="520714" cy="130710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人事系</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EABE2EC6-2148-4346-8D1B-E4D5A75FCFEF}"/>
              </a:ext>
            </a:extLst>
          </p:cNvPr>
          <p:cNvSpPr/>
          <p:nvPr/>
        </p:nvSpPr>
        <p:spPr>
          <a:xfrm>
            <a:off x="2519872" y="5099618"/>
            <a:ext cx="900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本社</a:t>
            </a:r>
            <a:endParaRPr kumimoji="1" lang="en-US" altLang="ja-JP" sz="1400">
              <a:solidFill>
                <a:schemeClr val="tx1"/>
              </a:solidFill>
              <a:latin typeface="Meiryo UI" panose="020B0604030504040204" pitchFamily="50" charset="-128"/>
              <a:ea typeface="Meiryo UI" panose="020B0604030504040204" pitchFamily="50" charset="-128"/>
            </a:endParaRPr>
          </a:p>
        </p:txBody>
      </p:sp>
      <p:cxnSp>
        <p:nvCxnSpPr>
          <p:cNvPr id="50" name="直線矢印コネクタ 49">
            <a:extLst>
              <a:ext uri="{FF2B5EF4-FFF2-40B4-BE49-F238E27FC236}">
                <a16:creationId xmlns:a16="http://schemas.microsoft.com/office/drawing/2014/main" id="{F9FCAF94-D2C6-B5A4-7F9A-DC77BE489BC5}"/>
              </a:ext>
            </a:extLst>
          </p:cNvPr>
          <p:cNvCxnSpPr>
            <a:cxnSpLocks/>
            <a:endCxn id="44" idx="1"/>
          </p:cNvCxnSpPr>
          <p:nvPr/>
        </p:nvCxnSpPr>
        <p:spPr>
          <a:xfrm>
            <a:off x="2277655" y="5279618"/>
            <a:ext cx="24221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四角形: 角を丸くする 55">
            <a:extLst>
              <a:ext uri="{FF2B5EF4-FFF2-40B4-BE49-F238E27FC236}">
                <a16:creationId xmlns:a16="http://schemas.microsoft.com/office/drawing/2014/main" id="{14C66451-ABFE-0488-3113-39D5FCF0EC9B}"/>
              </a:ext>
            </a:extLst>
          </p:cNvPr>
          <p:cNvSpPr/>
          <p:nvPr/>
        </p:nvSpPr>
        <p:spPr>
          <a:xfrm>
            <a:off x="3635896" y="5100894"/>
            <a:ext cx="1260000" cy="324000"/>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例</a:t>
            </a: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従業員数</a:t>
            </a:r>
          </a:p>
        </p:txBody>
      </p:sp>
      <p:grpSp>
        <p:nvGrpSpPr>
          <p:cNvPr id="60" name="グループ化 59">
            <a:extLst>
              <a:ext uri="{FF2B5EF4-FFF2-40B4-BE49-F238E27FC236}">
                <a16:creationId xmlns:a16="http://schemas.microsoft.com/office/drawing/2014/main" id="{5A558989-4985-87E7-E300-8FF69B1E99D2}"/>
              </a:ext>
            </a:extLst>
          </p:cNvPr>
          <p:cNvGrpSpPr/>
          <p:nvPr/>
        </p:nvGrpSpPr>
        <p:grpSpPr>
          <a:xfrm>
            <a:off x="4357912" y="4802164"/>
            <a:ext cx="513263" cy="278050"/>
            <a:chOff x="4346769" y="2136657"/>
            <a:chExt cx="513263" cy="278050"/>
          </a:xfrm>
        </p:grpSpPr>
        <p:pic>
          <p:nvPicPr>
            <p:cNvPr id="61" name="グラフィックス 60" descr="ユーザー 単色塗りつぶし">
              <a:extLst>
                <a:ext uri="{FF2B5EF4-FFF2-40B4-BE49-F238E27FC236}">
                  <a16:creationId xmlns:a16="http://schemas.microsoft.com/office/drawing/2014/main" id="{2617A640-31A7-9C1B-BFA5-FCBBC8B5CC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335" y="2136657"/>
              <a:ext cx="184901" cy="184901"/>
            </a:xfrm>
            <a:prstGeom prst="rect">
              <a:avLst/>
            </a:prstGeom>
          </p:spPr>
        </p:pic>
        <p:sp>
          <p:nvSpPr>
            <p:cNvPr id="62" name="正方形/長方形 61">
              <a:extLst>
                <a:ext uri="{FF2B5EF4-FFF2-40B4-BE49-F238E27FC236}">
                  <a16:creationId xmlns:a16="http://schemas.microsoft.com/office/drawing/2014/main" id="{1A39269A-9177-40B6-E448-478675B75B30}"/>
                </a:ext>
              </a:extLst>
            </p:cNvPr>
            <p:cNvSpPr/>
            <p:nvPr/>
          </p:nvSpPr>
          <p:spPr>
            <a:xfrm>
              <a:off x="4346769" y="2287787"/>
              <a:ext cx="288032" cy="126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600">
                  <a:solidFill>
                    <a:schemeClr val="tx1"/>
                  </a:solidFill>
                  <a:latin typeface="Meiryo UI" panose="020B0604030504040204" pitchFamily="50" charset="-128"/>
                  <a:ea typeface="Meiryo UI" panose="020B0604030504040204" pitchFamily="50" charset="-128"/>
                </a:rPr>
                <a:t>承認者</a:t>
              </a:r>
            </a:p>
          </p:txBody>
        </p:sp>
        <p:sp>
          <p:nvSpPr>
            <p:cNvPr id="63" name="正方形/長方形 62">
              <a:extLst>
                <a:ext uri="{FF2B5EF4-FFF2-40B4-BE49-F238E27FC236}">
                  <a16:creationId xmlns:a16="http://schemas.microsoft.com/office/drawing/2014/main" id="{3B65C5B5-71D6-6A18-8F6C-344D818AE5EA}"/>
                </a:ext>
              </a:extLst>
            </p:cNvPr>
            <p:cNvSpPr/>
            <p:nvPr/>
          </p:nvSpPr>
          <p:spPr>
            <a:xfrm>
              <a:off x="4572000" y="2204864"/>
              <a:ext cx="288032" cy="105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50" b="1">
                  <a:solidFill>
                    <a:schemeClr val="tx1"/>
                  </a:solidFill>
                  <a:latin typeface="Meiryo UI" panose="020B0604030504040204" pitchFamily="50" charset="-128"/>
                  <a:ea typeface="Meiryo UI" panose="020B0604030504040204" pitchFamily="50" charset="-128"/>
                </a:rPr>
                <a:t>本社</a:t>
              </a:r>
            </a:p>
          </p:txBody>
        </p:sp>
      </p:grpSp>
      <p:sp>
        <p:nvSpPr>
          <p:cNvPr id="81" name="正方形/長方形 80">
            <a:extLst>
              <a:ext uri="{FF2B5EF4-FFF2-40B4-BE49-F238E27FC236}">
                <a16:creationId xmlns:a16="http://schemas.microsoft.com/office/drawing/2014/main" id="{790B8F4C-D36B-2E2E-3CD5-C1BAE361E57C}"/>
              </a:ext>
            </a:extLst>
          </p:cNvPr>
          <p:cNvSpPr/>
          <p:nvPr/>
        </p:nvSpPr>
        <p:spPr>
          <a:xfrm>
            <a:off x="1073102" y="2449431"/>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拠点</a:t>
            </a:r>
            <a:endParaRPr kumimoji="1" lang="en-US" altLang="ja-JP" sz="1000" b="1">
              <a:solidFill>
                <a:schemeClr val="tx1"/>
              </a:solidFill>
              <a:latin typeface="Meiryo UI" panose="020B0604030504040204" pitchFamily="50" charset="-128"/>
              <a:ea typeface="Meiryo UI" panose="020B0604030504040204" pitchFamily="50" charset="-128"/>
            </a:endParaRPr>
          </a:p>
          <a:p>
            <a:pPr algn="ctr"/>
            <a:r>
              <a:rPr kumimoji="1" lang="ja-JP" altLang="en-US" sz="1000" b="1">
                <a:solidFill>
                  <a:schemeClr val="tx1"/>
                </a:solidFill>
                <a:latin typeface="Meiryo UI" panose="020B0604030504040204" pitchFamily="50" charset="-128"/>
                <a:ea typeface="Meiryo UI" panose="020B0604030504040204" pitchFamily="50" charset="-128"/>
              </a:rPr>
              <a:t>担当</a:t>
            </a:r>
          </a:p>
        </p:txBody>
      </p:sp>
      <p:sp>
        <p:nvSpPr>
          <p:cNvPr id="84" name="正方形/長方形 83">
            <a:extLst>
              <a:ext uri="{FF2B5EF4-FFF2-40B4-BE49-F238E27FC236}">
                <a16:creationId xmlns:a16="http://schemas.microsoft.com/office/drawing/2014/main" id="{DD2E5E7A-EFD4-056B-EACB-E370ADC65832}"/>
              </a:ext>
            </a:extLst>
          </p:cNvPr>
          <p:cNvSpPr/>
          <p:nvPr/>
        </p:nvSpPr>
        <p:spPr>
          <a:xfrm>
            <a:off x="1073102" y="3093401"/>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拠点</a:t>
            </a:r>
            <a:endParaRPr kumimoji="1" lang="en-US" altLang="ja-JP" sz="1000" b="1">
              <a:solidFill>
                <a:schemeClr val="tx1"/>
              </a:solidFill>
              <a:latin typeface="Meiryo UI" panose="020B0604030504040204" pitchFamily="50" charset="-128"/>
              <a:ea typeface="Meiryo UI" panose="020B0604030504040204" pitchFamily="50" charset="-128"/>
            </a:endParaRPr>
          </a:p>
          <a:p>
            <a:pPr algn="ctr"/>
            <a:r>
              <a:rPr kumimoji="1" lang="ja-JP" altLang="en-US" sz="1000" b="1">
                <a:solidFill>
                  <a:schemeClr val="tx1"/>
                </a:solidFill>
                <a:latin typeface="Meiryo UI" panose="020B0604030504040204" pitchFamily="50" charset="-128"/>
                <a:ea typeface="Meiryo UI" panose="020B0604030504040204" pitchFamily="50" charset="-128"/>
              </a:rPr>
              <a:t>担当</a:t>
            </a:r>
          </a:p>
        </p:txBody>
      </p:sp>
      <p:sp>
        <p:nvSpPr>
          <p:cNvPr id="85" name="正方形/長方形 84">
            <a:extLst>
              <a:ext uri="{FF2B5EF4-FFF2-40B4-BE49-F238E27FC236}">
                <a16:creationId xmlns:a16="http://schemas.microsoft.com/office/drawing/2014/main" id="{3AC18227-F9E9-786F-A358-E8243900D51E}"/>
              </a:ext>
            </a:extLst>
          </p:cNvPr>
          <p:cNvSpPr/>
          <p:nvPr/>
        </p:nvSpPr>
        <p:spPr>
          <a:xfrm>
            <a:off x="1073102" y="3819354"/>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所管</a:t>
            </a:r>
            <a:endParaRPr kumimoji="1" lang="en-US" altLang="ja-JP" sz="1000" b="1">
              <a:solidFill>
                <a:schemeClr val="tx1"/>
              </a:solidFill>
              <a:latin typeface="Meiryo UI" panose="020B0604030504040204" pitchFamily="50" charset="-128"/>
              <a:ea typeface="Meiryo UI" panose="020B0604030504040204" pitchFamily="50" charset="-128"/>
            </a:endParaRPr>
          </a:p>
          <a:p>
            <a:pPr algn="ctr"/>
            <a:r>
              <a:rPr kumimoji="1" lang="ja-JP" altLang="en-US" sz="1000" b="1">
                <a:solidFill>
                  <a:schemeClr val="tx1"/>
                </a:solidFill>
                <a:latin typeface="Meiryo UI" panose="020B0604030504040204" pitchFamily="50" charset="-128"/>
                <a:ea typeface="Meiryo UI" panose="020B0604030504040204" pitchFamily="50" charset="-128"/>
              </a:rPr>
              <a:t>事業部</a:t>
            </a:r>
            <a:endParaRPr kumimoji="1" lang="en-US" altLang="ja-JP" sz="1000" b="1">
              <a:solidFill>
                <a:schemeClr val="tx1"/>
              </a:solidFill>
              <a:latin typeface="Meiryo UI" panose="020B0604030504040204" pitchFamily="50" charset="-128"/>
              <a:ea typeface="Meiryo UI" panose="020B0604030504040204" pitchFamily="50" charset="-128"/>
            </a:endParaRPr>
          </a:p>
        </p:txBody>
      </p:sp>
      <p:sp>
        <p:nvSpPr>
          <p:cNvPr id="1024" name="フローチャート: 磁気ディスク 1023">
            <a:extLst>
              <a:ext uri="{FF2B5EF4-FFF2-40B4-BE49-F238E27FC236}">
                <a16:creationId xmlns:a16="http://schemas.microsoft.com/office/drawing/2014/main" id="{9BA1E064-175C-8A9E-C05E-41C5DF3FE2FD}"/>
              </a:ext>
            </a:extLst>
          </p:cNvPr>
          <p:cNvSpPr/>
          <p:nvPr/>
        </p:nvSpPr>
        <p:spPr>
          <a:xfrm>
            <a:off x="1161631" y="5107294"/>
            <a:ext cx="607421" cy="418447"/>
          </a:xfrm>
          <a:prstGeom prst="flowChartMagneticDisk">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人事</a:t>
            </a:r>
            <a:endParaRPr kumimoji="1"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システム等</a:t>
            </a:r>
          </a:p>
        </p:txBody>
      </p:sp>
      <p:sp>
        <p:nvSpPr>
          <p:cNvPr id="1028" name="正方形/長方形 1027">
            <a:extLst>
              <a:ext uri="{FF2B5EF4-FFF2-40B4-BE49-F238E27FC236}">
                <a16:creationId xmlns:a16="http://schemas.microsoft.com/office/drawing/2014/main" id="{DCB42D48-2D0A-8B0B-6096-B489E8D58919}"/>
              </a:ext>
            </a:extLst>
          </p:cNvPr>
          <p:cNvSpPr/>
          <p:nvPr/>
        </p:nvSpPr>
        <p:spPr>
          <a:xfrm>
            <a:off x="1662707" y="5220427"/>
            <a:ext cx="453024" cy="1751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OR</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037" name="正方形/長方形 1036">
            <a:extLst>
              <a:ext uri="{FF2B5EF4-FFF2-40B4-BE49-F238E27FC236}">
                <a16:creationId xmlns:a16="http://schemas.microsoft.com/office/drawing/2014/main" id="{689DD846-82CC-E3C2-C72F-D476E64D3486}"/>
              </a:ext>
            </a:extLst>
          </p:cNvPr>
          <p:cNvSpPr/>
          <p:nvPr/>
        </p:nvSpPr>
        <p:spPr>
          <a:xfrm>
            <a:off x="6119527" y="5107294"/>
            <a:ext cx="2736000" cy="787048"/>
          </a:xfrm>
          <a:prstGeom prst="rec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kumimoji="1" lang="ja-JP" altLang="en-US" sz="1200">
                <a:solidFill>
                  <a:schemeClr val="tx1"/>
                </a:solidFill>
                <a:latin typeface="Meiryo UI" panose="020B0604030504040204" pitchFamily="50" charset="-128"/>
                <a:ea typeface="Meiryo UI" panose="020B0604030504040204" pitchFamily="50" charset="-128"/>
              </a:rPr>
              <a:t>人事系データは出光興産単体のみが収集対象のため、</a:t>
            </a:r>
            <a:r>
              <a:rPr kumimoji="1" lang="ja-JP" altLang="en-US" sz="1200" b="1" u="sng">
                <a:solidFill>
                  <a:schemeClr val="tx1"/>
                </a:solidFill>
                <a:latin typeface="Meiryo UI" panose="020B0604030504040204" pitchFamily="50" charset="-128"/>
                <a:ea typeface="Meiryo UI" panose="020B0604030504040204" pitchFamily="50" charset="-128"/>
              </a:rPr>
              <a:t>人事部で入力されたデータは本社内で承認</a:t>
            </a:r>
            <a:endParaRPr kumimoji="1" lang="en-US" altLang="ja-JP" sz="1200" b="1" u="sng">
              <a:solidFill>
                <a:schemeClr val="tx1"/>
              </a:solidFill>
              <a:latin typeface="Meiryo UI" panose="020B0604030504040204" pitchFamily="50" charset="-128"/>
              <a:ea typeface="Meiryo UI" panose="020B0604030504040204" pitchFamily="50" charset="-128"/>
            </a:endParaRPr>
          </a:p>
        </p:txBody>
      </p:sp>
      <p:cxnSp>
        <p:nvCxnSpPr>
          <p:cNvPr id="1039" name="直線コネクタ 1038">
            <a:extLst>
              <a:ext uri="{FF2B5EF4-FFF2-40B4-BE49-F238E27FC236}">
                <a16:creationId xmlns:a16="http://schemas.microsoft.com/office/drawing/2014/main" id="{C94E4F7E-6A28-3230-83FF-D395E5016AD9}"/>
              </a:ext>
            </a:extLst>
          </p:cNvPr>
          <p:cNvCxnSpPr>
            <a:cxnSpLocks/>
            <a:stCxn id="1037" idx="1"/>
          </p:cNvCxnSpPr>
          <p:nvPr/>
        </p:nvCxnSpPr>
        <p:spPr>
          <a:xfrm flipH="1" flipV="1">
            <a:off x="4966298" y="4987065"/>
            <a:ext cx="1153229" cy="513753"/>
          </a:xfrm>
          <a:prstGeom prst="line">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cxnSp>
      <p:pic>
        <p:nvPicPr>
          <p:cNvPr id="1045" name="グラフィックス 1044" descr="ユーザー 単色塗りつぶし">
            <a:extLst>
              <a:ext uri="{FF2B5EF4-FFF2-40B4-BE49-F238E27FC236}">
                <a16:creationId xmlns:a16="http://schemas.microsoft.com/office/drawing/2014/main" id="{811E903A-FD11-E002-C027-4433F038B3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39347" y="5107970"/>
            <a:ext cx="358411" cy="358411"/>
          </a:xfrm>
          <a:prstGeom prst="rect">
            <a:avLst/>
          </a:prstGeom>
        </p:spPr>
      </p:pic>
      <p:sp>
        <p:nvSpPr>
          <p:cNvPr id="1046" name="正方形/長方形 1045">
            <a:extLst>
              <a:ext uri="{FF2B5EF4-FFF2-40B4-BE49-F238E27FC236}">
                <a16:creationId xmlns:a16="http://schemas.microsoft.com/office/drawing/2014/main" id="{69E270A6-1552-9DD8-3E57-69371179AABB}"/>
              </a:ext>
            </a:extLst>
          </p:cNvPr>
          <p:cNvSpPr/>
          <p:nvPr/>
        </p:nvSpPr>
        <p:spPr>
          <a:xfrm>
            <a:off x="1797074" y="5387580"/>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人事部</a:t>
            </a:r>
            <a:endParaRPr kumimoji="1" lang="en-US" altLang="ja-JP" sz="1000" b="1">
              <a:solidFill>
                <a:schemeClr val="tx1"/>
              </a:solidFill>
              <a:latin typeface="Meiryo UI" panose="020B0604030504040204" pitchFamily="50" charset="-128"/>
              <a:ea typeface="Meiryo UI" panose="020B0604030504040204" pitchFamily="50" charset="-128"/>
            </a:endParaRPr>
          </a:p>
        </p:txBody>
      </p:sp>
      <p:sp>
        <p:nvSpPr>
          <p:cNvPr id="1054" name="正方形/長方形 1053">
            <a:extLst>
              <a:ext uri="{FF2B5EF4-FFF2-40B4-BE49-F238E27FC236}">
                <a16:creationId xmlns:a16="http://schemas.microsoft.com/office/drawing/2014/main" id="{A982DCFC-E539-EBFC-5E22-CDD0EC6EBE8E}"/>
              </a:ext>
            </a:extLst>
          </p:cNvPr>
          <p:cNvSpPr/>
          <p:nvPr/>
        </p:nvSpPr>
        <p:spPr>
          <a:xfrm>
            <a:off x="1161631" y="5695042"/>
            <a:ext cx="3709543" cy="360000"/>
          </a:xfrm>
          <a:prstGeom prst="rect">
            <a:avLst/>
          </a:prstGeom>
          <a:solidFill>
            <a:schemeClr val="bg1">
              <a:lumMod val="95000"/>
            </a:schemeClr>
          </a:solidFill>
          <a:ln w="19050">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子会社の情報は収集していないため対象外</a:t>
            </a:r>
            <a:endParaRPr kumimoji="1" lang="en-US" altLang="ja-JP" sz="1400">
              <a:solidFill>
                <a:schemeClr val="tx1"/>
              </a:solidFill>
              <a:latin typeface="Meiryo UI" panose="020B0604030504040204" pitchFamily="50" charset="-128"/>
              <a:ea typeface="Meiryo UI" panose="020B0604030504040204" pitchFamily="50" charset="-128"/>
            </a:endParaRPr>
          </a:p>
        </p:txBody>
      </p:sp>
      <p:sp>
        <p:nvSpPr>
          <p:cNvPr id="1055" name="正方形/長方形 1054">
            <a:extLst>
              <a:ext uri="{FF2B5EF4-FFF2-40B4-BE49-F238E27FC236}">
                <a16:creationId xmlns:a16="http://schemas.microsoft.com/office/drawing/2014/main" id="{F0E6A661-C7CA-E715-B567-531DAFDA7AEF}"/>
              </a:ext>
            </a:extLst>
          </p:cNvPr>
          <p:cNvSpPr/>
          <p:nvPr/>
        </p:nvSpPr>
        <p:spPr>
          <a:xfrm>
            <a:off x="630719" y="6284320"/>
            <a:ext cx="7533087" cy="1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a:solidFill>
                  <a:schemeClr val="tx1"/>
                </a:solidFill>
                <a:latin typeface="Meiryo UI" panose="020B0604030504040204" pitchFamily="50" charset="-128"/>
                <a:ea typeface="Meiryo UI" panose="020B0604030504040204" pitchFamily="50" charset="-128"/>
              </a:rPr>
              <a:t>※1 </a:t>
            </a:r>
            <a:r>
              <a:rPr kumimoji="1" lang="ja-JP" altLang="en-US" sz="1000">
                <a:solidFill>
                  <a:schemeClr val="tx1"/>
                </a:solidFill>
                <a:latin typeface="Meiryo UI" panose="020B0604030504040204" pitchFamily="50" charset="-128"/>
                <a:ea typeface="Meiryo UI" panose="020B0604030504040204" pitchFamily="50" charset="-128"/>
              </a:rPr>
              <a:t>実際は、度数率等の比率の情報は構成要素をシステムに入力し、単純集計をシステムで実施し、その後システム外で率を計算し開示する</a:t>
            </a:r>
          </a:p>
        </p:txBody>
      </p:sp>
      <p:sp>
        <p:nvSpPr>
          <p:cNvPr id="5" name="正方形/長方形 4">
            <a:extLst>
              <a:ext uri="{FF2B5EF4-FFF2-40B4-BE49-F238E27FC236}">
                <a16:creationId xmlns:a16="http://schemas.microsoft.com/office/drawing/2014/main" id="{3F8D3A75-014C-8964-D31A-1319DA8B20F3}"/>
              </a:ext>
            </a:extLst>
          </p:cNvPr>
          <p:cNvSpPr/>
          <p:nvPr/>
        </p:nvSpPr>
        <p:spPr>
          <a:xfrm>
            <a:off x="1073102" y="4463324"/>
            <a:ext cx="607421" cy="22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所管</a:t>
            </a:r>
            <a:endParaRPr kumimoji="1" lang="en-US" altLang="ja-JP" sz="1000" b="1">
              <a:solidFill>
                <a:schemeClr val="tx1"/>
              </a:solidFill>
              <a:latin typeface="Meiryo UI" panose="020B0604030504040204" pitchFamily="50" charset="-128"/>
              <a:ea typeface="Meiryo UI" panose="020B0604030504040204" pitchFamily="50" charset="-128"/>
            </a:endParaRPr>
          </a:p>
          <a:p>
            <a:pPr algn="ctr"/>
            <a:r>
              <a:rPr kumimoji="1" lang="ja-JP" altLang="en-US" sz="1000" b="1">
                <a:solidFill>
                  <a:schemeClr val="tx1"/>
                </a:solidFill>
                <a:latin typeface="Meiryo UI" panose="020B0604030504040204" pitchFamily="50" charset="-128"/>
                <a:ea typeface="Meiryo UI" panose="020B0604030504040204" pitchFamily="50" charset="-128"/>
              </a:rPr>
              <a:t>事業部</a:t>
            </a:r>
            <a:endParaRPr kumimoji="1" lang="en-US" altLang="ja-JP" sz="1000" b="1">
              <a:solidFill>
                <a:schemeClr val="tx1"/>
              </a:solidFill>
              <a:latin typeface="Meiryo UI" panose="020B0604030504040204" pitchFamily="50" charset="-128"/>
              <a:ea typeface="Meiryo UI" panose="020B0604030504040204" pitchFamily="50" charset="-128"/>
            </a:endParaRPr>
          </a:p>
        </p:txBody>
      </p:sp>
      <p:sp>
        <p:nvSpPr>
          <p:cNvPr id="6" name="楕円 5">
            <a:extLst>
              <a:ext uri="{FF2B5EF4-FFF2-40B4-BE49-F238E27FC236}">
                <a16:creationId xmlns:a16="http://schemas.microsoft.com/office/drawing/2014/main" id="{AECF5B62-973B-638D-F049-7F4A9C323DE7}"/>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7" name="四角形: 角を丸くする 6">
            <a:extLst>
              <a:ext uri="{FF2B5EF4-FFF2-40B4-BE49-F238E27FC236}">
                <a16:creationId xmlns:a16="http://schemas.microsoft.com/office/drawing/2014/main" id="{3211439F-80AB-BEF3-1DA4-E542EFE1D1A2}"/>
              </a:ext>
            </a:extLst>
          </p:cNvPr>
          <p:cNvSpPr/>
          <p:nvPr/>
        </p:nvSpPr>
        <p:spPr>
          <a:xfrm>
            <a:off x="7045749" y="169787"/>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　対応すべき複数の開示基準</a:t>
            </a:r>
          </a:p>
        </p:txBody>
      </p:sp>
      <p:sp>
        <p:nvSpPr>
          <p:cNvPr id="8" name="四角形: 角を丸くする 7">
            <a:extLst>
              <a:ext uri="{FF2B5EF4-FFF2-40B4-BE49-F238E27FC236}">
                <a16:creationId xmlns:a16="http://schemas.microsoft.com/office/drawing/2014/main" id="{73CA07A1-C941-0E05-F907-39273DAA9185}"/>
              </a:ext>
            </a:extLst>
          </p:cNvPr>
          <p:cNvSpPr/>
          <p:nvPr/>
        </p:nvSpPr>
        <p:spPr>
          <a:xfrm>
            <a:off x="7045749" y="561240"/>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暫定</a:t>
            </a:r>
            <a:r>
              <a:rPr kumimoji="1" lang="en-US" altLang="ja-JP" sz="900" b="1">
                <a:solidFill>
                  <a:schemeClr val="bg1">
                    <a:lumMod val="50000"/>
                  </a:schemeClr>
                </a:solidFill>
                <a:latin typeface="Meiryo UI" panose="020B0604030504040204" pitchFamily="50" charset="-128"/>
                <a:ea typeface="Meiryo UI" panose="020B0604030504040204" pitchFamily="50" charset="-128"/>
              </a:rPr>
              <a:t>/</a:t>
            </a:r>
            <a:r>
              <a:rPr kumimoji="1" lang="ja-JP" altLang="en-US" sz="900" b="1">
                <a:solidFill>
                  <a:schemeClr val="bg1">
                    <a:lumMod val="50000"/>
                  </a:schemeClr>
                </a:solidFill>
                <a:latin typeface="Meiryo UI" panose="020B0604030504040204" pitchFamily="50" charset="-128"/>
                <a:ea typeface="Meiryo UI" panose="020B0604030504040204" pitchFamily="50" charset="-128"/>
              </a:rPr>
              <a:t>確定係数の運用</a:t>
            </a:r>
          </a:p>
        </p:txBody>
      </p:sp>
      <p:sp>
        <p:nvSpPr>
          <p:cNvPr id="11" name="四角形: 角を丸くする 10">
            <a:extLst>
              <a:ext uri="{FF2B5EF4-FFF2-40B4-BE49-F238E27FC236}">
                <a16:creationId xmlns:a16="http://schemas.microsoft.com/office/drawing/2014/main" id="{CD599F3C-36F3-8E69-A1CE-DBAC2AE5D3B9}"/>
              </a:ext>
            </a:extLst>
          </p:cNvPr>
          <p:cNvSpPr/>
          <p:nvPr/>
        </p:nvSpPr>
        <p:spPr>
          <a:xfrm>
            <a:off x="7045749" y="365514"/>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複数算定ロジックの構築</a:t>
            </a:r>
          </a:p>
        </p:txBody>
      </p:sp>
      <p:sp>
        <p:nvSpPr>
          <p:cNvPr id="19" name="楕円 18">
            <a:extLst>
              <a:ext uri="{FF2B5EF4-FFF2-40B4-BE49-F238E27FC236}">
                <a16:creationId xmlns:a16="http://schemas.microsoft.com/office/drawing/2014/main" id="{A08632D6-9C5D-E142-6BBB-304EC2D33ED8}"/>
              </a:ext>
            </a:extLst>
          </p:cNvPr>
          <p:cNvSpPr/>
          <p:nvPr/>
        </p:nvSpPr>
        <p:spPr>
          <a:xfrm>
            <a:off x="7020272" y="134576"/>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1</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30" name="楕円 29">
            <a:extLst>
              <a:ext uri="{FF2B5EF4-FFF2-40B4-BE49-F238E27FC236}">
                <a16:creationId xmlns:a16="http://schemas.microsoft.com/office/drawing/2014/main" id="{24ECFE89-3435-0B6E-E2D2-5F3652D06016}"/>
              </a:ext>
            </a:extLst>
          </p:cNvPr>
          <p:cNvSpPr/>
          <p:nvPr/>
        </p:nvSpPr>
        <p:spPr>
          <a:xfrm>
            <a:off x="7020272" y="330302"/>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2</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
        <p:nvSpPr>
          <p:cNvPr id="31" name="楕円 30">
            <a:extLst>
              <a:ext uri="{FF2B5EF4-FFF2-40B4-BE49-F238E27FC236}">
                <a16:creationId xmlns:a16="http://schemas.microsoft.com/office/drawing/2014/main" id="{C93D6F0E-193E-EF9A-4034-A6ADA2EFED51}"/>
              </a:ext>
            </a:extLst>
          </p:cNvPr>
          <p:cNvSpPr/>
          <p:nvPr/>
        </p:nvSpPr>
        <p:spPr>
          <a:xfrm>
            <a:off x="7020272" y="526029"/>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3</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85180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正方形/長方形 56">
            <a:extLst>
              <a:ext uri="{FF2B5EF4-FFF2-40B4-BE49-F238E27FC236}">
                <a16:creationId xmlns:a16="http://schemas.microsoft.com/office/drawing/2014/main" id="{7AB1AE2D-1602-CAA0-2D60-FF0DF727AA62}"/>
              </a:ext>
            </a:extLst>
          </p:cNvPr>
          <p:cNvSpPr/>
          <p:nvPr/>
        </p:nvSpPr>
        <p:spPr bwMode="gray">
          <a:xfrm>
            <a:off x="281851" y="4412783"/>
            <a:ext cx="1152000" cy="1567268"/>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84" name="正方形/長方形 183">
            <a:extLst>
              <a:ext uri="{FF2B5EF4-FFF2-40B4-BE49-F238E27FC236}">
                <a16:creationId xmlns:a16="http://schemas.microsoft.com/office/drawing/2014/main" id="{8D2E5757-9437-B4FF-85C7-3C08A1910949}"/>
              </a:ext>
            </a:extLst>
          </p:cNvPr>
          <p:cNvSpPr/>
          <p:nvPr/>
        </p:nvSpPr>
        <p:spPr>
          <a:xfrm>
            <a:off x="7045749" y="1649002"/>
            <a:ext cx="1656000" cy="10426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DBD845CD-F8D4-0261-A259-E1AF91C0830E}"/>
              </a:ext>
            </a:extLst>
          </p:cNvPr>
          <p:cNvSpPr/>
          <p:nvPr/>
        </p:nvSpPr>
        <p:spPr>
          <a:xfrm>
            <a:off x="1958685" y="2420961"/>
            <a:ext cx="1897075" cy="3559089"/>
          </a:xfrm>
          <a:prstGeom prst="rect">
            <a:avLst/>
          </a:prstGeom>
          <a:solidFill>
            <a:schemeClr val="accent5">
              <a:lumMod val="20000"/>
              <a:lumOff val="8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25A1219E-9697-306E-3C62-03A49235AB5C}"/>
              </a:ext>
            </a:extLst>
          </p:cNvPr>
          <p:cNvSpPr/>
          <p:nvPr/>
        </p:nvSpPr>
        <p:spPr>
          <a:xfrm>
            <a:off x="2154635" y="2564965"/>
            <a:ext cx="1487991" cy="2722425"/>
          </a:xfrm>
          <a:prstGeom prst="rect">
            <a:avLst/>
          </a:prstGeom>
          <a:solidFill>
            <a:schemeClr val="accent2">
              <a:lumMod val="20000"/>
              <a:lumOff val="80000"/>
            </a:schemeClr>
          </a:solid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B33B8615-4A36-86FE-A98B-A9EF92D50CD0}"/>
              </a:ext>
            </a:extLst>
          </p:cNvPr>
          <p:cNvSpPr/>
          <p:nvPr/>
        </p:nvSpPr>
        <p:spPr>
          <a:xfrm>
            <a:off x="4200086" y="3233003"/>
            <a:ext cx="142386" cy="12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EEDBEC1F-198E-DC26-B5D0-B96D1BCEE743}"/>
              </a:ext>
            </a:extLst>
          </p:cNvPr>
          <p:cNvSpPr/>
          <p:nvPr/>
        </p:nvSpPr>
        <p:spPr>
          <a:xfrm>
            <a:off x="4378318" y="3537254"/>
            <a:ext cx="142386" cy="12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846116DA-C78E-8583-A89E-C03915920905}"/>
              </a:ext>
            </a:extLst>
          </p:cNvPr>
          <p:cNvSpPr/>
          <p:nvPr/>
        </p:nvSpPr>
        <p:spPr>
          <a:xfrm>
            <a:off x="4378318" y="3680214"/>
            <a:ext cx="142386" cy="12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455D7D82-67B9-3144-C70B-16CE658018A2}"/>
              </a:ext>
            </a:extLst>
          </p:cNvPr>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複数算定ロジック概要</a:t>
            </a:r>
            <a:r>
              <a:rPr lang="en-US" altLang="ja-JP">
                <a:latin typeface="Meiryo UI" panose="020B0604030504040204" pitchFamily="50" charset="-128"/>
                <a:ea typeface="Meiryo UI" panose="020B0604030504040204" pitchFamily="50" charset="-128"/>
              </a:rPr>
              <a:t>(Scope1,2)</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63E4D88A-275E-33D1-B649-3753D0A2CB9D}"/>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25</a:t>
            </a:fld>
            <a:endParaRPr kumimoji="1" lang="ja-JP" altLang="en-US">
              <a:latin typeface="Meiryo UI" panose="020B0604030504040204" pitchFamily="50" charset="-128"/>
              <a:ea typeface="Meiryo UI" panose="020B0604030504040204" pitchFamily="50" charset="-128"/>
            </a:endParaRPr>
          </a:p>
        </p:txBody>
      </p:sp>
      <p:sp>
        <p:nvSpPr>
          <p:cNvPr id="15" name="テキスト プレースホルダー 14">
            <a:extLst>
              <a:ext uri="{FF2B5EF4-FFF2-40B4-BE49-F238E27FC236}">
                <a16:creationId xmlns:a16="http://schemas.microsoft.com/office/drawing/2014/main" id="{3B3B96B7-AF12-4B9B-170D-02D21FDD417B}"/>
              </a:ext>
            </a:extLst>
          </p:cNvPr>
          <p:cNvSpPr>
            <a:spLocks noGrp="1"/>
          </p:cNvSpPr>
          <p:nvPr>
            <p:ph type="body" sz="quarter" idx="13"/>
          </p:nvPr>
        </p:nvSpPr>
        <p:spPr/>
        <p:txBody>
          <a:bodyPr/>
          <a:lstStyle/>
          <a:p>
            <a:r>
              <a:rPr lang="ja-JP" altLang="en-US">
                <a:highlight>
                  <a:srgbClr val="FFFF00"/>
                </a:highlight>
              </a:rPr>
              <a:t>温対法と</a:t>
            </a:r>
            <a:r>
              <a:rPr lang="en-US" altLang="ja-JP">
                <a:highlight>
                  <a:srgbClr val="FFFF00"/>
                </a:highlight>
              </a:rPr>
              <a:t>SSBJ</a:t>
            </a:r>
            <a:r>
              <a:rPr lang="ja-JP" altLang="en-US">
                <a:highlight>
                  <a:srgbClr val="FFFF00"/>
                </a:highlight>
              </a:rPr>
              <a:t>では、算定対象及び使用する排出係数が異なるため、</a:t>
            </a:r>
            <a:r>
              <a:rPr lang="en-US" altLang="ja-JP">
                <a:highlight>
                  <a:srgbClr val="FFFF00"/>
                </a:highlight>
              </a:rPr>
              <a:t>1</a:t>
            </a:r>
            <a:r>
              <a:rPr lang="ja-JP" altLang="en-US">
                <a:highlight>
                  <a:srgbClr val="FFFF00"/>
                </a:highlight>
              </a:rPr>
              <a:t>排出活動項目に対し複数の算定ロジックを構築することで開示先それぞれの排出量を算定できることが新システムに求められる</a:t>
            </a:r>
          </a:p>
        </p:txBody>
      </p:sp>
      <p:sp>
        <p:nvSpPr>
          <p:cNvPr id="10" name="テキスト ボックス 9">
            <a:extLst>
              <a:ext uri="{FF2B5EF4-FFF2-40B4-BE49-F238E27FC236}">
                <a16:creationId xmlns:a16="http://schemas.microsoft.com/office/drawing/2014/main" id="{61B96CDF-C850-ED6E-3DCB-40B7B07E3DE1}"/>
              </a:ext>
            </a:extLst>
          </p:cNvPr>
          <p:cNvSpPr txBox="1"/>
          <p:nvPr/>
        </p:nvSpPr>
        <p:spPr>
          <a:xfrm>
            <a:off x="2197776" y="2789593"/>
            <a:ext cx="1356288" cy="370800"/>
          </a:xfrm>
          <a:prstGeom prst="roundRect">
            <a:avLst/>
          </a:prstGeom>
          <a:solidFill>
            <a:schemeClr val="bg1"/>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kumimoji="1" sz="1050">
                <a:solidFill>
                  <a:schemeClr val="tx1"/>
                </a:solidFill>
                <a:latin typeface="Meiryo UI" panose="020B0604030504040204" pitchFamily="50" charset="-128"/>
                <a:ea typeface="Meiryo UI" panose="020B0604030504040204"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sz="1200"/>
              <a:t>活動量</a:t>
            </a:r>
            <a:r>
              <a:rPr lang="en-US" altLang="ja-JP" sz="1200"/>
              <a:t>A-1</a:t>
            </a:r>
          </a:p>
          <a:p>
            <a:r>
              <a:rPr lang="en-US" altLang="ja-JP" sz="800"/>
              <a:t>※</a:t>
            </a:r>
            <a:r>
              <a:rPr lang="ja-JP" altLang="en-US" sz="800"/>
              <a:t>製油所（オフガス）</a:t>
            </a:r>
            <a:endParaRPr lang="ja-JP" altLang="en-US" sz="1200"/>
          </a:p>
        </p:txBody>
      </p:sp>
      <p:sp>
        <p:nvSpPr>
          <p:cNvPr id="20" name="フローチャート: 記憶データ 19">
            <a:extLst>
              <a:ext uri="{FF2B5EF4-FFF2-40B4-BE49-F238E27FC236}">
                <a16:creationId xmlns:a16="http://schemas.microsoft.com/office/drawing/2014/main" id="{E90611FC-3C61-53D9-CEF9-3215F08F6F5F}"/>
              </a:ext>
            </a:extLst>
          </p:cNvPr>
          <p:cNvSpPr/>
          <p:nvPr/>
        </p:nvSpPr>
        <p:spPr>
          <a:xfrm>
            <a:off x="5352990" y="3584593"/>
            <a:ext cx="1540956" cy="635806"/>
          </a:xfrm>
          <a:prstGeom prst="flowChartOnlineStorag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温対法用排出係数</a:t>
            </a:r>
            <a:endParaRPr kumimoji="1" lang="en-US" altLang="ja-JP" sz="1050">
              <a:solidFill>
                <a:schemeClr val="tx1"/>
              </a:solidFill>
              <a:latin typeface="Meiryo UI" panose="020B0604030504040204" pitchFamily="50" charset="-128"/>
              <a:ea typeface="Meiryo UI" panose="020B0604030504040204" pitchFamily="50" charset="-128"/>
            </a:endParaRPr>
          </a:p>
          <a:p>
            <a:pPr algn="ctr"/>
            <a:r>
              <a:rPr kumimoji="1" lang="ja-JP" altLang="en-US" sz="1050">
                <a:solidFill>
                  <a:schemeClr val="tx1"/>
                </a:solidFill>
                <a:latin typeface="Meiryo UI" panose="020B0604030504040204" pitchFamily="50" charset="-128"/>
                <a:ea typeface="Meiryo UI" panose="020B0604030504040204" pitchFamily="50" charset="-128"/>
              </a:rPr>
              <a:t>（環境省）</a:t>
            </a:r>
            <a:endParaRPr kumimoji="1" lang="en-US" altLang="ja-JP" sz="1050">
              <a:solidFill>
                <a:schemeClr val="tx1"/>
              </a:solidFill>
              <a:latin typeface="Meiryo UI" panose="020B0604030504040204" pitchFamily="50" charset="-128"/>
              <a:ea typeface="Meiryo UI" panose="020B0604030504040204" pitchFamily="50" charset="-128"/>
            </a:endParaRPr>
          </a:p>
          <a:p>
            <a:pPr algn="ctr"/>
            <a:r>
              <a:rPr kumimoji="1" lang="ja-JP" altLang="en-US" sz="1050">
                <a:solidFill>
                  <a:schemeClr val="tx1"/>
                </a:solidFill>
                <a:latin typeface="Meiryo UI" panose="020B0604030504040204" pitchFamily="50" charset="-128"/>
                <a:ea typeface="Meiryo UI" panose="020B0604030504040204" pitchFamily="50" charset="-128"/>
              </a:rPr>
              <a:t>（出光独自係数）</a:t>
            </a:r>
          </a:p>
        </p:txBody>
      </p:sp>
      <p:sp>
        <p:nvSpPr>
          <p:cNvPr id="21" name="フローチャート: 記憶データ 20">
            <a:extLst>
              <a:ext uri="{FF2B5EF4-FFF2-40B4-BE49-F238E27FC236}">
                <a16:creationId xmlns:a16="http://schemas.microsoft.com/office/drawing/2014/main" id="{27B1CCE9-78D1-CB11-3345-A24A651B18B2}"/>
              </a:ext>
            </a:extLst>
          </p:cNvPr>
          <p:cNvSpPr/>
          <p:nvPr/>
        </p:nvSpPr>
        <p:spPr>
          <a:xfrm>
            <a:off x="5352990" y="4971756"/>
            <a:ext cx="1540956" cy="635806"/>
          </a:xfrm>
          <a:prstGeom prst="flowChartOnlineStorag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50">
                <a:solidFill>
                  <a:schemeClr val="tx1"/>
                </a:solidFill>
                <a:latin typeface="Meiryo UI" panose="020B0604030504040204" pitchFamily="50" charset="-128"/>
                <a:ea typeface="Meiryo UI" panose="020B0604030504040204" pitchFamily="50" charset="-128"/>
              </a:rPr>
              <a:t>SSBJ</a:t>
            </a:r>
            <a:r>
              <a:rPr kumimoji="1" lang="ja-JP" altLang="en-US" sz="1050">
                <a:solidFill>
                  <a:schemeClr val="tx1"/>
                </a:solidFill>
                <a:latin typeface="Meiryo UI" panose="020B0604030504040204" pitchFamily="50" charset="-128"/>
                <a:ea typeface="Meiryo UI" panose="020B0604030504040204" pitchFamily="50" charset="-128"/>
              </a:rPr>
              <a:t>用排出係数</a:t>
            </a:r>
            <a:endParaRPr kumimoji="1" lang="en-US" altLang="ja-JP" sz="1050">
              <a:solidFill>
                <a:schemeClr val="tx1"/>
              </a:solidFill>
              <a:latin typeface="Meiryo UI" panose="020B0604030504040204" pitchFamily="50" charset="-128"/>
              <a:ea typeface="Meiryo UI" panose="020B0604030504040204" pitchFamily="50" charset="-128"/>
            </a:endParaRPr>
          </a:p>
          <a:p>
            <a:pPr algn="ctr"/>
            <a:r>
              <a:rPr kumimoji="1" lang="ja-JP" altLang="en-US" sz="1050">
                <a:solidFill>
                  <a:schemeClr val="tx1"/>
                </a:solidFill>
                <a:latin typeface="Meiryo UI" panose="020B0604030504040204" pitchFamily="50" charset="-128"/>
                <a:ea typeface="Meiryo UI" panose="020B0604030504040204" pitchFamily="50" charset="-128"/>
              </a:rPr>
              <a:t>（</a:t>
            </a:r>
            <a:r>
              <a:rPr kumimoji="1" lang="en-US" altLang="ja-JP" sz="1050">
                <a:solidFill>
                  <a:schemeClr val="tx1"/>
                </a:solidFill>
                <a:latin typeface="Meiryo UI" panose="020B0604030504040204" pitchFamily="50" charset="-128"/>
                <a:ea typeface="Meiryo UI" panose="020B0604030504040204" pitchFamily="50" charset="-128"/>
              </a:rPr>
              <a:t>IDEA, IEA</a:t>
            </a:r>
            <a:r>
              <a:rPr kumimoji="1" lang="ja-JP" altLang="en-US" sz="1050">
                <a:solidFill>
                  <a:schemeClr val="tx1"/>
                </a:solidFill>
                <a:latin typeface="Meiryo UI" panose="020B0604030504040204" pitchFamily="50" charset="-128"/>
                <a:ea typeface="Meiryo UI" panose="020B0604030504040204" pitchFamily="50" charset="-128"/>
              </a:rPr>
              <a:t>等）</a:t>
            </a:r>
          </a:p>
        </p:txBody>
      </p:sp>
      <p:sp>
        <p:nvSpPr>
          <p:cNvPr id="27" name="テキスト ボックス 26">
            <a:extLst>
              <a:ext uri="{FF2B5EF4-FFF2-40B4-BE49-F238E27FC236}">
                <a16:creationId xmlns:a16="http://schemas.microsoft.com/office/drawing/2014/main" id="{BD5EC102-0D1A-46C3-A300-4625D8A41F84}"/>
              </a:ext>
            </a:extLst>
          </p:cNvPr>
          <p:cNvSpPr txBox="1"/>
          <p:nvPr/>
        </p:nvSpPr>
        <p:spPr>
          <a:xfrm>
            <a:off x="2197776" y="3755048"/>
            <a:ext cx="1356288" cy="370800"/>
          </a:xfrm>
          <a:prstGeom prst="roundRect">
            <a:avLst/>
          </a:prstGeom>
          <a:solidFill>
            <a:schemeClr val="bg1"/>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kumimoji="1" sz="1050">
                <a:solidFill>
                  <a:schemeClr val="tx1"/>
                </a:solidFill>
                <a:latin typeface="Meiryo UI" panose="020B0604030504040204" pitchFamily="50" charset="-128"/>
                <a:ea typeface="Meiryo UI" panose="020B0604030504040204"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sz="1200"/>
              <a:t>活動量</a:t>
            </a:r>
            <a:r>
              <a:rPr lang="en-US" altLang="ja-JP" sz="1200"/>
              <a:t>B</a:t>
            </a:r>
          </a:p>
          <a:p>
            <a:r>
              <a:rPr lang="en-US" altLang="ja-JP" sz="700"/>
              <a:t>※</a:t>
            </a:r>
            <a:r>
              <a:rPr lang="ja-JP" altLang="en-US" sz="700"/>
              <a:t>単体＋製油所</a:t>
            </a:r>
            <a:r>
              <a:rPr lang="en-US" altLang="ja-JP" sz="700"/>
              <a:t>(</a:t>
            </a:r>
            <a:r>
              <a:rPr lang="ja-JP" altLang="en-US" sz="700"/>
              <a:t>非オフガス</a:t>
            </a:r>
            <a:r>
              <a:rPr lang="en-US" altLang="ja-JP" sz="700"/>
              <a:t>)</a:t>
            </a:r>
            <a:endParaRPr lang="ja-JP" altLang="en-US" sz="700"/>
          </a:p>
        </p:txBody>
      </p:sp>
      <p:sp>
        <p:nvSpPr>
          <p:cNvPr id="38" name="テキスト ボックス 37">
            <a:extLst>
              <a:ext uri="{FF2B5EF4-FFF2-40B4-BE49-F238E27FC236}">
                <a16:creationId xmlns:a16="http://schemas.microsoft.com/office/drawing/2014/main" id="{273A9150-F5AC-8FA8-1D1C-E0C8A803957E}"/>
              </a:ext>
            </a:extLst>
          </p:cNvPr>
          <p:cNvSpPr txBox="1"/>
          <p:nvPr/>
        </p:nvSpPr>
        <p:spPr>
          <a:xfrm>
            <a:off x="2197776" y="4756198"/>
            <a:ext cx="1356288" cy="370800"/>
          </a:xfrm>
          <a:prstGeom prst="roundRect">
            <a:avLst/>
          </a:prstGeom>
          <a:solidFill>
            <a:schemeClr val="bg1"/>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kumimoji="1" sz="1050">
                <a:solidFill>
                  <a:schemeClr val="tx1"/>
                </a:solidFill>
                <a:latin typeface="Meiryo UI" panose="020B0604030504040204" pitchFamily="50" charset="-128"/>
                <a:ea typeface="Meiryo UI" panose="020B0604030504040204"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sz="1200"/>
              <a:t>活動量</a:t>
            </a:r>
            <a:r>
              <a:rPr lang="en-US" altLang="ja-JP" sz="1200"/>
              <a:t>C</a:t>
            </a:r>
          </a:p>
          <a:p>
            <a:r>
              <a:rPr lang="en-US" altLang="ja-JP" sz="800"/>
              <a:t>※</a:t>
            </a:r>
            <a:r>
              <a:rPr lang="ja-JP" altLang="en-US" sz="800"/>
              <a:t>国内子会社</a:t>
            </a:r>
            <a:endParaRPr lang="en-US" altLang="ja-JP" sz="800"/>
          </a:p>
        </p:txBody>
      </p:sp>
      <p:sp>
        <p:nvSpPr>
          <p:cNvPr id="39" name="テキスト ボックス 38">
            <a:extLst>
              <a:ext uri="{FF2B5EF4-FFF2-40B4-BE49-F238E27FC236}">
                <a16:creationId xmlns:a16="http://schemas.microsoft.com/office/drawing/2014/main" id="{517209FC-ED50-49CA-650A-DD19E9110F73}"/>
              </a:ext>
            </a:extLst>
          </p:cNvPr>
          <p:cNvSpPr txBox="1"/>
          <p:nvPr/>
        </p:nvSpPr>
        <p:spPr>
          <a:xfrm>
            <a:off x="2197776" y="5416527"/>
            <a:ext cx="1356288" cy="370800"/>
          </a:xfrm>
          <a:prstGeom prst="roundRect">
            <a:avLst/>
          </a:prstGeom>
          <a:solidFill>
            <a:schemeClr val="bg1"/>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kumimoji="1" sz="1050">
                <a:solidFill>
                  <a:schemeClr val="tx1"/>
                </a:solidFill>
                <a:latin typeface="Meiryo UI" panose="020B0604030504040204" pitchFamily="50" charset="-128"/>
                <a:ea typeface="Meiryo UI" panose="020B0604030504040204"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sz="1200"/>
              <a:t>活動量</a:t>
            </a:r>
            <a:r>
              <a:rPr lang="en-US" altLang="ja-JP" sz="1200"/>
              <a:t>D</a:t>
            </a:r>
          </a:p>
          <a:p>
            <a:r>
              <a:rPr lang="en-US" altLang="ja-JP" sz="700"/>
              <a:t>※</a:t>
            </a:r>
            <a:r>
              <a:rPr lang="ja-JP" altLang="en-US" sz="700"/>
              <a:t>海外子会社</a:t>
            </a:r>
            <a:endParaRPr lang="ja-JP" altLang="en-US"/>
          </a:p>
        </p:txBody>
      </p:sp>
      <p:cxnSp>
        <p:nvCxnSpPr>
          <p:cNvPr id="45" name="コネクタ: カギ線 44">
            <a:extLst>
              <a:ext uri="{FF2B5EF4-FFF2-40B4-BE49-F238E27FC236}">
                <a16:creationId xmlns:a16="http://schemas.microsoft.com/office/drawing/2014/main" id="{4850783F-C4B9-20C2-94F2-87A7ADFB339B}"/>
              </a:ext>
            </a:extLst>
          </p:cNvPr>
          <p:cNvCxnSpPr>
            <a:cxnSpLocks/>
            <a:stCxn id="39" idx="3"/>
            <a:endCxn id="69" idx="1"/>
          </p:cNvCxnSpPr>
          <p:nvPr/>
        </p:nvCxnSpPr>
        <p:spPr>
          <a:xfrm flipV="1">
            <a:off x="3554064" y="4066090"/>
            <a:ext cx="1798926" cy="1535837"/>
          </a:xfrm>
          <a:prstGeom prst="bentConnector3">
            <a:avLst>
              <a:gd name="adj1" fmla="val 61158"/>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コネクタ: カギ線 48">
            <a:extLst>
              <a:ext uri="{FF2B5EF4-FFF2-40B4-BE49-F238E27FC236}">
                <a16:creationId xmlns:a16="http://schemas.microsoft.com/office/drawing/2014/main" id="{AA6AA0B3-D023-D8C7-70D6-F40874E089B1}"/>
              </a:ext>
            </a:extLst>
          </p:cNvPr>
          <p:cNvCxnSpPr>
            <a:cxnSpLocks/>
            <a:stCxn id="38" idx="3"/>
            <a:endCxn id="20" idx="1"/>
          </p:cNvCxnSpPr>
          <p:nvPr/>
        </p:nvCxnSpPr>
        <p:spPr>
          <a:xfrm flipV="1">
            <a:off x="3554064" y="3902496"/>
            <a:ext cx="1798926" cy="103910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コネクタ: カギ線 51">
            <a:extLst>
              <a:ext uri="{FF2B5EF4-FFF2-40B4-BE49-F238E27FC236}">
                <a16:creationId xmlns:a16="http://schemas.microsoft.com/office/drawing/2014/main" id="{476CD3B4-BAB5-1B86-D21E-FD9F171F3318}"/>
              </a:ext>
            </a:extLst>
          </p:cNvPr>
          <p:cNvCxnSpPr>
            <a:cxnSpLocks/>
            <a:stCxn id="27" idx="3"/>
            <a:endCxn id="20" idx="1"/>
          </p:cNvCxnSpPr>
          <p:nvPr/>
        </p:nvCxnSpPr>
        <p:spPr>
          <a:xfrm flipV="1">
            <a:off x="3554064" y="3902496"/>
            <a:ext cx="1798926" cy="3795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29216C82-2E25-24A0-F4C4-7F2E0F5FDEC1}"/>
              </a:ext>
            </a:extLst>
          </p:cNvPr>
          <p:cNvCxnSpPr>
            <a:cxnSpLocks/>
            <a:stCxn id="10" idx="3"/>
            <a:endCxn id="20" idx="1"/>
          </p:cNvCxnSpPr>
          <p:nvPr/>
        </p:nvCxnSpPr>
        <p:spPr>
          <a:xfrm>
            <a:off x="3554064" y="2974993"/>
            <a:ext cx="1798926" cy="927503"/>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AE881044-ACF3-4919-6120-782CB1FE3078}"/>
              </a:ext>
            </a:extLst>
          </p:cNvPr>
          <p:cNvSpPr/>
          <p:nvPr/>
        </p:nvSpPr>
        <p:spPr>
          <a:xfrm>
            <a:off x="5352990" y="3930363"/>
            <a:ext cx="587010" cy="2714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B409D19A-72C0-C10F-AB76-1D047F9D3673}"/>
              </a:ext>
            </a:extLst>
          </p:cNvPr>
          <p:cNvSpPr/>
          <p:nvPr/>
        </p:nvSpPr>
        <p:spPr>
          <a:xfrm>
            <a:off x="4356000" y="3065833"/>
            <a:ext cx="216000" cy="99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5F2B81EA-0AFC-FC1C-5634-2CB076D03667}"/>
              </a:ext>
            </a:extLst>
          </p:cNvPr>
          <p:cNvSpPr/>
          <p:nvPr/>
        </p:nvSpPr>
        <p:spPr>
          <a:xfrm>
            <a:off x="4591452" y="3838656"/>
            <a:ext cx="142386" cy="12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2" name="正方形/長方形 91">
            <a:extLst>
              <a:ext uri="{FF2B5EF4-FFF2-40B4-BE49-F238E27FC236}">
                <a16:creationId xmlns:a16="http://schemas.microsoft.com/office/drawing/2014/main" id="{6925687C-3C41-1825-2062-54377C08B556}"/>
              </a:ext>
            </a:extLst>
          </p:cNvPr>
          <p:cNvSpPr/>
          <p:nvPr/>
        </p:nvSpPr>
        <p:spPr>
          <a:xfrm>
            <a:off x="4369720" y="4667796"/>
            <a:ext cx="142386" cy="12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cxnSp>
        <p:nvCxnSpPr>
          <p:cNvPr id="77" name="コネクタ: カギ線 76">
            <a:extLst>
              <a:ext uri="{FF2B5EF4-FFF2-40B4-BE49-F238E27FC236}">
                <a16:creationId xmlns:a16="http://schemas.microsoft.com/office/drawing/2014/main" id="{7F481274-40D5-6778-4BDC-20DE7966D52D}"/>
              </a:ext>
            </a:extLst>
          </p:cNvPr>
          <p:cNvCxnSpPr>
            <a:cxnSpLocks/>
          </p:cNvCxnSpPr>
          <p:nvPr/>
        </p:nvCxnSpPr>
        <p:spPr>
          <a:xfrm flipV="1">
            <a:off x="3554064" y="4066090"/>
            <a:ext cx="1798926" cy="756015"/>
          </a:xfrm>
          <a:prstGeom prst="bentConnector3">
            <a:avLst>
              <a:gd name="adj1" fmla="val 61158"/>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F325978B-259C-A2AF-5FB8-08FDAFBF1FDC}"/>
              </a:ext>
            </a:extLst>
          </p:cNvPr>
          <p:cNvSpPr/>
          <p:nvPr/>
        </p:nvSpPr>
        <p:spPr>
          <a:xfrm>
            <a:off x="4591452" y="3680214"/>
            <a:ext cx="142386" cy="12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cxnSp>
        <p:nvCxnSpPr>
          <p:cNvPr id="83" name="コネクタ: カギ線 82">
            <a:extLst>
              <a:ext uri="{FF2B5EF4-FFF2-40B4-BE49-F238E27FC236}">
                <a16:creationId xmlns:a16="http://schemas.microsoft.com/office/drawing/2014/main" id="{CE28121E-BF69-14BD-E833-B8C747AD047B}"/>
              </a:ext>
            </a:extLst>
          </p:cNvPr>
          <p:cNvCxnSpPr>
            <a:cxnSpLocks/>
            <a:endCxn id="69" idx="1"/>
          </p:cNvCxnSpPr>
          <p:nvPr/>
        </p:nvCxnSpPr>
        <p:spPr>
          <a:xfrm>
            <a:off x="3546032" y="3095438"/>
            <a:ext cx="1806958" cy="970652"/>
          </a:xfrm>
          <a:prstGeom prst="bentConnector3">
            <a:avLst>
              <a:gd name="adj1" fmla="val 61142"/>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3D4A4728-D0B0-A25B-570F-B223037B3099}"/>
              </a:ext>
            </a:extLst>
          </p:cNvPr>
          <p:cNvCxnSpPr>
            <a:cxnSpLocks/>
            <a:endCxn id="21" idx="1"/>
          </p:cNvCxnSpPr>
          <p:nvPr/>
        </p:nvCxnSpPr>
        <p:spPr>
          <a:xfrm rot="16200000" flipH="1">
            <a:off x="4602710" y="4539379"/>
            <a:ext cx="1223570" cy="276990"/>
          </a:xfrm>
          <a:prstGeom prst="bentConnector2">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08" name="図 107">
            <a:extLst>
              <a:ext uri="{FF2B5EF4-FFF2-40B4-BE49-F238E27FC236}">
                <a16:creationId xmlns:a16="http://schemas.microsoft.com/office/drawing/2014/main" id="{645CEC0C-34C2-CD80-2B79-2A5CD8DD2A39}"/>
              </a:ext>
            </a:extLst>
          </p:cNvPr>
          <p:cNvPicPr>
            <a:picLocks noChangeAspect="1"/>
          </p:cNvPicPr>
          <p:nvPr/>
        </p:nvPicPr>
        <p:blipFill>
          <a:blip r:embed="rId3"/>
          <a:stretch>
            <a:fillRect/>
          </a:stretch>
        </p:blipFill>
        <p:spPr>
          <a:xfrm>
            <a:off x="7426960" y="3688113"/>
            <a:ext cx="1026190" cy="430338"/>
          </a:xfrm>
          <a:prstGeom prst="rect">
            <a:avLst/>
          </a:prstGeom>
        </p:spPr>
      </p:pic>
      <p:pic>
        <p:nvPicPr>
          <p:cNvPr id="110" name="図 109">
            <a:extLst>
              <a:ext uri="{FF2B5EF4-FFF2-40B4-BE49-F238E27FC236}">
                <a16:creationId xmlns:a16="http://schemas.microsoft.com/office/drawing/2014/main" id="{095B0D14-42FB-BEDA-BD92-D02640B4489E}"/>
              </a:ext>
            </a:extLst>
          </p:cNvPr>
          <p:cNvPicPr>
            <a:picLocks noChangeAspect="1"/>
          </p:cNvPicPr>
          <p:nvPr/>
        </p:nvPicPr>
        <p:blipFill>
          <a:blip r:embed="rId4"/>
          <a:stretch>
            <a:fillRect/>
          </a:stretch>
        </p:blipFill>
        <p:spPr>
          <a:xfrm>
            <a:off x="7426960" y="5068207"/>
            <a:ext cx="930191" cy="438366"/>
          </a:xfrm>
          <a:prstGeom prst="rect">
            <a:avLst/>
          </a:prstGeom>
        </p:spPr>
      </p:pic>
      <p:cxnSp>
        <p:nvCxnSpPr>
          <p:cNvPr id="112" name="直線矢印コネクタ 111">
            <a:extLst>
              <a:ext uri="{FF2B5EF4-FFF2-40B4-BE49-F238E27FC236}">
                <a16:creationId xmlns:a16="http://schemas.microsoft.com/office/drawing/2014/main" id="{3A44A55B-CF15-5A00-D243-42917272A88C}"/>
              </a:ext>
            </a:extLst>
          </p:cNvPr>
          <p:cNvCxnSpPr>
            <a:cxnSpLocks/>
            <a:stCxn id="20" idx="3"/>
            <a:endCxn id="108" idx="1"/>
          </p:cNvCxnSpPr>
          <p:nvPr/>
        </p:nvCxnSpPr>
        <p:spPr>
          <a:xfrm>
            <a:off x="6637120" y="3902496"/>
            <a:ext cx="789840" cy="78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E9384242-A8D1-622D-AAF0-F1305B51A68D}"/>
              </a:ext>
            </a:extLst>
          </p:cNvPr>
          <p:cNvCxnSpPr>
            <a:cxnSpLocks/>
            <a:stCxn id="119" idx="3"/>
            <a:endCxn id="110" idx="1"/>
          </p:cNvCxnSpPr>
          <p:nvPr/>
        </p:nvCxnSpPr>
        <p:spPr>
          <a:xfrm>
            <a:off x="6675692" y="4071806"/>
            <a:ext cx="751268" cy="1215584"/>
          </a:xfrm>
          <a:prstGeom prst="bentConnector3">
            <a:avLst>
              <a:gd name="adj1" fmla="val 50000"/>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BEA86D9F-836E-03D1-5416-C2AFF107CF17}"/>
              </a:ext>
            </a:extLst>
          </p:cNvPr>
          <p:cNvSpPr/>
          <p:nvPr/>
        </p:nvSpPr>
        <p:spPr>
          <a:xfrm>
            <a:off x="6216990" y="3994650"/>
            <a:ext cx="458702" cy="1543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cxnSp>
        <p:nvCxnSpPr>
          <p:cNvPr id="125" name="直線矢印コネクタ 124">
            <a:extLst>
              <a:ext uri="{FF2B5EF4-FFF2-40B4-BE49-F238E27FC236}">
                <a16:creationId xmlns:a16="http://schemas.microsoft.com/office/drawing/2014/main" id="{DB15E2AB-CD49-56C8-5ED1-7A3FC8AB4EA1}"/>
              </a:ext>
            </a:extLst>
          </p:cNvPr>
          <p:cNvCxnSpPr>
            <a:cxnSpLocks/>
            <a:stCxn id="21" idx="3"/>
            <a:endCxn id="110" idx="1"/>
          </p:cNvCxnSpPr>
          <p:nvPr/>
        </p:nvCxnSpPr>
        <p:spPr>
          <a:xfrm flipV="1">
            <a:off x="6637120" y="5287390"/>
            <a:ext cx="789840" cy="226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1" name="正方形/長方形 130">
            <a:extLst>
              <a:ext uri="{FF2B5EF4-FFF2-40B4-BE49-F238E27FC236}">
                <a16:creationId xmlns:a16="http://schemas.microsoft.com/office/drawing/2014/main" id="{230001EF-24B3-1F98-8B94-B59C2FC2451B}"/>
              </a:ext>
            </a:extLst>
          </p:cNvPr>
          <p:cNvSpPr/>
          <p:nvPr/>
        </p:nvSpPr>
        <p:spPr>
          <a:xfrm>
            <a:off x="6323547" y="3590831"/>
            <a:ext cx="360000" cy="278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42" name="四角形: 角を丸くする 141">
            <a:extLst>
              <a:ext uri="{FF2B5EF4-FFF2-40B4-BE49-F238E27FC236}">
                <a16:creationId xmlns:a16="http://schemas.microsoft.com/office/drawing/2014/main" id="{6E6300A0-D648-3270-BC89-8721A012D330}"/>
              </a:ext>
            </a:extLst>
          </p:cNvPr>
          <p:cNvSpPr/>
          <p:nvPr/>
        </p:nvSpPr>
        <p:spPr>
          <a:xfrm>
            <a:off x="2012434" y="2121133"/>
            <a:ext cx="1767115" cy="4039784"/>
          </a:xfrm>
          <a:prstGeom prst="roundRect">
            <a:avLst/>
          </a:prstGeom>
          <a:noFill/>
          <a:ln w="28575">
            <a:solidFill>
              <a:schemeClr val="bg2">
                <a:lumMod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44" name="正方形/長方形 143">
            <a:extLst>
              <a:ext uri="{FF2B5EF4-FFF2-40B4-BE49-F238E27FC236}">
                <a16:creationId xmlns:a16="http://schemas.microsoft.com/office/drawing/2014/main" id="{0AAB9F64-BC38-260B-7213-F03107C1F4A5}"/>
              </a:ext>
            </a:extLst>
          </p:cNvPr>
          <p:cNvSpPr/>
          <p:nvPr/>
        </p:nvSpPr>
        <p:spPr>
          <a:xfrm>
            <a:off x="1565981" y="1801653"/>
            <a:ext cx="2619878" cy="4043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rgbClr val="C00000"/>
                </a:solidFill>
                <a:latin typeface="Meiryo UI" panose="020B0604030504040204" pitchFamily="50" charset="-128"/>
                <a:ea typeface="Meiryo UI" panose="020B0604030504040204" pitchFamily="50" charset="-128"/>
              </a:rPr>
              <a:t>新システム</a:t>
            </a:r>
            <a:r>
              <a:rPr lang="ja-JP" altLang="en-US" sz="1000" b="1" i="0" u="none" strike="noStrike" baseline="0">
                <a:solidFill>
                  <a:srgbClr val="C00000"/>
                </a:solidFill>
                <a:latin typeface="Meiryo UI" panose="020B0604030504040204" pitchFamily="50" charset="-128"/>
                <a:ea typeface="Meiryo UI" panose="020B0604030504040204" pitchFamily="50" charset="-128"/>
              </a:rPr>
              <a:t>への入力データ</a:t>
            </a:r>
            <a:endParaRPr lang="en-US" altLang="ja-JP" sz="1000" b="1" i="0" u="none" strike="noStrike" baseline="0">
              <a:solidFill>
                <a:srgbClr val="C00000"/>
              </a:solidFill>
              <a:latin typeface="Meiryo UI" panose="020B0604030504040204" pitchFamily="50" charset="-128"/>
              <a:ea typeface="Meiryo UI" panose="020B0604030504040204" pitchFamily="50" charset="-128"/>
            </a:endParaRPr>
          </a:p>
          <a:p>
            <a:pPr algn="ctr"/>
            <a:r>
              <a:rPr lang="en-US" altLang="ja-JP" sz="1000" b="1">
                <a:solidFill>
                  <a:srgbClr val="C00000"/>
                </a:solidFill>
                <a:latin typeface="Meiryo UI" panose="020B0604030504040204" pitchFamily="50" charset="-128"/>
                <a:ea typeface="Meiryo UI" panose="020B0604030504040204" pitchFamily="50" charset="-128"/>
              </a:rPr>
              <a:t>※</a:t>
            </a:r>
            <a:r>
              <a:rPr lang="ja-JP" altLang="en-US" sz="1000" b="1">
                <a:solidFill>
                  <a:srgbClr val="C00000"/>
                </a:solidFill>
                <a:latin typeface="Meiryo UI" panose="020B0604030504040204" pitchFamily="50" charset="-128"/>
                <a:ea typeface="Meiryo UI" panose="020B0604030504040204" pitchFamily="50" charset="-128"/>
              </a:rPr>
              <a:t>製油所の場合はモニタリングポイントデータ</a:t>
            </a:r>
            <a:endParaRPr lang="ja-JP" altLang="en-US" sz="1000">
              <a:latin typeface="Meiryo UI" panose="020B0604030504040204" pitchFamily="50" charset="-128"/>
              <a:ea typeface="Meiryo UI" panose="020B0604030504040204" pitchFamily="50" charset="-128"/>
            </a:endParaRPr>
          </a:p>
        </p:txBody>
      </p:sp>
      <p:sp>
        <p:nvSpPr>
          <p:cNvPr id="179" name="正方形/長方形 178">
            <a:extLst>
              <a:ext uri="{FF2B5EF4-FFF2-40B4-BE49-F238E27FC236}">
                <a16:creationId xmlns:a16="http://schemas.microsoft.com/office/drawing/2014/main" id="{F13AF644-41DD-4ED7-74B4-5C2AC99943AD}"/>
              </a:ext>
            </a:extLst>
          </p:cNvPr>
          <p:cNvSpPr/>
          <p:nvPr/>
        </p:nvSpPr>
        <p:spPr>
          <a:xfrm>
            <a:off x="7118583" y="1826337"/>
            <a:ext cx="1502446" cy="144000"/>
          </a:xfrm>
          <a:prstGeom prst="rect">
            <a:avLst/>
          </a:prstGeom>
          <a:solidFill>
            <a:schemeClr val="accent2">
              <a:lumMod val="20000"/>
              <a:lumOff val="80000"/>
            </a:schemeClr>
          </a:solid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温対法</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180" name="正方形/長方形 179">
            <a:extLst>
              <a:ext uri="{FF2B5EF4-FFF2-40B4-BE49-F238E27FC236}">
                <a16:creationId xmlns:a16="http://schemas.microsoft.com/office/drawing/2014/main" id="{CEDB732E-2BFD-2A61-943A-A65B505DF012}"/>
              </a:ext>
            </a:extLst>
          </p:cNvPr>
          <p:cNvSpPr/>
          <p:nvPr/>
        </p:nvSpPr>
        <p:spPr>
          <a:xfrm>
            <a:off x="7118583" y="2071990"/>
            <a:ext cx="1502446" cy="144000"/>
          </a:xfrm>
          <a:prstGeom prst="rect">
            <a:avLst/>
          </a:prstGeom>
          <a:solidFill>
            <a:schemeClr val="accent5">
              <a:lumMod val="20000"/>
              <a:lumOff val="8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SSBJ</a:t>
            </a:r>
          </a:p>
        </p:txBody>
      </p:sp>
      <p:sp>
        <p:nvSpPr>
          <p:cNvPr id="183" name="正方形/長方形 182">
            <a:extLst>
              <a:ext uri="{FF2B5EF4-FFF2-40B4-BE49-F238E27FC236}">
                <a16:creationId xmlns:a16="http://schemas.microsoft.com/office/drawing/2014/main" id="{69D85132-8438-BA3F-B234-63326C1966F0}"/>
              </a:ext>
            </a:extLst>
          </p:cNvPr>
          <p:cNvSpPr/>
          <p:nvPr/>
        </p:nvSpPr>
        <p:spPr>
          <a:xfrm>
            <a:off x="7256122" y="2342178"/>
            <a:ext cx="1502445" cy="14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システム入力単位データ</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185" name="正方形/長方形 184">
            <a:extLst>
              <a:ext uri="{FF2B5EF4-FFF2-40B4-BE49-F238E27FC236}">
                <a16:creationId xmlns:a16="http://schemas.microsoft.com/office/drawing/2014/main" id="{362B1000-2A8D-E7FB-B0E7-0E608A3FA37E}"/>
              </a:ext>
            </a:extLst>
          </p:cNvPr>
          <p:cNvSpPr/>
          <p:nvPr/>
        </p:nvSpPr>
        <p:spPr>
          <a:xfrm>
            <a:off x="7480252" y="1582635"/>
            <a:ext cx="793415" cy="1470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凡例</a:t>
            </a:r>
          </a:p>
        </p:txBody>
      </p:sp>
      <p:sp>
        <p:nvSpPr>
          <p:cNvPr id="193" name="吹き出し: 線 192">
            <a:extLst>
              <a:ext uri="{FF2B5EF4-FFF2-40B4-BE49-F238E27FC236}">
                <a16:creationId xmlns:a16="http://schemas.microsoft.com/office/drawing/2014/main" id="{A518C7C4-9FE9-6699-4874-23B797EDAA49}"/>
              </a:ext>
            </a:extLst>
          </p:cNvPr>
          <p:cNvSpPr/>
          <p:nvPr/>
        </p:nvSpPr>
        <p:spPr>
          <a:xfrm>
            <a:off x="5230171" y="5902928"/>
            <a:ext cx="3327549" cy="483306"/>
          </a:xfrm>
          <a:prstGeom prst="borderCallout1">
            <a:avLst>
              <a:gd name="adj1" fmla="val 75903"/>
              <a:gd name="adj2" fmla="val -318"/>
              <a:gd name="adj3" fmla="val -41704"/>
              <a:gd name="adj4" fmla="val -49193"/>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kumimoji="1" lang="ja-JP" altLang="en-US" sz="1050" b="1" u="sng">
                <a:solidFill>
                  <a:schemeClr val="tx1"/>
                </a:solidFill>
                <a:latin typeface="Meiryo UI" panose="020B0604030504040204" pitchFamily="50" charset="-128"/>
                <a:ea typeface="Meiryo UI" panose="020B0604030504040204" pitchFamily="50" charset="-128"/>
              </a:rPr>
              <a:t>基準により、算定する範囲を可変</a:t>
            </a:r>
            <a:r>
              <a:rPr kumimoji="1" lang="ja-JP" altLang="en-US" sz="1050">
                <a:solidFill>
                  <a:schemeClr val="tx1"/>
                </a:solidFill>
                <a:latin typeface="Meiryo UI" panose="020B0604030504040204" pitchFamily="50" charset="-128"/>
                <a:ea typeface="Meiryo UI" panose="020B0604030504040204" pitchFamily="50" charset="-128"/>
              </a:rPr>
              <a:t>にしたい</a:t>
            </a:r>
            <a:endParaRPr kumimoji="1" lang="en-US" altLang="ja-JP" sz="1050">
              <a:solidFill>
                <a:schemeClr val="tx1"/>
              </a:solidFill>
              <a:latin typeface="Meiryo UI" panose="020B0604030504040204" pitchFamily="50" charset="-128"/>
              <a:ea typeface="Meiryo UI" panose="020B0604030504040204" pitchFamily="50" charset="-128"/>
            </a:endParaRPr>
          </a:p>
          <a:p>
            <a:r>
              <a:rPr kumimoji="1" lang="ja-JP" altLang="en-US" sz="1050">
                <a:solidFill>
                  <a:schemeClr val="tx1"/>
                </a:solidFill>
                <a:latin typeface="Meiryo UI" panose="020B0604030504040204" pitchFamily="50" charset="-128"/>
                <a:ea typeface="Meiryo UI" panose="020B0604030504040204" pitchFamily="50" charset="-128"/>
              </a:rPr>
              <a:t>（図の例では活動量</a:t>
            </a:r>
            <a:r>
              <a:rPr kumimoji="1" lang="en-US" altLang="ja-JP" sz="1050">
                <a:solidFill>
                  <a:schemeClr val="tx1"/>
                </a:solidFill>
                <a:latin typeface="Meiryo UI" panose="020B0604030504040204" pitchFamily="50" charset="-128"/>
                <a:ea typeface="Meiryo UI" panose="020B0604030504040204" pitchFamily="50" charset="-128"/>
              </a:rPr>
              <a:t>D</a:t>
            </a:r>
            <a:r>
              <a:rPr kumimoji="1" lang="ja-JP" altLang="en-US" sz="1050">
                <a:solidFill>
                  <a:schemeClr val="tx1"/>
                </a:solidFill>
                <a:latin typeface="Meiryo UI" panose="020B0604030504040204" pitchFamily="50" charset="-128"/>
                <a:ea typeface="Meiryo UI" panose="020B0604030504040204" pitchFamily="50" charset="-128"/>
              </a:rPr>
              <a:t>は</a:t>
            </a:r>
            <a:r>
              <a:rPr kumimoji="1" lang="en-US" altLang="ja-JP" sz="1050">
                <a:solidFill>
                  <a:schemeClr val="tx1"/>
                </a:solidFill>
                <a:latin typeface="Meiryo UI" panose="020B0604030504040204" pitchFamily="50" charset="-128"/>
                <a:ea typeface="Meiryo UI" panose="020B0604030504040204" pitchFamily="50" charset="-128"/>
              </a:rPr>
              <a:t>SSBJ</a:t>
            </a:r>
            <a:r>
              <a:rPr kumimoji="1" lang="ja-JP" altLang="en-US" sz="1050">
                <a:solidFill>
                  <a:schemeClr val="tx1"/>
                </a:solidFill>
                <a:latin typeface="Meiryo UI" panose="020B0604030504040204" pitchFamily="50" charset="-128"/>
                <a:ea typeface="Meiryo UI" panose="020B0604030504040204" pitchFamily="50" charset="-128"/>
              </a:rPr>
              <a:t>のみで算定）</a:t>
            </a:r>
          </a:p>
        </p:txBody>
      </p:sp>
      <p:sp>
        <p:nvSpPr>
          <p:cNvPr id="195" name="吹き出し: 線 194">
            <a:extLst>
              <a:ext uri="{FF2B5EF4-FFF2-40B4-BE49-F238E27FC236}">
                <a16:creationId xmlns:a16="http://schemas.microsoft.com/office/drawing/2014/main" id="{84B0D661-3AB2-EDD0-DDD8-46A062333A24}"/>
              </a:ext>
            </a:extLst>
          </p:cNvPr>
          <p:cNvSpPr/>
          <p:nvPr/>
        </p:nvSpPr>
        <p:spPr>
          <a:xfrm>
            <a:off x="4789778" y="1927250"/>
            <a:ext cx="1937291" cy="754608"/>
          </a:xfrm>
          <a:prstGeom prst="borderCallout1">
            <a:avLst>
              <a:gd name="adj1" fmla="val 77279"/>
              <a:gd name="adj2" fmla="val 594"/>
              <a:gd name="adj3" fmla="val 122749"/>
              <a:gd name="adj4" fmla="val -67963"/>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kumimoji="1" lang="ja-JP" altLang="en-US" sz="1050">
                <a:solidFill>
                  <a:schemeClr val="tx1"/>
                </a:solidFill>
                <a:latin typeface="Meiryo UI" panose="020B0604030504040204" pitchFamily="50" charset="-128"/>
                <a:ea typeface="Meiryo UI" panose="020B0604030504040204" pitchFamily="50" charset="-128"/>
              </a:rPr>
              <a:t>温対法、</a:t>
            </a:r>
            <a:r>
              <a:rPr kumimoji="1" lang="en-US" altLang="ja-JP" sz="1050">
                <a:solidFill>
                  <a:schemeClr val="tx1"/>
                </a:solidFill>
                <a:latin typeface="Meiryo UI" panose="020B0604030504040204" pitchFamily="50" charset="-128"/>
                <a:ea typeface="Meiryo UI" panose="020B0604030504040204" pitchFamily="50" charset="-128"/>
              </a:rPr>
              <a:t>SSBJ</a:t>
            </a:r>
            <a:r>
              <a:rPr kumimoji="1" lang="ja-JP" altLang="en-US" sz="1050">
                <a:solidFill>
                  <a:schemeClr val="tx1"/>
                </a:solidFill>
                <a:latin typeface="Meiryo UI" panose="020B0604030504040204" pitchFamily="50" charset="-128"/>
                <a:ea typeface="Meiryo UI" panose="020B0604030504040204" pitchFamily="50" charset="-128"/>
              </a:rPr>
              <a:t>共通の活動量については、</a:t>
            </a:r>
            <a:r>
              <a:rPr kumimoji="1" lang="ja-JP" altLang="en-US" sz="1050" b="1" u="sng">
                <a:solidFill>
                  <a:schemeClr val="tx1"/>
                </a:solidFill>
                <a:latin typeface="Meiryo UI" panose="020B0604030504040204" pitchFamily="50" charset="-128"/>
                <a:ea typeface="Meiryo UI" panose="020B0604030504040204" pitchFamily="50" charset="-128"/>
              </a:rPr>
              <a:t>システム内で温対法</a:t>
            </a:r>
            <a:r>
              <a:rPr kumimoji="1" lang="en-US" altLang="ja-JP" sz="1050" b="1" u="sng">
                <a:solidFill>
                  <a:schemeClr val="tx1"/>
                </a:solidFill>
                <a:latin typeface="Meiryo UI" panose="020B0604030504040204" pitchFamily="50" charset="-128"/>
                <a:ea typeface="Meiryo UI" panose="020B0604030504040204" pitchFamily="50" charset="-128"/>
              </a:rPr>
              <a:t>/GHG</a:t>
            </a:r>
            <a:r>
              <a:rPr kumimoji="1" lang="ja-JP" altLang="en-US" sz="1050" b="1" u="sng">
                <a:solidFill>
                  <a:schemeClr val="tx1"/>
                </a:solidFill>
                <a:latin typeface="Meiryo UI" panose="020B0604030504040204" pitchFamily="50" charset="-128"/>
                <a:ea typeface="Meiryo UI" panose="020B0604030504040204" pitchFamily="50" charset="-128"/>
              </a:rPr>
              <a:t>プロトコルの活動量に集計または変換</a:t>
            </a:r>
            <a:r>
              <a:rPr kumimoji="1" lang="ja-JP" altLang="en-US" sz="1050">
                <a:solidFill>
                  <a:schemeClr val="tx1"/>
                </a:solidFill>
                <a:latin typeface="Meiryo UI" panose="020B0604030504040204" pitchFamily="50" charset="-128"/>
                <a:ea typeface="Meiryo UI" panose="020B0604030504040204" pitchFamily="50" charset="-128"/>
              </a:rPr>
              <a:t>したい</a:t>
            </a:r>
          </a:p>
        </p:txBody>
      </p:sp>
      <p:sp>
        <p:nvSpPr>
          <p:cNvPr id="197" name="吹き出し: 線 196">
            <a:extLst>
              <a:ext uri="{FF2B5EF4-FFF2-40B4-BE49-F238E27FC236}">
                <a16:creationId xmlns:a16="http://schemas.microsoft.com/office/drawing/2014/main" id="{87A49CE8-70F9-B403-D0F9-56392686F250}"/>
              </a:ext>
            </a:extLst>
          </p:cNvPr>
          <p:cNvSpPr/>
          <p:nvPr/>
        </p:nvSpPr>
        <p:spPr>
          <a:xfrm>
            <a:off x="7222236" y="2927618"/>
            <a:ext cx="1800983" cy="658288"/>
          </a:xfrm>
          <a:prstGeom prst="borderCallout1">
            <a:avLst>
              <a:gd name="adj1" fmla="val 53053"/>
              <a:gd name="adj2" fmla="val 724"/>
              <a:gd name="adj3" fmla="val 101529"/>
              <a:gd name="adj4" fmla="val -29980"/>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kumimoji="1" lang="ja-JP" altLang="en-US" sz="1050">
                <a:solidFill>
                  <a:schemeClr val="tx1"/>
                </a:solidFill>
                <a:latin typeface="Meiryo UI" panose="020B0604030504040204" pitchFamily="50" charset="-128"/>
                <a:ea typeface="Meiryo UI" panose="020B0604030504040204" pitchFamily="50" charset="-128"/>
              </a:rPr>
              <a:t>温対法・</a:t>
            </a:r>
            <a:r>
              <a:rPr kumimoji="1" lang="en-US" altLang="ja-JP" sz="1050">
                <a:solidFill>
                  <a:schemeClr val="tx1"/>
                </a:solidFill>
                <a:latin typeface="Meiryo UI" panose="020B0604030504040204" pitchFamily="50" charset="-128"/>
                <a:ea typeface="Meiryo UI" panose="020B0604030504040204" pitchFamily="50" charset="-128"/>
              </a:rPr>
              <a:t>SSBJ</a:t>
            </a:r>
            <a:r>
              <a:rPr kumimoji="1" lang="ja-JP" altLang="en-US" sz="1050">
                <a:solidFill>
                  <a:schemeClr val="tx1"/>
                </a:solidFill>
                <a:latin typeface="Meiryo UI" panose="020B0604030504040204" pitchFamily="50" charset="-128"/>
                <a:ea typeface="Meiryo UI" panose="020B0604030504040204" pitchFamily="50" charset="-128"/>
              </a:rPr>
              <a:t>向けの排出量は</a:t>
            </a:r>
            <a:r>
              <a:rPr kumimoji="1" lang="ja-JP" altLang="en-US" sz="1050" b="1" u="sng">
                <a:solidFill>
                  <a:schemeClr val="tx1"/>
                </a:solidFill>
                <a:latin typeface="Meiryo UI" panose="020B0604030504040204" pitchFamily="50" charset="-128"/>
                <a:ea typeface="Meiryo UI" panose="020B0604030504040204" pitchFamily="50" charset="-128"/>
              </a:rPr>
              <a:t>デフォルト係数での算定と出光独自係数での算定両方を実施</a:t>
            </a:r>
            <a:r>
              <a:rPr kumimoji="1" lang="ja-JP" altLang="en-US" sz="1050">
                <a:solidFill>
                  <a:schemeClr val="tx1"/>
                </a:solidFill>
                <a:latin typeface="Meiryo UI" panose="020B0604030504040204" pitchFamily="50" charset="-128"/>
                <a:ea typeface="Meiryo UI" panose="020B0604030504040204" pitchFamily="50" charset="-128"/>
              </a:rPr>
              <a:t>したい</a:t>
            </a:r>
          </a:p>
        </p:txBody>
      </p:sp>
      <p:sp>
        <p:nvSpPr>
          <p:cNvPr id="199" name="吹き出し: 線 198">
            <a:extLst>
              <a:ext uri="{FF2B5EF4-FFF2-40B4-BE49-F238E27FC236}">
                <a16:creationId xmlns:a16="http://schemas.microsoft.com/office/drawing/2014/main" id="{467F1008-AC9F-E14C-B229-0AEEAD5BEEBB}"/>
              </a:ext>
            </a:extLst>
          </p:cNvPr>
          <p:cNvSpPr/>
          <p:nvPr/>
        </p:nvSpPr>
        <p:spPr>
          <a:xfrm>
            <a:off x="7170965" y="4412175"/>
            <a:ext cx="1793035" cy="580137"/>
          </a:xfrm>
          <a:prstGeom prst="borderCallout1">
            <a:avLst>
              <a:gd name="adj1" fmla="val 1574"/>
              <a:gd name="adj2" fmla="val 78387"/>
              <a:gd name="adj3" fmla="val -38832"/>
              <a:gd name="adj4" fmla="val 54399"/>
            </a:avLst>
          </a:prstGeom>
          <a:solidFill>
            <a:schemeClr val="bg1"/>
          </a:solidFill>
          <a:ln w="25400">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kumimoji="1" lang="en-US" altLang="ja-JP" sz="1050" b="1" u="sng">
                <a:solidFill>
                  <a:schemeClr val="tx1"/>
                </a:solidFill>
                <a:latin typeface="Meiryo UI" panose="020B0604030504040204" pitchFamily="50" charset="-128"/>
                <a:ea typeface="Meiryo UI" panose="020B0604030504040204" pitchFamily="50" charset="-128"/>
              </a:rPr>
              <a:t>EEGS</a:t>
            </a:r>
            <a:r>
              <a:rPr kumimoji="1" lang="ja-JP" altLang="en-US" sz="1050" b="1" u="sng">
                <a:solidFill>
                  <a:schemeClr val="tx1"/>
                </a:solidFill>
                <a:latin typeface="Meiryo UI" panose="020B0604030504040204" pitchFamily="50" charset="-128"/>
                <a:ea typeface="Meiryo UI" panose="020B0604030504040204" pitchFamily="50" charset="-128"/>
              </a:rPr>
              <a:t>様式へ出力</a:t>
            </a:r>
            <a:r>
              <a:rPr kumimoji="1" lang="ja-JP" altLang="en-US" sz="1050">
                <a:solidFill>
                  <a:schemeClr val="tx1"/>
                </a:solidFill>
                <a:latin typeface="Meiryo UI" panose="020B0604030504040204" pitchFamily="50" charset="-128"/>
                <a:ea typeface="Meiryo UI" panose="020B0604030504040204" pitchFamily="50" charset="-128"/>
              </a:rPr>
              <a:t>をしたい</a:t>
            </a:r>
          </a:p>
          <a:p>
            <a:r>
              <a:rPr kumimoji="1" lang="ja-JP" altLang="en-US" sz="1050">
                <a:solidFill>
                  <a:schemeClr val="tx1"/>
                </a:solidFill>
                <a:latin typeface="Meiryo UI" panose="020B0604030504040204" pitchFamily="50" charset="-128"/>
                <a:ea typeface="Meiryo UI" panose="020B0604030504040204" pitchFamily="50" charset="-128"/>
              </a:rPr>
              <a:t>*標準係数だけではなく、</a:t>
            </a:r>
            <a:endParaRPr kumimoji="1" lang="en-US" altLang="ja-JP" sz="1050">
              <a:solidFill>
                <a:schemeClr val="tx1"/>
              </a:solidFill>
              <a:latin typeface="Meiryo UI" panose="020B0604030504040204" pitchFamily="50" charset="-128"/>
              <a:ea typeface="Meiryo UI" panose="020B0604030504040204" pitchFamily="50" charset="-128"/>
            </a:endParaRPr>
          </a:p>
          <a:p>
            <a:r>
              <a:rPr kumimoji="1" lang="ja-JP" altLang="en-US" sz="1050" b="1" u="sng">
                <a:solidFill>
                  <a:schemeClr val="tx1"/>
                </a:solidFill>
                <a:latin typeface="Meiryo UI" panose="020B0604030504040204" pitchFamily="50" charset="-128"/>
                <a:ea typeface="Meiryo UI" panose="020B0604030504040204" pitchFamily="50" charset="-128"/>
              </a:rPr>
              <a:t>独自係数も使用した上</a:t>
            </a:r>
            <a:r>
              <a:rPr kumimoji="1" lang="ja-JP" altLang="en-US" sz="1050">
                <a:solidFill>
                  <a:schemeClr val="tx1"/>
                </a:solidFill>
                <a:latin typeface="Meiryo UI" panose="020B0604030504040204" pitchFamily="50" charset="-128"/>
                <a:ea typeface="Meiryo UI" panose="020B0604030504040204" pitchFamily="50" charset="-128"/>
              </a:rPr>
              <a:t>で</a:t>
            </a:r>
          </a:p>
        </p:txBody>
      </p:sp>
      <p:sp>
        <p:nvSpPr>
          <p:cNvPr id="201" name="正方形/長方形 200">
            <a:extLst>
              <a:ext uri="{FF2B5EF4-FFF2-40B4-BE49-F238E27FC236}">
                <a16:creationId xmlns:a16="http://schemas.microsoft.com/office/drawing/2014/main" id="{522B63C3-7553-C866-4839-F47061CBA6C2}"/>
              </a:ext>
            </a:extLst>
          </p:cNvPr>
          <p:cNvSpPr/>
          <p:nvPr/>
        </p:nvSpPr>
        <p:spPr>
          <a:xfrm>
            <a:off x="103052" y="1587168"/>
            <a:ext cx="3012995" cy="300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Meiryo UI" panose="020B0604030504040204" pitchFamily="50" charset="-128"/>
                <a:ea typeface="Meiryo UI" panose="020B0604030504040204" pitchFamily="50" charset="-128"/>
              </a:rPr>
              <a:t>データ作成フローイメージ図</a:t>
            </a:r>
            <a:endParaRPr kumimoji="1" lang="en-US" altLang="ja-JP" b="1">
              <a:solidFill>
                <a:schemeClr val="tx1"/>
              </a:solidFill>
              <a:latin typeface="Meiryo UI" panose="020B0604030504040204" pitchFamily="50" charset="-128"/>
              <a:ea typeface="Meiryo UI" panose="020B0604030504040204" pitchFamily="50" charset="-128"/>
            </a:endParaRPr>
          </a:p>
        </p:txBody>
      </p:sp>
      <p:sp>
        <p:nvSpPr>
          <p:cNvPr id="202" name="正方形/長方形 201">
            <a:extLst>
              <a:ext uri="{FF2B5EF4-FFF2-40B4-BE49-F238E27FC236}">
                <a16:creationId xmlns:a16="http://schemas.microsoft.com/office/drawing/2014/main" id="{ABC4C0C2-FA44-04CC-89BE-68C05CB819DA}"/>
              </a:ext>
            </a:extLst>
          </p:cNvPr>
          <p:cNvSpPr/>
          <p:nvPr/>
        </p:nvSpPr>
        <p:spPr>
          <a:xfrm>
            <a:off x="1902480" y="1637026"/>
            <a:ext cx="3012995" cy="300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Meiryo UI" panose="020B0604030504040204" pitchFamily="50" charset="-128"/>
                <a:ea typeface="Meiryo UI" panose="020B0604030504040204" pitchFamily="50" charset="-128"/>
              </a:rPr>
              <a:t>※Scope1,2</a:t>
            </a:r>
          </a:p>
        </p:txBody>
      </p:sp>
      <p:sp>
        <p:nvSpPr>
          <p:cNvPr id="13" name="楕円 12">
            <a:extLst>
              <a:ext uri="{FF2B5EF4-FFF2-40B4-BE49-F238E27FC236}">
                <a16:creationId xmlns:a16="http://schemas.microsoft.com/office/drawing/2014/main" id="{EB66EC7D-B0AE-518F-E091-7F3634B07982}"/>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31" name="正方形/長方形 30">
            <a:extLst>
              <a:ext uri="{FF2B5EF4-FFF2-40B4-BE49-F238E27FC236}">
                <a16:creationId xmlns:a16="http://schemas.microsoft.com/office/drawing/2014/main" id="{013D2CBE-8201-0AD8-5B20-5313A978A3B9}"/>
              </a:ext>
            </a:extLst>
          </p:cNvPr>
          <p:cNvSpPr/>
          <p:nvPr/>
        </p:nvSpPr>
        <p:spPr bwMode="gray">
          <a:xfrm>
            <a:off x="281851" y="2368307"/>
            <a:ext cx="1152000" cy="1852092"/>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4BE0F965-1420-B5FF-9D03-F3F7AAEE800C}"/>
              </a:ext>
            </a:extLst>
          </p:cNvPr>
          <p:cNvSpPr/>
          <p:nvPr/>
        </p:nvSpPr>
        <p:spPr bwMode="gray">
          <a:xfrm>
            <a:off x="479100" y="2249507"/>
            <a:ext cx="784670" cy="180000"/>
          </a:xfrm>
          <a:prstGeom prst="rect">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5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FTP</a:t>
            </a:r>
            <a:r>
              <a:rPr kumimoji="1" lang="ja-JP" altLang="en-US" sz="105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サーバ等</a:t>
            </a:r>
          </a:p>
        </p:txBody>
      </p:sp>
      <p:sp>
        <p:nvSpPr>
          <p:cNvPr id="16" name="楕円 15">
            <a:extLst>
              <a:ext uri="{FF2B5EF4-FFF2-40B4-BE49-F238E27FC236}">
                <a16:creationId xmlns:a16="http://schemas.microsoft.com/office/drawing/2014/main" id="{109091FD-1837-06CA-56CB-25AE6C959282}"/>
              </a:ext>
            </a:extLst>
          </p:cNvPr>
          <p:cNvSpPr/>
          <p:nvPr/>
        </p:nvSpPr>
        <p:spPr>
          <a:xfrm>
            <a:off x="709829" y="2835809"/>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36" name="楕円 35">
            <a:extLst>
              <a:ext uri="{FF2B5EF4-FFF2-40B4-BE49-F238E27FC236}">
                <a16:creationId xmlns:a16="http://schemas.microsoft.com/office/drawing/2014/main" id="{A3E414D0-1DE5-27D5-2424-946915DC3D2C}"/>
              </a:ext>
            </a:extLst>
          </p:cNvPr>
          <p:cNvSpPr/>
          <p:nvPr/>
        </p:nvSpPr>
        <p:spPr>
          <a:xfrm>
            <a:off x="709829" y="3817221"/>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cxnSp>
        <p:nvCxnSpPr>
          <p:cNvPr id="37" name="直線矢印コネクタ 36">
            <a:extLst>
              <a:ext uri="{FF2B5EF4-FFF2-40B4-BE49-F238E27FC236}">
                <a16:creationId xmlns:a16="http://schemas.microsoft.com/office/drawing/2014/main" id="{90D5D71F-0796-CE16-6E8E-2E613A814589}"/>
              </a:ext>
            </a:extLst>
          </p:cNvPr>
          <p:cNvCxnSpPr>
            <a:cxnSpLocks/>
            <a:stCxn id="16" idx="6"/>
            <a:endCxn id="10" idx="1"/>
          </p:cNvCxnSpPr>
          <p:nvPr/>
        </p:nvCxnSpPr>
        <p:spPr>
          <a:xfrm flipV="1">
            <a:off x="997829" y="2974993"/>
            <a:ext cx="1199947" cy="4816"/>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楕円 45">
            <a:extLst>
              <a:ext uri="{FF2B5EF4-FFF2-40B4-BE49-F238E27FC236}">
                <a16:creationId xmlns:a16="http://schemas.microsoft.com/office/drawing/2014/main" id="{6BB2F586-8FDB-2411-7054-48707D1727B6}"/>
              </a:ext>
            </a:extLst>
          </p:cNvPr>
          <p:cNvSpPr/>
          <p:nvPr/>
        </p:nvSpPr>
        <p:spPr>
          <a:xfrm>
            <a:off x="7103985" y="2269043"/>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cxnSp>
        <p:nvCxnSpPr>
          <p:cNvPr id="48" name="直線矢印コネクタ 47">
            <a:extLst>
              <a:ext uri="{FF2B5EF4-FFF2-40B4-BE49-F238E27FC236}">
                <a16:creationId xmlns:a16="http://schemas.microsoft.com/office/drawing/2014/main" id="{25CF0251-1CF8-EC64-4D22-357FE567C439}"/>
              </a:ext>
            </a:extLst>
          </p:cNvPr>
          <p:cNvCxnSpPr>
            <a:cxnSpLocks/>
            <a:stCxn id="36" idx="6"/>
            <a:endCxn id="27" idx="1"/>
          </p:cNvCxnSpPr>
          <p:nvPr/>
        </p:nvCxnSpPr>
        <p:spPr>
          <a:xfrm flipV="1">
            <a:off x="997829" y="3940448"/>
            <a:ext cx="1199947" cy="20773"/>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6" name="グラフィックス 55" descr="ユーザー 単色塗りつぶし">
            <a:extLst>
              <a:ext uri="{FF2B5EF4-FFF2-40B4-BE49-F238E27FC236}">
                <a16:creationId xmlns:a16="http://schemas.microsoft.com/office/drawing/2014/main" id="{7820ECBB-13EE-2749-D55B-3D30F4F019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785" y="4733177"/>
            <a:ext cx="426575" cy="426575"/>
          </a:xfrm>
          <a:prstGeom prst="rect">
            <a:avLst/>
          </a:prstGeom>
        </p:spPr>
      </p:pic>
      <p:cxnSp>
        <p:nvCxnSpPr>
          <p:cNvPr id="60" name="直線矢印コネクタ 59">
            <a:extLst>
              <a:ext uri="{FF2B5EF4-FFF2-40B4-BE49-F238E27FC236}">
                <a16:creationId xmlns:a16="http://schemas.microsoft.com/office/drawing/2014/main" id="{F1AE9130-1DBA-0E79-440C-22FBC71B7777}"/>
              </a:ext>
            </a:extLst>
          </p:cNvPr>
          <p:cNvCxnSpPr>
            <a:cxnSpLocks/>
            <a:stCxn id="56" idx="3"/>
            <a:endCxn id="38" idx="1"/>
          </p:cNvCxnSpPr>
          <p:nvPr/>
        </p:nvCxnSpPr>
        <p:spPr>
          <a:xfrm flipV="1">
            <a:off x="1082360" y="4941598"/>
            <a:ext cx="1115416" cy="4867"/>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4" name="グラフィックス 63" descr="ユーザー 単色塗りつぶし">
            <a:extLst>
              <a:ext uri="{FF2B5EF4-FFF2-40B4-BE49-F238E27FC236}">
                <a16:creationId xmlns:a16="http://schemas.microsoft.com/office/drawing/2014/main" id="{1B7F1805-C2D8-DB2B-D8C5-DC591F59435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785" y="5408150"/>
            <a:ext cx="426575" cy="426575"/>
          </a:xfrm>
          <a:prstGeom prst="rect">
            <a:avLst/>
          </a:prstGeom>
        </p:spPr>
      </p:pic>
      <p:cxnSp>
        <p:nvCxnSpPr>
          <p:cNvPr id="66" name="直線矢印コネクタ 65">
            <a:extLst>
              <a:ext uri="{FF2B5EF4-FFF2-40B4-BE49-F238E27FC236}">
                <a16:creationId xmlns:a16="http://schemas.microsoft.com/office/drawing/2014/main" id="{9BCBD696-CCDF-D957-020D-720D53993D41}"/>
              </a:ext>
            </a:extLst>
          </p:cNvPr>
          <p:cNvCxnSpPr>
            <a:cxnSpLocks/>
            <a:stCxn id="64" idx="3"/>
          </p:cNvCxnSpPr>
          <p:nvPr/>
        </p:nvCxnSpPr>
        <p:spPr>
          <a:xfrm flipV="1">
            <a:off x="1082360" y="5616571"/>
            <a:ext cx="1181320" cy="4867"/>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CED7AA6-3B59-A84D-ED61-367805638CA5}"/>
              </a:ext>
            </a:extLst>
          </p:cNvPr>
          <p:cNvSpPr/>
          <p:nvPr/>
        </p:nvSpPr>
        <p:spPr>
          <a:xfrm>
            <a:off x="628690" y="4645855"/>
            <a:ext cx="1825200" cy="267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手入力</a:t>
            </a:r>
            <a:r>
              <a:rPr kumimoji="1" lang="en-US" altLang="ja-JP" sz="1000" b="1">
                <a:solidFill>
                  <a:schemeClr val="tx1"/>
                </a:solidFill>
                <a:latin typeface="Meiryo UI" panose="020B0604030504040204" pitchFamily="50" charset="-128"/>
                <a:ea typeface="Meiryo UI" panose="020B0604030504040204" pitchFamily="50" charset="-128"/>
              </a:rPr>
              <a:t>or</a:t>
            </a:r>
          </a:p>
          <a:p>
            <a:pPr algn="ctr"/>
            <a:r>
              <a:rPr kumimoji="1" lang="ja-JP" altLang="en-US" sz="1000" b="1">
                <a:solidFill>
                  <a:schemeClr val="tx1"/>
                </a:solidFill>
                <a:latin typeface="Meiryo UI" panose="020B0604030504040204" pitchFamily="50" charset="-128"/>
                <a:ea typeface="Meiryo UI" panose="020B0604030504040204" pitchFamily="50" charset="-128"/>
              </a:rPr>
              <a:t>アップロード</a:t>
            </a:r>
          </a:p>
        </p:txBody>
      </p:sp>
      <p:sp>
        <p:nvSpPr>
          <p:cNvPr id="71" name="正方形/長方形 70">
            <a:extLst>
              <a:ext uri="{FF2B5EF4-FFF2-40B4-BE49-F238E27FC236}">
                <a16:creationId xmlns:a16="http://schemas.microsoft.com/office/drawing/2014/main" id="{136B8B63-759E-A9BC-240E-4D6AF0216BD1}"/>
              </a:ext>
            </a:extLst>
          </p:cNvPr>
          <p:cNvSpPr/>
          <p:nvPr/>
        </p:nvSpPr>
        <p:spPr>
          <a:xfrm>
            <a:off x="628690" y="5327379"/>
            <a:ext cx="1825200" cy="267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手入力</a:t>
            </a:r>
            <a:r>
              <a:rPr kumimoji="1" lang="en-US" altLang="ja-JP" sz="1000" b="1">
                <a:solidFill>
                  <a:schemeClr val="tx1"/>
                </a:solidFill>
                <a:latin typeface="Meiryo UI" panose="020B0604030504040204" pitchFamily="50" charset="-128"/>
                <a:ea typeface="Meiryo UI" panose="020B0604030504040204" pitchFamily="50" charset="-128"/>
              </a:rPr>
              <a:t>or</a:t>
            </a:r>
          </a:p>
          <a:p>
            <a:pPr algn="ctr"/>
            <a:r>
              <a:rPr kumimoji="1" lang="ja-JP" altLang="en-US" sz="1000" b="1">
                <a:solidFill>
                  <a:schemeClr val="tx1"/>
                </a:solidFill>
                <a:latin typeface="Meiryo UI" panose="020B0604030504040204" pitchFamily="50" charset="-128"/>
                <a:ea typeface="Meiryo UI" panose="020B0604030504040204" pitchFamily="50" charset="-128"/>
              </a:rPr>
              <a:t>アップロード</a:t>
            </a:r>
          </a:p>
        </p:txBody>
      </p:sp>
      <p:sp>
        <p:nvSpPr>
          <p:cNvPr id="4" name="四角形: 角を丸くする 3">
            <a:extLst>
              <a:ext uri="{FF2B5EF4-FFF2-40B4-BE49-F238E27FC236}">
                <a16:creationId xmlns:a16="http://schemas.microsoft.com/office/drawing/2014/main" id="{2B069793-9813-B3E1-3F23-17D5425E4354}"/>
              </a:ext>
            </a:extLst>
          </p:cNvPr>
          <p:cNvSpPr/>
          <p:nvPr/>
        </p:nvSpPr>
        <p:spPr>
          <a:xfrm>
            <a:off x="7045749" y="169787"/>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　対応すべき複数の開示基準</a:t>
            </a:r>
          </a:p>
        </p:txBody>
      </p:sp>
      <p:sp>
        <p:nvSpPr>
          <p:cNvPr id="5" name="四角形: 角を丸くする 4">
            <a:extLst>
              <a:ext uri="{FF2B5EF4-FFF2-40B4-BE49-F238E27FC236}">
                <a16:creationId xmlns:a16="http://schemas.microsoft.com/office/drawing/2014/main" id="{6AC5DCF7-ADA1-30AE-871B-EB7008E4AD89}"/>
              </a:ext>
            </a:extLst>
          </p:cNvPr>
          <p:cNvSpPr/>
          <p:nvPr/>
        </p:nvSpPr>
        <p:spPr>
          <a:xfrm>
            <a:off x="7045749" y="561240"/>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暫定</a:t>
            </a:r>
            <a:r>
              <a:rPr kumimoji="1" lang="en-US" altLang="ja-JP" sz="900" b="1">
                <a:solidFill>
                  <a:schemeClr val="bg1">
                    <a:lumMod val="50000"/>
                  </a:schemeClr>
                </a:solidFill>
                <a:latin typeface="Meiryo UI" panose="020B0604030504040204" pitchFamily="50" charset="-128"/>
                <a:ea typeface="Meiryo UI" panose="020B0604030504040204" pitchFamily="50" charset="-128"/>
              </a:rPr>
              <a:t>/</a:t>
            </a:r>
            <a:r>
              <a:rPr kumimoji="1" lang="ja-JP" altLang="en-US" sz="900" b="1">
                <a:solidFill>
                  <a:schemeClr val="bg1">
                    <a:lumMod val="50000"/>
                  </a:schemeClr>
                </a:solidFill>
                <a:latin typeface="Meiryo UI" panose="020B0604030504040204" pitchFamily="50" charset="-128"/>
                <a:ea typeface="Meiryo UI" panose="020B0604030504040204" pitchFamily="50" charset="-128"/>
              </a:rPr>
              <a:t>確定係数の運用</a:t>
            </a:r>
          </a:p>
        </p:txBody>
      </p:sp>
      <p:sp>
        <p:nvSpPr>
          <p:cNvPr id="8" name="四角形: 角を丸くする 7">
            <a:extLst>
              <a:ext uri="{FF2B5EF4-FFF2-40B4-BE49-F238E27FC236}">
                <a16:creationId xmlns:a16="http://schemas.microsoft.com/office/drawing/2014/main" id="{6D7ED7A4-9C6C-2B94-C255-7DA8BDC48939}"/>
              </a:ext>
            </a:extLst>
          </p:cNvPr>
          <p:cNvSpPr/>
          <p:nvPr/>
        </p:nvSpPr>
        <p:spPr>
          <a:xfrm>
            <a:off x="7045749" y="365514"/>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複数算定ロジックの構築</a:t>
            </a:r>
          </a:p>
        </p:txBody>
      </p:sp>
      <p:sp>
        <p:nvSpPr>
          <p:cNvPr id="9" name="楕円 8">
            <a:extLst>
              <a:ext uri="{FF2B5EF4-FFF2-40B4-BE49-F238E27FC236}">
                <a16:creationId xmlns:a16="http://schemas.microsoft.com/office/drawing/2014/main" id="{3BCE13B8-BD32-814F-F21F-D975C461F7D8}"/>
              </a:ext>
            </a:extLst>
          </p:cNvPr>
          <p:cNvSpPr/>
          <p:nvPr/>
        </p:nvSpPr>
        <p:spPr>
          <a:xfrm>
            <a:off x="7020272" y="134576"/>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1</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
        <p:nvSpPr>
          <p:cNvPr id="12" name="楕円 11">
            <a:extLst>
              <a:ext uri="{FF2B5EF4-FFF2-40B4-BE49-F238E27FC236}">
                <a16:creationId xmlns:a16="http://schemas.microsoft.com/office/drawing/2014/main" id="{E88DDB5B-B1B3-E015-0EA8-D59648EA738E}"/>
              </a:ext>
            </a:extLst>
          </p:cNvPr>
          <p:cNvSpPr/>
          <p:nvPr/>
        </p:nvSpPr>
        <p:spPr>
          <a:xfrm>
            <a:off x="7020272" y="330302"/>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2</a:t>
            </a:r>
            <a:endParaRPr kumimoji="1" lang="ja-JP" altLang="en-US" sz="1400">
              <a:solidFill>
                <a:schemeClr val="bg1"/>
              </a:solidFill>
              <a:latin typeface="Meiryo UI" panose="020B0604030504040204" pitchFamily="50" charset="-128"/>
              <a:ea typeface="Meiryo UI" panose="020B0604030504040204" pitchFamily="50" charset="-128"/>
            </a:endParaRPr>
          </a:p>
        </p:txBody>
      </p:sp>
      <p:sp>
        <p:nvSpPr>
          <p:cNvPr id="14" name="楕円 13">
            <a:extLst>
              <a:ext uri="{FF2B5EF4-FFF2-40B4-BE49-F238E27FC236}">
                <a16:creationId xmlns:a16="http://schemas.microsoft.com/office/drawing/2014/main" id="{E1F42680-40B6-FF10-6734-421DF38E7113}"/>
              </a:ext>
            </a:extLst>
          </p:cNvPr>
          <p:cNvSpPr/>
          <p:nvPr/>
        </p:nvSpPr>
        <p:spPr>
          <a:xfrm>
            <a:off x="7020272" y="526029"/>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b="1">
                <a:solidFill>
                  <a:schemeClr val="bg1">
                    <a:lumMod val="50000"/>
                  </a:schemeClr>
                </a:solidFill>
                <a:latin typeface="Meiryo UI" panose="020B0604030504040204" pitchFamily="50" charset="-128"/>
                <a:ea typeface="Meiryo UI" panose="020B0604030504040204" pitchFamily="50" charset="-128"/>
              </a:rPr>
              <a:t>3</a:t>
            </a:r>
            <a:endParaRPr kumimoji="1" lang="ja-JP" altLang="en-US" sz="900" b="1">
              <a:solidFill>
                <a:schemeClr val="bg1">
                  <a:lumMod val="50000"/>
                </a:schemeClr>
              </a:solidFill>
              <a:latin typeface="Meiryo UI" panose="020B0604030504040204" pitchFamily="50" charset="-128"/>
              <a:ea typeface="Meiryo UI" panose="020B0604030504040204" pitchFamily="50" charset="-128"/>
            </a:endParaRPr>
          </a:p>
        </p:txBody>
      </p:sp>
      <p:sp>
        <p:nvSpPr>
          <p:cNvPr id="6" name="四角形: 角を丸くする 5">
            <a:extLst>
              <a:ext uri="{FF2B5EF4-FFF2-40B4-BE49-F238E27FC236}">
                <a16:creationId xmlns:a16="http://schemas.microsoft.com/office/drawing/2014/main" id="{AA8BE968-B27A-329C-89C8-4E5FEFDEDCBC}"/>
              </a:ext>
            </a:extLst>
          </p:cNvPr>
          <p:cNvSpPr/>
          <p:nvPr/>
        </p:nvSpPr>
        <p:spPr>
          <a:xfrm>
            <a:off x="2332140" y="66589"/>
            <a:ext cx="4560676" cy="22746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については記載を削除し、</a:t>
            </a:r>
            <a:r>
              <a:rPr kumimoji="1" lang="en-US" altLang="ja-JP" sz="1000">
                <a:solidFill>
                  <a:schemeClr val="tx1"/>
                </a:solidFill>
                <a:latin typeface="Meiryo UI" panose="020B0604030504040204" pitchFamily="50" charset="-128"/>
                <a:ea typeface="Meiryo UI" panose="020B0604030504040204" pitchFamily="50" charset="-128"/>
              </a:rPr>
              <a:t>ETL</a:t>
            </a:r>
            <a:r>
              <a:rPr kumimoji="1" lang="ja-JP" altLang="en-US" sz="1000">
                <a:solidFill>
                  <a:schemeClr val="tx1"/>
                </a:solidFill>
                <a:latin typeface="Meiryo UI" panose="020B0604030504040204" pitchFamily="50" charset="-128"/>
                <a:ea typeface="Meiryo UI" panose="020B0604030504040204" pitchFamily="50" charset="-128"/>
              </a:rPr>
              <a:t>で変換されたデータの取りこみについての記載に変更</a:t>
            </a:r>
          </a:p>
        </p:txBody>
      </p:sp>
    </p:spTree>
    <p:extLst>
      <p:ext uri="{BB962C8B-B14F-4D97-AF65-F5344CB8AC3E}">
        <p14:creationId xmlns:p14="http://schemas.microsoft.com/office/powerpoint/2010/main" val="1469541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9FF396-B5D8-DF44-8A0B-2BFDB0AE0E18}"/>
              </a:ext>
            </a:extLst>
          </p:cNvPr>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暫定係数を利用するために必要な機能</a:t>
            </a:r>
          </a:p>
        </p:txBody>
      </p:sp>
      <p:sp>
        <p:nvSpPr>
          <p:cNvPr id="3" name="スライド番号プレースホルダー 2">
            <a:extLst>
              <a:ext uri="{FF2B5EF4-FFF2-40B4-BE49-F238E27FC236}">
                <a16:creationId xmlns:a16="http://schemas.microsoft.com/office/drawing/2014/main" id="{A34CFB04-B1F5-E82B-7A64-C9BC7A1345D9}"/>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26</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5664ACC2-F618-1E3A-07FE-1A7AA6FFE5C9}"/>
              </a:ext>
            </a:extLst>
          </p:cNvPr>
          <p:cNvSpPr>
            <a:spLocks noGrp="1"/>
          </p:cNvSpPr>
          <p:nvPr>
            <p:ph type="body" sz="quarter" idx="13"/>
          </p:nvPr>
        </p:nvSpPr>
        <p:spPr/>
        <p:txBody>
          <a:bodyPr>
            <a:noAutofit/>
          </a:bodyPr>
          <a:lstStyle/>
          <a:p>
            <a:r>
              <a:rPr kumimoji="1" lang="en-US" altLang="ja-JP"/>
              <a:t>FCC</a:t>
            </a:r>
            <a:r>
              <a:rPr kumimoji="1" lang="ja-JP" altLang="en-US"/>
              <a:t>コークの係数算定が</a:t>
            </a:r>
            <a:r>
              <a:rPr lang="ja-JP" altLang="en-US"/>
              <a:t>年</a:t>
            </a:r>
            <a:r>
              <a:rPr lang="en-US" altLang="ja-JP"/>
              <a:t>1</a:t>
            </a:r>
            <a:r>
              <a:rPr lang="ja-JP" altLang="en-US"/>
              <a:t>回のため、月次報告を前提とした場合に係数の差し替えが必要なことが判明した。なお、独自係数として温対法で利用しているため対応は必須。そこで、差し替える際に、</a:t>
            </a:r>
            <a:r>
              <a:rPr lang="ja-JP" altLang="en-US" b="1" u="sng"/>
              <a:t>排出量の再計算が行われることを機能要件として要求</a:t>
            </a:r>
            <a:r>
              <a:rPr lang="ja-JP" altLang="en-US"/>
              <a:t>することとなる</a:t>
            </a:r>
            <a:endParaRPr kumimoji="1" lang="ja-JP" altLang="en-US"/>
          </a:p>
        </p:txBody>
      </p:sp>
      <p:grpSp>
        <p:nvGrpSpPr>
          <p:cNvPr id="63" name="グループ化 62">
            <a:extLst>
              <a:ext uri="{FF2B5EF4-FFF2-40B4-BE49-F238E27FC236}">
                <a16:creationId xmlns:a16="http://schemas.microsoft.com/office/drawing/2014/main" id="{7FE59190-93C8-042C-ADF6-86665F12409B}"/>
              </a:ext>
            </a:extLst>
          </p:cNvPr>
          <p:cNvGrpSpPr/>
          <p:nvPr/>
        </p:nvGrpSpPr>
        <p:grpSpPr>
          <a:xfrm>
            <a:off x="396009" y="1649094"/>
            <a:ext cx="8568479" cy="3277812"/>
            <a:chOff x="251519" y="1842111"/>
            <a:chExt cx="8568479" cy="3277812"/>
          </a:xfrm>
        </p:grpSpPr>
        <p:pic>
          <p:nvPicPr>
            <p:cNvPr id="62" name="図 61">
              <a:extLst>
                <a:ext uri="{FF2B5EF4-FFF2-40B4-BE49-F238E27FC236}">
                  <a16:creationId xmlns:a16="http://schemas.microsoft.com/office/drawing/2014/main" id="{6C55627D-2B56-03FD-8221-6BD829A089BC}"/>
                </a:ext>
              </a:extLst>
            </p:cNvPr>
            <p:cNvPicPr>
              <a:picLocks noChangeAspect="1"/>
            </p:cNvPicPr>
            <p:nvPr/>
          </p:nvPicPr>
          <p:blipFill>
            <a:blip r:embed="rId2"/>
            <a:stretch>
              <a:fillRect/>
            </a:stretch>
          </p:blipFill>
          <p:spPr>
            <a:xfrm>
              <a:off x="251519" y="1842111"/>
              <a:ext cx="8568479" cy="3277812"/>
            </a:xfrm>
            <a:prstGeom prst="rect">
              <a:avLst/>
            </a:prstGeom>
            <a:ln>
              <a:solidFill>
                <a:schemeClr val="tx2"/>
              </a:solidFill>
            </a:ln>
          </p:spPr>
        </p:pic>
        <p:cxnSp>
          <p:nvCxnSpPr>
            <p:cNvPr id="53" name="直線矢印コネクタ 52">
              <a:extLst>
                <a:ext uri="{FF2B5EF4-FFF2-40B4-BE49-F238E27FC236}">
                  <a16:creationId xmlns:a16="http://schemas.microsoft.com/office/drawing/2014/main" id="{E296A2C3-F52A-E86F-9190-72B69922D7C6}"/>
                </a:ext>
              </a:extLst>
            </p:cNvPr>
            <p:cNvCxnSpPr/>
            <p:nvPr/>
          </p:nvCxnSpPr>
          <p:spPr>
            <a:xfrm>
              <a:off x="2771800" y="2564904"/>
              <a:ext cx="0" cy="2160000"/>
            </a:xfrm>
            <a:prstGeom prst="straightConnector1">
              <a:avLst/>
            </a:prstGeom>
            <a:ln w="317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F60149C3-8A40-9217-B202-3D68DDCB8E5E}"/>
                </a:ext>
              </a:extLst>
            </p:cNvPr>
            <p:cNvCxnSpPr/>
            <p:nvPr/>
          </p:nvCxnSpPr>
          <p:spPr>
            <a:xfrm>
              <a:off x="6372200" y="2708920"/>
              <a:ext cx="0" cy="2196000"/>
            </a:xfrm>
            <a:prstGeom prst="straightConnector1">
              <a:avLst/>
            </a:prstGeom>
            <a:ln w="317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1B99DC51-714B-0F42-33B9-590BB5F018AD}"/>
                </a:ext>
              </a:extLst>
            </p:cNvPr>
            <p:cNvCxnSpPr/>
            <p:nvPr/>
          </p:nvCxnSpPr>
          <p:spPr>
            <a:xfrm>
              <a:off x="3563888" y="2564904"/>
              <a:ext cx="0" cy="2160000"/>
            </a:xfrm>
            <a:prstGeom prst="straightConnector1">
              <a:avLst/>
            </a:prstGeom>
            <a:ln w="317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E4A63E6F-8A9E-2112-BE06-7D978E4C7B80}"/>
                </a:ext>
              </a:extLst>
            </p:cNvPr>
            <p:cNvCxnSpPr/>
            <p:nvPr/>
          </p:nvCxnSpPr>
          <p:spPr>
            <a:xfrm>
              <a:off x="7236296" y="2708920"/>
              <a:ext cx="0" cy="2196000"/>
            </a:xfrm>
            <a:prstGeom prst="straightConnector1">
              <a:avLst/>
            </a:prstGeom>
            <a:ln w="317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60" name="正方形/長方形 59">
            <a:extLst>
              <a:ext uri="{FF2B5EF4-FFF2-40B4-BE49-F238E27FC236}">
                <a16:creationId xmlns:a16="http://schemas.microsoft.com/office/drawing/2014/main" id="{845A4C44-1FC3-AC8B-AB94-9A6DE70F0DF9}"/>
              </a:ext>
            </a:extLst>
          </p:cNvPr>
          <p:cNvSpPr/>
          <p:nvPr/>
        </p:nvSpPr>
        <p:spPr>
          <a:xfrm>
            <a:off x="3708378" y="4876800"/>
            <a:ext cx="5255621" cy="1532197"/>
          </a:xfrm>
          <a:prstGeom prst="rect">
            <a:avLst/>
          </a:prstGeom>
          <a:solidFill>
            <a:schemeClr val="bg1"/>
          </a:solidFill>
          <a:ln w="2540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b="1">
                <a:solidFill>
                  <a:srgbClr val="C00000"/>
                </a:solidFill>
                <a:latin typeface="Meiryo UI" panose="020B0604030504040204" pitchFamily="50" charset="-128"/>
                <a:ea typeface="Meiryo UI" panose="020B0604030504040204" pitchFamily="50" charset="-128"/>
              </a:rPr>
              <a:t>係数の差替自体はマスタなので可能だと想定されるが、排出量の計算の行われるトリガーの確認は必要</a:t>
            </a:r>
            <a:endParaRPr kumimoji="1" lang="en-US" altLang="ja-JP" sz="1200" b="1">
              <a:solidFill>
                <a:srgbClr val="C00000"/>
              </a:solidFill>
              <a:latin typeface="Meiryo UI" panose="020B0604030504040204" pitchFamily="50" charset="-128"/>
              <a:ea typeface="Meiryo UI" panose="020B0604030504040204" pitchFamily="50" charset="-128"/>
            </a:endParaRPr>
          </a:p>
          <a:p>
            <a:r>
              <a:rPr kumimoji="1" lang="ja-JP" altLang="en-US" sz="1200">
                <a:solidFill>
                  <a:schemeClr val="tx1"/>
                </a:solidFill>
                <a:latin typeface="Meiryo UI" panose="020B0604030504040204" pitchFamily="50" charset="-128"/>
                <a:ea typeface="Meiryo UI" panose="020B0604030504040204" pitchFamily="50" charset="-128"/>
              </a:rPr>
              <a:t>例）</a:t>
            </a:r>
            <a:br>
              <a:rPr kumimoji="1" lang="en-US" altLang="ja-JP" sz="1200">
                <a:solidFill>
                  <a:schemeClr val="tx1"/>
                </a:solidFill>
                <a:latin typeface="Meiryo UI" panose="020B0604030504040204" pitchFamily="50" charset="-128"/>
                <a:ea typeface="Meiryo UI" panose="020B0604030504040204" pitchFamily="50" charset="-128"/>
              </a:rPr>
            </a:br>
            <a:r>
              <a:rPr kumimoji="1" lang="ja-JP" altLang="en-US" sz="1200">
                <a:solidFill>
                  <a:schemeClr val="tx1"/>
                </a:solidFill>
                <a:latin typeface="Meiryo UI" panose="020B0604030504040204" pitchFamily="50" charset="-128"/>
                <a:ea typeface="Meiryo UI" panose="020B0604030504040204" pitchFamily="50" charset="-128"/>
              </a:rPr>
              <a:t>①</a:t>
            </a:r>
            <a:r>
              <a:rPr kumimoji="1" lang="ja-JP" altLang="en-US" sz="1200" b="1">
                <a:solidFill>
                  <a:schemeClr val="tx1"/>
                </a:solidFill>
                <a:latin typeface="Meiryo UI" panose="020B0604030504040204" pitchFamily="50" charset="-128"/>
                <a:ea typeface="Meiryo UI" panose="020B0604030504040204" pitchFamily="50" charset="-128"/>
              </a:rPr>
              <a:t>活動量データ入力</a:t>
            </a:r>
            <a:r>
              <a:rPr kumimoji="1" lang="en-US" altLang="ja-JP" sz="1200" b="1">
                <a:solidFill>
                  <a:schemeClr val="tx1"/>
                </a:solidFill>
                <a:latin typeface="Meiryo UI" panose="020B0604030504040204" pitchFamily="50" charset="-128"/>
                <a:ea typeface="Meiryo UI" panose="020B0604030504040204" pitchFamily="50" charset="-128"/>
              </a:rPr>
              <a:t>/</a:t>
            </a:r>
            <a:r>
              <a:rPr kumimoji="1" lang="ja-JP" altLang="en-US" sz="1200" b="1">
                <a:solidFill>
                  <a:schemeClr val="tx1"/>
                </a:solidFill>
                <a:latin typeface="Meiryo UI" panose="020B0604030504040204" pitchFamily="50" charset="-128"/>
                <a:ea typeface="Meiryo UI" panose="020B0604030504040204" pitchFamily="50" charset="-128"/>
              </a:rPr>
              <a:t>保存時に計算される場合</a:t>
            </a:r>
            <a:endParaRPr kumimoji="1" lang="en-US" altLang="ja-JP" sz="1200" b="1">
              <a:solidFill>
                <a:schemeClr val="tx1"/>
              </a:solidFill>
              <a:latin typeface="Meiryo UI" panose="020B0604030504040204" pitchFamily="50" charset="-128"/>
              <a:ea typeface="Meiryo UI" panose="020B0604030504040204" pitchFamily="50" charset="-128"/>
            </a:endParaRPr>
          </a:p>
          <a:p>
            <a:pPr marL="85725"/>
            <a:r>
              <a:rPr kumimoji="1" lang="ja-JP" altLang="en-US" sz="1200">
                <a:solidFill>
                  <a:schemeClr val="tx1"/>
                </a:solidFill>
                <a:latin typeface="Meiryo UI" panose="020B0604030504040204" pitchFamily="50" charset="-128"/>
                <a:ea typeface="Meiryo UI" panose="020B0604030504040204" pitchFamily="50" charset="-128"/>
              </a:rPr>
              <a:t>→係数のマスタ更新だけでは再計算が行われない。データ保存のみやり直しが必要の可能性あり（業務上、煩雑になる虞れあり）</a:t>
            </a:r>
            <a:endParaRPr kumimoji="1" lang="en-US" altLang="ja-JP" sz="1200">
              <a:solidFill>
                <a:schemeClr val="tx1"/>
              </a:solidFill>
              <a:latin typeface="Meiryo UI" panose="020B0604030504040204" pitchFamily="50" charset="-128"/>
              <a:ea typeface="Meiryo UI" panose="020B0604030504040204" pitchFamily="50" charset="-128"/>
            </a:endParaRPr>
          </a:p>
          <a:p>
            <a:r>
              <a:rPr kumimoji="1" lang="ja-JP" altLang="en-US" sz="1200" b="1">
                <a:solidFill>
                  <a:schemeClr val="tx1"/>
                </a:solidFill>
                <a:latin typeface="Meiryo UI" panose="020B0604030504040204" pitchFamily="50" charset="-128"/>
                <a:ea typeface="Meiryo UI" panose="020B0604030504040204" pitchFamily="50" charset="-128"/>
              </a:rPr>
              <a:t>②レポート出力時に計算される場合</a:t>
            </a:r>
            <a:br>
              <a:rPr kumimoji="1" lang="en-US" altLang="ja-JP" sz="1200" b="1">
                <a:solidFill>
                  <a:schemeClr val="tx1"/>
                </a:solidFill>
                <a:latin typeface="Meiryo UI" panose="020B0604030504040204" pitchFamily="50" charset="-128"/>
                <a:ea typeface="Meiryo UI" panose="020B0604030504040204" pitchFamily="50" charset="-128"/>
              </a:rPr>
            </a:br>
            <a:r>
              <a:rPr kumimoji="1" lang="ja-JP" altLang="en-US" sz="1200">
                <a:solidFill>
                  <a:schemeClr val="tx1"/>
                </a:solidFill>
                <a:latin typeface="Meiryo UI" panose="020B0604030504040204" pitchFamily="50" charset="-128"/>
                <a:ea typeface="Meiryo UI" panose="020B0604030504040204" pitchFamily="50" charset="-128"/>
              </a:rPr>
              <a:t>　→係数マスタ更新のみ対応</a:t>
            </a:r>
          </a:p>
        </p:txBody>
      </p:sp>
      <p:cxnSp>
        <p:nvCxnSpPr>
          <p:cNvPr id="65" name="直線コネクタ 64">
            <a:extLst>
              <a:ext uri="{FF2B5EF4-FFF2-40B4-BE49-F238E27FC236}">
                <a16:creationId xmlns:a16="http://schemas.microsoft.com/office/drawing/2014/main" id="{F9C8A42D-2B70-D392-E85E-CCCB16571A7C}"/>
              </a:ext>
            </a:extLst>
          </p:cNvPr>
          <p:cNvCxnSpPr>
            <a:cxnSpLocks/>
          </p:cNvCxnSpPr>
          <p:nvPr/>
        </p:nvCxnSpPr>
        <p:spPr>
          <a:xfrm flipH="1">
            <a:off x="7686675" y="3950825"/>
            <a:ext cx="413716" cy="820981"/>
          </a:xfrm>
          <a:prstGeom prst="line">
            <a:avLst/>
          </a:prstGeom>
          <a:ln w="19050">
            <a:solidFill>
              <a:schemeClr val="accent1"/>
            </a:solidFill>
            <a:head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52E0D82C-63B8-E542-3246-6140727C4849}"/>
              </a:ext>
            </a:extLst>
          </p:cNvPr>
          <p:cNvSpPr txBox="1"/>
          <p:nvPr/>
        </p:nvSpPr>
        <p:spPr>
          <a:xfrm>
            <a:off x="6654168" y="1447685"/>
            <a:ext cx="2519792" cy="253916"/>
          </a:xfrm>
          <a:prstGeom prst="rect">
            <a:avLst/>
          </a:prstGeom>
          <a:noFill/>
        </p:spPr>
        <p:txBody>
          <a:bodyPr wrap="square" rtlCol="0">
            <a:spAutoFit/>
          </a:bodyPr>
          <a:lstStyle/>
          <a:p>
            <a:pPr algn="l"/>
            <a:r>
              <a:rPr kumimoji="1" lang="en-US" altLang="ja-JP" sz="1050">
                <a:latin typeface="Meiryo UI" panose="020B0604030504040204" pitchFamily="50" charset="-128"/>
                <a:ea typeface="Meiryo UI" panose="020B0604030504040204" pitchFamily="50" charset="-128"/>
              </a:rPr>
              <a:t>※</a:t>
            </a:r>
            <a:r>
              <a:rPr kumimoji="1" lang="ja-JP" altLang="en-US" sz="1050">
                <a:latin typeface="Meiryo UI" panose="020B0604030504040204" pitchFamily="50" charset="-128"/>
                <a:ea typeface="Meiryo UI" panose="020B0604030504040204" pitchFamily="50" charset="-128"/>
              </a:rPr>
              <a:t>単位発熱量・</a:t>
            </a:r>
            <a:r>
              <a:rPr kumimoji="1" lang="en-US" altLang="ja-JP" sz="1050">
                <a:latin typeface="Meiryo UI" panose="020B0604030504040204" pitchFamily="50" charset="-128"/>
                <a:ea typeface="Meiryo UI" panose="020B0604030504040204" pitchFamily="50" charset="-128"/>
              </a:rPr>
              <a:t>CO2</a:t>
            </a:r>
            <a:r>
              <a:rPr kumimoji="1" lang="ja-JP" altLang="en-US" sz="1050">
                <a:latin typeface="Meiryo UI" panose="020B0604030504040204" pitchFamily="50" charset="-128"/>
                <a:ea typeface="Meiryo UI" panose="020B0604030504040204" pitchFamily="50" charset="-128"/>
              </a:rPr>
              <a:t>排出係数はイメージ</a:t>
            </a:r>
          </a:p>
        </p:txBody>
      </p:sp>
      <p:sp>
        <p:nvSpPr>
          <p:cNvPr id="70" name="正方形/長方形 69">
            <a:extLst>
              <a:ext uri="{FF2B5EF4-FFF2-40B4-BE49-F238E27FC236}">
                <a16:creationId xmlns:a16="http://schemas.microsoft.com/office/drawing/2014/main" id="{C98981A0-FA73-A57C-A2AE-5FD610EE484F}"/>
              </a:ext>
            </a:extLst>
          </p:cNvPr>
          <p:cNvSpPr/>
          <p:nvPr/>
        </p:nvSpPr>
        <p:spPr>
          <a:xfrm>
            <a:off x="7092043" y="3043668"/>
            <a:ext cx="216261" cy="11665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係 数 更 新</a:t>
            </a:r>
          </a:p>
        </p:txBody>
      </p:sp>
      <p:sp>
        <p:nvSpPr>
          <p:cNvPr id="71" name="正方形/長方形 70">
            <a:extLst>
              <a:ext uri="{FF2B5EF4-FFF2-40B4-BE49-F238E27FC236}">
                <a16:creationId xmlns:a16="http://schemas.microsoft.com/office/drawing/2014/main" id="{6464583C-B5ED-E48D-C569-36AE5F5889B1}"/>
              </a:ext>
            </a:extLst>
          </p:cNvPr>
          <p:cNvSpPr/>
          <p:nvPr/>
        </p:nvSpPr>
        <p:spPr>
          <a:xfrm>
            <a:off x="3419779" y="2683628"/>
            <a:ext cx="216261" cy="167989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wrap="none"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暫定として前年度を利用</a:t>
            </a:r>
          </a:p>
        </p:txBody>
      </p:sp>
      <p:sp>
        <p:nvSpPr>
          <p:cNvPr id="72" name="正方形/長方形 71">
            <a:extLst>
              <a:ext uri="{FF2B5EF4-FFF2-40B4-BE49-F238E27FC236}">
                <a16:creationId xmlns:a16="http://schemas.microsoft.com/office/drawing/2014/main" id="{5101FE6A-1038-2AAF-69F7-C17A72523EE3}"/>
              </a:ext>
            </a:extLst>
          </p:cNvPr>
          <p:cNvSpPr/>
          <p:nvPr/>
        </p:nvSpPr>
        <p:spPr>
          <a:xfrm>
            <a:off x="2663340" y="2683628"/>
            <a:ext cx="216261" cy="167989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wrap="none"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暫定として前年度を利用</a:t>
            </a:r>
          </a:p>
        </p:txBody>
      </p:sp>
      <p:sp>
        <p:nvSpPr>
          <p:cNvPr id="73" name="正方形/長方形 72">
            <a:extLst>
              <a:ext uri="{FF2B5EF4-FFF2-40B4-BE49-F238E27FC236}">
                <a16:creationId xmlns:a16="http://schemas.microsoft.com/office/drawing/2014/main" id="{74982381-7962-EE55-9287-C39786EF8C19}"/>
              </a:ext>
            </a:extLst>
          </p:cNvPr>
          <p:cNvSpPr/>
          <p:nvPr/>
        </p:nvSpPr>
        <p:spPr>
          <a:xfrm>
            <a:off x="6263739" y="3043668"/>
            <a:ext cx="216261" cy="11665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係 数 更 新</a:t>
            </a:r>
          </a:p>
        </p:txBody>
      </p:sp>
      <p:sp>
        <p:nvSpPr>
          <p:cNvPr id="5" name="正方形/長方形 4">
            <a:extLst>
              <a:ext uri="{FF2B5EF4-FFF2-40B4-BE49-F238E27FC236}">
                <a16:creationId xmlns:a16="http://schemas.microsoft.com/office/drawing/2014/main" id="{53123D63-0648-D589-1C21-BAD85422FDA5}"/>
              </a:ext>
            </a:extLst>
          </p:cNvPr>
          <p:cNvSpPr/>
          <p:nvPr/>
        </p:nvSpPr>
        <p:spPr>
          <a:xfrm>
            <a:off x="396010" y="5163720"/>
            <a:ext cx="3023770" cy="1166558"/>
          </a:xfrm>
          <a:prstGeom prst="rect">
            <a:avLst/>
          </a:prstGeom>
          <a:solidFill>
            <a:schemeClr val="bg1"/>
          </a:solidFill>
          <a:ln w="25400">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b="1">
                <a:solidFill>
                  <a:srgbClr val="C00000"/>
                </a:solidFill>
                <a:latin typeface="Meiryo UI" panose="020B0604030504040204" pitchFamily="50" charset="-128"/>
                <a:ea typeface="Meiryo UI" panose="020B0604030504040204" pitchFamily="50" charset="-128"/>
              </a:rPr>
              <a:t>係数変更の影響のコントロールが可能か</a:t>
            </a:r>
            <a:endParaRPr kumimoji="1" lang="en-US" altLang="ja-JP" sz="1200" b="1">
              <a:solidFill>
                <a:srgbClr val="C00000"/>
              </a:solidFill>
              <a:latin typeface="Meiryo UI" panose="020B0604030504040204" pitchFamily="50" charset="-128"/>
              <a:ea typeface="Meiryo UI" panose="020B0604030504040204" pitchFamily="50" charset="-128"/>
            </a:endParaRPr>
          </a:p>
          <a:p>
            <a:r>
              <a:rPr kumimoji="1" lang="ja-JP" altLang="en-US" sz="1200">
                <a:solidFill>
                  <a:schemeClr val="tx1"/>
                </a:solidFill>
                <a:latin typeface="Meiryo UI" panose="020B0604030504040204" pitchFamily="50" charset="-128"/>
                <a:ea typeface="Meiryo UI" panose="020B0604030504040204" pitchFamily="50" charset="-128"/>
              </a:rPr>
              <a:t>上記の例では、当年度の係数の値だけ変更したく、</a:t>
            </a:r>
            <a:r>
              <a:rPr kumimoji="1" lang="ja-JP" altLang="en-US" sz="1200" b="1" u="sng">
                <a:solidFill>
                  <a:schemeClr val="tx1"/>
                </a:solidFill>
                <a:latin typeface="Meiryo UI" panose="020B0604030504040204" pitchFamily="50" charset="-128"/>
                <a:ea typeface="Meiryo UI" panose="020B0604030504040204" pitchFamily="50" charset="-128"/>
              </a:rPr>
              <a:t>前年度の計算には影響を与えたくない</a:t>
            </a:r>
          </a:p>
        </p:txBody>
      </p:sp>
      <p:cxnSp>
        <p:nvCxnSpPr>
          <p:cNvPr id="7" name="直線コネクタ 6">
            <a:extLst>
              <a:ext uri="{FF2B5EF4-FFF2-40B4-BE49-F238E27FC236}">
                <a16:creationId xmlns:a16="http://schemas.microsoft.com/office/drawing/2014/main" id="{48EC6AD0-4167-ECFD-3DEB-BB5F2BC2BDCA}"/>
              </a:ext>
            </a:extLst>
          </p:cNvPr>
          <p:cNvCxnSpPr>
            <a:cxnSpLocks/>
          </p:cNvCxnSpPr>
          <p:nvPr/>
        </p:nvCxnSpPr>
        <p:spPr>
          <a:xfrm flipH="1">
            <a:off x="1907895" y="2371887"/>
            <a:ext cx="5400409" cy="2694533"/>
          </a:xfrm>
          <a:prstGeom prst="line">
            <a:avLst/>
          </a:prstGeom>
          <a:ln w="19050">
            <a:solidFill>
              <a:schemeClr val="accent1"/>
            </a:solidFill>
            <a:head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1" name="楕円 10">
            <a:extLst>
              <a:ext uri="{FF2B5EF4-FFF2-40B4-BE49-F238E27FC236}">
                <a16:creationId xmlns:a16="http://schemas.microsoft.com/office/drawing/2014/main" id="{B99CE17B-19F5-41A2-A888-4968D8C27EAF}"/>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12" name="四角形: 角を丸くする 11">
            <a:extLst>
              <a:ext uri="{FF2B5EF4-FFF2-40B4-BE49-F238E27FC236}">
                <a16:creationId xmlns:a16="http://schemas.microsoft.com/office/drawing/2014/main" id="{84AE313D-E945-3388-02F6-F0F7CE47CB82}"/>
              </a:ext>
            </a:extLst>
          </p:cNvPr>
          <p:cNvSpPr/>
          <p:nvPr/>
        </p:nvSpPr>
        <p:spPr>
          <a:xfrm>
            <a:off x="7045749" y="169787"/>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　対応すべき複数の開示基準</a:t>
            </a:r>
          </a:p>
        </p:txBody>
      </p:sp>
      <p:sp>
        <p:nvSpPr>
          <p:cNvPr id="13" name="四角形: 角を丸くする 12">
            <a:extLst>
              <a:ext uri="{FF2B5EF4-FFF2-40B4-BE49-F238E27FC236}">
                <a16:creationId xmlns:a16="http://schemas.microsoft.com/office/drawing/2014/main" id="{C3E90DC1-701C-6723-A8E7-9DC82818BC59}"/>
              </a:ext>
            </a:extLst>
          </p:cNvPr>
          <p:cNvSpPr/>
          <p:nvPr/>
        </p:nvSpPr>
        <p:spPr>
          <a:xfrm>
            <a:off x="7045749" y="561240"/>
            <a:ext cx="1621316" cy="162568"/>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solidFill>
                <a:latin typeface="Meiryo UI" panose="020B0604030504040204" pitchFamily="50" charset="-128"/>
                <a:ea typeface="Meiryo UI" panose="020B0604030504040204" pitchFamily="50" charset="-128"/>
              </a:rPr>
              <a:t>暫定</a:t>
            </a:r>
            <a:r>
              <a:rPr kumimoji="1" lang="en-US" altLang="ja-JP" sz="900" b="1">
                <a:solidFill>
                  <a:schemeClr val="bg1"/>
                </a:solidFill>
                <a:latin typeface="Meiryo UI" panose="020B0604030504040204" pitchFamily="50" charset="-128"/>
                <a:ea typeface="Meiryo UI" panose="020B0604030504040204" pitchFamily="50" charset="-128"/>
              </a:rPr>
              <a:t>/</a:t>
            </a:r>
            <a:r>
              <a:rPr kumimoji="1" lang="ja-JP" altLang="en-US" sz="900" b="1">
                <a:solidFill>
                  <a:schemeClr val="bg1"/>
                </a:solidFill>
                <a:latin typeface="Meiryo UI" panose="020B0604030504040204" pitchFamily="50" charset="-128"/>
                <a:ea typeface="Meiryo UI" panose="020B0604030504040204" pitchFamily="50" charset="-128"/>
              </a:rPr>
              <a:t>確定係数の運用</a:t>
            </a:r>
          </a:p>
        </p:txBody>
      </p:sp>
      <p:sp>
        <p:nvSpPr>
          <p:cNvPr id="14" name="四角形: 角を丸くする 13">
            <a:extLst>
              <a:ext uri="{FF2B5EF4-FFF2-40B4-BE49-F238E27FC236}">
                <a16:creationId xmlns:a16="http://schemas.microsoft.com/office/drawing/2014/main" id="{2DD9390C-6C92-D2F3-3C19-98B096BEFBAA}"/>
              </a:ext>
            </a:extLst>
          </p:cNvPr>
          <p:cNvSpPr/>
          <p:nvPr/>
        </p:nvSpPr>
        <p:spPr>
          <a:xfrm>
            <a:off x="7045749" y="365514"/>
            <a:ext cx="1621316" cy="162568"/>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b="1">
                <a:solidFill>
                  <a:schemeClr val="bg1">
                    <a:lumMod val="50000"/>
                  </a:schemeClr>
                </a:solidFill>
                <a:latin typeface="Meiryo UI" panose="020B0604030504040204" pitchFamily="50" charset="-128"/>
                <a:ea typeface="Meiryo UI" panose="020B0604030504040204" pitchFamily="50" charset="-128"/>
              </a:rPr>
              <a:t>複数算定ロジックの構築</a:t>
            </a:r>
          </a:p>
        </p:txBody>
      </p:sp>
      <p:sp>
        <p:nvSpPr>
          <p:cNvPr id="15" name="楕円 14">
            <a:extLst>
              <a:ext uri="{FF2B5EF4-FFF2-40B4-BE49-F238E27FC236}">
                <a16:creationId xmlns:a16="http://schemas.microsoft.com/office/drawing/2014/main" id="{179500C7-98B2-1E5E-5639-2D10088124C1}"/>
              </a:ext>
            </a:extLst>
          </p:cNvPr>
          <p:cNvSpPr/>
          <p:nvPr/>
        </p:nvSpPr>
        <p:spPr>
          <a:xfrm>
            <a:off x="7020272" y="134576"/>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lumMod val="50000"/>
                  </a:schemeClr>
                </a:solidFill>
                <a:latin typeface="Meiryo UI" panose="020B0604030504040204" pitchFamily="50" charset="-128"/>
                <a:ea typeface="Meiryo UI" panose="020B0604030504040204" pitchFamily="50" charset="-128"/>
              </a:rPr>
              <a:t>1</a:t>
            </a:r>
            <a:endParaRPr kumimoji="1" lang="ja-JP" altLang="en-US" sz="1400">
              <a:solidFill>
                <a:schemeClr val="bg1">
                  <a:lumMod val="50000"/>
                </a:schemeClr>
              </a:solidFill>
              <a:latin typeface="Meiryo UI" panose="020B0604030504040204" pitchFamily="50" charset="-128"/>
              <a:ea typeface="Meiryo UI" panose="020B0604030504040204" pitchFamily="50" charset="-128"/>
            </a:endParaRPr>
          </a:p>
        </p:txBody>
      </p:sp>
      <p:sp>
        <p:nvSpPr>
          <p:cNvPr id="16" name="楕円 15">
            <a:extLst>
              <a:ext uri="{FF2B5EF4-FFF2-40B4-BE49-F238E27FC236}">
                <a16:creationId xmlns:a16="http://schemas.microsoft.com/office/drawing/2014/main" id="{54466C29-A607-9637-8E64-7A0E14B8284C}"/>
              </a:ext>
            </a:extLst>
          </p:cNvPr>
          <p:cNvSpPr/>
          <p:nvPr/>
        </p:nvSpPr>
        <p:spPr>
          <a:xfrm>
            <a:off x="7020272" y="330302"/>
            <a:ext cx="197779" cy="19777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lumMod val="50000"/>
                  </a:schemeClr>
                </a:solidFill>
                <a:latin typeface="Meiryo UI" panose="020B0604030504040204" pitchFamily="50" charset="-128"/>
                <a:ea typeface="Meiryo UI" panose="020B0604030504040204" pitchFamily="50" charset="-128"/>
              </a:rPr>
              <a:t>2</a:t>
            </a:r>
            <a:endParaRPr kumimoji="1" lang="ja-JP" altLang="en-US" sz="1400">
              <a:solidFill>
                <a:schemeClr val="bg1">
                  <a:lumMod val="50000"/>
                </a:schemeClr>
              </a:solidFill>
              <a:latin typeface="Meiryo UI" panose="020B0604030504040204" pitchFamily="50" charset="-128"/>
              <a:ea typeface="Meiryo UI" panose="020B0604030504040204" pitchFamily="50" charset="-128"/>
            </a:endParaRPr>
          </a:p>
        </p:txBody>
      </p:sp>
      <p:sp>
        <p:nvSpPr>
          <p:cNvPr id="17" name="楕円 16">
            <a:extLst>
              <a:ext uri="{FF2B5EF4-FFF2-40B4-BE49-F238E27FC236}">
                <a16:creationId xmlns:a16="http://schemas.microsoft.com/office/drawing/2014/main" id="{FCC8645B-D6B8-6DBF-E862-77346FD39C3A}"/>
              </a:ext>
            </a:extLst>
          </p:cNvPr>
          <p:cNvSpPr/>
          <p:nvPr/>
        </p:nvSpPr>
        <p:spPr>
          <a:xfrm>
            <a:off x="7020272" y="526029"/>
            <a:ext cx="197779" cy="1977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3</a:t>
            </a:r>
            <a:endParaRPr kumimoji="1" lang="ja-JP" altLang="en-US" sz="140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45793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049E0-24C6-1818-946B-2795AEBC0D02}"/>
              </a:ext>
            </a:extLst>
          </p:cNvPr>
          <p:cNvSpPr>
            <a:spLocks noGrp="1"/>
          </p:cNvSpPr>
          <p:nvPr>
            <p:ph type="title"/>
          </p:nvPr>
        </p:nvSpPr>
        <p:spPr>
          <a:xfrm>
            <a:off x="1116000" y="3042380"/>
            <a:ext cx="7703999" cy="360000"/>
          </a:xfrm>
        </p:spPr>
        <p:txBody>
          <a:bodyPr/>
          <a:lstStyle/>
          <a:p>
            <a:r>
              <a:rPr kumimoji="0" lang="en-US" altLang="ja-JP" sz="2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n-cs"/>
                <a:sym typeface="+mn-lt"/>
              </a:rPr>
              <a:t>5. ESG</a:t>
            </a:r>
            <a:r>
              <a:rPr kumimoji="0" lang="ja-JP" altLang="en-US" sz="2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n-cs"/>
                <a:sym typeface="+mn-lt"/>
              </a:rPr>
              <a:t>システム導入に向けた周辺タスク</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3DB55F1-1B8C-13AB-1DBE-1F30F08B6A0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27</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72298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正方形/長方形 134">
            <a:extLst>
              <a:ext uri="{FF2B5EF4-FFF2-40B4-BE49-F238E27FC236}">
                <a16:creationId xmlns:a16="http://schemas.microsoft.com/office/drawing/2014/main" id="{B11DD9E3-8FC5-D670-8E91-9AFD30D3BB5F}"/>
              </a:ext>
            </a:extLst>
          </p:cNvPr>
          <p:cNvSpPr/>
          <p:nvPr/>
        </p:nvSpPr>
        <p:spPr bwMode="gray">
          <a:xfrm>
            <a:off x="1583572" y="3829679"/>
            <a:ext cx="2709561" cy="2531572"/>
          </a:xfrm>
          <a:prstGeom prst="rect">
            <a:avLst/>
          </a:prstGeom>
          <a:solidFill>
            <a:schemeClr val="accent1">
              <a:lumMod val="20000"/>
              <a:lumOff val="80000"/>
            </a:schemeClr>
          </a:solidFill>
          <a:ln w="12700" algn="ctr">
            <a:solidFill>
              <a:schemeClr val="accent1"/>
            </a:solidFill>
            <a:prstDash val="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endParaRPr kumimoji="1" lang="ja-JP" altLang="en-US" sz="1200">
              <a:solidFill>
                <a:prstClr val="black"/>
              </a:solidFill>
              <a:latin typeface="Meiryo UI" panose="020B0604030504040204" pitchFamily="50" charset="-128"/>
              <a:ea typeface="Meiryo UI" panose="020B0604030504040204" pitchFamily="50" charset="-128"/>
            </a:endParaRPr>
          </a:p>
        </p:txBody>
      </p:sp>
      <p:sp>
        <p:nvSpPr>
          <p:cNvPr id="136" name="フローチャート: 処理 135">
            <a:extLst>
              <a:ext uri="{FF2B5EF4-FFF2-40B4-BE49-F238E27FC236}">
                <a16:creationId xmlns:a16="http://schemas.microsoft.com/office/drawing/2014/main" id="{686058DB-C824-C98A-3BAD-0E1C8647D9D7}"/>
              </a:ext>
            </a:extLst>
          </p:cNvPr>
          <p:cNvSpPr/>
          <p:nvPr/>
        </p:nvSpPr>
        <p:spPr bwMode="gray">
          <a:xfrm>
            <a:off x="646540" y="3538942"/>
            <a:ext cx="2232383" cy="228610"/>
          </a:xfrm>
          <a:prstGeom prst="flowChartProcess">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2000" b="1">
                <a:solidFill>
                  <a:schemeClr val="accent5"/>
                </a:solidFill>
                <a:latin typeface="Meiryo UI" panose="020B0604030504040204" pitchFamily="50" charset="-128"/>
                <a:ea typeface="Meiryo UI" panose="020B0604030504040204" pitchFamily="50" charset="-128"/>
              </a:rPr>
              <a:t>出光</a:t>
            </a:r>
            <a:r>
              <a:rPr kumimoji="1" lang="en-US" altLang="ja-JP" sz="2000" b="1" i="0" u="none" strike="noStrike" kern="1200" cap="none" spc="0" normalizeH="0" baseline="0" noProof="0">
                <a:ln>
                  <a:noFill/>
                </a:ln>
                <a:solidFill>
                  <a:schemeClr val="accent5"/>
                </a:solidFill>
                <a:effectLst/>
                <a:uLnTx/>
                <a:uFillTx/>
                <a:latin typeface="Meiryo UI" panose="020B0604030504040204" pitchFamily="50" charset="-128"/>
                <a:ea typeface="Meiryo UI" panose="020B0604030504040204" pitchFamily="50" charset="-128"/>
              </a:rPr>
              <a:t>DI</a:t>
            </a:r>
            <a:r>
              <a:rPr kumimoji="1" lang="ja-JP" altLang="en-US" sz="2000" b="1" i="0" u="none" strike="noStrike" kern="1200" cap="none" spc="0" normalizeH="0" baseline="0" noProof="0">
                <a:ln>
                  <a:noFill/>
                </a:ln>
                <a:solidFill>
                  <a:schemeClr val="accent5"/>
                </a:solidFill>
                <a:effectLst/>
                <a:uLnTx/>
                <a:uFillTx/>
                <a:latin typeface="Meiryo UI" panose="020B0604030504040204" pitchFamily="50" charset="-128"/>
                <a:ea typeface="Meiryo UI" panose="020B0604030504040204" pitchFamily="50" charset="-128"/>
              </a:rPr>
              <a:t>部</a:t>
            </a:r>
            <a:r>
              <a:rPr kumimoji="1" lang="ja-JP" altLang="en-US" sz="2000" b="1">
                <a:solidFill>
                  <a:schemeClr val="accent5"/>
                </a:solidFill>
                <a:latin typeface="Meiryo UI" panose="020B0604030504040204" pitchFamily="50" charset="-128"/>
                <a:ea typeface="Meiryo UI" panose="020B0604030504040204" pitchFamily="50" charset="-128"/>
              </a:rPr>
              <a:t>開発範囲</a:t>
            </a:r>
            <a:endParaRPr kumimoji="1" lang="ja-JP" altLang="en-US" sz="2000" b="1" i="0" u="none" strike="noStrike" kern="1200" cap="none" spc="0" normalizeH="0" baseline="0" noProof="0">
              <a:ln>
                <a:noFill/>
              </a:ln>
              <a:solidFill>
                <a:schemeClr val="accent5"/>
              </a:solidFill>
              <a:effectLst/>
              <a:uLnTx/>
              <a:uFillTx/>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5E317189-F72F-F75E-67D1-0DFB31667728}"/>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ESG</a:t>
            </a:r>
            <a:r>
              <a:rPr lang="ja-JP" altLang="en-US">
                <a:latin typeface="Meiryo UI" panose="020B0604030504040204" pitchFamily="50" charset="-128"/>
                <a:ea typeface="Meiryo UI" panose="020B0604030504040204" pitchFamily="50" charset="-128"/>
              </a:rPr>
              <a:t>システム全体像（周辺タスク）</a:t>
            </a:r>
          </a:p>
        </p:txBody>
      </p:sp>
      <p:sp>
        <p:nvSpPr>
          <p:cNvPr id="3" name="スライド番号プレースホルダー 2">
            <a:extLst>
              <a:ext uri="{FF2B5EF4-FFF2-40B4-BE49-F238E27FC236}">
                <a16:creationId xmlns:a16="http://schemas.microsoft.com/office/drawing/2014/main" id="{427DB6BF-2CED-BBA1-C8FC-07CCF9438F60}"/>
              </a:ext>
            </a:extLst>
          </p:cNvPr>
          <p:cNvSpPr>
            <a:spLocks noGrp="1"/>
          </p:cNvSpPr>
          <p:nvPr>
            <p:ph type="sldNum" sz="quarter" idx="12"/>
          </p:nvPr>
        </p:nvSpPr>
        <p:spPr/>
        <p:txBody>
          <a:bodyPr/>
          <a:lstStyle/>
          <a:p>
            <a:fld id="{59F857F7-C215-C24D-8BD9-19720E902953}" type="slidenum">
              <a:rPr lang="ja-JP" altLang="en-US" smtClean="0">
                <a:latin typeface="Meiryo UI" panose="020B0604030504040204" pitchFamily="50" charset="-128"/>
                <a:ea typeface="Meiryo UI" panose="020B0604030504040204" pitchFamily="50" charset="-128"/>
              </a:rPr>
              <a:pPr/>
              <a:t>28</a:t>
            </a:fld>
            <a:endParaRPr lang="ja-JP" altLang="en-US">
              <a:latin typeface="Meiryo UI" panose="020B0604030504040204" pitchFamily="50" charset="-128"/>
              <a:ea typeface="Meiryo UI" panose="020B0604030504040204" pitchFamily="50" charset="-128"/>
            </a:endParaRPr>
          </a:p>
        </p:txBody>
      </p:sp>
      <p:sp>
        <p:nvSpPr>
          <p:cNvPr id="132" name="テキスト プレースホルダー 131">
            <a:extLst>
              <a:ext uri="{FF2B5EF4-FFF2-40B4-BE49-F238E27FC236}">
                <a16:creationId xmlns:a16="http://schemas.microsoft.com/office/drawing/2014/main" id="{BF131FA6-DCE7-D141-E65B-A7ABD179E9CA}"/>
              </a:ext>
            </a:extLst>
          </p:cNvPr>
          <p:cNvSpPr>
            <a:spLocks noGrp="1"/>
          </p:cNvSpPr>
          <p:nvPr>
            <p:ph type="body" sz="quarter" idx="13"/>
          </p:nvPr>
        </p:nvSpPr>
        <p:spPr/>
        <p:txBody>
          <a:bodyPr/>
          <a:lstStyle/>
          <a:p>
            <a:r>
              <a:rPr lang="ja-JP" altLang="en-US"/>
              <a:t>拠点業務の効率化を実現するため、新</a:t>
            </a:r>
            <a:r>
              <a:rPr lang="en-US" altLang="ja-JP"/>
              <a:t>ESG</a:t>
            </a:r>
            <a:r>
              <a:rPr lang="ja-JP" altLang="en-US"/>
              <a:t>システム以外にも周辺タスクとして、タグデータからの収集ロジックの整理、</a:t>
            </a:r>
            <a:r>
              <a:rPr lang="en-US" altLang="ja-JP"/>
              <a:t>ETL</a:t>
            </a:r>
            <a:r>
              <a:rPr lang="ja-JP" altLang="en-US"/>
              <a:t>ツールの導入が発生するため、各製油所を巻き込みながら推進することが求められる</a:t>
            </a:r>
          </a:p>
        </p:txBody>
      </p:sp>
      <p:sp>
        <p:nvSpPr>
          <p:cNvPr id="7" name="正方形/長方形 6">
            <a:extLst>
              <a:ext uri="{FF2B5EF4-FFF2-40B4-BE49-F238E27FC236}">
                <a16:creationId xmlns:a16="http://schemas.microsoft.com/office/drawing/2014/main" id="{405FC2C9-0722-C940-6AE2-4720F9B9FE4B}"/>
              </a:ext>
            </a:extLst>
          </p:cNvPr>
          <p:cNvSpPr/>
          <p:nvPr/>
        </p:nvSpPr>
        <p:spPr bwMode="gray">
          <a:xfrm>
            <a:off x="4125772" y="2689863"/>
            <a:ext cx="1152000" cy="24228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59EF5E72-9D3A-8B74-CA7A-A29EEB7A5AE1}"/>
              </a:ext>
            </a:extLst>
          </p:cNvPr>
          <p:cNvSpPr/>
          <p:nvPr/>
        </p:nvSpPr>
        <p:spPr bwMode="gray">
          <a:xfrm>
            <a:off x="4190596" y="2779864"/>
            <a:ext cx="1044000" cy="1008000"/>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a:solidFill>
                  <a:schemeClr val="bg1">
                    <a:lumMod val="85000"/>
                  </a:schemeClr>
                </a:solidFill>
                <a:latin typeface="Meiryo UI" panose="020B0604030504040204" pitchFamily="50" charset="-128"/>
                <a:ea typeface="Meiryo UI" panose="020B0604030504040204" pitchFamily="50" charset="-128"/>
              </a:rPr>
              <a:t>自動連係分</a:t>
            </a:r>
            <a:endParaRPr kumimoji="1" lang="ja-JP" altLang="en-US" sz="10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9" name="矢印: 五方向 8">
            <a:extLst>
              <a:ext uri="{FF2B5EF4-FFF2-40B4-BE49-F238E27FC236}">
                <a16:creationId xmlns:a16="http://schemas.microsoft.com/office/drawing/2014/main" id="{0386F35E-A940-B8FC-5570-36BDF958ED45}"/>
              </a:ext>
            </a:extLst>
          </p:cNvPr>
          <p:cNvSpPr/>
          <p:nvPr/>
        </p:nvSpPr>
        <p:spPr bwMode="gray">
          <a:xfrm>
            <a:off x="404275" y="1888489"/>
            <a:ext cx="1152000" cy="576000"/>
          </a:xfrm>
          <a:prstGeom prst="homePlate">
            <a:avLst>
              <a:gd name="adj" fmla="val 2580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a:solidFill>
                  <a:schemeClr val="bg1"/>
                </a:solidFill>
                <a:latin typeface="Meiryo UI" panose="020B0604030504040204" pitchFamily="50" charset="-128"/>
                <a:ea typeface="Meiryo UI" panose="020B0604030504040204" pitchFamily="50" charset="-128"/>
              </a:rPr>
              <a:t>タグ集積</a:t>
            </a:r>
            <a:endPar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0" name="矢印: 五方向 9">
            <a:extLst>
              <a:ext uri="{FF2B5EF4-FFF2-40B4-BE49-F238E27FC236}">
                <a16:creationId xmlns:a16="http://schemas.microsoft.com/office/drawing/2014/main" id="{8447B878-AEED-0F9E-5FDC-26DA7EC29EC6}"/>
              </a:ext>
            </a:extLst>
          </p:cNvPr>
          <p:cNvSpPr/>
          <p:nvPr/>
        </p:nvSpPr>
        <p:spPr bwMode="gray">
          <a:xfrm>
            <a:off x="1641599" y="1888489"/>
            <a:ext cx="1152000" cy="576000"/>
          </a:xfrm>
          <a:prstGeom prst="homePlate">
            <a:avLst>
              <a:gd name="adj" fmla="val 2580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a:solidFill>
                  <a:schemeClr val="bg1"/>
                </a:solidFill>
                <a:latin typeface="Meiryo UI" panose="020B0604030504040204" pitchFamily="50" charset="-128"/>
                <a:ea typeface="Meiryo UI" panose="020B0604030504040204" pitchFamily="50" charset="-128"/>
              </a:rPr>
              <a:t>データ変換</a:t>
            </a:r>
            <a:endPar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2BDA0412-93F3-E6D8-FEC0-33987A70EFC0}"/>
              </a:ext>
            </a:extLst>
          </p:cNvPr>
          <p:cNvSpPr/>
          <p:nvPr/>
        </p:nvSpPr>
        <p:spPr bwMode="gray">
          <a:xfrm>
            <a:off x="2878923" y="1888489"/>
            <a:ext cx="1152000" cy="576000"/>
          </a:xfrm>
          <a:prstGeom prst="homePlate">
            <a:avLst>
              <a:gd name="adj" fmla="val 2580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データ</a:t>
            </a:r>
            <a:endParaRPr kumimoji="1" lang="en-US" altLang="ja-JP"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パイプライン</a:t>
            </a:r>
          </a:p>
        </p:txBody>
      </p:sp>
      <p:sp>
        <p:nvSpPr>
          <p:cNvPr id="12" name="矢印: 五方向 11">
            <a:extLst>
              <a:ext uri="{FF2B5EF4-FFF2-40B4-BE49-F238E27FC236}">
                <a16:creationId xmlns:a16="http://schemas.microsoft.com/office/drawing/2014/main" id="{67FCF2CB-CC6C-9F16-3493-C846A0144CF5}"/>
              </a:ext>
            </a:extLst>
          </p:cNvPr>
          <p:cNvSpPr/>
          <p:nvPr/>
        </p:nvSpPr>
        <p:spPr bwMode="gray">
          <a:xfrm>
            <a:off x="4116246" y="1888489"/>
            <a:ext cx="1152000" cy="576000"/>
          </a:xfrm>
          <a:prstGeom prst="homePlate">
            <a:avLst>
              <a:gd name="adj" fmla="val 25806"/>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データ入力</a:t>
            </a:r>
          </a:p>
        </p:txBody>
      </p:sp>
      <p:sp>
        <p:nvSpPr>
          <p:cNvPr id="13" name="矢印: 五方向 12">
            <a:extLst>
              <a:ext uri="{FF2B5EF4-FFF2-40B4-BE49-F238E27FC236}">
                <a16:creationId xmlns:a16="http://schemas.microsoft.com/office/drawing/2014/main" id="{0BA615A7-BFA6-9CD4-1D52-71778770D27C}"/>
              </a:ext>
            </a:extLst>
          </p:cNvPr>
          <p:cNvSpPr/>
          <p:nvPr/>
        </p:nvSpPr>
        <p:spPr bwMode="gray">
          <a:xfrm>
            <a:off x="5353571" y="1888489"/>
            <a:ext cx="1152000" cy="576000"/>
          </a:xfrm>
          <a:prstGeom prst="homePlate">
            <a:avLst>
              <a:gd name="adj" fmla="val 25806"/>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算定</a:t>
            </a:r>
          </a:p>
        </p:txBody>
      </p:sp>
      <p:sp>
        <p:nvSpPr>
          <p:cNvPr id="14" name="矢印: 五方向 13">
            <a:extLst>
              <a:ext uri="{FF2B5EF4-FFF2-40B4-BE49-F238E27FC236}">
                <a16:creationId xmlns:a16="http://schemas.microsoft.com/office/drawing/2014/main" id="{F295BBF5-46E6-5124-6028-6073EE3ADD06}"/>
              </a:ext>
            </a:extLst>
          </p:cNvPr>
          <p:cNvSpPr/>
          <p:nvPr/>
        </p:nvSpPr>
        <p:spPr bwMode="gray">
          <a:xfrm>
            <a:off x="6590896" y="1888489"/>
            <a:ext cx="1152000" cy="576000"/>
          </a:xfrm>
          <a:prstGeom prst="homePlate">
            <a:avLst>
              <a:gd name="adj" fmla="val 25806"/>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a:solidFill>
                  <a:schemeClr val="bg1"/>
                </a:solidFill>
                <a:latin typeface="Meiryo UI" panose="020B0604030504040204" pitchFamily="50" charset="-128"/>
                <a:ea typeface="Meiryo UI" panose="020B0604030504040204" pitchFamily="50" charset="-128"/>
              </a:rPr>
              <a:t>集計</a:t>
            </a:r>
            <a:endPar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5" name="矢印: 五方向 14">
            <a:extLst>
              <a:ext uri="{FF2B5EF4-FFF2-40B4-BE49-F238E27FC236}">
                <a16:creationId xmlns:a16="http://schemas.microsoft.com/office/drawing/2014/main" id="{A381F21F-68CF-E4EA-24FC-AE5193997729}"/>
              </a:ext>
            </a:extLst>
          </p:cNvPr>
          <p:cNvSpPr/>
          <p:nvPr/>
        </p:nvSpPr>
        <p:spPr bwMode="gray">
          <a:xfrm>
            <a:off x="7828221" y="1888489"/>
            <a:ext cx="1152000" cy="576000"/>
          </a:xfrm>
          <a:prstGeom prst="homePlate">
            <a:avLst>
              <a:gd name="adj" fmla="val 25806"/>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開示</a:t>
            </a:r>
          </a:p>
        </p:txBody>
      </p:sp>
      <p:sp>
        <p:nvSpPr>
          <p:cNvPr id="16" name="正方形/長方形 15">
            <a:extLst>
              <a:ext uri="{FF2B5EF4-FFF2-40B4-BE49-F238E27FC236}">
                <a16:creationId xmlns:a16="http://schemas.microsoft.com/office/drawing/2014/main" id="{667BE27A-C3F5-8C1B-7884-539CD69C8730}"/>
              </a:ext>
            </a:extLst>
          </p:cNvPr>
          <p:cNvSpPr/>
          <p:nvPr/>
        </p:nvSpPr>
        <p:spPr bwMode="gray">
          <a:xfrm>
            <a:off x="47164" y="2689863"/>
            <a:ext cx="273896" cy="1152000"/>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SSBJ</a:t>
            </a:r>
            <a:endParaRPr kumimoji="1" lang="ja-JP" altLang="en-US"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3F898ACB-6635-71B0-A7C3-624BB8DC2BA2}"/>
              </a:ext>
            </a:extLst>
          </p:cNvPr>
          <p:cNvSpPr/>
          <p:nvPr/>
        </p:nvSpPr>
        <p:spPr bwMode="gray">
          <a:xfrm>
            <a:off x="47164" y="3960663"/>
            <a:ext cx="273896" cy="1152000"/>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温対法</a:t>
            </a:r>
          </a:p>
        </p:txBody>
      </p:sp>
      <p:sp>
        <p:nvSpPr>
          <p:cNvPr id="18" name="正方形/長方形 17">
            <a:extLst>
              <a:ext uri="{FF2B5EF4-FFF2-40B4-BE49-F238E27FC236}">
                <a16:creationId xmlns:a16="http://schemas.microsoft.com/office/drawing/2014/main" id="{D910611D-A511-401F-2FD2-EF77F56063F9}"/>
              </a:ext>
            </a:extLst>
          </p:cNvPr>
          <p:cNvSpPr/>
          <p:nvPr/>
        </p:nvSpPr>
        <p:spPr bwMode="gray">
          <a:xfrm>
            <a:off x="47164" y="5229513"/>
            <a:ext cx="273896" cy="1152000"/>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GXL</a:t>
            </a:r>
            <a:endParaRPr kumimoji="1" lang="ja-JP" altLang="en-US" sz="16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83146E60-C53D-5DB2-9BC2-302A0829B9E6}"/>
              </a:ext>
            </a:extLst>
          </p:cNvPr>
          <p:cNvSpPr/>
          <p:nvPr/>
        </p:nvSpPr>
        <p:spPr bwMode="gray">
          <a:xfrm>
            <a:off x="423325" y="5229513"/>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18648EFD-7B3D-58A1-6179-11AA32937389}"/>
              </a:ext>
            </a:extLst>
          </p:cNvPr>
          <p:cNvSpPr/>
          <p:nvPr/>
        </p:nvSpPr>
        <p:spPr bwMode="gray">
          <a:xfrm>
            <a:off x="1657474" y="3960663"/>
            <a:ext cx="1152000" cy="242085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5067BE99-439E-83DA-46D6-E00D7B8CED82}"/>
              </a:ext>
            </a:extLst>
          </p:cNvPr>
          <p:cNvSpPr/>
          <p:nvPr/>
        </p:nvSpPr>
        <p:spPr bwMode="gray">
          <a:xfrm>
            <a:off x="2891623" y="3960663"/>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434898FB-FEA6-5CD8-B464-44BB61257202}"/>
              </a:ext>
            </a:extLst>
          </p:cNvPr>
          <p:cNvSpPr/>
          <p:nvPr/>
        </p:nvSpPr>
        <p:spPr bwMode="gray">
          <a:xfrm>
            <a:off x="2891623" y="5229513"/>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3D211E37-85AD-05AF-E6A7-925F3E094B00}"/>
              </a:ext>
            </a:extLst>
          </p:cNvPr>
          <p:cNvSpPr/>
          <p:nvPr/>
        </p:nvSpPr>
        <p:spPr bwMode="gray">
          <a:xfrm>
            <a:off x="5359921" y="2689863"/>
            <a:ext cx="1152000" cy="24228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64EF800A-C3F6-6B93-8F9E-16D5CB1D104C}"/>
              </a:ext>
            </a:extLst>
          </p:cNvPr>
          <p:cNvSpPr/>
          <p:nvPr/>
        </p:nvSpPr>
        <p:spPr bwMode="gray">
          <a:xfrm>
            <a:off x="6594070" y="2689863"/>
            <a:ext cx="1152000" cy="24228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FB6E7374-9170-6C86-A08F-7190C5AA60C7}"/>
              </a:ext>
            </a:extLst>
          </p:cNvPr>
          <p:cNvSpPr/>
          <p:nvPr/>
        </p:nvSpPr>
        <p:spPr bwMode="gray">
          <a:xfrm>
            <a:off x="7828221" y="2689863"/>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FB7E80FD-CD91-8A5E-9EFB-DEAC2109486A}"/>
              </a:ext>
            </a:extLst>
          </p:cNvPr>
          <p:cNvSpPr/>
          <p:nvPr/>
        </p:nvSpPr>
        <p:spPr bwMode="gray">
          <a:xfrm>
            <a:off x="7828221" y="3960663"/>
            <a:ext cx="1152000"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912B0CCA-C9E9-70FF-6489-D17B680B1DB6}"/>
              </a:ext>
            </a:extLst>
          </p:cNvPr>
          <p:cNvSpPr/>
          <p:nvPr/>
        </p:nvSpPr>
        <p:spPr bwMode="gray">
          <a:xfrm>
            <a:off x="4125771" y="5229513"/>
            <a:ext cx="4854449" cy="1152000"/>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3AB4B3DD-9B9A-4A7A-CB48-715E1B1DC684}"/>
              </a:ext>
            </a:extLst>
          </p:cNvPr>
          <p:cNvSpPr/>
          <p:nvPr/>
        </p:nvSpPr>
        <p:spPr bwMode="gray">
          <a:xfrm>
            <a:off x="542686" y="5552996"/>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29" name="フローチャート: 磁気ディスク 28">
            <a:extLst>
              <a:ext uri="{FF2B5EF4-FFF2-40B4-BE49-F238E27FC236}">
                <a16:creationId xmlns:a16="http://schemas.microsoft.com/office/drawing/2014/main" id="{AE7B5C73-3F28-2411-DE34-6AA85EA1BC26}"/>
              </a:ext>
            </a:extLst>
          </p:cNvPr>
          <p:cNvSpPr/>
          <p:nvPr/>
        </p:nvSpPr>
        <p:spPr bwMode="gray">
          <a:xfrm>
            <a:off x="523075" y="5843289"/>
            <a:ext cx="914400" cy="400504"/>
          </a:xfrm>
          <a:prstGeom prst="flowChartMagneticDisk">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CDF</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731C4C1E-2921-15A6-C63F-34A4B65D5686}"/>
              </a:ext>
            </a:extLst>
          </p:cNvPr>
          <p:cNvSpPr/>
          <p:nvPr/>
        </p:nvSpPr>
        <p:spPr bwMode="gray">
          <a:xfrm>
            <a:off x="782686" y="5552996"/>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31" name="正方形/長方形 30">
            <a:extLst>
              <a:ext uri="{FF2B5EF4-FFF2-40B4-BE49-F238E27FC236}">
                <a16:creationId xmlns:a16="http://schemas.microsoft.com/office/drawing/2014/main" id="{A2B01619-A350-52CB-E4DC-CF57945549C0}"/>
              </a:ext>
            </a:extLst>
          </p:cNvPr>
          <p:cNvSpPr/>
          <p:nvPr/>
        </p:nvSpPr>
        <p:spPr bwMode="gray">
          <a:xfrm>
            <a:off x="1022686" y="5552996"/>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32" name="正方形/長方形 31">
            <a:extLst>
              <a:ext uri="{FF2B5EF4-FFF2-40B4-BE49-F238E27FC236}">
                <a16:creationId xmlns:a16="http://schemas.microsoft.com/office/drawing/2014/main" id="{55896F53-0B3E-9262-A098-DD084B927892}"/>
              </a:ext>
            </a:extLst>
          </p:cNvPr>
          <p:cNvSpPr/>
          <p:nvPr/>
        </p:nvSpPr>
        <p:spPr bwMode="gray">
          <a:xfrm>
            <a:off x="1262685" y="5552996"/>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33" name="正方形/長方形 32">
            <a:extLst>
              <a:ext uri="{FF2B5EF4-FFF2-40B4-BE49-F238E27FC236}">
                <a16:creationId xmlns:a16="http://schemas.microsoft.com/office/drawing/2014/main" id="{8C70AFDE-4CD5-CD83-7052-0C9CAAA1535B}"/>
              </a:ext>
            </a:extLst>
          </p:cNvPr>
          <p:cNvSpPr/>
          <p:nvPr/>
        </p:nvSpPr>
        <p:spPr bwMode="gray">
          <a:xfrm>
            <a:off x="1757394" y="4449474"/>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34" name="正方形/長方形 33">
            <a:extLst>
              <a:ext uri="{FF2B5EF4-FFF2-40B4-BE49-F238E27FC236}">
                <a16:creationId xmlns:a16="http://schemas.microsoft.com/office/drawing/2014/main" id="{966DA7CC-F461-D556-72E5-C184CD8063E5}"/>
              </a:ext>
            </a:extLst>
          </p:cNvPr>
          <p:cNvSpPr/>
          <p:nvPr/>
        </p:nvSpPr>
        <p:spPr bwMode="gray">
          <a:xfrm>
            <a:off x="1757394" y="4687083"/>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35" name="正方形/長方形 34">
            <a:extLst>
              <a:ext uri="{FF2B5EF4-FFF2-40B4-BE49-F238E27FC236}">
                <a16:creationId xmlns:a16="http://schemas.microsoft.com/office/drawing/2014/main" id="{E647061F-242C-9FDD-0FD2-859A6CFCB34D}"/>
              </a:ext>
            </a:extLst>
          </p:cNvPr>
          <p:cNvSpPr/>
          <p:nvPr/>
        </p:nvSpPr>
        <p:spPr bwMode="gray">
          <a:xfrm>
            <a:off x="1757394" y="4924692"/>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36" name="正方形/長方形 35">
            <a:extLst>
              <a:ext uri="{FF2B5EF4-FFF2-40B4-BE49-F238E27FC236}">
                <a16:creationId xmlns:a16="http://schemas.microsoft.com/office/drawing/2014/main" id="{E0B2D9BD-413D-C27C-84EE-7D2D593B4FF2}"/>
              </a:ext>
            </a:extLst>
          </p:cNvPr>
          <p:cNvSpPr/>
          <p:nvPr/>
        </p:nvSpPr>
        <p:spPr bwMode="gray">
          <a:xfrm>
            <a:off x="1757394" y="5162301"/>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37" name="正方形/長方形 36">
            <a:extLst>
              <a:ext uri="{FF2B5EF4-FFF2-40B4-BE49-F238E27FC236}">
                <a16:creationId xmlns:a16="http://schemas.microsoft.com/office/drawing/2014/main" id="{13785DA0-1120-0C50-468A-265071FE6B0A}"/>
              </a:ext>
            </a:extLst>
          </p:cNvPr>
          <p:cNvSpPr/>
          <p:nvPr/>
        </p:nvSpPr>
        <p:spPr bwMode="gray">
          <a:xfrm>
            <a:off x="1829394" y="3874526"/>
            <a:ext cx="823016" cy="171975"/>
          </a:xfrm>
          <a:prstGeom prst="rect">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00" b="1">
                <a:solidFill>
                  <a:schemeClr val="bg1"/>
                </a:solidFill>
                <a:latin typeface="Meiryo UI" panose="020B0604030504040204" pitchFamily="50" charset="-128"/>
                <a:ea typeface="Meiryo UI" panose="020B0604030504040204" pitchFamily="50" charset="-128"/>
              </a:rPr>
              <a:t>ETL</a:t>
            </a:r>
            <a:r>
              <a:rPr kumimoji="1" lang="ja-JP" altLang="en-US" sz="1000" b="1">
                <a:solidFill>
                  <a:schemeClr val="bg1"/>
                </a:solidFill>
                <a:latin typeface="Meiryo UI" panose="020B0604030504040204" pitchFamily="50" charset="-128"/>
                <a:ea typeface="Meiryo UI" panose="020B0604030504040204" pitchFamily="50" charset="-128"/>
              </a:rPr>
              <a:t>ツール</a:t>
            </a:r>
          </a:p>
        </p:txBody>
      </p:sp>
      <p:sp>
        <p:nvSpPr>
          <p:cNvPr id="38" name="正方形/長方形 37">
            <a:extLst>
              <a:ext uri="{FF2B5EF4-FFF2-40B4-BE49-F238E27FC236}">
                <a16:creationId xmlns:a16="http://schemas.microsoft.com/office/drawing/2014/main" id="{CE3E9782-1638-D1D5-9EF2-FCEF203DD33A}"/>
              </a:ext>
            </a:extLst>
          </p:cNvPr>
          <p:cNvSpPr/>
          <p:nvPr/>
        </p:nvSpPr>
        <p:spPr bwMode="gray">
          <a:xfrm>
            <a:off x="1757394" y="5399910"/>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39" name="正方形/長方形 38">
            <a:extLst>
              <a:ext uri="{FF2B5EF4-FFF2-40B4-BE49-F238E27FC236}">
                <a16:creationId xmlns:a16="http://schemas.microsoft.com/office/drawing/2014/main" id="{07377FF3-E8A1-D654-D75A-1297B79F60A5}"/>
              </a:ext>
            </a:extLst>
          </p:cNvPr>
          <p:cNvSpPr/>
          <p:nvPr/>
        </p:nvSpPr>
        <p:spPr bwMode="gray">
          <a:xfrm>
            <a:off x="2150402" y="4315777"/>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A6FCBC8B-F86D-C43C-8B2B-5351FA1FAF89}"/>
              </a:ext>
            </a:extLst>
          </p:cNvPr>
          <p:cNvSpPr/>
          <p:nvPr/>
        </p:nvSpPr>
        <p:spPr bwMode="gray">
          <a:xfrm>
            <a:off x="2150402" y="4818130"/>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9AAB93B5-0305-1605-E764-3374C119889C}"/>
              </a:ext>
            </a:extLst>
          </p:cNvPr>
          <p:cNvSpPr/>
          <p:nvPr/>
        </p:nvSpPr>
        <p:spPr bwMode="gray">
          <a:xfrm>
            <a:off x="1757394" y="5637519"/>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42" name="正方形/長方形 41">
            <a:extLst>
              <a:ext uri="{FF2B5EF4-FFF2-40B4-BE49-F238E27FC236}">
                <a16:creationId xmlns:a16="http://schemas.microsoft.com/office/drawing/2014/main" id="{2E134009-72A2-C58C-4531-D7B6A9981FEC}"/>
              </a:ext>
            </a:extLst>
          </p:cNvPr>
          <p:cNvSpPr/>
          <p:nvPr/>
        </p:nvSpPr>
        <p:spPr bwMode="gray">
          <a:xfrm>
            <a:off x="1757394" y="5875128"/>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43" name="正方形/長方形 42">
            <a:extLst>
              <a:ext uri="{FF2B5EF4-FFF2-40B4-BE49-F238E27FC236}">
                <a16:creationId xmlns:a16="http://schemas.microsoft.com/office/drawing/2014/main" id="{82053B3A-9787-0A7A-03A2-24F9BF7A7CB5}"/>
              </a:ext>
            </a:extLst>
          </p:cNvPr>
          <p:cNvSpPr/>
          <p:nvPr/>
        </p:nvSpPr>
        <p:spPr bwMode="gray">
          <a:xfrm>
            <a:off x="1757394" y="6112738"/>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44" name="正方形/長方形 43">
            <a:extLst>
              <a:ext uri="{FF2B5EF4-FFF2-40B4-BE49-F238E27FC236}">
                <a16:creationId xmlns:a16="http://schemas.microsoft.com/office/drawing/2014/main" id="{21628045-FABD-CE85-E714-4E033B1A900F}"/>
              </a:ext>
            </a:extLst>
          </p:cNvPr>
          <p:cNvSpPr/>
          <p:nvPr/>
        </p:nvSpPr>
        <p:spPr bwMode="gray">
          <a:xfrm>
            <a:off x="2150402" y="5319522"/>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6443EB34-AA7A-830B-E450-5B210BC0E498}"/>
              </a:ext>
            </a:extLst>
          </p:cNvPr>
          <p:cNvSpPr/>
          <p:nvPr/>
        </p:nvSpPr>
        <p:spPr bwMode="gray">
          <a:xfrm>
            <a:off x="2487543" y="4565052"/>
            <a:ext cx="144000" cy="144000"/>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46" name="正方形/長方形 45">
            <a:extLst>
              <a:ext uri="{FF2B5EF4-FFF2-40B4-BE49-F238E27FC236}">
                <a16:creationId xmlns:a16="http://schemas.microsoft.com/office/drawing/2014/main" id="{2515F31F-AFF2-DE52-C117-6FB270EBDCE0}"/>
              </a:ext>
            </a:extLst>
          </p:cNvPr>
          <p:cNvSpPr/>
          <p:nvPr/>
        </p:nvSpPr>
        <p:spPr bwMode="gray">
          <a:xfrm>
            <a:off x="2487543" y="5722219"/>
            <a:ext cx="144000" cy="144000"/>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47" name="正方形/長方形 46">
            <a:extLst>
              <a:ext uri="{FF2B5EF4-FFF2-40B4-BE49-F238E27FC236}">
                <a16:creationId xmlns:a16="http://schemas.microsoft.com/office/drawing/2014/main" id="{042291AE-CDBF-3056-F8E1-6B3B10BB344F}"/>
              </a:ext>
            </a:extLst>
          </p:cNvPr>
          <p:cNvSpPr/>
          <p:nvPr/>
        </p:nvSpPr>
        <p:spPr bwMode="gray">
          <a:xfrm>
            <a:off x="2150402" y="6112738"/>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0E3B70A6-2E2C-D0A3-F63B-0F988BC65B50}"/>
              </a:ext>
            </a:extLst>
          </p:cNvPr>
          <p:cNvSpPr/>
          <p:nvPr/>
        </p:nvSpPr>
        <p:spPr bwMode="gray">
          <a:xfrm>
            <a:off x="1757394" y="4211865"/>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49" name="正方形/長方形 48">
            <a:extLst>
              <a:ext uri="{FF2B5EF4-FFF2-40B4-BE49-F238E27FC236}">
                <a16:creationId xmlns:a16="http://schemas.microsoft.com/office/drawing/2014/main" id="{19911B87-6D18-01BD-B897-15D06B5DC391}"/>
              </a:ext>
            </a:extLst>
          </p:cNvPr>
          <p:cNvSpPr/>
          <p:nvPr/>
        </p:nvSpPr>
        <p:spPr bwMode="gray">
          <a:xfrm>
            <a:off x="2150402" y="5727883"/>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cxnSp>
        <p:nvCxnSpPr>
          <p:cNvPr id="50" name="コネクタ: カギ線 49">
            <a:extLst>
              <a:ext uri="{FF2B5EF4-FFF2-40B4-BE49-F238E27FC236}">
                <a16:creationId xmlns:a16="http://schemas.microsoft.com/office/drawing/2014/main" id="{17C83B0C-45A7-E6D7-6E77-22DE03A5B0EC}"/>
              </a:ext>
            </a:extLst>
          </p:cNvPr>
          <p:cNvCxnSpPr>
            <a:endCxn id="39" idx="1"/>
          </p:cNvCxnSpPr>
          <p:nvPr/>
        </p:nvCxnSpPr>
        <p:spPr bwMode="gray">
          <a:xfrm>
            <a:off x="1901394" y="4283865"/>
            <a:ext cx="249008" cy="103912"/>
          </a:xfrm>
          <a:prstGeom prst="bentConnector3">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コネクタ: カギ線 50">
            <a:extLst>
              <a:ext uri="{FF2B5EF4-FFF2-40B4-BE49-F238E27FC236}">
                <a16:creationId xmlns:a16="http://schemas.microsoft.com/office/drawing/2014/main" id="{2500984F-34DA-C0FA-645B-19A893C99134}"/>
              </a:ext>
            </a:extLst>
          </p:cNvPr>
          <p:cNvCxnSpPr>
            <a:cxnSpLocks/>
            <a:stCxn id="33" idx="3"/>
            <a:endCxn id="39" idx="1"/>
          </p:cNvCxnSpPr>
          <p:nvPr/>
        </p:nvCxnSpPr>
        <p:spPr bwMode="gray">
          <a:xfrm flipV="1">
            <a:off x="1901394" y="4387777"/>
            <a:ext cx="249008" cy="133697"/>
          </a:xfrm>
          <a:prstGeom prst="bentConnector3">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コネクタ: カギ線 51">
            <a:extLst>
              <a:ext uri="{FF2B5EF4-FFF2-40B4-BE49-F238E27FC236}">
                <a16:creationId xmlns:a16="http://schemas.microsoft.com/office/drawing/2014/main" id="{97B41520-EDBA-7F9C-0D4A-663343C22EC0}"/>
              </a:ext>
            </a:extLst>
          </p:cNvPr>
          <p:cNvCxnSpPr>
            <a:cxnSpLocks/>
            <a:stCxn id="34" idx="3"/>
            <a:endCxn id="40" idx="1"/>
          </p:cNvCxnSpPr>
          <p:nvPr/>
        </p:nvCxnSpPr>
        <p:spPr bwMode="gray">
          <a:xfrm>
            <a:off x="1901394" y="4759083"/>
            <a:ext cx="249008" cy="131047"/>
          </a:xfrm>
          <a:prstGeom prst="bentConnector3">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051FF8E0-65A3-FEE9-52E0-A1CEBDB64AA2}"/>
              </a:ext>
            </a:extLst>
          </p:cNvPr>
          <p:cNvCxnSpPr>
            <a:cxnSpLocks/>
            <a:stCxn id="35" idx="3"/>
            <a:endCxn id="40" idx="1"/>
          </p:cNvCxnSpPr>
          <p:nvPr/>
        </p:nvCxnSpPr>
        <p:spPr bwMode="gray">
          <a:xfrm flipV="1">
            <a:off x="1901394" y="4890130"/>
            <a:ext cx="249008" cy="106562"/>
          </a:xfrm>
          <a:prstGeom prst="bentConnector3">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16BDBA8-A6B6-FA30-2892-2CF45A6773F5}"/>
              </a:ext>
            </a:extLst>
          </p:cNvPr>
          <p:cNvCxnSpPr>
            <a:cxnSpLocks/>
            <a:stCxn id="36" idx="3"/>
            <a:endCxn id="44" idx="1"/>
          </p:cNvCxnSpPr>
          <p:nvPr/>
        </p:nvCxnSpPr>
        <p:spPr bwMode="gray">
          <a:xfrm>
            <a:off x="1901394" y="5234301"/>
            <a:ext cx="249008" cy="157221"/>
          </a:xfrm>
          <a:prstGeom prst="bentConnector3">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52265691-2230-849A-5C26-A6E334E12B92}"/>
              </a:ext>
            </a:extLst>
          </p:cNvPr>
          <p:cNvCxnSpPr>
            <a:cxnSpLocks/>
            <a:stCxn id="38" idx="3"/>
            <a:endCxn id="44" idx="1"/>
          </p:cNvCxnSpPr>
          <p:nvPr/>
        </p:nvCxnSpPr>
        <p:spPr bwMode="gray">
          <a:xfrm flipV="1">
            <a:off x="1901394" y="5391522"/>
            <a:ext cx="249008" cy="80388"/>
          </a:xfrm>
          <a:prstGeom prst="bentConnector3">
            <a:avLst>
              <a:gd name="adj1" fmla="val 50000"/>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B62E54E6-0A53-A3B1-8271-A1AA9E522AD7}"/>
              </a:ext>
            </a:extLst>
          </p:cNvPr>
          <p:cNvCxnSpPr>
            <a:cxnSpLocks/>
            <a:stCxn id="41" idx="3"/>
            <a:endCxn id="49" idx="1"/>
          </p:cNvCxnSpPr>
          <p:nvPr/>
        </p:nvCxnSpPr>
        <p:spPr bwMode="gray">
          <a:xfrm>
            <a:off x="1901394" y="5709519"/>
            <a:ext cx="249008" cy="90364"/>
          </a:xfrm>
          <a:prstGeom prst="bentConnector3">
            <a:avLst>
              <a:gd name="adj1" fmla="val 50000"/>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95791DB6-A5DE-58AF-2C2D-7C99F1DD9E75}"/>
              </a:ext>
            </a:extLst>
          </p:cNvPr>
          <p:cNvCxnSpPr>
            <a:cxnSpLocks/>
            <a:endCxn id="49" idx="1"/>
          </p:cNvCxnSpPr>
          <p:nvPr/>
        </p:nvCxnSpPr>
        <p:spPr bwMode="gray">
          <a:xfrm flipV="1">
            <a:off x="1901394" y="5799883"/>
            <a:ext cx="249008" cy="130689"/>
          </a:xfrm>
          <a:prstGeom prst="bentConnector3">
            <a:avLst>
              <a:gd name="adj1" fmla="val 50000"/>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07DABD5A-223C-BBE8-DD07-DFBAD9AFDBD0}"/>
              </a:ext>
            </a:extLst>
          </p:cNvPr>
          <p:cNvCxnSpPr>
            <a:cxnSpLocks/>
            <a:stCxn id="43" idx="3"/>
            <a:endCxn id="47" idx="1"/>
          </p:cNvCxnSpPr>
          <p:nvPr/>
        </p:nvCxnSpPr>
        <p:spPr bwMode="gray">
          <a:xfrm>
            <a:off x="1901394" y="6184738"/>
            <a:ext cx="249008" cy="0"/>
          </a:xfrm>
          <a:prstGeom prst="bentConnector3">
            <a:avLst>
              <a:gd name="adj1" fmla="val 50000"/>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コネクタ: カギ線 58">
            <a:extLst>
              <a:ext uri="{FF2B5EF4-FFF2-40B4-BE49-F238E27FC236}">
                <a16:creationId xmlns:a16="http://schemas.microsoft.com/office/drawing/2014/main" id="{EAF75F30-D52F-C5C7-8DC9-8015DD1D6CEE}"/>
              </a:ext>
            </a:extLst>
          </p:cNvPr>
          <p:cNvCxnSpPr>
            <a:cxnSpLocks/>
            <a:stCxn id="39" idx="3"/>
            <a:endCxn id="45" idx="1"/>
          </p:cNvCxnSpPr>
          <p:nvPr/>
        </p:nvCxnSpPr>
        <p:spPr bwMode="gray">
          <a:xfrm>
            <a:off x="2294402" y="4387777"/>
            <a:ext cx="193141" cy="249275"/>
          </a:xfrm>
          <a:prstGeom prst="bentConnector3">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コネクタ: カギ線 59">
            <a:extLst>
              <a:ext uri="{FF2B5EF4-FFF2-40B4-BE49-F238E27FC236}">
                <a16:creationId xmlns:a16="http://schemas.microsoft.com/office/drawing/2014/main" id="{C480F550-7D0B-D2FF-2F90-FEB5A23833B0}"/>
              </a:ext>
            </a:extLst>
          </p:cNvPr>
          <p:cNvCxnSpPr>
            <a:cxnSpLocks/>
            <a:stCxn id="40" idx="3"/>
            <a:endCxn id="45" idx="1"/>
          </p:cNvCxnSpPr>
          <p:nvPr/>
        </p:nvCxnSpPr>
        <p:spPr bwMode="gray">
          <a:xfrm flipV="1">
            <a:off x="2294402" y="4637052"/>
            <a:ext cx="193141" cy="253078"/>
          </a:xfrm>
          <a:prstGeom prst="bentConnector3">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コネクタ: カギ線 60">
            <a:extLst>
              <a:ext uri="{FF2B5EF4-FFF2-40B4-BE49-F238E27FC236}">
                <a16:creationId xmlns:a16="http://schemas.microsoft.com/office/drawing/2014/main" id="{A001FB88-F961-7C2D-030F-F6D1B097089E}"/>
              </a:ext>
            </a:extLst>
          </p:cNvPr>
          <p:cNvCxnSpPr>
            <a:cxnSpLocks/>
            <a:stCxn id="44" idx="3"/>
            <a:endCxn id="46" idx="1"/>
          </p:cNvCxnSpPr>
          <p:nvPr/>
        </p:nvCxnSpPr>
        <p:spPr bwMode="gray">
          <a:xfrm>
            <a:off x="2294402" y="5391522"/>
            <a:ext cx="193141" cy="402697"/>
          </a:xfrm>
          <a:prstGeom prst="bentConnector3">
            <a:avLst>
              <a:gd name="adj1" fmla="val 50000"/>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8C3417F0-AC75-8BCB-BD4E-172CD7ABFAA3}"/>
              </a:ext>
            </a:extLst>
          </p:cNvPr>
          <p:cNvCxnSpPr>
            <a:cxnSpLocks/>
            <a:stCxn id="49" idx="3"/>
            <a:endCxn id="46" idx="1"/>
          </p:cNvCxnSpPr>
          <p:nvPr/>
        </p:nvCxnSpPr>
        <p:spPr bwMode="gray">
          <a:xfrm flipV="1">
            <a:off x="2294402" y="5794219"/>
            <a:ext cx="193141" cy="5664"/>
          </a:xfrm>
          <a:prstGeom prst="bentConnector3">
            <a:avLst>
              <a:gd name="adj1" fmla="val 50000"/>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3A4AF2D6-0B1C-7B51-2D72-6625BDF8B57A}"/>
              </a:ext>
            </a:extLst>
          </p:cNvPr>
          <p:cNvCxnSpPr>
            <a:cxnSpLocks/>
            <a:stCxn id="47" idx="3"/>
            <a:endCxn id="46" idx="1"/>
          </p:cNvCxnSpPr>
          <p:nvPr/>
        </p:nvCxnSpPr>
        <p:spPr bwMode="gray">
          <a:xfrm flipV="1">
            <a:off x="2294402" y="5794219"/>
            <a:ext cx="193141" cy="390519"/>
          </a:xfrm>
          <a:prstGeom prst="bentConnector3">
            <a:avLst>
              <a:gd name="adj1" fmla="val 50000"/>
            </a:avLst>
          </a:prstGeom>
          <a:ln w="952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4" name="正方形/長方形 63">
            <a:extLst>
              <a:ext uri="{FF2B5EF4-FFF2-40B4-BE49-F238E27FC236}">
                <a16:creationId xmlns:a16="http://schemas.microsoft.com/office/drawing/2014/main" id="{DF35C220-546F-21E6-CBED-15DD6D3E4EBA}"/>
              </a:ext>
            </a:extLst>
          </p:cNvPr>
          <p:cNvSpPr/>
          <p:nvPr/>
        </p:nvSpPr>
        <p:spPr bwMode="gray">
          <a:xfrm>
            <a:off x="3408139" y="4278288"/>
            <a:ext cx="144000" cy="144000"/>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65" name="正方形/長方形 64">
            <a:extLst>
              <a:ext uri="{FF2B5EF4-FFF2-40B4-BE49-F238E27FC236}">
                <a16:creationId xmlns:a16="http://schemas.microsoft.com/office/drawing/2014/main" id="{3F33AF9A-7997-4B23-E9A5-093A10290541}"/>
              </a:ext>
            </a:extLst>
          </p:cNvPr>
          <p:cNvSpPr/>
          <p:nvPr/>
        </p:nvSpPr>
        <p:spPr bwMode="gray">
          <a:xfrm>
            <a:off x="3408139" y="4536408"/>
            <a:ext cx="144000" cy="144000"/>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66" name="正方形/長方形 65">
            <a:extLst>
              <a:ext uri="{FF2B5EF4-FFF2-40B4-BE49-F238E27FC236}">
                <a16:creationId xmlns:a16="http://schemas.microsoft.com/office/drawing/2014/main" id="{4D32DC0C-9098-4C41-C847-0D195A04E46F}"/>
              </a:ext>
            </a:extLst>
          </p:cNvPr>
          <p:cNvSpPr/>
          <p:nvPr/>
        </p:nvSpPr>
        <p:spPr bwMode="gray">
          <a:xfrm>
            <a:off x="3408139" y="4780692"/>
            <a:ext cx="144000" cy="144000"/>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67" name="正方形/長方形 66">
            <a:extLst>
              <a:ext uri="{FF2B5EF4-FFF2-40B4-BE49-F238E27FC236}">
                <a16:creationId xmlns:a16="http://schemas.microsoft.com/office/drawing/2014/main" id="{9688E87A-7730-50D8-27BC-07C70C2FEEC8}"/>
              </a:ext>
            </a:extLst>
          </p:cNvPr>
          <p:cNvSpPr/>
          <p:nvPr/>
        </p:nvSpPr>
        <p:spPr bwMode="gray">
          <a:xfrm>
            <a:off x="3414110" y="5399853"/>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B39CC65E-B424-1F18-BB1E-C398D970CD44}"/>
              </a:ext>
            </a:extLst>
          </p:cNvPr>
          <p:cNvSpPr/>
          <p:nvPr/>
        </p:nvSpPr>
        <p:spPr bwMode="gray">
          <a:xfrm>
            <a:off x="3414110" y="5711619"/>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B68D52B4-780A-1EAC-C8F8-722D83CD0C57}"/>
              </a:ext>
            </a:extLst>
          </p:cNvPr>
          <p:cNvSpPr/>
          <p:nvPr/>
        </p:nvSpPr>
        <p:spPr bwMode="gray">
          <a:xfrm>
            <a:off x="3414110" y="6040738"/>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F452EC33-A612-72E9-2029-012400C62838}"/>
              </a:ext>
            </a:extLst>
          </p:cNvPr>
          <p:cNvSpPr/>
          <p:nvPr/>
        </p:nvSpPr>
        <p:spPr bwMode="gray">
          <a:xfrm>
            <a:off x="3124539" y="3841863"/>
            <a:ext cx="713336" cy="180000"/>
          </a:xfrm>
          <a:prstGeom prst="rect">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FTP</a:t>
            </a:r>
            <a:r>
              <a:rPr kumimoji="1" lang="ja-JP" altLang="en-US" sz="10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サーバ等</a:t>
            </a:r>
          </a:p>
        </p:txBody>
      </p:sp>
      <p:sp>
        <p:nvSpPr>
          <p:cNvPr id="71" name="正方形/長方形 70">
            <a:extLst>
              <a:ext uri="{FF2B5EF4-FFF2-40B4-BE49-F238E27FC236}">
                <a16:creationId xmlns:a16="http://schemas.microsoft.com/office/drawing/2014/main" id="{4D7C770C-1221-E6E3-63E0-6E278B9DE5DB}"/>
              </a:ext>
            </a:extLst>
          </p:cNvPr>
          <p:cNvSpPr/>
          <p:nvPr/>
        </p:nvSpPr>
        <p:spPr bwMode="gray">
          <a:xfrm>
            <a:off x="3124539" y="5162301"/>
            <a:ext cx="713336" cy="180000"/>
          </a:xfrm>
          <a:prstGeom prst="rect">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FTP</a:t>
            </a:r>
            <a:r>
              <a:rPr kumimoji="1" lang="ja-JP" altLang="en-US" sz="10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サーバ等</a:t>
            </a:r>
          </a:p>
        </p:txBody>
      </p:sp>
      <p:pic>
        <p:nvPicPr>
          <p:cNvPr id="72" name="Picture 185">
            <a:extLst>
              <a:ext uri="{FF2B5EF4-FFF2-40B4-BE49-F238E27FC236}">
                <a16:creationId xmlns:a16="http://schemas.microsoft.com/office/drawing/2014/main" id="{011F55E3-2566-B347-3ADB-9C217D02809E}"/>
              </a:ext>
            </a:extLst>
          </p:cNvPr>
          <p:cNvPicPr>
            <a:picLocks noChangeAspect="1"/>
          </p:cNvPicPr>
          <p:nvPr/>
        </p:nvPicPr>
        <p:blipFill>
          <a:blip r:embed="rId2" cstate="screen">
            <a:alphaModFix amt="40000"/>
            <a:extLst>
              <a:ext uri="{28A0092B-C50C-407E-A947-70E740481C1C}">
                <a14:useLocalDpi xmlns:a14="http://schemas.microsoft.com/office/drawing/2010/main"/>
              </a:ext>
            </a:extLst>
          </a:blip>
          <a:stretch>
            <a:fillRect/>
          </a:stretch>
        </p:blipFill>
        <p:spPr>
          <a:xfrm>
            <a:off x="4958371" y="5556422"/>
            <a:ext cx="626381" cy="606157"/>
          </a:xfrm>
          <a:prstGeom prst="rect">
            <a:avLst/>
          </a:prstGeom>
        </p:spPr>
      </p:pic>
      <p:sp>
        <p:nvSpPr>
          <p:cNvPr id="73" name="正方形/長方形 72">
            <a:extLst>
              <a:ext uri="{FF2B5EF4-FFF2-40B4-BE49-F238E27FC236}">
                <a16:creationId xmlns:a16="http://schemas.microsoft.com/office/drawing/2014/main" id="{68BB3BEC-34D0-FCF3-EC6F-6DEABF250689}"/>
              </a:ext>
            </a:extLst>
          </p:cNvPr>
          <p:cNvSpPr/>
          <p:nvPr/>
        </p:nvSpPr>
        <p:spPr bwMode="gray">
          <a:xfrm>
            <a:off x="5935921" y="5157611"/>
            <a:ext cx="1006305" cy="180000"/>
          </a:xfrm>
          <a:prstGeom prst="rect">
            <a:avLst/>
          </a:prstGeom>
          <a:solidFill>
            <a:schemeClr val="accent3"/>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50">
                <a:solidFill>
                  <a:schemeClr val="bg1"/>
                </a:solidFill>
                <a:latin typeface="Meiryo UI" panose="020B0604030504040204" pitchFamily="50" charset="-128"/>
                <a:ea typeface="Meiryo UI" panose="020B0604030504040204" pitchFamily="50" charset="-128"/>
              </a:rPr>
              <a:t>GXL</a:t>
            </a:r>
            <a:r>
              <a:rPr kumimoji="1" lang="ja-JP" altLang="en-US" sz="1050">
                <a:solidFill>
                  <a:schemeClr val="bg1"/>
                </a:solidFill>
                <a:latin typeface="Meiryo UI" panose="020B0604030504040204" pitchFamily="50" charset="-128"/>
                <a:ea typeface="Meiryo UI" panose="020B0604030504040204" pitchFamily="50" charset="-128"/>
              </a:rPr>
              <a:t>用公式</a:t>
            </a:r>
            <a:r>
              <a:rPr kumimoji="1" lang="en-US" altLang="ja-JP" sz="1050">
                <a:solidFill>
                  <a:schemeClr val="bg1"/>
                </a:solidFill>
                <a:latin typeface="Meiryo UI" panose="020B0604030504040204" pitchFamily="50" charset="-128"/>
                <a:ea typeface="Meiryo UI" panose="020B0604030504040204" pitchFamily="50" charset="-128"/>
              </a:rPr>
              <a:t>Excel</a:t>
            </a:r>
            <a:endParaRPr kumimoji="1" lang="ja-JP" altLang="en-US" sz="105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0065B4EA-34A7-5EC8-DC26-784A91768367}"/>
              </a:ext>
            </a:extLst>
          </p:cNvPr>
          <p:cNvSpPr/>
          <p:nvPr/>
        </p:nvSpPr>
        <p:spPr bwMode="gray">
          <a:xfrm>
            <a:off x="4379458" y="3053608"/>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a:t>
            </a:r>
          </a:p>
        </p:txBody>
      </p:sp>
      <p:sp>
        <p:nvSpPr>
          <p:cNvPr id="75" name="正方形/長方形 74">
            <a:extLst>
              <a:ext uri="{FF2B5EF4-FFF2-40B4-BE49-F238E27FC236}">
                <a16:creationId xmlns:a16="http://schemas.microsoft.com/office/drawing/2014/main" id="{2D4C7C11-60DF-EE71-6764-91335591AC5C}"/>
              </a:ext>
            </a:extLst>
          </p:cNvPr>
          <p:cNvSpPr/>
          <p:nvPr/>
        </p:nvSpPr>
        <p:spPr bwMode="gray">
          <a:xfrm>
            <a:off x="4379458" y="3447958"/>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a:t>
            </a:r>
          </a:p>
        </p:txBody>
      </p:sp>
      <p:sp>
        <p:nvSpPr>
          <p:cNvPr id="76" name="四角形: 角を丸くする 75">
            <a:extLst>
              <a:ext uri="{FF2B5EF4-FFF2-40B4-BE49-F238E27FC236}">
                <a16:creationId xmlns:a16="http://schemas.microsoft.com/office/drawing/2014/main" id="{CCFB8050-FC32-2E96-4742-D3FB6EA0C89A}"/>
              </a:ext>
            </a:extLst>
          </p:cNvPr>
          <p:cNvSpPr/>
          <p:nvPr/>
        </p:nvSpPr>
        <p:spPr bwMode="gray">
          <a:xfrm>
            <a:off x="5503199" y="2951324"/>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温対法係数</a:t>
            </a:r>
          </a:p>
        </p:txBody>
      </p:sp>
      <p:sp>
        <p:nvSpPr>
          <p:cNvPr id="77" name="四角形: 角を丸くする 76">
            <a:extLst>
              <a:ext uri="{FF2B5EF4-FFF2-40B4-BE49-F238E27FC236}">
                <a16:creationId xmlns:a16="http://schemas.microsoft.com/office/drawing/2014/main" id="{DF1D7B79-E6ED-A42D-420D-D86F43893431}"/>
              </a:ext>
            </a:extLst>
          </p:cNvPr>
          <p:cNvSpPr/>
          <p:nvPr/>
        </p:nvSpPr>
        <p:spPr bwMode="gray">
          <a:xfrm>
            <a:off x="5503199" y="3155892"/>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5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SSBJ</a:t>
            </a:r>
            <a:r>
              <a:rPr kumimoji="1" lang="ja-JP" altLang="en-US" sz="105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係数</a:t>
            </a:r>
          </a:p>
        </p:txBody>
      </p:sp>
      <p:cxnSp>
        <p:nvCxnSpPr>
          <p:cNvPr id="78" name="コネクタ: カギ線 77">
            <a:extLst>
              <a:ext uri="{FF2B5EF4-FFF2-40B4-BE49-F238E27FC236}">
                <a16:creationId xmlns:a16="http://schemas.microsoft.com/office/drawing/2014/main" id="{0B6F74DE-8D16-DE73-4561-7AEF7913A4CF}"/>
              </a:ext>
            </a:extLst>
          </p:cNvPr>
          <p:cNvCxnSpPr>
            <a:cxnSpLocks/>
            <a:stCxn id="74" idx="3"/>
            <a:endCxn id="76" idx="1"/>
          </p:cNvCxnSpPr>
          <p:nvPr/>
        </p:nvCxnSpPr>
        <p:spPr bwMode="gray">
          <a:xfrm flipV="1">
            <a:off x="4523458" y="3023324"/>
            <a:ext cx="979741" cy="102284"/>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D54A96C1-7508-E092-5BDB-6E68C61EB69A}"/>
              </a:ext>
            </a:extLst>
          </p:cNvPr>
          <p:cNvCxnSpPr>
            <a:cxnSpLocks/>
            <a:stCxn id="74" idx="3"/>
          </p:cNvCxnSpPr>
          <p:nvPr/>
        </p:nvCxnSpPr>
        <p:spPr bwMode="gray">
          <a:xfrm>
            <a:off x="4523458" y="3125608"/>
            <a:ext cx="979741" cy="98460"/>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424AAC03-109A-0C9D-30FA-954200C0DF19}"/>
              </a:ext>
            </a:extLst>
          </p:cNvPr>
          <p:cNvSpPr/>
          <p:nvPr/>
        </p:nvSpPr>
        <p:spPr bwMode="gray">
          <a:xfrm>
            <a:off x="4190596" y="3908709"/>
            <a:ext cx="1044000" cy="1008000"/>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手入力分</a:t>
            </a:r>
          </a:p>
        </p:txBody>
      </p:sp>
      <p:sp>
        <p:nvSpPr>
          <p:cNvPr id="81" name="正方形/長方形 80">
            <a:extLst>
              <a:ext uri="{FF2B5EF4-FFF2-40B4-BE49-F238E27FC236}">
                <a16:creationId xmlns:a16="http://schemas.microsoft.com/office/drawing/2014/main" id="{87CC745E-178D-4FBC-64FE-D5E015AA1486}"/>
              </a:ext>
            </a:extLst>
          </p:cNvPr>
          <p:cNvSpPr/>
          <p:nvPr/>
        </p:nvSpPr>
        <p:spPr bwMode="gray">
          <a:xfrm>
            <a:off x="4379458" y="4457284"/>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環</a:t>
            </a:r>
          </a:p>
        </p:txBody>
      </p:sp>
      <p:sp>
        <p:nvSpPr>
          <p:cNvPr id="82" name="正方形/長方形 81">
            <a:extLst>
              <a:ext uri="{FF2B5EF4-FFF2-40B4-BE49-F238E27FC236}">
                <a16:creationId xmlns:a16="http://schemas.microsoft.com/office/drawing/2014/main" id="{B602D875-3589-8128-5B53-7673242249DE}"/>
              </a:ext>
            </a:extLst>
          </p:cNvPr>
          <p:cNvSpPr/>
          <p:nvPr/>
        </p:nvSpPr>
        <p:spPr bwMode="gray">
          <a:xfrm>
            <a:off x="4379458" y="4650344"/>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人</a:t>
            </a:r>
          </a:p>
        </p:txBody>
      </p:sp>
      <p:sp>
        <p:nvSpPr>
          <p:cNvPr id="83" name="正方形/長方形 82">
            <a:extLst>
              <a:ext uri="{FF2B5EF4-FFF2-40B4-BE49-F238E27FC236}">
                <a16:creationId xmlns:a16="http://schemas.microsoft.com/office/drawing/2014/main" id="{A2617BEF-FFB2-E037-7F6D-212FC100D213}"/>
              </a:ext>
            </a:extLst>
          </p:cNvPr>
          <p:cNvSpPr/>
          <p:nvPr/>
        </p:nvSpPr>
        <p:spPr bwMode="gray">
          <a:xfrm>
            <a:off x="4379458" y="4120498"/>
            <a:ext cx="144000" cy="144000"/>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a:t>
            </a:r>
          </a:p>
        </p:txBody>
      </p:sp>
      <p:sp>
        <p:nvSpPr>
          <p:cNvPr id="84" name="四角形: 角を丸くする 83">
            <a:extLst>
              <a:ext uri="{FF2B5EF4-FFF2-40B4-BE49-F238E27FC236}">
                <a16:creationId xmlns:a16="http://schemas.microsoft.com/office/drawing/2014/main" id="{72AEA5F8-FCAC-7111-2900-7EE732504F50}"/>
              </a:ext>
            </a:extLst>
          </p:cNvPr>
          <p:cNvSpPr/>
          <p:nvPr/>
        </p:nvSpPr>
        <p:spPr bwMode="gray">
          <a:xfrm>
            <a:off x="5503199" y="3345674"/>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温対法係数</a:t>
            </a:r>
          </a:p>
        </p:txBody>
      </p:sp>
      <p:sp>
        <p:nvSpPr>
          <p:cNvPr id="85" name="四角形: 角を丸くする 84">
            <a:extLst>
              <a:ext uri="{FF2B5EF4-FFF2-40B4-BE49-F238E27FC236}">
                <a16:creationId xmlns:a16="http://schemas.microsoft.com/office/drawing/2014/main" id="{0C01C234-D072-2DDA-6101-7B7A6AFB28D7}"/>
              </a:ext>
            </a:extLst>
          </p:cNvPr>
          <p:cNvSpPr/>
          <p:nvPr/>
        </p:nvSpPr>
        <p:spPr bwMode="gray">
          <a:xfrm>
            <a:off x="5503199" y="3550242"/>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5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SSBJ</a:t>
            </a:r>
            <a:r>
              <a:rPr kumimoji="1" lang="ja-JP" altLang="en-US" sz="105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係数</a:t>
            </a:r>
          </a:p>
        </p:txBody>
      </p:sp>
      <p:cxnSp>
        <p:nvCxnSpPr>
          <p:cNvPr id="86" name="コネクタ: カギ線 85">
            <a:extLst>
              <a:ext uri="{FF2B5EF4-FFF2-40B4-BE49-F238E27FC236}">
                <a16:creationId xmlns:a16="http://schemas.microsoft.com/office/drawing/2014/main" id="{B9F04F39-5D89-F9DC-865B-D5D250858777}"/>
              </a:ext>
            </a:extLst>
          </p:cNvPr>
          <p:cNvCxnSpPr>
            <a:cxnSpLocks/>
            <a:stCxn id="75" idx="3"/>
            <a:endCxn id="84" idx="1"/>
          </p:cNvCxnSpPr>
          <p:nvPr/>
        </p:nvCxnSpPr>
        <p:spPr bwMode="gray">
          <a:xfrm flipV="1">
            <a:off x="4523458" y="3417674"/>
            <a:ext cx="979741" cy="102284"/>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2AF8182A-487D-6120-72E2-1CFB7BB33942}"/>
              </a:ext>
            </a:extLst>
          </p:cNvPr>
          <p:cNvCxnSpPr>
            <a:cxnSpLocks/>
            <a:stCxn id="75" idx="3"/>
          </p:cNvCxnSpPr>
          <p:nvPr/>
        </p:nvCxnSpPr>
        <p:spPr bwMode="gray">
          <a:xfrm>
            <a:off x="4523458" y="3519958"/>
            <a:ext cx="979741" cy="98460"/>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8" name="四角形: 角を丸くする 87">
            <a:extLst>
              <a:ext uri="{FF2B5EF4-FFF2-40B4-BE49-F238E27FC236}">
                <a16:creationId xmlns:a16="http://schemas.microsoft.com/office/drawing/2014/main" id="{2A7259CC-91C5-3140-4717-A217A3585AF1}"/>
              </a:ext>
            </a:extLst>
          </p:cNvPr>
          <p:cNvSpPr/>
          <p:nvPr/>
        </p:nvSpPr>
        <p:spPr bwMode="gray">
          <a:xfrm>
            <a:off x="5503199" y="3792860"/>
            <a:ext cx="900000" cy="144000"/>
          </a:xfrm>
          <a:prstGeom prst="round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共通係数</a:t>
            </a:r>
          </a:p>
        </p:txBody>
      </p:sp>
      <p:cxnSp>
        <p:nvCxnSpPr>
          <p:cNvPr id="89" name="コネクタ: カギ線 88">
            <a:extLst>
              <a:ext uri="{FF2B5EF4-FFF2-40B4-BE49-F238E27FC236}">
                <a16:creationId xmlns:a16="http://schemas.microsoft.com/office/drawing/2014/main" id="{9EBBD2C4-8113-C3FD-884B-8DDA4A8F99CB}"/>
              </a:ext>
            </a:extLst>
          </p:cNvPr>
          <p:cNvCxnSpPr>
            <a:cxnSpLocks/>
            <a:stCxn id="83" idx="3"/>
            <a:endCxn id="88" idx="1"/>
          </p:cNvCxnSpPr>
          <p:nvPr/>
        </p:nvCxnSpPr>
        <p:spPr bwMode="gray">
          <a:xfrm flipV="1">
            <a:off x="4523458" y="3864860"/>
            <a:ext cx="979741" cy="327638"/>
          </a:xfrm>
          <a:prstGeom prst="bentConnector3">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0" name="正方形/長方形 89">
            <a:extLst>
              <a:ext uri="{FF2B5EF4-FFF2-40B4-BE49-F238E27FC236}">
                <a16:creationId xmlns:a16="http://schemas.microsoft.com/office/drawing/2014/main" id="{073BBDF0-E5E4-6E80-B3DF-D515E5F83C82}"/>
              </a:ext>
            </a:extLst>
          </p:cNvPr>
          <p:cNvSpPr/>
          <p:nvPr/>
        </p:nvSpPr>
        <p:spPr bwMode="gray">
          <a:xfrm>
            <a:off x="6644896" y="2886452"/>
            <a:ext cx="1044000" cy="417744"/>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拠点・組織別集計</a:t>
            </a:r>
          </a:p>
        </p:txBody>
      </p:sp>
      <p:sp>
        <p:nvSpPr>
          <p:cNvPr id="91" name="正方形/長方形 90">
            <a:extLst>
              <a:ext uri="{FF2B5EF4-FFF2-40B4-BE49-F238E27FC236}">
                <a16:creationId xmlns:a16="http://schemas.microsoft.com/office/drawing/2014/main" id="{45B17076-0212-5A43-2718-26CA46667FBE}"/>
              </a:ext>
            </a:extLst>
          </p:cNvPr>
          <p:cNvSpPr/>
          <p:nvPr/>
        </p:nvSpPr>
        <p:spPr bwMode="gray">
          <a:xfrm>
            <a:off x="6644896" y="3531091"/>
            <a:ext cx="1044000" cy="417744"/>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a:solidFill>
                  <a:schemeClr val="bg1">
                    <a:lumMod val="85000"/>
                  </a:schemeClr>
                </a:solidFill>
                <a:latin typeface="Meiryo UI" panose="020B0604030504040204" pitchFamily="50" charset="-128"/>
                <a:ea typeface="Meiryo UI" panose="020B0604030504040204" pitchFamily="50" charset="-128"/>
              </a:rPr>
              <a:t>地域別集計</a:t>
            </a:r>
            <a:endParaRPr kumimoji="1" lang="ja-JP" altLang="en-US" sz="10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92" name="正方形/長方形 91">
            <a:extLst>
              <a:ext uri="{FF2B5EF4-FFF2-40B4-BE49-F238E27FC236}">
                <a16:creationId xmlns:a16="http://schemas.microsoft.com/office/drawing/2014/main" id="{74D3601C-A006-AD36-CFD8-D233C2469AEC}"/>
              </a:ext>
            </a:extLst>
          </p:cNvPr>
          <p:cNvSpPr/>
          <p:nvPr/>
        </p:nvSpPr>
        <p:spPr bwMode="gray">
          <a:xfrm>
            <a:off x="6644896" y="4175730"/>
            <a:ext cx="1044000" cy="417744"/>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a:solidFill>
                  <a:schemeClr val="bg1">
                    <a:lumMod val="85000"/>
                  </a:schemeClr>
                </a:solidFill>
                <a:latin typeface="Meiryo UI" panose="020B0604030504040204" pitchFamily="50" charset="-128"/>
                <a:ea typeface="Meiryo UI" panose="020B0604030504040204" pitchFamily="50" charset="-128"/>
              </a:rPr>
              <a:t>セグメント別集計</a:t>
            </a:r>
            <a:endParaRPr kumimoji="1" lang="ja-JP" altLang="en-US" sz="10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93" name="フローチャート: 磁気ディスク 92">
            <a:extLst>
              <a:ext uri="{FF2B5EF4-FFF2-40B4-BE49-F238E27FC236}">
                <a16:creationId xmlns:a16="http://schemas.microsoft.com/office/drawing/2014/main" id="{3190E989-F0DA-D8BC-5166-8E3D0A844F2B}"/>
              </a:ext>
            </a:extLst>
          </p:cNvPr>
          <p:cNvSpPr/>
          <p:nvPr/>
        </p:nvSpPr>
        <p:spPr bwMode="gray">
          <a:xfrm>
            <a:off x="5967817" y="4030027"/>
            <a:ext cx="498936" cy="324000"/>
          </a:xfrm>
          <a:prstGeom prst="flowChartMagneticDisk">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係数</a:t>
            </a:r>
            <a:br>
              <a:rPr kumimoji="1" lang="en-US" altLang="ja-JP"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マスタ</a:t>
            </a:r>
          </a:p>
        </p:txBody>
      </p:sp>
      <p:sp>
        <p:nvSpPr>
          <p:cNvPr id="94" name="フローチャート: 磁気ディスク 93">
            <a:extLst>
              <a:ext uri="{FF2B5EF4-FFF2-40B4-BE49-F238E27FC236}">
                <a16:creationId xmlns:a16="http://schemas.microsoft.com/office/drawing/2014/main" id="{C40A175B-395F-CA56-4164-8BE5F3C8241E}"/>
              </a:ext>
            </a:extLst>
          </p:cNvPr>
          <p:cNvSpPr/>
          <p:nvPr/>
        </p:nvSpPr>
        <p:spPr bwMode="gray">
          <a:xfrm>
            <a:off x="5418081" y="4030027"/>
            <a:ext cx="498936" cy="324000"/>
          </a:xfrm>
          <a:prstGeom prst="flowChartMagneticDisk">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計算式</a:t>
            </a:r>
          </a:p>
        </p:txBody>
      </p:sp>
      <p:sp>
        <p:nvSpPr>
          <p:cNvPr id="95" name="フローチャート: 複数書類 94">
            <a:extLst>
              <a:ext uri="{FF2B5EF4-FFF2-40B4-BE49-F238E27FC236}">
                <a16:creationId xmlns:a16="http://schemas.microsoft.com/office/drawing/2014/main" id="{D45ABCCE-09B4-5886-699F-E37479B0D506}"/>
              </a:ext>
            </a:extLst>
          </p:cNvPr>
          <p:cNvSpPr/>
          <p:nvPr/>
        </p:nvSpPr>
        <p:spPr bwMode="gray">
          <a:xfrm>
            <a:off x="8111035" y="2951324"/>
            <a:ext cx="678180" cy="605422"/>
          </a:xfrm>
          <a:prstGeom prst="flowChartMultidocumen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en-US" altLang="ja-JP" sz="1200">
                <a:solidFill>
                  <a:schemeClr val="bg1">
                    <a:lumMod val="85000"/>
                  </a:schemeClr>
                </a:solidFill>
                <a:latin typeface="Meiryo UI" panose="020B0604030504040204" pitchFamily="50" charset="-128"/>
                <a:ea typeface="Meiryo UI" panose="020B0604030504040204" pitchFamily="50" charset="-128"/>
              </a:rPr>
              <a:t>SSBJ</a:t>
            </a:r>
            <a:endParaRPr kumimoji="1" lang="ja-JP" altLang="en-US" sz="1200">
              <a:solidFill>
                <a:schemeClr val="bg1">
                  <a:lumMod val="85000"/>
                </a:schemeClr>
              </a:solidFill>
              <a:latin typeface="Meiryo UI" panose="020B0604030504040204" pitchFamily="50" charset="-128"/>
              <a:ea typeface="Meiryo UI" panose="020B0604030504040204" pitchFamily="50" charset="-128"/>
            </a:endParaRPr>
          </a:p>
        </p:txBody>
      </p:sp>
      <p:sp>
        <p:nvSpPr>
          <p:cNvPr id="96" name="フローチャート: 複数書類 95">
            <a:extLst>
              <a:ext uri="{FF2B5EF4-FFF2-40B4-BE49-F238E27FC236}">
                <a16:creationId xmlns:a16="http://schemas.microsoft.com/office/drawing/2014/main" id="{BB1CB187-7A49-F2B4-AA55-5A0B928578D1}"/>
              </a:ext>
            </a:extLst>
          </p:cNvPr>
          <p:cNvSpPr/>
          <p:nvPr/>
        </p:nvSpPr>
        <p:spPr bwMode="gray">
          <a:xfrm>
            <a:off x="8111035" y="4247270"/>
            <a:ext cx="678180" cy="605422"/>
          </a:xfrm>
          <a:prstGeom prst="flowChartMultidocumen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ja-JP" altLang="en-US" sz="1200">
                <a:solidFill>
                  <a:schemeClr val="bg1">
                    <a:lumMod val="85000"/>
                  </a:schemeClr>
                </a:solidFill>
                <a:latin typeface="Meiryo UI" panose="020B0604030504040204" pitchFamily="50" charset="-128"/>
                <a:ea typeface="Meiryo UI" panose="020B0604030504040204" pitchFamily="50" charset="-128"/>
              </a:rPr>
              <a:t>温対法</a:t>
            </a:r>
          </a:p>
        </p:txBody>
      </p:sp>
      <p:sp>
        <p:nvSpPr>
          <p:cNvPr id="97" name="矢印: 右 96">
            <a:extLst>
              <a:ext uri="{FF2B5EF4-FFF2-40B4-BE49-F238E27FC236}">
                <a16:creationId xmlns:a16="http://schemas.microsoft.com/office/drawing/2014/main" id="{8522BD9D-3327-8BB8-CF91-C3759A0140C9}"/>
              </a:ext>
            </a:extLst>
          </p:cNvPr>
          <p:cNvSpPr/>
          <p:nvPr/>
        </p:nvSpPr>
        <p:spPr bwMode="gray">
          <a:xfrm>
            <a:off x="1491044" y="5733513"/>
            <a:ext cx="222527" cy="14400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8" name="矢印: 右 97">
            <a:extLst>
              <a:ext uri="{FF2B5EF4-FFF2-40B4-BE49-F238E27FC236}">
                <a16:creationId xmlns:a16="http://schemas.microsoft.com/office/drawing/2014/main" id="{A86E5B39-199C-6E1C-09BD-B11BB10D2733}"/>
              </a:ext>
            </a:extLst>
          </p:cNvPr>
          <p:cNvSpPr/>
          <p:nvPr/>
        </p:nvSpPr>
        <p:spPr bwMode="gray">
          <a:xfrm>
            <a:off x="2744754" y="4464663"/>
            <a:ext cx="222527" cy="14400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9" name="矢印: 右 98">
            <a:extLst>
              <a:ext uri="{FF2B5EF4-FFF2-40B4-BE49-F238E27FC236}">
                <a16:creationId xmlns:a16="http://schemas.microsoft.com/office/drawing/2014/main" id="{ACFD2593-D512-64C5-671E-AFF35B41168F}"/>
              </a:ext>
            </a:extLst>
          </p:cNvPr>
          <p:cNvSpPr/>
          <p:nvPr/>
        </p:nvSpPr>
        <p:spPr bwMode="gray">
          <a:xfrm>
            <a:off x="2744754" y="5733513"/>
            <a:ext cx="222527" cy="14400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00" name="矢印: 右 99">
            <a:extLst>
              <a:ext uri="{FF2B5EF4-FFF2-40B4-BE49-F238E27FC236}">
                <a16:creationId xmlns:a16="http://schemas.microsoft.com/office/drawing/2014/main" id="{6A768CD2-146A-3238-4E17-15F87CDF5AAB}"/>
              </a:ext>
            </a:extLst>
          </p:cNvPr>
          <p:cNvSpPr/>
          <p:nvPr/>
        </p:nvSpPr>
        <p:spPr bwMode="gray">
          <a:xfrm rot="18434564">
            <a:off x="3806462" y="3715714"/>
            <a:ext cx="455487" cy="21083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IF</a:t>
            </a:r>
            <a:endParaRPr kumimoji="1" lang="ja-JP" altLang="en-US" sz="10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01" name="矢印: 右 100">
            <a:extLst>
              <a:ext uri="{FF2B5EF4-FFF2-40B4-BE49-F238E27FC236}">
                <a16:creationId xmlns:a16="http://schemas.microsoft.com/office/drawing/2014/main" id="{0D699AED-AD45-E6F2-932C-029D67B86551}"/>
              </a:ext>
            </a:extLst>
          </p:cNvPr>
          <p:cNvSpPr/>
          <p:nvPr/>
        </p:nvSpPr>
        <p:spPr bwMode="gray">
          <a:xfrm>
            <a:off x="6441731" y="3735806"/>
            <a:ext cx="222527" cy="144000"/>
          </a:xfrm>
          <a:prstGeom prst="rightArrow">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102" name="矢印: 右 101">
            <a:extLst>
              <a:ext uri="{FF2B5EF4-FFF2-40B4-BE49-F238E27FC236}">
                <a16:creationId xmlns:a16="http://schemas.microsoft.com/office/drawing/2014/main" id="{93680BC6-423A-5C76-040F-FFCEE40FCDA3}"/>
              </a:ext>
            </a:extLst>
          </p:cNvPr>
          <p:cNvSpPr/>
          <p:nvPr/>
        </p:nvSpPr>
        <p:spPr bwMode="gray">
          <a:xfrm>
            <a:off x="3952162" y="5733513"/>
            <a:ext cx="222527" cy="144000"/>
          </a:xfrm>
          <a:prstGeom prst="rightArrow">
            <a:avLst/>
          </a:prstGeom>
          <a:solidFill>
            <a:schemeClr val="accent6"/>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03" name="矢印: 右 102">
            <a:extLst>
              <a:ext uri="{FF2B5EF4-FFF2-40B4-BE49-F238E27FC236}">
                <a16:creationId xmlns:a16="http://schemas.microsoft.com/office/drawing/2014/main" id="{DEF673E8-ADB9-D923-C6DA-644992FDE46B}"/>
              </a:ext>
            </a:extLst>
          </p:cNvPr>
          <p:cNvSpPr/>
          <p:nvPr/>
        </p:nvSpPr>
        <p:spPr bwMode="gray">
          <a:xfrm>
            <a:off x="7716955" y="3193863"/>
            <a:ext cx="222527" cy="144000"/>
          </a:xfrm>
          <a:prstGeom prst="rightArrow">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104" name="矢印: 右 103">
            <a:extLst>
              <a:ext uri="{FF2B5EF4-FFF2-40B4-BE49-F238E27FC236}">
                <a16:creationId xmlns:a16="http://schemas.microsoft.com/office/drawing/2014/main" id="{66C97437-C795-FB8F-A24D-E3E3E19FBA1E}"/>
              </a:ext>
            </a:extLst>
          </p:cNvPr>
          <p:cNvSpPr/>
          <p:nvPr/>
        </p:nvSpPr>
        <p:spPr bwMode="gray">
          <a:xfrm>
            <a:off x="7716955" y="4464663"/>
            <a:ext cx="222527" cy="144000"/>
          </a:xfrm>
          <a:prstGeom prst="rightArrow">
            <a:avLst/>
          </a:prstGeom>
          <a:solidFill>
            <a:schemeClr val="bg1">
              <a:lumMod val="7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3D8E6FA3-8391-9D6D-AF82-CF33E591D332}"/>
              </a:ext>
            </a:extLst>
          </p:cNvPr>
          <p:cNvSpPr/>
          <p:nvPr/>
        </p:nvSpPr>
        <p:spPr bwMode="gray">
          <a:xfrm>
            <a:off x="4035065" y="4946837"/>
            <a:ext cx="4953712" cy="171975"/>
          </a:xfrm>
          <a:prstGeom prst="rect">
            <a:avLst/>
          </a:prstGeom>
          <a:solidFill>
            <a:schemeClr val="bg1">
              <a:lumMod val="8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新システム</a:t>
            </a:r>
          </a:p>
        </p:txBody>
      </p:sp>
      <p:sp>
        <p:nvSpPr>
          <p:cNvPr id="108" name="フローチャート: 処理 107">
            <a:extLst>
              <a:ext uri="{FF2B5EF4-FFF2-40B4-BE49-F238E27FC236}">
                <a16:creationId xmlns:a16="http://schemas.microsoft.com/office/drawing/2014/main" id="{80A15E78-9C37-6679-5E56-D29C9AA3524D}"/>
              </a:ext>
            </a:extLst>
          </p:cNvPr>
          <p:cNvSpPr/>
          <p:nvPr/>
        </p:nvSpPr>
        <p:spPr bwMode="gray">
          <a:xfrm>
            <a:off x="5552038" y="5637726"/>
            <a:ext cx="3377217" cy="468313"/>
          </a:xfrm>
          <a:prstGeom prst="flowChartProcess">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GXL</a:t>
            </a:r>
            <a:r>
              <a:rPr kumimoji="1" lang="ja-JP" altLang="en-US" sz="12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の活動量データを</a:t>
            </a:r>
            <a:r>
              <a:rPr kumimoji="1" lang="en-US" altLang="ja-JP" sz="1200">
                <a:solidFill>
                  <a:schemeClr val="bg1">
                    <a:lumMod val="75000"/>
                  </a:schemeClr>
                </a:solidFill>
                <a:latin typeface="Meiryo UI" panose="020B0604030504040204" pitchFamily="50" charset="-128"/>
                <a:ea typeface="Meiryo UI" panose="020B0604030504040204" pitchFamily="50" charset="-128"/>
              </a:rPr>
              <a:t>ETL</a:t>
            </a:r>
            <a:r>
              <a:rPr kumimoji="1" lang="ja-JP" altLang="en-US" sz="1200">
                <a:solidFill>
                  <a:schemeClr val="bg1">
                    <a:lumMod val="75000"/>
                  </a:schemeClr>
                </a:solidFill>
                <a:latin typeface="Meiryo UI" panose="020B0604030504040204" pitchFamily="50" charset="-128"/>
                <a:ea typeface="Meiryo UI" panose="020B0604030504040204" pitchFamily="50" charset="-128"/>
              </a:rPr>
              <a:t>で用意し、</a:t>
            </a:r>
            <a:endParaRPr kumimoji="1" lang="en-US" altLang="ja-JP" sz="1200">
              <a:solidFill>
                <a:schemeClr val="bg1">
                  <a:lumMod val="75000"/>
                </a:schemeClr>
              </a:solidFill>
              <a:latin typeface="Meiryo UI" panose="020B0604030504040204" pitchFamily="50" charset="-128"/>
              <a:ea typeface="Meiryo UI" panose="020B0604030504040204" pitchFamily="50" charset="-128"/>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GXL</a:t>
            </a:r>
            <a:r>
              <a:rPr kumimoji="1" lang="ja-JP" altLang="en-US" sz="12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指定</a:t>
            </a:r>
            <a:r>
              <a:rPr kumimoji="1" lang="en-US" altLang="ja-JP" sz="12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Excel</a:t>
            </a:r>
            <a:r>
              <a:rPr kumimoji="1" lang="ja-JP" altLang="en-US" sz="12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に貼り付け、その</a:t>
            </a:r>
            <a:r>
              <a:rPr kumimoji="1" lang="ja-JP" altLang="en-US" sz="1200">
                <a:solidFill>
                  <a:schemeClr val="bg1">
                    <a:lumMod val="75000"/>
                  </a:schemeClr>
                </a:solidFill>
                <a:latin typeface="Meiryo UI" panose="020B0604030504040204" pitchFamily="50" charset="-128"/>
                <a:ea typeface="Meiryo UI" panose="020B0604030504040204" pitchFamily="50" charset="-128"/>
              </a:rPr>
              <a:t>後は従来通り対応</a:t>
            </a:r>
            <a:endParaRPr kumimoji="1" lang="en-US" altLang="ja-JP" sz="1200">
              <a:solidFill>
                <a:schemeClr val="bg1">
                  <a:lumMod val="75000"/>
                </a:schemeClr>
              </a:solidFill>
              <a:latin typeface="Meiryo UI" panose="020B0604030504040204" pitchFamily="50" charset="-128"/>
              <a:ea typeface="Meiryo UI" panose="020B0604030504040204" pitchFamily="50" charset="-128"/>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*GXL</a:t>
            </a:r>
            <a:r>
              <a:rPr kumimoji="1" lang="ja-JP" altLang="en-US" sz="10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指定の</a:t>
            </a:r>
            <a:r>
              <a:rPr kumimoji="1" lang="en-US" altLang="ja-JP" sz="10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Excel</a:t>
            </a:r>
            <a:r>
              <a:rPr kumimoji="1" lang="ja-JP" altLang="en-US" sz="10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上</a:t>
            </a:r>
            <a:r>
              <a:rPr kumimoji="1" lang="ja-JP" altLang="en-US" sz="1000">
                <a:solidFill>
                  <a:schemeClr val="bg1">
                    <a:lumMod val="75000"/>
                  </a:schemeClr>
                </a:solidFill>
                <a:latin typeface="Meiryo UI" panose="020B0604030504040204" pitchFamily="50" charset="-128"/>
                <a:ea typeface="Meiryo UI" panose="020B0604030504040204" pitchFamily="50" charset="-128"/>
              </a:rPr>
              <a:t>で算定が要求されている</a:t>
            </a:r>
            <a:endParaRPr kumimoji="1" lang="ja-JP" altLang="en-US" sz="1000" b="0"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endParaRPr>
          </a:p>
        </p:txBody>
      </p:sp>
      <p:cxnSp>
        <p:nvCxnSpPr>
          <p:cNvPr id="109" name="直線矢印コネクタ 108">
            <a:extLst>
              <a:ext uri="{FF2B5EF4-FFF2-40B4-BE49-F238E27FC236}">
                <a16:creationId xmlns:a16="http://schemas.microsoft.com/office/drawing/2014/main" id="{48FFF747-4AF3-ACF0-D4B7-A35F11CEF8B3}"/>
              </a:ext>
            </a:extLst>
          </p:cNvPr>
          <p:cNvCxnSpPr>
            <a:cxnSpLocks/>
            <a:stCxn id="81" idx="3"/>
          </p:cNvCxnSpPr>
          <p:nvPr/>
        </p:nvCxnSpPr>
        <p:spPr bwMode="gray">
          <a:xfrm>
            <a:off x="4523458" y="4529284"/>
            <a:ext cx="2067438" cy="0"/>
          </a:xfrm>
          <a:prstGeom prst="straightConnector1">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矢印コネクタ 109">
            <a:extLst>
              <a:ext uri="{FF2B5EF4-FFF2-40B4-BE49-F238E27FC236}">
                <a16:creationId xmlns:a16="http://schemas.microsoft.com/office/drawing/2014/main" id="{58FCB87D-683C-249C-75F4-A5C2D9788052}"/>
              </a:ext>
            </a:extLst>
          </p:cNvPr>
          <p:cNvCxnSpPr>
            <a:cxnSpLocks/>
          </p:cNvCxnSpPr>
          <p:nvPr/>
        </p:nvCxnSpPr>
        <p:spPr bwMode="gray">
          <a:xfrm>
            <a:off x="4523458" y="4716098"/>
            <a:ext cx="2067438" cy="0"/>
          </a:xfrm>
          <a:prstGeom prst="straightConnector1">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1" name="四角形: 角を丸くする 110">
            <a:extLst>
              <a:ext uri="{FF2B5EF4-FFF2-40B4-BE49-F238E27FC236}">
                <a16:creationId xmlns:a16="http://schemas.microsoft.com/office/drawing/2014/main" id="{5A66B2C9-FCD5-9C50-B2A5-034DCD67BB2B}"/>
              </a:ext>
            </a:extLst>
          </p:cNvPr>
          <p:cNvSpPr/>
          <p:nvPr/>
        </p:nvSpPr>
        <p:spPr bwMode="gray">
          <a:xfrm>
            <a:off x="5503199" y="4449475"/>
            <a:ext cx="900000" cy="331217"/>
          </a:xfrm>
          <a:prstGeom prst="roundRect">
            <a:avLst/>
          </a:prstGeom>
          <a:solidFill>
            <a:schemeClr val="bg1"/>
          </a:solidFill>
          <a:ln w="12700" algn="ctr">
            <a:solidFill>
              <a:srgbClr val="BBBCBC"/>
            </a:solidFill>
            <a:prstDash val="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schemeClr val="bg1">
                    <a:lumMod val="85000"/>
                  </a:schemeClr>
                </a:solidFill>
                <a:effectLst/>
                <a:uLnTx/>
                <a:uFillTx/>
                <a:latin typeface="Meiryo UI" panose="020B0604030504040204" pitchFamily="50" charset="-128"/>
                <a:ea typeface="Meiryo UI" panose="020B0604030504040204" pitchFamily="50" charset="-128"/>
              </a:rPr>
              <a:t>計算なし</a:t>
            </a:r>
          </a:p>
        </p:txBody>
      </p:sp>
      <p:grpSp>
        <p:nvGrpSpPr>
          <p:cNvPr id="112" name="グループ化 111">
            <a:extLst>
              <a:ext uri="{FF2B5EF4-FFF2-40B4-BE49-F238E27FC236}">
                <a16:creationId xmlns:a16="http://schemas.microsoft.com/office/drawing/2014/main" id="{D2207480-0F91-C9E3-B0A0-2EE5AD8B7588}"/>
              </a:ext>
            </a:extLst>
          </p:cNvPr>
          <p:cNvGrpSpPr/>
          <p:nvPr/>
        </p:nvGrpSpPr>
        <p:grpSpPr>
          <a:xfrm>
            <a:off x="2793598" y="1510487"/>
            <a:ext cx="6080640" cy="318791"/>
            <a:chOff x="5473471" y="1340956"/>
            <a:chExt cx="4126167" cy="364457"/>
          </a:xfrm>
        </p:grpSpPr>
        <p:sp>
          <p:nvSpPr>
            <p:cNvPr id="114" name="正方形/長方形 113">
              <a:extLst>
                <a:ext uri="{FF2B5EF4-FFF2-40B4-BE49-F238E27FC236}">
                  <a16:creationId xmlns:a16="http://schemas.microsoft.com/office/drawing/2014/main" id="{1FD64BE4-8053-E86B-E758-85B3AE597C21}"/>
                </a:ext>
              </a:extLst>
            </p:cNvPr>
            <p:cNvSpPr/>
            <p:nvPr/>
          </p:nvSpPr>
          <p:spPr bwMode="gray">
            <a:xfrm>
              <a:off x="5473471" y="1398828"/>
              <a:ext cx="4126167" cy="306585"/>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nvGrpSpPr>
            <p:cNvPr id="113" name="グループ化 112">
              <a:extLst>
                <a:ext uri="{FF2B5EF4-FFF2-40B4-BE49-F238E27FC236}">
                  <a16:creationId xmlns:a16="http://schemas.microsoft.com/office/drawing/2014/main" id="{D5529F80-0629-E0D3-AA00-D7ECB6BCEF00}"/>
                </a:ext>
              </a:extLst>
            </p:cNvPr>
            <p:cNvGrpSpPr/>
            <p:nvPr/>
          </p:nvGrpSpPr>
          <p:grpSpPr>
            <a:xfrm>
              <a:off x="5556425" y="1507000"/>
              <a:ext cx="3957866" cy="144001"/>
              <a:chOff x="5677870" y="1507000"/>
              <a:chExt cx="3957866" cy="144001"/>
            </a:xfrm>
          </p:grpSpPr>
          <p:sp>
            <p:nvSpPr>
              <p:cNvPr id="116" name="正方形/長方形 115">
                <a:extLst>
                  <a:ext uri="{FF2B5EF4-FFF2-40B4-BE49-F238E27FC236}">
                    <a16:creationId xmlns:a16="http://schemas.microsoft.com/office/drawing/2014/main" id="{D9C0A2B3-6103-29E0-8E2A-6E7F054E563B}"/>
                  </a:ext>
                </a:extLst>
              </p:cNvPr>
              <p:cNvSpPr/>
              <p:nvPr/>
            </p:nvSpPr>
            <p:spPr bwMode="gray">
              <a:xfrm>
                <a:off x="5677870" y="1507000"/>
                <a:ext cx="144000" cy="144000"/>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a:t>
                </a:r>
              </a:p>
            </p:txBody>
          </p:sp>
          <p:sp>
            <p:nvSpPr>
              <p:cNvPr id="117" name="正方形/長方形 116">
                <a:extLst>
                  <a:ext uri="{FF2B5EF4-FFF2-40B4-BE49-F238E27FC236}">
                    <a16:creationId xmlns:a16="http://schemas.microsoft.com/office/drawing/2014/main" id="{30ACCD6F-379C-0CCF-0A1D-4119B089378F}"/>
                  </a:ext>
                </a:extLst>
              </p:cNvPr>
              <p:cNvSpPr/>
              <p:nvPr/>
            </p:nvSpPr>
            <p:spPr bwMode="gray">
              <a:xfrm>
                <a:off x="6261640" y="1507000"/>
                <a:ext cx="144000" cy="14400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eiryo UI" panose="020B0604030504040204" pitchFamily="50" charset="-128"/>
                    <a:ea typeface="Meiryo UI" panose="020B0604030504040204" pitchFamily="50" charset="-128"/>
                  </a:rPr>
                  <a:t>モ</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8" name="正方形/長方形 117">
                <a:extLst>
                  <a:ext uri="{FF2B5EF4-FFF2-40B4-BE49-F238E27FC236}">
                    <a16:creationId xmlns:a16="http://schemas.microsoft.com/office/drawing/2014/main" id="{B5CB13A5-E48A-4315-4C83-E1C2DC0E169D}"/>
                  </a:ext>
                </a:extLst>
              </p:cNvPr>
              <p:cNvSpPr/>
              <p:nvPr/>
            </p:nvSpPr>
            <p:spPr bwMode="gray">
              <a:xfrm>
                <a:off x="7284867" y="1507000"/>
                <a:ext cx="144000" cy="143999"/>
              </a:xfrm>
              <a:prstGeom prst="rect">
                <a:avLst/>
              </a:prstGeom>
              <a:solidFill>
                <a:srgbClr val="FFCC99"/>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a:t>
                </a:r>
              </a:p>
            </p:txBody>
          </p:sp>
          <p:sp>
            <p:nvSpPr>
              <p:cNvPr id="119" name="正方形/長方形 118">
                <a:extLst>
                  <a:ext uri="{FF2B5EF4-FFF2-40B4-BE49-F238E27FC236}">
                    <a16:creationId xmlns:a16="http://schemas.microsoft.com/office/drawing/2014/main" id="{D8873BBD-3C4C-4F2A-3A85-D5694BCC3996}"/>
                  </a:ext>
                </a:extLst>
              </p:cNvPr>
              <p:cNvSpPr/>
              <p:nvPr/>
            </p:nvSpPr>
            <p:spPr bwMode="gray">
              <a:xfrm>
                <a:off x="8864372" y="1507000"/>
                <a:ext cx="144000" cy="144001"/>
              </a:xfrm>
              <a:prstGeom prst="rect">
                <a:avLst/>
              </a:prstGeom>
              <a:solidFill>
                <a:srgbClr val="A0DC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人</a:t>
                </a:r>
              </a:p>
            </p:txBody>
          </p:sp>
          <p:sp>
            <p:nvSpPr>
              <p:cNvPr id="120" name="正方形/長方形 119">
                <a:extLst>
                  <a:ext uri="{FF2B5EF4-FFF2-40B4-BE49-F238E27FC236}">
                    <a16:creationId xmlns:a16="http://schemas.microsoft.com/office/drawing/2014/main" id="{A94F89CE-AE2E-19CD-9D07-2A2CB3BA673F}"/>
                  </a:ext>
                </a:extLst>
              </p:cNvPr>
              <p:cNvSpPr/>
              <p:nvPr/>
            </p:nvSpPr>
            <p:spPr bwMode="gray">
              <a:xfrm>
                <a:off x="8054050" y="1507000"/>
                <a:ext cx="144000" cy="143999"/>
              </a:xfrm>
              <a:prstGeom prst="rect">
                <a:avLst/>
              </a:prstGeom>
              <a:solidFill>
                <a:srgbClr val="A0DC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環</a:t>
                </a:r>
              </a:p>
            </p:txBody>
          </p:sp>
          <p:sp>
            <p:nvSpPr>
              <p:cNvPr id="121" name="正方形/長方形 120">
                <a:extLst>
                  <a:ext uri="{FF2B5EF4-FFF2-40B4-BE49-F238E27FC236}">
                    <a16:creationId xmlns:a16="http://schemas.microsoft.com/office/drawing/2014/main" id="{A8A67371-C068-EE45-1FAE-531FB0FD187E}"/>
                  </a:ext>
                </a:extLst>
              </p:cNvPr>
              <p:cNvSpPr/>
              <p:nvPr/>
            </p:nvSpPr>
            <p:spPr bwMode="gray">
              <a:xfrm>
                <a:off x="5858415" y="1507000"/>
                <a:ext cx="890239" cy="14400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タグデータ</a:t>
                </a:r>
              </a:p>
            </p:txBody>
          </p:sp>
          <p:sp>
            <p:nvSpPr>
              <p:cNvPr id="122" name="正方形/長方形 121">
                <a:extLst>
                  <a:ext uri="{FF2B5EF4-FFF2-40B4-BE49-F238E27FC236}">
                    <a16:creationId xmlns:a16="http://schemas.microsoft.com/office/drawing/2014/main" id="{8E522614-1488-F157-64D4-6E179974840E}"/>
                  </a:ext>
                </a:extLst>
              </p:cNvPr>
              <p:cNvSpPr/>
              <p:nvPr/>
            </p:nvSpPr>
            <p:spPr bwMode="gray">
              <a:xfrm>
                <a:off x="6434189" y="1507000"/>
                <a:ext cx="859853" cy="14400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GXL</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モニタリングポイント</a:t>
                </a:r>
              </a:p>
            </p:txBody>
          </p:sp>
          <p:sp>
            <p:nvSpPr>
              <p:cNvPr id="123" name="正方形/長方形 122">
                <a:extLst>
                  <a:ext uri="{FF2B5EF4-FFF2-40B4-BE49-F238E27FC236}">
                    <a16:creationId xmlns:a16="http://schemas.microsoft.com/office/drawing/2014/main" id="{1F957B44-5944-3485-6BD8-C6B505DC21C4}"/>
                  </a:ext>
                </a:extLst>
              </p:cNvPr>
              <p:cNvSpPr/>
              <p:nvPr/>
            </p:nvSpPr>
            <p:spPr bwMode="gray">
              <a:xfrm>
                <a:off x="7469877" y="1507000"/>
                <a:ext cx="1116000" cy="143999"/>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温対法活動量</a:t>
                </a:r>
              </a:p>
            </p:txBody>
          </p:sp>
          <p:sp>
            <p:nvSpPr>
              <p:cNvPr id="124" name="正方形/長方形 123">
                <a:extLst>
                  <a:ext uri="{FF2B5EF4-FFF2-40B4-BE49-F238E27FC236}">
                    <a16:creationId xmlns:a16="http://schemas.microsoft.com/office/drawing/2014/main" id="{3B43B288-F268-3D8C-6B42-1CF006181A9D}"/>
                  </a:ext>
                </a:extLst>
              </p:cNvPr>
              <p:cNvSpPr/>
              <p:nvPr/>
            </p:nvSpPr>
            <p:spPr bwMode="gray">
              <a:xfrm>
                <a:off x="8239060" y="1507000"/>
                <a:ext cx="1116000" cy="143999"/>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その他環境データ</a:t>
                </a:r>
              </a:p>
            </p:txBody>
          </p:sp>
          <p:sp>
            <p:nvSpPr>
              <p:cNvPr id="125" name="正方形/長方形 124">
                <a:extLst>
                  <a:ext uri="{FF2B5EF4-FFF2-40B4-BE49-F238E27FC236}">
                    <a16:creationId xmlns:a16="http://schemas.microsoft.com/office/drawing/2014/main" id="{5389F49C-5320-158A-42AB-2196DB384C1A}"/>
                  </a:ext>
                </a:extLst>
              </p:cNvPr>
              <p:cNvSpPr/>
              <p:nvPr/>
            </p:nvSpPr>
            <p:spPr bwMode="gray">
              <a:xfrm>
                <a:off x="9049383" y="1507000"/>
                <a:ext cx="586353" cy="144001"/>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人事労務データ</a:t>
                </a:r>
              </a:p>
            </p:txBody>
          </p:sp>
        </p:grpSp>
        <p:sp>
          <p:nvSpPr>
            <p:cNvPr id="115" name="正方形/長方形 114">
              <a:extLst>
                <a:ext uri="{FF2B5EF4-FFF2-40B4-BE49-F238E27FC236}">
                  <a16:creationId xmlns:a16="http://schemas.microsoft.com/office/drawing/2014/main" id="{4B0DCB54-94D8-E280-B4AB-919623000487}"/>
                </a:ext>
              </a:extLst>
            </p:cNvPr>
            <p:cNvSpPr/>
            <p:nvPr/>
          </p:nvSpPr>
          <p:spPr bwMode="gray">
            <a:xfrm>
              <a:off x="7290458" y="1340956"/>
              <a:ext cx="545306" cy="129886"/>
            </a:xfrm>
            <a:prstGeom prst="rect">
              <a:avLst/>
            </a:prstGeom>
            <a:solidFill>
              <a:schemeClr val="bg1"/>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凡例</a:t>
              </a:r>
            </a:p>
          </p:txBody>
        </p:sp>
      </p:grpSp>
      <p:sp>
        <p:nvSpPr>
          <p:cNvPr id="128" name="楕円 127">
            <a:extLst>
              <a:ext uri="{FF2B5EF4-FFF2-40B4-BE49-F238E27FC236}">
                <a16:creationId xmlns:a16="http://schemas.microsoft.com/office/drawing/2014/main" id="{749A8B6A-D1DF-5C98-0231-94D232E9AE32}"/>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133" name="フローチャート: 処理 132">
            <a:extLst>
              <a:ext uri="{FF2B5EF4-FFF2-40B4-BE49-F238E27FC236}">
                <a16:creationId xmlns:a16="http://schemas.microsoft.com/office/drawing/2014/main" id="{56D0FD7A-3FF1-A785-D87C-701060A5A716}"/>
              </a:ext>
            </a:extLst>
          </p:cNvPr>
          <p:cNvSpPr/>
          <p:nvPr/>
        </p:nvSpPr>
        <p:spPr bwMode="gray">
          <a:xfrm>
            <a:off x="2641815" y="2516483"/>
            <a:ext cx="2529770" cy="228610"/>
          </a:xfrm>
          <a:prstGeom prst="flowChartProcess">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2000" b="1" i="0" u="none" strike="noStrike" kern="1200" cap="none" spc="0" normalizeH="0" baseline="0" noProof="0">
                <a:ln>
                  <a:noFill/>
                </a:ln>
                <a:solidFill>
                  <a:schemeClr val="bg1">
                    <a:lumMod val="75000"/>
                  </a:schemeClr>
                </a:solidFill>
                <a:effectLst/>
                <a:uLnTx/>
                <a:uFillTx/>
                <a:latin typeface="Meiryo UI" panose="020B0604030504040204" pitchFamily="50" charset="-128"/>
                <a:ea typeface="Meiryo UI" panose="020B0604030504040204" pitchFamily="50" charset="-128"/>
              </a:rPr>
              <a:t>導入ベンダー開発範囲</a:t>
            </a:r>
          </a:p>
        </p:txBody>
      </p:sp>
      <p:sp>
        <p:nvSpPr>
          <p:cNvPr id="142" name="楕円 141">
            <a:extLst>
              <a:ext uri="{FF2B5EF4-FFF2-40B4-BE49-F238E27FC236}">
                <a16:creationId xmlns:a16="http://schemas.microsoft.com/office/drawing/2014/main" id="{5142D1DE-0A54-D1ED-C8ED-5F6788D1E0FC}"/>
              </a:ext>
            </a:extLst>
          </p:cNvPr>
          <p:cNvSpPr/>
          <p:nvPr/>
        </p:nvSpPr>
        <p:spPr>
          <a:xfrm>
            <a:off x="1527434" y="3872157"/>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1</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143" name="楕円 142">
            <a:extLst>
              <a:ext uri="{FF2B5EF4-FFF2-40B4-BE49-F238E27FC236}">
                <a16:creationId xmlns:a16="http://schemas.microsoft.com/office/drawing/2014/main" id="{65F6BE2E-D40B-1431-4736-7B3095E1A1B6}"/>
              </a:ext>
            </a:extLst>
          </p:cNvPr>
          <p:cNvSpPr/>
          <p:nvPr/>
        </p:nvSpPr>
        <p:spPr>
          <a:xfrm>
            <a:off x="1976638" y="4073139"/>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2</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144" name="楕円 143">
            <a:extLst>
              <a:ext uri="{FF2B5EF4-FFF2-40B4-BE49-F238E27FC236}">
                <a16:creationId xmlns:a16="http://schemas.microsoft.com/office/drawing/2014/main" id="{64F2B574-1B86-3444-B423-9C433662ABC5}"/>
              </a:ext>
            </a:extLst>
          </p:cNvPr>
          <p:cNvSpPr/>
          <p:nvPr/>
        </p:nvSpPr>
        <p:spPr>
          <a:xfrm>
            <a:off x="2387790" y="4236709"/>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3</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145" name="楕円 144">
            <a:extLst>
              <a:ext uri="{FF2B5EF4-FFF2-40B4-BE49-F238E27FC236}">
                <a16:creationId xmlns:a16="http://schemas.microsoft.com/office/drawing/2014/main" id="{924359CB-7DC9-64FF-BE1F-43BA468D01EA}"/>
              </a:ext>
            </a:extLst>
          </p:cNvPr>
          <p:cNvSpPr/>
          <p:nvPr/>
        </p:nvSpPr>
        <p:spPr>
          <a:xfrm>
            <a:off x="3951461" y="4030650"/>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4</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146" name="吹き出し: 四角形 145">
            <a:extLst>
              <a:ext uri="{FF2B5EF4-FFF2-40B4-BE49-F238E27FC236}">
                <a16:creationId xmlns:a16="http://schemas.microsoft.com/office/drawing/2014/main" id="{6A9EDD1E-5FCA-0700-6871-F3D5D0B3A7F9}"/>
              </a:ext>
            </a:extLst>
          </p:cNvPr>
          <p:cNvSpPr/>
          <p:nvPr/>
        </p:nvSpPr>
        <p:spPr>
          <a:xfrm>
            <a:off x="4667458" y="2823905"/>
            <a:ext cx="3864542" cy="3382715"/>
          </a:xfrm>
          <a:prstGeom prst="wedgeRectCallout">
            <a:avLst>
              <a:gd name="adj1" fmla="val -64152"/>
              <a:gd name="adj2" fmla="val 18554"/>
            </a:avLst>
          </a:prstGeom>
          <a:solidFill>
            <a:schemeClr val="accent6">
              <a:lumMod val="20000"/>
              <a:lumOff val="80000"/>
            </a:schemeClr>
          </a:solidFill>
          <a:ln>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29" name="正方形/長方形 128">
            <a:extLst>
              <a:ext uri="{FF2B5EF4-FFF2-40B4-BE49-F238E27FC236}">
                <a16:creationId xmlns:a16="http://schemas.microsoft.com/office/drawing/2014/main" id="{AC13AED0-025F-07D6-3701-1C94B61ACBB1}"/>
              </a:ext>
            </a:extLst>
          </p:cNvPr>
          <p:cNvSpPr/>
          <p:nvPr/>
        </p:nvSpPr>
        <p:spPr>
          <a:xfrm>
            <a:off x="4888109" y="3991119"/>
            <a:ext cx="3412800" cy="614196"/>
          </a:xfrm>
          <a:prstGeom prst="rect">
            <a:avLst/>
          </a:prstGeom>
          <a:solidFill>
            <a:schemeClr val="bg1"/>
          </a:solidFill>
          <a:ln w="15875">
            <a:solidFill>
              <a:schemeClr val="accent6"/>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ETL</a:t>
            </a:r>
            <a:r>
              <a:rPr kumimoji="1" lang="ja-JP" altLang="en-US" sz="1200">
                <a:solidFill>
                  <a:schemeClr val="tx1"/>
                </a:solidFill>
                <a:latin typeface="Meiryo UI" panose="020B0604030504040204" pitchFamily="50" charset="-128"/>
                <a:ea typeface="Meiryo UI" panose="020B0604030504040204" pitchFamily="50" charset="-128"/>
              </a:rPr>
              <a:t>変換ロジックの作成に向けて</a:t>
            </a:r>
            <a:r>
              <a:rPr kumimoji="1" lang="en-US" altLang="ja-JP" sz="1200">
                <a:solidFill>
                  <a:schemeClr val="tx1"/>
                </a:solidFill>
                <a:latin typeface="Meiryo UI" panose="020B0604030504040204" pitchFamily="50" charset="-128"/>
                <a:ea typeface="Meiryo UI" panose="020B0604030504040204" pitchFamily="50" charset="-128"/>
              </a:rPr>
              <a:t>DI</a:t>
            </a:r>
            <a:r>
              <a:rPr kumimoji="1" lang="ja-JP" altLang="en-US" sz="1200">
                <a:solidFill>
                  <a:schemeClr val="tx1"/>
                </a:solidFill>
                <a:latin typeface="Meiryo UI" panose="020B0604030504040204" pitchFamily="50" charset="-128"/>
                <a:ea typeface="Meiryo UI" panose="020B0604030504040204" pitchFamily="50" charset="-128"/>
              </a:rPr>
              <a:t>部</a:t>
            </a:r>
            <a:r>
              <a:rPr kumimoji="1" lang="en-US" altLang="ja-JP" sz="1200">
                <a:solidFill>
                  <a:schemeClr val="tx1"/>
                </a:solidFill>
                <a:latin typeface="Meiryo UI" panose="020B0604030504040204" pitchFamily="50" charset="-128"/>
                <a:ea typeface="Meiryo UI" panose="020B0604030504040204" pitchFamily="50" charset="-128"/>
              </a:rPr>
              <a:t>4</a:t>
            </a:r>
            <a:r>
              <a:rPr kumimoji="1" lang="ja-JP" altLang="en-US" sz="1200">
                <a:solidFill>
                  <a:schemeClr val="tx1"/>
                </a:solidFill>
                <a:latin typeface="Meiryo UI" panose="020B0604030504040204" pitchFamily="50" charset="-128"/>
                <a:ea typeface="Meiryo UI" panose="020B0604030504040204" pitchFamily="50" charset="-128"/>
              </a:rPr>
              <a:t>課の巻き込み</a:t>
            </a:r>
          </a:p>
        </p:txBody>
      </p:sp>
      <p:sp>
        <p:nvSpPr>
          <p:cNvPr id="134" name="正方形/長方形 133">
            <a:extLst>
              <a:ext uri="{FF2B5EF4-FFF2-40B4-BE49-F238E27FC236}">
                <a16:creationId xmlns:a16="http://schemas.microsoft.com/office/drawing/2014/main" id="{BE9A5ABD-CFE5-967D-B44E-4DD913CF18A9}"/>
              </a:ext>
            </a:extLst>
          </p:cNvPr>
          <p:cNvSpPr/>
          <p:nvPr/>
        </p:nvSpPr>
        <p:spPr>
          <a:xfrm>
            <a:off x="4888109" y="4711700"/>
            <a:ext cx="3412800" cy="614196"/>
          </a:xfrm>
          <a:prstGeom prst="rect">
            <a:avLst/>
          </a:prstGeom>
          <a:solidFill>
            <a:schemeClr val="bg1"/>
          </a:solidFill>
          <a:ln w="15875">
            <a:solidFill>
              <a:schemeClr val="accent6"/>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変換ロジックの作成に向けて</a:t>
            </a:r>
            <a:r>
              <a:rPr kumimoji="1" lang="en-US" altLang="ja-JP" sz="1200">
                <a:solidFill>
                  <a:schemeClr val="tx1"/>
                </a:solidFill>
                <a:latin typeface="Meiryo UI" panose="020B0604030504040204" pitchFamily="50" charset="-128"/>
                <a:ea typeface="Meiryo UI" panose="020B0604030504040204" pitchFamily="50" charset="-128"/>
              </a:rPr>
              <a:t>DI</a:t>
            </a:r>
            <a:r>
              <a:rPr kumimoji="1" lang="ja-JP" altLang="en-US" sz="1200">
                <a:solidFill>
                  <a:schemeClr val="tx1"/>
                </a:solidFill>
                <a:latin typeface="Meiryo UI" panose="020B0604030504040204" pitchFamily="50" charset="-128"/>
                <a:ea typeface="Meiryo UI" panose="020B0604030504040204" pitchFamily="50" charset="-128"/>
              </a:rPr>
              <a:t>部</a:t>
            </a:r>
            <a:r>
              <a:rPr kumimoji="1" lang="en-US" altLang="ja-JP" sz="1200">
                <a:solidFill>
                  <a:schemeClr val="tx1"/>
                </a:solidFill>
                <a:latin typeface="Meiryo UI" panose="020B0604030504040204" pitchFamily="50" charset="-128"/>
                <a:ea typeface="Meiryo UI" panose="020B0604030504040204" pitchFamily="50" charset="-128"/>
              </a:rPr>
              <a:t>4</a:t>
            </a:r>
            <a:r>
              <a:rPr kumimoji="1" lang="ja-JP" altLang="en-US" sz="1200">
                <a:solidFill>
                  <a:schemeClr val="tx1"/>
                </a:solidFill>
                <a:latin typeface="Meiryo UI" panose="020B0604030504040204" pitchFamily="50" charset="-128"/>
                <a:ea typeface="Meiryo UI" panose="020B0604030504040204" pitchFamily="50" charset="-128"/>
              </a:rPr>
              <a:t>課の巻き込み</a:t>
            </a:r>
          </a:p>
        </p:txBody>
      </p:sp>
      <p:sp>
        <p:nvSpPr>
          <p:cNvPr id="127" name="楕円 126">
            <a:extLst>
              <a:ext uri="{FF2B5EF4-FFF2-40B4-BE49-F238E27FC236}">
                <a16:creationId xmlns:a16="http://schemas.microsoft.com/office/drawing/2014/main" id="{E3CE7952-3B1B-8881-B643-AD542E324CE6}"/>
              </a:ext>
            </a:extLst>
          </p:cNvPr>
          <p:cNvSpPr/>
          <p:nvPr/>
        </p:nvSpPr>
        <p:spPr>
          <a:xfrm>
            <a:off x="4907254" y="3897236"/>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2</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130" name="楕円 129">
            <a:extLst>
              <a:ext uri="{FF2B5EF4-FFF2-40B4-BE49-F238E27FC236}">
                <a16:creationId xmlns:a16="http://schemas.microsoft.com/office/drawing/2014/main" id="{D7C898D3-8854-1DE3-039B-1CCC3BB5D4CB}"/>
              </a:ext>
            </a:extLst>
          </p:cNvPr>
          <p:cNvSpPr/>
          <p:nvPr/>
        </p:nvSpPr>
        <p:spPr>
          <a:xfrm>
            <a:off x="4907254" y="4624155"/>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3</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137" name="正方形/長方形 136">
            <a:extLst>
              <a:ext uri="{FF2B5EF4-FFF2-40B4-BE49-F238E27FC236}">
                <a16:creationId xmlns:a16="http://schemas.microsoft.com/office/drawing/2014/main" id="{CE09133B-46D0-520E-18A9-9C0D7E980602}"/>
              </a:ext>
            </a:extLst>
          </p:cNvPr>
          <p:cNvSpPr/>
          <p:nvPr/>
        </p:nvSpPr>
        <p:spPr>
          <a:xfrm>
            <a:off x="4888109" y="5432282"/>
            <a:ext cx="3412800" cy="614196"/>
          </a:xfrm>
          <a:prstGeom prst="rect">
            <a:avLst/>
          </a:prstGeom>
          <a:solidFill>
            <a:schemeClr val="bg1"/>
          </a:solidFill>
          <a:ln w="15875">
            <a:solidFill>
              <a:schemeClr val="accent6"/>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200">
                <a:solidFill>
                  <a:schemeClr val="tx1"/>
                </a:solidFill>
                <a:latin typeface="Meiryo UI" panose="020B0604030504040204" pitchFamily="50" charset="-128"/>
                <a:ea typeface="Meiryo UI" panose="020B0604030504040204" pitchFamily="50" charset="-128"/>
              </a:rPr>
              <a:t>東亜石油個別対応検討</a:t>
            </a:r>
          </a:p>
        </p:txBody>
      </p:sp>
      <p:sp>
        <p:nvSpPr>
          <p:cNvPr id="131" name="楕円 130">
            <a:extLst>
              <a:ext uri="{FF2B5EF4-FFF2-40B4-BE49-F238E27FC236}">
                <a16:creationId xmlns:a16="http://schemas.microsoft.com/office/drawing/2014/main" id="{DADF55C2-5FEC-65FC-2113-CCCC58D8A08C}"/>
              </a:ext>
            </a:extLst>
          </p:cNvPr>
          <p:cNvSpPr/>
          <p:nvPr/>
        </p:nvSpPr>
        <p:spPr>
          <a:xfrm>
            <a:off x="4907254" y="5351075"/>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4</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8DE1FFA5-2CA6-8D01-6E13-FE247AC9905C}"/>
              </a:ext>
            </a:extLst>
          </p:cNvPr>
          <p:cNvSpPr/>
          <p:nvPr/>
        </p:nvSpPr>
        <p:spPr>
          <a:xfrm>
            <a:off x="4891422" y="3269801"/>
            <a:ext cx="3413679" cy="615003"/>
          </a:xfrm>
          <a:prstGeom prst="rect">
            <a:avLst/>
          </a:prstGeom>
          <a:solidFill>
            <a:schemeClr val="bg1"/>
          </a:solidFill>
          <a:ln w="15875">
            <a:solidFill>
              <a:schemeClr val="accent6"/>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GX</a:t>
            </a:r>
            <a:r>
              <a:rPr kumimoji="1" lang="ja-JP" altLang="en-US" sz="1200">
                <a:solidFill>
                  <a:schemeClr val="tx1"/>
                </a:solidFill>
                <a:latin typeface="Meiryo UI" panose="020B0604030504040204" pitchFamily="50" charset="-128"/>
                <a:ea typeface="Meiryo UI" panose="020B0604030504040204" pitchFamily="50" charset="-128"/>
              </a:rPr>
              <a:t>リーグ用データと温対法</a:t>
            </a:r>
            <a:r>
              <a:rPr kumimoji="1" lang="en-US" altLang="ja-JP" sz="1200">
                <a:solidFill>
                  <a:schemeClr val="tx1"/>
                </a:solidFill>
                <a:latin typeface="Meiryo UI" panose="020B0604030504040204" pitchFamily="50" charset="-128"/>
                <a:ea typeface="Meiryo UI" panose="020B0604030504040204" pitchFamily="50" charset="-128"/>
              </a:rPr>
              <a:t>/SSBJ</a:t>
            </a:r>
            <a:r>
              <a:rPr kumimoji="1" lang="ja-JP" altLang="en-US" sz="1200">
                <a:solidFill>
                  <a:schemeClr val="tx1"/>
                </a:solidFill>
                <a:latin typeface="Meiryo UI" panose="020B0604030504040204" pitchFamily="50" charset="-128"/>
                <a:ea typeface="Meiryo UI" panose="020B0604030504040204" pitchFamily="50" charset="-128"/>
              </a:rPr>
              <a:t>用データの作成（効率化への寄与）</a:t>
            </a:r>
          </a:p>
        </p:txBody>
      </p:sp>
      <p:sp>
        <p:nvSpPr>
          <p:cNvPr id="5" name="楕円 4">
            <a:extLst>
              <a:ext uri="{FF2B5EF4-FFF2-40B4-BE49-F238E27FC236}">
                <a16:creationId xmlns:a16="http://schemas.microsoft.com/office/drawing/2014/main" id="{9B87CE71-7729-2743-F7B1-997CEB0A8913}"/>
              </a:ext>
            </a:extLst>
          </p:cNvPr>
          <p:cNvSpPr/>
          <p:nvPr/>
        </p:nvSpPr>
        <p:spPr>
          <a:xfrm>
            <a:off x="4907254" y="3170317"/>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1</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1C76CBC5-D983-01AF-722D-38B9EBDEFF57}"/>
              </a:ext>
            </a:extLst>
          </p:cNvPr>
          <p:cNvSpPr/>
          <p:nvPr/>
        </p:nvSpPr>
        <p:spPr>
          <a:xfrm>
            <a:off x="4856320" y="2954858"/>
            <a:ext cx="3448781" cy="205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600">
                <a:solidFill>
                  <a:schemeClr val="tx1"/>
                </a:solidFill>
                <a:latin typeface="Meiryo UI" panose="020B0604030504040204" pitchFamily="50" charset="-128"/>
                <a:ea typeface="Meiryo UI" panose="020B0604030504040204" pitchFamily="50" charset="-128"/>
              </a:rPr>
              <a:t>考慮すべき主なポイント</a:t>
            </a:r>
            <a:r>
              <a:rPr kumimoji="1" lang="en-US" altLang="ja-JP" sz="1600">
                <a:solidFill>
                  <a:schemeClr val="tx1"/>
                </a:solidFill>
                <a:latin typeface="Meiryo UI" panose="020B0604030504040204" pitchFamily="50" charset="-128"/>
                <a:ea typeface="Meiryo UI" panose="020B0604030504040204" pitchFamily="50" charset="-128"/>
              </a:rPr>
              <a:t>(</a:t>
            </a:r>
            <a:r>
              <a:rPr kumimoji="1" lang="ja-JP" altLang="en-US" sz="1600">
                <a:solidFill>
                  <a:schemeClr val="tx1"/>
                </a:solidFill>
                <a:latin typeface="Meiryo UI" panose="020B0604030504040204" pitchFamily="50" charset="-128"/>
                <a:ea typeface="Meiryo UI" panose="020B0604030504040204" pitchFamily="50" charset="-128"/>
              </a:rPr>
              <a:t>次頁詳細</a:t>
            </a:r>
            <a:r>
              <a:rPr kumimoji="1" lang="en-US" altLang="ja-JP" sz="1600">
                <a:solidFill>
                  <a:schemeClr val="tx1"/>
                </a:solidFill>
                <a:latin typeface="Meiryo UI" panose="020B0604030504040204" pitchFamily="50" charset="-128"/>
                <a:ea typeface="Meiryo UI" panose="020B0604030504040204" pitchFamily="50" charset="-128"/>
              </a:rPr>
              <a:t>)</a:t>
            </a:r>
            <a:endParaRPr kumimoji="1" lang="ja-JP" altLang="en-US" sz="16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59412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吹き出し: 線 61">
            <a:extLst>
              <a:ext uri="{FF2B5EF4-FFF2-40B4-BE49-F238E27FC236}">
                <a16:creationId xmlns:a16="http://schemas.microsoft.com/office/drawing/2014/main" id="{B5E048CF-7F7D-F6D7-EC59-634A07AE25FD}"/>
              </a:ext>
            </a:extLst>
          </p:cNvPr>
          <p:cNvSpPr/>
          <p:nvPr/>
        </p:nvSpPr>
        <p:spPr>
          <a:xfrm>
            <a:off x="1671870" y="5146900"/>
            <a:ext cx="2663726" cy="750554"/>
          </a:xfrm>
          <a:prstGeom prst="borderCallout1">
            <a:avLst>
              <a:gd name="adj1" fmla="val -97"/>
              <a:gd name="adj2" fmla="val 55927"/>
              <a:gd name="adj3" fmla="val -178423"/>
              <a:gd name="adj4" fmla="val 88975"/>
            </a:avLst>
          </a:prstGeom>
          <a:solidFill>
            <a:schemeClr val="bg1"/>
          </a:solidFill>
          <a:ln w="15875">
            <a:solidFill>
              <a:srgbClr val="C00000"/>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a:solidFill>
                  <a:schemeClr val="tx1"/>
                </a:solidFill>
                <a:latin typeface="Meiryo UI" panose="020B0604030504040204" pitchFamily="50" charset="-128"/>
                <a:ea typeface="Meiryo UI" panose="020B0604030504040204" pitchFamily="50" charset="-128"/>
              </a:rPr>
              <a:t>CDF(L4)</a:t>
            </a:r>
            <a:r>
              <a:rPr kumimoji="1" lang="ja-JP" altLang="en-US" sz="1050">
                <a:solidFill>
                  <a:schemeClr val="tx1"/>
                </a:solidFill>
                <a:latin typeface="Meiryo UI" panose="020B0604030504040204" pitchFamily="50" charset="-128"/>
                <a:ea typeface="Meiryo UI" panose="020B0604030504040204" pitchFamily="50" charset="-128"/>
              </a:rPr>
              <a:t>上のタグデータを</a:t>
            </a:r>
            <a:r>
              <a:rPr kumimoji="1" lang="en-US" altLang="ja-JP" sz="1050">
                <a:solidFill>
                  <a:schemeClr val="tx1"/>
                </a:solidFill>
                <a:latin typeface="Meiryo UI" panose="020B0604030504040204" pitchFamily="50" charset="-128"/>
                <a:ea typeface="Meiryo UI" panose="020B0604030504040204" pitchFamily="50" charset="-128"/>
              </a:rPr>
              <a:t>(GX</a:t>
            </a:r>
            <a:r>
              <a:rPr kumimoji="1" lang="ja-JP" altLang="en-US" sz="1050">
                <a:solidFill>
                  <a:schemeClr val="tx1"/>
                </a:solidFill>
                <a:latin typeface="Meiryo UI" panose="020B0604030504040204" pitchFamily="50" charset="-128"/>
                <a:ea typeface="Meiryo UI" panose="020B0604030504040204" pitchFamily="50" charset="-128"/>
              </a:rPr>
              <a:t>リーグのモニタリングポイントの単位である</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設備単位へ集約するためのロジックは担当している</a:t>
            </a:r>
            <a:r>
              <a:rPr kumimoji="1" lang="en-US" altLang="ja-JP" sz="1050" b="1" u="sng">
                <a:solidFill>
                  <a:schemeClr val="tx1"/>
                </a:solidFill>
                <a:latin typeface="Meiryo UI" panose="020B0604030504040204" pitchFamily="50" charset="-128"/>
                <a:ea typeface="Meiryo UI" panose="020B0604030504040204" pitchFamily="50" charset="-128"/>
              </a:rPr>
              <a:t>DI</a:t>
            </a:r>
            <a:r>
              <a:rPr kumimoji="1" lang="ja-JP" altLang="en-US" sz="1050" b="1" u="sng">
                <a:solidFill>
                  <a:schemeClr val="tx1"/>
                </a:solidFill>
                <a:latin typeface="Meiryo UI" panose="020B0604030504040204" pitchFamily="50" charset="-128"/>
                <a:ea typeface="Meiryo UI" panose="020B0604030504040204" pitchFamily="50" charset="-128"/>
              </a:rPr>
              <a:t>部四課の巻き込みが必要</a:t>
            </a:r>
            <a:endParaRPr kumimoji="1" lang="en-US" altLang="ja-JP" sz="1050" b="1" u="sng">
              <a:solidFill>
                <a:schemeClr val="tx1"/>
              </a:solidFill>
              <a:latin typeface="Meiryo UI" panose="020B0604030504040204" pitchFamily="50" charset="-128"/>
              <a:ea typeface="Meiryo UI" panose="020B0604030504040204" pitchFamily="50" charset="-128"/>
            </a:endParaRPr>
          </a:p>
        </p:txBody>
      </p:sp>
      <p:sp>
        <p:nvSpPr>
          <p:cNvPr id="145" name="正方形/長方形 144">
            <a:extLst>
              <a:ext uri="{FF2B5EF4-FFF2-40B4-BE49-F238E27FC236}">
                <a16:creationId xmlns:a16="http://schemas.microsoft.com/office/drawing/2014/main" id="{A0C47E27-89A3-C757-BE48-6AE954CEC0F3}"/>
              </a:ext>
            </a:extLst>
          </p:cNvPr>
          <p:cNvSpPr/>
          <p:nvPr/>
        </p:nvSpPr>
        <p:spPr>
          <a:xfrm>
            <a:off x="6307761" y="2577566"/>
            <a:ext cx="1124338" cy="1737512"/>
          </a:xfrm>
          <a:prstGeom prst="rect">
            <a:avLst/>
          </a:prstGeom>
          <a:pattFill prst="wdUpDiag">
            <a:fgClr>
              <a:schemeClr val="accent2">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FD377EEA-FD78-191E-2A16-55C3DF0E19FD}"/>
              </a:ext>
            </a:extLst>
          </p:cNvPr>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タグデータからのデータ収集フローイメージ</a:t>
            </a:r>
            <a:r>
              <a:rPr lang="en-US" altLang="ja-JP">
                <a:latin typeface="Meiryo UI" panose="020B0604030504040204" pitchFamily="50" charset="-128"/>
                <a:ea typeface="Meiryo UI" panose="020B0604030504040204" pitchFamily="50" charset="-128"/>
              </a:rPr>
              <a:t>(1/2)</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C6A8E3C0-A8F5-DF1A-1FF1-74D5843F3F09}"/>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29</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3882310D-A725-40CE-B7A7-D06CE154D8F5}"/>
              </a:ext>
            </a:extLst>
          </p:cNvPr>
          <p:cNvSpPr>
            <a:spLocks noGrp="1"/>
          </p:cNvSpPr>
          <p:nvPr>
            <p:ph type="body" sz="quarter" idx="13"/>
          </p:nvPr>
        </p:nvSpPr>
        <p:spPr/>
        <p:txBody>
          <a:bodyPr>
            <a:noAutofit/>
          </a:bodyPr>
          <a:lstStyle/>
          <a:p>
            <a:r>
              <a:rPr lang="en-US" altLang="ja-JP"/>
              <a:t>GXL</a:t>
            </a:r>
            <a:r>
              <a:rPr lang="ja-JP" altLang="en-US"/>
              <a:t>を新システムのスコープ外とする場合、</a:t>
            </a:r>
            <a:r>
              <a:rPr lang="en-US" altLang="ja-JP"/>
              <a:t>ETL</a:t>
            </a:r>
            <a:r>
              <a:rPr lang="ja-JP" altLang="en-US"/>
              <a:t>ツール上で</a:t>
            </a:r>
            <a:r>
              <a:rPr lang="en-US" altLang="ja-JP"/>
              <a:t>GXL</a:t>
            </a:r>
            <a:r>
              <a:rPr lang="ja-JP" altLang="en-US"/>
              <a:t>用・温対法</a:t>
            </a:r>
            <a:r>
              <a:rPr lang="en-US" altLang="ja-JP"/>
              <a:t>/SSBJ</a:t>
            </a:r>
            <a:r>
              <a:rPr lang="ja-JP" altLang="en-US"/>
              <a:t>用データに区分して集計・変換することで、新システムは温対法</a:t>
            </a:r>
            <a:r>
              <a:rPr lang="en-US" altLang="ja-JP"/>
              <a:t>/SSBJ</a:t>
            </a:r>
            <a:r>
              <a:rPr lang="ja-JP" altLang="en-US"/>
              <a:t>用データのみを特定フォルダから取込むことを想定する</a:t>
            </a:r>
          </a:p>
        </p:txBody>
      </p:sp>
      <p:sp>
        <p:nvSpPr>
          <p:cNvPr id="9" name="正方形/長方形 8">
            <a:extLst>
              <a:ext uri="{FF2B5EF4-FFF2-40B4-BE49-F238E27FC236}">
                <a16:creationId xmlns:a16="http://schemas.microsoft.com/office/drawing/2014/main" id="{8DA19D59-423D-FBFC-4AFC-22A6CA77DBFA}"/>
              </a:ext>
            </a:extLst>
          </p:cNvPr>
          <p:cNvSpPr/>
          <p:nvPr/>
        </p:nvSpPr>
        <p:spPr>
          <a:xfrm>
            <a:off x="5013341" y="2577566"/>
            <a:ext cx="1124338" cy="1737512"/>
          </a:xfrm>
          <a:prstGeom prst="rect">
            <a:avLst/>
          </a:prstGeom>
          <a:pattFill prst="wdUpDiag">
            <a:fgClr>
              <a:schemeClr val="accent6">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0" name="四角形: 角を丸くする 9">
            <a:extLst>
              <a:ext uri="{FF2B5EF4-FFF2-40B4-BE49-F238E27FC236}">
                <a16:creationId xmlns:a16="http://schemas.microsoft.com/office/drawing/2014/main" id="{1803422A-6D7D-D13F-7988-C4AA1C580300}"/>
              </a:ext>
            </a:extLst>
          </p:cNvPr>
          <p:cNvSpPr/>
          <p:nvPr/>
        </p:nvSpPr>
        <p:spPr>
          <a:xfrm>
            <a:off x="1626305" y="2235931"/>
            <a:ext cx="1180171" cy="2150115"/>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1" name="楕円 10">
            <a:extLst>
              <a:ext uri="{FF2B5EF4-FFF2-40B4-BE49-F238E27FC236}">
                <a16:creationId xmlns:a16="http://schemas.microsoft.com/office/drawing/2014/main" id="{98A18229-79FB-640E-EF73-E48C12C8A9D2}"/>
              </a:ext>
            </a:extLst>
          </p:cNvPr>
          <p:cNvSpPr/>
          <p:nvPr/>
        </p:nvSpPr>
        <p:spPr>
          <a:xfrm>
            <a:off x="2126158" y="256972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2" name="楕円 11">
            <a:extLst>
              <a:ext uri="{FF2B5EF4-FFF2-40B4-BE49-F238E27FC236}">
                <a16:creationId xmlns:a16="http://schemas.microsoft.com/office/drawing/2014/main" id="{9AADD3A0-99DC-347D-1BE9-EE835DF9E9D9}"/>
              </a:ext>
            </a:extLst>
          </p:cNvPr>
          <p:cNvSpPr/>
          <p:nvPr/>
        </p:nvSpPr>
        <p:spPr>
          <a:xfrm>
            <a:off x="2126158" y="278887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楕円 12">
            <a:extLst>
              <a:ext uri="{FF2B5EF4-FFF2-40B4-BE49-F238E27FC236}">
                <a16:creationId xmlns:a16="http://schemas.microsoft.com/office/drawing/2014/main" id="{E03D4133-267A-49A2-1BED-2AB43363B990}"/>
              </a:ext>
            </a:extLst>
          </p:cNvPr>
          <p:cNvSpPr/>
          <p:nvPr/>
        </p:nvSpPr>
        <p:spPr>
          <a:xfrm>
            <a:off x="2126158" y="300802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4" name="楕円 13">
            <a:extLst>
              <a:ext uri="{FF2B5EF4-FFF2-40B4-BE49-F238E27FC236}">
                <a16:creationId xmlns:a16="http://schemas.microsoft.com/office/drawing/2014/main" id="{BEE304EA-4B93-6D96-0BBE-3F79113A91CD}"/>
              </a:ext>
            </a:extLst>
          </p:cNvPr>
          <p:cNvSpPr/>
          <p:nvPr/>
        </p:nvSpPr>
        <p:spPr>
          <a:xfrm>
            <a:off x="2126158" y="322717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5" name="楕円 14">
            <a:extLst>
              <a:ext uri="{FF2B5EF4-FFF2-40B4-BE49-F238E27FC236}">
                <a16:creationId xmlns:a16="http://schemas.microsoft.com/office/drawing/2014/main" id="{94C3B4BA-AB83-9151-1ACA-1C9BE9B23885}"/>
              </a:ext>
            </a:extLst>
          </p:cNvPr>
          <p:cNvSpPr/>
          <p:nvPr/>
        </p:nvSpPr>
        <p:spPr>
          <a:xfrm>
            <a:off x="2126158" y="344632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6" name="楕円 15">
            <a:extLst>
              <a:ext uri="{FF2B5EF4-FFF2-40B4-BE49-F238E27FC236}">
                <a16:creationId xmlns:a16="http://schemas.microsoft.com/office/drawing/2014/main" id="{14B86711-289D-93EF-F302-0F86189D7CB0}"/>
              </a:ext>
            </a:extLst>
          </p:cNvPr>
          <p:cNvSpPr/>
          <p:nvPr/>
        </p:nvSpPr>
        <p:spPr>
          <a:xfrm>
            <a:off x="2126158" y="366547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7" name="楕円 16">
            <a:extLst>
              <a:ext uri="{FF2B5EF4-FFF2-40B4-BE49-F238E27FC236}">
                <a16:creationId xmlns:a16="http://schemas.microsoft.com/office/drawing/2014/main" id="{E835BD18-38A3-25C3-A652-811408E44C6A}"/>
              </a:ext>
            </a:extLst>
          </p:cNvPr>
          <p:cNvSpPr/>
          <p:nvPr/>
        </p:nvSpPr>
        <p:spPr>
          <a:xfrm>
            <a:off x="2126158" y="388462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8" name="楕円 17">
            <a:extLst>
              <a:ext uri="{FF2B5EF4-FFF2-40B4-BE49-F238E27FC236}">
                <a16:creationId xmlns:a16="http://schemas.microsoft.com/office/drawing/2014/main" id="{051DC148-CD86-A59A-2E61-5404F9205DB5}"/>
              </a:ext>
            </a:extLst>
          </p:cNvPr>
          <p:cNvSpPr/>
          <p:nvPr/>
        </p:nvSpPr>
        <p:spPr>
          <a:xfrm>
            <a:off x="2126158" y="410377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156DE69B-2835-1C8E-9220-8F28264E36A8}"/>
              </a:ext>
            </a:extLst>
          </p:cNvPr>
          <p:cNvSpPr/>
          <p:nvPr/>
        </p:nvSpPr>
        <p:spPr>
          <a:xfrm>
            <a:off x="1759189" y="2107730"/>
            <a:ext cx="914400" cy="218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CDF(L4)</a:t>
            </a:r>
            <a:endParaRPr kumimoji="1" lang="ja-JP" altLang="en-US" sz="1400">
              <a:solidFill>
                <a:schemeClr val="tx1"/>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2D35BFAE-50B1-25C4-C694-4813677057B5}"/>
              </a:ext>
            </a:extLst>
          </p:cNvPr>
          <p:cNvSpPr/>
          <p:nvPr/>
        </p:nvSpPr>
        <p:spPr>
          <a:xfrm>
            <a:off x="2892490" y="2235931"/>
            <a:ext cx="1839050" cy="2150115"/>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7924EAB1-E79C-245C-C2AD-22F83D7973B1}"/>
              </a:ext>
            </a:extLst>
          </p:cNvPr>
          <p:cNvSpPr/>
          <p:nvPr/>
        </p:nvSpPr>
        <p:spPr>
          <a:xfrm>
            <a:off x="3293396" y="2107730"/>
            <a:ext cx="1106424" cy="218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ETL</a:t>
            </a:r>
            <a:r>
              <a:rPr kumimoji="1" lang="ja-JP" altLang="en-US" sz="1400">
                <a:solidFill>
                  <a:schemeClr val="tx1"/>
                </a:solidFill>
                <a:latin typeface="Meiryo UI" panose="020B0604030504040204" pitchFamily="50" charset="-128"/>
                <a:ea typeface="Meiryo UI" panose="020B0604030504040204" pitchFamily="50" charset="-128"/>
              </a:rPr>
              <a:t>ツール</a:t>
            </a:r>
            <a:endParaRPr kumimoji="1" lang="en-US" altLang="ja-JP" sz="1400">
              <a:solidFill>
                <a:schemeClr val="tx1"/>
              </a:solidFill>
              <a:latin typeface="Meiryo UI" panose="020B0604030504040204" pitchFamily="50" charset="-128"/>
              <a:ea typeface="Meiryo UI" panose="020B0604030504040204" pitchFamily="50" charset="-128"/>
            </a:endParaRPr>
          </a:p>
        </p:txBody>
      </p:sp>
      <p:sp>
        <p:nvSpPr>
          <p:cNvPr id="22" name="楕円 21">
            <a:extLst>
              <a:ext uri="{FF2B5EF4-FFF2-40B4-BE49-F238E27FC236}">
                <a16:creationId xmlns:a16="http://schemas.microsoft.com/office/drawing/2014/main" id="{C7263B85-3C91-9CE6-75A0-AB9135E8997D}"/>
              </a:ext>
            </a:extLst>
          </p:cNvPr>
          <p:cNvSpPr/>
          <p:nvPr/>
        </p:nvSpPr>
        <p:spPr>
          <a:xfrm>
            <a:off x="3345812" y="256972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3" name="楕円 22">
            <a:extLst>
              <a:ext uri="{FF2B5EF4-FFF2-40B4-BE49-F238E27FC236}">
                <a16:creationId xmlns:a16="http://schemas.microsoft.com/office/drawing/2014/main" id="{8A1C946D-CEB3-EE04-322D-7364A10A76DD}"/>
              </a:ext>
            </a:extLst>
          </p:cNvPr>
          <p:cNvSpPr/>
          <p:nvPr/>
        </p:nvSpPr>
        <p:spPr>
          <a:xfrm>
            <a:off x="3345812" y="278887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4" name="楕円 23">
            <a:extLst>
              <a:ext uri="{FF2B5EF4-FFF2-40B4-BE49-F238E27FC236}">
                <a16:creationId xmlns:a16="http://schemas.microsoft.com/office/drawing/2014/main" id="{11A3EB3D-ED3E-0B6C-0CB1-EBE828F9051C}"/>
              </a:ext>
            </a:extLst>
          </p:cNvPr>
          <p:cNvSpPr/>
          <p:nvPr/>
        </p:nvSpPr>
        <p:spPr>
          <a:xfrm>
            <a:off x="3345812" y="300802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5" name="楕円 24">
            <a:extLst>
              <a:ext uri="{FF2B5EF4-FFF2-40B4-BE49-F238E27FC236}">
                <a16:creationId xmlns:a16="http://schemas.microsoft.com/office/drawing/2014/main" id="{F04C2468-8704-9860-3225-972B356FEAB6}"/>
              </a:ext>
            </a:extLst>
          </p:cNvPr>
          <p:cNvSpPr/>
          <p:nvPr/>
        </p:nvSpPr>
        <p:spPr>
          <a:xfrm>
            <a:off x="3345812" y="322717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6" name="楕円 25">
            <a:extLst>
              <a:ext uri="{FF2B5EF4-FFF2-40B4-BE49-F238E27FC236}">
                <a16:creationId xmlns:a16="http://schemas.microsoft.com/office/drawing/2014/main" id="{E67FF6A7-6A24-630C-E374-5B9936EFC781}"/>
              </a:ext>
            </a:extLst>
          </p:cNvPr>
          <p:cNvSpPr/>
          <p:nvPr/>
        </p:nvSpPr>
        <p:spPr>
          <a:xfrm>
            <a:off x="3345812" y="344632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7" name="楕円 26">
            <a:extLst>
              <a:ext uri="{FF2B5EF4-FFF2-40B4-BE49-F238E27FC236}">
                <a16:creationId xmlns:a16="http://schemas.microsoft.com/office/drawing/2014/main" id="{3FD1A7E2-013E-D6FF-6DBA-F5B6BD9DABDE}"/>
              </a:ext>
            </a:extLst>
          </p:cNvPr>
          <p:cNvSpPr/>
          <p:nvPr/>
        </p:nvSpPr>
        <p:spPr>
          <a:xfrm>
            <a:off x="3345812" y="366547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8" name="楕円 27">
            <a:extLst>
              <a:ext uri="{FF2B5EF4-FFF2-40B4-BE49-F238E27FC236}">
                <a16:creationId xmlns:a16="http://schemas.microsoft.com/office/drawing/2014/main" id="{A483B731-CCB1-8E84-E161-EDEFFE834957}"/>
              </a:ext>
            </a:extLst>
          </p:cNvPr>
          <p:cNvSpPr/>
          <p:nvPr/>
        </p:nvSpPr>
        <p:spPr>
          <a:xfrm>
            <a:off x="3345812" y="388462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9" name="楕円 28">
            <a:extLst>
              <a:ext uri="{FF2B5EF4-FFF2-40B4-BE49-F238E27FC236}">
                <a16:creationId xmlns:a16="http://schemas.microsoft.com/office/drawing/2014/main" id="{C52586C6-D2FD-6B7C-7BAF-32A6B21C4433}"/>
              </a:ext>
            </a:extLst>
          </p:cNvPr>
          <p:cNvSpPr/>
          <p:nvPr/>
        </p:nvSpPr>
        <p:spPr>
          <a:xfrm>
            <a:off x="3345812" y="4103772"/>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E343E826-0241-E41C-B272-CE4B6324B975}"/>
              </a:ext>
            </a:extLst>
          </p:cNvPr>
          <p:cNvSpPr/>
          <p:nvPr/>
        </p:nvSpPr>
        <p:spPr>
          <a:xfrm>
            <a:off x="3961414" y="2763720"/>
            <a:ext cx="218900" cy="218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モ</a:t>
            </a:r>
          </a:p>
        </p:txBody>
      </p:sp>
      <p:sp>
        <p:nvSpPr>
          <p:cNvPr id="32" name="正方形/長方形 31">
            <a:extLst>
              <a:ext uri="{FF2B5EF4-FFF2-40B4-BE49-F238E27FC236}">
                <a16:creationId xmlns:a16="http://schemas.microsoft.com/office/drawing/2014/main" id="{C97824C8-28DA-D2C2-3D4E-77684E247A1C}"/>
              </a:ext>
            </a:extLst>
          </p:cNvPr>
          <p:cNvSpPr/>
          <p:nvPr/>
        </p:nvSpPr>
        <p:spPr>
          <a:xfrm>
            <a:off x="3961414" y="3105524"/>
            <a:ext cx="218900" cy="218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モ</a:t>
            </a:r>
          </a:p>
        </p:txBody>
      </p:sp>
      <p:sp>
        <p:nvSpPr>
          <p:cNvPr id="33" name="正方形/長方形 32">
            <a:extLst>
              <a:ext uri="{FF2B5EF4-FFF2-40B4-BE49-F238E27FC236}">
                <a16:creationId xmlns:a16="http://schemas.microsoft.com/office/drawing/2014/main" id="{AE42FEDB-5CDD-46C0-AC71-EBCAC250EC4D}"/>
              </a:ext>
            </a:extLst>
          </p:cNvPr>
          <p:cNvSpPr/>
          <p:nvPr/>
        </p:nvSpPr>
        <p:spPr>
          <a:xfrm>
            <a:off x="3961414" y="3440463"/>
            <a:ext cx="218900" cy="218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モ</a:t>
            </a:r>
          </a:p>
        </p:txBody>
      </p:sp>
      <p:sp>
        <p:nvSpPr>
          <p:cNvPr id="41" name="四角形: 角を丸くする 40">
            <a:extLst>
              <a:ext uri="{FF2B5EF4-FFF2-40B4-BE49-F238E27FC236}">
                <a16:creationId xmlns:a16="http://schemas.microsoft.com/office/drawing/2014/main" id="{016E1A0C-D92B-1450-CEEA-282E6C707067}"/>
              </a:ext>
            </a:extLst>
          </p:cNvPr>
          <p:cNvSpPr/>
          <p:nvPr/>
        </p:nvSpPr>
        <p:spPr>
          <a:xfrm>
            <a:off x="4882188" y="2235931"/>
            <a:ext cx="2786155" cy="2150115"/>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83674B4D-DBC8-2DCE-583F-A158C9D77AD4}"/>
              </a:ext>
            </a:extLst>
          </p:cNvPr>
          <p:cNvSpPr/>
          <p:nvPr/>
        </p:nvSpPr>
        <p:spPr>
          <a:xfrm>
            <a:off x="5492470" y="2107730"/>
            <a:ext cx="1570142" cy="218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特定フォルダ</a:t>
            </a:r>
            <a:endParaRPr kumimoji="1" lang="en-US" altLang="ja-JP" sz="14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a:t>
            </a:r>
            <a:r>
              <a:rPr kumimoji="1" lang="en-US" altLang="ja-JP" sz="900">
                <a:solidFill>
                  <a:schemeClr val="tx1"/>
                </a:solidFill>
                <a:latin typeface="Meiryo UI" panose="020B0604030504040204" pitchFamily="50" charset="-128"/>
                <a:ea typeface="Meiryo UI" panose="020B0604030504040204" pitchFamily="50" charset="-128"/>
              </a:rPr>
              <a:t>S3, STFP</a:t>
            </a:r>
            <a:r>
              <a:rPr kumimoji="1" lang="ja-JP" altLang="en-US" sz="900">
                <a:solidFill>
                  <a:schemeClr val="tx1"/>
                </a:solidFill>
                <a:latin typeface="Meiryo UI" panose="020B0604030504040204" pitchFamily="50" charset="-128"/>
                <a:ea typeface="Meiryo UI" panose="020B0604030504040204" pitchFamily="50" charset="-128"/>
              </a:rPr>
              <a:t>サーバなど）</a:t>
            </a:r>
            <a:endParaRPr kumimoji="1" lang="en-US" altLang="ja-JP" sz="90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1EFC0381-E93D-380F-6E33-73A4B8156F40}"/>
              </a:ext>
            </a:extLst>
          </p:cNvPr>
          <p:cNvSpPr/>
          <p:nvPr/>
        </p:nvSpPr>
        <p:spPr>
          <a:xfrm>
            <a:off x="5161306" y="2773690"/>
            <a:ext cx="218900" cy="218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モ</a:t>
            </a:r>
          </a:p>
        </p:txBody>
      </p:sp>
      <p:sp>
        <p:nvSpPr>
          <p:cNvPr id="44" name="正方形/長方形 43">
            <a:extLst>
              <a:ext uri="{FF2B5EF4-FFF2-40B4-BE49-F238E27FC236}">
                <a16:creationId xmlns:a16="http://schemas.microsoft.com/office/drawing/2014/main" id="{2E0CB299-E136-0EC9-61FB-7C466AD50012}"/>
              </a:ext>
            </a:extLst>
          </p:cNvPr>
          <p:cNvSpPr/>
          <p:nvPr/>
        </p:nvSpPr>
        <p:spPr>
          <a:xfrm>
            <a:off x="5161306" y="3313226"/>
            <a:ext cx="218900" cy="218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モ</a:t>
            </a:r>
          </a:p>
        </p:txBody>
      </p:sp>
      <p:sp>
        <p:nvSpPr>
          <p:cNvPr id="45" name="正方形/長方形 44">
            <a:extLst>
              <a:ext uri="{FF2B5EF4-FFF2-40B4-BE49-F238E27FC236}">
                <a16:creationId xmlns:a16="http://schemas.microsoft.com/office/drawing/2014/main" id="{0279DB76-E69A-174A-F4F7-4F4563F0CB92}"/>
              </a:ext>
            </a:extLst>
          </p:cNvPr>
          <p:cNvSpPr/>
          <p:nvPr/>
        </p:nvSpPr>
        <p:spPr>
          <a:xfrm>
            <a:off x="5161306" y="3852763"/>
            <a:ext cx="218900" cy="218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モ</a:t>
            </a:r>
          </a:p>
        </p:txBody>
      </p:sp>
      <p:pic>
        <p:nvPicPr>
          <p:cNvPr id="46" name="グラフィックス 45" descr="フォルダー 単色塗りつぶし">
            <a:extLst>
              <a:ext uri="{FF2B5EF4-FFF2-40B4-BE49-F238E27FC236}">
                <a16:creationId xmlns:a16="http://schemas.microsoft.com/office/drawing/2014/main" id="{570A602B-67F6-A5FA-99C0-EFA8B8B659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2328" y="2324046"/>
            <a:ext cx="387795" cy="387795"/>
          </a:xfrm>
          <a:prstGeom prst="rect">
            <a:avLst/>
          </a:prstGeom>
        </p:spPr>
      </p:pic>
      <p:cxnSp>
        <p:nvCxnSpPr>
          <p:cNvPr id="47" name="直線矢印コネクタ 46">
            <a:extLst>
              <a:ext uri="{FF2B5EF4-FFF2-40B4-BE49-F238E27FC236}">
                <a16:creationId xmlns:a16="http://schemas.microsoft.com/office/drawing/2014/main" id="{656B0DBF-9C0B-BEAA-D2AB-30514D65B012}"/>
              </a:ext>
            </a:extLst>
          </p:cNvPr>
          <p:cNvCxnSpPr>
            <a:stCxn id="11" idx="6"/>
            <a:endCxn id="22" idx="2"/>
          </p:cNvCxnSpPr>
          <p:nvPr/>
        </p:nvCxnSpPr>
        <p:spPr>
          <a:xfrm>
            <a:off x="2296477" y="2651179"/>
            <a:ext cx="1049335"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02C1134E-7F8D-E1AD-7371-C5A658C11378}"/>
              </a:ext>
            </a:extLst>
          </p:cNvPr>
          <p:cNvCxnSpPr>
            <a:cxnSpLocks/>
            <a:stCxn id="12" idx="6"/>
            <a:endCxn id="23" idx="2"/>
          </p:cNvCxnSpPr>
          <p:nvPr/>
        </p:nvCxnSpPr>
        <p:spPr>
          <a:xfrm>
            <a:off x="2296477" y="2870329"/>
            <a:ext cx="1049335"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9C87B9F6-6EE2-EF3F-0B29-C7E48EB7C3B0}"/>
              </a:ext>
            </a:extLst>
          </p:cNvPr>
          <p:cNvCxnSpPr>
            <a:cxnSpLocks/>
            <a:stCxn id="13" idx="6"/>
            <a:endCxn id="24" idx="2"/>
          </p:cNvCxnSpPr>
          <p:nvPr/>
        </p:nvCxnSpPr>
        <p:spPr>
          <a:xfrm>
            <a:off x="2296477" y="3089479"/>
            <a:ext cx="1049335"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7086B80A-DC37-DF26-F0E2-69AF88D07063}"/>
              </a:ext>
            </a:extLst>
          </p:cNvPr>
          <p:cNvCxnSpPr>
            <a:cxnSpLocks/>
            <a:stCxn id="14" idx="6"/>
            <a:endCxn id="25" idx="2"/>
          </p:cNvCxnSpPr>
          <p:nvPr/>
        </p:nvCxnSpPr>
        <p:spPr>
          <a:xfrm>
            <a:off x="2296477" y="3308629"/>
            <a:ext cx="1049335"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192F77D9-2AC0-9CF9-DADC-F04E0AFEA945}"/>
              </a:ext>
            </a:extLst>
          </p:cNvPr>
          <p:cNvCxnSpPr>
            <a:cxnSpLocks/>
            <a:stCxn id="15" idx="6"/>
            <a:endCxn id="26" idx="2"/>
          </p:cNvCxnSpPr>
          <p:nvPr/>
        </p:nvCxnSpPr>
        <p:spPr>
          <a:xfrm>
            <a:off x="2296477" y="3527779"/>
            <a:ext cx="1049335"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922415EA-83BF-4960-BED5-3DD223E29713}"/>
              </a:ext>
            </a:extLst>
          </p:cNvPr>
          <p:cNvCxnSpPr>
            <a:cxnSpLocks/>
            <a:stCxn id="16" idx="6"/>
            <a:endCxn id="27" idx="2"/>
          </p:cNvCxnSpPr>
          <p:nvPr/>
        </p:nvCxnSpPr>
        <p:spPr>
          <a:xfrm>
            <a:off x="2296477" y="3746929"/>
            <a:ext cx="1049335"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9CB5EF39-2004-9D65-B3C0-140C34B3F452}"/>
              </a:ext>
            </a:extLst>
          </p:cNvPr>
          <p:cNvCxnSpPr>
            <a:cxnSpLocks/>
            <a:stCxn id="17" idx="6"/>
            <a:endCxn id="28" idx="2"/>
          </p:cNvCxnSpPr>
          <p:nvPr/>
        </p:nvCxnSpPr>
        <p:spPr>
          <a:xfrm>
            <a:off x="2296477" y="3966079"/>
            <a:ext cx="1049335"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5DE6F7AD-4A8C-0797-71A1-ED38D715CED2}"/>
              </a:ext>
            </a:extLst>
          </p:cNvPr>
          <p:cNvCxnSpPr>
            <a:cxnSpLocks/>
            <a:stCxn id="18" idx="6"/>
            <a:endCxn id="29" idx="2"/>
          </p:cNvCxnSpPr>
          <p:nvPr/>
        </p:nvCxnSpPr>
        <p:spPr>
          <a:xfrm>
            <a:off x="2296477" y="4185229"/>
            <a:ext cx="1049335"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4EF0B4D4-3057-7D66-03AC-3EA607B05C25}"/>
              </a:ext>
            </a:extLst>
          </p:cNvPr>
          <p:cNvCxnSpPr>
            <a:cxnSpLocks/>
            <a:stCxn id="31" idx="3"/>
          </p:cNvCxnSpPr>
          <p:nvPr/>
        </p:nvCxnSpPr>
        <p:spPr>
          <a:xfrm>
            <a:off x="4180314" y="2873170"/>
            <a:ext cx="833027"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DDFED344-7692-4102-C578-D50AC9A9CC7C}"/>
              </a:ext>
            </a:extLst>
          </p:cNvPr>
          <p:cNvCxnSpPr>
            <a:cxnSpLocks/>
            <a:stCxn id="32" idx="3"/>
          </p:cNvCxnSpPr>
          <p:nvPr/>
        </p:nvCxnSpPr>
        <p:spPr>
          <a:xfrm>
            <a:off x="4180314" y="3214974"/>
            <a:ext cx="833027"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1A88D1C5-E5C6-1D75-FA18-867E3D912AAA}"/>
              </a:ext>
            </a:extLst>
          </p:cNvPr>
          <p:cNvCxnSpPr>
            <a:cxnSpLocks/>
            <a:stCxn id="33" idx="3"/>
          </p:cNvCxnSpPr>
          <p:nvPr/>
        </p:nvCxnSpPr>
        <p:spPr>
          <a:xfrm>
            <a:off x="4180314" y="3549913"/>
            <a:ext cx="833027"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四角形: 角を丸くする 57">
            <a:extLst>
              <a:ext uri="{FF2B5EF4-FFF2-40B4-BE49-F238E27FC236}">
                <a16:creationId xmlns:a16="http://schemas.microsoft.com/office/drawing/2014/main" id="{2F5042D7-D146-A163-1244-92586F306296}"/>
              </a:ext>
            </a:extLst>
          </p:cNvPr>
          <p:cNvSpPr/>
          <p:nvPr/>
        </p:nvSpPr>
        <p:spPr>
          <a:xfrm>
            <a:off x="7839714" y="2235931"/>
            <a:ext cx="1083020" cy="2150115"/>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02BE09C5-100B-4D24-A6F8-9E4686A08EC2}"/>
              </a:ext>
            </a:extLst>
          </p:cNvPr>
          <p:cNvSpPr/>
          <p:nvPr/>
        </p:nvSpPr>
        <p:spPr>
          <a:xfrm>
            <a:off x="7878304" y="2107730"/>
            <a:ext cx="1005840" cy="218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新システム</a:t>
            </a:r>
            <a:endParaRPr kumimoji="1" lang="en-US" altLang="ja-JP" sz="1400">
              <a:solidFill>
                <a:schemeClr val="tx1"/>
              </a:solidFill>
              <a:latin typeface="Meiryo UI" panose="020B0604030504040204" pitchFamily="50" charset="-128"/>
              <a:ea typeface="Meiryo UI" panose="020B0604030504040204" pitchFamily="50" charset="-128"/>
            </a:endParaRPr>
          </a:p>
        </p:txBody>
      </p:sp>
      <p:cxnSp>
        <p:nvCxnSpPr>
          <p:cNvPr id="60" name="直線矢印コネクタ 59">
            <a:extLst>
              <a:ext uri="{FF2B5EF4-FFF2-40B4-BE49-F238E27FC236}">
                <a16:creationId xmlns:a16="http://schemas.microsoft.com/office/drawing/2014/main" id="{FA1BFE15-E8BD-2018-BC9D-611440E8ABF5}"/>
              </a:ext>
            </a:extLst>
          </p:cNvPr>
          <p:cNvCxnSpPr>
            <a:cxnSpLocks/>
          </p:cNvCxnSpPr>
          <p:nvPr/>
        </p:nvCxnSpPr>
        <p:spPr>
          <a:xfrm>
            <a:off x="7439029" y="3399265"/>
            <a:ext cx="445339" cy="0"/>
          </a:xfrm>
          <a:prstGeom prst="straightConnector1">
            <a:avLst/>
          </a:prstGeom>
          <a:ln w="31750">
            <a:solidFill>
              <a:schemeClr val="tx2"/>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9" name="四角形: 角を丸くする 78">
            <a:extLst>
              <a:ext uri="{FF2B5EF4-FFF2-40B4-BE49-F238E27FC236}">
                <a16:creationId xmlns:a16="http://schemas.microsoft.com/office/drawing/2014/main" id="{5E9974A8-9FF7-D2C8-9241-B3284D3C9EB7}"/>
              </a:ext>
            </a:extLst>
          </p:cNvPr>
          <p:cNvSpPr/>
          <p:nvPr/>
        </p:nvSpPr>
        <p:spPr>
          <a:xfrm>
            <a:off x="7878304" y="4547690"/>
            <a:ext cx="1005840" cy="390232"/>
          </a:xfrm>
          <a:prstGeom prst="roundRect">
            <a:avLst/>
          </a:prstGeom>
          <a:noFill/>
          <a:ln w="22225">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80" name="正方形/長方形 79">
            <a:extLst>
              <a:ext uri="{FF2B5EF4-FFF2-40B4-BE49-F238E27FC236}">
                <a16:creationId xmlns:a16="http://schemas.microsoft.com/office/drawing/2014/main" id="{0D05FC23-12B2-3C10-918A-E34528DD8A38}"/>
              </a:ext>
            </a:extLst>
          </p:cNvPr>
          <p:cNvSpPr/>
          <p:nvPr/>
        </p:nvSpPr>
        <p:spPr>
          <a:xfrm>
            <a:off x="7946934" y="4820850"/>
            <a:ext cx="873065" cy="218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Meiryo UI" panose="020B0604030504040204" pitchFamily="50" charset="-128"/>
                <a:ea typeface="Meiryo UI" panose="020B0604030504040204" pitchFamily="50" charset="-128"/>
              </a:rPr>
              <a:t>東亜石油</a:t>
            </a:r>
            <a:endParaRPr kumimoji="1" lang="en-US" altLang="ja-JP" sz="1100">
              <a:solidFill>
                <a:schemeClr val="tx1"/>
              </a:solidFill>
              <a:latin typeface="Meiryo UI" panose="020B0604030504040204" pitchFamily="50" charset="-128"/>
              <a:ea typeface="Meiryo UI" panose="020B0604030504040204" pitchFamily="50" charset="-128"/>
            </a:endParaRPr>
          </a:p>
        </p:txBody>
      </p:sp>
      <p:cxnSp>
        <p:nvCxnSpPr>
          <p:cNvPr id="83" name="直線矢印コネクタ 82">
            <a:extLst>
              <a:ext uri="{FF2B5EF4-FFF2-40B4-BE49-F238E27FC236}">
                <a16:creationId xmlns:a16="http://schemas.microsoft.com/office/drawing/2014/main" id="{3E759235-7FF9-6045-3DE1-C39305B5CC3D}"/>
              </a:ext>
            </a:extLst>
          </p:cNvPr>
          <p:cNvCxnSpPr>
            <a:cxnSpLocks/>
            <a:stCxn id="79" idx="0"/>
            <a:endCxn id="58" idx="2"/>
          </p:cNvCxnSpPr>
          <p:nvPr/>
        </p:nvCxnSpPr>
        <p:spPr>
          <a:xfrm flipV="1">
            <a:off x="8381224" y="4386046"/>
            <a:ext cx="0" cy="161644"/>
          </a:xfrm>
          <a:prstGeom prst="straightConnector1">
            <a:avLst/>
          </a:prstGeom>
          <a:ln w="25400">
            <a:solidFill>
              <a:schemeClr val="bg2">
                <a:lumMod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楕円 86">
            <a:extLst>
              <a:ext uri="{FF2B5EF4-FFF2-40B4-BE49-F238E27FC236}">
                <a16:creationId xmlns:a16="http://schemas.microsoft.com/office/drawing/2014/main" id="{ABBFB378-CD98-82B7-6DF7-37AF29DCB384}"/>
              </a:ext>
            </a:extLst>
          </p:cNvPr>
          <p:cNvSpPr/>
          <p:nvPr/>
        </p:nvSpPr>
        <p:spPr>
          <a:xfrm>
            <a:off x="5500083" y="2860584"/>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89" name="楕円 88">
            <a:extLst>
              <a:ext uri="{FF2B5EF4-FFF2-40B4-BE49-F238E27FC236}">
                <a16:creationId xmlns:a16="http://schemas.microsoft.com/office/drawing/2014/main" id="{6F866430-0062-C2D3-E273-7D0EBBA39CB3}"/>
              </a:ext>
            </a:extLst>
          </p:cNvPr>
          <p:cNvSpPr/>
          <p:nvPr/>
        </p:nvSpPr>
        <p:spPr>
          <a:xfrm>
            <a:off x="5647579" y="2860584"/>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0" name="楕円 89">
            <a:extLst>
              <a:ext uri="{FF2B5EF4-FFF2-40B4-BE49-F238E27FC236}">
                <a16:creationId xmlns:a16="http://schemas.microsoft.com/office/drawing/2014/main" id="{A3277453-FB32-8E3E-90DC-E59A3010039F}"/>
              </a:ext>
            </a:extLst>
          </p:cNvPr>
          <p:cNvSpPr/>
          <p:nvPr/>
        </p:nvSpPr>
        <p:spPr>
          <a:xfrm>
            <a:off x="5795075" y="2860584"/>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1" name="楕円 90">
            <a:extLst>
              <a:ext uri="{FF2B5EF4-FFF2-40B4-BE49-F238E27FC236}">
                <a16:creationId xmlns:a16="http://schemas.microsoft.com/office/drawing/2014/main" id="{D87531F5-88F0-8B20-190E-C7B133787C64}"/>
              </a:ext>
            </a:extLst>
          </p:cNvPr>
          <p:cNvSpPr/>
          <p:nvPr/>
        </p:nvSpPr>
        <p:spPr>
          <a:xfrm>
            <a:off x="5500083" y="3390085"/>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2" name="楕円 91">
            <a:extLst>
              <a:ext uri="{FF2B5EF4-FFF2-40B4-BE49-F238E27FC236}">
                <a16:creationId xmlns:a16="http://schemas.microsoft.com/office/drawing/2014/main" id="{2B23B00F-48D1-DE98-D953-01408CEF0C9E}"/>
              </a:ext>
            </a:extLst>
          </p:cNvPr>
          <p:cNvSpPr/>
          <p:nvPr/>
        </p:nvSpPr>
        <p:spPr>
          <a:xfrm>
            <a:off x="5647579" y="3390085"/>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3" name="楕円 92">
            <a:extLst>
              <a:ext uri="{FF2B5EF4-FFF2-40B4-BE49-F238E27FC236}">
                <a16:creationId xmlns:a16="http://schemas.microsoft.com/office/drawing/2014/main" id="{191C64D2-CB6C-1765-0117-2323864E55EE}"/>
              </a:ext>
            </a:extLst>
          </p:cNvPr>
          <p:cNvSpPr/>
          <p:nvPr/>
        </p:nvSpPr>
        <p:spPr>
          <a:xfrm>
            <a:off x="5795075" y="3390085"/>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4" name="楕円 93">
            <a:extLst>
              <a:ext uri="{FF2B5EF4-FFF2-40B4-BE49-F238E27FC236}">
                <a16:creationId xmlns:a16="http://schemas.microsoft.com/office/drawing/2014/main" id="{FCAAFF09-5999-2256-34B9-02E5495C1D91}"/>
              </a:ext>
            </a:extLst>
          </p:cNvPr>
          <p:cNvSpPr/>
          <p:nvPr/>
        </p:nvSpPr>
        <p:spPr>
          <a:xfrm>
            <a:off x="5500083" y="3935975"/>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5" name="楕円 94">
            <a:extLst>
              <a:ext uri="{FF2B5EF4-FFF2-40B4-BE49-F238E27FC236}">
                <a16:creationId xmlns:a16="http://schemas.microsoft.com/office/drawing/2014/main" id="{3A04B418-FC4F-72AC-455E-E54224A101C7}"/>
              </a:ext>
            </a:extLst>
          </p:cNvPr>
          <p:cNvSpPr/>
          <p:nvPr/>
        </p:nvSpPr>
        <p:spPr>
          <a:xfrm>
            <a:off x="5647579" y="3935975"/>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6" name="楕円 95">
            <a:extLst>
              <a:ext uri="{FF2B5EF4-FFF2-40B4-BE49-F238E27FC236}">
                <a16:creationId xmlns:a16="http://schemas.microsoft.com/office/drawing/2014/main" id="{D6FF16A4-564E-39C0-20ED-09C14FCCE0CB}"/>
              </a:ext>
            </a:extLst>
          </p:cNvPr>
          <p:cNvSpPr/>
          <p:nvPr/>
        </p:nvSpPr>
        <p:spPr>
          <a:xfrm>
            <a:off x="5795075" y="3935975"/>
            <a:ext cx="60208" cy="6020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7" name="左中かっこ 96">
            <a:extLst>
              <a:ext uri="{FF2B5EF4-FFF2-40B4-BE49-F238E27FC236}">
                <a16:creationId xmlns:a16="http://schemas.microsoft.com/office/drawing/2014/main" id="{1E41988A-110B-B1CB-AD16-972095100CC0}"/>
              </a:ext>
            </a:extLst>
          </p:cNvPr>
          <p:cNvSpPr/>
          <p:nvPr/>
        </p:nvSpPr>
        <p:spPr>
          <a:xfrm>
            <a:off x="1248308" y="2183919"/>
            <a:ext cx="155448" cy="2371719"/>
          </a:xfrm>
          <a:prstGeom prst="leftBrac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98" name="正方形/長方形 97">
            <a:extLst>
              <a:ext uri="{FF2B5EF4-FFF2-40B4-BE49-F238E27FC236}">
                <a16:creationId xmlns:a16="http://schemas.microsoft.com/office/drawing/2014/main" id="{24E5D4E0-89DD-556E-97E9-30AB088FE430}"/>
              </a:ext>
            </a:extLst>
          </p:cNvPr>
          <p:cNvSpPr/>
          <p:nvPr/>
        </p:nvSpPr>
        <p:spPr>
          <a:xfrm>
            <a:off x="24172" y="2357109"/>
            <a:ext cx="1187264" cy="1996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100">
                <a:solidFill>
                  <a:schemeClr val="tx1"/>
                </a:solidFill>
                <a:latin typeface="Meiryo UI" panose="020B0604030504040204" pitchFamily="50" charset="-128"/>
                <a:ea typeface="Meiryo UI" panose="020B0604030504040204" pitchFamily="50" charset="-128"/>
              </a:rPr>
              <a:t>出光興産製油所</a:t>
            </a:r>
            <a:endParaRPr kumimoji="1" lang="en-US" altLang="ja-JP" sz="1100">
              <a:solidFill>
                <a:schemeClr val="tx1"/>
              </a:solidFill>
              <a:latin typeface="Meiryo UI" panose="020B0604030504040204" pitchFamily="50" charset="-128"/>
              <a:ea typeface="Meiryo UI" panose="020B0604030504040204" pitchFamily="50" charset="-128"/>
            </a:endParaRPr>
          </a:p>
          <a:p>
            <a:pPr algn="ctr"/>
            <a:r>
              <a:rPr kumimoji="1" lang="en-US" altLang="ja-JP" sz="1100">
                <a:solidFill>
                  <a:schemeClr val="tx1"/>
                </a:solidFill>
                <a:latin typeface="Meiryo UI" panose="020B0604030504040204" pitchFamily="50" charset="-128"/>
                <a:ea typeface="Meiryo UI" panose="020B0604030504040204" pitchFamily="50" charset="-128"/>
              </a:rPr>
              <a:t>+</a:t>
            </a:r>
          </a:p>
          <a:p>
            <a:pPr algn="ctr"/>
            <a:r>
              <a:rPr kumimoji="1" lang="ja-JP" altLang="en-US" sz="1100">
                <a:solidFill>
                  <a:schemeClr val="tx1"/>
                </a:solidFill>
                <a:latin typeface="Meiryo UI" panose="020B0604030504040204" pitchFamily="50" charset="-128"/>
                <a:ea typeface="Meiryo UI" panose="020B0604030504040204" pitchFamily="50" charset="-128"/>
              </a:rPr>
              <a:t>昭和四日市 </a:t>
            </a:r>
            <a:r>
              <a:rPr kumimoji="1" lang="en-US" altLang="ja-JP" sz="1100">
                <a:solidFill>
                  <a:schemeClr val="tx1"/>
                </a:solidFill>
                <a:latin typeface="Meiryo UI" panose="020B0604030504040204" pitchFamily="50" charset="-128"/>
                <a:ea typeface="Meiryo UI" panose="020B0604030504040204" pitchFamily="50" charset="-128"/>
              </a:rPr>
              <a:t>(2026/10</a:t>
            </a:r>
            <a:r>
              <a:rPr kumimoji="1" lang="ja-JP" altLang="en-US" sz="1100">
                <a:solidFill>
                  <a:schemeClr val="tx1"/>
                </a:solidFill>
                <a:latin typeface="Meiryo UI" panose="020B0604030504040204" pitchFamily="50" charset="-128"/>
                <a:ea typeface="Meiryo UI" panose="020B0604030504040204" pitchFamily="50" charset="-128"/>
              </a:rPr>
              <a:t>以降</a:t>
            </a:r>
            <a:r>
              <a:rPr kumimoji="1" lang="en-US" altLang="ja-JP" sz="1100">
                <a:solidFill>
                  <a:schemeClr val="tx1"/>
                </a:solidFill>
                <a:latin typeface="Meiryo UI" panose="020B0604030504040204" pitchFamily="50" charset="-128"/>
                <a:ea typeface="Meiryo UI" panose="020B0604030504040204" pitchFamily="50" charset="-128"/>
              </a:rPr>
              <a:t>)</a:t>
            </a:r>
          </a:p>
        </p:txBody>
      </p:sp>
      <p:sp>
        <p:nvSpPr>
          <p:cNvPr id="99" name="矢印: 五方向 98">
            <a:extLst>
              <a:ext uri="{FF2B5EF4-FFF2-40B4-BE49-F238E27FC236}">
                <a16:creationId xmlns:a16="http://schemas.microsoft.com/office/drawing/2014/main" id="{29E7A943-10C0-A59F-A534-E66A7F36E0D1}"/>
              </a:ext>
            </a:extLst>
          </p:cNvPr>
          <p:cNvSpPr/>
          <p:nvPr/>
        </p:nvSpPr>
        <p:spPr>
          <a:xfrm>
            <a:off x="1626305" y="1684973"/>
            <a:ext cx="1180171" cy="32611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タグデータの集積</a:t>
            </a:r>
          </a:p>
        </p:txBody>
      </p:sp>
      <p:sp>
        <p:nvSpPr>
          <p:cNvPr id="100" name="矢印: 五方向 99">
            <a:extLst>
              <a:ext uri="{FF2B5EF4-FFF2-40B4-BE49-F238E27FC236}">
                <a16:creationId xmlns:a16="http://schemas.microsoft.com/office/drawing/2014/main" id="{E83234AA-BD11-163B-C56E-12D6A43C73BA}"/>
              </a:ext>
            </a:extLst>
          </p:cNvPr>
          <p:cNvSpPr/>
          <p:nvPr/>
        </p:nvSpPr>
        <p:spPr>
          <a:xfrm>
            <a:off x="2806477" y="1684973"/>
            <a:ext cx="2045532" cy="32611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タグデータを</a:t>
            </a: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集計ファイル用</a:t>
            </a:r>
            <a:r>
              <a:rPr kumimoji="1" lang="en-US" altLang="ja-JP" sz="1000">
                <a:solidFill>
                  <a:schemeClr val="tx1"/>
                </a:solidFill>
                <a:latin typeface="Meiryo UI" panose="020B0604030504040204" pitchFamily="50" charset="-128"/>
                <a:ea typeface="Meiryo UI" panose="020B0604030504040204" pitchFamily="50" charset="-128"/>
              </a:rPr>
              <a:t>/</a:t>
            </a:r>
            <a:r>
              <a:rPr kumimoji="1" lang="ja-JP" altLang="en-US" sz="1000">
                <a:solidFill>
                  <a:schemeClr val="tx1"/>
                </a:solidFill>
                <a:latin typeface="Meiryo UI" panose="020B0604030504040204" pitchFamily="50" charset="-128"/>
                <a:ea typeface="Meiryo UI" panose="020B0604030504040204" pitchFamily="50" charset="-128"/>
              </a:rPr>
              <a:t>温対法・</a:t>
            </a:r>
            <a:r>
              <a:rPr kumimoji="1" lang="en-US" altLang="ja-JP" sz="1000">
                <a:solidFill>
                  <a:schemeClr val="tx1"/>
                </a:solidFill>
                <a:latin typeface="Meiryo UI" panose="020B0604030504040204" pitchFamily="50" charset="-128"/>
                <a:ea typeface="Meiryo UI" panose="020B0604030504040204" pitchFamily="50" charset="-128"/>
              </a:rPr>
              <a:t>SSBJ</a:t>
            </a:r>
            <a:r>
              <a:rPr kumimoji="1" lang="ja-JP" altLang="en-US" sz="1000">
                <a:solidFill>
                  <a:schemeClr val="tx1"/>
                </a:solidFill>
                <a:latin typeface="Meiryo UI" panose="020B0604030504040204" pitchFamily="50" charset="-128"/>
                <a:ea typeface="Meiryo UI" panose="020B0604030504040204" pitchFamily="50" charset="-128"/>
              </a:rPr>
              <a:t>用それぞれに変換</a:t>
            </a:r>
          </a:p>
        </p:txBody>
      </p:sp>
      <p:sp>
        <p:nvSpPr>
          <p:cNvPr id="101" name="矢印: 五方向 100">
            <a:extLst>
              <a:ext uri="{FF2B5EF4-FFF2-40B4-BE49-F238E27FC236}">
                <a16:creationId xmlns:a16="http://schemas.microsoft.com/office/drawing/2014/main" id="{17EDE308-CD30-03E9-2298-491E5F0613FC}"/>
              </a:ext>
            </a:extLst>
          </p:cNvPr>
          <p:cNvSpPr/>
          <p:nvPr/>
        </p:nvSpPr>
        <p:spPr>
          <a:xfrm>
            <a:off x="4862204" y="1684973"/>
            <a:ext cx="2806139" cy="32611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用</a:t>
            </a:r>
            <a:r>
              <a:rPr kumimoji="1" lang="en-US" altLang="ja-JP" sz="1000">
                <a:solidFill>
                  <a:schemeClr val="tx1"/>
                </a:solidFill>
                <a:latin typeface="Meiryo UI" panose="020B0604030504040204" pitchFamily="50" charset="-128"/>
                <a:ea typeface="Meiryo UI" panose="020B0604030504040204" pitchFamily="50" charset="-128"/>
              </a:rPr>
              <a:t>/</a:t>
            </a:r>
            <a:r>
              <a:rPr kumimoji="1" lang="ja-JP" altLang="en-US" sz="1000">
                <a:solidFill>
                  <a:schemeClr val="tx1"/>
                </a:solidFill>
                <a:latin typeface="Meiryo UI" panose="020B0604030504040204" pitchFamily="50" charset="-128"/>
                <a:ea typeface="Meiryo UI" panose="020B0604030504040204" pitchFamily="50" charset="-128"/>
              </a:rPr>
              <a:t>温対法・</a:t>
            </a:r>
            <a:r>
              <a:rPr kumimoji="1" lang="en-US" altLang="ja-JP" sz="1000">
                <a:solidFill>
                  <a:schemeClr val="tx1"/>
                </a:solidFill>
                <a:latin typeface="Meiryo UI" panose="020B0604030504040204" pitchFamily="50" charset="-128"/>
                <a:ea typeface="Meiryo UI" panose="020B0604030504040204" pitchFamily="50" charset="-128"/>
              </a:rPr>
              <a:t>SSBJ</a:t>
            </a:r>
            <a:r>
              <a:rPr kumimoji="1" lang="ja-JP" altLang="en-US" sz="1000">
                <a:solidFill>
                  <a:schemeClr val="tx1"/>
                </a:solidFill>
                <a:latin typeface="Meiryo UI" panose="020B0604030504040204" pitchFamily="50" charset="-128"/>
                <a:ea typeface="Meiryo UI" panose="020B0604030504040204" pitchFamily="50" charset="-128"/>
              </a:rPr>
              <a:t>用それぞれの</a:t>
            </a:r>
            <a:endParaRPr kumimoji="1"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成形後データを格納</a:t>
            </a:r>
          </a:p>
        </p:txBody>
      </p:sp>
      <p:sp>
        <p:nvSpPr>
          <p:cNvPr id="102" name="矢印: 五方向 101">
            <a:extLst>
              <a:ext uri="{FF2B5EF4-FFF2-40B4-BE49-F238E27FC236}">
                <a16:creationId xmlns:a16="http://schemas.microsoft.com/office/drawing/2014/main" id="{22F1482D-E495-5019-2759-1F6733FCCC83}"/>
              </a:ext>
            </a:extLst>
          </p:cNvPr>
          <p:cNvSpPr/>
          <p:nvPr/>
        </p:nvSpPr>
        <p:spPr>
          <a:xfrm>
            <a:off x="7668343" y="1684973"/>
            <a:ext cx="1254391" cy="326112"/>
          </a:xfrm>
          <a:prstGeom prst="homePlat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solidFill>
                <a:latin typeface="Meiryo UI" panose="020B0604030504040204" pitchFamily="50" charset="-128"/>
                <a:ea typeface="Meiryo UI" panose="020B0604030504040204" pitchFamily="50" charset="-128"/>
              </a:rPr>
              <a:t>排出活動データをインポート</a:t>
            </a:r>
          </a:p>
        </p:txBody>
      </p:sp>
      <p:cxnSp>
        <p:nvCxnSpPr>
          <p:cNvPr id="104" name="直線矢印コネクタ 103">
            <a:extLst>
              <a:ext uri="{FF2B5EF4-FFF2-40B4-BE49-F238E27FC236}">
                <a16:creationId xmlns:a16="http://schemas.microsoft.com/office/drawing/2014/main" id="{439D9506-BC27-80D5-F1D8-AEAF9BB5EF4D}"/>
              </a:ext>
            </a:extLst>
          </p:cNvPr>
          <p:cNvCxnSpPr>
            <a:cxnSpLocks/>
          </p:cNvCxnSpPr>
          <p:nvPr/>
        </p:nvCxnSpPr>
        <p:spPr>
          <a:xfrm>
            <a:off x="6372200" y="1570435"/>
            <a:ext cx="2550534" cy="0"/>
          </a:xfrm>
          <a:prstGeom prst="straightConnector1">
            <a:avLst/>
          </a:prstGeom>
          <a:ln w="1905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6" name="フローチャート: 処理 105">
            <a:extLst>
              <a:ext uri="{FF2B5EF4-FFF2-40B4-BE49-F238E27FC236}">
                <a16:creationId xmlns:a16="http://schemas.microsoft.com/office/drawing/2014/main" id="{E205FB6B-1924-C206-6E0F-20CE2C7825E0}"/>
              </a:ext>
            </a:extLst>
          </p:cNvPr>
          <p:cNvSpPr/>
          <p:nvPr/>
        </p:nvSpPr>
        <p:spPr>
          <a:xfrm>
            <a:off x="6997715" y="1488857"/>
            <a:ext cx="1383509" cy="112475"/>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Meiryo UI" panose="020B0604030504040204" pitchFamily="50" charset="-128"/>
                <a:ea typeface="Meiryo UI" panose="020B0604030504040204" pitchFamily="50" charset="-128"/>
              </a:rPr>
              <a:t>新システムで開発</a:t>
            </a:r>
          </a:p>
        </p:txBody>
      </p:sp>
      <p:cxnSp>
        <p:nvCxnSpPr>
          <p:cNvPr id="117" name="直線矢印コネクタ 116">
            <a:extLst>
              <a:ext uri="{FF2B5EF4-FFF2-40B4-BE49-F238E27FC236}">
                <a16:creationId xmlns:a16="http://schemas.microsoft.com/office/drawing/2014/main" id="{D459A5ED-6EFB-5A52-D81B-67B1F76F9D24}"/>
              </a:ext>
            </a:extLst>
          </p:cNvPr>
          <p:cNvCxnSpPr>
            <a:cxnSpLocks/>
            <a:endCxn id="121" idx="0"/>
          </p:cNvCxnSpPr>
          <p:nvPr/>
        </p:nvCxnSpPr>
        <p:spPr>
          <a:xfrm>
            <a:off x="5465350" y="4315204"/>
            <a:ext cx="4790" cy="215188"/>
          </a:xfrm>
          <a:prstGeom prst="straightConnector1">
            <a:avLst/>
          </a:prstGeom>
          <a:ln w="25400">
            <a:solidFill>
              <a:schemeClr val="bg2">
                <a:lumMod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21" name="Picture 185">
            <a:extLst>
              <a:ext uri="{FF2B5EF4-FFF2-40B4-BE49-F238E27FC236}">
                <a16:creationId xmlns:a16="http://schemas.microsoft.com/office/drawing/2014/main" id="{C74B7095-0889-96C3-DA21-1A39A05A249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21596" y="4530392"/>
            <a:ext cx="297088" cy="287496"/>
          </a:xfrm>
          <a:prstGeom prst="rect">
            <a:avLst/>
          </a:prstGeom>
        </p:spPr>
      </p:pic>
      <p:sp>
        <p:nvSpPr>
          <p:cNvPr id="123" name="正方形/長方形 122">
            <a:extLst>
              <a:ext uri="{FF2B5EF4-FFF2-40B4-BE49-F238E27FC236}">
                <a16:creationId xmlns:a16="http://schemas.microsoft.com/office/drawing/2014/main" id="{B6B7F27E-9D0A-7BA7-0EDE-7BF59F3284F4}"/>
              </a:ext>
            </a:extLst>
          </p:cNvPr>
          <p:cNvSpPr/>
          <p:nvPr/>
        </p:nvSpPr>
        <p:spPr>
          <a:xfrm>
            <a:off x="4934086" y="4794133"/>
            <a:ext cx="1161639" cy="1470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集計ファイル</a:t>
            </a:r>
          </a:p>
        </p:txBody>
      </p:sp>
      <p:cxnSp>
        <p:nvCxnSpPr>
          <p:cNvPr id="179" name="コネクタ: カギ線 178">
            <a:extLst>
              <a:ext uri="{FF2B5EF4-FFF2-40B4-BE49-F238E27FC236}">
                <a16:creationId xmlns:a16="http://schemas.microsoft.com/office/drawing/2014/main" id="{A4BA8EF1-865A-40E3-2044-1F167CDAE962}"/>
              </a:ext>
            </a:extLst>
          </p:cNvPr>
          <p:cNvCxnSpPr>
            <a:cxnSpLocks/>
          </p:cNvCxnSpPr>
          <p:nvPr/>
        </p:nvCxnSpPr>
        <p:spPr>
          <a:xfrm rot="16200000" flipH="1">
            <a:off x="4095825" y="3807764"/>
            <a:ext cx="236222" cy="243319"/>
          </a:xfrm>
          <a:prstGeom prst="bentConnector2">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直線矢印コネクタ 191">
            <a:extLst>
              <a:ext uri="{FF2B5EF4-FFF2-40B4-BE49-F238E27FC236}">
                <a16:creationId xmlns:a16="http://schemas.microsoft.com/office/drawing/2014/main" id="{C63CA5BA-0306-037A-2487-6FEBB6D2213E}"/>
              </a:ext>
            </a:extLst>
          </p:cNvPr>
          <p:cNvCxnSpPr>
            <a:cxnSpLocks/>
          </p:cNvCxnSpPr>
          <p:nvPr/>
        </p:nvCxnSpPr>
        <p:spPr>
          <a:xfrm>
            <a:off x="4629446" y="4119095"/>
            <a:ext cx="1705551" cy="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4" name="楕円 193">
            <a:extLst>
              <a:ext uri="{FF2B5EF4-FFF2-40B4-BE49-F238E27FC236}">
                <a16:creationId xmlns:a16="http://schemas.microsoft.com/office/drawing/2014/main" id="{B1DEFB74-8EBE-B3AF-2A27-947815A1348B}"/>
              </a:ext>
            </a:extLst>
          </p:cNvPr>
          <p:cNvSpPr/>
          <p:nvPr/>
        </p:nvSpPr>
        <p:spPr>
          <a:xfrm>
            <a:off x="6767620" y="2860584"/>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95" name="楕円 194">
            <a:extLst>
              <a:ext uri="{FF2B5EF4-FFF2-40B4-BE49-F238E27FC236}">
                <a16:creationId xmlns:a16="http://schemas.microsoft.com/office/drawing/2014/main" id="{5BA6D3EC-2CCE-A3DF-5F60-AC67EB76D30C}"/>
              </a:ext>
            </a:extLst>
          </p:cNvPr>
          <p:cNvSpPr/>
          <p:nvPr/>
        </p:nvSpPr>
        <p:spPr>
          <a:xfrm>
            <a:off x="6915116" y="2860584"/>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96" name="楕円 195">
            <a:extLst>
              <a:ext uri="{FF2B5EF4-FFF2-40B4-BE49-F238E27FC236}">
                <a16:creationId xmlns:a16="http://schemas.microsoft.com/office/drawing/2014/main" id="{FEEA98B3-B36D-808E-F42A-87425C8F2DC2}"/>
              </a:ext>
            </a:extLst>
          </p:cNvPr>
          <p:cNvSpPr/>
          <p:nvPr/>
        </p:nvSpPr>
        <p:spPr>
          <a:xfrm>
            <a:off x="7062612" y="2860584"/>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97" name="楕円 196">
            <a:extLst>
              <a:ext uri="{FF2B5EF4-FFF2-40B4-BE49-F238E27FC236}">
                <a16:creationId xmlns:a16="http://schemas.microsoft.com/office/drawing/2014/main" id="{11612652-4FCE-D890-7EBE-6E3076F78ECD}"/>
              </a:ext>
            </a:extLst>
          </p:cNvPr>
          <p:cNvSpPr/>
          <p:nvPr/>
        </p:nvSpPr>
        <p:spPr>
          <a:xfrm>
            <a:off x="6767620" y="3390085"/>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98" name="楕円 197">
            <a:extLst>
              <a:ext uri="{FF2B5EF4-FFF2-40B4-BE49-F238E27FC236}">
                <a16:creationId xmlns:a16="http://schemas.microsoft.com/office/drawing/2014/main" id="{E126A449-E211-BDB0-D287-E5A4D5D91AF3}"/>
              </a:ext>
            </a:extLst>
          </p:cNvPr>
          <p:cNvSpPr/>
          <p:nvPr/>
        </p:nvSpPr>
        <p:spPr>
          <a:xfrm>
            <a:off x="6915116" y="3390085"/>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99" name="楕円 198">
            <a:extLst>
              <a:ext uri="{FF2B5EF4-FFF2-40B4-BE49-F238E27FC236}">
                <a16:creationId xmlns:a16="http://schemas.microsoft.com/office/drawing/2014/main" id="{F74FA31C-06BA-7F04-F814-02FDD240F5C0}"/>
              </a:ext>
            </a:extLst>
          </p:cNvPr>
          <p:cNvSpPr/>
          <p:nvPr/>
        </p:nvSpPr>
        <p:spPr>
          <a:xfrm>
            <a:off x="7062612" y="3390085"/>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00" name="楕円 199">
            <a:extLst>
              <a:ext uri="{FF2B5EF4-FFF2-40B4-BE49-F238E27FC236}">
                <a16:creationId xmlns:a16="http://schemas.microsoft.com/office/drawing/2014/main" id="{BA5474D2-CBD6-C04F-0345-53D71C67B36D}"/>
              </a:ext>
            </a:extLst>
          </p:cNvPr>
          <p:cNvSpPr/>
          <p:nvPr/>
        </p:nvSpPr>
        <p:spPr>
          <a:xfrm>
            <a:off x="6767620" y="3935975"/>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01" name="楕円 200">
            <a:extLst>
              <a:ext uri="{FF2B5EF4-FFF2-40B4-BE49-F238E27FC236}">
                <a16:creationId xmlns:a16="http://schemas.microsoft.com/office/drawing/2014/main" id="{B6394E85-2380-E751-158B-40CC5D50C912}"/>
              </a:ext>
            </a:extLst>
          </p:cNvPr>
          <p:cNvSpPr/>
          <p:nvPr/>
        </p:nvSpPr>
        <p:spPr>
          <a:xfrm>
            <a:off x="6915116" y="3935975"/>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02" name="楕円 201">
            <a:extLst>
              <a:ext uri="{FF2B5EF4-FFF2-40B4-BE49-F238E27FC236}">
                <a16:creationId xmlns:a16="http://schemas.microsoft.com/office/drawing/2014/main" id="{8883ABB2-C388-D4D1-F4E4-911909D9574A}"/>
              </a:ext>
            </a:extLst>
          </p:cNvPr>
          <p:cNvSpPr/>
          <p:nvPr/>
        </p:nvSpPr>
        <p:spPr>
          <a:xfrm>
            <a:off x="7062612" y="3935975"/>
            <a:ext cx="60208" cy="602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grpSp>
        <p:nvGrpSpPr>
          <p:cNvPr id="213" name="グループ化 212">
            <a:extLst>
              <a:ext uri="{FF2B5EF4-FFF2-40B4-BE49-F238E27FC236}">
                <a16:creationId xmlns:a16="http://schemas.microsoft.com/office/drawing/2014/main" id="{DE6A3E9D-4339-F213-F073-79E416FA9E27}"/>
              </a:ext>
            </a:extLst>
          </p:cNvPr>
          <p:cNvGrpSpPr/>
          <p:nvPr/>
        </p:nvGrpSpPr>
        <p:grpSpPr>
          <a:xfrm>
            <a:off x="152828" y="5116450"/>
            <a:ext cx="1781566" cy="1257989"/>
            <a:chOff x="280791" y="4907315"/>
            <a:chExt cx="1781566" cy="1257989"/>
          </a:xfrm>
        </p:grpSpPr>
        <p:sp>
          <p:nvSpPr>
            <p:cNvPr id="211" name="正方形/長方形 210">
              <a:extLst>
                <a:ext uri="{FF2B5EF4-FFF2-40B4-BE49-F238E27FC236}">
                  <a16:creationId xmlns:a16="http://schemas.microsoft.com/office/drawing/2014/main" id="{A46B4FD3-B214-95A8-07D1-9407ED7A24DC}"/>
                </a:ext>
              </a:extLst>
            </p:cNvPr>
            <p:cNvSpPr/>
            <p:nvPr/>
          </p:nvSpPr>
          <p:spPr>
            <a:xfrm>
              <a:off x="280791" y="5039750"/>
              <a:ext cx="1473477" cy="11255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73" name="楕円 72">
              <a:extLst>
                <a:ext uri="{FF2B5EF4-FFF2-40B4-BE49-F238E27FC236}">
                  <a16:creationId xmlns:a16="http://schemas.microsoft.com/office/drawing/2014/main" id="{2694C78D-0521-A4A2-46FA-F32F1B1D40C9}"/>
                </a:ext>
              </a:extLst>
            </p:cNvPr>
            <p:cNvSpPr/>
            <p:nvPr/>
          </p:nvSpPr>
          <p:spPr>
            <a:xfrm>
              <a:off x="441036" y="5208169"/>
              <a:ext cx="170319" cy="162913"/>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DE950938-5ABE-51FA-811C-BC96C6E847E5}"/>
                </a:ext>
              </a:extLst>
            </p:cNvPr>
            <p:cNvSpPr/>
            <p:nvPr/>
          </p:nvSpPr>
          <p:spPr>
            <a:xfrm>
              <a:off x="611560" y="5229200"/>
              <a:ext cx="755703" cy="116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タグデータ</a:t>
              </a:r>
            </a:p>
          </p:txBody>
        </p:sp>
        <p:sp>
          <p:nvSpPr>
            <p:cNvPr id="75" name="正方形/長方形 74">
              <a:extLst>
                <a:ext uri="{FF2B5EF4-FFF2-40B4-BE49-F238E27FC236}">
                  <a16:creationId xmlns:a16="http://schemas.microsoft.com/office/drawing/2014/main" id="{1A283258-F1EE-914A-9D7A-447796F6C8C7}"/>
                </a:ext>
              </a:extLst>
            </p:cNvPr>
            <p:cNvSpPr/>
            <p:nvPr/>
          </p:nvSpPr>
          <p:spPr>
            <a:xfrm>
              <a:off x="437788" y="5450087"/>
              <a:ext cx="171314" cy="17131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モ</a:t>
              </a:r>
              <a:endParaRPr kumimoji="1" lang="en-US" altLang="ja-JP" sz="1000">
                <a:solidFill>
                  <a:schemeClr val="bg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30F43076-5962-1540-4F8D-598654825DDA}"/>
                </a:ext>
              </a:extLst>
            </p:cNvPr>
            <p:cNvSpPr/>
            <p:nvPr/>
          </p:nvSpPr>
          <p:spPr>
            <a:xfrm>
              <a:off x="614416" y="5476147"/>
              <a:ext cx="1217066" cy="116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モニタリングポイント</a:t>
              </a:r>
            </a:p>
          </p:txBody>
        </p:sp>
        <p:sp>
          <p:nvSpPr>
            <p:cNvPr id="78" name="正方形/長方形 77">
              <a:extLst>
                <a:ext uri="{FF2B5EF4-FFF2-40B4-BE49-F238E27FC236}">
                  <a16:creationId xmlns:a16="http://schemas.microsoft.com/office/drawing/2014/main" id="{07F8C917-F12E-B7AC-01F4-5F58036816E5}"/>
                </a:ext>
              </a:extLst>
            </p:cNvPr>
            <p:cNvSpPr/>
            <p:nvPr/>
          </p:nvSpPr>
          <p:spPr>
            <a:xfrm>
              <a:off x="589707" y="5793846"/>
              <a:ext cx="1472650" cy="116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温対法・</a:t>
              </a:r>
              <a:r>
                <a:rPr kumimoji="1" lang="en-US" altLang="ja-JP" sz="1000">
                  <a:solidFill>
                    <a:schemeClr val="tx1"/>
                  </a:solidFill>
                  <a:latin typeface="Meiryo UI" panose="020B0604030504040204" pitchFamily="50" charset="-128"/>
                  <a:ea typeface="Meiryo UI" panose="020B0604030504040204" pitchFamily="50" charset="-128"/>
                </a:rPr>
                <a:t>SSBJ</a:t>
              </a:r>
            </a:p>
            <a:p>
              <a:r>
                <a:rPr kumimoji="1" lang="ja-JP" altLang="en-US" sz="1000">
                  <a:solidFill>
                    <a:schemeClr val="tx1"/>
                  </a:solidFill>
                  <a:latin typeface="Meiryo UI" panose="020B0604030504040204" pitchFamily="50" charset="-128"/>
                  <a:ea typeface="Meiryo UI" panose="020B0604030504040204" pitchFamily="50" charset="-128"/>
                </a:rPr>
                <a:t>排出活動</a:t>
              </a:r>
            </a:p>
          </p:txBody>
        </p:sp>
        <p:sp>
          <p:nvSpPr>
            <p:cNvPr id="212" name="正方形/長方形 211">
              <a:extLst>
                <a:ext uri="{FF2B5EF4-FFF2-40B4-BE49-F238E27FC236}">
                  <a16:creationId xmlns:a16="http://schemas.microsoft.com/office/drawing/2014/main" id="{46747F0D-D413-CE73-AAD3-8D4E11AAB4BB}"/>
                </a:ext>
              </a:extLst>
            </p:cNvPr>
            <p:cNvSpPr/>
            <p:nvPr/>
          </p:nvSpPr>
          <p:spPr>
            <a:xfrm>
              <a:off x="617804" y="4907315"/>
              <a:ext cx="914400" cy="264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b="1">
                  <a:solidFill>
                    <a:schemeClr val="tx1"/>
                  </a:solidFill>
                  <a:latin typeface="Meiryo UI" panose="020B0604030504040204" pitchFamily="50" charset="-128"/>
                  <a:ea typeface="Meiryo UI" panose="020B0604030504040204" pitchFamily="50" charset="-128"/>
                </a:rPr>
                <a:t>凡例</a:t>
              </a:r>
            </a:p>
          </p:txBody>
        </p:sp>
      </p:grpSp>
      <p:sp>
        <p:nvSpPr>
          <p:cNvPr id="5" name="吹き出し: 線 4">
            <a:extLst>
              <a:ext uri="{FF2B5EF4-FFF2-40B4-BE49-F238E27FC236}">
                <a16:creationId xmlns:a16="http://schemas.microsoft.com/office/drawing/2014/main" id="{EEBE6ED4-146A-261F-F978-4E418C2C1B47}"/>
              </a:ext>
            </a:extLst>
          </p:cNvPr>
          <p:cNvSpPr/>
          <p:nvPr/>
        </p:nvSpPr>
        <p:spPr>
          <a:xfrm>
            <a:off x="398250" y="4366580"/>
            <a:ext cx="2663726" cy="626697"/>
          </a:xfrm>
          <a:prstGeom prst="borderCallout1">
            <a:avLst>
              <a:gd name="adj1" fmla="val 45721"/>
              <a:gd name="adj2" fmla="val 99388"/>
              <a:gd name="adj3" fmla="val -97681"/>
              <a:gd name="adj4" fmla="val 132750"/>
            </a:avLst>
          </a:prstGeom>
          <a:solidFill>
            <a:schemeClr val="bg1"/>
          </a:solidFill>
          <a:ln w="15875">
            <a:solidFill>
              <a:srgbClr val="C00000"/>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a:solidFill>
                  <a:schemeClr val="tx1"/>
                </a:solidFill>
                <a:latin typeface="Meiryo UI" panose="020B0604030504040204" pitchFamily="50" charset="-128"/>
                <a:ea typeface="Meiryo UI" panose="020B0604030504040204" pitchFamily="50" charset="-128"/>
              </a:rPr>
              <a:t>ETL</a:t>
            </a:r>
            <a:r>
              <a:rPr kumimoji="1" lang="ja-JP" altLang="en-US" sz="1050">
                <a:solidFill>
                  <a:schemeClr val="tx1"/>
                </a:solidFill>
                <a:latin typeface="Meiryo UI" panose="020B0604030504040204" pitchFamily="50" charset="-128"/>
                <a:ea typeface="Meiryo UI" panose="020B0604030504040204" pitchFamily="50" charset="-128"/>
              </a:rPr>
              <a:t>ツールにて、</a:t>
            </a:r>
            <a:r>
              <a:rPr kumimoji="1" lang="en-US" altLang="ja-JP" sz="1050">
                <a:solidFill>
                  <a:schemeClr val="tx1"/>
                </a:solidFill>
                <a:latin typeface="Meiryo UI" panose="020B0604030504040204" pitchFamily="50" charset="-128"/>
                <a:ea typeface="Meiryo UI" panose="020B0604030504040204" pitchFamily="50" charset="-128"/>
              </a:rPr>
              <a:t>GX</a:t>
            </a:r>
            <a:r>
              <a:rPr kumimoji="1" lang="ja-JP" altLang="en-US" sz="1050">
                <a:solidFill>
                  <a:schemeClr val="tx1"/>
                </a:solidFill>
                <a:latin typeface="Meiryo UI" panose="020B0604030504040204" pitchFamily="50" charset="-128"/>
                <a:ea typeface="Meiryo UI" panose="020B0604030504040204" pitchFamily="50" charset="-128"/>
              </a:rPr>
              <a:t>リーグ用と温対法</a:t>
            </a:r>
            <a:r>
              <a:rPr kumimoji="1" lang="en-US" altLang="ja-JP" sz="1050">
                <a:solidFill>
                  <a:schemeClr val="tx1"/>
                </a:solidFill>
                <a:latin typeface="Meiryo UI" panose="020B0604030504040204" pitchFamily="50" charset="-128"/>
                <a:ea typeface="Meiryo UI" panose="020B0604030504040204" pitchFamily="50" charset="-128"/>
              </a:rPr>
              <a:t>/SSBJ</a:t>
            </a:r>
            <a:r>
              <a:rPr kumimoji="1" lang="ja-JP" altLang="en-US" sz="1050">
                <a:solidFill>
                  <a:schemeClr val="tx1"/>
                </a:solidFill>
                <a:latin typeface="Meiryo UI" panose="020B0604030504040204" pitchFamily="50" charset="-128"/>
                <a:ea typeface="Meiryo UI" panose="020B0604030504040204" pitchFamily="50" charset="-128"/>
              </a:rPr>
              <a:t>用を区分してデータ集計・変換を行い、特定フォルダにそれぞれ格納する</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6" name="吹き出し: 線 5">
            <a:extLst>
              <a:ext uri="{FF2B5EF4-FFF2-40B4-BE49-F238E27FC236}">
                <a16:creationId xmlns:a16="http://schemas.microsoft.com/office/drawing/2014/main" id="{A01D6322-1FAB-ECE8-36A2-C41FEB540915}"/>
              </a:ext>
            </a:extLst>
          </p:cNvPr>
          <p:cNvSpPr/>
          <p:nvPr/>
        </p:nvSpPr>
        <p:spPr>
          <a:xfrm>
            <a:off x="6047831" y="4443268"/>
            <a:ext cx="1692000" cy="819736"/>
          </a:xfrm>
          <a:prstGeom prst="borderCallout1">
            <a:avLst>
              <a:gd name="adj1" fmla="val -1395"/>
              <a:gd name="adj2" fmla="val 36987"/>
              <a:gd name="adj3" fmla="val -25176"/>
              <a:gd name="adj4" fmla="val 44763"/>
            </a:avLst>
          </a:prstGeom>
          <a:solidFill>
            <a:schemeClr val="bg1"/>
          </a:solidFill>
          <a:ln w="15875">
            <a:solidFill>
              <a:srgbClr val="C00000"/>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eiryo UI" panose="020B0604030504040204" pitchFamily="50" charset="-128"/>
                <a:ea typeface="Meiryo UI" panose="020B0604030504040204" pitchFamily="50" charset="-128"/>
              </a:rPr>
              <a:t>温対法・</a:t>
            </a:r>
            <a:r>
              <a:rPr kumimoji="1" lang="en-US" altLang="ja-JP" sz="1050">
                <a:solidFill>
                  <a:schemeClr val="tx1"/>
                </a:solidFill>
                <a:latin typeface="Meiryo UI" panose="020B0604030504040204" pitchFamily="50" charset="-128"/>
                <a:ea typeface="Meiryo UI" panose="020B0604030504040204" pitchFamily="50" charset="-128"/>
              </a:rPr>
              <a:t>SSBJ</a:t>
            </a:r>
            <a:r>
              <a:rPr kumimoji="1" lang="ja-JP" altLang="en-US" sz="1050">
                <a:solidFill>
                  <a:schemeClr val="tx1"/>
                </a:solidFill>
                <a:latin typeface="Meiryo UI" panose="020B0604030504040204" pitchFamily="50" charset="-128"/>
                <a:ea typeface="Meiryo UI" panose="020B0604030504040204" pitchFamily="50" charset="-128"/>
              </a:rPr>
              <a:t>用に成形された排出活動データのみを特定フォルダから新システムへインポート</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7" name="吹き出し: 線 6">
            <a:extLst>
              <a:ext uri="{FF2B5EF4-FFF2-40B4-BE49-F238E27FC236}">
                <a16:creationId xmlns:a16="http://schemas.microsoft.com/office/drawing/2014/main" id="{B3D527CC-C1CE-A8B7-114E-26BFB7462345}"/>
              </a:ext>
            </a:extLst>
          </p:cNvPr>
          <p:cNvSpPr/>
          <p:nvPr/>
        </p:nvSpPr>
        <p:spPr>
          <a:xfrm>
            <a:off x="4688342" y="5506758"/>
            <a:ext cx="1839050" cy="747240"/>
          </a:xfrm>
          <a:prstGeom prst="borderCallout1">
            <a:avLst>
              <a:gd name="adj1" fmla="val -2349"/>
              <a:gd name="adj2" fmla="val 53581"/>
              <a:gd name="adj3" fmla="val -45290"/>
              <a:gd name="adj4" fmla="val 43884"/>
            </a:avLst>
          </a:prstGeom>
          <a:solidFill>
            <a:schemeClr val="bg1"/>
          </a:solidFill>
          <a:ln w="15875">
            <a:solidFill>
              <a:srgbClr val="C00000"/>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a:solidFill>
                  <a:schemeClr val="tx1"/>
                </a:solidFill>
                <a:latin typeface="Meiryo UI" panose="020B0604030504040204" pitchFamily="50" charset="-128"/>
                <a:ea typeface="Meiryo UI" panose="020B0604030504040204" pitchFamily="50" charset="-128"/>
              </a:rPr>
              <a:t>GXL</a:t>
            </a:r>
            <a:r>
              <a:rPr kumimoji="1" lang="ja-JP" altLang="en-US" sz="1050">
                <a:solidFill>
                  <a:schemeClr val="tx1"/>
                </a:solidFill>
                <a:latin typeface="Meiryo UI" panose="020B0604030504040204" pitchFamily="50" charset="-128"/>
                <a:ea typeface="Meiryo UI" panose="020B0604030504040204" pitchFamily="50" charset="-128"/>
              </a:rPr>
              <a:t>集計ファイル用のデータは、</a:t>
            </a:r>
            <a:r>
              <a:rPr kumimoji="1" lang="ja-JP" altLang="en-US" sz="1050" b="1">
                <a:solidFill>
                  <a:schemeClr val="tx1"/>
                </a:solidFill>
                <a:latin typeface="Meiryo UI" panose="020B0604030504040204" pitchFamily="50" charset="-128"/>
                <a:ea typeface="Meiryo UI" panose="020B0604030504040204" pitchFamily="50" charset="-128"/>
              </a:rPr>
              <a:t>特定フォルダに格納されたアウトプットから、必要な情報を入力</a:t>
            </a:r>
            <a:endParaRPr kumimoji="1" lang="en-US" altLang="ja-JP" sz="1050" b="1">
              <a:solidFill>
                <a:schemeClr val="tx1"/>
              </a:solidFill>
              <a:latin typeface="Meiryo UI" panose="020B0604030504040204" pitchFamily="50" charset="-128"/>
              <a:ea typeface="Meiryo UI" panose="020B0604030504040204" pitchFamily="50" charset="-128"/>
            </a:endParaRPr>
          </a:p>
        </p:txBody>
      </p:sp>
      <p:sp>
        <p:nvSpPr>
          <p:cNvPr id="110" name="楕円 109">
            <a:extLst>
              <a:ext uri="{FF2B5EF4-FFF2-40B4-BE49-F238E27FC236}">
                <a16:creationId xmlns:a16="http://schemas.microsoft.com/office/drawing/2014/main" id="{8F29667E-FBAE-E923-3303-0FAEB7CF3B6C}"/>
              </a:ext>
            </a:extLst>
          </p:cNvPr>
          <p:cNvSpPr/>
          <p:nvPr/>
        </p:nvSpPr>
        <p:spPr>
          <a:xfrm>
            <a:off x="4336112" y="3909814"/>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cxnSp>
        <p:nvCxnSpPr>
          <p:cNvPr id="112" name="直線矢印コネクタ 111">
            <a:extLst>
              <a:ext uri="{FF2B5EF4-FFF2-40B4-BE49-F238E27FC236}">
                <a16:creationId xmlns:a16="http://schemas.microsoft.com/office/drawing/2014/main" id="{6D695D64-D937-A10B-2E43-54DFFDBD243C}"/>
              </a:ext>
            </a:extLst>
          </p:cNvPr>
          <p:cNvCxnSpPr>
            <a:stCxn id="22" idx="6"/>
            <a:endCxn id="31" idx="1"/>
          </p:cNvCxnSpPr>
          <p:nvPr/>
        </p:nvCxnSpPr>
        <p:spPr>
          <a:xfrm>
            <a:off x="3516131" y="2651179"/>
            <a:ext cx="445283" cy="221991"/>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矢印コネクタ 112">
            <a:extLst>
              <a:ext uri="{FF2B5EF4-FFF2-40B4-BE49-F238E27FC236}">
                <a16:creationId xmlns:a16="http://schemas.microsoft.com/office/drawing/2014/main" id="{3AE2DE32-1F6F-DCA3-E840-E032C9C1E02B}"/>
              </a:ext>
            </a:extLst>
          </p:cNvPr>
          <p:cNvCxnSpPr>
            <a:cxnSpLocks/>
            <a:stCxn id="23" idx="6"/>
            <a:endCxn id="31" idx="1"/>
          </p:cNvCxnSpPr>
          <p:nvPr/>
        </p:nvCxnSpPr>
        <p:spPr>
          <a:xfrm>
            <a:off x="3516131" y="2870329"/>
            <a:ext cx="445283" cy="2841"/>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矢印コネクタ 118">
            <a:extLst>
              <a:ext uri="{FF2B5EF4-FFF2-40B4-BE49-F238E27FC236}">
                <a16:creationId xmlns:a16="http://schemas.microsoft.com/office/drawing/2014/main" id="{61CC4C45-AACF-FE7E-C067-363191A74AF1}"/>
              </a:ext>
            </a:extLst>
          </p:cNvPr>
          <p:cNvCxnSpPr>
            <a:cxnSpLocks/>
            <a:stCxn id="24" idx="6"/>
            <a:endCxn id="32" idx="1"/>
          </p:cNvCxnSpPr>
          <p:nvPr/>
        </p:nvCxnSpPr>
        <p:spPr>
          <a:xfrm>
            <a:off x="3516131" y="3089479"/>
            <a:ext cx="445283" cy="125495"/>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矢印コネクタ 123">
            <a:extLst>
              <a:ext uri="{FF2B5EF4-FFF2-40B4-BE49-F238E27FC236}">
                <a16:creationId xmlns:a16="http://schemas.microsoft.com/office/drawing/2014/main" id="{A715C4B2-8933-47ED-575B-4B01E6B59B83}"/>
              </a:ext>
            </a:extLst>
          </p:cNvPr>
          <p:cNvCxnSpPr>
            <a:cxnSpLocks/>
            <a:stCxn id="25" idx="6"/>
            <a:endCxn id="32" idx="1"/>
          </p:cNvCxnSpPr>
          <p:nvPr/>
        </p:nvCxnSpPr>
        <p:spPr>
          <a:xfrm flipV="1">
            <a:off x="3516131" y="3214974"/>
            <a:ext cx="445283" cy="93655"/>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線矢印コネクタ 126">
            <a:extLst>
              <a:ext uri="{FF2B5EF4-FFF2-40B4-BE49-F238E27FC236}">
                <a16:creationId xmlns:a16="http://schemas.microsoft.com/office/drawing/2014/main" id="{F7CAB554-DBC3-9CEF-FC0D-485317A4D6F9}"/>
              </a:ext>
            </a:extLst>
          </p:cNvPr>
          <p:cNvCxnSpPr>
            <a:cxnSpLocks/>
            <a:stCxn id="26" idx="6"/>
            <a:endCxn id="32" idx="1"/>
          </p:cNvCxnSpPr>
          <p:nvPr/>
        </p:nvCxnSpPr>
        <p:spPr>
          <a:xfrm flipV="1">
            <a:off x="3516131" y="3214974"/>
            <a:ext cx="445283" cy="312805"/>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線矢印コネクタ 129">
            <a:extLst>
              <a:ext uri="{FF2B5EF4-FFF2-40B4-BE49-F238E27FC236}">
                <a16:creationId xmlns:a16="http://schemas.microsoft.com/office/drawing/2014/main" id="{C27DAD0A-E892-5BDB-9E39-7D39008A0C2E}"/>
              </a:ext>
            </a:extLst>
          </p:cNvPr>
          <p:cNvCxnSpPr>
            <a:cxnSpLocks/>
            <a:stCxn id="27" idx="6"/>
            <a:endCxn id="33" idx="1"/>
          </p:cNvCxnSpPr>
          <p:nvPr/>
        </p:nvCxnSpPr>
        <p:spPr>
          <a:xfrm flipV="1">
            <a:off x="3516131" y="3549913"/>
            <a:ext cx="445283" cy="197016"/>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線矢印コネクタ 132">
            <a:extLst>
              <a:ext uri="{FF2B5EF4-FFF2-40B4-BE49-F238E27FC236}">
                <a16:creationId xmlns:a16="http://schemas.microsoft.com/office/drawing/2014/main" id="{D828CFDA-B5AA-B955-3B41-46C1071FC4A5}"/>
              </a:ext>
            </a:extLst>
          </p:cNvPr>
          <p:cNvCxnSpPr>
            <a:cxnSpLocks/>
            <a:stCxn id="28" idx="6"/>
            <a:endCxn id="33" idx="1"/>
          </p:cNvCxnSpPr>
          <p:nvPr/>
        </p:nvCxnSpPr>
        <p:spPr>
          <a:xfrm flipV="1">
            <a:off x="3516131" y="3549913"/>
            <a:ext cx="445283" cy="416166"/>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B5DD5F0C-8E29-4F63-4224-13793A7A5162}"/>
              </a:ext>
            </a:extLst>
          </p:cNvPr>
          <p:cNvCxnSpPr>
            <a:cxnSpLocks/>
            <a:stCxn id="29" idx="6"/>
            <a:endCxn id="33" idx="1"/>
          </p:cNvCxnSpPr>
          <p:nvPr/>
        </p:nvCxnSpPr>
        <p:spPr>
          <a:xfrm flipV="1">
            <a:off x="3516131" y="3549913"/>
            <a:ext cx="445283" cy="635316"/>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0" name="正方形/長方形 139">
            <a:extLst>
              <a:ext uri="{FF2B5EF4-FFF2-40B4-BE49-F238E27FC236}">
                <a16:creationId xmlns:a16="http://schemas.microsoft.com/office/drawing/2014/main" id="{E4961F0A-48B8-2E4E-B559-C80D76B0758B}"/>
              </a:ext>
            </a:extLst>
          </p:cNvPr>
          <p:cNvSpPr/>
          <p:nvPr/>
        </p:nvSpPr>
        <p:spPr>
          <a:xfrm>
            <a:off x="3898281" y="2700334"/>
            <a:ext cx="385687" cy="1110978"/>
          </a:xfrm>
          <a:prstGeom prst="rect">
            <a:avLst/>
          </a:prstGeom>
          <a:noFill/>
          <a:ln w="254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pic>
        <p:nvPicPr>
          <p:cNvPr id="144" name="グラフィックス 143" descr="フォルダー 単色塗りつぶし">
            <a:extLst>
              <a:ext uri="{FF2B5EF4-FFF2-40B4-BE49-F238E27FC236}">
                <a16:creationId xmlns:a16="http://schemas.microsoft.com/office/drawing/2014/main" id="{04F8B8A8-EF96-CEC8-3AF4-E9920A01F9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25333" y="2324046"/>
            <a:ext cx="387795" cy="387795"/>
          </a:xfrm>
          <a:prstGeom prst="rect">
            <a:avLst/>
          </a:prstGeom>
        </p:spPr>
      </p:pic>
      <p:sp>
        <p:nvSpPr>
          <p:cNvPr id="146" name="楕円 145">
            <a:extLst>
              <a:ext uri="{FF2B5EF4-FFF2-40B4-BE49-F238E27FC236}">
                <a16:creationId xmlns:a16="http://schemas.microsoft.com/office/drawing/2014/main" id="{6A21E08E-5407-99B0-EA24-4DC5E13E71EC}"/>
              </a:ext>
            </a:extLst>
          </p:cNvPr>
          <p:cNvSpPr/>
          <p:nvPr/>
        </p:nvSpPr>
        <p:spPr>
          <a:xfrm>
            <a:off x="6372200" y="2739140"/>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147" name="楕円 146">
            <a:extLst>
              <a:ext uri="{FF2B5EF4-FFF2-40B4-BE49-F238E27FC236}">
                <a16:creationId xmlns:a16="http://schemas.microsoft.com/office/drawing/2014/main" id="{8D669F00-11C2-19C1-528A-2CB58D707868}"/>
              </a:ext>
            </a:extLst>
          </p:cNvPr>
          <p:cNvSpPr/>
          <p:nvPr/>
        </p:nvSpPr>
        <p:spPr>
          <a:xfrm>
            <a:off x="6372200" y="3909814"/>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148" name="楕円 147">
            <a:extLst>
              <a:ext uri="{FF2B5EF4-FFF2-40B4-BE49-F238E27FC236}">
                <a16:creationId xmlns:a16="http://schemas.microsoft.com/office/drawing/2014/main" id="{19CDE4AE-3530-299F-9746-FF4D93A5004A}"/>
              </a:ext>
            </a:extLst>
          </p:cNvPr>
          <p:cNvSpPr/>
          <p:nvPr/>
        </p:nvSpPr>
        <p:spPr>
          <a:xfrm>
            <a:off x="6372200" y="3255265"/>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150" name="楕円 149">
            <a:extLst>
              <a:ext uri="{FF2B5EF4-FFF2-40B4-BE49-F238E27FC236}">
                <a16:creationId xmlns:a16="http://schemas.microsoft.com/office/drawing/2014/main" id="{0E7773E3-917F-1305-8867-333B602A6DE4}"/>
              </a:ext>
            </a:extLst>
          </p:cNvPr>
          <p:cNvSpPr/>
          <p:nvPr/>
        </p:nvSpPr>
        <p:spPr>
          <a:xfrm>
            <a:off x="8146359" y="2739140"/>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151" name="楕円 150">
            <a:extLst>
              <a:ext uri="{FF2B5EF4-FFF2-40B4-BE49-F238E27FC236}">
                <a16:creationId xmlns:a16="http://schemas.microsoft.com/office/drawing/2014/main" id="{9DB6AAB7-2AFA-383E-2E4E-40F56CFD8A5B}"/>
              </a:ext>
            </a:extLst>
          </p:cNvPr>
          <p:cNvSpPr/>
          <p:nvPr/>
        </p:nvSpPr>
        <p:spPr>
          <a:xfrm>
            <a:off x="8146359" y="3909814"/>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152" name="楕円 151">
            <a:extLst>
              <a:ext uri="{FF2B5EF4-FFF2-40B4-BE49-F238E27FC236}">
                <a16:creationId xmlns:a16="http://schemas.microsoft.com/office/drawing/2014/main" id="{40B7A07D-B384-E8A0-7F2B-375DC7004B6C}"/>
              </a:ext>
            </a:extLst>
          </p:cNvPr>
          <p:cNvSpPr/>
          <p:nvPr/>
        </p:nvSpPr>
        <p:spPr>
          <a:xfrm>
            <a:off x="8146359" y="3255265"/>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156" name="楕円 155">
            <a:extLst>
              <a:ext uri="{FF2B5EF4-FFF2-40B4-BE49-F238E27FC236}">
                <a16:creationId xmlns:a16="http://schemas.microsoft.com/office/drawing/2014/main" id="{3DAEFD08-EA60-6973-00B2-3CB4582A938A}"/>
              </a:ext>
            </a:extLst>
          </p:cNvPr>
          <p:cNvSpPr/>
          <p:nvPr/>
        </p:nvSpPr>
        <p:spPr>
          <a:xfrm>
            <a:off x="8014113" y="4556836"/>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157" name="楕円 156">
            <a:extLst>
              <a:ext uri="{FF2B5EF4-FFF2-40B4-BE49-F238E27FC236}">
                <a16:creationId xmlns:a16="http://schemas.microsoft.com/office/drawing/2014/main" id="{DFDC77D3-FB63-B0A5-9F24-11211033CB4D}"/>
              </a:ext>
            </a:extLst>
          </p:cNvPr>
          <p:cNvSpPr/>
          <p:nvPr/>
        </p:nvSpPr>
        <p:spPr>
          <a:xfrm>
            <a:off x="8468012" y="4556836"/>
            <a:ext cx="288000" cy="28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sp>
        <p:nvSpPr>
          <p:cNvPr id="160" name="吹き出し: 線 159">
            <a:extLst>
              <a:ext uri="{FF2B5EF4-FFF2-40B4-BE49-F238E27FC236}">
                <a16:creationId xmlns:a16="http://schemas.microsoft.com/office/drawing/2014/main" id="{54E4E1C7-0B6D-6F80-A4C9-486C112A9A85}"/>
              </a:ext>
            </a:extLst>
          </p:cNvPr>
          <p:cNvSpPr/>
          <p:nvPr/>
        </p:nvSpPr>
        <p:spPr>
          <a:xfrm>
            <a:off x="6750702" y="5549380"/>
            <a:ext cx="2255204" cy="825109"/>
          </a:xfrm>
          <a:prstGeom prst="borderCallout1">
            <a:avLst>
              <a:gd name="adj1" fmla="val -2558"/>
              <a:gd name="adj2" fmla="val 64440"/>
              <a:gd name="adj3" fmla="val -53458"/>
              <a:gd name="adj4" fmla="val 74189"/>
            </a:avLst>
          </a:prstGeom>
          <a:solidFill>
            <a:schemeClr val="bg1"/>
          </a:solidFill>
          <a:ln w="15875">
            <a:solidFill>
              <a:srgbClr val="C00000"/>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eiryo UI" panose="020B0604030504040204" pitchFamily="50" charset="-128"/>
                <a:ea typeface="Meiryo UI" panose="020B0604030504040204" pitchFamily="50" charset="-128"/>
              </a:rPr>
              <a:t>東亜製油所は</a:t>
            </a:r>
            <a:r>
              <a:rPr kumimoji="1" lang="en-US" altLang="ja-JP" sz="1050">
                <a:solidFill>
                  <a:schemeClr val="tx1"/>
                </a:solidFill>
                <a:latin typeface="Meiryo UI" panose="020B0604030504040204" pitchFamily="50" charset="-128"/>
                <a:ea typeface="Meiryo UI" panose="020B0604030504040204" pitchFamily="50" charset="-128"/>
              </a:rPr>
              <a:t>CDF(L4)</a:t>
            </a:r>
            <a:r>
              <a:rPr kumimoji="1" lang="ja-JP" altLang="en-US" sz="1050">
                <a:solidFill>
                  <a:schemeClr val="tx1"/>
                </a:solidFill>
                <a:latin typeface="Meiryo UI" panose="020B0604030504040204" pitchFamily="50" charset="-128"/>
                <a:ea typeface="Meiryo UI" panose="020B0604030504040204" pitchFamily="50" charset="-128"/>
              </a:rPr>
              <a:t>を導入する予定がないため、</a:t>
            </a:r>
            <a:r>
              <a:rPr kumimoji="1" lang="ja-JP" altLang="en-US" sz="1050" b="1" u="sng">
                <a:solidFill>
                  <a:schemeClr val="tx1"/>
                </a:solidFill>
                <a:latin typeface="Meiryo UI" panose="020B0604030504040204" pitchFamily="50" charset="-128"/>
                <a:ea typeface="Meiryo UI" panose="020B0604030504040204" pitchFamily="50" charset="-128"/>
              </a:rPr>
              <a:t>東亜製油所を巻き込んでの対処方針の検討が必要</a:t>
            </a:r>
            <a:r>
              <a:rPr kumimoji="1" lang="ja-JP" altLang="en-US" sz="1050">
                <a:solidFill>
                  <a:schemeClr val="tx1"/>
                </a:solidFill>
                <a:latin typeface="Meiryo UI" panose="020B0604030504040204" pitchFamily="50" charset="-128"/>
                <a:ea typeface="Meiryo UI" panose="020B0604030504040204" pitchFamily="50" charset="-128"/>
              </a:rPr>
              <a:t>（</a:t>
            </a:r>
            <a:r>
              <a:rPr kumimoji="1" lang="en-US" altLang="ja-JP" sz="1050">
                <a:solidFill>
                  <a:schemeClr val="tx1"/>
                </a:solidFill>
                <a:latin typeface="Meiryo UI" panose="020B0604030504040204" pitchFamily="50" charset="-128"/>
                <a:ea typeface="Meiryo UI" panose="020B0604030504040204" pitchFamily="50" charset="-128"/>
              </a:rPr>
              <a:t>IF</a:t>
            </a:r>
            <a:r>
              <a:rPr kumimoji="1" lang="ja-JP" altLang="en-US" sz="1050">
                <a:solidFill>
                  <a:schemeClr val="tx1"/>
                </a:solidFill>
                <a:latin typeface="Meiryo UI" panose="020B0604030504040204" pitchFamily="50" charset="-128"/>
                <a:ea typeface="Meiryo UI" panose="020B0604030504040204" pitchFamily="50" charset="-128"/>
              </a:rPr>
              <a:t>から合流 </a:t>
            </a:r>
            <a:r>
              <a:rPr kumimoji="1" lang="en-US" altLang="ja-JP" sz="1050">
                <a:solidFill>
                  <a:schemeClr val="tx1"/>
                </a:solidFill>
                <a:latin typeface="Meiryo UI" panose="020B0604030504040204" pitchFamily="50" charset="-128"/>
                <a:ea typeface="Meiryo UI" panose="020B0604030504040204" pitchFamily="50" charset="-128"/>
              </a:rPr>
              <a:t>or </a:t>
            </a:r>
            <a:r>
              <a:rPr kumimoji="1" lang="ja-JP" altLang="en-US" sz="1050">
                <a:solidFill>
                  <a:schemeClr val="tx1"/>
                </a:solidFill>
                <a:latin typeface="Meiryo UI" panose="020B0604030504040204" pitchFamily="50" charset="-128"/>
                <a:ea typeface="Meiryo UI" panose="020B0604030504040204" pitchFamily="50" charset="-128"/>
              </a:rPr>
              <a:t>手入力）</a:t>
            </a:r>
          </a:p>
        </p:txBody>
      </p:sp>
      <p:sp>
        <p:nvSpPr>
          <p:cNvPr id="8" name="楕円 7">
            <a:extLst>
              <a:ext uri="{FF2B5EF4-FFF2-40B4-BE49-F238E27FC236}">
                <a16:creationId xmlns:a16="http://schemas.microsoft.com/office/drawing/2014/main" id="{BBAB6F48-6B18-47D0-E205-996D67EE428E}"/>
              </a:ext>
            </a:extLst>
          </p:cNvPr>
          <p:cNvSpPr/>
          <p:nvPr/>
        </p:nvSpPr>
        <p:spPr>
          <a:xfrm>
            <a:off x="270875" y="5942363"/>
            <a:ext cx="238016" cy="238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温</a:t>
            </a:r>
          </a:p>
        </p:txBody>
      </p:sp>
      <p:cxnSp>
        <p:nvCxnSpPr>
          <p:cNvPr id="30" name="直線矢印コネクタ 29">
            <a:extLst>
              <a:ext uri="{FF2B5EF4-FFF2-40B4-BE49-F238E27FC236}">
                <a16:creationId xmlns:a16="http://schemas.microsoft.com/office/drawing/2014/main" id="{80D58CFE-BC41-F7FE-5966-84EF6B80EA9C}"/>
              </a:ext>
            </a:extLst>
          </p:cNvPr>
          <p:cNvCxnSpPr>
            <a:cxnSpLocks/>
          </p:cNvCxnSpPr>
          <p:nvPr/>
        </p:nvCxnSpPr>
        <p:spPr>
          <a:xfrm>
            <a:off x="1660378" y="1570435"/>
            <a:ext cx="4674619" cy="0"/>
          </a:xfrm>
          <a:prstGeom prst="straightConnector1">
            <a:avLst/>
          </a:prstGeom>
          <a:ln w="1905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4" name="フローチャート: 処理 33">
            <a:extLst>
              <a:ext uri="{FF2B5EF4-FFF2-40B4-BE49-F238E27FC236}">
                <a16:creationId xmlns:a16="http://schemas.microsoft.com/office/drawing/2014/main" id="{821D488C-9389-621B-94C9-6E50F3EE67DD}"/>
              </a:ext>
            </a:extLst>
          </p:cNvPr>
          <p:cNvSpPr/>
          <p:nvPr/>
        </p:nvSpPr>
        <p:spPr>
          <a:xfrm>
            <a:off x="3478695" y="1488857"/>
            <a:ext cx="1383509" cy="136095"/>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Meiryo UI" panose="020B0604030504040204" pitchFamily="50" charset="-128"/>
                <a:ea typeface="Meiryo UI" panose="020B0604030504040204" pitchFamily="50" charset="-128"/>
              </a:rPr>
              <a:t>出光にて開発</a:t>
            </a:r>
          </a:p>
        </p:txBody>
      </p:sp>
      <p:sp>
        <p:nvSpPr>
          <p:cNvPr id="37" name="楕円 36">
            <a:extLst>
              <a:ext uri="{FF2B5EF4-FFF2-40B4-BE49-F238E27FC236}">
                <a16:creationId xmlns:a16="http://schemas.microsoft.com/office/drawing/2014/main" id="{CB6CD55E-1144-0C1B-F98C-AEACF6DFD3D7}"/>
              </a:ext>
            </a:extLst>
          </p:cNvPr>
          <p:cNvSpPr/>
          <p:nvPr/>
        </p:nvSpPr>
        <p:spPr>
          <a:xfrm>
            <a:off x="1680259" y="5007313"/>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2</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38" name="楕円 37">
            <a:extLst>
              <a:ext uri="{FF2B5EF4-FFF2-40B4-BE49-F238E27FC236}">
                <a16:creationId xmlns:a16="http://schemas.microsoft.com/office/drawing/2014/main" id="{5519A049-E049-88F6-FDA2-784A40382FC0}"/>
              </a:ext>
            </a:extLst>
          </p:cNvPr>
          <p:cNvSpPr/>
          <p:nvPr/>
        </p:nvSpPr>
        <p:spPr>
          <a:xfrm>
            <a:off x="6611828" y="5492405"/>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4</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35" name="楕円 34">
            <a:extLst>
              <a:ext uri="{FF2B5EF4-FFF2-40B4-BE49-F238E27FC236}">
                <a16:creationId xmlns:a16="http://schemas.microsoft.com/office/drawing/2014/main" id="{2AF9E616-C0F7-8529-8AFC-8E880ACBBFCD}"/>
              </a:ext>
            </a:extLst>
          </p:cNvPr>
          <p:cNvSpPr/>
          <p:nvPr/>
        </p:nvSpPr>
        <p:spPr>
          <a:xfrm>
            <a:off x="396223" y="4245185"/>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1</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40" name="四角形: 角を丸くする 39">
            <a:extLst>
              <a:ext uri="{FF2B5EF4-FFF2-40B4-BE49-F238E27FC236}">
                <a16:creationId xmlns:a16="http://schemas.microsoft.com/office/drawing/2014/main" id="{8B771505-E879-BE77-8634-C21A05558BF3}"/>
              </a:ext>
            </a:extLst>
          </p:cNvPr>
          <p:cNvSpPr/>
          <p:nvPr/>
        </p:nvSpPr>
        <p:spPr>
          <a:xfrm>
            <a:off x="7227116" y="108858"/>
            <a:ext cx="1736884" cy="39502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GXL</a:t>
            </a:r>
            <a:r>
              <a:rPr kumimoji="1" lang="ja-JP" altLang="en-US" sz="1000">
                <a:solidFill>
                  <a:schemeClr val="tx1"/>
                </a:solidFill>
                <a:latin typeface="Meiryo UI" panose="020B0604030504040204" pitchFamily="50" charset="-128"/>
                <a:ea typeface="Meiryo UI" panose="020B0604030504040204" pitchFamily="50" charset="-128"/>
              </a:rPr>
              <a:t>が新システムからスコープアウトされたことに伴い更新</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61" name="楕円 60">
            <a:extLst>
              <a:ext uri="{FF2B5EF4-FFF2-40B4-BE49-F238E27FC236}">
                <a16:creationId xmlns:a16="http://schemas.microsoft.com/office/drawing/2014/main" id="{400CAA68-6BE1-FC02-0FA7-14EEBC9B3954}"/>
              </a:ext>
            </a:extLst>
          </p:cNvPr>
          <p:cNvSpPr/>
          <p:nvPr/>
        </p:nvSpPr>
        <p:spPr>
          <a:xfrm>
            <a:off x="92768" y="62455"/>
            <a:ext cx="914400" cy="344351"/>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
        <p:nvSpPr>
          <p:cNvPr id="63" name="吹き出し: 線 62">
            <a:extLst>
              <a:ext uri="{FF2B5EF4-FFF2-40B4-BE49-F238E27FC236}">
                <a16:creationId xmlns:a16="http://schemas.microsoft.com/office/drawing/2014/main" id="{441EE479-8A87-6A31-E41B-E139C968E58C}"/>
              </a:ext>
            </a:extLst>
          </p:cNvPr>
          <p:cNvSpPr/>
          <p:nvPr/>
        </p:nvSpPr>
        <p:spPr>
          <a:xfrm>
            <a:off x="1671870" y="6019563"/>
            <a:ext cx="2907959" cy="478437"/>
          </a:xfrm>
          <a:prstGeom prst="borderCallout1">
            <a:avLst>
              <a:gd name="adj1" fmla="val -2812"/>
              <a:gd name="adj2" fmla="val 99200"/>
              <a:gd name="adj3" fmla="val -412445"/>
              <a:gd name="adj4" fmla="val 86259"/>
            </a:avLst>
          </a:prstGeom>
          <a:solidFill>
            <a:schemeClr val="bg1"/>
          </a:solidFill>
          <a:ln w="15875">
            <a:solidFill>
              <a:srgbClr val="C00000"/>
            </a:solidFill>
            <a:tailEnd type="ova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eiryo UI" panose="020B0604030504040204" pitchFamily="50" charset="-128"/>
                <a:ea typeface="Meiryo UI" panose="020B0604030504040204" pitchFamily="50" charset="-128"/>
              </a:rPr>
              <a:t>モニタリングポイントと温対法の開示要求への変換ロジックの整理は、各製油所の巻き込みが必要</a:t>
            </a:r>
          </a:p>
        </p:txBody>
      </p:sp>
      <p:sp>
        <p:nvSpPr>
          <p:cNvPr id="39" name="楕円 38">
            <a:extLst>
              <a:ext uri="{FF2B5EF4-FFF2-40B4-BE49-F238E27FC236}">
                <a16:creationId xmlns:a16="http://schemas.microsoft.com/office/drawing/2014/main" id="{854E31A2-FA65-30C7-F9AF-F6785BD6C116}"/>
              </a:ext>
            </a:extLst>
          </p:cNvPr>
          <p:cNvSpPr/>
          <p:nvPr/>
        </p:nvSpPr>
        <p:spPr>
          <a:xfrm>
            <a:off x="1671870" y="5897454"/>
            <a:ext cx="216000" cy="216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3</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46183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18447D-89B1-2AAC-ED2C-BF7B3B056A3B}"/>
              </a:ext>
            </a:extLst>
          </p:cNvPr>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タグデータからのデータ収集フローイメージ</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9869DBBA-D5A2-650E-6383-88DB03DC45A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30</a:t>
            </a:fld>
            <a:endParaRPr kumimoji="1" lang="ja-JP" altLang="en-US">
              <a:latin typeface="Meiryo UI" panose="020B0604030504040204" pitchFamily="50" charset="-128"/>
              <a:ea typeface="Meiryo UI" panose="020B0604030504040204" pitchFamily="50" charset="-128"/>
            </a:endParaRPr>
          </a:p>
        </p:txBody>
      </p:sp>
      <p:sp>
        <p:nvSpPr>
          <p:cNvPr id="8" name="楕円 7">
            <a:extLst>
              <a:ext uri="{FF2B5EF4-FFF2-40B4-BE49-F238E27FC236}">
                <a16:creationId xmlns:a16="http://schemas.microsoft.com/office/drawing/2014/main" id="{C102477E-179D-6A55-6ABE-706C0F3FF4B7}"/>
              </a:ext>
            </a:extLst>
          </p:cNvPr>
          <p:cNvSpPr/>
          <p:nvPr/>
        </p:nvSpPr>
        <p:spPr>
          <a:xfrm>
            <a:off x="1331640" y="2278911"/>
            <a:ext cx="936000" cy="936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Meiryo UI" panose="020B0604030504040204" pitchFamily="50" charset="-128"/>
                <a:ea typeface="Meiryo UI" panose="020B0604030504040204" pitchFamily="50" charset="-128"/>
              </a:rPr>
              <a:t>タグ</a:t>
            </a:r>
          </a:p>
        </p:txBody>
      </p:sp>
      <p:sp>
        <p:nvSpPr>
          <p:cNvPr id="9" name="フローチャート: 磁気ディスク 8">
            <a:extLst>
              <a:ext uri="{FF2B5EF4-FFF2-40B4-BE49-F238E27FC236}">
                <a16:creationId xmlns:a16="http://schemas.microsoft.com/office/drawing/2014/main" id="{36754D17-3BD2-A180-1A39-B56582E42017}"/>
              </a:ext>
            </a:extLst>
          </p:cNvPr>
          <p:cNvSpPr/>
          <p:nvPr/>
        </p:nvSpPr>
        <p:spPr>
          <a:xfrm>
            <a:off x="6948264" y="2278579"/>
            <a:ext cx="1224136" cy="936104"/>
          </a:xfrm>
          <a:prstGeom prst="flowChartMagneticDisk">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Meiryo UI" panose="020B0604030504040204" pitchFamily="50" charset="-128"/>
                <a:ea typeface="Meiryo UI" panose="020B0604030504040204" pitchFamily="50" charset="-128"/>
              </a:rPr>
              <a:t>新システム</a:t>
            </a:r>
          </a:p>
        </p:txBody>
      </p:sp>
      <p:sp>
        <p:nvSpPr>
          <p:cNvPr id="11" name="正方形/長方形 10">
            <a:extLst>
              <a:ext uri="{FF2B5EF4-FFF2-40B4-BE49-F238E27FC236}">
                <a16:creationId xmlns:a16="http://schemas.microsoft.com/office/drawing/2014/main" id="{646508AF-9432-0256-F798-7D94353CED48}"/>
              </a:ext>
            </a:extLst>
          </p:cNvPr>
          <p:cNvSpPr/>
          <p:nvPr/>
        </p:nvSpPr>
        <p:spPr>
          <a:xfrm>
            <a:off x="323528" y="1833083"/>
            <a:ext cx="864096" cy="296577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bg1"/>
                </a:solidFill>
                <a:latin typeface="Meiryo UI" panose="020B0604030504040204" pitchFamily="50" charset="-128"/>
                <a:ea typeface="Meiryo UI" panose="020B0604030504040204" pitchFamily="50" charset="-128"/>
              </a:rPr>
              <a:t>データ補正</a:t>
            </a:r>
            <a:endParaRPr kumimoji="1" lang="en-US" altLang="ja-JP" sz="1200">
              <a:solidFill>
                <a:schemeClr val="bg1"/>
              </a:solidFill>
              <a:latin typeface="Meiryo UI" panose="020B0604030504040204" pitchFamily="50" charset="-128"/>
              <a:ea typeface="Meiryo UI" panose="020B0604030504040204" pitchFamily="50" charset="-128"/>
            </a:endParaRPr>
          </a:p>
          <a:p>
            <a:pPr algn="ctr"/>
            <a:r>
              <a:rPr kumimoji="1" lang="ja-JP" altLang="en-US" sz="1200">
                <a:solidFill>
                  <a:schemeClr val="bg1"/>
                </a:solidFill>
                <a:latin typeface="Meiryo UI" panose="020B0604030504040204" pitchFamily="50" charset="-128"/>
                <a:ea typeface="Meiryo UI" panose="020B0604030504040204" pitchFamily="50" charset="-128"/>
              </a:rPr>
              <a:t>を考慮</a:t>
            </a:r>
            <a:endParaRPr kumimoji="1" lang="en-US" altLang="ja-JP" sz="1200">
              <a:solidFill>
                <a:schemeClr val="bg1"/>
              </a:solidFill>
              <a:latin typeface="Meiryo UI" panose="020B0604030504040204" pitchFamily="50" charset="-128"/>
              <a:ea typeface="Meiryo UI" panose="020B0604030504040204" pitchFamily="50" charset="-128"/>
            </a:endParaRPr>
          </a:p>
          <a:p>
            <a:pPr algn="ctr"/>
            <a:endParaRPr kumimoji="1" lang="en-US" altLang="ja-JP" sz="1200">
              <a:solidFill>
                <a:schemeClr val="bg1"/>
              </a:solidFill>
              <a:latin typeface="Meiryo UI" panose="020B0604030504040204" pitchFamily="50" charset="-128"/>
              <a:ea typeface="Meiryo UI" panose="020B0604030504040204" pitchFamily="50" charset="-128"/>
            </a:endParaRPr>
          </a:p>
        </p:txBody>
      </p:sp>
      <p:sp>
        <p:nvSpPr>
          <p:cNvPr id="12" name="四角形: 角を丸くする 11">
            <a:extLst>
              <a:ext uri="{FF2B5EF4-FFF2-40B4-BE49-F238E27FC236}">
                <a16:creationId xmlns:a16="http://schemas.microsoft.com/office/drawing/2014/main" id="{70971D6D-CEA1-A874-EA42-16F238729CBD}"/>
              </a:ext>
            </a:extLst>
          </p:cNvPr>
          <p:cNvSpPr/>
          <p:nvPr/>
        </p:nvSpPr>
        <p:spPr>
          <a:xfrm>
            <a:off x="1331640" y="3467375"/>
            <a:ext cx="915101" cy="936104"/>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solidFill>
                  <a:schemeClr val="tx1"/>
                </a:solidFill>
                <a:latin typeface="Meiryo UI" panose="020B0604030504040204" pitchFamily="50" charset="-128"/>
                <a:ea typeface="Meiryo UI" panose="020B0604030504040204" pitchFamily="50" charset="-128"/>
              </a:rPr>
              <a:t>ETS-R</a:t>
            </a:r>
            <a:endParaRPr kumimoji="1" lang="ja-JP" altLang="en-US" sz="1600">
              <a:solidFill>
                <a:schemeClr val="tx1"/>
              </a:solidFill>
              <a:latin typeface="Meiryo UI" panose="020B0604030504040204" pitchFamily="50" charset="-128"/>
              <a:ea typeface="Meiryo UI" panose="020B0604030504040204" pitchFamily="50" charset="-128"/>
            </a:endParaRPr>
          </a:p>
        </p:txBody>
      </p:sp>
      <p:cxnSp>
        <p:nvCxnSpPr>
          <p:cNvPr id="15" name="直線矢印コネクタ 14">
            <a:extLst>
              <a:ext uri="{FF2B5EF4-FFF2-40B4-BE49-F238E27FC236}">
                <a16:creationId xmlns:a16="http://schemas.microsoft.com/office/drawing/2014/main" id="{4772C2FE-BD91-29ED-729E-D857CC8FC474}"/>
              </a:ext>
            </a:extLst>
          </p:cNvPr>
          <p:cNvCxnSpPr>
            <a:cxnSpLocks/>
            <a:stCxn id="22" idx="3"/>
            <a:endCxn id="9" idx="2"/>
          </p:cNvCxnSpPr>
          <p:nvPr/>
        </p:nvCxnSpPr>
        <p:spPr>
          <a:xfrm flipV="1">
            <a:off x="4572000" y="2746631"/>
            <a:ext cx="2376264" cy="8992"/>
          </a:xfrm>
          <a:prstGeom prst="straightConnector1">
            <a:avLst/>
          </a:prstGeom>
          <a:ln w="571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03213FD3-C91E-5AB6-DB91-4C75C99EC436}"/>
              </a:ext>
            </a:extLst>
          </p:cNvPr>
          <p:cNvCxnSpPr>
            <a:cxnSpLocks/>
            <a:stCxn id="8" idx="6"/>
            <a:endCxn id="22" idx="1"/>
          </p:cNvCxnSpPr>
          <p:nvPr/>
        </p:nvCxnSpPr>
        <p:spPr>
          <a:xfrm>
            <a:off x="2267640" y="2746911"/>
            <a:ext cx="1770593" cy="8712"/>
          </a:xfrm>
          <a:prstGeom prst="straightConnector1">
            <a:avLst/>
          </a:prstGeom>
          <a:ln w="571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411B5FEC-280D-0624-50E5-3CE2AE88B5DC}"/>
              </a:ext>
            </a:extLst>
          </p:cNvPr>
          <p:cNvSpPr/>
          <p:nvPr/>
        </p:nvSpPr>
        <p:spPr>
          <a:xfrm>
            <a:off x="5324412" y="3823295"/>
            <a:ext cx="3136020" cy="6970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baseline="-25000">
                <a:solidFill>
                  <a:schemeClr val="tx1"/>
                </a:solidFill>
                <a:latin typeface="Meiryo UI" panose="020B0604030504040204" pitchFamily="50" charset="-128"/>
                <a:ea typeface="Meiryo UI" panose="020B0604030504040204" pitchFamily="50" charset="-128"/>
              </a:rPr>
              <a:t>タグ</a:t>
            </a:r>
            <a:r>
              <a:rPr kumimoji="1" lang="en-US" altLang="ja-JP" baseline="-25000">
                <a:solidFill>
                  <a:schemeClr val="tx1"/>
                </a:solidFill>
                <a:latin typeface="Meiryo UI" panose="020B0604030504040204" pitchFamily="50" charset="-128"/>
                <a:ea typeface="Meiryo UI" panose="020B0604030504040204" pitchFamily="50" charset="-128"/>
              </a:rPr>
              <a:t>	</a:t>
            </a:r>
            <a:r>
              <a:rPr kumimoji="1" lang="ja-JP" altLang="en-US" baseline="-25000">
                <a:solidFill>
                  <a:schemeClr val="tx1"/>
                </a:solidFill>
                <a:latin typeface="Meiryo UI" panose="020B0604030504040204" pitchFamily="50" charset="-128"/>
                <a:ea typeface="Meiryo UI" panose="020B0604030504040204" pitchFamily="50" charset="-128"/>
              </a:rPr>
              <a:t>補正前</a:t>
            </a:r>
            <a:r>
              <a:rPr kumimoji="1" lang="en-US" altLang="ja-JP" baseline="-25000">
                <a:solidFill>
                  <a:schemeClr val="tx1"/>
                </a:solidFill>
                <a:latin typeface="Meiryo UI" panose="020B0604030504040204" pitchFamily="50" charset="-128"/>
                <a:ea typeface="Meiryo UI" panose="020B0604030504040204" pitchFamily="50" charset="-128"/>
              </a:rPr>
              <a:t>	</a:t>
            </a:r>
            <a:r>
              <a:rPr kumimoji="1" lang="ja-JP" altLang="en-US" baseline="-25000">
                <a:solidFill>
                  <a:schemeClr val="tx1"/>
                </a:solidFill>
                <a:latin typeface="Meiryo UI" panose="020B0604030504040204" pitchFamily="50" charset="-128"/>
                <a:ea typeface="Meiryo UI" panose="020B0604030504040204" pitchFamily="50" charset="-128"/>
              </a:rPr>
              <a:t>補正</a:t>
            </a:r>
            <a:r>
              <a:rPr kumimoji="1" lang="en-US" altLang="ja-JP" baseline="-25000">
                <a:solidFill>
                  <a:schemeClr val="tx1"/>
                </a:solidFill>
                <a:latin typeface="Meiryo UI" panose="020B0604030504040204" pitchFamily="50" charset="-128"/>
                <a:ea typeface="Meiryo UI" panose="020B0604030504040204" pitchFamily="50" charset="-128"/>
              </a:rPr>
              <a:t>		</a:t>
            </a:r>
            <a:r>
              <a:rPr kumimoji="1" lang="ja-JP" altLang="en-US" baseline="-25000">
                <a:solidFill>
                  <a:schemeClr val="tx1"/>
                </a:solidFill>
                <a:latin typeface="Meiryo UI" panose="020B0604030504040204" pitchFamily="50" charset="-128"/>
                <a:ea typeface="Meiryo UI" panose="020B0604030504040204" pitchFamily="50" charset="-128"/>
              </a:rPr>
              <a:t>補正後</a:t>
            </a:r>
            <a:endParaRPr kumimoji="1" lang="en-US" altLang="ja-JP" baseline="-25000">
              <a:solidFill>
                <a:schemeClr val="tx1"/>
              </a:solidFill>
              <a:latin typeface="Meiryo UI" panose="020B0604030504040204" pitchFamily="50" charset="-128"/>
              <a:ea typeface="Meiryo UI" panose="020B0604030504040204" pitchFamily="50" charset="-128"/>
            </a:endParaRPr>
          </a:p>
          <a:p>
            <a:r>
              <a:rPr kumimoji="1" lang="en-US" altLang="ja-JP" baseline="-25000">
                <a:solidFill>
                  <a:schemeClr val="tx1"/>
                </a:solidFill>
                <a:latin typeface="Meiryo UI" panose="020B0604030504040204" pitchFamily="50" charset="-128"/>
                <a:ea typeface="Meiryo UI" panose="020B0604030504040204" pitchFamily="50" charset="-128"/>
              </a:rPr>
              <a:t>A001	100		</a:t>
            </a:r>
            <a:r>
              <a:rPr kumimoji="1" lang="ja-JP" altLang="en-US" baseline="-25000">
                <a:solidFill>
                  <a:schemeClr val="tx1"/>
                </a:solidFill>
                <a:latin typeface="Meiryo UI" panose="020B0604030504040204" pitchFamily="50" charset="-128"/>
                <a:ea typeface="Meiryo UI" panose="020B0604030504040204" pitchFamily="50" charset="-128"/>
              </a:rPr>
              <a:t>▲</a:t>
            </a:r>
            <a:r>
              <a:rPr kumimoji="1" lang="en-US" altLang="ja-JP" baseline="-25000">
                <a:solidFill>
                  <a:schemeClr val="tx1"/>
                </a:solidFill>
                <a:latin typeface="Meiryo UI" panose="020B0604030504040204" pitchFamily="50" charset="-128"/>
                <a:ea typeface="Meiryo UI" panose="020B0604030504040204" pitchFamily="50" charset="-128"/>
              </a:rPr>
              <a:t>10		90</a:t>
            </a:r>
          </a:p>
          <a:p>
            <a:r>
              <a:rPr kumimoji="1" lang="en-US" altLang="ja-JP" baseline="-25000">
                <a:solidFill>
                  <a:schemeClr val="tx1"/>
                </a:solidFill>
                <a:latin typeface="Meiryo UI" panose="020B0604030504040204" pitchFamily="50" charset="-128"/>
                <a:ea typeface="Meiryo UI" panose="020B0604030504040204" pitchFamily="50" charset="-128"/>
              </a:rPr>
              <a:t>B001	5		</a:t>
            </a:r>
            <a:r>
              <a:rPr kumimoji="1" lang="ja-JP" altLang="en-US" baseline="-25000">
                <a:solidFill>
                  <a:schemeClr val="tx1"/>
                </a:solidFill>
                <a:latin typeface="Meiryo UI" panose="020B0604030504040204" pitchFamily="50" charset="-128"/>
                <a:ea typeface="Meiryo UI" panose="020B0604030504040204" pitchFamily="50" charset="-128"/>
              </a:rPr>
              <a:t>▲</a:t>
            </a:r>
            <a:r>
              <a:rPr kumimoji="1" lang="en-US" altLang="ja-JP" baseline="-25000">
                <a:solidFill>
                  <a:schemeClr val="tx1"/>
                </a:solidFill>
                <a:latin typeface="Meiryo UI" panose="020B0604030504040204" pitchFamily="50" charset="-128"/>
                <a:ea typeface="Meiryo UI" panose="020B0604030504040204" pitchFamily="50" charset="-128"/>
              </a:rPr>
              <a:t>5		XXX</a:t>
            </a:r>
          </a:p>
        </p:txBody>
      </p:sp>
      <p:sp>
        <p:nvSpPr>
          <p:cNvPr id="25" name="吹き出し: 線 24">
            <a:extLst>
              <a:ext uri="{FF2B5EF4-FFF2-40B4-BE49-F238E27FC236}">
                <a16:creationId xmlns:a16="http://schemas.microsoft.com/office/drawing/2014/main" id="{18C1D1F3-E015-6914-F9E0-8DF200801C6C}"/>
              </a:ext>
            </a:extLst>
          </p:cNvPr>
          <p:cNvSpPr/>
          <p:nvPr/>
        </p:nvSpPr>
        <p:spPr>
          <a:xfrm>
            <a:off x="7414062" y="4688412"/>
            <a:ext cx="1568012" cy="315850"/>
          </a:xfrm>
          <a:prstGeom prst="borderCallout1">
            <a:avLst>
              <a:gd name="adj1" fmla="val -2433"/>
              <a:gd name="adj2" fmla="val 19639"/>
              <a:gd name="adj3" fmla="val -59770"/>
              <a:gd name="adj4" fmla="val 21875"/>
            </a:avLst>
          </a:prstGeom>
          <a:solidFill>
            <a:schemeClr val="bg1"/>
          </a:solidFill>
          <a:ln>
            <a:solidFill>
              <a:srgbClr val="C00000"/>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補正後を新システムへ連携</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DF708659-1549-04A4-684D-5D1D2CBCBF27}"/>
              </a:ext>
            </a:extLst>
          </p:cNvPr>
          <p:cNvSpPr/>
          <p:nvPr/>
        </p:nvSpPr>
        <p:spPr>
          <a:xfrm>
            <a:off x="4808720" y="2752498"/>
            <a:ext cx="1986358" cy="3706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Meiryo UI" panose="020B0604030504040204" pitchFamily="50" charset="-128"/>
                <a:ea typeface="Meiryo UI" panose="020B0604030504040204" pitchFamily="50" charset="-128"/>
              </a:rPr>
              <a:t>Excel</a:t>
            </a:r>
            <a:r>
              <a:rPr kumimoji="1" lang="ja-JP" altLang="en-US" sz="1100">
                <a:solidFill>
                  <a:schemeClr val="tx1"/>
                </a:solidFill>
                <a:latin typeface="Meiryo UI" panose="020B0604030504040204" pitchFamily="50" charset="-128"/>
                <a:ea typeface="Meiryo UI" panose="020B0604030504040204" pitchFamily="50" charset="-128"/>
              </a:rPr>
              <a:t> </a:t>
            </a:r>
            <a:r>
              <a:rPr kumimoji="1" lang="en-US" altLang="ja-JP" sz="1100">
                <a:solidFill>
                  <a:schemeClr val="tx1"/>
                </a:solidFill>
                <a:latin typeface="Meiryo UI" panose="020B0604030504040204" pitchFamily="50" charset="-128"/>
                <a:ea typeface="Meiryo UI" panose="020B0604030504040204" pitchFamily="50" charset="-128"/>
              </a:rPr>
              <a:t>or CSV</a:t>
            </a:r>
            <a:r>
              <a:rPr kumimoji="1" lang="ja-JP" altLang="en-US" sz="1100">
                <a:solidFill>
                  <a:schemeClr val="tx1"/>
                </a:solidFill>
                <a:latin typeface="Meiryo UI" panose="020B0604030504040204" pitchFamily="50" charset="-128"/>
                <a:ea typeface="Meiryo UI" panose="020B0604030504040204" pitchFamily="50" charset="-128"/>
              </a:rPr>
              <a:t>アップロード</a:t>
            </a:r>
            <a:r>
              <a:rPr kumimoji="1" lang="en-US" altLang="ja-JP" sz="1100" baseline="30000">
                <a:solidFill>
                  <a:schemeClr val="tx1"/>
                </a:solidFill>
                <a:latin typeface="Meiryo UI" panose="020B0604030504040204" pitchFamily="50" charset="-128"/>
                <a:ea typeface="Meiryo UI" panose="020B0604030504040204" pitchFamily="50" charset="-128"/>
              </a:rPr>
              <a:t>※1</a:t>
            </a:r>
            <a:r>
              <a:rPr kumimoji="1" lang="ja-JP" altLang="en-US" sz="1100">
                <a:solidFill>
                  <a:schemeClr val="tx1"/>
                </a:solidFill>
                <a:latin typeface="Meiryo UI" panose="020B0604030504040204" pitchFamily="50" charset="-128"/>
                <a:ea typeface="Meiryo UI" panose="020B0604030504040204" pitchFamily="50" charset="-128"/>
              </a:rPr>
              <a:t>＋エビデンスファイル保存</a:t>
            </a:r>
            <a:endParaRPr kumimoji="1" lang="ja-JP" altLang="en-US" sz="1100" baseline="30000">
              <a:solidFill>
                <a:schemeClr val="tx1"/>
              </a:solidFill>
              <a:latin typeface="Meiryo UI" panose="020B0604030504040204" pitchFamily="50" charset="-128"/>
              <a:ea typeface="Meiryo UI" panose="020B0604030504040204" pitchFamily="50" charset="-128"/>
            </a:endParaRPr>
          </a:p>
        </p:txBody>
      </p:sp>
      <p:sp>
        <p:nvSpPr>
          <p:cNvPr id="43" name="矢印: 五方向 42">
            <a:extLst>
              <a:ext uri="{FF2B5EF4-FFF2-40B4-BE49-F238E27FC236}">
                <a16:creationId xmlns:a16="http://schemas.microsoft.com/office/drawing/2014/main" id="{6EE6CEC8-75D4-ADAA-020D-1184808FCF95}"/>
              </a:ext>
            </a:extLst>
          </p:cNvPr>
          <p:cNvSpPr/>
          <p:nvPr/>
        </p:nvSpPr>
        <p:spPr>
          <a:xfrm>
            <a:off x="1331640" y="1846574"/>
            <a:ext cx="1872208" cy="35999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bg1"/>
                </a:solidFill>
                <a:latin typeface="Meiryo UI" panose="020B0604030504040204" pitchFamily="50" charset="-128"/>
                <a:ea typeface="Meiryo UI" panose="020B0604030504040204" pitchFamily="50" charset="-128"/>
              </a:rPr>
              <a:t>タグレベル</a:t>
            </a:r>
          </a:p>
        </p:txBody>
      </p:sp>
      <p:sp>
        <p:nvSpPr>
          <p:cNvPr id="44" name="矢印: 五方向 43">
            <a:extLst>
              <a:ext uri="{FF2B5EF4-FFF2-40B4-BE49-F238E27FC236}">
                <a16:creationId xmlns:a16="http://schemas.microsoft.com/office/drawing/2014/main" id="{E609B104-8816-2ECD-09F7-66E06133F957}"/>
              </a:ext>
            </a:extLst>
          </p:cNvPr>
          <p:cNvSpPr/>
          <p:nvPr/>
        </p:nvSpPr>
        <p:spPr>
          <a:xfrm>
            <a:off x="5472100" y="1846574"/>
            <a:ext cx="2844316" cy="35999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bg1"/>
                </a:solidFill>
                <a:latin typeface="Meiryo UI" panose="020B0604030504040204" pitchFamily="50" charset="-128"/>
                <a:ea typeface="Meiryo UI" panose="020B0604030504040204" pitchFamily="50" charset="-128"/>
              </a:rPr>
              <a:t>GXL/</a:t>
            </a:r>
            <a:r>
              <a:rPr kumimoji="1" lang="ja-JP" altLang="en-US" sz="1200">
                <a:solidFill>
                  <a:schemeClr val="bg1"/>
                </a:solidFill>
                <a:latin typeface="Meiryo UI" panose="020B0604030504040204" pitchFamily="50" charset="-128"/>
                <a:ea typeface="Meiryo UI" panose="020B0604030504040204" pitchFamily="50" charset="-128"/>
              </a:rPr>
              <a:t>温対法レベル</a:t>
            </a:r>
          </a:p>
        </p:txBody>
      </p:sp>
      <p:sp>
        <p:nvSpPr>
          <p:cNvPr id="46" name="矢印: 五方向 45">
            <a:extLst>
              <a:ext uri="{FF2B5EF4-FFF2-40B4-BE49-F238E27FC236}">
                <a16:creationId xmlns:a16="http://schemas.microsoft.com/office/drawing/2014/main" id="{8F0F7F72-0708-B9B3-FE63-92C7DFF4D875}"/>
              </a:ext>
            </a:extLst>
          </p:cNvPr>
          <p:cNvSpPr/>
          <p:nvPr/>
        </p:nvSpPr>
        <p:spPr>
          <a:xfrm>
            <a:off x="3413516" y="1846574"/>
            <a:ext cx="1872208" cy="35999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bg1"/>
                </a:solidFill>
                <a:latin typeface="Meiryo UI" panose="020B0604030504040204" pitchFamily="50" charset="-128"/>
                <a:ea typeface="Meiryo UI" panose="020B0604030504040204" pitchFamily="50" charset="-128"/>
              </a:rPr>
              <a:t>タグレベル？</a:t>
            </a:r>
          </a:p>
        </p:txBody>
      </p:sp>
      <p:sp>
        <p:nvSpPr>
          <p:cNvPr id="50" name="テキスト プレースホルダー 24">
            <a:extLst>
              <a:ext uri="{FF2B5EF4-FFF2-40B4-BE49-F238E27FC236}">
                <a16:creationId xmlns:a16="http://schemas.microsoft.com/office/drawing/2014/main" id="{9084BAF3-30B1-D354-09C1-4DE3FD2B6340}"/>
              </a:ext>
            </a:extLst>
          </p:cNvPr>
          <p:cNvSpPr txBox="1">
            <a:spLocks/>
          </p:cNvSpPr>
          <p:nvPr/>
        </p:nvSpPr>
        <p:spPr>
          <a:xfrm>
            <a:off x="1116001" y="888637"/>
            <a:ext cx="7704150" cy="5918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Char char="n"/>
            </a:pPr>
            <a:r>
              <a:rPr lang="ja-JP" altLang="en-US" sz="1400">
                <a:latin typeface="Meiryo UI" panose="020B0604030504040204" pitchFamily="50" charset="-128"/>
                <a:ea typeface="Meiryo UI" panose="020B0604030504040204" pitchFamily="50" charset="-128"/>
              </a:rPr>
              <a:t>生データがそのまま利用できないことを想定し、データ補正を考慮した連携方法を検討する必要がある</a:t>
            </a:r>
          </a:p>
        </p:txBody>
      </p:sp>
      <p:cxnSp>
        <p:nvCxnSpPr>
          <p:cNvPr id="19" name="コネクタ: カギ線 18">
            <a:extLst>
              <a:ext uri="{FF2B5EF4-FFF2-40B4-BE49-F238E27FC236}">
                <a16:creationId xmlns:a16="http://schemas.microsoft.com/office/drawing/2014/main" id="{99C11BB5-5B5E-059D-4E15-C730EAF2233A}"/>
              </a:ext>
            </a:extLst>
          </p:cNvPr>
          <p:cNvCxnSpPr>
            <a:cxnSpLocks/>
            <a:stCxn id="12" idx="3"/>
            <a:endCxn id="22" idx="2"/>
          </p:cNvCxnSpPr>
          <p:nvPr/>
        </p:nvCxnSpPr>
        <p:spPr>
          <a:xfrm flipV="1">
            <a:off x="2246741" y="3013889"/>
            <a:ext cx="2058376" cy="921538"/>
          </a:xfrm>
          <a:prstGeom prst="bentConnector2">
            <a:avLst/>
          </a:prstGeom>
          <a:ln w="571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A57178DF-A8E0-7EBD-8E6B-3A4B6A1AC518}"/>
              </a:ext>
            </a:extLst>
          </p:cNvPr>
          <p:cNvSpPr/>
          <p:nvPr/>
        </p:nvSpPr>
        <p:spPr>
          <a:xfrm>
            <a:off x="278268" y="6177411"/>
            <a:ext cx="3759966" cy="2581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a:solidFill>
                  <a:schemeClr val="tx1"/>
                </a:solidFill>
                <a:latin typeface="Meiryo UI" panose="020B0604030504040204" pitchFamily="50" charset="-128"/>
                <a:ea typeface="Meiryo UI" panose="020B0604030504040204" pitchFamily="50" charset="-128"/>
              </a:rPr>
              <a:t>※1 CSV</a:t>
            </a:r>
            <a:r>
              <a:rPr kumimoji="1" lang="ja-JP" altLang="en-US" sz="1000">
                <a:solidFill>
                  <a:schemeClr val="tx1"/>
                </a:solidFill>
                <a:latin typeface="Meiryo UI" panose="020B0604030504040204" pitchFamily="50" charset="-128"/>
                <a:ea typeface="Meiryo UI" panose="020B0604030504040204" pitchFamily="50" charset="-128"/>
              </a:rPr>
              <a:t>アップロードの場合は、</a:t>
            </a:r>
            <a:r>
              <a:rPr kumimoji="1" lang="en-US" altLang="ja-JP" sz="1000">
                <a:solidFill>
                  <a:schemeClr val="tx1"/>
                </a:solidFill>
                <a:latin typeface="Meiryo UI" panose="020B0604030504040204" pitchFamily="50" charset="-128"/>
                <a:ea typeface="Meiryo UI" panose="020B0604030504040204" pitchFamily="50" charset="-128"/>
              </a:rPr>
              <a:t>CSV</a:t>
            </a:r>
            <a:r>
              <a:rPr kumimoji="1" lang="ja-JP" altLang="en-US" sz="1000">
                <a:solidFill>
                  <a:schemeClr val="tx1"/>
                </a:solidFill>
                <a:latin typeface="Meiryo UI" panose="020B0604030504040204" pitchFamily="50" charset="-128"/>
                <a:ea typeface="Meiryo UI" panose="020B0604030504040204" pitchFamily="50" charset="-128"/>
              </a:rPr>
              <a:t>出力機能をマクロに要追加</a:t>
            </a:r>
            <a:endParaRPr kumimoji="1" lang="en-US" altLang="ja-JP" sz="1000">
              <a:solidFill>
                <a:schemeClr val="tx1"/>
              </a:solidFill>
              <a:latin typeface="Meiryo UI" panose="020B0604030504040204" pitchFamily="50" charset="-128"/>
              <a:ea typeface="Meiryo UI" panose="020B0604030504040204" pitchFamily="50" charset="-128"/>
            </a:endParaRPr>
          </a:p>
        </p:txBody>
      </p:sp>
      <p:pic>
        <p:nvPicPr>
          <p:cNvPr id="22" name="Picture 185">
            <a:extLst>
              <a:ext uri="{FF2B5EF4-FFF2-40B4-BE49-F238E27FC236}">
                <a16:creationId xmlns:a16="http://schemas.microsoft.com/office/drawing/2014/main" id="{8AB509F9-1772-B5C9-9B7D-1A55C5AFEC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8233" y="2497357"/>
            <a:ext cx="533767" cy="516532"/>
          </a:xfrm>
          <a:prstGeom prst="rect">
            <a:avLst/>
          </a:prstGeom>
        </p:spPr>
      </p:pic>
      <p:sp>
        <p:nvSpPr>
          <p:cNvPr id="35" name="正方形/長方形 34">
            <a:extLst>
              <a:ext uri="{FF2B5EF4-FFF2-40B4-BE49-F238E27FC236}">
                <a16:creationId xmlns:a16="http://schemas.microsoft.com/office/drawing/2014/main" id="{4A3730F2-E2B5-B12D-797F-F216DC9B04AD}"/>
              </a:ext>
            </a:extLst>
          </p:cNvPr>
          <p:cNvSpPr/>
          <p:nvPr/>
        </p:nvSpPr>
        <p:spPr>
          <a:xfrm>
            <a:off x="3693048" y="2320722"/>
            <a:ext cx="1224136" cy="2848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Meiryo UI" panose="020B0604030504040204" pitchFamily="50" charset="-128"/>
                <a:ea typeface="Meiryo UI" panose="020B0604030504040204" pitchFamily="50" charset="-128"/>
              </a:rPr>
              <a:t>補正</a:t>
            </a:r>
            <a:r>
              <a:rPr kumimoji="1" lang="en-US" altLang="ja-JP" sz="1100">
                <a:solidFill>
                  <a:schemeClr val="tx1"/>
                </a:solidFill>
                <a:latin typeface="Meiryo UI" panose="020B0604030504040204" pitchFamily="50" charset="-128"/>
                <a:ea typeface="Meiryo UI" panose="020B0604030504040204" pitchFamily="50" charset="-128"/>
              </a:rPr>
              <a:t>Excel</a:t>
            </a:r>
          </a:p>
        </p:txBody>
      </p:sp>
      <p:sp>
        <p:nvSpPr>
          <p:cNvPr id="51" name="正方形/長方形 50">
            <a:extLst>
              <a:ext uri="{FF2B5EF4-FFF2-40B4-BE49-F238E27FC236}">
                <a16:creationId xmlns:a16="http://schemas.microsoft.com/office/drawing/2014/main" id="{F5229BF8-7A33-25D6-BCBF-47D889B90FDE}"/>
              </a:ext>
            </a:extLst>
          </p:cNvPr>
          <p:cNvSpPr/>
          <p:nvPr/>
        </p:nvSpPr>
        <p:spPr>
          <a:xfrm>
            <a:off x="4948157" y="3641118"/>
            <a:ext cx="1481205" cy="3500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Meiryo UI" panose="020B0604030504040204" pitchFamily="50" charset="-128"/>
                <a:ea typeface="Meiryo UI" panose="020B0604030504040204" pitchFamily="50" charset="-128"/>
              </a:rPr>
              <a:t>Excel</a:t>
            </a:r>
            <a:r>
              <a:rPr kumimoji="1" lang="ja-JP" altLang="en-US" sz="1200" b="1">
                <a:solidFill>
                  <a:schemeClr val="tx1"/>
                </a:solidFill>
                <a:latin typeface="Meiryo UI" panose="020B0604030504040204" pitchFamily="50" charset="-128"/>
                <a:ea typeface="Meiryo UI" panose="020B0604030504040204" pitchFamily="50" charset="-128"/>
              </a:rPr>
              <a:t>イメージ</a:t>
            </a:r>
            <a:endParaRPr kumimoji="1" lang="en-US" altLang="ja-JP" sz="1200" b="1">
              <a:solidFill>
                <a:schemeClr val="tx1"/>
              </a:solidFill>
              <a:latin typeface="Meiryo UI" panose="020B0604030504040204" pitchFamily="50" charset="-128"/>
              <a:ea typeface="Meiryo UI" panose="020B0604030504040204" pitchFamily="50" charset="-128"/>
            </a:endParaRPr>
          </a:p>
        </p:txBody>
      </p:sp>
      <p:cxnSp>
        <p:nvCxnSpPr>
          <p:cNvPr id="53" name="直線コネクタ 52">
            <a:extLst>
              <a:ext uri="{FF2B5EF4-FFF2-40B4-BE49-F238E27FC236}">
                <a16:creationId xmlns:a16="http://schemas.microsoft.com/office/drawing/2014/main" id="{D60B8460-200B-E08F-B3E1-FC9E4E15E838}"/>
              </a:ext>
            </a:extLst>
          </p:cNvPr>
          <p:cNvCxnSpPr>
            <a:cxnSpLocks/>
          </p:cNvCxnSpPr>
          <p:nvPr/>
        </p:nvCxnSpPr>
        <p:spPr>
          <a:xfrm>
            <a:off x="4669676" y="3013889"/>
            <a:ext cx="730416" cy="641374"/>
          </a:xfrm>
          <a:prstGeom prst="line">
            <a:avLst/>
          </a:prstGeom>
          <a:ln w="28575">
            <a:solidFill>
              <a:schemeClr val="accent2"/>
            </a:solidFill>
            <a:headEnd type="diamond" w="lg" len="lg"/>
            <a:tailEnd type="none"/>
          </a:ln>
        </p:spPr>
        <p:style>
          <a:lnRef idx="1">
            <a:schemeClr val="accent1"/>
          </a:lnRef>
          <a:fillRef idx="0">
            <a:schemeClr val="accent1"/>
          </a:fillRef>
          <a:effectRef idx="0">
            <a:schemeClr val="accent1"/>
          </a:effectRef>
          <a:fontRef idx="minor">
            <a:schemeClr val="tx1"/>
          </a:fontRef>
        </p:style>
      </p:cxnSp>
      <p:sp>
        <p:nvSpPr>
          <p:cNvPr id="37" name="円柱 36">
            <a:extLst>
              <a:ext uri="{FF2B5EF4-FFF2-40B4-BE49-F238E27FC236}">
                <a16:creationId xmlns:a16="http://schemas.microsoft.com/office/drawing/2014/main" id="{DD9947A8-1BB7-A211-5ADD-3279DD6402D6}"/>
              </a:ext>
            </a:extLst>
          </p:cNvPr>
          <p:cNvSpPr/>
          <p:nvPr/>
        </p:nvSpPr>
        <p:spPr>
          <a:xfrm>
            <a:off x="2483768" y="2320722"/>
            <a:ext cx="1207614" cy="1844879"/>
          </a:xfrm>
          <a:prstGeom prst="can">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Meiryo UI" panose="020B0604030504040204" pitchFamily="50" charset="-128"/>
                <a:ea typeface="Meiryo UI" panose="020B0604030504040204" pitchFamily="50" charset="-128"/>
              </a:rPr>
              <a:t>ETL</a:t>
            </a:r>
            <a:r>
              <a:rPr kumimoji="1" lang="ja-JP" altLang="en-US">
                <a:solidFill>
                  <a:schemeClr val="tx1"/>
                </a:solidFill>
                <a:latin typeface="Meiryo UI" panose="020B0604030504040204" pitchFamily="50" charset="-128"/>
                <a:ea typeface="Meiryo UI" panose="020B0604030504040204" pitchFamily="50" charset="-128"/>
              </a:rPr>
              <a:t>ツール</a:t>
            </a:r>
            <a:br>
              <a:rPr kumimoji="1" lang="en-US" altLang="ja-JP">
                <a:solidFill>
                  <a:schemeClr val="tx1"/>
                </a:solidFill>
                <a:latin typeface="Meiryo UI" panose="020B0604030504040204" pitchFamily="50" charset="-128"/>
                <a:ea typeface="Meiryo UI" panose="020B0604030504040204" pitchFamily="50" charset="-128"/>
              </a:rPr>
            </a:br>
            <a:r>
              <a:rPr kumimoji="1" lang="en-US" altLang="ja-JP" sz="1100">
                <a:solidFill>
                  <a:schemeClr val="tx1"/>
                </a:solidFill>
                <a:latin typeface="Meiryo UI" panose="020B0604030504040204" pitchFamily="50" charset="-128"/>
                <a:ea typeface="Meiryo UI" panose="020B0604030504040204" pitchFamily="50" charset="-128"/>
              </a:rPr>
              <a:t>*</a:t>
            </a:r>
            <a:r>
              <a:rPr kumimoji="1" lang="ja-JP" altLang="en-US" sz="1100">
                <a:solidFill>
                  <a:schemeClr val="tx1"/>
                </a:solidFill>
                <a:latin typeface="Meiryo UI" panose="020B0604030504040204" pitchFamily="50" charset="-128"/>
                <a:ea typeface="Meiryo UI" panose="020B0604030504040204" pitchFamily="50" charset="-128"/>
              </a:rPr>
              <a:t>必要かは</a:t>
            </a:r>
            <a:br>
              <a:rPr kumimoji="1" lang="en-US" altLang="ja-JP" sz="1100">
                <a:solidFill>
                  <a:schemeClr val="tx1"/>
                </a:solidFill>
                <a:latin typeface="Meiryo UI" panose="020B0604030504040204" pitchFamily="50" charset="-128"/>
                <a:ea typeface="Meiryo UI" panose="020B0604030504040204" pitchFamily="50" charset="-128"/>
              </a:rPr>
            </a:br>
            <a:r>
              <a:rPr kumimoji="1" lang="ja-JP" altLang="en-US" sz="1100">
                <a:solidFill>
                  <a:schemeClr val="tx1"/>
                </a:solidFill>
                <a:latin typeface="Meiryo UI" panose="020B0604030504040204" pitchFamily="50" charset="-128"/>
                <a:ea typeface="Meiryo UI" panose="020B0604030504040204" pitchFamily="50" charset="-128"/>
              </a:rPr>
              <a:t>要議論</a:t>
            </a:r>
          </a:p>
        </p:txBody>
      </p:sp>
      <p:sp>
        <p:nvSpPr>
          <p:cNvPr id="40" name="吹き出し: 線 39">
            <a:extLst>
              <a:ext uri="{FF2B5EF4-FFF2-40B4-BE49-F238E27FC236}">
                <a16:creationId xmlns:a16="http://schemas.microsoft.com/office/drawing/2014/main" id="{338A91D8-BC23-74EC-E96E-AF41D3E52820}"/>
              </a:ext>
            </a:extLst>
          </p:cNvPr>
          <p:cNvSpPr/>
          <p:nvPr/>
        </p:nvSpPr>
        <p:spPr>
          <a:xfrm>
            <a:off x="2699792" y="4218382"/>
            <a:ext cx="2260883" cy="682198"/>
          </a:xfrm>
          <a:prstGeom prst="borderCallout1">
            <a:avLst>
              <a:gd name="adj1" fmla="val -2675"/>
              <a:gd name="adj2" fmla="val 87702"/>
              <a:gd name="adj3" fmla="val -28659"/>
              <a:gd name="adj4" fmla="val 114238"/>
            </a:avLst>
          </a:prstGeom>
          <a:solidFill>
            <a:schemeClr val="bg1"/>
          </a:solidFill>
          <a:ln>
            <a:solidFill>
              <a:srgbClr val="C00000"/>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縦の項目は、製油所が検証可能なレベルで細分化（温対法や</a:t>
            </a:r>
            <a:r>
              <a:rPr kumimoji="1" lang="en-US" altLang="ja-JP" sz="1050">
                <a:solidFill>
                  <a:schemeClr val="tx1"/>
                </a:solidFill>
                <a:latin typeface="Meiryo UI" panose="020B0604030504040204" pitchFamily="50" charset="-128"/>
                <a:ea typeface="Meiryo UI" panose="020B0604030504040204" pitchFamily="50" charset="-128"/>
              </a:rPr>
              <a:t>SSBJ</a:t>
            </a:r>
            <a:r>
              <a:rPr kumimoji="1" lang="ja-JP" altLang="en-US" sz="1050">
                <a:solidFill>
                  <a:schemeClr val="tx1"/>
                </a:solidFill>
                <a:latin typeface="Meiryo UI" panose="020B0604030504040204" pitchFamily="50" charset="-128"/>
                <a:ea typeface="Meiryo UI" panose="020B0604030504040204" pitchFamily="50" charset="-128"/>
              </a:rPr>
              <a:t>より細かいものにしないと、製油所で何をどのように補正するかが判断できない想定）</a:t>
            </a:r>
          </a:p>
        </p:txBody>
      </p:sp>
      <p:cxnSp>
        <p:nvCxnSpPr>
          <p:cNvPr id="17" name="直線コネクタ 16">
            <a:extLst>
              <a:ext uri="{FF2B5EF4-FFF2-40B4-BE49-F238E27FC236}">
                <a16:creationId xmlns:a16="http://schemas.microsoft.com/office/drawing/2014/main" id="{0475A51E-0F0C-A5E3-A4BA-E31BBC985FD4}"/>
              </a:ext>
            </a:extLst>
          </p:cNvPr>
          <p:cNvCxnSpPr>
            <a:cxnSpLocks/>
            <a:endCxn id="40" idx="3"/>
          </p:cNvCxnSpPr>
          <p:nvPr/>
        </p:nvCxnSpPr>
        <p:spPr>
          <a:xfrm>
            <a:off x="3750921" y="2051106"/>
            <a:ext cx="79313" cy="2167276"/>
          </a:xfrm>
          <a:prstGeom prst="line">
            <a:avLst/>
          </a:prstGeom>
          <a:ln>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24" name="吹き出し: 線 23">
            <a:extLst>
              <a:ext uri="{FF2B5EF4-FFF2-40B4-BE49-F238E27FC236}">
                <a16:creationId xmlns:a16="http://schemas.microsoft.com/office/drawing/2014/main" id="{7D79355F-20A9-7538-7A57-C082D9CF5951}"/>
              </a:ext>
            </a:extLst>
          </p:cNvPr>
          <p:cNvSpPr/>
          <p:nvPr/>
        </p:nvSpPr>
        <p:spPr>
          <a:xfrm>
            <a:off x="4066122" y="5006394"/>
            <a:ext cx="1764070" cy="418509"/>
          </a:xfrm>
          <a:prstGeom prst="borderCallout1">
            <a:avLst>
              <a:gd name="adj1" fmla="val -541"/>
              <a:gd name="adj2" fmla="val 26347"/>
              <a:gd name="adj3" fmla="val -121904"/>
              <a:gd name="adj4" fmla="val 88610"/>
            </a:avLst>
          </a:prstGeom>
          <a:solidFill>
            <a:schemeClr val="bg1"/>
          </a:solidFill>
          <a:ln>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補正前を</a:t>
            </a:r>
            <a:r>
              <a:rPr kumimoji="1" lang="en-US" altLang="ja-JP" sz="1050">
                <a:solidFill>
                  <a:schemeClr val="tx1"/>
                </a:solidFill>
                <a:latin typeface="Meiryo UI" panose="020B0604030504040204" pitchFamily="50" charset="-128"/>
                <a:ea typeface="Meiryo UI" panose="020B0604030504040204" pitchFamily="50" charset="-128"/>
              </a:rPr>
              <a:t>XHQ</a:t>
            </a:r>
            <a:r>
              <a:rPr kumimoji="1" lang="ja-JP" altLang="en-US" sz="1050">
                <a:solidFill>
                  <a:schemeClr val="tx1"/>
                </a:solidFill>
                <a:latin typeface="Meiryo UI" panose="020B0604030504040204" pitchFamily="50" charset="-128"/>
                <a:ea typeface="Meiryo UI" panose="020B0604030504040204" pitchFamily="50" charset="-128"/>
              </a:rPr>
              <a:t>、</a:t>
            </a:r>
            <a:r>
              <a:rPr kumimoji="1" lang="en-US" altLang="ja-JP" sz="1050">
                <a:solidFill>
                  <a:schemeClr val="tx1"/>
                </a:solidFill>
                <a:latin typeface="Meiryo UI" panose="020B0604030504040204" pitchFamily="50" charset="-128"/>
                <a:ea typeface="Meiryo UI" panose="020B0604030504040204" pitchFamily="50" charset="-128"/>
              </a:rPr>
              <a:t>ETS-R</a:t>
            </a:r>
            <a:r>
              <a:rPr kumimoji="1" lang="ja-JP" altLang="en-US" sz="1050">
                <a:solidFill>
                  <a:schemeClr val="tx1"/>
                </a:solidFill>
                <a:latin typeface="Meiryo UI" panose="020B0604030504040204" pitchFamily="50" charset="-128"/>
                <a:ea typeface="Meiryo UI" panose="020B0604030504040204" pitchFamily="50" charset="-128"/>
              </a:rPr>
              <a:t>から取得</a:t>
            </a:r>
            <a:endParaRPr kumimoji="1" lang="en-US" altLang="ja-JP" sz="1050">
              <a:solidFill>
                <a:schemeClr val="tx1"/>
              </a:solidFill>
              <a:latin typeface="Meiryo UI" panose="020B0604030504040204" pitchFamily="50" charset="-128"/>
              <a:ea typeface="Meiryo UI" panose="020B0604030504040204" pitchFamily="50" charset="-128"/>
            </a:endParaRPr>
          </a:p>
          <a:p>
            <a:pPr algn="ctr"/>
            <a:r>
              <a:rPr kumimoji="1" lang="ja-JP" altLang="en-US" sz="1050">
                <a:solidFill>
                  <a:schemeClr val="tx1"/>
                </a:solidFill>
                <a:latin typeface="Meiryo UI" panose="020B0604030504040204" pitchFamily="50" charset="-128"/>
                <a:ea typeface="Meiryo UI" panose="020B0604030504040204" pitchFamily="50" charset="-128"/>
              </a:rPr>
              <a:t>（</a:t>
            </a:r>
            <a:r>
              <a:rPr kumimoji="1" lang="ja-JP" altLang="en-US" sz="1050" b="1" u="sng">
                <a:solidFill>
                  <a:schemeClr val="tx1"/>
                </a:solidFill>
                <a:latin typeface="Meiryo UI" panose="020B0604030504040204" pitchFamily="50" charset="-128"/>
                <a:ea typeface="Meiryo UI" panose="020B0604030504040204" pitchFamily="50" charset="-128"/>
              </a:rPr>
              <a:t>生データは編集不可</a:t>
            </a:r>
            <a:r>
              <a:rPr kumimoji="1" lang="ja-JP" altLang="en-US" sz="1050">
                <a:solidFill>
                  <a:schemeClr val="tx1"/>
                </a:solidFill>
                <a:latin typeface="Meiryo UI" panose="020B0604030504040204" pitchFamily="50" charset="-128"/>
                <a:ea typeface="Meiryo UI" panose="020B0604030504040204" pitchFamily="50" charset="-128"/>
              </a:rPr>
              <a:t>とする）</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20" name="吹き出し: 線 19">
            <a:extLst>
              <a:ext uri="{FF2B5EF4-FFF2-40B4-BE49-F238E27FC236}">
                <a16:creationId xmlns:a16="http://schemas.microsoft.com/office/drawing/2014/main" id="{FBBC589C-9403-4A83-8A99-0FE4C63CC6A6}"/>
              </a:ext>
            </a:extLst>
          </p:cNvPr>
          <p:cNvSpPr/>
          <p:nvPr/>
        </p:nvSpPr>
        <p:spPr>
          <a:xfrm>
            <a:off x="5858080" y="5006394"/>
            <a:ext cx="1531862" cy="418509"/>
          </a:xfrm>
          <a:prstGeom prst="borderCallout1">
            <a:avLst>
              <a:gd name="adj1" fmla="val -541"/>
              <a:gd name="adj2" fmla="val 26347"/>
              <a:gd name="adj3" fmla="val -121904"/>
              <a:gd name="adj4" fmla="val 55641"/>
            </a:avLst>
          </a:prstGeom>
          <a:solidFill>
            <a:schemeClr val="bg1"/>
          </a:solidFill>
          <a:ln>
            <a:solidFill>
              <a:srgbClr val="C0000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何をどのように補正したか</a:t>
            </a:r>
            <a:br>
              <a:rPr kumimoji="1" lang="en-US" altLang="ja-JP" sz="1050">
                <a:solidFill>
                  <a:schemeClr val="tx1"/>
                </a:solidFill>
                <a:latin typeface="Meiryo UI" panose="020B0604030504040204" pitchFamily="50" charset="-128"/>
                <a:ea typeface="Meiryo UI" panose="020B0604030504040204" pitchFamily="50" charset="-128"/>
              </a:rPr>
            </a:br>
            <a:r>
              <a:rPr kumimoji="1" lang="ja-JP" altLang="en-US" sz="1050">
                <a:solidFill>
                  <a:schemeClr val="tx1"/>
                </a:solidFill>
                <a:latin typeface="Meiryo UI" panose="020B0604030504040204" pitchFamily="50" charset="-128"/>
                <a:ea typeface="Meiryo UI" panose="020B0604030504040204" pitchFamily="50" charset="-128"/>
              </a:rPr>
              <a:t>過程が見えるようにする</a:t>
            </a:r>
            <a:endParaRPr kumimoji="1" lang="en-US" altLang="ja-JP" sz="1050">
              <a:solidFill>
                <a:schemeClr val="tx1"/>
              </a:solidFill>
              <a:latin typeface="Meiryo UI" panose="020B0604030504040204" pitchFamily="50" charset="-128"/>
              <a:ea typeface="Meiryo UI" panose="020B0604030504040204" pitchFamily="50" charset="-128"/>
            </a:endParaRPr>
          </a:p>
        </p:txBody>
      </p:sp>
      <p:pic>
        <p:nvPicPr>
          <p:cNvPr id="31" name="Picture 185">
            <a:extLst>
              <a:ext uri="{FF2B5EF4-FFF2-40B4-BE49-F238E27FC236}">
                <a16:creationId xmlns:a16="http://schemas.microsoft.com/office/drawing/2014/main" id="{97EF93E6-1E5C-2F45-880F-93D81055937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776356" y="3000879"/>
            <a:ext cx="533767" cy="516532"/>
          </a:xfrm>
          <a:prstGeom prst="rect">
            <a:avLst/>
          </a:prstGeom>
        </p:spPr>
      </p:pic>
      <p:sp>
        <p:nvSpPr>
          <p:cNvPr id="7" name="楕円 6">
            <a:extLst>
              <a:ext uri="{FF2B5EF4-FFF2-40B4-BE49-F238E27FC236}">
                <a16:creationId xmlns:a16="http://schemas.microsoft.com/office/drawing/2014/main" id="{FE326FF9-50CC-DDF5-F5F4-CEF146477E8C}"/>
              </a:ext>
            </a:extLst>
          </p:cNvPr>
          <p:cNvSpPr/>
          <p:nvPr/>
        </p:nvSpPr>
        <p:spPr>
          <a:xfrm>
            <a:off x="549968" y="454531"/>
            <a:ext cx="245806" cy="245806"/>
          </a:xfrm>
          <a:prstGeom prst="ellipse">
            <a:avLst/>
          </a:prstGeom>
          <a:solidFill>
            <a:schemeClr val="accent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1</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13" name="楕円 12">
            <a:extLst>
              <a:ext uri="{FF2B5EF4-FFF2-40B4-BE49-F238E27FC236}">
                <a16:creationId xmlns:a16="http://schemas.microsoft.com/office/drawing/2014/main" id="{1C323E00-F1F9-3876-ADF6-716912931CB1}"/>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3303841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6F4ADA-9116-550C-C426-5FCAD4245DD0}"/>
              </a:ext>
            </a:extLst>
          </p:cNvPr>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業務効率化実現に向けたタスク（出光実施主体）</a:t>
            </a:r>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65F7E8DB-ACD5-C4A6-B5EE-70F2868ECC28}"/>
              </a:ext>
            </a:extLst>
          </p:cNvPr>
          <p:cNvSpPr>
            <a:spLocks noGrp="1"/>
          </p:cNvSpPr>
          <p:nvPr>
            <p:ph type="body" sz="quarter" idx="13"/>
          </p:nvPr>
        </p:nvSpPr>
        <p:spPr/>
        <p:txBody>
          <a:bodyPr>
            <a:normAutofit/>
          </a:bodyPr>
          <a:lstStyle/>
          <a:p>
            <a:r>
              <a:rPr kumimoji="1" lang="ja-JP" altLang="en-US"/>
              <a:t>業務効率化の実現に向けて、</a:t>
            </a:r>
            <a:r>
              <a:rPr kumimoji="1" lang="en-US" altLang="ja-JP"/>
              <a:t>ETL</a:t>
            </a:r>
            <a:r>
              <a:rPr kumimoji="1" lang="ja-JP" altLang="en-US"/>
              <a:t>ツールの導入では製造四課、データ変換ロジック整理では各製油所、東亜石油</a:t>
            </a:r>
            <a:r>
              <a:rPr kumimoji="1" lang="en-US" altLang="ja-JP"/>
              <a:t>(</a:t>
            </a:r>
            <a:r>
              <a:rPr kumimoji="1" lang="ja-JP" altLang="en-US"/>
              <a:t>株</a:t>
            </a:r>
            <a:r>
              <a:rPr kumimoji="1" lang="en-US" altLang="ja-JP"/>
              <a:t>)</a:t>
            </a:r>
            <a:r>
              <a:rPr kumimoji="1" lang="ja-JP" altLang="en-US"/>
              <a:t>の対応方針検討では担当者を巻き込みながら推進することが求められる</a:t>
            </a:r>
          </a:p>
        </p:txBody>
      </p:sp>
      <p:sp>
        <p:nvSpPr>
          <p:cNvPr id="30" name="矢印: 五方向 29">
            <a:extLst>
              <a:ext uri="{FF2B5EF4-FFF2-40B4-BE49-F238E27FC236}">
                <a16:creationId xmlns:a16="http://schemas.microsoft.com/office/drawing/2014/main" id="{91C9E1D6-20E6-6AF6-860C-EF9DE2FD8005}"/>
              </a:ext>
            </a:extLst>
          </p:cNvPr>
          <p:cNvSpPr/>
          <p:nvPr/>
        </p:nvSpPr>
        <p:spPr bwMode="gray">
          <a:xfrm>
            <a:off x="3399227" y="1575123"/>
            <a:ext cx="2860189" cy="210057"/>
          </a:xfrm>
          <a:prstGeom prst="homePlate">
            <a:avLst>
              <a:gd name="adj" fmla="val 54595"/>
            </a:avLst>
          </a:prstGeom>
          <a:solidFill>
            <a:schemeClr val="tx2">
              <a:lumMod val="20000"/>
              <a:lumOff val="8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業務要件定義</a:t>
            </a:r>
          </a:p>
        </p:txBody>
      </p:sp>
      <p:sp>
        <p:nvSpPr>
          <p:cNvPr id="31" name="矢印: 五方向 30">
            <a:extLst>
              <a:ext uri="{FF2B5EF4-FFF2-40B4-BE49-F238E27FC236}">
                <a16:creationId xmlns:a16="http://schemas.microsoft.com/office/drawing/2014/main" id="{A4937D01-86CE-C39C-505A-A78714B9F06E}"/>
              </a:ext>
            </a:extLst>
          </p:cNvPr>
          <p:cNvSpPr/>
          <p:nvPr/>
        </p:nvSpPr>
        <p:spPr bwMode="gray">
          <a:xfrm>
            <a:off x="6278728" y="1575123"/>
            <a:ext cx="1775869" cy="459805"/>
          </a:xfrm>
          <a:prstGeom prst="homePlate">
            <a:avLst>
              <a:gd name="adj" fmla="val 18319"/>
            </a:avLst>
          </a:prstGeom>
          <a:solidFill>
            <a:schemeClr val="tx2">
              <a:lumMod val="20000"/>
              <a:lumOff val="8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システム</a:t>
            </a:r>
            <a:br>
              <a:rPr kumimoji="1" lang="en-US" altLang="ja-JP"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br>
            <a:r>
              <a:rPr kumimoji="1" lang="ja-JP" altLang="en-US"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要件定義</a:t>
            </a:r>
          </a:p>
        </p:txBody>
      </p:sp>
      <p:sp>
        <p:nvSpPr>
          <p:cNvPr id="32" name="矢印: 五方向 31">
            <a:extLst>
              <a:ext uri="{FF2B5EF4-FFF2-40B4-BE49-F238E27FC236}">
                <a16:creationId xmlns:a16="http://schemas.microsoft.com/office/drawing/2014/main" id="{16D55C44-4234-95DB-9C06-078662E11748}"/>
              </a:ext>
            </a:extLst>
          </p:cNvPr>
          <p:cNvSpPr/>
          <p:nvPr/>
        </p:nvSpPr>
        <p:spPr bwMode="gray">
          <a:xfrm>
            <a:off x="1115999" y="1575123"/>
            <a:ext cx="2262769" cy="459805"/>
          </a:xfrm>
          <a:prstGeom prst="homePlate">
            <a:avLst>
              <a:gd name="adj" fmla="val 18319"/>
            </a:avLst>
          </a:prstGeom>
          <a:solidFill>
            <a:schemeClr val="tx2">
              <a:lumMod val="20000"/>
              <a:lumOff val="8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algn="ctr" defTabSz="990564" fontAlgn="auto">
              <a:spcBef>
                <a:spcPts val="0"/>
              </a:spcBef>
              <a:spcAft>
                <a:spcPts val="0"/>
              </a:spcAft>
              <a:buSzPct val="100000"/>
            </a:pPr>
            <a:r>
              <a:rPr kumimoji="1" lang="ja-JP" altLang="en-US" sz="1100" b="1">
                <a:solidFill>
                  <a:prstClr val="black"/>
                </a:solidFill>
                <a:latin typeface="Meiryo UI" panose="020B0604030504040204" pitchFamily="50" charset="-128"/>
                <a:ea typeface="Meiryo UI" panose="020B0604030504040204" pitchFamily="50" charset="-128"/>
              </a:rPr>
              <a:t>システム</a:t>
            </a:r>
            <a:br>
              <a:rPr kumimoji="1" lang="en-US" altLang="ja-JP" sz="1100" b="1">
                <a:solidFill>
                  <a:prstClr val="black"/>
                </a:solidFill>
                <a:latin typeface="Meiryo UI" panose="020B0604030504040204" pitchFamily="50" charset="-128"/>
                <a:ea typeface="Meiryo UI" panose="020B0604030504040204" pitchFamily="50" charset="-128"/>
              </a:rPr>
            </a:br>
            <a:r>
              <a:rPr kumimoji="1" lang="ja-JP" altLang="en-US" sz="1100" b="1">
                <a:solidFill>
                  <a:prstClr val="black"/>
                </a:solidFill>
                <a:latin typeface="Meiryo UI" panose="020B0604030504040204" pitchFamily="50" charset="-128"/>
                <a:ea typeface="Meiryo UI" panose="020B0604030504040204" pitchFamily="50" charset="-128"/>
              </a:rPr>
              <a:t>構想策定</a:t>
            </a:r>
          </a:p>
        </p:txBody>
      </p:sp>
      <p:sp>
        <p:nvSpPr>
          <p:cNvPr id="33" name="矢印: 五方向 32">
            <a:extLst>
              <a:ext uri="{FF2B5EF4-FFF2-40B4-BE49-F238E27FC236}">
                <a16:creationId xmlns:a16="http://schemas.microsoft.com/office/drawing/2014/main" id="{9BA2C9CC-91DB-480E-2DFF-B750BE22A958}"/>
              </a:ext>
            </a:extLst>
          </p:cNvPr>
          <p:cNvSpPr/>
          <p:nvPr/>
        </p:nvSpPr>
        <p:spPr bwMode="gray">
          <a:xfrm>
            <a:off x="8034540" y="1575123"/>
            <a:ext cx="844359" cy="459805"/>
          </a:xfrm>
          <a:prstGeom prst="homePlate">
            <a:avLst>
              <a:gd name="adj" fmla="val 18319"/>
            </a:avLst>
          </a:prstGeom>
          <a:solidFill>
            <a:schemeClr val="tx2">
              <a:lumMod val="20000"/>
              <a:lumOff val="8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設定・開発・</a:t>
            </a:r>
            <a:br>
              <a:rPr kumimoji="1" lang="en-US" altLang="ja-JP"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br>
            <a:r>
              <a:rPr kumimoji="1" lang="ja-JP" altLang="en-US"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システムテスト</a:t>
            </a:r>
          </a:p>
        </p:txBody>
      </p:sp>
      <p:sp>
        <p:nvSpPr>
          <p:cNvPr id="47" name="矢印: 五方向 46">
            <a:extLst>
              <a:ext uri="{FF2B5EF4-FFF2-40B4-BE49-F238E27FC236}">
                <a16:creationId xmlns:a16="http://schemas.microsoft.com/office/drawing/2014/main" id="{8EB4FA63-2053-EDB6-B847-9E876082A58D}"/>
              </a:ext>
            </a:extLst>
          </p:cNvPr>
          <p:cNvSpPr/>
          <p:nvPr/>
        </p:nvSpPr>
        <p:spPr bwMode="gray">
          <a:xfrm>
            <a:off x="3398570" y="1825950"/>
            <a:ext cx="2861390" cy="208800"/>
          </a:xfrm>
          <a:prstGeom prst="homePlate">
            <a:avLst>
              <a:gd name="adj" fmla="val 56705"/>
            </a:avLst>
          </a:prstGeom>
          <a:solidFill>
            <a:schemeClr val="tx2">
              <a:lumMod val="20000"/>
              <a:lumOff val="8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Tx/>
              <a:buNone/>
              <a:tabLst/>
              <a:defRPr/>
            </a:pPr>
            <a:r>
              <a:rPr kumimoji="1" lang="ja-JP" altLang="en-US"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システム選定</a:t>
            </a:r>
            <a:endParaRPr kumimoji="1" lang="en-US" altLang="ja-JP" sz="11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CB4C419C-F23A-D123-E091-9AEDF415F861}"/>
              </a:ext>
            </a:extLst>
          </p:cNvPr>
          <p:cNvSpPr/>
          <p:nvPr/>
        </p:nvSpPr>
        <p:spPr bwMode="gray">
          <a:xfrm>
            <a:off x="357786" y="2867569"/>
            <a:ext cx="661626" cy="1161322"/>
          </a:xfrm>
          <a:prstGeom prst="rect">
            <a:avLst/>
          </a:prstGeom>
          <a:solidFill>
            <a:schemeClr val="bg1">
              <a:lumMod val="50000"/>
            </a:schemeClr>
          </a:solidFill>
          <a:ln w="12700" algn="ctr">
            <a:noFill/>
            <a:miter lim="800000"/>
            <a:headEnd/>
            <a:tailEnd/>
          </a:ln>
        </p:spPr>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100" b="1">
                <a:solidFill>
                  <a:schemeClr val="bg1"/>
                </a:solidFill>
                <a:latin typeface="Meiryo UI" panose="020B0604030504040204" pitchFamily="50" charset="-128"/>
                <a:ea typeface="Meiryo UI" panose="020B0604030504040204" pitchFamily="50" charset="-128"/>
              </a:rPr>
              <a:t>タスク</a:t>
            </a:r>
            <a:endParaRPr kumimoji="1" lang="en-US" altLang="ja-JP" sz="1100" b="1">
              <a:solidFill>
                <a:schemeClr val="bg1"/>
              </a:solidFill>
              <a:latin typeface="Meiryo UI" panose="020B0604030504040204" pitchFamily="50" charset="-128"/>
              <a:ea typeface="Meiryo UI" panose="020B0604030504040204" pitchFamily="50" charset="-128"/>
            </a:endParaRPr>
          </a:p>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100" b="1">
                <a:solidFill>
                  <a:schemeClr val="bg1"/>
                </a:solidFill>
                <a:latin typeface="Meiryo UI" panose="020B0604030504040204" pitchFamily="50" charset="-128"/>
                <a:ea typeface="Meiryo UI" panose="020B0604030504040204" pitchFamily="50" charset="-128"/>
              </a:rPr>
              <a:t>内容</a:t>
            </a:r>
            <a:endParaRPr kumimoji="1" lang="ja-JP" altLang="en-US" sz="11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cxnSp>
        <p:nvCxnSpPr>
          <p:cNvPr id="65" name="直線コネクタ 64">
            <a:extLst>
              <a:ext uri="{FF2B5EF4-FFF2-40B4-BE49-F238E27FC236}">
                <a16:creationId xmlns:a16="http://schemas.microsoft.com/office/drawing/2014/main" id="{73E094FA-F73A-50A3-CD30-E6E1738E9BD7}"/>
              </a:ext>
            </a:extLst>
          </p:cNvPr>
          <p:cNvCxnSpPr>
            <a:cxnSpLocks/>
          </p:cNvCxnSpPr>
          <p:nvPr/>
        </p:nvCxnSpPr>
        <p:spPr bwMode="gray">
          <a:xfrm>
            <a:off x="357786" y="4699172"/>
            <a:ext cx="8556908" cy="0"/>
          </a:xfrm>
          <a:prstGeom prst="line">
            <a:avLst/>
          </a:prstGeom>
          <a:noFill/>
          <a:ln w="12700" cap="flat" cmpd="sng" algn="ctr">
            <a:solidFill>
              <a:srgbClr val="53565A"/>
            </a:solidFill>
            <a:prstDash val="dash"/>
          </a:ln>
          <a:effectLst/>
        </p:spPr>
      </p:cxnSp>
      <p:cxnSp>
        <p:nvCxnSpPr>
          <p:cNvPr id="66" name="直線コネクタ 65">
            <a:extLst>
              <a:ext uri="{FF2B5EF4-FFF2-40B4-BE49-F238E27FC236}">
                <a16:creationId xmlns:a16="http://schemas.microsoft.com/office/drawing/2014/main" id="{9BEEF69B-72B1-E481-33A3-005A36F94341}"/>
              </a:ext>
            </a:extLst>
          </p:cNvPr>
          <p:cNvCxnSpPr>
            <a:cxnSpLocks/>
          </p:cNvCxnSpPr>
          <p:nvPr/>
        </p:nvCxnSpPr>
        <p:spPr bwMode="gray">
          <a:xfrm>
            <a:off x="1085365" y="3272892"/>
            <a:ext cx="8403635" cy="756000"/>
          </a:xfrm>
          <a:prstGeom prst="line">
            <a:avLst/>
          </a:prstGeom>
          <a:noFill/>
          <a:ln w="12700" algn="ctr">
            <a:noFill/>
            <a:miter lim="800000"/>
            <a:headEnd/>
            <a:tailEnd/>
          </a:ln>
        </p:spPr>
      </p:cxnSp>
      <p:sp>
        <p:nvSpPr>
          <p:cNvPr id="81" name="正方形/長方形 80">
            <a:extLst>
              <a:ext uri="{FF2B5EF4-FFF2-40B4-BE49-F238E27FC236}">
                <a16:creationId xmlns:a16="http://schemas.microsoft.com/office/drawing/2014/main" id="{66C27E03-0C2C-52F1-2040-796AFAA11975}"/>
              </a:ext>
            </a:extLst>
          </p:cNvPr>
          <p:cNvSpPr/>
          <p:nvPr/>
        </p:nvSpPr>
        <p:spPr bwMode="gray">
          <a:xfrm>
            <a:off x="357786" y="2034750"/>
            <a:ext cx="661626" cy="688111"/>
          </a:xfrm>
          <a:prstGeom prst="rect">
            <a:avLst/>
          </a:prstGeom>
          <a:solidFill>
            <a:schemeClr val="bg1">
              <a:lumMod val="85000"/>
            </a:schemeClr>
          </a:solidFill>
          <a:ln w="12700" algn="ctr">
            <a:noFill/>
            <a:miter lim="800000"/>
            <a:headEnd/>
            <a:tailEnd/>
          </a:ln>
        </p:spPr>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algn="ctr" defTabSz="990564" fontAlgn="auto">
              <a:spcBef>
                <a:spcPts val="0"/>
              </a:spcBef>
              <a:spcAft>
                <a:spcPts val="0"/>
              </a:spcAft>
              <a:buSzPct val="100000"/>
            </a:pPr>
            <a:r>
              <a:rPr kumimoji="1" lang="ja-JP" altLang="en-US" sz="1100" b="1">
                <a:latin typeface="Meiryo UI" panose="020B0604030504040204" pitchFamily="50" charset="-128"/>
                <a:ea typeface="Meiryo UI" panose="020B0604030504040204" pitchFamily="50" charset="-128"/>
              </a:rPr>
              <a:t>実施</a:t>
            </a:r>
            <a:endParaRPr kumimoji="1" lang="en-US" altLang="ja-JP" sz="1100" b="1">
              <a:latin typeface="Meiryo UI" panose="020B0604030504040204" pitchFamily="50" charset="-128"/>
              <a:ea typeface="Meiryo UI" panose="020B0604030504040204" pitchFamily="50" charset="-128"/>
            </a:endParaRPr>
          </a:p>
          <a:p>
            <a:pPr algn="ctr" defTabSz="990564" fontAlgn="auto">
              <a:spcBef>
                <a:spcPts val="0"/>
              </a:spcBef>
              <a:spcAft>
                <a:spcPts val="0"/>
              </a:spcAft>
              <a:buSzPct val="100000"/>
            </a:pPr>
            <a:r>
              <a:rPr kumimoji="1" lang="ja-JP" altLang="en-US" sz="1100" b="1">
                <a:latin typeface="Meiryo UI" panose="020B0604030504040204" pitchFamily="50" charset="-128"/>
                <a:ea typeface="Meiryo UI" panose="020B0604030504040204" pitchFamily="50" charset="-128"/>
              </a:rPr>
              <a:t>時期</a:t>
            </a:r>
          </a:p>
        </p:txBody>
      </p:sp>
      <p:cxnSp>
        <p:nvCxnSpPr>
          <p:cNvPr id="82" name="直線コネクタ 81">
            <a:extLst>
              <a:ext uri="{FF2B5EF4-FFF2-40B4-BE49-F238E27FC236}">
                <a16:creationId xmlns:a16="http://schemas.microsoft.com/office/drawing/2014/main" id="{7EC213A1-EA4C-B717-BE1B-A0C0AD463825}"/>
              </a:ext>
            </a:extLst>
          </p:cNvPr>
          <p:cNvCxnSpPr>
            <a:cxnSpLocks/>
          </p:cNvCxnSpPr>
          <p:nvPr/>
        </p:nvCxnSpPr>
        <p:spPr bwMode="gray">
          <a:xfrm>
            <a:off x="357786" y="2804122"/>
            <a:ext cx="8829073" cy="0"/>
          </a:xfrm>
          <a:prstGeom prst="line">
            <a:avLst/>
          </a:prstGeom>
          <a:noFill/>
          <a:ln w="12700" cap="flat" cmpd="sng" algn="ctr">
            <a:solidFill>
              <a:srgbClr val="53565A"/>
            </a:solidFill>
            <a:prstDash val="solid"/>
          </a:ln>
          <a:effectLst/>
        </p:spPr>
      </p:cxnSp>
      <p:sp>
        <p:nvSpPr>
          <p:cNvPr id="87" name="フローチャート: 処理 86">
            <a:extLst>
              <a:ext uri="{FF2B5EF4-FFF2-40B4-BE49-F238E27FC236}">
                <a16:creationId xmlns:a16="http://schemas.microsoft.com/office/drawing/2014/main" id="{1DBA2EEF-7F0B-4DA0-0DF5-0612C0F0658C}"/>
              </a:ext>
            </a:extLst>
          </p:cNvPr>
          <p:cNvSpPr/>
          <p:nvPr/>
        </p:nvSpPr>
        <p:spPr>
          <a:xfrm>
            <a:off x="1599489" y="2038382"/>
            <a:ext cx="1295789" cy="212408"/>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2025/5</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8</a:t>
            </a:r>
            <a:r>
              <a:rPr kumimoji="1" lang="ja-JP" altLang="en-US" sz="1200">
                <a:solidFill>
                  <a:schemeClr val="tx1"/>
                </a:solidFill>
                <a:latin typeface="Meiryo UI" panose="020B0604030504040204" pitchFamily="50" charset="-128"/>
                <a:ea typeface="Meiryo UI" panose="020B0604030504040204" pitchFamily="50" charset="-128"/>
              </a:rPr>
              <a:t>末</a:t>
            </a:r>
          </a:p>
        </p:txBody>
      </p:sp>
      <p:sp>
        <p:nvSpPr>
          <p:cNvPr id="89" name="フローチャート: 処理 88">
            <a:extLst>
              <a:ext uri="{FF2B5EF4-FFF2-40B4-BE49-F238E27FC236}">
                <a16:creationId xmlns:a16="http://schemas.microsoft.com/office/drawing/2014/main" id="{907E772E-54A9-646E-00B1-7E1ABB70D59A}"/>
              </a:ext>
            </a:extLst>
          </p:cNvPr>
          <p:cNvSpPr/>
          <p:nvPr/>
        </p:nvSpPr>
        <p:spPr>
          <a:xfrm>
            <a:off x="3541524" y="2038382"/>
            <a:ext cx="2575482" cy="212408"/>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2025/9</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11</a:t>
            </a:r>
            <a:r>
              <a:rPr kumimoji="1" lang="ja-JP" altLang="en-US" sz="1200">
                <a:solidFill>
                  <a:schemeClr val="tx1"/>
                </a:solidFill>
                <a:latin typeface="Meiryo UI" panose="020B0604030504040204" pitchFamily="50" charset="-128"/>
                <a:ea typeface="Meiryo UI" panose="020B0604030504040204" pitchFamily="50" charset="-128"/>
              </a:rPr>
              <a:t>末</a:t>
            </a:r>
          </a:p>
        </p:txBody>
      </p:sp>
      <p:sp>
        <p:nvSpPr>
          <p:cNvPr id="90" name="フローチャート: 処理 89">
            <a:extLst>
              <a:ext uri="{FF2B5EF4-FFF2-40B4-BE49-F238E27FC236}">
                <a16:creationId xmlns:a16="http://schemas.microsoft.com/office/drawing/2014/main" id="{8C16D855-CFAF-6846-E168-EEE0DDCFB2B6}"/>
              </a:ext>
            </a:extLst>
          </p:cNvPr>
          <p:cNvSpPr/>
          <p:nvPr/>
        </p:nvSpPr>
        <p:spPr>
          <a:xfrm>
            <a:off x="6309594" y="2038382"/>
            <a:ext cx="1724696" cy="212408"/>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2025/12</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2026/2</a:t>
            </a:r>
            <a:r>
              <a:rPr kumimoji="1" lang="ja-JP" altLang="en-US" sz="1200">
                <a:solidFill>
                  <a:schemeClr val="tx1"/>
                </a:solidFill>
                <a:latin typeface="Meiryo UI" panose="020B0604030504040204" pitchFamily="50" charset="-128"/>
                <a:ea typeface="Meiryo UI" panose="020B0604030504040204" pitchFamily="50" charset="-128"/>
              </a:rPr>
              <a:t>末</a:t>
            </a:r>
          </a:p>
        </p:txBody>
      </p:sp>
      <p:sp>
        <p:nvSpPr>
          <p:cNvPr id="91" name="フローチャート: 処理 90">
            <a:extLst>
              <a:ext uri="{FF2B5EF4-FFF2-40B4-BE49-F238E27FC236}">
                <a16:creationId xmlns:a16="http://schemas.microsoft.com/office/drawing/2014/main" id="{DEF9ACFB-5F53-9BB3-4989-629846EE23F0}"/>
              </a:ext>
            </a:extLst>
          </p:cNvPr>
          <p:cNvSpPr/>
          <p:nvPr/>
        </p:nvSpPr>
        <p:spPr>
          <a:xfrm>
            <a:off x="7911240" y="2038382"/>
            <a:ext cx="1177990" cy="212408"/>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2026/2</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4</a:t>
            </a:r>
            <a:r>
              <a:rPr kumimoji="1" lang="ja-JP" altLang="en-US" sz="1200">
                <a:solidFill>
                  <a:schemeClr val="tx1"/>
                </a:solidFill>
                <a:latin typeface="Meiryo UI" panose="020B0604030504040204" pitchFamily="50" charset="-128"/>
                <a:ea typeface="Meiryo UI" panose="020B0604030504040204" pitchFamily="50" charset="-128"/>
              </a:rPr>
              <a:t>末</a:t>
            </a:r>
          </a:p>
        </p:txBody>
      </p:sp>
      <p:sp>
        <p:nvSpPr>
          <p:cNvPr id="8" name="二等辺三角形 7">
            <a:extLst>
              <a:ext uri="{FF2B5EF4-FFF2-40B4-BE49-F238E27FC236}">
                <a16:creationId xmlns:a16="http://schemas.microsoft.com/office/drawing/2014/main" id="{8B1B605E-4585-7922-BB00-7A18C66D5512}"/>
              </a:ext>
            </a:extLst>
          </p:cNvPr>
          <p:cNvSpPr/>
          <p:nvPr/>
        </p:nvSpPr>
        <p:spPr bwMode="gray">
          <a:xfrm rot="10800000">
            <a:off x="4618470" y="2626113"/>
            <a:ext cx="208600" cy="90027"/>
          </a:xfrm>
          <a:prstGeom prst="triangle">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buFont typeface="Wingdings" panose="05000000000000000000" pitchFamily="2" charset="2"/>
              <a:buNone/>
            </a:pPr>
            <a:endParaRPr kumimoji="1" lang="ja-JP" altLang="en-US" sz="1200">
              <a:solidFill>
                <a:prstClr val="black"/>
              </a:solidFill>
              <a:latin typeface="Meiryo UI" panose="020B0604030504040204" pitchFamily="50" charset="-128"/>
              <a:ea typeface="Meiryo UI" panose="020B0604030504040204" pitchFamily="50" charset="-128"/>
              <a:cs typeface="Arial" charset="0"/>
            </a:endParaRPr>
          </a:p>
        </p:txBody>
      </p:sp>
      <p:sp>
        <p:nvSpPr>
          <p:cNvPr id="10" name="正方形/長方形 9">
            <a:extLst>
              <a:ext uri="{FF2B5EF4-FFF2-40B4-BE49-F238E27FC236}">
                <a16:creationId xmlns:a16="http://schemas.microsoft.com/office/drawing/2014/main" id="{8C5290AE-4C93-FA13-5327-46CE4240E4A7}"/>
              </a:ext>
            </a:extLst>
          </p:cNvPr>
          <p:cNvSpPr/>
          <p:nvPr/>
        </p:nvSpPr>
        <p:spPr bwMode="gray">
          <a:xfrm>
            <a:off x="4210827" y="2358692"/>
            <a:ext cx="1023885" cy="24132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a:solidFill>
                  <a:prstClr val="black"/>
                </a:solidFill>
                <a:latin typeface="Meiryo UI" panose="020B0604030504040204" pitchFamily="50" charset="-128"/>
                <a:ea typeface="Meiryo UI" panose="020B0604030504040204" pitchFamily="50" charset="-128"/>
                <a:cs typeface="Arial" charset="0"/>
              </a:rPr>
              <a:t>2025/9(</a:t>
            </a:r>
            <a:r>
              <a:rPr kumimoji="1" lang="ja-JP" altLang="en-US" sz="1050">
                <a:solidFill>
                  <a:prstClr val="black"/>
                </a:solidFill>
                <a:latin typeface="Meiryo UI" panose="020B0604030504040204" pitchFamily="50" charset="-128"/>
                <a:ea typeface="Meiryo UI" panose="020B0604030504040204" pitchFamily="50" charset="-128"/>
                <a:cs typeface="Arial" charset="0"/>
              </a:rPr>
              <a:t>仮</a:t>
            </a:r>
            <a:r>
              <a:rPr kumimoji="1" lang="en-US" altLang="ja-JP" sz="1050">
                <a:solidFill>
                  <a:prstClr val="black"/>
                </a:solidFill>
                <a:latin typeface="Meiryo UI" panose="020B0604030504040204" pitchFamily="50" charset="-128"/>
                <a:ea typeface="Meiryo UI" panose="020B0604030504040204" pitchFamily="50" charset="-128"/>
                <a:cs typeface="Arial" charset="0"/>
              </a:rPr>
              <a:t>) </a:t>
            </a:r>
          </a:p>
          <a:p>
            <a:pPr algn="ctr" defTabSz="990564">
              <a:buSzPct val="100000"/>
            </a:pPr>
            <a:r>
              <a:rPr kumimoji="1" lang="en-US" altLang="ja-JP" sz="1050">
                <a:solidFill>
                  <a:prstClr val="black"/>
                </a:solidFill>
                <a:latin typeface="Meiryo UI" panose="020B0604030504040204" pitchFamily="50" charset="-128"/>
                <a:ea typeface="Meiryo UI" panose="020B0604030504040204" pitchFamily="50" charset="-128"/>
                <a:cs typeface="Arial" charset="0"/>
              </a:rPr>
              <a:t>RFP</a:t>
            </a:r>
            <a:r>
              <a:rPr kumimoji="1" lang="ja-JP" altLang="en-US" sz="1050">
                <a:solidFill>
                  <a:prstClr val="black"/>
                </a:solidFill>
                <a:latin typeface="Meiryo UI" panose="020B0604030504040204" pitchFamily="50" charset="-128"/>
                <a:ea typeface="Meiryo UI" panose="020B0604030504040204" pitchFamily="50" charset="-128"/>
                <a:cs typeface="Arial" charset="0"/>
              </a:rPr>
              <a:t>提出</a:t>
            </a:r>
            <a:endParaRPr kumimoji="1" lang="en-US" altLang="ja-JP" sz="1050">
              <a:solidFill>
                <a:prstClr val="black"/>
              </a:solidFill>
              <a:latin typeface="Meiryo UI" panose="020B0604030504040204" pitchFamily="50" charset="-128"/>
              <a:ea typeface="Meiryo UI" panose="020B0604030504040204" pitchFamily="50" charset="-128"/>
              <a:cs typeface="Arial" charset="0"/>
            </a:endParaRPr>
          </a:p>
        </p:txBody>
      </p:sp>
      <p:sp>
        <p:nvSpPr>
          <p:cNvPr id="12" name="二等辺三角形 11">
            <a:extLst>
              <a:ext uri="{FF2B5EF4-FFF2-40B4-BE49-F238E27FC236}">
                <a16:creationId xmlns:a16="http://schemas.microsoft.com/office/drawing/2014/main" id="{D20522F0-C466-94B5-AB07-910DA4836032}"/>
              </a:ext>
            </a:extLst>
          </p:cNvPr>
          <p:cNvSpPr/>
          <p:nvPr/>
        </p:nvSpPr>
        <p:spPr bwMode="gray">
          <a:xfrm rot="10800000">
            <a:off x="7945644" y="2626113"/>
            <a:ext cx="208600" cy="90027"/>
          </a:xfrm>
          <a:prstGeom prst="triangle">
            <a:avLst/>
          </a:prstGeom>
          <a:solidFill>
            <a:srgbClr val="C00000"/>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buFont typeface="Wingdings" panose="05000000000000000000" pitchFamily="2" charset="2"/>
              <a:buNone/>
            </a:pPr>
            <a:endParaRPr kumimoji="1" lang="ja-JP" altLang="en-US" sz="1200">
              <a:solidFill>
                <a:prstClr val="black"/>
              </a:solidFill>
              <a:latin typeface="Meiryo UI" panose="020B0604030504040204" pitchFamily="50" charset="-128"/>
              <a:ea typeface="Meiryo UI" panose="020B0604030504040204" pitchFamily="50" charset="-128"/>
              <a:cs typeface="Arial" charset="0"/>
            </a:endParaRPr>
          </a:p>
        </p:txBody>
      </p:sp>
      <p:sp>
        <p:nvSpPr>
          <p:cNvPr id="13" name="正方形/長方形 12">
            <a:extLst>
              <a:ext uri="{FF2B5EF4-FFF2-40B4-BE49-F238E27FC236}">
                <a16:creationId xmlns:a16="http://schemas.microsoft.com/office/drawing/2014/main" id="{BD4560E8-4C51-DDCF-D6C2-486B5B7AD01A}"/>
              </a:ext>
            </a:extLst>
          </p:cNvPr>
          <p:cNvSpPr/>
          <p:nvPr/>
        </p:nvSpPr>
        <p:spPr bwMode="gray">
          <a:xfrm>
            <a:off x="7538001" y="2358692"/>
            <a:ext cx="1023885" cy="24132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kumimoji="1" lang="en-US" altLang="ja-JP" sz="1050">
                <a:solidFill>
                  <a:prstClr val="black"/>
                </a:solidFill>
                <a:latin typeface="Meiryo UI" panose="020B0604030504040204" pitchFamily="50" charset="-128"/>
                <a:ea typeface="Meiryo UI" panose="020B0604030504040204" pitchFamily="50" charset="-128"/>
                <a:cs typeface="Arial" charset="0"/>
              </a:rPr>
              <a:t>2025/2(</a:t>
            </a:r>
            <a:r>
              <a:rPr kumimoji="1" lang="ja-JP" altLang="en-US" sz="1050">
                <a:solidFill>
                  <a:prstClr val="black"/>
                </a:solidFill>
                <a:latin typeface="Meiryo UI" panose="020B0604030504040204" pitchFamily="50" charset="-128"/>
                <a:ea typeface="Meiryo UI" panose="020B0604030504040204" pitchFamily="50" charset="-128"/>
                <a:cs typeface="Arial" charset="0"/>
              </a:rPr>
              <a:t>仮</a:t>
            </a:r>
            <a:r>
              <a:rPr kumimoji="1" lang="en-US" altLang="ja-JP" sz="1050">
                <a:solidFill>
                  <a:prstClr val="black"/>
                </a:solidFill>
                <a:latin typeface="Meiryo UI" panose="020B0604030504040204" pitchFamily="50" charset="-128"/>
                <a:ea typeface="Meiryo UI" panose="020B0604030504040204" pitchFamily="50" charset="-128"/>
                <a:cs typeface="Arial" charset="0"/>
              </a:rPr>
              <a:t>) </a:t>
            </a:r>
          </a:p>
          <a:p>
            <a:pPr algn="ctr" defTabSz="990564">
              <a:buSzPct val="100000"/>
            </a:pPr>
            <a:r>
              <a:rPr kumimoji="1" lang="ja-JP" altLang="en-US" sz="1050">
                <a:solidFill>
                  <a:prstClr val="black"/>
                </a:solidFill>
                <a:latin typeface="Meiryo UI" panose="020B0604030504040204" pitchFamily="50" charset="-128"/>
                <a:ea typeface="Meiryo UI" panose="020B0604030504040204" pitchFamily="50" charset="-128"/>
                <a:cs typeface="Arial" charset="0"/>
              </a:rPr>
              <a:t>システム開発着手</a:t>
            </a:r>
            <a:endParaRPr kumimoji="1" lang="en-US" altLang="ja-JP" sz="1050">
              <a:solidFill>
                <a:prstClr val="black"/>
              </a:solidFill>
              <a:latin typeface="Meiryo UI" panose="020B0604030504040204" pitchFamily="50" charset="-128"/>
              <a:ea typeface="Meiryo UI" panose="020B0604030504040204" pitchFamily="50" charset="-128"/>
              <a:cs typeface="Arial" charset="0"/>
            </a:endParaRPr>
          </a:p>
        </p:txBody>
      </p:sp>
      <p:sp>
        <p:nvSpPr>
          <p:cNvPr id="3" name="正方形/長方形 2">
            <a:extLst>
              <a:ext uri="{FF2B5EF4-FFF2-40B4-BE49-F238E27FC236}">
                <a16:creationId xmlns:a16="http://schemas.microsoft.com/office/drawing/2014/main" id="{8D9065D6-AC24-8B28-3E41-62D969391368}"/>
              </a:ext>
            </a:extLst>
          </p:cNvPr>
          <p:cNvSpPr/>
          <p:nvPr/>
        </p:nvSpPr>
        <p:spPr bwMode="gray">
          <a:xfrm>
            <a:off x="357786" y="4729181"/>
            <a:ext cx="661626" cy="640903"/>
          </a:xfrm>
          <a:prstGeom prst="rect">
            <a:avLst/>
          </a:prstGeom>
          <a:solidFill>
            <a:schemeClr val="bg1">
              <a:lumMod val="50000"/>
            </a:schemeClr>
          </a:solidFill>
          <a:ln w="12700" algn="ctr">
            <a:noFill/>
            <a:miter lim="800000"/>
            <a:headEnd/>
            <a:tailEnd/>
          </a:ln>
        </p:spPr>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100" b="1">
                <a:solidFill>
                  <a:schemeClr val="bg1"/>
                </a:solidFill>
                <a:latin typeface="Meiryo UI" panose="020B0604030504040204" pitchFamily="50" charset="-128"/>
                <a:ea typeface="Meiryo UI" panose="020B0604030504040204" pitchFamily="50" charset="-128"/>
              </a:rPr>
              <a:t>実施</a:t>
            </a:r>
            <a:endParaRPr kumimoji="1" lang="en-US" altLang="ja-JP" sz="1100" b="1">
              <a:solidFill>
                <a:schemeClr val="bg1"/>
              </a:solidFill>
              <a:latin typeface="Meiryo UI" panose="020B0604030504040204" pitchFamily="50" charset="-128"/>
              <a:ea typeface="Meiryo UI" panose="020B0604030504040204" pitchFamily="50" charset="-128"/>
            </a:endParaRPr>
          </a:p>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100" b="1">
                <a:solidFill>
                  <a:schemeClr val="bg1"/>
                </a:solidFill>
                <a:latin typeface="Meiryo UI" panose="020B0604030504040204" pitchFamily="50" charset="-128"/>
                <a:ea typeface="Meiryo UI" panose="020B0604030504040204" pitchFamily="50" charset="-128"/>
              </a:rPr>
              <a:t>主体</a:t>
            </a:r>
            <a:endParaRPr kumimoji="1" lang="ja-JP" altLang="en-US" sz="11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515E0E4D-BA9E-B313-6F90-308DDF731228}"/>
              </a:ext>
            </a:extLst>
          </p:cNvPr>
          <p:cNvSpPr/>
          <p:nvPr/>
        </p:nvSpPr>
        <p:spPr bwMode="gray">
          <a:xfrm>
            <a:off x="357786" y="5430103"/>
            <a:ext cx="661626" cy="951159"/>
          </a:xfrm>
          <a:prstGeom prst="rect">
            <a:avLst/>
          </a:prstGeom>
          <a:solidFill>
            <a:schemeClr val="bg1">
              <a:lumMod val="50000"/>
            </a:schemeClr>
          </a:solidFill>
          <a:ln w="12700" algn="ctr">
            <a:noFill/>
            <a:miter lim="800000"/>
            <a:headEnd/>
            <a:tailEnd/>
          </a:ln>
        </p:spPr>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1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rPr>
              <a:t>利用用途</a:t>
            </a:r>
            <a:endParaRPr kumimoji="1" lang="en-US" altLang="ja-JP" sz="11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A33A85BD-9E5B-B3EF-C5B0-26CF6E85E8FE}"/>
              </a:ext>
            </a:extLst>
          </p:cNvPr>
          <p:cNvSpPr/>
          <p:nvPr/>
        </p:nvSpPr>
        <p:spPr bwMode="gray">
          <a:xfrm>
            <a:off x="357786" y="1575124"/>
            <a:ext cx="661626" cy="402592"/>
          </a:xfrm>
          <a:prstGeom prst="rect">
            <a:avLst/>
          </a:prstGeom>
          <a:solidFill>
            <a:schemeClr val="bg1">
              <a:lumMod val="85000"/>
            </a:schemeClr>
          </a:solidFill>
          <a:ln w="12700" algn="ctr">
            <a:noFill/>
            <a:miter lim="800000"/>
            <a:headEnd/>
            <a:tailEnd/>
          </a:ln>
        </p:spPr>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algn="ctr" defTabSz="990564" fontAlgn="auto">
              <a:spcBef>
                <a:spcPts val="0"/>
              </a:spcBef>
              <a:spcAft>
                <a:spcPts val="0"/>
              </a:spcAft>
              <a:buSzPct val="100000"/>
            </a:pPr>
            <a:r>
              <a:rPr kumimoji="1" lang="ja-JP" altLang="en-US" sz="1100" b="1">
                <a:latin typeface="Meiryo UI" panose="020B0604030504040204" pitchFamily="50" charset="-128"/>
                <a:ea typeface="Meiryo UI" panose="020B0604030504040204" pitchFamily="50" charset="-128"/>
              </a:rPr>
              <a:t>新システム</a:t>
            </a:r>
            <a:endParaRPr kumimoji="1" lang="en-US" altLang="ja-JP" sz="1100" b="1">
              <a:latin typeface="Meiryo UI" panose="020B0604030504040204" pitchFamily="50" charset="-128"/>
              <a:ea typeface="Meiryo UI" panose="020B0604030504040204" pitchFamily="50" charset="-128"/>
            </a:endParaRPr>
          </a:p>
          <a:p>
            <a:pPr algn="ctr" defTabSz="990564" fontAlgn="auto">
              <a:spcBef>
                <a:spcPts val="0"/>
              </a:spcBef>
              <a:spcAft>
                <a:spcPts val="0"/>
              </a:spcAft>
              <a:buSzPct val="100000"/>
            </a:pPr>
            <a:r>
              <a:rPr kumimoji="1" lang="ja-JP" altLang="en-US" sz="1100" b="1">
                <a:latin typeface="Meiryo UI" panose="020B0604030504040204" pitchFamily="50" charset="-128"/>
                <a:ea typeface="Meiryo UI" panose="020B0604030504040204" pitchFamily="50" charset="-128"/>
              </a:rPr>
              <a:t>構築</a:t>
            </a:r>
          </a:p>
        </p:txBody>
      </p:sp>
      <p:cxnSp>
        <p:nvCxnSpPr>
          <p:cNvPr id="7" name="直線コネクタ 6">
            <a:extLst>
              <a:ext uri="{FF2B5EF4-FFF2-40B4-BE49-F238E27FC236}">
                <a16:creationId xmlns:a16="http://schemas.microsoft.com/office/drawing/2014/main" id="{E4EE807A-9F3A-F4C6-5164-4CF85C4F2CCF}"/>
              </a:ext>
            </a:extLst>
          </p:cNvPr>
          <p:cNvCxnSpPr>
            <a:cxnSpLocks/>
          </p:cNvCxnSpPr>
          <p:nvPr/>
        </p:nvCxnSpPr>
        <p:spPr bwMode="gray">
          <a:xfrm>
            <a:off x="357786" y="5400093"/>
            <a:ext cx="8521113" cy="0"/>
          </a:xfrm>
          <a:prstGeom prst="line">
            <a:avLst/>
          </a:prstGeom>
          <a:noFill/>
          <a:ln w="12700" cap="flat" cmpd="sng" algn="ctr">
            <a:solidFill>
              <a:srgbClr val="53565A"/>
            </a:solidFill>
            <a:prstDash val="dash"/>
          </a:ln>
          <a:effectLst/>
        </p:spPr>
      </p:cxnSp>
      <p:sp>
        <p:nvSpPr>
          <p:cNvPr id="14" name="矢印: 五方向 13">
            <a:extLst>
              <a:ext uri="{FF2B5EF4-FFF2-40B4-BE49-F238E27FC236}">
                <a16:creationId xmlns:a16="http://schemas.microsoft.com/office/drawing/2014/main" id="{3617D381-2BEB-8ACD-4DC5-8F94A9D619DC}"/>
              </a:ext>
            </a:extLst>
          </p:cNvPr>
          <p:cNvSpPr/>
          <p:nvPr/>
        </p:nvSpPr>
        <p:spPr bwMode="gray">
          <a:xfrm>
            <a:off x="1447800" y="2855544"/>
            <a:ext cx="1643228" cy="313308"/>
          </a:xfrm>
          <a:prstGeom prst="homePlate">
            <a:avLst>
              <a:gd name="adj" fmla="val 18319"/>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algn="ctr" defTabSz="990564" fontAlgn="auto">
              <a:spcBef>
                <a:spcPts val="0"/>
              </a:spcBef>
              <a:spcAft>
                <a:spcPts val="0"/>
              </a:spcAft>
              <a:buSzPct val="100000"/>
            </a:pPr>
            <a:r>
              <a:rPr kumimoji="1" lang="en-US" altLang="ja-JP" sz="1050" b="1">
                <a:solidFill>
                  <a:schemeClr val="bg1"/>
                </a:solidFill>
                <a:latin typeface="Meiryo UI" panose="020B0604030504040204" pitchFamily="50" charset="-128"/>
                <a:ea typeface="Meiryo UI" panose="020B0604030504040204" pitchFamily="50" charset="-128"/>
              </a:rPr>
              <a:t>ETL</a:t>
            </a:r>
            <a:r>
              <a:rPr kumimoji="1" lang="ja-JP" altLang="en-US" sz="1050" b="1">
                <a:solidFill>
                  <a:schemeClr val="bg1"/>
                </a:solidFill>
                <a:latin typeface="Meiryo UI" panose="020B0604030504040204" pitchFamily="50" charset="-128"/>
                <a:ea typeface="Meiryo UI" panose="020B0604030504040204" pitchFamily="50" charset="-128"/>
              </a:rPr>
              <a:t>ツール導入検討</a:t>
            </a:r>
          </a:p>
        </p:txBody>
      </p:sp>
      <p:sp>
        <p:nvSpPr>
          <p:cNvPr id="15" name="正方形/長方形 14">
            <a:extLst>
              <a:ext uri="{FF2B5EF4-FFF2-40B4-BE49-F238E27FC236}">
                <a16:creationId xmlns:a16="http://schemas.microsoft.com/office/drawing/2014/main" id="{B2C462D5-6CC3-6A30-211A-EDB44335E5B5}"/>
              </a:ext>
            </a:extLst>
          </p:cNvPr>
          <p:cNvSpPr/>
          <p:nvPr/>
        </p:nvSpPr>
        <p:spPr bwMode="gray">
          <a:xfrm>
            <a:off x="357786" y="4088909"/>
            <a:ext cx="661626" cy="580254"/>
          </a:xfrm>
          <a:prstGeom prst="rect">
            <a:avLst/>
          </a:prstGeom>
          <a:solidFill>
            <a:schemeClr val="bg1">
              <a:lumMod val="50000"/>
            </a:schemeClr>
          </a:solidFill>
          <a:ln w="12700" algn="ctr">
            <a:noFill/>
            <a:miter lim="800000"/>
            <a:headEnd/>
            <a:tailEnd/>
          </a:ln>
        </p:spPr>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100" b="1">
                <a:solidFill>
                  <a:schemeClr val="bg1"/>
                </a:solidFill>
                <a:latin typeface="Meiryo UI" panose="020B0604030504040204" pitchFamily="50" charset="-128"/>
                <a:ea typeface="Meiryo UI" panose="020B0604030504040204" pitchFamily="50" charset="-128"/>
              </a:rPr>
              <a:t>実施</a:t>
            </a:r>
            <a:endParaRPr kumimoji="1" lang="en-US" altLang="ja-JP" sz="1100" b="1">
              <a:solidFill>
                <a:schemeClr val="bg1"/>
              </a:solidFill>
              <a:latin typeface="Meiryo UI" panose="020B0604030504040204" pitchFamily="50" charset="-128"/>
              <a:ea typeface="Meiryo UI" panose="020B0604030504040204" pitchFamily="50" charset="-128"/>
            </a:endParaRPr>
          </a:p>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100" b="1">
                <a:solidFill>
                  <a:schemeClr val="bg1"/>
                </a:solidFill>
                <a:latin typeface="Meiryo UI" panose="020B0604030504040204" pitchFamily="50" charset="-128"/>
                <a:ea typeface="Meiryo UI" panose="020B0604030504040204" pitchFamily="50" charset="-128"/>
              </a:rPr>
              <a:t>時期</a:t>
            </a:r>
            <a:endParaRPr kumimoji="1" lang="ja-JP" altLang="en-US" sz="1100" b="1"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16" name="矢印: 五方向 15">
            <a:extLst>
              <a:ext uri="{FF2B5EF4-FFF2-40B4-BE49-F238E27FC236}">
                <a16:creationId xmlns:a16="http://schemas.microsoft.com/office/drawing/2014/main" id="{C9ABBDC2-7A65-5A8B-FE0E-F9A19F540F23}"/>
              </a:ext>
            </a:extLst>
          </p:cNvPr>
          <p:cNvSpPr/>
          <p:nvPr/>
        </p:nvSpPr>
        <p:spPr bwMode="gray">
          <a:xfrm>
            <a:off x="3101757" y="2867569"/>
            <a:ext cx="1643228" cy="313308"/>
          </a:xfrm>
          <a:prstGeom prst="homePlate">
            <a:avLst>
              <a:gd name="adj" fmla="val 18319"/>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algn="ctr" defTabSz="990564" fontAlgn="auto">
              <a:spcBef>
                <a:spcPts val="0"/>
              </a:spcBef>
              <a:spcAft>
                <a:spcPts val="0"/>
              </a:spcAft>
              <a:buSzPct val="100000"/>
            </a:pPr>
            <a:r>
              <a:rPr kumimoji="1" lang="ja-JP" altLang="en-US" sz="1050" b="1">
                <a:solidFill>
                  <a:schemeClr val="bg1"/>
                </a:solidFill>
                <a:latin typeface="Meiryo UI" panose="020B0604030504040204" pitchFamily="50" charset="-128"/>
                <a:ea typeface="Meiryo UI" panose="020B0604030504040204" pitchFamily="50" charset="-128"/>
              </a:rPr>
              <a:t>データ変換ロジック</a:t>
            </a:r>
            <a:endParaRPr kumimoji="1" lang="en-US" altLang="ja-JP" sz="1050" b="1">
              <a:solidFill>
                <a:schemeClr val="bg1"/>
              </a:solidFill>
              <a:latin typeface="Meiryo UI" panose="020B0604030504040204" pitchFamily="50" charset="-128"/>
              <a:ea typeface="Meiryo UI" panose="020B0604030504040204" pitchFamily="50" charset="-128"/>
            </a:endParaRPr>
          </a:p>
          <a:p>
            <a:pPr algn="ctr" defTabSz="990564" fontAlgn="auto">
              <a:spcBef>
                <a:spcPts val="0"/>
              </a:spcBef>
              <a:spcAft>
                <a:spcPts val="0"/>
              </a:spcAft>
              <a:buSzPct val="100000"/>
            </a:pPr>
            <a:r>
              <a:rPr kumimoji="1" lang="ja-JP" altLang="en-US" sz="1050" b="1">
                <a:solidFill>
                  <a:schemeClr val="bg1"/>
                </a:solidFill>
                <a:latin typeface="Meiryo UI" panose="020B0604030504040204" pitchFamily="50" charset="-128"/>
                <a:ea typeface="Meiryo UI" panose="020B0604030504040204" pitchFamily="50" charset="-128"/>
              </a:rPr>
              <a:t>サンプル準備</a:t>
            </a:r>
          </a:p>
        </p:txBody>
      </p:sp>
      <p:sp>
        <p:nvSpPr>
          <p:cNvPr id="17" name="フローチャート: 処理 16">
            <a:extLst>
              <a:ext uri="{FF2B5EF4-FFF2-40B4-BE49-F238E27FC236}">
                <a16:creationId xmlns:a16="http://schemas.microsoft.com/office/drawing/2014/main" id="{1A078F1A-192A-03A8-4100-C94C6FDF0AD3}"/>
              </a:ext>
            </a:extLst>
          </p:cNvPr>
          <p:cNvSpPr/>
          <p:nvPr/>
        </p:nvSpPr>
        <p:spPr>
          <a:xfrm>
            <a:off x="1447799" y="3193155"/>
            <a:ext cx="1643229" cy="859597"/>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en-US" altLang="ja-JP" sz="1050">
                <a:solidFill>
                  <a:schemeClr val="tx1"/>
                </a:solidFill>
                <a:latin typeface="Meiryo UI" panose="020B0604030504040204" pitchFamily="50" charset="-128"/>
                <a:ea typeface="Meiryo UI" panose="020B0604030504040204" pitchFamily="50" charset="-128"/>
              </a:rPr>
              <a:t>RFP</a:t>
            </a:r>
            <a:r>
              <a:rPr kumimoji="1" lang="ja-JP" altLang="en-US" sz="1050">
                <a:solidFill>
                  <a:schemeClr val="tx1"/>
                </a:solidFill>
                <a:latin typeface="Meiryo UI" panose="020B0604030504040204" pitchFamily="50" charset="-128"/>
                <a:ea typeface="Meiryo UI" panose="020B0604030504040204" pitchFamily="50" charset="-128"/>
              </a:rPr>
              <a:t>作成の前提となる、タグデータからモニタリングポイントデータへの変換を行う</a:t>
            </a:r>
            <a:r>
              <a:rPr kumimoji="1" lang="en-US" altLang="ja-JP" sz="1050">
                <a:solidFill>
                  <a:schemeClr val="tx1"/>
                </a:solidFill>
                <a:latin typeface="Meiryo UI" panose="020B0604030504040204" pitchFamily="50" charset="-128"/>
                <a:ea typeface="Meiryo UI" panose="020B0604030504040204" pitchFamily="50" charset="-128"/>
              </a:rPr>
              <a:t>ETL</a:t>
            </a:r>
            <a:r>
              <a:rPr kumimoji="1" lang="ja-JP" altLang="en-US" sz="1050">
                <a:solidFill>
                  <a:schemeClr val="tx1"/>
                </a:solidFill>
                <a:latin typeface="Meiryo UI" panose="020B0604030504040204" pitchFamily="50" charset="-128"/>
                <a:ea typeface="Meiryo UI" panose="020B0604030504040204" pitchFamily="50" charset="-128"/>
              </a:rPr>
              <a:t>ツールの導入等対応方針の策定</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18" name="フローチャート: 処理 17">
            <a:extLst>
              <a:ext uri="{FF2B5EF4-FFF2-40B4-BE49-F238E27FC236}">
                <a16:creationId xmlns:a16="http://schemas.microsoft.com/office/drawing/2014/main" id="{9BB7A3CC-A95A-72C4-AC7D-44C84F5C0ED5}"/>
              </a:ext>
            </a:extLst>
          </p:cNvPr>
          <p:cNvSpPr/>
          <p:nvPr/>
        </p:nvSpPr>
        <p:spPr>
          <a:xfrm>
            <a:off x="3101757" y="3205180"/>
            <a:ext cx="1643228" cy="859597"/>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モニタリングポイントから温対法開示項目への変換ロジックの製油所サンプルを</a:t>
            </a:r>
            <a:r>
              <a:rPr kumimoji="1" lang="en-US" altLang="ja-JP" sz="1050">
                <a:solidFill>
                  <a:schemeClr val="tx1"/>
                </a:solidFill>
                <a:latin typeface="Meiryo UI" panose="020B0604030504040204" pitchFamily="50" charset="-128"/>
                <a:ea typeface="Meiryo UI" panose="020B0604030504040204" pitchFamily="50" charset="-128"/>
              </a:rPr>
              <a:t>RFP</a:t>
            </a:r>
            <a:r>
              <a:rPr kumimoji="1" lang="ja-JP" altLang="en-US" sz="1050">
                <a:solidFill>
                  <a:schemeClr val="tx1"/>
                </a:solidFill>
                <a:latin typeface="Meiryo UI" panose="020B0604030504040204" pitchFamily="50" charset="-128"/>
                <a:ea typeface="Meiryo UI" panose="020B0604030504040204" pitchFamily="50" charset="-128"/>
              </a:rPr>
              <a:t>記載用に用意</a:t>
            </a:r>
            <a:endParaRPr kumimoji="1" lang="en-US" altLang="ja-JP" sz="1050">
              <a:solidFill>
                <a:schemeClr val="tx1"/>
              </a:solidFill>
              <a:latin typeface="Meiryo UI" panose="020B0604030504040204" pitchFamily="50" charset="-128"/>
              <a:ea typeface="Meiryo UI" panose="020B0604030504040204" pitchFamily="50" charset="-128"/>
            </a:endParaRPr>
          </a:p>
        </p:txBody>
      </p:sp>
      <p:cxnSp>
        <p:nvCxnSpPr>
          <p:cNvPr id="22" name="直線コネクタ 21">
            <a:extLst>
              <a:ext uri="{FF2B5EF4-FFF2-40B4-BE49-F238E27FC236}">
                <a16:creationId xmlns:a16="http://schemas.microsoft.com/office/drawing/2014/main" id="{D50E64ED-ABA4-4E06-B1F7-6E8690A29EC4}"/>
              </a:ext>
            </a:extLst>
          </p:cNvPr>
          <p:cNvCxnSpPr>
            <a:cxnSpLocks/>
          </p:cNvCxnSpPr>
          <p:nvPr/>
        </p:nvCxnSpPr>
        <p:spPr bwMode="gray">
          <a:xfrm>
            <a:off x="357786" y="4058900"/>
            <a:ext cx="8556908" cy="0"/>
          </a:xfrm>
          <a:prstGeom prst="line">
            <a:avLst/>
          </a:prstGeom>
          <a:noFill/>
          <a:ln w="12700" cap="flat" cmpd="sng" algn="ctr">
            <a:solidFill>
              <a:srgbClr val="53565A"/>
            </a:solidFill>
            <a:prstDash val="dash"/>
          </a:ln>
          <a:effectLst/>
        </p:spPr>
      </p:cxnSp>
      <p:sp>
        <p:nvSpPr>
          <p:cNvPr id="23" name="矢印: 五方向 22">
            <a:extLst>
              <a:ext uri="{FF2B5EF4-FFF2-40B4-BE49-F238E27FC236}">
                <a16:creationId xmlns:a16="http://schemas.microsoft.com/office/drawing/2014/main" id="{A5D0F0B8-7D4E-8F48-5015-EE7B24536D87}"/>
              </a:ext>
            </a:extLst>
          </p:cNvPr>
          <p:cNvSpPr/>
          <p:nvPr/>
        </p:nvSpPr>
        <p:spPr bwMode="gray">
          <a:xfrm>
            <a:off x="4755714" y="2855544"/>
            <a:ext cx="1643228" cy="313308"/>
          </a:xfrm>
          <a:prstGeom prst="homePlate">
            <a:avLst>
              <a:gd name="adj" fmla="val 18319"/>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algn="ctr" defTabSz="990564" fontAlgn="auto">
              <a:spcBef>
                <a:spcPts val="0"/>
              </a:spcBef>
              <a:spcAft>
                <a:spcPts val="0"/>
              </a:spcAft>
              <a:buSzPct val="100000"/>
            </a:pPr>
            <a:r>
              <a:rPr kumimoji="1" lang="ja-JP" altLang="en-US" sz="1050" b="1">
                <a:solidFill>
                  <a:schemeClr val="bg1"/>
                </a:solidFill>
                <a:latin typeface="Meiryo UI" panose="020B0604030504040204" pitchFamily="50" charset="-128"/>
                <a:ea typeface="Meiryo UI" panose="020B0604030504040204" pitchFamily="50" charset="-128"/>
              </a:rPr>
              <a:t>全製油所</a:t>
            </a:r>
            <a:endParaRPr kumimoji="1" lang="en-US" altLang="ja-JP" sz="1050" b="1">
              <a:solidFill>
                <a:schemeClr val="bg1"/>
              </a:solidFill>
              <a:latin typeface="Meiryo UI" panose="020B0604030504040204" pitchFamily="50" charset="-128"/>
              <a:ea typeface="Meiryo UI" panose="020B0604030504040204" pitchFamily="50" charset="-128"/>
            </a:endParaRPr>
          </a:p>
          <a:p>
            <a:pPr algn="ctr" defTabSz="990564" fontAlgn="auto">
              <a:spcBef>
                <a:spcPts val="0"/>
              </a:spcBef>
              <a:spcAft>
                <a:spcPts val="0"/>
              </a:spcAft>
              <a:buSzPct val="100000"/>
            </a:pPr>
            <a:r>
              <a:rPr kumimoji="1" lang="ja-JP" altLang="en-US" sz="1050" b="1">
                <a:solidFill>
                  <a:schemeClr val="bg1"/>
                </a:solidFill>
                <a:latin typeface="Meiryo UI" panose="020B0604030504040204" pitchFamily="50" charset="-128"/>
                <a:ea typeface="Meiryo UI" panose="020B0604030504040204" pitchFamily="50" charset="-128"/>
              </a:rPr>
              <a:t>データ変換ロジック整理</a:t>
            </a:r>
          </a:p>
        </p:txBody>
      </p:sp>
      <p:sp>
        <p:nvSpPr>
          <p:cNvPr id="24" name="フローチャート: 処理 23">
            <a:extLst>
              <a:ext uri="{FF2B5EF4-FFF2-40B4-BE49-F238E27FC236}">
                <a16:creationId xmlns:a16="http://schemas.microsoft.com/office/drawing/2014/main" id="{84ED06B9-311A-1F54-7CB3-C7DA992D84A9}"/>
              </a:ext>
            </a:extLst>
          </p:cNvPr>
          <p:cNvSpPr/>
          <p:nvPr/>
        </p:nvSpPr>
        <p:spPr>
          <a:xfrm>
            <a:off x="4755715" y="3193155"/>
            <a:ext cx="1643228" cy="859597"/>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全製油所のモニタリングポイント⇒温対法開示項目への変換ロジックの製油所サンプル用意</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25" name="矢印: 五方向 24">
            <a:extLst>
              <a:ext uri="{FF2B5EF4-FFF2-40B4-BE49-F238E27FC236}">
                <a16:creationId xmlns:a16="http://schemas.microsoft.com/office/drawing/2014/main" id="{EF06FE7C-9BDC-7485-0CBB-82047E7A1CAC}"/>
              </a:ext>
            </a:extLst>
          </p:cNvPr>
          <p:cNvSpPr/>
          <p:nvPr/>
        </p:nvSpPr>
        <p:spPr bwMode="gray">
          <a:xfrm>
            <a:off x="6415405" y="2855544"/>
            <a:ext cx="1643227" cy="313308"/>
          </a:xfrm>
          <a:prstGeom prst="homePlate">
            <a:avLst>
              <a:gd name="adj" fmla="val 18319"/>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algn="ctr" defTabSz="990564" fontAlgn="auto">
              <a:spcBef>
                <a:spcPts val="0"/>
              </a:spcBef>
              <a:spcAft>
                <a:spcPts val="0"/>
              </a:spcAft>
              <a:buSzPct val="100000"/>
            </a:pPr>
            <a:r>
              <a:rPr kumimoji="1" lang="ja-JP" altLang="en-US" sz="1050" b="1">
                <a:solidFill>
                  <a:schemeClr val="bg1"/>
                </a:solidFill>
                <a:latin typeface="Meiryo UI" panose="020B0604030504040204" pitchFamily="50" charset="-128"/>
                <a:ea typeface="Meiryo UI" panose="020B0604030504040204" pitchFamily="50" charset="-128"/>
              </a:rPr>
              <a:t>東亜石油</a:t>
            </a:r>
            <a:r>
              <a:rPr kumimoji="1" lang="en-US" altLang="ja-JP" sz="1050" b="1">
                <a:solidFill>
                  <a:schemeClr val="bg1"/>
                </a:solidFill>
                <a:latin typeface="Meiryo UI" panose="020B0604030504040204" pitchFamily="50" charset="-128"/>
                <a:ea typeface="Meiryo UI" panose="020B0604030504040204" pitchFamily="50" charset="-128"/>
              </a:rPr>
              <a:t>(</a:t>
            </a:r>
            <a:r>
              <a:rPr kumimoji="1" lang="ja-JP" altLang="en-US" sz="1050" b="1">
                <a:solidFill>
                  <a:schemeClr val="bg1"/>
                </a:solidFill>
                <a:latin typeface="Meiryo UI" panose="020B0604030504040204" pitchFamily="50" charset="-128"/>
                <a:ea typeface="Meiryo UI" panose="020B0604030504040204" pitchFamily="50" charset="-128"/>
              </a:rPr>
              <a:t>株</a:t>
            </a:r>
            <a:r>
              <a:rPr kumimoji="1" lang="en-US" altLang="ja-JP" sz="1050" b="1">
                <a:solidFill>
                  <a:schemeClr val="bg1"/>
                </a:solidFill>
                <a:latin typeface="Meiryo UI" panose="020B0604030504040204" pitchFamily="50" charset="-128"/>
                <a:ea typeface="Meiryo UI" panose="020B0604030504040204" pitchFamily="50" charset="-128"/>
              </a:rPr>
              <a:t>)</a:t>
            </a:r>
          </a:p>
          <a:p>
            <a:pPr algn="ctr" defTabSz="990564" fontAlgn="auto">
              <a:spcBef>
                <a:spcPts val="0"/>
              </a:spcBef>
              <a:spcAft>
                <a:spcPts val="0"/>
              </a:spcAft>
              <a:buSzPct val="100000"/>
            </a:pPr>
            <a:r>
              <a:rPr kumimoji="1" lang="ja-JP" altLang="en-US" sz="1050" b="1">
                <a:solidFill>
                  <a:schemeClr val="bg1"/>
                </a:solidFill>
                <a:latin typeface="Meiryo UI" panose="020B0604030504040204" pitchFamily="50" charset="-128"/>
                <a:ea typeface="Meiryo UI" panose="020B0604030504040204" pitchFamily="50" charset="-128"/>
              </a:rPr>
              <a:t>対応方針検討</a:t>
            </a:r>
          </a:p>
        </p:txBody>
      </p:sp>
      <p:sp>
        <p:nvSpPr>
          <p:cNvPr id="26" name="フローチャート: 処理 25">
            <a:extLst>
              <a:ext uri="{FF2B5EF4-FFF2-40B4-BE49-F238E27FC236}">
                <a16:creationId xmlns:a16="http://schemas.microsoft.com/office/drawing/2014/main" id="{053A94DA-F1FE-6F67-61F7-179B1D4545FC}"/>
              </a:ext>
            </a:extLst>
          </p:cNvPr>
          <p:cNvSpPr/>
          <p:nvPr/>
        </p:nvSpPr>
        <p:spPr>
          <a:xfrm>
            <a:off x="6415407" y="3193155"/>
            <a:ext cx="1643228" cy="859597"/>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東亜石油</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株</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の対応方針として、どのように新システムへデータを収集するか検討（直接入力</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特定フォルダへの格納）</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116" name="楕円 115">
            <a:extLst>
              <a:ext uri="{FF2B5EF4-FFF2-40B4-BE49-F238E27FC236}">
                <a16:creationId xmlns:a16="http://schemas.microsoft.com/office/drawing/2014/main" id="{98C02905-4A10-7892-E509-320CBEA7EB66}"/>
              </a:ext>
            </a:extLst>
          </p:cNvPr>
          <p:cNvSpPr/>
          <p:nvPr/>
        </p:nvSpPr>
        <p:spPr>
          <a:xfrm>
            <a:off x="1382395" y="2762954"/>
            <a:ext cx="245806" cy="245806"/>
          </a:xfrm>
          <a:prstGeom prst="ellipse">
            <a:avLst/>
          </a:prstGeom>
          <a:solidFill>
            <a:schemeClr val="accent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2</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27" name="楕円 26">
            <a:extLst>
              <a:ext uri="{FF2B5EF4-FFF2-40B4-BE49-F238E27FC236}">
                <a16:creationId xmlns:a16="http://schemas.microsoft.com/office/drawing/2014/main" id="{5ADAA79A-D612-2FBF-A5CC-FE51E17A176F}"/>
              </a:ext>
            </a:extLst>
          </p:cNvPr>
          <p:cNvSpPr/>
          <p:nvPr/>
        </p:nvSpPr>
        <p:spPr>
          <a:xfrm>
            <a:off x="3035348" y="2762954"/>
            <a:ext cx="245806" cy="245806"/>
          </a:xfrm>
          <a:prstGeom prst="ellipse">
            <a:avLst/>
          </a:prstGeom>
          <a:solidFill>
            <a:schemeClr val="accent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3</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28" name="楕円 27">
            <a:extLst>
              <a:ext uri="{FF2B5EF4-FFF2-40B4-BE49-F238E27FC236}">
                <a16:creationId xmlns:a16="http://schemas.microsoft.com/office/drawing/2014/main" id="{6B8DEF21-AD16-0544-1690-F31BEF920B81}"/>
              </a:ext>
            </a:extLst>
          </p:cNvPr>
          <p:cNvSpPr/>
          <p:nvPr/>
        </p:nvSpPr>
        <p:spPr>
          <a:xfrm>
            <a:off x="4688301" y="2762954"/>
            <a:ext cx="245806" cy="245806"/>
          </a:xfrm>
          <a:prstGeom prst="ellipse">
            <a:avLst/>
          </a:prstGeom>
          <a:solidFill>
            <a:schemeClr val="accent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3</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34" name="楕円 33">
            <a:extLst>
              <a:ext uri="{FF2B5EF4-FFF2-40B4-BE49-F238E27FC236}">
                <a16:creationId xmlns:a16="http://schemas.microsoft.com/office/drawing/2014/main" id="{BC38274E-92B5-169D-1130-8B8A9D32DFEC}"/>
              </a:ext>
            </a:extLst>
          </p:cNvPr>
          <p:cNvSpPr/>
          <p:nvPr/>
        </p:nvSpPr>
        <p:spPr>
          <a:xfrm>
            <a:off x="6341253" y="2773772"/>
            <a:ext cx="245806" cy="245806"/>
          </a:xfrm>
          <a:prstGeom prst="ellipse">
            <a:avLst/>
          </a:prstGeom>
          <a:solidFill>
            <a:schemeClr val="accent6"/>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Meiryo UI" panose="020B0604030504040204" pitchFamily="50" charset="-128"/>
                <a:ea typeface="Meiryo UI" panose="020B0604030504040204" pitchFamily="50" charset="-128"/>
              </a:rPr>
              <a:t>4</a:t>
            </a:r>
            <a:endParaRPr kumimoji="1" lang="ja-JP" altLang="en-US" sz="1200" b="1">
              <a:solidFill>
                <a:schemeClr val="bg1"/>
              </a:solidFill>
              <a:latin typeface="Meiryo UI" panose="020B0604030504040204" pitchFamily="50" charset="-128"/>
              <a:ea typeface="Meiryo UI" panose="020B0604030504040204" pitchFamily="50" charset="-128"/>
            </a:endParaRPr>
          </a:p>
        </p:txBody>
      </p:sp>
      <p:sp>
        <p:nvSpPr>
          <p:cNvPr id="36" name="フローチャート: 処理 35">
            <a:extLst>
              <a:ext uri="{FF2B5EF4-FFF2-40B4-BE49-F238E27FC236}">
                <a16:creationId xmlns:a16="http://schemas.microsoft.com/office/drawing/2014/main" id="{A159CE93-5BAC-1A3C-383F-CA183CAF4D4F}"/>
              </a:ext>
            </a:extLst>
          </p:cNvPr>
          <p:cNvSpPr/>
          <p:nvPr/>
        </p:nvSpPr>
        <p:spPr>
          <a:xfrm>
            <a:off x="1447799" y="4723032"/>
            <a:ext cx="1643229" cy="647052"/>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en-US" altLang="ja-JP" sz="1050">
                <a:solidFill>
                  <a:schemeClr val="tx1"/>
                </a:solidFill>
                <a:latin typeface="Meiryo UI" panose="020B0604030504040204" pitchFamily="50" charset="-128"/>
                <a:ea typeface="Meiryo UI" panose="020B0604030504040204" pitchFamily="50" charset="-128"/>
              </a:rPr>
              <a:t>DI</a:t>
            </a:r>
            <a:r>
              <a:rPr kumimoji="1" lang="ja-JP" altLang="en-US" sz="1050">
                <a:solidFill>
                  <a:schemeClr val="tx1"/>
                </a:solidFill>
                <a:latin typeface="Meiryo UI" panose="020B0604030504040204" pitchFamily="50" charset="-128"/>
                <a:ea typeface="Meiryo UI" panose="020B0604030504040204" pitchFamily="50" charset="-128"/>
              </a:rPr>
              <a:t>部</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37" name="フローチャート: 処理 36">
            <a:extLst>
              <a:ext uri="{FF2B5EF4-FFF2-40B4-BE49-F238E27FC236}">
                <a16:creationId xmlns:a16="http://schemas.microsoft.com/office/drawing/2014/main" id="{C1889EF1-304F-C515-8C8E-901B3F4C59F6}"/>
              </a:ext>
            </a:extLst>
          </p:cNvPr>
          <p:cNvSpPr/>
          <p:nvPr/>
        </p:nvSpPr>
        <p:spPr>
          <a:xfrm>
            <a:off x="3101757" y="4723032"/>
            <a:ext cx="1643229" cy="647052"/>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サステナビリティ推進室</a:t>
            </a:r>
            <a:endParaRPr kumimoji="1" lang="en-US" altLang="ja-JP" sz="1050">
              <a:solidFill>
                <a:schemeClr val="tx1"/>
              </a:solidFill>
              <a:latin typeface="Meiryo UI" panose="020B0604030504040204" pitchFamily="50" charset="-128"/>
              <a:ea typeface="Meiryo UI" panose="020B0604030504040204" pitchFamily="50" charset="-128"/>
            </a:endParaRPr>
          </a:p>
          <a:p>
            <a:pPr marL="85725" indent="-85725">
              <a:buFont typeface="Wingdings" panose="05000000000000000000" pitchFamily="2" charset="2"/>
              <a:buChar char="n"/>
            </a:pPr>
            <a:r>
              <a:rPr kumimoji="1" lang="en-US" altLang="ja-JP" sz="1050">
                <a:solidFill>
                  <a:schemeClr val="tx1"/>
                </a:solidFill>
                <a:latin typeface="Meiryo UI" panose="020B0604030504040204" pitchFamily="50" charset="-128"/>
                <a:ea typeface="Meiryo UI" panose="020B0604030504040204" pitchFamily="50" charset="-128"/>
              </a:rPr>
              <a:t>DI</a:t>
            </a:r>
            <a:r>
              <a:rPr kumimoji="1" lang="ja-JP" altLang="en-US" sz="1050">
                <a:solidFill>
                  <a:schemeClr val="tx1"/>
                </a:solidFill>
                <a:latin typeface="Meiryo UI" panose="020B0604030504040204" pitchFamily="50" charset="-128"/>
                <a:ea typeface="Meiryo UI" panose="020B0604030504040204" pitchFamily="50" charset="-128"/>
              </a:rPr>
              <a:t>部</a:t>
            </a:r>
            <a:endParaRPr kumimoji="1" lang="en-US" altLang="ja-JP" sz="1050">
              <a:solidFill>
                <a:schemeClr val="tx1"/>
              </a:solidFill>
              <a:latin typeface="Meiryo UI" panose="020B0604030504040204" pitchFamily="50" charset="-128"/>
              <a:ea typeface="Meiryo UI" panose="020B0604030504040204" pitchFamily="50" charset="-128"/>
            </a:endParaRPr>
          </a:p>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製油所</a:t>
            </a:r>
            <a:r>
              <a:rPr kumimoji="1" lang="en-US" altLang="ja-JP" sz="1050">
                <a:solidFill>
                  <a:schemeClr val="tx1"/>
                </a:solidFill>
                <a:latin typeface="Meiryo UI" panose="020B0604030504040204" pitchFamily="50" charset="-128"/>
                <a:ea typeface="Meiryo UI" panose="020B0604030504040204" pitchFamily="50" charset="-128"/>
              </a:rPr>
              <a:t>(1</a:t>
            </a:r>
            <a:r>
              <a:rPr kumimoji="1" lang="ja-JP" altLang="en-US" sz="1050">
                <a:solidFill>
                  <a:schemeClr val="tx1"/>
                </a:solidFill>
                <a:latin typeface="Meiryo UI" panose="020B0604030504040204" pitchFamily="50" charset="-128"/>
                <a:ea typeface="Meiryo UI" panose="020B0604030504040204" pitchFamily="50" charset="-128"/>
              </a:rPr>
              <a:t>拠点の一部</a:t>
            </a:r>
            <a:r>
              <a:rPr kumimoji="1" lang="en-US" altLang="ja-JP" sz="1050">
                <a:solidFill>
                  <a:schemeClr val="tx1"/>
                </a:solidFill>
                <a:latin typeface="Meiryo UI" panose="020B0604030504040204" pitchFamily="50" charset="-128"/>
                <a:ea typeface="Meiryo UI" panose="020B0604030504040204" pitchFamily="50" charset="-128"/>
              </a:rPr>
              <a:t>)</a:t>
            </a:r>
          </a:p>
        </p:txBody>
      </p:sp>
      <p:sp>
        <p:nvSpPr>
          <p:cNvPr id="38" name="フローチャート: 処理 37">
            <a:extLst>
              <a:ext uri="{FF2B5EF4-FFF2-40B4-BE49-F238E27FC236}">
                <a16:creationId xmlns:a16="http://schemas.microsoft.com/office/drawing/2014/main" id="{9C43AB32-09FE-0B13-46E4-3A58CA3307F5}"/>
              </a:ext>
            </a:extLst>
          </p:cNvPr>
          <p:cNvSpPr/>
          <p:nvPr/>
        </p:nvSpPr>
        <p:spPr>
          <a:xfrm>
            <a:off x="4755714" y="4723032"/>
            <a:ext cx="1643229" cy="647052"/>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サステナビリティ推進室</a:t>
            </a:r>
            <a:endParaRPr kumimoji="1" lang="en-US" altLang="ja-JP" sz="1050">
              <a:solidFill>
                <a:schemeClr val="tx1"/>
              </a:solidFill>
              <a:latin typeface="Meiryo UI" panose="020B0604030504040204" pitchFamily="50" charset="-128"/>
              <a:ea typeface="Meiryo UI" panose="020B0604030504040204" pitchFamily="50" charset="-128"/>
            </a:endParaRPr>
          </a:p>
          <a:p>
            <a:pPr marL="85725" indent="-85725">
              <a:buFont typeface="Wingdings" panose="05000000000000000000" pitchFamily="2" charset="2"/>
              <a:buChar char="n"/>
            </a:pPr>
            <a:r>
              <a:rPr kumimoji="1" lang="en-US" altLang="ja-JP" sz="1050">
                <a:solidFill>
                  <a:schemeClr val="tx1"/>
                </a:solidFill>
                <a:latin typeface="Meiryo UI" panose="020B0604030504040204" pitchFamily="50" charset="-128"/>
                <a:ea typeface="Meiryo UI" panose="020B0604030504040204" pitchFamily="50" charset="-128"/>
              </a:rPr>
              <a:t>DI</a:t>
            </a:r>
            <a:r>
              <a:rPr kumimoji="1" lang="ja-JP" altLang="en-US" sz="1050">
                <a:solidFill>
                  <a:schemeClr val="tx1"/>
                </a:solidFill>
                <a:latin typeface="Meiryo UI" panose="020B0604030504040204" pitchFamily="50" charset="-128"/>
                <a:ea typeface="Meiryo UI" panose="020B0604030504040204" pitchFamily="50" charset="-128"/>
              </a:rPr>
              <a:t>部</a:t>
            </a:r>
            <a:endParaRPr kumimoji="1" lang="en-US" altLang="ja-JP" sz="1050">
              <a:solidFill>
                <a:schemeClr val="tx1"/>
              </a:solidFill>
              <a:latin typeface="Meiryo UI" panose="020B0604030504040204" pitchFamily="50" charset="-128"/>
              <a:ea typeface="Meiryo UI" panose="020B0604030504040204" pitchFamily="50" charset="-128"/>
            </a:endParaRPr>
          </a:p>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全製油所</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39" name="フローチャート: 処理 38">
            <a:extLst>
              <a:ext uri="{FF2B5EF4-FFF2-40B4-BE49-F238E27FC236}">
                <a16:creationId xmlns:a16="http://schemas.microsoft.com/office/drawing/2014/main" id="{C2A52F2C-F703-69DE-6C7A-7A1D8433C7F3}"/>
              </a:ext>
            </a:extLst>
          </p:cNvPr>
          <p:cNvSpPr/>
          <p:nvPr/>
        </p:nvSpPr>
        <p:spPr>
          <a:xfrm>
            <a:off x="6411368" y="4723032"/>
            <a:ext cx="1643229" cy="647052"/>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サステナビリティ推進室</a:t>
            </a:r>
            <a:endParaRPr kumimoji="1" lang="en-US" altLang="ja-JP" sz="1050">
              <a:solidFill>
                <a:schemeClr val="tx1"/>
              </a:solidFill>
              <a:latin typeface="Meiryo UI" panose="020B0604030504040204" pitchFamily="50" charset="-128"/>
              <a:ea typeface="Meiryo UI" panose="020B0604030504040204" pitchFamily="50" charset="-128"/>
            </a:endParaRPr>
          </a:p>
          <a:p>
            <a:pPr marL="85725" indent="-85725">
              <a:buFont typeface="Wingdings" panose="05000000000000000000" pitchFamily="2" charset="2"/>
              <a:buChar char="n"/>
            </a:pPr>
            <a:r>
              <a:rPr kumimoji="1" lang="en-US" altLang="ja-JP" sz="1050">
                <a:solidFill>
                  <a:schemeClr val="tx1"/>
                </a:solidFill>
                <a:latin typeface="Meiryo UI" panose="020B0604030504040204" pitchFamily="50" charset="-128"/>
                <a:ea typeface="Meiryo UI" panose="020B0604030504040204" pitchFamily="50" charset="-128"/>
              </a:rPr>
              <a:t>DI</a:t>
            </a:r>
            <a:r>
              <a:rPr kumimoji="1" lang="ja-JP" altLang="en-US" sz="1050">
                <a:solidFill>
                  <a:schemeClr val="tx1"/>
                </a:solidFill>
                <a:latin typeface="Meiryo UI" panose="020B0604030504040204" pitchFamily="50" charset="-128"/>
                <a:ea typeface="Meiryo UI" panose="020B0604030504040204" pitchFamily="50" charset="-128"/>
              </a:rPr>
              <a:t>部</a:t>
            </a:r>
            <a:endParaRPr kumimoji="1" lang="en-US" altLang="ja-JP" sz="1050">
              <a:solidFill>
                <a:schemeClr val="tx1"/>
              </a:solidFill>
              <a:latin typeface="Meiryo UI" panose="020B0604030504040204" pitchFamily="50" charset="-128"/>
              <a:ea typeface="Meiryo UI" panose="020B0604030504040204" pitchFamily="50" charset="-128"/>
            </a:endParaRPr>
          </a:p>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東亜石油</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株</a:t>
            </a:r>
            <a:r>
              <a:rPr kumimoji="1" lang="en-US" altLang="ja-JP" sz="1050">
                <a:solidFill>
                  <a:schemeClr val="tx1"/>
                </a:solidFill>
                <a:latin typeface="Meiryo UI" panose="020B0604030504040204" pitchFamily="50" charset="-128"/>
                <a:ea typeface="Meiryo UI" panose="020B0604030504040204" pitchFamily="50" charset="-128"/>
              </a:rPr>
              <a:t>)</a:t>
            </a:r>
          </a:p>
        </p:txBody>
      </p:sp>
      <p:sp>
        <p:nvSpPr>
          <p:cNvPr id="40" name="フローチャート: 処理 39">
            <a:extLst>
              <a:ext uri="{FF2B5EF4-FFF2-40B4-BE49-F238E27FC236}">
                <a16:creationId xmlns:a16="http://schemas.microsoft.com/office/drawing/2014/main" id="{073214D2-DDE1-AF2E-9BEE-AFC574A6672C}"/>
              </a:ext>
            </a:extLst>
          </p:cNvPr>
          <p:cNvSpPr/>
          <p:nvPr/>
        </p:nvSpPr>
        <p:spPr>
          <a:xfrm>
            <a:off x="1447799" y="4082760"/>
            <a:ext cx="1643229" cy="580253"/>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1100">
                <a:solidFill>
                  <a:schemeClr val="tx1"/>
                </a:solidFill>
                <a:latin typeface="Meiryo UI" panose="020B0604030504040204" pitchFamily="50" charset="-128"/>
                <a:ea typeface="Meiryo UI" panose="020B0604030504040204" pitchFamily="50" charset="-128"/>
              </a:rPr>
              <a:t>2025/6</a:t>
            </a:r>
            <a:r>
              <a:rPr kumimoji="1" lang="ja-JP" altLang="en-US" sz="1100">
                <a:solidFill>
                  <a:schemeClr val="tx1"/>
                </a:solidFill>
                <a:latin typeface="Meiryo UI" panose="020B0604030504040204" pitchFamily="50" charset="-128"/>
                <a:ea typeface="Meiryo UI" panose="020B0604030504040204" pitchFamily="50" charset="-128"/>
              </a:rPr>
              <a:t>～</a:t>
            </a:r>
            <a:r>
              <a:rPr kumimoji="1" lang="en-US" altLang="ja-JP" sz="1100">
                <a:solidFill>
                  <a:schemeClr val="tx1"/>
                </a:solidFill>
                <a:latin typeface="Meiryo UI" panose="020B0604030504040204" pitchFamily="50" charset="-128"/>
                <a:ea typeface="Meiryo UI" panose="020B0604030504040204" pitchFamily="50" charset="-128"/>
              </a:rPr>
              <a:t>2025/9</a:t>
            </a:r>
            <a:r>
              <a:rPr kumimoji="1" lang="ja-JP" altLang="en-US" sz="1100">
                <a:solidFill>
                  <a:schemeClr val="tx1"/>
                </a:solidFill>
                <a:latin typeface="Meiryo UI" panose="020B0604030504040204" pitchFamily="50" charset="-128"/>
                <a:ea typeface="Meiryo UI" panose="020B0604030504040204" pitchFamily="50" charset="-128"/>
              </a:rPr>
              <a:t>末</a:t>
            </a:r>
            <a:br>
              <a:rPr kumimoji="1" lang="en-US" altLang="ja-JP" sz="1100">
                <a:solidFill>
                  <a:schemeClr val="tx1"/>
                </a:solidFill>
                <a:latin typeface="Meiryo UI" panose="020B0604030504040204" pitchFamily="50" charset="-128"/>
                <a:ea typeface="Meiryo UI" panose="020B0604030504040204" pitchFamily="50" charset="-128"/>
              </a:rPr>
            </a:br>
            <a:r>
              <a:rPr kumimoji="1" lang="ja-JP" altLang="en-US" sz="1100">
                <a:solidFill>
                  <a:schemeClr val="tx1"/>
                </a:solidFill>
                <a:latin typeface="Meiryo UI" panose="020B0604030504040204" pitchFamily="50" charset="-128"/>
                <a:ea typeface="Meiryo UI" panose="020B0604030504040204" pitchFamily="50" charset="-128"/>
              </a:rPr>
              <a:t>（</a:t>
            </a:r>
            <a:r>
              <a:rPr kumimoji="1" lang="en-US" altLang="ja-JP" sz="1100">
                <a:solidFill>
                  <a:schemeClr val="tx1"/>
                </a:solidFill>
                <a:latin typeface="Meiryo UI" panose="020B0604030504040204" pitchFamily="50" charset="-128"/>
                <a:ea typeface="Meiryo UI" panose="020B0604030504040204" pitchFamily="50" charset="-128"/>
              </a:rPr>
              <a:t>RFP</a:t>
            </a:r>
            <a:r>
              <a:rPr kumimoji="1" lang="ja-JP" altLang="en-US" sz="1100">
                <a:solidFill>
                  <a:schemeClr val="tx1"/>
                </a:solidFill>
                <a:latin typeface="Meiryo UI" panose="020B0604030504040204" pitchFamily="50" charset="-128"/>
                <a:ea typeface="Meiryo UI" panose="020B0604030504040204" pitchFamily="50" charset="-128"/>
              </a:rPr>
              <a:t>作成まで）</a:t>
            </a:r>
            <a:endParaRPr kumimoji="1" lang="en-US" altLang="ja-JP" sz="1100">
              <a:solidFill>
                <a:schemeClr val="tx1"/>
              </a:solidFill>
              <a:latin typeface="Meiryo UI" panose="020B0604030504040204" pitchFamily="50" charset="-128"/>
              <a:ea typeface="Meiryo UI" panose="020B0604030504040204" pitchFamily="50" charset="-128"/>
            </a:endParaRPr>
          </a:p>
        </p:txBody>
      </p:sp>
      <p:sp>
        <p:nvSpPr>
          <p:cNvPr id="41" name="フローチャート: 処理 40">
            <a:extLst>
              <a:ext uri="{FF2B5EF4-FFF2-40B4-BE49-F238E27FC236}">
                <a16:creationId xmlns:a16="http://schemas.microsoft.com/office/drawing/2014/main" id="{0747FECA-533C-5A6E-0E0A-F04B90620731}"/>
              </a:ext>
            </a:extLst>
          </p:cNvPr>
          <p:cNvSpPr/>
          <p:nvPr/>
        </p:nvSpPr>
        <p:spPr>
          <a:xfrm>
            <a:off x="3101757" y="4082760"/>
            <a:ext cx="1643229" cy="580253"/>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1100">
                <a:solidFill>
                  <a:schemeClr val="tx1"/>
                </a:solidFill>
                <a:latin typeface="Meiryo UI" panose="020B0604030504040204" pitchFamily="50" charset="-128"/>
                <a:ea typeface="Meiryo UI" panose="020B0604030504040204" pitchFamily="50" charset="-128"/>
              </a:rPr>
              <a:t>2025/6</a:t>
            </a:r>
            <a:r>
              <a:rPr kumimoji="1" lang="ja-JP" altLang="en-US" sz="1100">
                <a:solidFill>
                  <a:schemeClr val="tx1"/>
                </a:solidFill>
                <a:latin typeface="Meiryo UI" panose="020B0604030504040204" pitchFamily="50" charset="-128"/>
                <a:ea typeface="Meiryo UI" panose="020B0604030504040204" pitchFamily="50" charset="-128"/>
              </a:rPr>
              <a:t>～</a:t>
            </a:r>
            <a:r>
              <a:rPr kumimoji="1" lang="en-US" altLang="ja-JP" sz="1100">
                <a:solidFill>
                  <a:schemeClr val="tx1"/>
                </a:solidFill>
                <a:latin typeface="Meiryo UI" panose="020B0604030504040204" pitchFamily="50" charset="-128"/>
                <a:ea typeface="Meiryo UI" panose="020B0604030504040204" pitchFamily="50" charset="-128"/>
              </a:rPr>
              <a:t>2025/9</a:t>
            </a:r>
            <a:r>
              <a:rPr kumimoji="1" lang="ja-JP" altLang="en-US" sz="1100">
                <a:solidFill>
                  <a:schemeClr val="tx1"/>
                </a:solidFill>
                <a:latin typeface="Meiryo UI" panose="020B0604030504040204" pitchFamily="50" charset="-128"/>
                <a:ea typeface="Meiryo UI" panose="020B0604030504040204" pitchFamily="50" charset="-128"/>
              </a:rPr>
              <a:t>末</a:t>
            </a:r>
            <a:br>
              <a:rPr kumimoji="1" lang="en-US" altLang="ja-JP" sz="1100">
                <a:solidFill>
                  <a:schemeClr val="tx1"/>
                </a:solidFill>
                <a:latin typeface="Meiryo UI" panose="020B0604030504040204" pitchFamily="50" charset="-128"/>
                <a:ea typeface="Meiryo UI" panose="020B0604030504040204" pitchFamily="50" charset="-128"/>
              </a:rPr>
            </a:br>
            <a:r>
              <a:rPr kumimoji="1" lang="ja-JP" altLang="en-US" sz="1100">
                <a:solidFill>
                  <a:schemeClr val="tx1"/>
                </a:solidFill>
                <a:latin typeface="Meiryo UI" panose="020B0604030504040204" pitchFamily="50" charset="-128"/>
                <a:ea typeface="Meiryo UI" panose="020B0604030504040204" pitchFamily="50" charset="-128"/>
              </a:rPr>
              <a:t>（</a:t>
            </a:r>
            <a:r>
              <a:rPr kumimoji="1" lang="en-US" altLang="ja-JP" sz="1100">
                <a:solidFill>
                  <a:schemeClr val="tx1"/>
                </a:solidFill>
                <a:latin typeface="Meiryo UI" panose="020B0604030504040204" pitchFamily="50" charset="-128"/>
                <a:ea typeface="Meiryo UI" panose="020B0604030504040204" pitchFamily="50" charset="-128"/>
              </a:rPr>
              <a:t>RFP</a:t>
            </a:r>
            <a:r>
              <a:rPr kumimoji="1" lang="ja-JP" altLang="en-US" sz="1100">
                <a:solidFill>
                  <a:schemeClr val="tx1"/>
                </a:solidFill>
                <a:latin typeface="Meiryo UI" panose="020B0604030504040204" pitchFamily="50" charset="-128"/>
                <a:ea typeface="Meiryo UI" panose="020B0604030504040204" pitchFamily="50" charset="-128"/>
              </a:rPr>
              <a:t>作成まで）</a:t>
            </a:r>
            <a:endParaRPr kumimoji="1" lang="en-US" altLang="ja-JP" sz="1100">
              <a:solidFill>
                <a:schemeClr val="tx1"/>
              </a:solidFill>
              <a:latin typeface="Meiryo UI" panose="020B0604030504040204" pitchFamily="50" charset="-128"/>
              <a:ea typeface="Meiryo UI" panose="020B0604030504040204" pitchFamily="50" charset="-128"/>
            </a:endParaRPr>
          </a:p>
        </p:txBody>
      </p:sp>
      <p:sp>
        <p:nvSpPr>
          <p:cNvPr id="42" name="フローチャート: 処理 41">
            <a:extLst>
              <a:ext uri="{FF2B5EF4-FFF2-40B4-BE49-F238E27FC236}">
                <a16:creationId xmlns:a16="http://schemas.microsoft.com/office/drawing/2014/main" id="{F0A701F3-D796-749C-9F27-CB5A92652B88}"/>
              </a:ext>
            </a:extLst>
          </p:cNvPr>
          <p:cNvSpPr/>
          <p:nvPr/>
        </p:nvSpPr>
        <p:spPr>
          <a:xfrm>
            <a:off x="4755714" y="4082760"/>
            <a:ext cx="1643229" cy="580253"/>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1100">
                <a:solidFill>
                  <a:schemeClr val="tx1"/>
                </a:solidFill>
                <a:latin typeface="Meiryo UI" panose="020B0604030504040204" pitchFamily="50" charset="-128"/>
                <a:ea typeface="Meiryo UI" panose="020B0604030504040204" pitchFamily="50" charset="-128"/>
              </a:rPr>
              <a:t>2025/10</a:t>
            </a:r>
            <a:r>
              <a:rPr kumimoji="1" lang="ja-JP" altLang="en-US" sz="1100">
                <a:solidFill>
                  <a:schemeClr val="tx1"/>
                </a:solidFill>
                <a:latin typeface="Meiryo UI" panose="020B0604030504040204" pitchFamily="50" charset="-128"/>
                <a:ea typeface="Meiryo UI" panose="020B0604030504040204" pitchFamily="50" charset="-128"/>
              </a:rPr>
              <a:t>～</a:t>
            </a:r>
            <a:r>
              <a:rPr kumimoji="1" lang="en-US" altLang="ja-JP" sz="1100">
                <a:solidFill>
                  <a:schemeClr val="tx1"/>
                </a:solidFill>
                <a:latin typeface="Meiryo UI" panose="020B0604030504040204" pitchFamily="50" charset="-128"/>
                <a:ea typeface="Meiryo UI" panose="020B0604030504040204" pitchFamily="50" charset="-128"/>
              </a:rPr>
              <a:t>2026/1</a:t>
            </a:r>
            <a:r>
              <a:rPr kumimoji="1" lang="ja-JP" altLang="en-US" sz="1100">
                <a:solidFill>
                  <a:schemeClr val="tx1"/>
                </a:solidFill>
                <a:latin typeface="Meiryo UI" panose="020B0604030504040204" pitchFamily="50" charset="-128"/>
                <a:ea typeface="Meiryo UI" panose="020B0604030504040204" pitchFamily="50" charset="-128"/>
              </a:rPr>
              <a:t>末</a:t>
            </a:r>
            <a:endParaRPr kumimoji="1" lang="en-US" altLang="ja-JP" sz="1100">
              <a:solidFill>
                <a:schemeClr val="tx1"/>
              </a:solidFill>
              <a:latin typeface="Meiryo UI" panose="020B0604030504040204" pitchFamily="50" charset="-128"/>
              <a:ea typeface="Meiryo UI" panose="020B0604030504040204" pitchFamily="50" charset="-128"/>
            </a:endParaRPr>
          </a:p>
          <a:p>
            <a:pPr algn="ctr"/>
            <a:r>
              <a:rPr kumimoji="1" lang="ja-JP" altLang="en-US" sz="1100">
                <a:solidFill>
                  <a:schemeClr val="tx1"/>
                </a:solidFill>
                <a:latin typeface="Meiryo UI" panose="020B0604030504040204" pitchFamily="50" charset="-128"/>
                <a:ea typeface="Meiryo UI" panose="020B0604030504040204" pitchFamily="50" charset="-128"/>
              </a:rPr>
              <a:t>（システム設定・開発まで）</a:t>
            </a:r>
            <a:endParaRPr kumimoji="1" lang="en-US" altLang="ja-JP" sz="1100">
              <a:solidFill>
                <a:schemeClr val="tx1"/>
              </a:solidFill>
              <a:latin typeface="Meiryo UI" panose="020B0604030504040204" pitchFamily="50" charset="-128"/>
              <a:ea typeface="Meiryo UI" panose="020B0604030504040204" pitchFamily="50" charset="-128"/>
            </a:endParaRPr>
          </a:p>
        </p:txBody>
      </p:sp>
      <p:sp>
        <p:nvSpPr>
          <p:cNvPr id="43" name="フローチャート: 処理 42">
            <a:extLst>
              <a:ext uri="{FF2B5EF4-FFF2-40B4-BE49-F238E27FC236}">
                <a16:creationId xmlns:a16="http://schemas.microsoft.com/office/drawing/2014/main" id="{E50268FB-98AE-32DB-F4CE-4F6A451672FE}"/>
              </a:ext>
            </a:extLst>
          </p:cNvPr>
          <p:cNvSpPr/>
          <p:nvPr/>
        </p:nvSpPr>
        <p:spPr>
          <a:xfrm>
            <a:off x="6411368" y="4082760"/>
            <a:ext cx="1643229" cy="580253"/>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1100">
                <a:solidFill>
                  <a:schemeClr val="tx1"/>
                </a:solidFill>
                <a:latin typeface="Meiryo UI" panose="020B0604030504040204" pitchFamily="50" charset="-128"/>
                <a:ea typeface="Meiryo UI" panose="020B0604030504040204" pitchFamily="50" charset="-128"/>
              </a:rPr>
              <a:t>2025/10</a:t>
            </a:r>
            <a:r>
              <a:rPr kumimoji="1" lang="ja-JP" altLang="en-US" sz="1100">
                <a:solidFill>
                  <a:schemeClr val="tx1"/>
                </a:solidFill>
                <a:latin typeface="Meiryo UI" panose="020B0604030504040204" pitchFamily="50" charset="-128"/>
                <a:ea typeface="Meiryo UI" panose="020B0604030504040204" pitchFamily="50" charset="-128"/>
              </a:rPr>
              <a:t>～</a:t>
            </a:r>
            <a:r>
              <a:rPr kumimoji="1" lang="en-US" altLang="ja-JP" sz="1100">
                <a:solidFill>
                  <a:schemeClr val="tx1"/>
                </a:solidFill>
                <a:latin typeface="Meiryo UI" panose="020B0604030504040204" pitchFamily="50" charset="-128"/>
                <a:ea typeface="Meiryo UI" panose="020B0604030504040204" pitchFamily="50" charset="-128"/>
              </a:rPr>
              <a:t>2026/1</a:t>
            </a:r>
            <a:r>
              <a:rPr kumimoji="1" lang="ja-JP" altLang="en-US" sz="1100">
                <a:solidFill>
                  <a:schemeClr val="tx1"/>
                </a:solidFill>
                <a:latin typeface="Meiryo UI" panose="020B0604030504040204" pitchFamily="50" charset="-128"/>
                <a:ea typeface="Meiryo UI" panose="020B0604030504040204" pitchFamily="50" charset="-128"/>
              </a:rPr>
              <a:t>末</a:t>
            </a:r>
            <a:endParaRPr kumimoji="1" lang="en-US" altLang="ja-JP" sz="1100">
              <a:solidFill>
                <a:schemeClr val="tx1"/>
              </a:solidFill>
              <a:latin typeface="Meiryo UI" panose="020B0604030504040204" pitchFamily="50" charset="-128"/>
              <a:ea typeface="Meiryo UI" panose="020B0604030504040204" pitchFamily="50" charset="-128"/>
            </a:endParaRPr>
          </a:p>
          <a:p>
            <a:pPr algn="ctr"/>
            <a:r>
              <a:rPr kumimoji="1" lang="ja-JP" altLang="en-US" sz="1100">
                <a:solidFill>
                  <a:schemeClr val="tx1"/>
                </a:solidFill>
                <a:latin typeface="Meiryo UI" panose="020B0604030504040204" pitchFamily="50" charset="-128"/>
                <a:ea typeface="Meiryo UI" panose="020B0604030504040204" pitchFamily="50" charset="-128"/>
              </a:rPr>
              <a:t>（システム設定・開発まで）</a:t>
            </a:r>
            <a:endParaRPr kumimoji="1" lang="en-US" altLang="ja-JP" sz="1100">
              <a:solidFill>
                <a:schemeClr val="tx1"/>
              </a:solidFill>
              <a:latin typeface="Meiryo UI" panose="020B0604030504040204" pitchFamily="50" charset="-128"/>
              <a:ea typeface="Meiryo UI" panose="020B0604030504040204" pitchFamily="50" charset="-128"/>
            </a:endParaRPr>
          </a:p>
        </p:txBody>
      </p:sp>
      <p:sp>
        <p:nvSpPr>
          <p:cNvPr id="44" name="フローチャート: 処理 43">
            <a:extLst>
              <a:ext uri="{FF2B5EF4-FFF2-40B4-BE49-F238E27FC236}">
                <a16:creationId xmlns:a16="http://schemas.microsoft.com/office/drawing/2014/main" id="{5EA09DE0-2B14-EF15-1D33-2D1369AEA1E1}"/>
              </a:ext>
            </a:extLst>
          </p:cNvPr>
          <p:cNvSpPr/>
          <p:nvPr/>
        </p:nvSpPr>
        <p:spPr>
          <a:xfrm>
            <a:off x="1447799" y="5430103"/>
            <a:ext cx="1643229" cy="647052"/>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en-US" altLang="ja-JP" sz="1050">
                <a:solidFill>
                  <a:schemeClr val="tx1"/>
                </a:solidFill>
                <a:latin typeface="Meiryo UI" panose="020B0604030504040204" pitchFamily="50" charset="-128"/>
                <a:ea typeface="Meiryo UI" panose="020B0604030504040204" pitchFamily="50" charset="-128"/>
              </a:rPr>
              <a:t>RFP</a:t>
            </a:r>
            <a:r>
              <a:rPr kumimoji="1" lang="ja-JP" altLang="en-US" sz="1050">
                <a:solidFill>
                  <a:schemeClr val="tx1"/>
                </a:solidFill>
                <a:latin typeface="Meiryo UI" panose="020B0604030504040204" pitchFamily="50" charset="-128"/>
                <a:ea typeface="Meiryo UI" panose="020B0604030504040204" pitchFamily="50" charset="-128"/>
              </a:rPr>
              <a:t>作成時にシステム構成図・機能要求に影響</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45" name="フローチャート: 処理 44">
            <a:extLst>
              <a:ext uri="{FF2B5EF4-FFF2-40B4-BE49-F238E27FC236}">
                <a16:creationId xmlns:a16="http://schemas.microsoft.com/office/drawing/2014/main" id="{B48BE769-A8EA-451D-C03D-DF1B27406414}"/>
              </a:ext>
            </a:extLst>
          </p:cNvPr>
          <p:cNvSpPr/>
          <p:nvPr/>
        </p:nvSpPr>
        <p:spPr>
          <a:xfrm>
            <a:off x="3101757" y="5430103"/>
            <a:ext cx="1643229" cy="647052"/>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算定バウンダリーの違い等を</a:t>
            </a:r>
            <a:r>
              <a:rPr kumimoji="1" lang="en-US" altLang="ja-JP" sz="1050">
                <a:solidFill>
                  <a:schemeClr val="tx1"/>
                </a:solidFill>
                <a:latin typeface="Meiryo UI" panose="020B0604030504040204" pitchFamily="50" charset="-128"/>
                <a:ea typeface="Meiryo UI" panose="020B0604030504040204" pitchFamily="50" charset="-128"/>
              </a:rPr>
              <a:t>RFP</a:t>
            </a:r>
            <a:r>
              <a:rPr kumimoji="1" lang="ja-JP" altLang="en-US" sz="1050">
                <a:solidFill>
                  <a:schemeClr val="tx1"/>
                </a:solidFill>
                <a:latin typeface="Meiryo UI" panose="020B0604030504040204" pitchFamily="50" charset="-128"/>
                <a:ea typeface="Meiryo UI" panose="020B0604030504040204" pitchFamily="50" charset="-128"/>
              </a:rPr>
              <a:t>に記載</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46" name="フローチャート: 処理 45">
            <a:extLst>
              <a:ext uri="{FF2B5EF4-FFF2-40B4-BE49-F238E27FC236}">
                <a16:creationId xmlns:a16="http://schemas.microsoft.com/office/drawing/2014/main" id="{DDD109DA-F8B4-EC21-336E-451D8C70109D}"/>
              </a:ext>
            </a:extLst>
          </p:cNvPr>
          <p:cNvSpPr/>
          <p:nvPr/>
        </p:nvSpPr>
        <p:spPr>
          <a:xfrm>
            <a:off x="4755714" y="5430103"/>
            <a:ext cx="1643229" cy="647052"/>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システム要件定義でベンダーへの具体的な設定要求インプットとして利用</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48" name="フローチャート: 処理 47">
            <a:extLst>
              <a:ext uri="{FF2B5EF4-FFF2-40B4-BE49-F238E27FC236}">
                <a16:creationId xmlns:a16="http://schemas.microsoft.com/office/drawing/2014/main" id="{88200C53-21E0-27B1-A563-22DDC3B0AF41}"/>
              </a:ext>
            </a:extLst>
          </p:cNvPr>
          <p:cNvSpPr/>
          <p:nvPr/>
        </p:nvSpPr>
        <p:spPr>
          <a:xfrm>
            <a:off x="6411368" y="5430103"/>
            <a:ext cx="1643229" cy="647052"/>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marL="85725" indent="-85725">
              <a:buFont typeface="Wingdings" panose="05000000000000000000" pitchFamily="2" charset="2"/>
              <a:buChar char="n"/>
            </a:pPr>
            <a:r>
              <a:rPr kumimoji="1" lang="ja-JP" altLang="en-US" sz="1050">
                <a:solidFill>
                  <a:schemeClr val="tx1"/>
                </a:solidFill>
                <a:latin typeface="Meiryo UI" panose="020B0604030504040204" pitchFamily="50" charset="-128"/>
                <a:ea typeface="Meiryo UI" panose="020B0604030504040204" pitchFamily="50" charset="-128"/>
              </a:rPr>
              <a:t>東亜石油</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株</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からのデータ収集プロセス設計に利用</a:t>
            </a:r>
            <a:endParaRPr kumimoji="1" lang="en-US" altLang="ja-JP" sz="1050">
              <a:solidFill>
                <a:schemeClr val="tx1"/>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C6680CB5-F3B4-8A3D-47F3-2B3F490AE789}"/>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3094530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049E0-24C6-1818-946B-2795AEBC0D02}"/>
              </a:ext>
            </a:extLst>
          </p:cNvPr>
          <p:cNvSpPr>
            <a:spLocks noGrp="1"/>
          </p:cNvSpPr>
          <p:nvPr>
            <p:ph type="title"/>
          </p:nvPr>
        </p:nvSpPr>
        <p:spPr>
          <a:xfrm>
            <a:off x="1116000" y="3042380"/>
            <a:ext cx="7703999" cy="360000"/>
          </a:xfrm>
        </p:spPr>
        <p:txBody>
          <a:bodyPr/>
          <a:lstStyle/>
          <a:p>
            <a:r>
              <a:rPr kumimoji="1" lang="en-US" altLang="ja-JP" sz="2400">
                <a:latin typeface="Meiryo UI" panose="020B0604030504040204" pitchFamily="50" charset="-128"/>
                <a:ea typeface="Meiryo UI" panose="020B0604030504040204" pitchFamily="50" charset="-128"/>
              </a:rPr>
              <a:t>6. </a:t>
            </a:r>
            <a:r>
              <a:rPr kumimoji="1" lang="ja-JP" altLang="en-US" sz="2400">
                <a:latin typeface="Meiryo UI" panose="020B0604030504040204" pitchFamily="50" charset="-128"/>
                <a:ea typeface="Meiryo UI" panose="020B0604030504040204" pitchFamily="50" charset="-128"/>
              </a:rPr>
              <a:t>新</a:t>
            </a:r>
            <a:r>
              <a:rPr kumimoji="1" lang="en-US" altLang="ja-JP" sz="2400">
                <a:latin typeface="Meiryo UI" panose="020B0604030504040204" pitchFamily="50" charset="-128"/>
                <a:ea typeface="Meiryo UI" panose="020B0604030504040204" pitchFamily="50" charset="-128"/>
              </a:rPr>
              <a:t>ESG</a:t>
            </a:r>
            <a:r>
              <a:rPr kumimoji="1" lang="ja-JP" altLang="en-US" sz="2400">
                <a:latin typeface="Meiryo UI" panose="020B0604030504040204" pitchFamily="50" charset="-128"/>
                <a:ea typeface="Meiryo UI" panose="020B0604030504040204" pitchFamily="50" charset="-128"/>
              </a:rPr>
              <a:t>システムにおける機能要求・非機能要求</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3DB55F1-1B8C-13AB-1DBE-1F30F08B6A0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32</a:t>
            </a:fld>
            <a:endParaRPr kumimoji="1" lang="ja-JP" altLang="en-US">
              <a:latin typeface="Meiryo UI" panose="020B0604030504040204" pitchFamily="50" charset="-128"/>
              <a:ea typeface="Meiryo UI" panose="020B0604030504040204" pitchFamily="50" charset="-128"/>
            </a:endParaRPr>
          </a:p>
        </p:txBody>
      </p:sp>
      <p:sp>
        <p:nvSpPr>
          <p:cNvPr id="4" name="四角形: 角を丸くする 3">
            <a:extLst>
              <a:ext uri="{FF2B5EF4-FFF2-40B4-BE49-F238E27FC236}">
                <a16:creationId xmlns:a16="http://schemas.microsoft.com/office/drawing/2014/main" id="{58381704-545C-0D5E-C5CE-D7632086A89D}"/>
              </a:ext>
            </a:extLst>
          </p:cNvPr>
          <p:cNvSpPr/>
          <p:nvPr/>
        </p:nvSpPr>
        <p:spPr>
          <a:xfrm>
            <a:off x="1116000" y="3721037"/>
            <a:ext cx="2138372" cy="360000"/>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Excel</a:t>
            </a:r>
            <a:r>
              <a:rPr kumimoji="1" lang="ja-JP" altLang="en-US" sz="1400">
                <a:solidFill>
                  <a:schemeClr val="tx1"/>
                </a:solidFill>
                <a:latin typeface="Meiryo UI" panose="020B0604030504040204" pitchFamily="50" charset="-128"/>
                <a:ea typeface="Meiryo UI" panose="020B0604030504040204" pitchFamily="50" charset="-128"/>
              </a:rPr>
              <a:t>参照</a:t>
            </a:r>
          </a:p>
        </p:txBody>
      </p:sp>
    </p:spTree>
    <p:extLst>
      <p:ext uri="{BB962C8B-B14F-4D97-AF65-F5344CB8AC3E}">
        <p14:creationId xmlns:p14="http://schemas.microsoft.com/office/powerpoint/2010/main" val="4144135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B2F39-FA0D-30F0-06F3-6F3FB62FA008}"/>
              </a:ext>
            </a:extLst>
          </p:cNvPr>
          <p:cNvSpPr>
            <a:spLocks noGrp="1"/>
          </p:cNvSpPr>
          <p:nvPr>
            <p:ph type="title"/>
          </p:nvPr>
        </p:nvSpPr>
        <p:spPr>
          <a:xfrm>
            <a:off x="1116000" y="3069000"/>
            <a:ext cx="7703999" cy="360000"/>
          </a:xfrm>
        </p:spPr>
        <p:txBody>
          <a:bodyPr/>
          <a:lstStyle/>
          <a:p>
            <a:r>
              <a:rPr kumimoji="1" lang="en-US" altLang="ja-JP" sz="2400">
                <a:latin typeface="Meiryo UI" panose="020B0604030504040204" pitchFamily="50" charset="-128"/>
                <a:ea typeface="Meiryo UI" panose="020B0604030504040204" pitchFamily="50" charset="-128"/>
              </a:rPr>
              <a:t>7. RFP</a:t>
            </a:r>
            <a:r>
              <a:rPr kumimoji="1" lang="ja-JP" altLang="en-US" sz="2400">
                <a:latin typeface="Meiryo UI" panose="020B0604030504040204" pitchFamily="50" charset="-128"/>
                <a:ea typeface="Meiryo UI" panose="020B0604030504040204" pitchFamily="50" charset="-128"/>
              </a:rPr>
              <a:t>提出先候補ソリューション</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AB3970A0-E589-7DEB-2D40-3A3A25F2B779}"/>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33</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056617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5EBCD4EB-69D6-6C39-9C49-4D2AB8BF16A0}"/>
              </a:ext>
            </a:extLst>
          </p:cNvPr>
          <p:cNvSpPr/>
          <p:nvPr/>
        </p:nvSpPr>
        <p:spPr>
          <a:xfrm>
            <a:off x="5829573" y="4719725"/>
            <a:ext cx="2588400" cy="10388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D57A8037-90EE-57AC-3B05-4658B789E04F}"/>
              </a:ext>
            </a:extLst>
          </p:cNvPr>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対象ベンダーの絞り込み（案）</a:t>
            </a:r>
          </a:p>
        </p:txBody>
      </p:sp>
      <p:sp>
        <p:nvSpPr>
          <p:cNvPr id="3" name="スライド番号プレースホルダー 2">
            <a:extLst>
              <a:ext uri="{FF2B5EF4-FFF2-40B4-BE49-F238E27FC236}">
                <a16:creationId xmlns:a16="http://schemas.microsoft.com/office/drawing/2014/main" id="{E6307168-AE57-AFBF-4B60-6F6E94773EA4}"/>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34</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87AD2B25-4F95-135B-1695-C812315C3D25}"/>
              </a:ext>
            </a:extLst>
          </p:cNvPr>
          <p:cNvSpPr>
            <a:spLocks noGrp="1"/>
          </p:cNvSpPr>
          <p:nvPr>
            <p:ph type="body" sz="quarter" idx="13"/>
          </p:nvPr>
        </p:nvSpPr>
        <p:spPr/>
        <p:txBody>
          <a:bodyPr>
            <a:noAutofit/>
          </a:bodyPr>
          <a:lstStyle/>
          <a:p>
            <a:r>
              <a:rPr lang="ja-JP" altLang="en-US"/>
              <a:t>各調査レポートで</a:t>
            </a:r>
            <a:r>
              <a:rPr lang="en-US" altLang="ja-JP"/>
              <a:t>Leader</a:t>
            </a:r>
            <a:r>
              <a:rPr lang="ja-JP" altLang="en-US"/>
              <a:t>格を抽出し、日本法人や導入パートナーが日本にあるベンダーを抽出し、さらに他社が</a:t>
            </a:r>
            <a:r>
              <a:rPr lang="en-US" altLang="ja-JP"/>
              <a:t>RFP</a:t>
            </a:r>
            <a:r>
              <a:rPr lang="ja-JP" altLang="en-US"/>
              <a:t>を提出しているベンダーを抽出。また、現在利用している</a:t>
            </a:r>
            <a:r>
              <a:rPr lang="en-US" altLang="ja-JP"/>
              <a:t>NEC</a:t>
            </a:r>
            <a:r>
              <a:rPr lang="ja-JP" altLang="en-US"/>
              <a:t>社（</a:t>
            </a:r>
            <a:r>
              <a:rPr lang="en-US" altLang="ja-JP"/>
              <a:t>GGX</a:t>
            </a:r>
            <a:r>
              <a:rPr lang="ja-JP" altLang="en-US"/>
              <a:t>）には、</a:t>
            </a:r>
            <a:r>
              <a:rPr lang="en-US" altLang="ja-JP"/>
              <a:t>RFP</a:t>
            </a:r>
            <a:r>
              <a:rPr lang="ja-JP" altLang="en-US"/>
              <a:t>候補先として加える方針とする</a:t>
            </a:r>
          </a:p>
        </p:txBody>
      </p:sp>
      <p:grpSp>
        <p:nvGrpSpPr>
          <p:cNvPr id="5" name="グループ化 4">
            <a:extLst>
              <a:ext uri="{FF2B5EF4-FFF2-40B4-BE49-F238E27FC236}">
                <a16:creationId xmlns:a16="http://schemas.microsoft.com/office/drawing/2014/main" id="{1533451A-5ABE-92EC-6E34-D9CFA8D31033}"/>
              </a:ext>
            </a:extLst>
          </p:cNvPr>
          <p:cNvGrpSpPr>
            <a:grpSpLocks noChangeAspect="1"/>
          </p:cNvGrpSpPr>
          <p:nvPr/>
        </p:nvGrpSpPr>
        <p:grpSpPr bwMode="gray">
          <a:xfrm>
            <a:off x="443929" y="1556574"/>
            <a:ext cx="8304535" cy="4212936"/>
            <a:chOff x="1735003" y="1898730"/>
            <a:chExt cx="8761363" cy="4662779"/>
          </a:xfrm>
        </p:grpSpPr>
        <p:grpSp>
          <p:nvGrpSpPr>
            <p:cNvPr id="7" name="グループ化 11">
              <a:extLst>
                <a:ext uri="{FF2B5EF4-FFF2-40B4-BE49-F238E27FC236}">
                  <a16:creationId xmlns:a16="http://schemas.microsoft.com/office/drawing/2014/main" id="{233920A3-6A36-41B4-CE9F-D33107DA58D4}"/>
                </a:ext>
              </a:extLst>
            </p:cNvPr>
            <p:cNvGrpSpPr/>
            <p:nvPr/>
          </p:nvGrpSpPr>
          <p:grpSpPr bwMode="gray">
            <a:xfrm rot="5400000">
              <a:off x="7681837" y="2381496"/>
              <a:ext cx="2425057" cy="3204001"/>
              <a:chOff x="294137" y="2348039"/>
              <a:chExt cx="4474347" cy="4039158"/>
            </a:xfrm>
            <a:solidFill>
              <a:srgbClr val="8C8C8C"/>
            </a:solidFill>
          </p:grpSpPr>
          <p:sp>
            <p:nvSpPr>
              <p:cNvPr id="19" name="台形 18">
                <a:extLst>
                  <a:ext uri="{FF2B5EF4-FFF2-40B4-BE49-F238E27FC236}">
                    <a16:creationId xmlns:a16="http://schemas.microsoft.com/office/drawing/2014/main" id="{F47F2A14-6C12-78B2-C5DF-D39AC63D927F}"/>
                  </a:ext>
                </a:extLst>
              </p:cNvPr>
              <p:cNvSpPr/>
              <p:nvPr/>
            </p:nvSpPr>
            <p:spPr bwMode="gray">
              <a:xfrm>
                <a:off x="294137" y="2879652"/>
                <a:ext cx="4474347" cy="3507545"/>
              </a:xfrm>
              <a:prstGeom prst="trapezoid">
                <a:avLst>
                  <a:gd name="adj" fmla="val 11770"/>
                </a:avLst>
              </a:prstGeom>
              <a:solidFill>
                <a:srgbClr val="97999B"/>
              </a:solidFill>
              <a:ln w="12700" cap="rnd" algn="ctr">
                <a:solidFill>
                  <a:srgbClr val="97999B"/>
                </a:solidFill>
                <a:miter lim="800000"/>
                <a:headEnd/>
                <a:tailEnd/>
              </a:ln>
            </p:spPr>
            <p:txBody>
              <a:bodyPr lIns="137160" rtlCol="0" anchor="ctr" anchorCtr="1"/>
              <a:lstStyle/>
              <a:p>
                <a:pPr algn="ctr" eaLnBrk="0" hangingPunct="0">
                  <a:lnSpc>
                    <a:spcPct val="106000"/>
                  </a:lnSpc>
                </a:pPr>
                <a:endParaRPr lang="ja-JP" altLang="en-US" sz="1200" b="1">
                  <a:solidFill>
                    <a:prstClr val="white"/>
                  </a:solidFill>
                  <a:latin typeface="Meiryo UI" panose="020B0604030504040204" pitchFamily="50" charset="-128"/>
                  <a:ea typeface="Meiryo UI" panose="020B0604030504040204" pitchFamily="50" charset="-128"/>
                  <a:sym typeface="+mn-lt"/>
                </a:endParaRPr>
              </a:p>
            </p:txBody>
          </p:sp>
          <p:sp>
            <p:nvSpPr>
              <p:cNvPr id="20" name="二等辺三角形 19">
                <a:extLst>
                  <a:ext uri="{FF2B5EF4-FFF2-40B4-BE49-F238E27FC236}">
                    <a16:creationId xmlns:a16="http://schemas.microsoft.com/office/drawing/2014/main" id="{FF2A65BA-4297-D911-E1DE-9F10CD94BCF9}"/>
                  </a:ext>
                </a:extLst>
              </p:cNvPr>
              <p:cNvSpPr/>
              <p:nvPr/>
            </p:nvSpPr>
            <p:spPr bwMode="gray">
              <a:xfrm>
                <a:off x="335310" y="2348040"/>
                <a:ext cx="4391999" cy="536491"/>
              </a:xfrm>
              <a:prstGeom prst="triangle">
                <a:avLst/>
              </a:prstGeom>
              <a:solidFill>
                <a:srgbClr val="97999B"/>
              </a:solidFill>
              <a:ln w="12700" cap="rnd" algn="ctr">
                <a:solidFill>
                  <a:srgbClr val="97999B"/>
                </a:solidFill>
                <a:miter lim="800000"/>
                <a:headEnd/>
                <a:tailEnd/>
              </a:ln>
            </p:spPr>
            <p:txBody>
              <a:bodyPr lIns="137160" rtlCol="0" anchor="ctr" anchorCtr="1"/>
              <a:lstStyle/>
              <a:p>
                <a:pPr algn="ctr" eaLnBrk="0" hangingPunct="0">
                  <a:lnSpc>
                    <a:spcPct val="106000"/>
                  </a:lnSpc>
                </a:pPr>
                <a:endParaRPr lang="ja-JP" altLang="en-US" sz="1200" b="1">
                  <a:solidFill>
                    <a:prstClr val="white"/>
                  </a:solidFill>
                  <a:latin typeface="Meiryo UI" panose="020B0604030504040204" pitchFamily="50" charset="-128"/>
                  <a:ea typeface="Meiryo UI" panose="020B0604030504040204" pitchFamily="50" charset="-128"/>
                  <a:sym typeface="+mn-lt"/>
                </a:endParaRPr>
              </a:p>
            </p:txBody>
          </p:sp>
        </p:grpSp>
        <p:grpSp>
          <p:nvGrpSpPr>
            <p:cNvPr id="16" name="グループ化 8">
              <a:extLst>
                <a:ext uri="{FF2B5EF4-FFF2-40B4-BE49-F238E27FC236}">
                  <a16:creationId xmlns:a16="http://schemas.microsoft.com/office/drawing/2014/main" id="{7B2BB87B-CCA1-372A-431C-50FBF65041E9}"/>
                </a:ext>
              </a:extLst>
            </p:cNvPr>
            <p:cNvGrpSpPr/>
            <p:nvPr/>
          </p:nvGrpSpPr>
          <p:grpSpPr bwMode="gray">
            <a:xfrm rot="5400000">
              <a:off x="4561344" y="2377367"/>
              <a:ext cx="3074016" cy="3204000"/>
              <a:chOff x="294138" y="2359824"/>
              <a:chExt cx="4474347" cy="4027373"/>
            </a:xfrm>
            <a:solidFill>
              <a:srgbClr val="575757"/>
            </a:solidFill>
          </p:grpSpPr>
          <p:sp>
            <p:nvSpPr>
              <p:cNvPr id="17" name="台形 16">
                <a:extLst>
                  <a:ext uri="{FF2B5EF4-FFF2-40B4-BE49-F238E27FC236}">
                    <a16:creationId xmlns:a16="http://schemas.microsoft.com/office/drawing/2014/main" id="{D3288D5E-6477-2EDC-8678-5A251F2CD015}"/>
                  </a:ext>
                </a:extLst>
              </p:cNvPr>
              <p:cNvSpPr/>
              <p:nvPr/>
            </p:nvSpPr>
            <p:spPr bwMode="gray">
              <a:xfrm>
                <a:off x="294138" y="2879652"/>
                <a:ext cx="4474347" cy="3507545"/>
              </a:xfrm>
              <a:prstGeom prst="trapezoid">
                <a:avLst>
                  <a:gd name="adj" fmla="val 12011"/>
                </a:avLst>
              </a:prstGeom>
              <a:solidFill>
                <a:srgbClr val="75787B"/>
              </a:solidFill>
              <a:ln w="12700" cap="rnd" algn="ctr">
                <a:solidFill>
                  <a:srgbClr val="75787B"/>
                </a:solidFill>
                <a:miter lim="800000"/>
                <a:headEnd/>
                <a:tailEnd/>
              </a:ln>
            </p:spPr>
            <p:txBody>
              <a:bodyPr lIns="137160" rtlCol="0" anchor="ctr" anchorCtr="1"/>
              <a:lstStyle/>
              <a:p>
                <a:pPr algn="ctr" eaLnBrk="0" hangingPunct="0">
                  <a:lnSpc>
                    <a:spcPct val="106000"/>
                  </a:lnSpc>
                </a:pPr>
                <a:endParaRPr lang="ja-JP" altLang="en-US" sz="1200" b="1">
                  <a:solidFill>
                    <a:prstClr val="white"/>
                  </a:solidFill>
                  <a:latin typeface="Meiryo UI" panose="020B0604030504040204" pitchFamily="50" charset="-128"/>
                  <a:ea typeface="Meiryo UI" panose="020B0604030504040204" pitchFamily="50" charset="-128"/>
                  <a:sym typeface="+mn-lt"/>
                </a:endParaRPr>
              </a:p>
            </p:txBody>
          </p:sp>
          <p:sp>
            <p:nvSpPr>
              <p:cNvPr id="18" name="二等辺三角形 17">
                <a:extLst>
                  <a:ext uri="{FF2B5EF4-FFF2-40B4-BE49-F238E27FC236}">
                    <a16:creationId xmlns:a16="http://schemas.microsoft.com/office/drawing/2014/main" id="{E52FF58C-B924-30A4-DC82-A61226AAFAE6}"/>
                  </a:ext>
                </a:extLst>
              </p:cNvPr>
              <p:cNvSpPr/>
              <p:nvPr/>
            </p:nvSpPr>
            <p:spPr bwMode="gray">
              <a:xfrm>
                <a:off x="335308" y="2359824"/>
                <a:ext cx="4392000" cy="520799"/>
              </a:xfrm>
              <a:prstGeom prst="triangle">
                <a:avLst/>
              </a:prstGeom>
              <a:solidFill>
                <a:srgbClr val="75787B"/>
              </a:solidFill>
              <a:ln w="12700" cap="rnd" algn="ctr">
                <a:solidFill>
                  <a:srgbClr val="75787B"/>
                </a:solidFill>
                <a:miter lim="800000"/>
                <a:headEnd/>
                <a:tailEnd/>
              </a:ln>
            </p:spPr>
            <p:txBody>
              <a:bodyPr lIns="137160" rtlCol="0" anchor="ctr" anchorCtr="1"/>
              <a:lstStyle/>
              <a:p>
                <a:pPr algn="ctr" eaLnBrk="0" hangingPunct="0">
                  <a:lnSpc>
                    <a:spcPct val="106000"/>
                  </a:lnSpc>
                </a:pPr>
                <a:endParaRPr lang="ja-JP" altLang="en-US" sz="1200" b="1">
                  <a:solidFill>
                    <a:prstClr val="white"/>
                  </a:solidFill>
                  <a:latin typeface="Meiryo UI" panose="020B0604030504040204" pitchFamily="50" charset="-128"/>
                  <a:ea typeface="Meiryo UI" panose="020B0604030504040204" pitchFamily="50" charset="-128"/>
                  <a:sym typeface="+mn-lt"/>
                </a:endParaRPr>
              </a:p>
            </p:txBody>
          </p:sp>
        </p:grpSp>
        <p:sp>
          <p:nvSpPr>
            <p:cNvPr id="9" name="テキスト ボックス 8">
              <a:extLst>
                <a:ext uri="{FF2B5EF4-FFF2-40B4-BE49-F238E27FC236}">
                  <a16:creationId xmlns:a16="http://schemas.microsoft.com/office/drawing/2014/main" id="{42F509FC-E066-9C2B-A1C8-5C3CFEF6DBF3}"/>
                </a:ext>
              </a:extLst>
            </p:cNvPr>
            <p:cNvSpPr txBox="1"/>
            <p:nvPr/>
          </p:nvSpPr>
          <p:spPr bwMode="gray">
            <a:xfrm>
              <a:off x="4811557" y="2842096"/>
              <a:ext cx="2678366" cy="2563289"/>
            </a:xfrm>
            <a:prstGeom prst="rect">
              <a:avLst/>
            </a:prstGeom>
            <a:noFill/>
            <a:ln w="9525">
              <a:noFill/>
              <a:miter lim="800000"/>
              <a:headEnd/>
              <a:tailEnd/>
            </a:ln>
          </p:spPr>
          <p:txBody>
            <a:bodyPr wrap="square" lIns="27000" tIns="27000" rIns="27000" bIns="27000" rtlCol="0" anchor="ctr" anchorCtr="0">
              <a:noAutofit/>
            </a:bodyPr>
            <a:lstStyle/>
            <a:p>
              <a:pPr eaLnBrk="0" hangingPunct="0">
                <a:spcAft>
                  <a:spcPts val="900"/>
                </a:spcAft>
              </a:pPr>
              <a:r>
                <a:rPr lang="ja-JP" altLang="en-US" sz="1200" b="1" u="sng">
                  <a:solidFill>
                    <a:schemeClr val="bg1"/>
                  </a:solidFill>
                  <a:latin typeface="Meiryo UI" panose="020B0604030504040204" pitchFamily="50" charset="-128"/>
                  <a:ea typeface="Meiryo UI" panose="020B0604030504040204" pitchFamily="50" charset="-128"/>
                  <a:sym typeface="+mn-lt"/>
                </a:rPr>
                <a:t>日本法人あり </a:t>
              </a:r>
              <a:r>
                <a:rPr lang="en-US" altLang="ja-JP" sz="1200" b="1" u="sng">
                  <a:solidFill>
                    <a:schemeClr val="bg1"/>
                  </a:solidFill>
                  <a:latin typeface="Meiryo UI" panose="020B0604030504040204" pitchFamily="50" charset="-128"/>
                  <a:ea typeface="Meiryo UI" panose="020B0604030504040204" pitchFamily="50" charset="-128"/>
                  <a:sym typeface="+mn-lt"/>
                </a:rPr>
                <a:t>/ </a:t>
              </a:r>
              <a:r>
                <a:rPr lang="ja-JP" altLang="en-US" sz="1200" b="1" u="sng">
                  <a:solidFill>
                    <a:schemeClr val="bg1"/>
                  </a:solidFill>
                  <a:latin typeface="Meiryo UI" panose="020B0604030504040204" pitchFamily="50" charset="-128"/>
                  <a:ea typeface="Meiryo UI" panose="020B0604030504040204" pitchFamily="50" charset="-128"/>
                  <a:sym typeface="+mn-lt"/>
                </a:rPr>
                <a:t>国内ベンダー対応可能</a:t>
              </a:r>
            </a:p>
            <a:p>
              <a:pPr eaLnBrk="0" hangingPunct="0">
                <a:spcAft>
                  <a:spcPts val="900"/>
                </a:spcAft>
              </a:pPr>
              <a:r>
                <a:rPr lang="en-US" altLang="ja-JP" sz="1200">
                  <a:solidFill>
                    <a:schemeClr val="bg1"/>
                  </a:solidFill>
                  <a:latin typeface="Meiryo UI" panose="020B0604030504040204" pitchFamily="50" charset="-128"/>
                  <a:ea typeface="Meiryo UI" panose="020B0604030504040204" pitchFamily="50" charset="-128"/>
                  <a:sym typeface="+mn-lt"/>
                </a:rPr>
                <a:t>Leader</a:t>
              </a:r>
              <a:r>
                <a:rPr lang="ja-JP" altLang="en-US" sz="1200">
                  <a:solidFill>
                    <a:schemeClr val="bg1"/>
                  </a:solidFill>
                  <a:latin typeface="Meiryo UI" panose="020B0604030504040204" pitchFamily="50" charset="-128"/>
                  <a:ea typeface="Meiryo UI" panose="020B0604030504040204" pitchFamily="50" charset="-128"/>
                  <a:sym typeface="+mn-lt"/>
                </a:rPr>
                <a:t>格として評価された上で、日本国内に法人を持つ、もしくは国内にパートナーシップを締結している導入ベンダーを持つソリューションを抽出</a:t>
              </a:r>
            </a:p>
            <a:p>
              <a:pPr marL="213300" indent="-213300" eaLnBrk="0" hangingPunct="0">
                <a:lnSpc>
                  <a:spcPct val="106000"/>
                </a:lnSpc>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IBM</a:t>
              </a:r>
            </a:p>
            <a:p>
              <a:pPr marL="213300" indent="-213300" eaLnBrk="0" hangingPunct="0">
                <a:lnSpc>
                  <a:spcPct val="106000"/>
                </a:lnSpc>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Salesforce</a:t>
              </a:r>
            </a:p>
            <a:p>
              <a:pPr marL="213300" indent="-213300" eaLnBrk="0" hangingPunct="0">
                <a:lnSpc>
                  <a:spcPct val="106000"/>
                </a:lnSpc>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ServiceNow</a:t>
              </a:r>
            </a:p>
            <a:p>
              <a:pPr marL="213300" indent="-213300" eaLnBrk="0" hangingPunct="0">
                <a:lnSpc>
                  <a:spcPct val="106000"/>
                </a:lnSpc>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UL Solutions</a:t>
              </a:r>
            </a:p>
            <a:p>
              <a:pPr marL="213300" indent="-213300" eaLnBrk="0" hangingPunct="0">
                <a:lnSpc>
                  <a:spcPct val="106000"/>
                </a:lnSpc>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Wolters Kluwer</a:t>
              </a:r>
              <a:r>
                <a:rPr lang="en-US" altLang="ja-JP" sz="1200" baseline="30000">
                  <a:solidFill>
                    <a:prstClr val="white"/>
                  </a:solidFill>
                  <a:latin typeface="Meiryo UI" panose="020B0604030504040204" pitchFamily="50" charset="-128"/>
                  <a:ea typeface="Meiryo UI" panose="020B0604030504040204" pitchFamily="50" charset="-128"/>
                  <a:sym typeface="+mn-lt"/>
                </a:rPr>
                <a:t>※2</a:t>
              </a:r>
            </a:p>
            <a:p>
              <a:pPr marL="213300" indent="-213300" eaLnBrk="0" hangingPunct="0">
                <a:lnSpc>
                  <a:spcPct val="106000"/>
                </a:lnSpc>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Workiva</a:t>
              </a:r>
            </a:p>
          </p:txBody>
        </p:sp>
        <p:sp>
          <p:nvSpPr>
            <p:cNvPr id="10" name="テキスト ボックス 9">
              <a:extLst>
                <a:ext uri="{FF2B5EF4-FFF2-40B4-BE49-F238E27FC236}">
                  <a16:creationId xmlns:a16="http://schemas.microsoft.com/office/drawing/2014/main" id="{86B7449E-00FD-635F-3DCE-F5E30797F974}"/>
                </a:ext>
              </a:extLst>
            </p:cNvPr>
            <p:cNvSpPr txBox="1"/>
            <p:nvPr/>
          </p:nvSpPr>
          <p:spPr bwMode="gray">
            <a:xfrm>
              <a:off x="7716901" y="3157131"/>
              <a:ext cx="2584634" cy="1793692"/>
            </a:xfrm>
            <a:prstGeom prst="rect">
              <a:avLst/>
            </a:prstGeom>
            <a:noFill/>
            <a:ln w="9525">
              <a:noFill/>
              <a:miter lim="800000"/>
              <a:headEnd/>
              <a:tailEnd/>
            </a:ln>
          </p:spPr>
          <p:txBody>
            <a:bodyPr wrap="square" lIns="27000" tIns="27000" rIns="27000" bIns="27000" rtlCol="0" anchor="ctr" anchorCtr="0">
              <a:noAutofit/>
            </a:bodyPr>
            <a:lstStyle/>
            <a:p>
              <a:pPr eaLnBrk="0" hangingPunct="0">
                <a:spcAft>
                  <a:spcPts val="900"/>
                </a:spcAft>
              </a:pPr>
              <a:r>
                <a:rPr lang="ja-JP" altLang="en-US" sz="1200" b="1" u="sng">
                  <a:solidFill>
                    <a:schemeClr val="bg1"/>
                  </a:solidFill>
                  <a:latin typeface="Meiryo UI" panose="020B0604030504040204" pitchFamily="50" charset="-128"/>
                  <a:ea typeface="Meiryo UI" panose="020B0604030504040204" pitchFamily="50" charset="-128"/>
                  <a:sym typeface="+mn-lt"/>
                </a:rPr>
                <a:t>ショートリスト（</a:t>
              </a:r>
              <a:r>
                <a:rPr lang="en-US" altLang="ja-JP" sz="1200" b="1" u="sng">
                  <a:solidFill>
                    <a:schemeClr val="bg1"/>
                  </a:solidFill>
                  <a:latin typeface="Meiryo UI" panose="020B0604030504040204" pitchFamily="50" charset="-128"/>
                  <a:ea typeface="Meiryo UI" panose="020B0604030504040204" pitchFamily="50" charset="-128"/>
                  <a:sym typeface="+mn-lt"/>
                </a:rPr>
                <a:t>RFP</a:t>
              </a:r>
              <a:r>
                <a:rPr lang="ja-JP" altLang="en-US" sz="1200" b="1" u="sng">
                  <a:solidFill>
                    <a:schemeClr val="bg1"/>
                  </a:solidFill>
                  <a:latin typeface="Meiryo UI" panose="020B0604030504040204" pitchFamily="50" charset="-128"/>
                  <a:ea typeface="Meiryo UI" panose="020B0604030504040204" pitchFamily="50" charset="-128"/>
                  <a:sym typeface="+mn-lt"/>
                </a:rPr>
                <a:t>提出先候補）</a:t>
              </a:r>
            </a:p>
            <a:p>
              <a:pPr eaLnBrk="0" hangingPunct="0">
                <a:spcAft>
                  <a:spcPts val="900"/>
                </a:spcAft>
              </a:pPr>
              <a:r>
                <a:rPr lang="ja-JP" altLang="en-US" sz="1200">
                  <a:solidFill>
                    <a:schemeClr val="bg1"/>
                  </a:solidFill>
                  <a:latin typeface="Meiryo UI" panose="020B0604030504040204" pitchFamily="50" charset="-128"/>
                  <a:ea typeface="Meiryo UI" panose="020B0604030504040204" pitchFamily="50" charset="-128"/>
                  <a:sym typeface="+mn-lt"/>
                </a:rPr>
                <a:t>さらに、他社が</a:t>
              </a:r>
              <a:r>
                <a:rPr lang="en-US" altLang="ja-JP" sz="1200">
                  <a:solidFill>
                    <a:schemeClr val="bg1"/>
                  </a:solidFill>
                  <a:latin typeface="Meiryo UI" panose="020B0604030504040204" pitchFamily="50" charset="-128"/>
                  <a:ea typeface="Meiryo UI" panose="020B0604030504040204" pitchFamily="50" charset="-128"/>
                  <a:sym typeface="+mn-lt"/>
                </a:rPr>
                <a:t>SSBJ(ISSB/CSRD</a:t>
              </a:r>
              <a:r>
                <a:rPr lang="ja-JP" altLang="en-US" sz="1200">
                  <a:solidFill>
                    <a:schemeClr val="bg1"/>
                  </a:solidFill>
                  <a:latin typeface="Meiryo UI" panose="020B0604030504040204" pitchFamily="50" charset="-128"/>
                  <a:ea typeface="Meiryo UI" panose="020B0604030504040204" pitchFamily="50" charset="-128"/>
                  <a:sym typeface="+mn-lt"/>
                </a:rPr>
                <a:t>含む</a:t>
              </a:r>
              <a:r>
                <a:rPr lang="en-US" altLang="ja-JP" sz="1200">
                  <a:solidFill>
                    <a:schemeClr val="bg1"/>
                  </a:solidFill>
                  <a:latin typeface="Meiryo UI" panose="020B0604030504040204" pitchFamily="50" charset="-128"/>
                  <a:ea typeface="Meiryo UI" panose="020B0604030504040204" pitchFamily="50" charset="-128"/>
                  <a:sym typeface="+mn-lt"/>
                </a:rPr>
                <a:t>)</a:t>
              </a:r>
              <a:r>
                <a:rPr lang="ja-JP" altLang="en-US" sz="1200">
                  <a:solidFill>
                    <a:schemeClr val="bg1"/>
                  </a:solidFill>
                  <a:latin typeface="Meiryo UI" panose="020B0604030504040204" pitchFamily="50" charset="-128"/>
                  <a:ea typeface="Meiryo UI" panose="020B0604030504040204" pitchFamily="50" charset="-128"/>
                  <a:sym typeface="+mn-lt"/>
                </a:rPr>
                <a:t>向け</a:t>
              </a:r>
              <a:r>
                <a:rPr lang="en-US" altLang="ja-JP" sz="1200">
                  <a:solidFill>
                    <a:schemeClr val="bg1"/>
                  </a:solidFill>
                  <a:latin typeface="Meiryo UI" panose="020B0604030504040204" pitchFamily="50" charset="-128"/>
                  <a:ea typeface="Meiryo UI" panose="020B0604030504040204" pitchFamily="50" charset="-128"/>
                  <a:sym typeface="+mn-lt"/>
                </a:rPr>
                <a:t>RFP</a:t>
              </a:r>
              <a:r>
                <a:rPr lang="ja-JP" altLang="en-US" sz="1200">
                  <a:solidFill>
                    <a:schemeClr val="bg1"/>
                  </a:solidFill>
                  <a:latin typeface="Meiryo UI" panose="020B0604030504040204" pitchFamily="50" charset="-128"/>
                  <a:ea typeface="Meiryo UI" panose="020B0604030504040204" pitchFamily="50" charset="-128"/>
                  <a:sym typeface="+mn-lt"/>
                </a:rPr>
                <a:t>を発出しているベンダーに加え、既存利用の</a:t>
              </a:r>
              <a:r>
                <a:rPr lang="en-US" altLang="ja-JP" sz="1200">
                  <a:solidFill>
                    <a:schemeClr val="bg1"/>
                  </a:solidFill>
                  <a:latin typeface="Meiryo UI" panose="020B0604030504040204" pitchFamily="50" charset="-128"/>
                  <a:ea typeface="Meiryo UI" panose="020B0604030504040204" pitchFamily="50" charset="-128"/>
                  <a:sym typeface="+mn-lt"/>
                </a:rPr>
                <a:t>NEC</a:t>
              </a:r>
              <a:r>
                <a:rPr lang="ja-JP" altLang="en-US" sz="1200">
                  <a:solidFill>
                    <a:schemeClr val="bg1"/>
                  </a:solidFill>
                  <a:latin typeface="Meiryo UI" panose="020B0604030504040204" pitchFamily="50" charset="-128"/>
                  <a:ea typeface="Meiryo UI" panose="020B0604030504040204" pitchFamily="50" charset="-128"/>
                  <a:sym typeface="+mn-lt"/>
                </a:rPr>
                <a:t>を抽出</a:t>
              </a:r>
            </a:p>
            <a:p>
              <a:pPr marL="213300" indent="-213300" eaLnBrk="0" hangingPunct="0">
                <a:lnSpc>
                  <a:spcPct val="106000"/>
                </a:lnSpc>
                <a:buFont typeface="Wingdings" pitchFamily="2" charset="2"/>
                <a:buChar char="n"/>
              </a:pPr>
              <a:r>
                <a:rPr lang="en-US" altLang="ja-JP" sz="1200">
                  <a:solidFill>
                    <a:schemeClr val="bg1"/>
                  </a:solidFill>
                  <a:latin typeface="Meiryo UI" panose="020B0604030504040204" pitchFamily="50" charset="-128"/>
                  <a:ea typeface="Meiryo UI" panose="020B0604030504040204" pitchFamily="50" charset="-128"/>
                  <a:sym typeface="+mn-lt"/>
                </a:rPr>
                <a:t>IBM</a:t>
              </a:r>
            </a:p>
            <a:p>
              <a:pPr marL="213300" indent="-213300" eaLnBrk="0" hangingPunct="0">
                <a:lnSpc>
                  <a:spcPct val="106000"/>
                </a:lnSpc>
                <a:buFont typeface="Wingdings" pitchFamily="2" charset="2"/>
                <a:buChar char="n"/>
              </a:pPr>
              <a:r>
                <a:rPr lang="en-US" altLang="ja-JP" sz="1200">
                  <a:solidFill>
                    <a:schemeClr val="bg1"/>
                  </a:solidFill>
                  <a:latin typeface="Meiryo UI" panose="020B0604030504040204" pitchFamily="50" charset="-128"/>
                  <a:ea typeface="Meiryo UI" panose="020B0604030504040204" pitchFamily="50" charset="-128"/>
                  <a:sym typeface="+mn-lt"/>
                </a:rPr>
                <a:t>ServiceNow</a:t>
              </a:r>
            </a:p>
            <a:p>
              <a:pPr marL="213300" indent="-213300" eaLnBrk="0" hangingPunct="0">
                <a:lnSpc>
                  <a:spcPct val="106000"/>
                </a:lnSpc>
                <a:buFont typeface="Wingdings" pitchFamily="2" charset="2"/>
                <a:buChar char="n"/>
              </a:pPr>
              <a:r>
                <a:rPr lang="en-US" altLang="ja-JP" sz="1200">
                  <a:solidFill>
                    <a:schemeClr val="bg1"/>
                  </a:solidFill>
                  <a:latin typeface="Meiryo UI" panose="020B0604030504040204" pitchFamily="50" charset="-128"/>
                  <a:ea typeface="Meiryo UI" panose="020B0604030504040204" pitchFamily="50" charset="-128"/>
                  <a:sym typeface="+mn-lt"/>
                </a:rPr>
                <a:t>Workiva</a:t>
              </a:r>
            </a:p>
            <a:p>
              <a:pPr marL="213300" indent="-213300" eaLnBrk="0" hangingPunct="0">
                <a:lnSpc>
                  <a:spcPct val="106000"/>
                </a:lnSpc>
                <a:buFont typeface="Wingdings" pitchFamily="2" charset="2"/>
                <a:buChar char="n"/>
              </a:pPr>
              <a:r>
                <a:rPr lang="en-US" altLang="ja-JP" sz="1200">
                  <a:solidFill>
                    <a:schemeClr val="bg1"/>
                  </a:solidFill>
                  <a:latin typeface="Meiryo UI" panose="020B0604030504040204" pitchFamily="50" charset="-128"/>
                  <a:ea typeface="Meiryo UI" panose="020B0604030504040204" pitchFamily="50" charset="-128"/>
                  <a:sym typeface="+mn-lt"/>
                </a:rPr>
                <a:t>NEC</a:t>
              </a:r>
            </a:p>
          </p:txBody>
        </p:sp>
        <p:grpSp>
          <p:nvGrpSpPr>
            <p:cNvPr id="11" name="グループ化 10">
              <a:extLst>
                <a:ext uri="{FF2B5EF4-FFF2-40B4-BE49-F238E27FC236}">
                  <a16:creationId xmlns:a16="http://schemas.microsoft.com/office/drawing/2014/main" id="{C85E6B6E-2FD4-03AD-6C14-F472B285C5BC}"/>
                </a:ext>
              </a:extLst>
            </p:cNvPr>
            <p:cNvGrpSpPr/>
            <p:nvPr/>
          </p:nvGrpSpPr>
          <p:grpSpPr bwMode="gray">
            <a:xfrm rot="5400000">
              <a:off x="1232739" y="2400994"/>
              <a:ext cx="4064532" cy="3060004"/>
              <a:chOff x="335313" y="2421909"/>
              <a:chExt cx="4392000" cy="3976309"/>
            </a:xfrm>
            <a:solidFill>
              <a:schemeClr val="tx2"/>
            </a:solidFill>
          </p:grpSpPr>
          <p:sp>
            <p:nvSpPr>
              <p:cNvPr id="13" name="台形 12">
                <a:extLst>
                  <a:ext uri="{FF2B5EF4-FFF2-40B4-BE49-F238E27FC236}">
                    <a16:creationId xmlns:a16="http://schemas.microsoft.com/office/drawing/2014/main" id="{9A8AAE07-0A54-F7DE-FF92-42EE1FAFA005}"/>
                  </a:ext>
                </a:extLst>
              </p:cNvPr>
              <p:cNvSpPr/>
              <p:nvPr/>
            </p:nvSpPr>
            <p:spPr bwMode="gray">
              <a:xfrm>
                <a:off x="540360" y="2879661"/>
                <a:ext cx="4077429" cy="3518557"/>
              </a:xfrm>
              <a:prstGeom prst="trapezoid">
                <a:avLst>
                  <a:gd name="adj" fmla="val 12817"/>
                </a:avLst>
              </a:prstGeom>
              <a:grpFill/>
              <a:ln w="12700" cap="rnd" algn="ctr">
                <a:solidFill>
                  <a:schemeClr val="tx2"/>
                </a:solidFill>
                <a:miter lim="800000"/>
                <a:headEnd/>
                <a:tailEnd/>
              </a:ln>
            </p:spPr>
            <p:txBody>
              <a:bodyPr lIns="137160" rtlCol="0" anchor="ctr" anchorCtr="1"/>
              <a:lstStyle/>
              <a:p>
                <a:pPr algn="ctr" eaLnBrk="0" hangingPunct="0">
                  <a:lnSpc>
                    <a:spcPct val="106000"/>
                  </a:lnSpc>
                </a:pPr>
                <a:endParaRPr lang="ja-JP" altLang="en-US" sz="1200" b="1">
                  <a:solidFill>
                    <a:prstClr val="white"/>
                  </a:solidFill>
                  <a:latin typeface="Meiryo UI" panose="020B0604030504040204" pitchFamily="50" charset="-128"/>
                  <a:ea typeface="Meiryo UI" panose="020B0604030504040204" pitchFamily="50" charset="-128"/>
                  <a:sym typeface="+mn-lt"/>
                </a:endParaRPr>
              </a:p>
            </p:txBody>
          </p:sp>
          <p:sp>
            <p:nvSpPr>
              <p:cNvPr id="14" name="二等辺三角形 13">
                <a:extLst>
                  <a:ext uri="{FF2B5EF4-FFF2-40B4-BE49-F238E27FC236}">
                    <a16:creationId xmlns:a16="http://schemas.microsoft.com/office/drawing/2014/main" id="{4E679ACE-DDB9-0B3D-3C89-D310F33281F1}"/>
                  </a:ext>
                </a:extLst>
              </p:cNvPr>
              <p:cNvSpPr/>
              <p:nvPr/>
            </p:nvSpPr>
            <p:spPr bwMode="gray">
              <a:xfrm>
                <a:off x="335313" y="2421909"/>
                <a:ext cx="4392000" cy="474412"/>
              </a:xfrm>
              <a:prstGeom prst="triangle">
                <a:avLst/>
              </a:prstGeom>
              <a:grpFill/>
              <a:ln w="12700" cap="rnd" algn="ctr">
                <a:solidFill>
                  <a:schemeClr val="tx2"/>
                </a:solidFill>
                <a:miter lim="800000"/>
                <a:headEnd/>
                <a:tailEnd/>
              </a:ln>
            </p:spPr>
            <p:txBody>
              <a:bodyPr lIns="137160" rtlCol="0" anchor="ctr" anchorCtr="1"/>
              <a:lstStyle/>
              <a:p>
                <a:pPr algn="ctr" eaLnBrk="0" hangingPunct="0">
                  <a:lnSpc>
                    <a:spcPct val="106000"/>
                  </a:lnSpc>
                </a:pPr>
                <a:endParaRPr lang="ja-JP" altLang="en-US" sz="1200" b="1">
                  <a:solidFill>
                    <a:prstClr val="white"/>
                  </a:solidFill>
                  <a:latin typeface="Meiryo UI" panose="020B0604030504040204" pitchFamily="50" charset="-128"/>
                  <a:ea typeface="Meiryo UI" panose="020B0604030504040204" pitchFamily="50" charset="-128"/>
                  <a:sym typeface="+mn-lt"/>
                </a:endParaRPr>
              </a:p>
            </p:txBody>
          </p:sp>
        </p:grpSp>
        <p:sp>
          <p:nvSpPr>
            <p:cNvPr id="12" name="テキスト ボックス 11">
              <a:extLst>
                <a:ext uri="{FF2B5EF4-FFF2-40B4-BE49-F238E27FC236}">
                  <a16:creationId xmlns:a16="http://schemas.microsoft.com/office/drawing/2014/main" id="{FFC4042D-5723-A773-D348-2736F38B82D3}"/>
                </a:ext>
              </a:extLst>
            </p:cNvPr>
            <p:cNvSpPr txBox="1"/>
            <p:nvPr/>
          </p:nvSpPr>
          <p:spPr bwMode="gray">
            <a:xfrm>
              <a:off x="1878780" y="2484346"/>
              <a:ext cx="2722349" cy="2987572"/>
            </a:xfrm>
            <a:prstGeom prst="rect">
              <a:avLst/>
            </a:prstGeom>
            <a:noFill/>
            <a:ln w="9525">
              <a:noFill/>
              <a:miter lim="800000"/>
              <a:headEnd/>
              <a:tailEnd/>
            </a:ln>
          </p:spPr>
          <p:txBody>
            <a:bodyPr wrap="square" lIns="27000" tIns="27000" rIns="27000" bIns="27000" rtlCol="0" anchor="ctr" anchorCtr="0">
              <a:noAutofit/>
            </a:bodyPr>
            <a:lstStyle/>
            <a:p>
              <a:pPr eaLnBrk="0" hangingPunct="0">
                <a:spcAft>
                  <a:spcPts val="900"/>
                </a:spcAft>
              </a:pPr>
              <a:r>
                <a:rPr lang="ja-JP" altLang="en-US" sz="1200" b="1" u="sng">
                  <a:solidFill>
                    <a:prstClr val="white"/>
                  </a:solidFill>
                  <a:latin typeface="Meiryo UI" panose="020B0604030504040204" pitchFamily="50" charset="-128"/>
                  <a:ea typeface="Meiryo UI" panose="020B0604030504040204" pitchFamily="50" charset="-128"/>
                  <a:sym typeface="+mn-lt"/>
                </a:rPr>
                <a:t>ベンダーロングリスト</a:t>
              </a:r>
            </a:p>
            <a:p>
              <a:pPr eaLnBrk="0" hangingPunct="0">
                <a:spcAft>
                  <a:spcPts val="900"/>
                </a:spcAft>
              </a:pPr>
              <a:r>
                <a:rPr lang="en-US" altLang="ja-JP" sz="1200">
                  <a:solidFill>
                    <a:prstClr val="white"/>
                  </a:solidFill>
                  <a:latin typeface="Meiryo UI" panose="020B0604030504040204" pitchFamily="50" charset="-128"/>
                  <a:ea typeface="Meiryo UI" panose="020B0604030504040204" pitchFamily="50" charset="-128"/>
                  <a:sym typeface="+mn-lt"/>
                </a:rPr>
                <a:t>ESG</a:t>
              </a:r>
              <a:r>
                <a:rPr lang="ja-JP" altLang="en-US" sz="1200">
                  <a:solidFill>
                    <a:prstClr val="white"/>
                  </a:solidFill>
                  <a:latin typeface="Meiryo UI" panose="020B0604030504040204" pitchFamily="50" charset="-128"/>
                  <a:ea typeface="Meiryo UI" panose="020B0604030504040204" pitchFamily="50" charset="-128"/>
                  <a:sym typeface="+mn-lt"/>
                </a:rPr>
                <a:t>ベンダーロングリストを各種</a:t>
              </a:r>
              <a:br>
                <a:rPr lang="en-US" altLang="ja-JP" sz="1200">
                  <a:solidFill>
                    <a:prstClr val="white"/>
                  </a:solidFill>
                  <a:latin typeface="Meiryo UI" panose="020B0604030504040204" pitchFamily="50" charset="-128"/>
                  <a:ea typeface="Meiryo UI" panose="020B0604030504040204" pitchFamily="50" charset="-128"/>
                  <a:sym typeface="+mn-lt"/>
                </a:rPr>
              </a:br>
              <a:r>
                <a:rPr lang="ja-JP" altLang="en-US" sz="1200">
                  <a:solidFill>
                    <a:prstClr val="white"/>
                  </a:solidFill>
                  <a:latin typeface="Meiryo UI" panose="020B0604030504040204" pitchFamily="50" charset="-128"/>
                  <a:ea typeface="Meiryo UI" panose="020B0604030504040204" pitchFamily="50" charset="-128"/>
                  <a:sym typeface="+mn-lt"/>
                </a:rPr>
                <a:t>グローバル調査機関資料から作成</a:t>
              </a:r>
              <a:r>
                <a:rPr lang="en-US" altLang="ja-JP" sz="1200" baseline="30000">
                  <a:solidFill>
                    <a:prstClr val="white"/>
                  </a:solidFill>
                  <a:latin typeface="Meiryo UI" panose="020B0604030504040204" pitchFamily="50" charset="-128"/>
                  <a:ea typeface="Meiryo UI" panose="020B0604030504040204" pitchFamily="50" charset="-128"/>
                  <a:sym typeface="+mn-lt"/>
                </a:rPr>
                <a:t>※1</a:t>
              </a:r>
              <a:endParaRPr lang="ja-JP" altLang="en-US" sz="1200" baseline="30000">
                <a:solidFill>
                  <a:prstClr val="white"/>
                </a:solidFill>
                <a:latin typeface="Meiryo UI" panose="020B0604030504040204" pitchFamily="50" charset="-128"/>
                <a:ea typeface="Meiryo UI" panose="020B0604030504040204" pitchFamily="50" charset="-128"/>
                <a:sym typeface="+mn-lt"/>
              </a:endParaRPr>
            </a:p>
            <a:p>
              <a:pPr marL="213300" indent="-213300" eaLnBrk="0" hangingPunct="0">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Cority</a:t>
              </a:r>
            </a:p>
            <a:p>
              <a:pPr marL="213300" indent="-213300" eaLnBrk="0" hangingPunct="0">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IBM</a:t>
              </a:r>
            </a:p>
            <a:p>
              <a:pPr marL="213300" indent="-213300" eaLnBrk="0" hangingPunct="0">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ServiceNow</a:t>
              </a:r>
            </a:p>
            <a:p>
              <a:pPr marL="213300" indent="-213300" eaLnBrk="0" hangingPunct="0">
                <a:buFont typeface="Wingdings" pitchFamily="2" charset="2"/>
                <a:buChar char="n"/>
              </a:pPr>
              <a:r>
                <a:rPr lang="en-US" altLang="ja-JP" sz="1200" err="1">
                  <a:solidFill>
                    <a:prstClr val="white"/>
                  </a:solidFill>
                  <a:latin typeface="Meiryo UI" panose="020B0604030504040204" pitchFamily="50" charset="-128"/>
                  <a:ea typeface="Meiryo UI" panose="020B0604030504040204" pitchFamily="50" charset="-128"/>
                  <a:sym typeface="+mn-lt"/>
                </a:rPr>
                <a:t>Sphera</a:t>
              </a:r>
              <a:endParaRPr lang="en-US" altLang="ja-JP" sz="1200">
                <a:solidFill>
                  <a:prstClr val="white"/>
                </a:solidFill>
                <a:latin typeface="Meiryo UI" panose="020B0604030504040204" pitchFamily="50" charset="-128"/>
                <a:ea typeface="Meiryo UI" panose="020B0604030504040204" pitchFamily="50" charset="-128"/>
                <a:sym typeface="+mn-lt"/>
              </a:endParaRPr>
            </a:p>
            <a:p>
              <a:pPr marL="213300" indent="-213300" eaLnBrk="0" hangingPunct="0">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Wolters Kluwer</a:t>
              </a:r>
            </a:p>
            <a:p>
              <a:pPr marL="213300" indent="-213300" eaLnBrk="0" hangingPunct="0">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Water Shed</a:t>
              </a:r>
            </a:p>
            <a:p>
              <a:pPr marL="213300" indent="-213300" eaLnBrk="0" hangingPunct="0">
                <a:buFont typeface="Wingdings" pitchFamily="2" charset="2"/>
                <a:buChar char="n"/>
              </a:pPr>
              <a:r>
                <a:rPr lang="en-US" altLang="ja-JP" sz="1200">
                  <a:solidFill>
                    <a:prstClr val="white"/>
                  </a:solidFill>
                  <a:latin typeface="Meiryo UI" panose="020B0604030504040204" pitchFamily="50" charset="-128"/>
                  <a:ea typeface="Meiryo UI" panose="020B0604030504040204" pitchFamily="50" charset="-128"/>
                  <a:sym typeface="+mn-lt"/>
                </a:rPr>
                <a:t>Workiva</a:t>
              </a:r>
            </a:p>
            <a:p>
              <a:pPr eaLnBrk="0" hangingPunct="0"/>
              <a:endParaRPr lang="en-US" altLang="ja-JP" sz="1200">
                <a:solidFill>
                  <a:prstClr val="white"/>
                </a:solidFill>
                <a:latin typeface="Meiryo UI" panose="020B0604030504040204" pitchFamily="50" charset="-128"/>
                <a:ea typeface="Meiryo UI" panose="020B0604030504040204" pitchFamily="50" charset="-128"/>
                <a:sym typeface="+mn-lt"/>
              </a:endParaRPr>
            </a:p>
            <a:p>
              <a:pPr eaLnBrk="0" hangingPunct="0"/>
              <a:r>
                <a:rPr lang="ja-JP" altLang="en-US" sz="1200">
                  <a:solidFill>
                    <a:prstClr val="white"/>
                  </a:solidFill>
                  <a:latin typeface="Meiryo UI" panose="020B0604030504040204" pitchFamily="50" charset="-128"/>
                  <a:ea typeface="Meiryo UI" panose="020B0604030504040204" pitchFamily="50" charset="-128"/>
                  <a:sym typeface="+mn-lt"/>
                </a:rPr>
                <a:t>など全</a:t>
              </a:r>
              <a:r>
                <a:rPr lang="en-US" altLang="ja-JP" sz="1200">
                  <a:solidFill>
                    <a:prstClr val="white"/>
                  </a:solidFill>
                  <a:latin typeface="Meiryo UI" panose="020B0604030504040204" pitchFamily="50" charset="-128"/>
                  <a:ea typeface="Meiryo UI" panose="020B0604030504040204" pitchFamily="50" charset="-128"/>
                  <a:sym typeface="+mn-lt"/>
                </a:rPr>
                <a:t>37</a:t>
              </a:r>
              <a:r>
                <a:rPr lang="ja-JP" altLang="en-US" sz="1200">
                  <a:solidFill>
                    <a:prstClr val="white"/>
                  </a:solidFill>
                  <a:latin typeface="Meiryo UI" panose="020B0604030504040204" pitchFamily="50" charset="-128"/>
                  <a:ea typeface="Meiryo UI" panose="020B0604030504040204" pitchFamily="50" charset="-128"/>
                  <a:sym typeface="+mn-lt"/>
                </a:rPr>
                <a:t>ベンダー</a:t>
              </a:r>
              <a:endParaRPr lang="en-US" altLang="ja-JP" sz="1200">
                <a:solidFill>
                  <a:prstClr val="white"/>
                </a:solidFill>
                <a:latin typeface="Meiryo UI" panose="020B0604030504040204" pitchFamily="50" charset="-128"/>
                <a:ea typeface="Meiryo UI" panose="020B0604030504040204" pitchFamily="50" charset="-128"/>
                <a:sym typeface="+mn-lt"/>
              </a:endParaRPr>
            </a:p>
          </p:txBody>
        </p:sp>
        <p:sp>
          <p:nvSpPr>
            <p:cNvPr id="26" name="テキスト ボックス 25">
              <a:extLst>
                <a:ext uri="{FF2B5EF4-FFF2-40B4-BE49-F238E27FC236}">
                  <a16:creationId xmlns:a16="http://schemas.microsoft.com/office/drawing/2014/main" id="{BE4F31E7-AA6E-669A-F277-E17C7F3C4341}"/>
                </a:ext>
              </a:extLst>
            </p:cNvPr>
            <p:cNvSpPr txBox="1"/>
            <p:nvPr/>
          </p:nvSpPr>
          <p:spPr bwMode="gray">
            <a:xfrm>
              <a:off x="7416909" y="5411680"/>
              <a:ext cx="2653892" cy="1149829"/>
            </a:xfrm>
            <a:prstGeom prst="rect">
              <a:avLst/>
            </a:prstGeom>
            <a:noFill/>
            <a:ln w="9525">
              <a:noFill/>
              <a:miter lim="800000"/>
              <a:headEnd/>
              <a:tailEnd/>
            </a:ln>
          </p:spPr>
          <p:txBody>
            <a:bodyPr wrap="square" lIns="27000" tIns="27000" rIns="27000" bIns="27000" rtlCol="0" anchor="ctr" anchorCtr="0">
              <a:noAutofit/>
            </a:bodyPr>
            <a:lstStyle/>
            <a:p>
              <a:pPr eaLnBrk="0" hangingPunct="0">
                <a:spcAft>
                  <a:spcPts val="900"/>
                </a:spcAft>
              </a:pPr>
              <a:r>
                <a:rPr lang="ja-JP" altLang="en-US" sz="1200" b="1" u="sng">
                  <a:solidFill>
                    <a:schemeClr val="bg1"/>
                  </a:solidFill>
                  <a:latin typeface="Meiryo UI" panose="020B0604030504040204" pitchFamily="50" charset="-128"/>
                  <a:ea typeface="Meiryo UI" panose="020B0604030504040204" pitchFamily="50" charset="-128"/>
                  <a:sym typeface="+mn-lt"/>
                </a:rPr>
                <a:t>既存ベンダー</a:t>
              </a:r>
            </a:p>
            <a:p>
              <a:pPr eaLnBrk="0" hangingPunct="0">
                <a:spcAft>
                  <a:spcPts val="900"/>
                </a:spcAft>
              </a:pPr>
              <a:r>
                <a:rPr lang="ja-JP" altLang="en-US" sz="1200">
                  <a:solidFill>
                    <a:schemeClr val="bg1"/>
                  </a:solidFill>
                  <a:latin typeface="Meiryo UI" panose="020B0604030504040204" pitchFamily="50" charset="-128"/>
                  <a:ea typeface="Meiryo UI" panose="020B0604030504040204" pitchFamily="50" charset="-128"/>
                  <a:sym typeface="+mn-lt"/>
                </a:rPr>
                <a:t>既に利用しているシステムベンダーも</a:t>
              </a:r>
              <a:r>
                <a:rPr lang="en-US" altLang="ja-JP" sz="1200">
                  <a:solidFill>
                    <a:schemeClr val="bg1"/>
                  </a:solidFill>
                  <a:latin typeface="Meiryo UI" panose="020B0604030504040204" pitchFamily="50" charset="-128"/>
                  <a:ea typeface="Meiryo UI" panose="020B0604030504040204" pitchFamily="50" charset="-128"/>
                  <a:sym typeface="+mn-lt"/>
                </a:rPr>
                <a:t>RFP</a:t>
              </a:r>
              <a:r>
                <a:rPr lang="ja-JP" altLang="en-US" sz="1200">
                  <a:solidFill>
                    <a:schemeClr val="bg1"/>
                  </a:solidFill>
                  <a:latin typeface="Meiryo UI" panose="020B0604030504040204" pitchFamily="50" charset="-128"/>
                  <a:ea typeface="Meiryo UI" panose="020B0604030504040204" pitchFamily="50" charset="-128"/>
                  <a:sym typeface="+mn-lt"/>
                </a:rPr>
                <a:t>提出先とし、比較・再評価を行う</a:t>
              </a:r>
            </a:p>
            <a:p>
              <a:pPr marL="213300" indent="-213300" eaLnBrk="0" hangingPunct="0">
                <a:lnSpc>
                  <a:spcPct val="106000"/>
                </a:lnSpc>
                <a:buFont typeface="Wingdings" pitchFamily="2" charset="2"/>
                <a:buChar char="n"/>
              </a:pPr>
              <a:r>
                <a:rPr lang="en-US" altLang="ja-JP" sz="1200">
                  <a:solidFill>
                    <a:schemeClr val="bg1"/>
                  </a:solidFill>
                  <a:latin typeface="Meiryo UI" panose="020B0604030504040204" pitchFamily="50" charset="-128"/>
                  <a:ea typeface="Meiryo UI" panose="020B0604030504040204" pitchFamily="50" charset="-128"/>
                  <a:sym typeface="+mn-lt"/>
                </a:rPr>
                <a:t>NEC</a:t>
              </a:r>
              <a:r>
                <a:rPr lang="ja-JP" altLang="en-US" sz="1200">
                  <a:solidFill>
                    <a:schemeClr val="bg1"/>
                  </a:solidFill>
                  <a:latin typeface="Meiryo UI" panose="020B0604030504040204" pitchFamily="50" charset="-128"/>
                  <a:ea typeface="Meiryo UI" panose="020B0604030504040204" pitchFamily="50" charset="-128"/>
                  <a:sym typeface="+mn-lt"/>
                </a:rPr>
                <a:t>（</a:t>
              </a:r>
              <a:r>
                <a:rPr lang="en-US" altLang="ja-JP" sz="1200">
                  <a:solidFill>
                    <a:schemeClr val="bg1"/>
                  </a:solidFill>
                  <a:latin typeface="Meiryo UI" panose="020B0604030504040204" pitchFamily="50" charset="-128"/>
                  <a:ea typeface="Meiryo UI" panose="020B0604030504040204" pitchFamily="50" charset="-128"/>
                  <a:sym typeface="+mn-lt"/>
                </a:rPr>
                <a:t>Green Globe X</a:t>
              </a:r>
              <a:r>
                <a:rPr lang="ja-JP" altLang="en-US" sz="1200">
                  <a:solidFill>
                    <a:schemeClr val="bg1"/>
                  </a:solidFill>
                  <a:latin typeface="Meiryo UI" panose="020B0604030504040204" pitchFamily="50" charset="-128"/>
                  <a:ea typeface="Meiryo UI" panose="020B0604030504040204" pitchFamily="50" charset="-128"/>
                  <a:sym typeface="+mn-lt"/>
                </a:rPr>
                <a:t>）</a:t>
              </a:r>
            </a:p>
          </p:txBody>
        </p:sp>
      </p:grpSp>
      <p:sp>
        <p:nvSpPr>
          <p:cNvPr id="27" name="矢印: 上 26">
            <a:extLst>
              <a:ext uri="{FF2B5EF4-FFF2-40B4-BE49-F238E27FC236}">
                <a16:creationId xmlns:a16="http://schemas.microsoft.com/office/drawing/2014/main" id="{219B230E-AFE8-EC87-1FC4-9FA92697655E}"/>
              </a:ext>
            </a:extLst>
          </p:cNvPr>
          <p:cNvSpPr/>
          <p:nvPr/>
        </p:nvSpPr>
        <p:spPr>
          <a:xfrm>
            <a:off x="6400378" y="4309017"/>
            <a:ext cx="1368152" cy="417466"/>
          </a:xfrm>
          <a:prstGeom prs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76C29B50-403A-4AF0-30FC-3699CCA20890}"/>
              </a:ext>
            </a:extLst>
          </p:cNvPr>
          <p:cNvSpPr/>
          <p:nvPr/>
        </p:nvSpPr>
        <p:spPr>
          <a:xfrm>
            <a:off x="278267" y="5586650"/>
            <a:ext cx="8375876" cy="8194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00">
                <a:solidFill>
                  <a:schemeClr val="tx1"/>
                </a:solidFill>
                <a:latin typeface="Meiryo UI" panose="020B0604030504040204" pitchFamily="50" charset="-128"/>
                <a:ea typeface="Meiryo UI" panose="020B0604030504040204" pitchFamily="50" charset="-128"/>
              </a:rPr>
              <a:t>※1 </a:t>
            </a:r>
            <a:r>
              <a:rPr kumimoji="1" lang="en-US" altLang="ja-JP" sz="1000" err="1">
                <a:solidFill>
                  <a:schemeClr val="tx1"/>
                </a:solidFill>
                <a:latin typeface="Meiryo UI" panose="020B0604030504040204" pitchFamily="50" charset="-128"/>
                <a:ea typeface="Meiryo UI" panose="020B0604030504040204" pitchFamily="50" charset="-128"/>
              </a:rPr>
              <a:t>Verdantix</a:t>
            </a:r>
            <a:r>
              <a:rPr kumimoji="1" lang="en-US" altLang="ja-JP" sz="1000">
                <a:solidFill>
                  <a:schemeClr val="tx1"/>
                </a:solidFill>
                <a:latin typeface="Meiryo UI" panose="020B0604030504040204" pitchFamily="50" charset="-128"/>
                <a:ea typeface="Meiryo UI" panose="020B0604030504040204" pitchFamily="50" charset="-128"/>
              </a:rPr>
              <a:t> “Green Quadrant: ESG &amp; Sustainability Reporting Software (2025)”</a:t>
            </a:r>
          </a:p>
          <a:p>
            <a:r>
              <a:rPr kumimoji="1" lang="en-US" altLang="ja-JP" sz="1000">
                <a:solidFill>
                  <a:schemeClr val="tx1"/>
                </a:solidFill>
                <a:latin typeface="Meiryo UI" panose="020B0604030504040204" pitchFamily="50" charset="-128"/>
                <a:ea typeface="Meiryo UI" panose="020B0604030504040204" pitchFamily="50" charset="-128"/>
              </a:rPr>
              <a:t>※1 IDC “IDC </a:t>
            </a:r>
            <a:r>
              <a:rPr kumimoji="1" lang="en-US" altLang="ja-JP" sz="1000" err="1">
                <a:solidFill>
                  <a:schemeClr val="tx1"/>
                </a:solidFill>
                <a:latin typeface="Meiryo UI" panose="020B0604030504040204" pitchFamily="50" charset="-128"/>
                <a:ea typeface="Meiryo UI" panose="020B0604030504040204" pitchFamily="50" charset="-128"/>
              </a:rPr>
              <a:t>MarketScape</a:t>
            </a:r>
            <a:r>
              <a:rPr kumimoji="1" lang="en-US" altLang="ja-JP" sz="1000">
                <a:solidFill>
                  <a:schemeClr val="tx1"/>
                </a:solidFill>
                <a:latin typeface="Meiryo UI" panose="020B0604030504040204" pitchFamily="50" charset="-128"/>
                <a:ea typeface="Meiryo UI" panose="020B0604030504040204" pitchFamily="50" charset="-128"/>
              </a:rPr>
              <a:t>: Worldwide Sustainability Management Platforms 2025 Vendor Assessment”</a:t>
            </a:r>
          </a:p>
          <a:p>
            <a:r>
              <a:rPr kumimoji="1" lang="en-US" altLang="ja-JP" sz="1000">
                <a:solidFill>
                  <a:schemeClr val="tx1"/>
                </a:solidFill>
                <a:latin typeface="Meiryo UI" panose="020B0604030504040204" pitchFamily="50" charset="-128"/>
                <a:ea typeface="Meiryo UI" panose="020B0604030504040204" pitchFamily="50" charset="-128"/>
              </a:rPr>
              <a:t>※1 Gartner “Market Guide for ESG </a:t>
            </a:r>
            <a:r>
              <a:rPr kumimoji="1" lang="en-US" altLang="ja-JP" sz="1000" err="1">
                <a:solidFill>
                  <a:schemeClr val="tx1"/>
                </a:solidFill>
                <a:latin typeface="Meiryo UI" panose="020B0604030504040204" pitchFamily="50" charset="-128"/>
                <a:ea typeface="Meiryo UI" panose="020B0604030504040204" pitchFamily="50" charset="-128"/>
              </a:rPr>
              <a:t>ReportMarketScape</a:t>
            </a:r>
            <a:r>
              <a:rPr kumimoji="1" lang="en-US" altLang="ja-JP" sz="1000">
                <a:solidFill>
                  <a:schemeClr val="tx1"/>
                </a:solidFill>
                <a:latin typeface="Meiryo UI" panose="020B0604030504040204" pitchFamily="50" charset="-128"/>
                <a:ea typeface="Meiryo UI" panose="020B0604030504040204" pitchFamily="50" charset="-128"/>
              </a:rPr>
              <a:t>: Worldwide Sustainability Management Platforms 2025 Vendor Assessment”</a:t>
            </a:r>
          </a:p>
          <a:p>
            <a:r>
              <a:rPr kumimoji="1" lang="en-US" altLang="ja-JP" sz="1000">
                <a:solidFill>
                  <a:schemeClr val="tx1"/>
                </a:solidFill>
                <a:latin typeface="Meiryo UI" panose="020B0604030504040204" pitchFamily="50" charset="-128"/>
                <a:ea typeface="Meiryo UI" panose="020B0604030504040204" pitchFamily="50" charset="-128"/>
              </a:rPr>
              <a:t>※1 IDC “IDC's Worldwide Sustainability Software </a:t>
            </a:r>
            <a:r>
              <a:rPr kumimoji="1" lang="en-US" altLang="ja-JP" sz="1000" err="1">
                <a:solidFill>
                  <a:schemeClr val="tx1"/>
                </a:solidFill>
                <a:latin typeface="Meiryo UI" panose="020B0604030504040204" pitchFamily="50" charset="-128"/>
                <a:ea typeface="Meiryo UI" panose="020B0604030504040204" pitchFamily="50" charset="-128"/>
              </a:rPr>
              <a:t>Taxonomying</a:t>
            </a:r>
            <a:r>
              <a:rPr kumimoji="1" lang="en-US" altLang="ja-JP" sz="1000">
                <a:solidFill>
                  <a:schemeClr val="tx1"/>
                </a:solidFill>
                <a:latin typeface="Meiryo UI" panose="020B0604030504040204" pitchFamily="50" charset="-128"/>
                <a:ea typeface="Meiryo UI" panose="020B0604030504040204" pitchFamily="50" charset="-128"/>
              </a:rPr>
              <a:t> and Management</a:t>
            </a:r>
            <a:r>
              <a:rPr kumimoji="1" lang="ja-JP" altLang="en-US" sz="1000">
                <a:solidFill>
                  <a:schemeClr val="tx1"/>
                </a:solidFill>
                <a:latin typeface="Meiryo UI" panose="020B0604030504040204" pitchFamily="50" charset="-128"/>
                <a:ea typeface="Meiryo UI" panose="020B0604030504040204" pitchFamily="50" charset="-128"/>
              </a:rPr>
              <a:t> </a:t>
            </a:r>
            <a:r>
              <a:rPr kumimoji="1" lang="en-US" altLang="ja-JP" sz="1000">
                <a:solidFill>
                  <a:schemeClr val="tx1"/>
                </a:solidFill>
                <a:latin typeface="Meiryo UI" panose="020B0604030504040204" pitchFamily="50" charset="-128"/>
                <a:ea typeface="Meiryo UI" panose="020B0604030504040204" pitchFamily="50" charset="-128"/>
              </a:rPr>
              <a:t>Software”</a:t>
            </a:r>
          </a:p>
          <a:p>
            <a:r>
              <a:rPr kumimoji="1" lang="en-US" altLang="ja-JP" sz="1000">
                <a:solidFill>
                  <a:schemeClr val="tx1"/>
                </a:solidFill>
                <a:latin typeface="Meiryo UI" panose="020B0604030504040204" pitchFamily="50" charset="-128"/>
                <a:ea typeface="Meiryo UI" panose="020B0604030504040204" pitchFamily="50" charset="-128"/>
              </a:rPr>
              <a:t>※2 Wolters Kluwer</a:t>
            </a:r>
            <a:r>
              <a:rPr kumimoji="1" lang="ja-JP" altLang="en-US" sz="1000">
                <a:solidFill>
                  <a:schemeClr val="tx1"/>
                </a:solidFill>
                <a:latin typeface="Meiryo UI" panose="020B0604030504040204" pitchFamily="50" charset="-128"/>
                <a:ea typeface="Meiryo UI" panose="020B0604030504040204" pitchFamily="50" charset="-128"/>
              </a:rPr>
              <a:t>は</a:t>
            </a:r>
            <a:r>
              <a:rPr kumimoji="1" lang="en-US" altLang="ja-JP" sz="1000">
                <a:solidFill>
                  <a:schemeClr val="tx1"/>
                </a:solidFill>
                <a:latin typeface="Meiryo UI" panose="020B0604030504040204" pitchFamily="50" charset="-128"/>
                <a:ea typeface="Meiryo UI" panose="020B0604030504040204" pitchFamily="50" charset="-128"/>
              </a:rPr>
              <a:t>CCH Tagetik, Teammate</a:t>
            </a:r>
            <a:r>
              <a:rPr kumimoji="1" lang="ja-JP" altLang="en-US" sz="1000">
                <a:solidFill>
                  <a:schemeClr val="tx1"/>
                </a:solidFill>
                <a:latin typeface="Meiryo UI" panose="020B0604030504040204" pitchFamily="50" charset="-128"/>
                <a:ea typeface="Meiryo UI" panose="020B0604030504040204" pitchFamily="50" charset="-128"/>
              </a:rPr>
              <a:t>は日本国内で提供されているが、</a:t>
            </a:r>
            <a:r>
              <a:rPr kumimoji="1" lang="en-US" altLang="ja-JP" sz="1000">
                <a:solidFill>
                  <a:schemeClr val="tx1"/>
                </a:solidFill>
                <a:latin typeface="Meiryo UI" panose="020B0604030504040204" pitchFamily="50" charset="-128"/>
                <a:ea typeface="Meiryo UI" panose="020B0604030504040204" pitchFamily="50" charset="-128"/>
              </a:rPr>
              <a:t>Enablon</a:t>
            </a:r>
            <a:r>
              <a:rPr kumimoji="1" lang="ja-JP" altLang="en-US" sz="1000">
                <a:solidFill>
                  <a:schemeClr val="tx1"/>
                </a:solidFill>
                <a:latin typeface="Meiryo UI" panose="020B0604030504040204" pitchFamily="50" charset="-128"/>
                <a:ea typeface="Meiryo UI" panose="020B0604030504040204" pitchFamily="50" charset="-128"/>
              </a:rPr>
              <a:t>は提供されてないことに留意</a:t>
            </a:r>
            <a:endParaRPr kumimoji="1" lang="en-US" altLang="ja-JP" sz="100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F2D864BA-3F74-4114-B6D5-6AFCE89F06D3}"/>
              </a:ext>
            </a:extLst>
          </p:cNvPr>
          <p:cNvSpPr/>
          <p:nvPr/>
        </p:nvSpPr>
        <p:spPr>
          <a:xfrm>
            <a:off x="6400378" y="152646"/>
            <a:ext cx="2497534" cy="360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latin typeface="Meiryo UI" panose="020B0604030504040204" pitchFamily="50" charset="-128"/>
                <a:ea typeface="Meiryo UI" panose="020B0604030504040204" pitchFamily="50" charset="-128"/>
              </a:rPr>
              <a:t>出光内で精査中</a:t>
            </a:r>
          </a:p>
        </p:txBody>
      </p:sp>
      <p:sp>
        <p:nvSpPr>
          <p:cNvPr id="8" name="楕円 7">
            <a:extLst>
              <a:ext uri="{FF2B5EF4-FFF2-40B4-BE49-F238E27FC236}">
                <a16:creationId xmlns:a16="http://schemas.microsoft.com/office/drawing/2014/main" id="{32094691-FDD4-5EC1-20E5-19849FE616E3}"/>
              </a:ext>
            </a:extLst>
          </p:cNvPr>
          <p:cNvSpPr/>
          <p:nvPr/>
        </p:nvSpPr>
        <p:spPr>
          <a:xfrm>
            <a:off x="47048" y="62455"/>
            <a:ext cx="1005840" cy="3443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新規追加</a:t>
            </a:r>
          </a:p>
        </p:txBody>
      </p:sp>
      <p:sp>
        <p:nvSpPr>
          <p:cNvPr id="15" name="楕円 14">
            <a:extLst>
              <a:ext uri="{FF2B5EF4-FFF2-40B4-BE49-F238E27FC236}">
                <a16:creationId xmlns:a16="http://schemas.microsoft.com/office/drawing/2014/main" id="{48C365D5-4285-707F-70B8-1D4E73D9A875}"/>
              </a:ext>
            </a:extLst>
          </p:cNvPr>
          <p:cNvSpPr/>
          <p:nvPr/>
        </p:nvSpPr>
        <p:spPr>
          <a:xfrm>
            <a:off x="1875070" y="2250833"/>
            <a:ext cx="624548" cy="227984"/>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tx1"/>
                </a:solidFill>
                <a:latin typeface="Meiryo UI" panose="020B0604030504040204" pitchFamily="50" charset="-128"/>
                <a:ea typeface="Meiryo UI" panose="020B0604030504040204" pitchFamily="50" charset="-128"/>
              </a:rPr>
              <a:t>更新</a:t>
            </a:r>
          </a:p>
        </p:txBody>
      </p:sp>
    </p:spTree>
    <p:extLst>
      <p:ext uri="{BB962C8B-B14F-4D97-AF65-F5344CB8AC3E}">
        <p14:creationId xmlns:p14="http://schemas.microsoft.com/office/powerpoint/2010/main" val="2472741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049E0-24C6-1818-946B-2795AEBC0D02}"/>
              </a:ext>
            </a:extLst>
          </p:cNvPr>
          <p:cNvSpPr>
            <a:spLocks noGrp="1"/>
          </p:cNvSpPr>
          <p:nvPr>
            <p:ph type="title"/>
          </p:nvPr>
        </p:nvSpPr>
        <p:spPr>
          <a:xfrm>
            <a:off x="1116000" y="3042380"/>
            <a:ext cx="7703999" cy="360000"/>
          </a:xfrm>
        </p:spPr>
        <p:txBody>
          <a:bodyPr anchor="t"/>
          <a:lstStyle/>
          <a:p>
            <a:r>
              <a:rPr kumimoji="1" lang="en-US" altLang="ja-JP" sz="2400">
                <a:latin typeface="Meiryo UI" panose="020B0604030504040204" pitchFamily="50" charset="-128"/>
                <a:ea typeface="Meiryo UI" panose="020B0604030504040204" pitchFamily="50" charset="-128"/>
              </a:rPr>
              <a:t>8. Appendix</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3DB55F1-1B8C-13AB-1DBE-1F30F08B6A07}"/>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35</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72423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5" name="Group 7">
            <a:extLst>
              <a:ext uri="{FF2B5EF4-FFF2-40B4-BE49-F238E27FC236}">
                <a16:creationId xmlns:a16="http://schemas.microsoft.com/office/drawing/2014/main" id="{30291153-4224-C3E8-65B1-35D009C06197}"/>
              </a:ext>
            </a:extLst>
          </p:cNvPr>
          <p:cNvGrpSpPr>
            <a:grpSpLocks noChangeAspect="1"/>
          </p:cNvGrpSpPr>
          <p:nvPr/>
        </p:nvGrpSpPr>
        <p:grpSpPr bwMode="gray">
          <a:xfrm rot="2242552">
            <a:off x="3765604" y="3343444"/>
            <a:ext cx="1685819" cy="1686807"/>
            <a:chOff x="2244" y="1767"/>
            <a:chExt cx="2029" cy="2029"/>
          </a:xfrm>
          <a:solidFill>
            <a:schemeClr val="bg1">
              <a:lumMod val="85000"/>
            </a:schemeClr>
          </a:solidFill>
        </p:grpSpPr>
        <p:sp>
          <p:nvSpPr>
            <p:cNvPr id="188" name="Freeform 8">
              <a:extLst>
                <a:ext uri="{FF2B5EF4-FFF2-40B4-BE49-F238E27FC236}">
                  <a16:creationId xmlns:a16="http://schemas.microsoft.com/office/drawing/2014/main" id="{5DD50BB4-DF6F-4469-7F26-80BF912C50B9}"/>
                </a:ext>
              </a:extLst>
            </p:cNvPr>
            <p:cNvSpPr>
              <a:spLocks/>
            </p:cNvSpPr>
            <p:nvPr/>
          </p:nvSpPr>
          <p:spPr bwMode="gray">
            <a:xfrm>
              <a:off x="2366" y="1767"/>
              <a:ext cx="1057" cy="900"/>
            </a:xfrm>
            <a:custGeom>
              <a:avLst/>
              <a:gdLst>
                <a:gd name="T0" fmla="*/ 455 w 1057"/>
                <a:gd name="T1" fmla="*/ 879 h 900"/>
                <a:gd name="T2" fmla="*/ 471 w 1057"/>
                <a:gd name="T3" fmla="*/ 838 h 900"/>
                <a:gd name="T4" fmla="*/ 490 w 1057"/>
                <a:gd name="T5" fmla="*/ 799 h 900"/>
                <a:gd name="T6" fmla="*/ 514 w 1057"/>
                <a:gd name="T7" fmla="*/ 762 h 900"/>
                <a:gd name="T8" fmla="*/ 541 w 1057"/>
                <a:gd name="T9" fmla="*/ 728 h 900"/>
                <a:gd name="T10" fmla="*/ 570 w 1057"/>
                <a:gd name="T11" fmla="*/ 696 h 900"/>
                <a:gd name="T12" fmla="*/ 603 w 1057"/>
                <a:gd name="T13" fmla="*/ 667 h 900"/>
                <a:gd name="T14" fmla="*/ 639 w 1057"/>
                <a:gd name="T15" fmla="*/ 642 h 900"/>
                <a:gd name="T16" fmla="*/ 676 w 1057"/>
                <a:gd name="T17" fmla="*/ 621 h 900"/>
                <a:gd name="T18" fmla="*/ 713 w 1057"/>
                <a:gd name="T19" fmla="*/ 605 h 900"/>
                <a:gd name="T20" fmla="*/ 753 w 1057"/>
                <a:gd name="T21" fmla="*/ 591 h 900"/>
                <a:gd name="T22" fmla="*/ 793 w 1057"/>
                <a:gd name="T23" fmla="*/ 581 h 900"/>
                <a:gd name="T24" fmla="*/ 834 w 1057"/>
                <a:gd name="T25" fmla="*/ 575 h 900"/>
                <a:gd name="T26" fmla="*/ 833 w 1057"/>
                <a:gd name="T27" fmla="*/ 711 h 900"/>
                <a:gd name="T28" fmla="*/ 1056 w 1057"/>
                <a:gd name="T29" fmla="*/ 374 h 900"/>
                <a:gd name="T30" fmla="*/ 818 w 1057"/>
                <a:gd name="T31" fmla="*/ 0 h 900"/>
                <a:gd name="T32" fmla="*/ 819 w 1057"/>
                <a:gd name="T33" fmla="*/ 137 h 900"/>
                <a:gd name="T34" fmla="*/ 757 w 1057"/>
                <a:gd name="T35" fmla="*/ 143 h 900"/>
                <a:gd name="T36" fmla="*/ 694 w 1057"/>
                <a:gd name="T37" fmla="*/ 154 h 900"/>
                <a:gd name="T38" fmla="*/ 634 w 1057"/>
                <a:gd name="T39" fmla="*/ 168 h 900"/>
                <a:gd name="T40" fmla="*/ 574 w 1057"/>
                <a:gd name="T41" fmla="*/ 188 h 900"/>
                <a:gd name="T42" fmla="*/ 516 w 1057"/>
                <a:gd name="T43" fmla="*/ 211 h 900"/>
                <a:gd name="T44" fmla="*/ 460 w 1057"/>
                <a:gd name="T45" fmla="*/ 238 h 900"/>
                <a:gd name="T46" fmla="*/ 405 w 1057"/>
                <a:gd name="T47" fmla="*/ 270 h 900"/>
                <a:gd name="T48" fmla="*/ 352 w 1057"/>
                <a:gd name="T49" fmla="*/ 306 h 900"/>
                <a:gd name="T50" fmla="*/ 302 w 1057"/>
                <a:gd name="T51" fmla="*/ 346 h 900"/>
                <a:gd name="T52" fmla="*/ 255 w 1057"/>
                <a:gd name="T53" fmla="*/ 390 h 900"/>
                <a:gd name="T54" fmla="*/ 211 w 1057"/>
                <a:gd name="T55" fmla="*/ 437 h 900"/>
                <a:gd name="T56" fmla="*/ 170 w 1057"/>
                <a:gd name="T57" fmla="*/ 486 h 900"/>
                <a:gd name="T58" fmla="*/ 134 w 1057"/>
                <a:gd name="T59" fmla="*/ 539 h 900"/>
                <a:gd name="T60" fmla="*/ 101 w 1057"/>
                <a:gd name="T61" fmla="*/ 595 h 900"/>
                <a:gd name="T62" fmla="*/ 72 w 1057"/>
                <a:gd name="T63" fmla="*/ 653 h 900"/>
                <a:gd name="T64" fmla="*/ 47 w 1057"/>
                <a:gd name="T65" fmla="*/ 711 h 900"/>
                <a:gd name="T66" fmla="*/ 27 w 1057"/>
                <a:gd name="T67" fmla="*/ 773 h 900"/>
                <a:gd name="T68" fmla="*/ 11 w 1057"/>
                <a:gd name="T69" fmla="*/ 835 h 900"/>
                <a:gd name="T70" fmla="*/ 0 w 1057"/>
                <a:gd name="T71" fmla="*/ 899 h 900"/>
                <a:gd name="T72" fmla="*/ 238 w 1057"/>
                <a:gd name="T73" fmla="*/ 741 h 900"/>
                <a:gd name="T74" fmla="*/ 455 w 1057"/>
                <a:gd name="T75" fmla="*/ 879 h 9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7"/>
                <a:gd name="T115" fmla="*/ 0 h 900"/>
                <a:gd name="T116" fmla="*/ 1057 w 1057"/>
                <a:gd name="T117" fmla="*/ 900 h 9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grpFill/>
            <a:ln w="25400" cap="rnd">
              <a:solidFill>
                <a:schemeClr val="bg1"/>
              </a:solidFill>
              <a:round/>
              <a:headEnd/>
              <a:tailEnd/>
            </a:ln>
          </p:spPr>
          <p:txBody>
            <a:bodyPr/>
            <a:lstStyle/>
            <a:p>
              <a:endParaRPr lang="ja-JP" altLang="en-US">
                <a:latin typeface="Meiryo UI" panose="020B0604030504040204" pitchFamily="50" charset="-128"/>
                <a:ea typeface="Meiryo UI" panose="020B0604030504040204" pitchFamily="50" charset="-128"/>
              </a:endParaRPr>
            </a:p>
          </p:txBody>
        </p:sp>
        <p:sp>
          <p:nvSpPr>
            <p:cNvPr id="189" name="Freeform 9">
              <a:extLst>
                <a:ext uri="{FF2B5EF4-FFF2-40B4-BE49-F238E27FC236}">
                  <a16:creationId xmlns:a16="http://schemas.microsoft.com/office/drawing/2014/main" id="{37C54D73-AE25-AB42-85D1-226AC6C73CB8}"/>
                </a:ext>
              </a:extLst>
            </p:cNvPr>
            <p:cNvSpPr>
              <a:spLocks/>
            </p:cNvSpPr>
            <p:nvPr/>
          </p:nvSpPr>
          <p:spPr bwMode="gray">
            <a:xfrm>
              <a:off x="3073" y="2892"/>
              <a:ext cx="1033" cy="904"/>
            </a:xfrm>
            <a:custGeom>
              <a:avLst/>
              <a:gdLst>
                <a:gd name="T0" fmla="*/ 585 w 1033"/>
                <a:gd name="T1" fmla="*/ 1 h 904"/>
                <a:gd name="T2" fmla="*/ 573 w 1033"/>
                <a:gd name="T3" fmla="*/ 41 h 904"/>
                <a:gd name="T4" fmla="*/ 556 w 1033"/>
                <a:gd name="T5" fmla="*/ 78 h 904"/>
                <a:gd name="T6" fmla="*/ 537 w 1033"/>
                <a:gd name="T7" fmla="*/ 116 h 904"/>
                <a:gd name="T8" fmla="*/ 514 w 1033"/>
                <a:gd name="T9" fmla="*/ 150 h 904"/>
                <a:gd name="T10" fmla="*/ 488 w 1033"/>
                <a:gd name="T11" fmla="*/ 182 h 904"/>
                <a:gd name="T12" fmla="*/ 459 w 1033"/>
                <a:gd name="T13" fmla="*/ 212 h 904"/>
                <a:gd name="T14" fmla="*/ 427 w 1033"/>
                <a:gd name="T15" fmla="*/ 239 h 904"/>
                <a:gd name="T16" fmla="*/ 393 w 1033"/>
                <a:gd name="T17" fmla="*/ 262 h 904"/>
                <a:gd name="T18" fmla="*/ 356 w 1033"/>
                <a:gd name="T19" fmla="*/ 283 h 904"/>
                <a:gd name="T20" fmla="*/ 317 w 1033"/>
                <a:gd name="T21" fmla="*/ 301 h 904"/>
                <a:gd name="T22" fmla="*/ 277 w 1033"/>
                <a:gd name="T23" fmla="*/ 314 h 904"/>
                <a:gd name="T24" fmla="*/ 236 w 1033"/>
                <a:gd name="T25" fmla="*/ 323 h 904"/>
                <a:gd name="T26" fmla="*/ 235 w 1033"/>
                <a:gd name="T27" fmla="*/ 187 h 904"/>
                <a:gd name="T28" fmla="*/ 159 w 1033"/>
                <a:gd name="T29" fmla="*/ 298 h 904"/>
                <a:gd name="T30" fmla="*/ 80 w 1033"/>
                <a:gd name="T31" fmla="*/ 409 h 904"/>
                <a:gd name="T32" fmla="*/ 0 w 1033"/>
                <a:gd name="T33" fmla="*/ 517 h 904"/>
                <a:gd name="T34" fmla="*/ 236 w 1033"/>
                <a:gd name="T35" fmla="*/ 903 h 904"/>
                <a:gd name="T36" fmla="*/ 236 w 1033"/>
                <a:gd name="T37" fmla="*/ 766 h 904"/>
                <a:gd name="T38" fmla="*/ 295 w 1033"/>
                <a:gd name="T39" fmla="*/ 759 h 904"/>
                <a:gd name="T40" fmla="*/ 353 w 1033"/>
                <a:gd name="T41" fmla="*/ 747 h 904"/>
                <a:gd name="T42" fmla="*/ 411 w 1033"/>
                <a:gd name="T43" fmla="*/ 733 h 904"/>
                <a:gd name="T44" fmla="*/ 467 w 1033"/>
                <a:gd name="T45" fmla="*/ 713 h 904"/>
                <a:gd name="T46" fmla="*/ 522 w 1033"/>
                <a:gd name="T47" fmla="*/ 691 h 904"/>
                <a:gd name="T48" fmla="*/ 575 w 1033"/>
                <a:gd name="T49" fmla="*/ 665 h 904"/>
                <a:gd name="T50" fmla="*/ 626 w 1033"/>
                <a:gd name="T51" fmla="*/ 635 h 904"/>
                <a:gd name="T52" fmla="*/ 676 w 1033"/>
                <a:gd name="T53" fmla="*/ 601 h 904"/>
                <a:gd name="T54" fmla="*/ 724 w 1033"/>
                <a:gd name="T55" fmla="*/ 564 h 904"/>
                <a:gd name="T56" fmla="*/ 768 w 1033"/>
                <a:gd name="T57" fmla="*/ 525 h 904"/>
                <a:gd name="T58" fmla="*/ 811 w 1033"/>
                <a:gd name="T59" fmla="*/ 481 h 904"/>
                <a:gd name="T60" fmla="*/ 849 w 1033"/>
                <a:gd name="T61" fmla="*/ 435 h 904"/>
                <a:gd name="T62" fmla="*/ 884 w 1033"/>
                <a:gd name="T63" fmla="*/ 387 h 904"/>
                <a:gd name="T64" fmla="*/ 916 w 1033"/>
                <a:gd name="T65" fmla="*/ 337 h 904"/>
                <a:gd name="T66" fmla="*/ 945 w 1033"/>
                <a:gd name="T67" fmla="*/ 284 h 904"/>
                <a:gd name="T68" fmla="*/ 970 w 1033"/>
                <a:gd name="T69" fmla="*/ 231 h 904"/>
                <a:gd name="T70" fmla="*/ 991 w 1033"/>
                <a:gd name="T71" fmla="*/ 174 h 904"/>
                <a:gd name="T72" fmla="*/ 1009 w 1033"/>
                <a:gd name="T73" fmla="*/ 117 h 904"/>
                <a:gd name="T74" fmla="*/ 1023 w 1033"/>
                <a:gd name="T75" fmla="*/ 58 h 904"/>
                <a:gd name="T76" fmla="*/ 1032 w 1033"/>
                <a:gd name="T77" fmla="*/ 0 h 904"/>
                <a:gd name="T78" fmla="*/ 812 w 1033"/>
                <a:gd name="T79" fmla="*/ 132 h 904"/>
                <a:gd name="T80" fmla="*/ 585 w 1033"/>
                <a:gd name="T81" fmla="*/ 1 h 90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33"/>
                <a:gd name="T124" fmla="*/ 0 h 904"/>
                <a:gd name="T125" fmla="*/ 1033 w 1033"/>
                <a:gd name="T126" fmla="*/ 904 h 90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grpFill/>
            <a:ln w="25400" cap="rnd">
              <a:solidFill>
                <a:schemeClr val="bg1"/>
              </a:solidFill>
              <a:round/>
              <a:headEnd/>
              <a:tailEnd/>
            </a:ln>
          </p:spPr>
          <p:txBody>
            <a:bodyPr/>
            <a:lstStyle/>
            <a:p>
              <a:endParaRPr lang="ja-JP" altLang="en-US">
                <a:latin typeface="Meiryo UI" panose="020B0604030504040204" pitchFamily="50" charset="-128"/>
                <a:ea typeface="Meiryo UI" panose="020B0604030504040204" pitchFamily="50" charset="-128"/>
              </a:endParaRPr>
            </a:p>
          </p:txBody>
        </p:sp>
        <p:sp>
          <p:nvSpPr>
            <p:cNvPr id="190" name="Freeform 10">
              <a:extLst>
                <a:ext uri="{FF2B5EF4-FFF2-40B4-BE49-F238E27FC236}">
                  <a16:creationId xmlns:a16="http://schemas.microsoft.com/office/drawing/2014/main" id="{9C554166-9006-6CF7-0FBC-5C02FCDB7920}"/>
                </a:ext>
              </a:extLst>
            </p:cNvPr>
            <p:cNvSpPr>
              <a:spLocks/>
            </p:cNvSpPr>
            <p:nvPr/>
          </p:nvSpPr>
          <p:spPr bwMode="gray">
            <a:xfrm>
              <a:off x="2244" y="2563"/>
              <a:ext cx="930" cy="1075"/>
            </a:xfrm>
            <a:custGeom>
              <a:avLst/>
              <a:gdLst>
                <a:gd name="T0" fmla="*/ 929 w 930"/>
                <a:gd name="T1" fmla="*/ 645 h 1075"/>
                <a:gd name="T2" fmla="*/ 887 w 930"/>
                <a:gd name="T3" fmla="*/ 634 h 1075"/>
                <a:gd name="T4" fmla="*/ 847 w 930"/>
                <a:gd name="T5" fmla="*/ 620 h 1075"/>
                <a:gd name="T6" fmla="*/ 807 w 930"/>
                <a:gd name="T7" fmla="*/ 603 h 1075"/>
                <a:gd name="T8" fmla="*/ 771 w 930"/>
                <a:gd name="T9" fmla="*/ 582 h 1075"/>
                <a:gd name="T10" fmla="*/ 735 w 930"/>
                <a:gd name="T11" fmla="*/ 557 h 1075"/>
                <a:gd name="T12" fmla="*/ 703 w 930"/>
                <a:gd name="T13" fmla="*/ 529 h 1075"/>
                <a:gd name="T14" fmla="*/ 673 w 930"/>
                <a:gd name="T15" fmla="*/ 497 h 1075"/>
                <a:gd name="T16" fmla="*/ 648 w 930"/>
                <a:gd name="T17" fmla="*/ 465 h 1075"/>
                <a:gd name="T18" fmla="*/ 624 w 930"/>
                <a:gd name="T19" fmla="*/ 428 h 1075"/>
                <a:gd name="T20" fmla="*/ 607 w 930"/>
                <a:gd name="T21" fmla="*/ 398 h 1075"/>
                <a:gd name="T22" fmla="*/ 594 w 930"/>
                <a:gd name="T23" fmla="*/ 366 h 1075"/>
                <a:gd name="T24" fmla="*/ 583 w 930"/>
                <a:gd name="T25" fmla="*/ 332 h 1075"/>
                <a:gd name="T26" fmla="*/ 577 w 930"/>
                <a:gd name="T27" fmla="*/ 298 h 1075"/>
                <a:gd name="T28" fmla="*/ 575 w 930"/>
                <a:gd name="T29" fmla="*/ 264 h 1075"/>
                <a:gd name="T30" fmla="*/ 576 w 930"/>
                <a:gd name="T31" fmla="*/ 229 h 1075"/>
                <a:gd name="T32" fmla="*/ 748 w 930"/>
                <a:gd name="T33" fmla="*/ 229 h 1075"/>
                <a:gd name="T34" fmla="*/ 360 w 930"/>
                <a:gd name="T35" fmla="*/ 0 h 1075"/>
                <a:gd name="T36" fmla="*/ 0 w 930"/>
                <a:gd name="T37" fmla="*/ 236 h 1075"/>
                <a:gd name="T38" fmla="*/ 136 w 930"/>
                <a:gd name="T39" fmla="*/ 237 h 1075"/>
                <a:gd name="T40" fmla="*/ 141 w 930"/>
                <a:gd name="T41" fmla="*/ 299 h 1075"/>
                <a:gd name="T42" fmla="*/ 150 w 930"/>
                <a:gd name="T43" fmla="*/ 362 h 1075"/>
                <a:gd name="T44" fmla="*/ 165 w 930"/>
                <a:gd name="T45" fmla="*/ 422 h 1075"/>
                <a:gd name="T46" fmla="*/ 182 w 930"/>
                <a:gd name="T47" fmla="*/ 483 h 1075"/>
                <a:gd name="T48" fmla="*/ 204 w 930"/>
                <a:gd name="T49" fmla="*/ 541 h 1075"/>
                <a:gd name="T50" fmla="*/ 231 w 930"/>
                <a:gd name="T51" fmla="*/ 598 h 1075"/>
                <a:gd name="T52" fmla="*/ 262 w 930"/>
                <a:gd name="T53" fmla="*/ 653 h 1075"/>
                <a:gd name="T54" fmla="*/ 296 w 930"/>
                <a:gd name="T55" fmla="*/ 704 h 1075"/>
                <a:gd name="T56" fmla="*/ 333 w 930"/>
                <a:gd name="T57" fmla="*/ 752 h 1075"/>
                <a:gd name="T58" fmla="*/ 374 w 930"/>
                <a:gd name="T59" fmla="*/ 797 h 1075"/>
                <a:gd name="T60" fmla="*/ 419 w 930"/>
                <a:gd name="T61" fmla="*/ 841 h 1075"/>
                <a:gd name="T62" fmla="*/ 465 w 930"/>
                <a:gd name="T63" fmla="*/ 880 h 1075"/>
                <a:gd name="T64" fmla="*/ 514 w 930"/>
                <a:gd name="T65" fmla="*/ 917 h 1075"/>
                <a:gd name="T66" fmla="*/ 566 w 930"/>
                <a:gd name="T67" fmla="*/ 951 h 1075"/>
                <a:gd name="T68" fmla="*/ 620 w 930"/>
                <a:gd name="T69" fmla="*/ 980 h 1075"/>
                <a:gd name="T70" fmla="*/ 675 w 930"/>
                <a:gd name="T71" fmla="*/ 1007 h 1075"/>
                <a:gd name="T72" fmla="*/ 732 w 930"/>
                <a:gd name="T73" fmla="*/ 1029 h 1075"/>
                <a:gd name="T74" fmla="*/ 790 w 930"/>
                <a:gd name="T75" fmla="*/ 1048 h 1075"/>
                <a:gd name="T76" fmla="*/ 849 w 930"/>
                <a:gd name="T77" fmla="*/ 1062 h 1075"/>
                <a:gd name="T78" fmla="*/ 910 w 930"/>
                <a:gd name="T79" fmla="*/ 1074 h 1075"/>
                <a:gd name="T80" fmla="*/ 772 w 930"/>
                <a:gd name="T81" fmla="*/ 845 h 1075"/>
                <a:gd name="T82" fmla="*/ 929 w 930"/>
                <a:gd name="T83" fmla="*/ 645 h 107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30"/>
                <a:gd name="T127" fmla="*/ 0 h 1075"/>
                <a:gd name="T128" fmla="*/ 930 w 930"/>
                <a:gd name="T129" fmla="*/ 1075 h 107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grpFill/>
            <a:ln w="25400" cap="rnd">
              <a:solidFill>
                <a:schemeClr val="bg1"/>
              </a:solidFill>
              <a:round/>
              <a:headEnd/>
              <a:tailEnd/>
            </a:ln>
          </p:spPr>
          <p:txBody>
            <a:bodyPr/>
            <a:lstStyle/>
            <a:p>
              <a:endParaRPr lang="ja-JP" altLang="en-US">
                <a:latin typeface="Meiryo UI" panose="020B0604030504040204" pitchFamily="50" charset="-128"/>
                <a:ea typeface="Meiryo UI" panose="020B0604030504040204" pitchFamily="50" charset="-128"/>
              </a:endParaRPr>
            </a:p>
          </p:txBody>
        </p:sp>
        <p:sp>
          <p:nvSpPr>
            <p:cNvPr id="191" name="Freeform 11">
              <a:extLst>
                <a:ext uri="{FF2B5EF4-FFF2-40B4-BE49-F238E27FC236}">
                  <a16:creationId xmlns:a16="http://schemas.microsoft.com/office/drawing/2014/main" id="{0497E4EE-D4E1-28D4-1BEE-13959720997F}"/>
                </a:ext>
              </a:extLst>
            </p:cNvPr>
            <p:cNvSpPr>
              <a:spLocks/>
            </p:cNvSpPr>
            <p:nvPr/>
          </p:nvSpPr>
          <p:spPr bwMode="gray">
            <a:xfrm>
              <a:off x="3330" y="1909"/>
              <a:ext cx="943" cy="1065"/>
            </a:xfrm>
            <a:custGeom>
              <a:avLst/>
              <a:gdLst>
                <a:gd name="T0" fmla="*/ 554 w 943"/>
                <a:gd name="T1" fmla="*/ 1064 h 1065"/>
                <a:gd name="T2" fmla="*/ 942 w 943"/>
                <a:gd name="T3" fmla="*/ 840 h 1065"/>
                <a:gd name="T4" fmla="*/ 781 w 943"/>
                <a:gd name="T5" fmla="*/ 840 h 1065"/>
                <a:gd name="T6" fmla="*/ 776 w 943"/>
                <a:gd name="T7" fmla="*/ 778 h 1065"/>
                <a:gd name="T8" fmla="*/ 767 w 943"/>
                <a:gd name="T9" fmla="*/ 716 h 1065"/>
                <a:gd name="T10" fmla="*/ 754 w 943"/>
                <a:gd name="T11" fmla="*/ 655 h 1065"/>
                <a:gd name="T12" fmla="*/ 737 w 943"/>
                <a:gd name="T13" fmla="*/ 595 h 1065"/>
                <a:gd name="T14" fmla="*/ 714 w 943"/>
                <a:gd name="T15" fmla="*/ 536 h 1065"/>
                <a:gd name="T16" fmla="*/ 688 w 943"/>
                <a:gd name="T17" fmla="*/ 480 h 1065"/>
                <a:gd name="T18" fmla="*/ 658 w 943"/>
                <a:gd name="T19" fmla="*/ 425 h 1065"/>
                <a:gd name="T20" fmla="*/ 624 w 943"/>
                <a:gd name="T21" fmla="*/ 372 h 1065"/>
                <a:gd name="T22" fmla="*/ 586 w 943"/>
                <a:gd name="T23" fmla="*/ 323 h 1065"/>
                <a:gd name="T24" fmla="*/ 547 w 943"/>
                <a:gd name="T25" fmla="*/ 275 h 1065"/>
                <a:gd name="T26" fmla="*/ 502 w 943"/>
                <a:gd name="T27" fmla="*/ 232 h 1065"/>
                <a:gd name="T28" fmla="*/ 455 w 943"/>
                <a:gd name="T29" fmla="*/ 191 h 1065"/>
                <a:gd name="T30" fmla="*/ 405 w 943"/>
                <a:gd name="T31" fmla="*/ 153 h 1065"/>
                <a:gd name="T32" fmla="*/ 352 w 943"/>
                <a:gd name="T33" fmla="*/ 120 h 1065"/>
                <a:gd name="T34" fmla="*/ 298 w 943"/>
                <a:gd name="T35" fmla="*/ 89 h 1065"/>
                <a:gd name="T36" fmla="*/ 241 w 943"/>
                <a:gd name="T37" fmla="*/ 63 h 1065"/>
                <a:gd name="T38" fmla="*/ 182 w 943"/>
                <a:gd name="T39" fmla="*/ 41 h 1065"/>
                <a:gd name="T40" fmla="*/ 122 w 943"/>
                <a:gd name="T41" fmla="*/ 23 h 1065"/>
                <a:gd name="T42" fmla="*/ 61 w 943"/>
                <a:gd name="T43" fmla="*/ 9 h 1065"/>
                <a:gd name="T44" fmla="*/ 0 w 943"/>
                <a:gd name="T45" fmla="*/ 0 h 1065"/>
                <a:gd name="T46" fmla="*/ 137 w 943"/>
                <a:gd name="T47" fmla="*/ 226 h 1065"/>
                <a:gd name="T48" fmla="*/ 5 w 943"/>
                <a:gd name="T49" fmla="*/ 451 h 1065"/>
                <a:gd name="T50" fmla="*/ 48 w 943"/>
                <a:gd name="T51" fmla="*/ 465 h 1065"/>
                <a:gd name="T52" fmla="*/ 90 w 943"/>
                <a:gd name="T53" fmla="*/ 483 h 1065"/>
                <a:gd name="T54" fmla="*/ 130 w 943"/>
                <a:gd name="T55" fmla="*/ 505 h 1065"/>
                <a:gd name="T56" fmla="*/ 168 w 943"/>
                <a:gd name="T57" fmla="*/ 531 h 1065"/>
                <a:gd name="T58" fmla="*/ 202 w 943"/>
                <a:gd name="T59" fmla="*/ 561 h 1065"/>
                <a:gd name="T60" fmla="*/ 233 w 943"/>
                <a:gd name="T61" fmla="*/ 594 h 1065"/>
                <a:gd name="T62" fmla="*/ 262 w 943"/>
                <a:gd name="T63" fmla="*/ 629 h 1065"/>
                <a:gd name="T64" fmla="*/ 285 w 943"/>
                <a:gd name="T65" fmla="*/ 668 h 1065"/>
                <a:gd name="T66" fmla="*/ 305 w 943"/>
                <a:gd name="T67" fmla="*/ 709 h 1065"/>
                <a:gd name="T68" fmla="*/ 321 w 943"/>
                <a:gd name="T69" fmla="*/ 751 h 1065"/>
                <a:gd name="T70" fmla="*/ 333 w 943"/>
                <a:gd name="T71" fmla="*/ 795 h 1065"/>
                <a:gd name="T72" fmla="*/ 340 w 943"/>
                <a:gd name="T73" fmla="*/ 840 h 1065"/>
                <a:gd name="T74" fmla="*/ 188 w 943"/>
                <a:gd name="T75" fmla="*/ 841 h 1065"/>
                <a:gd name="T76" fmla="*/ 554 w 943"/>
                <a:gd name="T77" fmla="*/ 1064 h 10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43"/>
                <a:gd name="T118" fmla="*/ 0 h 1065"/>
                <a:gd name="T119" fmla="*/ 943 w 943"/>
                <a:gd name="T120" fmla="*/ 1065 h 10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grpFill/>
            <a:ln w="25400" cap="rnd">
              <a:solidFill>
                <a:schemeClr val="bg1"/>
              </a:solidFill>
              <a:round/>
              <a:headEnd/>
              <a:tailEnd/>
            </a:ln>
          </p:spPr>
          <p:txBody>
            <a:bodyPr/>
            <a:lstStyle/>
            <a:p>
              <a:endParaRPr lang="ja-JP" altLang="en-US">
                <a:latin typeface="Meiryo UI" panose="020B0604030504040204" pitchFamily="50" charset="-128"/>
                <a:ea typeface="Meiryo UI" panose="020B0604030504040204" pitchFamily="50" charset="-128"/>
              </a:endParaRPr>
            </a:p>
          </p:txBody>
        </p:sp>
      </p:grpSp>
      <p:sp>
        <p:nvSpPr>
          <p:cNvPr id="104" name="フリーフォーム: 図形 103">
            <a:extLst>
              <a:ext uri="{FF2B5EF4-FFF2-40B4-BE49-F238E27FC236}">
                <a16:creationId xmlns:a16="http://schemas.microsoft.com/office/drawing/2014/main" id="{9E584CFE-AE18-3A9E-9144-F8F4D5499DEA}"/>
              </a:ext>
            </a:extLst>
          </p:cNvPr>
          <p:cNvSpPr/>
          <p:nvPr/>
        </p:nvSpPr>
        <p:spPr>
          <a:xfrm>
            <a:off x="1052640" y="1687736"/>
            <a:ext cx="7716544" cy="4564051"/>
          </a:xfrm>
          <a:custGeom>
            <a:avLst/>
            <a:gdLst>
              <a:gd name="connsiteX0" fmla="*/ 0 w 7965478"/>
              <a:gd name="connsiteY0" fmla="*/ 0 h 4728715"/>
              <a:gd name="connsiteX1" fmla="*/ 7290153 w 7965478"/>
              <a:gd name="connsiteY1" fmla="*/ 0 h 4728715"/>
              <a:gd name="connsiteX2" fmla="*/ 7536588 w 7965478"/>
              <a:gd name="connsiteY2" fmla="*/ 0 h 4728715"/>
              <a:gd name="connsiteX3" fmla="*/ 7965478 w 7965478"/>
              <a:gd name="connsiteY3" fmla="*/ 0 h 4728715"/>
              <a:gd name="connsiteX4" fmla="*/ 7965478 w 7965478"/>
              <a:gd name="connsiteY4" fmla="*/ 3176367 h 4728715"/>
              <a:gd name="connsiteX5" fmla="*/ 7965478 w 7965478"/>
              <a:gd name="connsiteY5" fmla="*/ 3943350 h 4728715"/>
              <a:gd name="connsiteX6" fmla="*/ 7965478 w 7965478"/>
              <a:gd name="connsiteY6" fmla="*/ 4728715 h 4728715"/>
              <a:gd name="connsiteX7" fmla="*/ 5220120 w 7965478"/>
              <a:gd name="connsiteY7" fmla="*/ 4728715 h 4728715"/>
              <a:gd name="connsiteX8" fmla="*/ 5220120 w 7965478"/>
              <a:gd name="connsiteY8" fmla="*/ 3176367 h 4728715"/>
              <a:gd name="connsiteX9" fmla="*/ 7290153 w 7965478"/>
              <a:gd name="connsiteY9" fmla="*/ 3176367 h 4728715"/>
              <a:gd name="connsiteX10" fmla="*/ 7290153 w 7965478"/>
              <a:gd name="connsiteY10" fmla="*/ 1432436 h 4728715"/>
              <a:gd name="connsiteX11" fmla="*/ 0 w 7965478"/>
              <a:gd name="connsiteY11" fmla="*/ 1432436 h 472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65478" h="4728715">
                <a:moveTo>
                  <a:pt x="0" y="0"/>
                </a:moveTo>
                <a:lnTo>
                  <a:pt x="7290153" y="0"/>
                </a:lnTo>
                <a:lnTo>
                  <a:pt x="7536588" y="0"/>
                </a:lnTo>
                <a:lnTo>
                  <a:pt x="7965478" y="0"/>
                </a:lnTo>
                <a:lnTo>
                  <a:pt x="7965478" y="3176367"/>
                </a:lnTo>
                <a:lnTo>
                  <a:pt x="7965478" y="3943350"/>
                </a:lnTo>
                <a:lnTo>
                  <a:pt x="7965478" y="4728715"/>
                </a:lnTo>
                <a:lnTo>
                  <a:pt x="5220120" y="4728715"/>
                </a:lnTo>
                <a:lnTo>
                  <a:pt x="5220120" y="3176367"/>
                </a:lnTo>
                <a:lnTo>
                  <a:pt x="7290153" y="3176367"/>
                </a:lnTo>
                <a:lnTo>
                  <a:pt x="7290153" y="1432436"/>
                </a:lnTo>
                <a:lnTo>
                  <a:pt x="0" y="1432436"/>
                </a:lnTo>
                <a:close/>
              </a:path>
            </a:pathLst>
          </a:custGeom>
          <a:solidFill>
            <a:schemeClr val="accent1">
              <a:lumMod val="20000"/>
              <a:lumOff val="80000"/>
              <a:alpha val="75000"/>
            </a:schemeClr>
          </a:solidFill>
          <a:ln w="28575">
            <a:no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05ECD9E8-8B18-AF0F-266F-60BEAFDEE2F6}"/>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参考</a:t>
            </a:r>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サステナビリティデータ管理のあるべき姿</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38F3D712-A3E7-7B62-118C-B5397A5F3EEC}"/>
              </a:ext>
            </a:extLst>
          </p:cNvPr>
          <p:cNvSpPr>
            <a:spLocks noGrp="1"/>
          </p:cNvSpPr>
          <p:nvPr>
            <p:ph type="sldNum" sz="quarter" idx="12"/>
          </p:nvPr>
        </p:nvSpPr>
        <p:spPr>
          <a:xfrm>
            <a:off x="10009068" y="6624000"/>
            <a:ext cx="432000" cy="144000"/>
          </a:xfrm>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36</a:t>
            </a:fld>
            <a:endParaRPr kumimoji="1" lang="ja-JP" altLang="en-US">
              <a:latin typeface="Meiryo UI" panose="020B0604030504040204" pitchFamily="50" charset="-128"/>
              <a:ea typeface="Meiryo UI" panose="020B0604030504040204" pitchFamily="50" charset="-128"/>
            </a:endParaRPr>
          </a:p>
        </p:txBody>
      </p:sp>
      <p:sp>
        <p:nvSpPr>
          <p:cNvPr id="4" name="四角形: 角を丸くする 3">
            <a:extLst>
              <a:ext uri="{FF2B5EF4-FFF2-40B4-BE49-F238E27FC236}">
                <a16:creationId xmlns:a16="http://schemas.microsoft.com/office/drawing/2014/main" id="{40C41556-01D6-FC42-0447-959E53067583}"/>
              </a:ext>
            </a:extLst>
          </p:cNvPr>
          <p:cNvSpPr/>
          <p:nvPr/>
        </p:nvSpPr>
        <p:spPr>
          <a:xfrm>
            <a:off x="1227969" y="1922102"/>
            <a:ext cx="1332000" cy="432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データ収集</a:t>
            </a:r>
          </a:p>
        </p:txBody>
      </p:sp>
      <p:sp>
        <p:nvSpPr>
          <p:cNvPr id="5" name="四角形: 角を丸くする 4">
            <a:extLst>
              <a:ext uri="{FF2B5EF4-FFF2-40B4-BE49-F238E27FC236}">
                <a16:creationId xmlns:a16="http://schemas.microsoft.com/office/drawing/2014/main" id="{D83E9EBF-CABE-7B73-C446-58850B3F5677}"/>
              </a:ext>
            </a:extLst>
          </p:cNvPr>
          <p:cNvSpPr/>
          <p:nvPr/>
        </p:nvSpPr>
        <p:spPr>
          <a:xfrm>
            <a:off x="3915258" y="1922102"/>
            <a:ext cx="1332000" cy="432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算定</a:t>
            </a:r>
          </a:p>
        </p:txBody>
      </p:sp>
      <p:sp>
        <p:nvSpPr>
          <p:cNvPr id="6" name="四角形: 角を丸くする 5">
            <a:extLst>
              <a:ext uri="{FF2B5EF4-FFF2-40B4-BE49-F238E27FC236}">
                <a16:creationId xmlns:a16="http://schemas.microsoft.com/office/drawing/2014/main" id="{E3CC496C-A552-C20F-E44C-351923ED7C38}"/>
              </a:ext>
            </a:extLst>
          </p:cNvPr>
          <p:cNvSpPr/>
          <p:nvPr/>
        </p:nvSpPr>
        <p:spPr>
          <a:xfrm>
            <a:off x="6602548" y="1922102"/>
            <a:ext cx="1332000" cy="432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開示・報告</a:t>
            </a:r>
            <a:endParaRPr kumimoji="1" lang="en-US" altLang="ja-JP" sz="1200" b="1">
              <a:solidFill>
                <a:schemeClr val="bg1"/>
              </a:solidFill>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a16="http://schemas.microsoft.com/office/drawing/2014/main" id="{A77B8CE4-5DCA-E28C-7B68-28AC3815292D}"/>
              </a:ext>
            </a:extLst>
          </p:cNvPr>
          <p:cNvSpPr/>
          <p:nvPr/>
        </p:nvSpPr>
        <p:spPr>
          <a:xfrm>
            <a:off x="6602548" y="5085185"/>
            <a:ext cx="1332000" cy="432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モニタリング</a:t>
            </a:r>
            <a:r>
              <a:rPr kumimoji="1" lang="en-US" altLang="ja-JP" sz="1200" b="1">
                <a:solidFill>
                  <a:schemeClr val="bg1"/>
                </a:solidFill>
                <a:latin typeface="Meiryo UI" panose="020B0604030504040204" pitchFamily="50" charset="-128"/>
                <a:ea typeface="Meiryo UI" panose="020B0604030504040204" pitchFamily="50" charset="-128"/>
              </a:rPr>
              <a:t>/</a:t>
            </a:r>
          </a:p>
          <a:p>
            <a:pPr algn="ctr"/>
            <a:r>
              <a:rPr kumimoji="1" lang="ja-JP" altLang="en-US" sz="1200" b="1">
                <a:solidFill>
                  <a:schemeClr val="bg1"/>
                </a:solidFill>
                <a:latin typeface="Meiryo UI" panose="020B0604030504040204" pitchFamily="50" charset="-128"/>
                <a:ea typeface="Meiryo UI" panose="020B0604030504040204" pitchFamily="50" charset="-128"/>
              </a:rPr>
              <a:t>分析</a:t>
            </a:r>
          </a:p>
        </p:txBody>
      </p:sp>
      <p:sp>
        <p:nvSpPr>
          <p:cNvPr id="8" name="四角形: 角を丸くする 7">
            <a:extLst>
              <a:ext uri="{FF2B5EF4-FFF2-40B4-BE49-F238E27FC236}">
                <a16:creationId xmlns:a16="http://schemas.microsoft.com/office/drawing/2014/main" id="{6DB64390-7A26-B014-C0BC-8E98C691FA84}"/>
              </a:ext>
            </a:extLst>
          </p:cNvPr>
          <p:cNvSpPr/>
          <p:nvPr/>
        </p:nvSpPr>
        <p:spPr>
          <a:xfrm>
            <a:off x="3970437" y="5085185"/>
            <a:ext cx="1332000" cy="432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フィードバック</a:t>
            </a:r>
          </a:p>
        </p:txBody>
      </p:sp>
      <p:cxnSp>
        <p:nvCxnSpPr>
          <p:cNvPr id="12" name="直線矢印コネクタ 11">
            <a:extLst>
              <a:ext uri="{FF2B5EF4-FFF2-40B4-BE49-F238E27FC236}">
                <a16:creationId xmlns:a16="http://schemas.microsoft.com/office/drawing/2014/main" id="{816E42BD-E8E4-70B2-1A7F-DBAB172411CD}"/>
              </a:ext>
            </a:extLst>
          </p:cNvPr>
          <p:cNvCxnSpPr>
            <a:cxnSpLocks/>
          </p:cNvCxnSpPr>
          <p:nvPr/>
        </p:nvCxnSpPr>
        <p:spPr>
          <a:xfrm>
            <a:off x="2559969" y="2138102"/>
            <a:ext cx="1458000" cy="0"/>
          </a:xfrm>
          <a:prstGeom prst="straightConnector1">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C19E9408-DC0A-F5B5-A450-F27E44C7006D}"/>
              </a:ext>
            </a:extLst>
          </p:cNvPr>
          <p:cNvCxnSpPr>
            <a:cxnSpLocks/>
            <a:stCxn id="5" idx="3"/>
          </p:cNvCxnSpPr>
          <p:nvPr/>
        </p:nvCxnSpPr>
        <p:spPr>
          <a:xfrm>
            <a:off x="5247258" y="2138102"/>
            <a:ext cx="1355290" cy="0"/>
          </a:xfrm>
          <a:prstGeom prst="straightConnector1">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4ABEB2CA-A581-3E7B-E83B-05ED55249FB8}"/>
              </a:ext>
            </a:extLst>
          </p:cNvPr>
          <p:cNvCxnSpPr>
            <a:cxnSpLocks/>
            <a:stCxn id="6" idx="3"/>
            <a:endCxn id="7" idx="3"/>
          </p:cNvCxnSpPr>
          <p:nvPr/>
        </p:nvCxnSpPr>
        <p:spPr>
          <a:xfrm>
            <a:off x="7934548" y="2138102"/>
            <a:ext cx="12700" cy="3163083"/>
          </a:xfrm>
          <a:prstGeom prst="bentConnector3">
            <a:avLst>
              <a:gd name="adj1" fmla="val 4906850"/>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4D2B8050-3C19-F0E6-B548-74D88F8FE761}"/>
              </a:ext>
            </a:extLst>
          </p:cNvPr>
          <p:cNvCxnSpPr>
            <a:cxnSpLocks/>
            <a:stCxn id="7" idx="1"/>
            <a:endCxn id="8" idx="3"/>
          </p:cNvCxnSpPr>
          <p:nvPr/>
        </p:nvCxnSpPr>
        <p:spPr>
          <a:xfrm flipH="1">
            <a:off x="5302437" y="5301185"/>
            <a:ext cx="1300111" cy="0"/>
          </a:xfrm>
          <a:prstGeom prst="straightConnector1">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F0D4E2A1-A1DA-0F90-589F-757D9DC7542D}"/>
              </a:ext>
            </a:extLst>
          </p:cNvPr>
          <p:cNvSpPr txBox="1"/>
          <p:nvPr/>
        </p:nvSpPr>
        <p:spPr>
          <a:xfrm>
            <a:off x="960904" y="2350728"/>
            <a:ext cx="1866128" cy="430887"/>
          </a:xfrm>
          <a:prstGeom prst="rect">
            <a:avLst/>
          </a:prstGeom>
          <a:noFill/>
        </p:spPr>
        <p:txBody>
          <a:bodyPr wrap="square" rtlCol="0">
            <a:noAutofit/>
          </a:bodyPr>
          <a:lstStyle/>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多様な要求事項・保証取得に整合した活動量・データポイントの取得</a:t>
            </a:r>
          </a:p>
        </p:txBody>
      </p:sp>
      <p:sp>
        <p:nvSpPr>
          <p:cNvPr id="30" name="テキスト ボックス 29">
            <a:extLst>
              <a:ext uri="{FF2B5EF4-FFF2-40B4-BE49-F238E27FC236}">
                <a16:creationId xmlns:a16="http://schemas.microsoft.com/office/drawing/2014/main" id="{8CE0F9C2-DD85-3B91-6042-A990C1CBF118}"/>
              </a:ext>
            </a:extLst>
          </p:cNvPr>
          <p:cNvSpPr txBox="1"/>
          <p:nvPr/>
        </p:nvSpPr>
        <p:spPr>
          <a:xfrm>
            <a:off x="3671484" y="2350728"/>
            <a:ext cx="1866128" cy="430887"/>
          </a:xfrm>
          <a:prstGeom prst="rect">
            <a:avLst/>
          </a:prstGeom>
          <a:noFill/>
        </p:spPr>
        <p:txBody>
          <a:bodyPr wrap="square" rtlCol="0">
            <a:noAutofit/>
          </a:bodyPr>
          <a:lstStyle/>
          <a:p>
            <a:pPr marL="171450" indent="-171450" algn="l">
              <a:buFont typeface="Wingdings" panose="05000000000000000000" pitchFamily="2" charset="2"/>
              <a:buChar char="ü"/>
            </a:pPr>
            <a:r>
              <a:rPr kumimoji="1" lang="en-US" altLang="ja-JP" sz="900">
                <a:latin typeface="Meiryo UI" panose="020B0604030504040204" pitchFamily="50" charset="-128"/>
                <a:ea typeface="Meiryo UI" panose="020B0604030504040204" pitchFamily="50" charset="-128"/>
              </a:rPr>
              <a:t>GHG</a:t>
            </a:r>
            <a:r>
              <a:rPr kumimoji="1" lang="ja-JP" altLang="en-US" sz="900">
                <a:latin typeface="Meiryo UI" panose="020B0604030504040204" pitchFamily="50" charset="-128"/>
                <a:ea typeface="Meiryo UI" panose="020B0604030504040204" pitchFamily="50" charset="-128"/>
              </a:rPr>
              <a:t>プロトコル・温対法・</a:t>
            </a:r>
            <a:r>
              <a:rPr kumimoji="1" lang="en-US" altLang="ja-JP" sz="900">
                <a:latin typeface="Meiryo UI" panose="020B0604030504040204" pitchFamily="50" charset="-128"/>
                <a:ea typeface="Meiryo UI" panose="020B0604030504040204" pitchFamily="50" charset="-128"/>
              </a:rPr>
              <a:t>GX</a:t>
            </a:r>
            <a:r>
              <a:rPr kumimoji="1" lang="ja-JP" altLang="en-US" sz="900">
                <a:latin typeface="Meiryo UI" panose="020B0604030504040204" pitchFamily="50" charset="-128"/>
                <a:ea typeface="Meiryo UI" panose="020B0604030504040204" pitchFamily="50" charset="-128"/>
              </a:rPr>
              <a:t>リーグに準拠した算定</a:t>
            </a:r>
            <a:endParaRPr kumimoji="1" lang="en-US" altLang="ja-JP" sz="900">
              <a:latin typeface="Meiryo UI" panose="020B0604030504040204" pitchFamily="50" charset="-128"/>
              <a:ea typeface="Meiryo UI" panose="020B0604030504040204" pitchFamily="50" charset="-128"/>
            </a:endParaRPr>
          </a:p>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保証取得に向けた算定方法・頻度・範囲での算定</a:t>
            </a:r>
          </a:p>
        </p:txBody>
      </p:sp>
      <p:sp>
        <p:nvSpPr>
          <p:cNvPr id="31" name="テキスト ボックス 30">
            <a:extLst>
              <a:ext uri="{FF2B5EF4-FFF2-40B4-BE49-F238E27FC236}">
                <a16:creationId xmlns:a16="http://schemas.microsoft.com/office/drawing/2014/main" id="{2A54E3B9-4ED8-F33C-FD4C-0F527186C6FE}"/>
              </a:ext>
            </a:extLst>
          </p:cNvPr>
          <p:cNvSpPr txBox="1"/>
          <p:nvPr/>
        </p:nvSpPr>
        <p:spPr>
          <a:xfrm>
            <a:off x="6382064" y="2350728"/>
            <a:ext cx="1866128" cy="430887"/>
          </a:xfrm>
          <a:prstGeom prst="rect">
            <a:avLst/>
          </a:prstGeom>
          <a:noFill/>
        </p:spPr>
        <p:txBody>
          <a:bodyPr wrap="square" rtlCol="0">
            <a:noAutofit/>
          </a:bodyPr>
          <a:lstStyle/>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多様な要求事項・保証取得に整合した開示</a:t>
            </a:r>
          </a:p>
        </p:txBody>
      </p:sp>
      <p:sp>
        <p:nvSpPr>
          <p:cNvPr id="32" name="テキスト ボックス 31">
            <a:extLst>
              <a:ext uri="{FF2B5EF4-FFF2-40B4-BE49-F238E27FC236}">
                <a16:creationId xmlns:a16="http://schemas.microsoft.com/office/drawing/2014/main" id="{040F4AFD-1097-C749-76D1-4B4748E1BCEE}"/>
              </a:ext>
            </a:extLst>
          </p:cNvPr>
          <p:cNvSpPr txBox="1"/>
          <p:nvPr/>
        </p:nvSpPr>
        <p:spPr>
          <a:xfrm>
            <a:off x="3671484" y="5510436"/>
            <a:ext cx="1866128" cy="430887"/>
          </a:xfrm>
          <a:prstGeom prst="rect">
            <a:avLst/>
          </a:prstGeom>
          <a:noFill/>
        </p:spPr>
        <p:txBody>
          <a:bodyPr wrap="square" rtlCol="0">
            <a:noAutofit/>
          </a:bodyPr>
          <a:lstStyle/>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リスク管理プロセスとの連携</a:t>
            </a:r>
            <a:endParaRPr kumimoji="1" lang="en-US" altLang="ja-JP" sz="900">
              <a:latin typeface="Meiryo UI" panose="020B0604030504040204" pitchFamily="50" charset="-128"/>
              <a:ea typeface="Meiryo UI" panose="020B0604030504040204" pitchFamily="50" charset="-128"/>
            </a:endParaRPr>
          </a:p>
          <a:p>
            <a:pPr marL="171450" indent="-171450" algn="l">
              <a:buFont typeface="Wingdings" panose="05000000000000000000" pitchFamily="2" charset="2"/>
              <a:buChar char="ü"/>
            </a:pPr>
            <a:r>
              <a:rPr kumimoji="1" lang="en-US" altLang="ja-JP" sz="900">
                <a:latin typeface="Meiryo UI" panose="020B0604030504040204" pitchFamily="50" charset="-128"/>
                <a:ea typeface="Meiryo UI" panose="020B0604030504040204" pitchFamily="50" charset="-128"/>
              </a:rPr>
              <a:t>IRO</a:t>
            </a:r>
            <a:r>
              <a:rPr kumimoji="1" lang="ja-JP" altLang="en-US" sz="900">
                <a:latin typeface="Meiryo UI" panose="020B0604030504040204" pitchFamily="50" charset="-128"/>
                <a:ea typeface="Meiryo UI" panose="020B0604030504040204" pitchFamily="50" charset="-128"/>
              </a:rPr>
              <a:t>の検討、財務影響の分析、移行計画の策定への活用</a:t>
            </a:r>
          </a:p>
        </p:txBody>
      </p:sp>
      <p:sp>
        <p:nvSpPr>
          <p:cNvPr id="33" name="テキスト ボックス 32">
            <a:extLst>
              <a:ext uri="{FF2B5EF4-FFF2-40B4-BE49-F238E27FC236}">
                <a16:creationId xmlns:a16="http://schemas.microsoft.com/office/drawing/2014/main" id="{E2D02608-138B-86E9-B912-718A37E59EC6}"/>
              </a:ext>
            </a:extLst>
          </p:cNvPr>
          <p:cNvSpPr txBox="1"/>
          <p:nvPr/>
        </p:nvSpPr>
        <p:spPr>
          <a:xfrm>
            <a:off x="6121568" y="5510436"/>
            <a:ext cx="2387120" cy="430887"/>
          </a:xfrm>
          <a:prstGeom prst="rect">
            <a:avLst/>
          </a:prstGeom>
          <a:noFill/>
        </p:spPr>
        <p:txBody>
          <a:bodyPr wrap="square" rtlCol="0">
            <a:noAutofit/>
          </a:bodyPr>
          <a:lstStyle/>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開示・目標管理等を推進する管理体制と確認フロー</a:t>
            </a:r>
            <a:endParaRPr kumimoji="1" lang="en-US" altLang="ja-JP" sz="900">
              <a:latin typeface="Meiryo UI" panose="020B0604030504040204" pitchFamily="50" charset="-128"/>
              <a:ea typeface="Meiryo UI" panose="020B0604030504040204" pitchFamily="50" charset="-128"/>
            </a:endParaRPr>
          </a:p>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セクター固有基準や目標値等の閾値の設定</a:t>
            </a:r>
            <a:endParaRPr kumimoji="1" lang="en-US" altLang="ja-JP" sz="900">
              <a:latin typeface="Meiryo UI" panose="020B0604030504040204" pitchFamily="50" charset="-128"/>
              <a:ea typeface="Meiryo UI" panose="020B0604030504040204" pitchFamily="50" charset="-128"/>
            </a:endParaRPr>
          </a:p>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目標値の進捗管理</a:t>
            </a:r>
          </a:p>
        </p:txBody>
      </p:sp>
      <p:sp>
        <p:nvSpPr>
          <p:cNvPr id="41" name="テキスト プレースホルダー 3">
            <a:extLst>
              <a:ext uri="{FF2B5EF4-FFF2-40B4-BE49-F238E27FC236}">
                <a16:creationId xmlns:a16="http://schemas.microsoft.com/office/drawing/2014/main" id="{28CE8BC0-478C-4762-94CF-EC7AF59C19B3}"/>
              </a:ext>
            </a:extLst>
          </p:cNvPr>
          <p:cNvSpPr txBox="1">
            <a:spLocks/>
          </p:cNvSpPr>
          <p:nvPr/>
        </p:nvSpPr>
        <p:spPr>
          <a:xfrm>
            <a:off x="1116001" y="888637"/>
            <a:ext cx="7704150" cy="591820"/>
          </a:xfrm>
          <a:prstGeom prst="rect">
            <a:avLst/>
          </a:prstGeom>
        </p:spPr>
        <p:txBody>
          <a:bodyPr vert="horz" lIns="91440" tIns="45720" rIns="91440" bIns="45720" rtlCol="0">
            <a:noAutofit/>
          </a:bodyPr>
          <a:lstStyle>
            <a:lvl1pPr marL="228600" indent="-228600" defTabSz="914400">
              <a:lnSpc>
                <a:spcPct val="90000"/>
              </a:lnSpc>
              <a:spcBef>
                <a:spcPts val="1000"/>
              </a:spcBef>
              <a:buFont typeface="Wingdings" panose="05000000000000000000" pitchFamily="2" charset="2"/>
              <a:buChar char="n"/>
              <a:defRPr kumimoji="1" sz="1400">
                <a:latin typeface="Meiryo UI" panose="020B0604030504040204" pitchFamily="50" charset="-128"/>
                <a:ea typeface="Meiryo UI" panose="020B0604030504040204" pitchFamily="50" charset="-128"/>
              </a:defRPr>
            </a:lvl1pPr>
            <a:lvl2pPr marL="685800" indent="-228600" defTabSz="914400">
              <a:lnSpc>
                <a:spcPct val="90000"/>
              </a:lnSpc>
              <a:spcBef>
                <a:spcPts val="500"/>
              </a:spcBef>
              <a:buFont typeface="Arial" panose="020B0604020202020204" pitchFamily="34" charset="0"/>
              <a:buChar char="•"/>
              <a:defRPr kumimoji="1" sz="2400"/>
            </a:lvl2pPr>
            <a:lvl3pPr marL="1143000" indent="-228600" defTabSz="914400">
              <a:lnSpc>
                <a:spcPct val="90000"/>
              </a:lnSpc>
              <a:spcBef>
                <a:spcPts val="500"/>
              </a:spcBef>
              <a:buFont typeface="Arial" panose="020B0604020202020204" pitchFamily="34" charset="0"/>
              <a:buChar char="•"/>
              <a:defRPr kumimoji="1" sz="2000"/>
            </a:lvl3pPr>
            <a:lvl4pPr marL="1600200" indent="-228600" defTabSz="914400">
              <a:lnSpc>
                <a:spcPct val="90000"/>
              </a:lnSpc>
              <a:spcBef>
                <a:spcPts val="500"/>
              </a:spcBef>
              <a:buFont typeface="Arial" panose="020B0604020202020204" pitchFamily="34" charset="0"/>
              <a:buChar char="•"/>
              <a:defRPr kumimoji="1"/>
            </a:lvl4pPr>
            <a:lvl5pPr marL="2057400" indent="-228600" defTabSz="914400">
              <a:lnSpc>
                <a:spcPct val="90000"/>
              </a:lnSpc>
              <a:spcBef>
                <a:spcPts val="500"/>
              </a:spcBef>
              <a:buFont typeface="Arial" panose="020B0604020202020204" pitchFamily="34" charset="0"/>
              <a:buChar char="•"/>
              <a:defRPr kumimoji="1"/>
            </a:lvl5pPr>
            <a:lvl6pPr marL="2514600" indent="-228600" defTabSz="914400">
              <a:lnSpc>
                <a:spcPct val="90000"/>
              </a:lnSpc>
              <a:spcBef>
                <a:spcPts val="500"/>
              </a:spcBef>
              <a:buFont typeface="Arial" panose="020B0604020202020204" pitchFamily="34" charset="0"/>
              <a:buChar char="•"/>
              <a:defRPr kumimoji="1"/>
            </a:lvl6pPr>
            <a:lvl7pPr marL="2971800" indent="-228600" defTabSz="914400">
              <a:lnSpc>
                <a:spcPct val="90000"/>
              </a:lnSpc>
              <a:spcBef>
                <a:spcPts val="500"/>
              </a:spcBef>
              <a:buFont typeface="Arial" panose="020B0604020202020204" pitchFamily="34" charset="0"/>
              <a:buChar char="•"/>
              <a:defRPr kumimoji="1"/>
            </a:lvl7pPr>
            <a:lvl8pPr marL="3429000" indent="-228600" defTabSz="914400">
              <a:lnSpc>
                <a:spcPct val="90000"/>
              </a:lnSpc>
              <a:spcBef>
                <a:spcPts val="500"/>
              </a:spcBef>
              <a:buFont typeface="Arial" panose="020B0604020202020204" pitchFamily="34" charset="0"/>
              <a:buChar char="•"/>
              <a:defRPr kumimoji="1"/>
            </a:lvl8pPr>
            <a:lvl9pPr marL="3886200" indent="-228600" defTabSz="914400">
              <a:lnSpc>
                <a:spcPct val="90000"/>
              </a:lnSpc>
              <a:spcBef>
                <a:spcPts val="500"/>
              </a:spcBef>
              <a:buFont typeface="Arial" panose="020B0604020202020204" pitchFamily="34" charset="0"/>
              <a:buChar char="•"/>
              <a:defRPr kumimoji="1"/>
            </a:lvl9pPr>
          </a:lstStyle>
          <a:p>
            <a:r>
              <a:rPr lang="en-US" altLang="ja-JP"/>
              <a:t>SSBJ</a:t>
            </a:r>
            <a:r>
              <a:rPr lang="ja-JP" altLang="en-US"/>
              <a:t>を中心とした開示に対し、第三者保証取得に整合したデータ収集～算定や、多様な開示先に整合した開示・報告のみならず目標達成の進捗モニタリング、更なる改善活動に向けたサイクルを回すことがあるべき姿</a:t>
            </a:r>
          </a:p>
        </p:txBody>
      </p:sp>
      <p:sp>
        <p:nvSpPr>
          <p:cNvPr id="71" name="四角形: 角を丸くする 70">
            <a:extLst>
              <a:ext uri="{FF2B5EF4-FFF2-40B4-BE49-F238E27FC236}">
                <a16:creationId xmlns:a16="http://schemas.microsoft.com/office/drawing/2014/main" id="{F347AD25-4835-9A1F-2192-7EEEB6EE1522}"/>
              </a:ext>
            </a:extLst>
          </p:cNvPr>
          <p:cNvSpPr/>
          <p:nvPr/>
        </p:nvSpPr>
        <p:spPr>
          <a:xfrm>
            <a:off x="1227969" y="5085185"/>
            <a:ext cx="1332000" cy="432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改善活動</a:t>
            </a:r>
          </a:p>
        </p:txBody>
      </p:sp>
      <p:sp>
        <p:nvSpPr>
          <p:cNvPr id="72" name="テキスト ボックス 71">
            <a:extLst>
              <a:ext uri="{FF2B5EF4-FFF2-40B4-BE49-F238E27FC236}">
                <a16:creationId xmlns:a16="http://schemas.microsoft.com/office/drawing/2014/main" id="{6D1B5576-CDA5-2DEB-C103-457E6DB544B4}"/>
              </a:ext>
            </a:extLst>
          </p:cNvPr>
          <p:cNvSpPr txBox="1"/>
          <p:nvPr/>
        </p:nvSpPr>
        <p:spPr>
          <a:xfrm>
            <a:off x="960904" y="5510436"/>
            <a:ext cx="1866128" cy="430887"/>
          </a:xfrm>
          <a:prstGeom prst="rect">
            <a:avLst/>
          </a:prstGeom>
          <a:noFill/>
        </p:spPr>
        <p:txBody>
          <a:bodyPr wrap="square" rtlCol="0">
            <a:noAutofit/>
          </a:bodyPr>
          <a:lstStyle/>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フィードバックを受け、改善施策の検討および改善活動の実施</a:t>
            </a:r>
          </a:p>
        </p:txBody>
      </p:sp>
      <p:cxnSp>
        <p:nvCxnSpPr>
          <p:cNvPr id="75" name="直線矢印コネクタ 74">
            <a:extLst>
              <a:ext uri="{FF2B5EF4-FFF2-40B4-BE49-F238E27FC236}">
                <a16:creationId xmlns:a16="http://schemas.microsoft.com/office/drawing/2014/main" id="{8FEB18AF-1A91-56F0-7801-7F2F0D64791C}"/>
              </a:ext>
            </a:extLst>
          </p:cNvPr>
          <p:cNvCxnSpPr>
            <a:cxnSpLocks/>
            <a:stCxn id="8" idx="1"/>
            <a:endCxn id="71" idx="3"/>
          </p:cNvCxnSpPr>
          <p:nvPr/>
        </p:nvCxnSpPr>
        <p:spPr>
          <a:xfrm flipH="1">
            <a:off x="2559969" y="5301185"/>
            <a:ext cx="1410468" cy="0"/>
          </a:xfrm>
          <a:prstGeom prst="straightConnector1">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コネクタ: カギ線 20">
            <a:extLst>
              <a:ext uri="{FF2B5EF4-FFF2-40B4-BE49-F238E27FC236}">
                <a16:creationId xmlns:a16="http://schemas.microsoft.com/office/drawing/2014/main" id="{E42EE936-CF62-D588-BB38-900C54D356F9}"/>
              </a:ext>
            </a:extLst>
          </p:cNvPr>
          <p:cNvCxnSpPr>
            <a:cxnSpLocks/>
            <a:stCxn id="71" idx="1"/>
            <a:endCxn id="130" idx="2"/>
          </p:cNvCxnSpPr>
          <p:nvPr/>
        </p:nvCxnSpPr>
        <p:spPr>
          <a:xfrm rot="10800000">
            <a:off x="919655" y="4517085"/>
            <a:ext cx="308315" cy="784101"/>
          </a:xfrm>
          <a:prstGeom prst="bentConnector2">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9" name="楕円 88">
            <a:extLst>
              <a:ext uri="{FF2B5EF4-FFF2-40B4-BE49-F238E27FC236}">
                <a16:creationId xmlns:a16="http://schemas.microsoft.com/office/drawing/2014/main" id="{0BFC2C1F-D7B7-A100-7E29-4A00CA202ACB}"/>
              </a:ext>
            </a:extLst>
          </p:cNvPr>
          <p:cNvSpPr/>
          <p:nvPr/>
        </p:nvSpPr>
        <p:spPr>
          <a:xfrm>
            <a:off x="1052640" y="1850631"/>
            <a:ext cx="755703" cy="171287"/>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Do</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0" name="楕円 89">
            <a:extLst>
              <a:ext uri="{FF2B5EF4-FFF2-40B4-BE49-F238E27FC236}">
                <a16:creationId xmlns:a16="http://schemas.microsoft.com/office/drawing/2014/main" id="{E55D08E5-EDF3-17B3-EAD3-21E133051281}"/>
              </a:ext>
            </a:extLst>
          </p:cNvPr>
          <p:cNvSpPr/>
          <p:nvPr/>
        </p:nvSpPr>
        <p:spPr>
          <a:xfrm>
            <a:off x="3570034" y="1850631"/>
            <a:ext cx="755703" cy="171287"/>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Do</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1" name="楕円 90">
            <a:extLst>
              <a:ext uri="{FF2B5EF4-FFF2-40B4-BE49-F238E27FC236}">
                <a16:creationId xmlns:a16="http://schemas.microsoft.com/office/drawing/2014/main" id="{DD2C1BC7-E33B-43D0-0621-10BFA0B952D5}"/>
              </a:ext>
            </a:extLst>
          </p:cNvPr>
          <p:cNvSpPr/>
          <p:nvPr/>
        </p:nvSpPr>
        <p:spPr>
          <a:xfrm>
            <a:off x="6145528" y="1850631"/>
            <a:ext cx="831273" cy="171287"/>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Check</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2" name="楕円 91">
            <a:extLst>
              <a:ext uri="{FF2B5EF4-FFF2-40B4-BE49-F238E27FC236}">
                <a16:creationId xmlns:a16="http://schemas.microsoft.com/office/drawing/2014/main" id="{12F3CEA5-2D62-3BD5-79A0-51F447C560F8}"/>
              </a:ext>
            </a:extLst>
          </p:cNvPr>
          <p:cNvSpPr/>
          <p:nvPr/>
        </p:nvSpPr>
        <p:spPr>
          <a:xfrm>
            <a:off x="6145528" y="4976298"/>
            <a:ext cx="831273" cy="171287"/>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Check</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3" name="楕円 92">
            <a:extLst>
              <a:ext uri="{FF2B5EF4-FFF2-40B4-BE49-F238E27FC236}">
                <a16:creationId xmlns:a16="http://schemas.microsoft.com/office/drawing/2014/main" id="{17FC2A1A-B8AB-16FF-0A41-14CE9CF92DF2}"/>
              </a:ext>
            </a:extLst>
          </p:cNvPr>
          <p:cNvSpPr/>
          <p:nvPr/>
        </p:nvSpPr>
        <p:spPr>
          <a:xfrm>
            <a:off x="3583492" y="4976298"/>
            <a:ext cx="755703" cy="171287"/>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Act</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94" name="楕円 93">
            <a:extLst>
              <a:ext uri="{FF2B5EF4-FFF2-40B4-BE49-F238E27FC236}">
                <a16:creationId xmlns:a16="http://schemas.microsoft.com/office/drawing/2014/main" id="{68A84D5A-DCBB-50D8-4E37-A24ABF2DBC9A}"/>
              </a:ext>
            </a:extLst>
          </p:cNvPr>
          <p:cNvSpPr/>
          <p:nvPr/>
        </p:nvSpPr>
        <p:spPr>
          <a:xfrm>
            <a:off x="1052640" y="4976298"/>
            <a:ext cx="755703" cy="171287"/>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Act</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7A030167-7A6B-90A4-5219-664714DFDB76}"/>
              </a:ext>
            </a:extLst>
          </p:cNvPr>
          <p:cNvSpPr/>
          <p:nvPr/>
        </p:nvSpPr>
        <p:spPr>
          <a:xfrm>
            <a:off x="6732241" y="1403843"/>
            <a:ext cx="2036944" cy="187435"/>
          </a:xfrm>
          <a:prstGeom prst="rect">
            <a:avLst/>
          </a:prstGeom>
          <a:solidFill>
            <a:schemeClr val="accent1">
              <a:lumMod val="20000"/>
              <a:lumOff val="80000"/>
              <a:alpha val="75000"/>
            </a:schemeClr>
          </a:solidFill>
          <a:ln w="28575">
            <a:no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kumimoji="1" lang="ja-JP" altLang="en-US" sz="1000">
                <a:solidFill>
                  <a:schemeClr val="tx1"/>
                </a:solidFill>
                <a:latin typeface="Meiryo UI" panose="020B0604030504040204" pitchFamily="50" charset="-128"/>
                <a:ea typeface="Meiryo UI" panose="020B0604030504040204" pitchFamily="50" charset="-128"/>
              </a:rPr>
              <a:t>新システムの将来的な対応範囲</a:t>
            </a:r>
          </a:p>
        </p:txBody>
      </p:sp>
      <p:sp>
        <p:nvSpPr>
          <p:cNvPr id="119" name="四角形: 角を丸くする 118">
            <a:extLst>
              <a:ext uri="{FF2B5EF4-FFF2-40B4-BE49-F238E27FC236}">
                <a16:creationId xmlns:a16="http://schemas.microsoft.com/office/drawing/2014/main" id="{3C3AC11F-6CAB-B5C8-B6D5-0E4FF3E0231F}"/>
              </a:ext>
            </a:extLst>
          </p:cNvPr>
          <p:cNvSpPr/>
          <p:nvPr/>
        </p:nvSpPr>
        <p:spPr>
          <a:xfrm>
            <a:off x="241429" y="3695716"/>
            <a:ext cx="1332000" cy="432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計画策定</a:t>
            </a:r>
          </a:p>
        </p:txBody>
      </p:sp>
      <p:sp>
        <p:nvSpPr>
          <p:cNvPr id="121" name="楕円 120">
            <a:extLst>
              <a:ext uri="{FF2B5EF4-FFF2-40B4-BE49-F238E27FC236}">
                <a16:creationId xmlns:a16="http://schemas.microsoft.com/office/drawing/2014/main" id="{4915E125-8EC3-BA32-2EAE-52A862B6D4FC}"/>
              </a:ext>
            </a:extLst>
          </p:cNvPr>
          <p:cNvSpPr/>
          <p:nvPr/>
        </p:nvSpPr>
        <p:spPr>
          <a:xfrm>
            <a:off x="166800" y="3610072"/>
            <a:ext cx="755703" cy="171287"/>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solidFill>
                <a:latin typeface="Meiryo UI" panose="020B0604030504040204" pitchFamily="50" charset="-128"/>
                <a:ea typeface="Meiryo UI" panose="020B0604030504040204" pitchFamily="50" charset="-128"/>
              </a:rPr>
              <a:t>Plan</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30" name="テキスト ボックス 129">
            <a:extLst>
              <a:ext uri="{FF2B5EF4-FFF2-40B4-BE49-F238E27FC236}">
                <a16:creationId xmlns:a16="http://schemas.microsoft.com/office/drawing/2014/main" id="{2CE06E88-3F44-61C5-FA7C-E1081968D540}"/>
              </a:ext>
            </a:extLst>
          </p:cNvPr>
          <p:cNvSpPr txBox="1"/>
          <p:nvPr/>
        </p:nvSpPr>
        <p:spPr>
          <a:xfrm>
            <a:off x="178028" y="4125369"/>
            <a:ext cx="1483252" cy="391715"/>
          </a:xfrm>
          <a:prstGeom prst="rect">
            <a:avLst/>
          </a:prstGeom>
          <a:solidFill>
            <a:schemeClr val="bg1"/>
          </a:solidFill>
        </p:spPr>
        <p:txBody>
          <a:bodyPr wrap="square" rtlCol="0" anchor="ctr">
            <a:noAutofit/>
          </a:bodyPr>
          <a:lstStyle/>
          <a:p>
            <a:pPr marL="171450" indent="-171450" algn="l">
              <a:buFont typeface="Wingdings" panose="05000000000000000000" pitchFamily="2" charset="2"/>
              <a:buChar char="ü"/>
            </a:pPr>
            <a:r>
              <a:rPr kumimoji="1" lang="ja-JP" altLang="en-US" sz="900">
                <a:latin typeface="Meiryo UI" panose="020B0604030504040204" pitchFamily="50" charset="-128"/>
                <a:ea typeface="Meiryo UI" panose="020B0604030504040204" pitchFamily="50" charset="-128"/>
              </a:rPr>
              <a:t>中長期経営戦略に整合した年次の計画策定</a:t>
            </a:r>
          </a:p>
        </p:txBody>
      </p:sp>
      <p:cxnSp>
        <p:nvCxnSpPr>
          <p:cNvPr id="169" name="コネクタ: カギ線 168">
            <a:extLst>
              <a:ext uri="{FF2B5EF4-FFF2-40B4-BE49-F238E27FC236}">
                <a16:creationId xmlns:a16="http://schemas.microsoft.com/office/drawing/2014/main" id="{29C70DCF-A6BA-50D9-6F6E-214596AFF1D9}"/>
              </a:ext>
            </a:extLst>
          </p:cNvPr>
          <p:cNvCxnSpPr>
            <a:cxnSpLocks/>
            <a:stCxn id="119" idx="0"/>
            <a:endCxn id="4" idx="1"/>
          </p:cNvCxnSpPr>
          <p:nvPr/>
        </p:nvCxnSpPr>
        <p:spPr>
          <a:xfrm rot="5400000" flipH="1" flipV="1">
            <a:off x="288892" y="2756639"/>
            <a:ext cx="1557614" cy="320540"/>
          </a:xfrm>
          <a:prstGeom prst="bentConnector2">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203" name="グループ化 202">
            <a:extLst>
              <a:ext uri="{FF2B5EF4-FFF2-40B4-BE49-F238E27FC236}">
                <a16:creationId xmlns:a16="http://schemas.microsoft.com/office/drawing/2014/main" id="{24CF84F3-0996-359B-9B83-C79281CA2E75}"/>
              </a:ext>
            </a:extLst>
          </p:cNvPr>
          <p:cNvGrpSpPr/>
          <p:nvPr/>
        </p:nvGrpSpPr>
        <p:grpSpPr bwMode="gray">
          <a:xfrm>
            <a:off x="1790340" y="3575743"/>
            <a:ext cx="1621674" cy="1181095"/>
            <a:chOff x="2202438" y="1587627"/>
            <a:chExt cx="3240000" cy="1963636"/>
          </a:xfrm>
        </p:grpSpPr>
        <p:grpSp>
          <p:nvGrpSpPr>
            <p:cNvPr id="204" name="グループ化 203">
              <a:extLst>
                <a:ext uri="{FF2B5EF4-FFF2-40B4-BE49-F238E27FC236}">
                  <a16:creationId xmlns:a16="http://schemas.microsoft.com/office/drawing/2014/main" id="{AB8DDD5D-39FB-2498-A4B1-9985F85690C6}"/>
                </a:ext>
              </a:extLst>
            </p:cNvPr>
            <p:cNvGrpSpPr/>
            <p:nvPr/>
          </p:nvGrpSpPr>
          <p:grpSpPr bwMode="gray">
            <a:xfrm>
              <a:off x="2202438" y="1587627"/>
              <a:ext cx="3240000" cy="1963636"/>
              <a:chOff x="1713000" y="1872000"/>
              <a:chExt cx="3240000" cy="2160000"/>
            </a:xfrm>
          </p:grpSpPr>
          <p:sp>
            <p:nvSpPr>
              <p:cNvPr id="208" name="フローチャート: 抜出し 207">
                <a:extLst>
                  <a:ext uri="{FF2B5EF4-FFF2-40B4-BE49-F238E27FC236}">
                    <a16:creationId xmlns:a16="http://schemas.microsoft.com/office/drawing/2014/main" id="{3AC5BA39-21CA-75EC-D00A-220BA375424F}"/>
                  </a:ext>
                </a:extLst>
              </p:cNvPr>
              <p:cNvSpPr>
                <a:spLocks noChangeAspect="1"/>
              </p:cNvSpPr>
              <p:nvPr/>
            </p:nvSpPr>
            <p:spPr bwMode="gray">
              <a:xfrm>
                <a:off x="1713000" y="1872000"/>
                <a:ext cx="3240000" cy="2160000"/>
              </a:xfrm>
              <a:prstGeom prst="flowChartExtract">
                <a:avLst/>
              </a:prstGeom>
              <a:solidFill>
                <a:schemeClr val="bg1">
                  <a:lumMod val="75000"/>
                </a:schemeClr>
              </a:solidFill>
              <a:ln w="12700" algn="ctr">
                <a:solidFill>
                  <a:schemeClr val="bg1">
                    <a:lumMod val="75000"/>
                  </a:scheme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endParaRPr kumimoji="1" lang="ja-JP" altLang="en-US" sz="800" b="1">
                  <a:solidFill>
                    <a:prstClr val="black"/>
                  </a:solidFill>
                  <a:latin typeface="Meiryo UI" panose="020B0604030504040204" pitchFamily="50" charset="-128"/>
                  <a:ea typeface="Meiryo UI" panose="020B0604030504040204" pitchFamily="50" charset="-128"/>
                </a:endParaRPr>
              </a:p>
            </p:txBody>
          </p:sp>
          <p:sp>
            <p:nvSpPr>
              <p:cNvPr id="209" name="フローチャート: 抜出し 208">
                <a:extLst>
                  <a:ext uri="{FF2B5EF4-FFF2-40B4-BE49-F238E27FC236}">
                    <a16:creationId xmlns:a16="http://schemas.microsoft.com/office/drawing/2014/main" id="{792C7B37-184F-40E5-D0DF-C09B39972620}"/>
                  </a:ext>
                </a:extLst>
              </p:cNvPr>
              <p:cNvSpPr>
                <a:spLocks noChangeAspect="1"/>
              </p:cNvSpPr>
              <p:nvPr/>
            </p:nvSpPr>
            <p:spPr bwMode="gray">
              <a:xfrm>
                <a:off x="2165250" y="1872000"/>
                <a:ext cx="2335500" cy="1557000"/>
              </a:xfrm>
              <a:prstGeom prst="flowChartExtract">
                <a:avLst/>
              </a:prstGeom>
              <a:solidFill>
                <a:schemeClr val="bg1">
                  <a:lumMod val="65000"/>
                </a:schemeClr>
              </a:solidFill>
              <a:ln w="12700" algn="ctr">
                <a:solidFill>
                  <a:schemeClr val="bg1">
                    <a:lumMod val="65000"/>
                  </a:scheme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endParaRPr kumimoji="1" lang="ja-JP" altLang="en-US" sz="800" b="1">
                  <a:solidFill>
                    <a:prstClr val="black"/>
                  </a:solidFill>
                  <a:latin typeface="Meiryo UI" panose="020B0604030504040204" pitchFamily="50" charset="-128"/>
                  <a:ea typeface="Meiryo UI" panose="020B0604030504040204" pitchFamily="50" charset="-128"/>
                </a:endParaRPr>
              </a:p>
            </p:txBody>
          </p:sp>
          <p:sp>
            <p:nvSpPr>
              <p:cNvPr id="210" name="フローチャート: 抜出し 209">
                <a:extLst>
                  <a:ext uri="{FF2B5EF4-FFF2-40B4-BE49-F238E27FC236}">
                    <a16:creationId xmlns:a16="http://schemas.microsoft.com/office/drawing/2014/main" id="{C7BF0168-CB95-5C08-0E0C-4F0E5FC596AF}"/>
                  </a:ext>
                </a:extLst>
              </p:cNvPr>
              <p:cNvSpPr>
                <a:spLocks noChangeAspect="1"/>
              </p:cNvSpPr>
              <p:nvPr/>
            </p:nvSpPr>
            <p:spPr bwMode="gray">
              <a:xfrm>
                <a:off x="2624414" y="1872000"/>
                <a:ext cx="1417173" cy="944783"/>
              </a:xfrm>
              <a:prstGeom prst="flowChartExtract">
                <a:avLst/>
              </a:prstGeom>
              <a:solidFill>
                <a:schemeClr val="bg1">
                  <a:lumMod val="50000"/>
                </a:schemeClr>
              </a:solidFill>
              <a:ln w="12700" algn="ctr">
                <a:solidFill>
                  <a:schemeClr val="bg1">
                    <a:lumMod val="50000"/>
                  </a:scheme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endParaRPr kumimoji="1" lang="ja-JP" altLang="en-US" sz="800" b="1">
                  <a:solidFill>
                    <a:prstClr val="black"/>
                  </a:solidFill>
                  <a:latin typeface="Meiryo UI" panose="020B0604030504040204" pitchFamily="50" charset="-128"/>
                  <a:ea typeface="Meiryo UI" panose="020B0604030504040204" pitchFamily="50" charset="-128"/>
                </a:endParaRPr>
              </a:p>
            </p:txBody>
          </p:sp>
        </p:grpSp>
        <p:sp>
          <p:nvSpPr>
            <p:cNvPr id="205" name="テキスト ボックス 204">
              <a:extLst>
                <a:ext uri="{FF2B5EF4-FFF2-40B4-BE49-F238E27FC236}">
                  <a16:creationId xmlns:a16="http://schemas.microsoft.com/office/drawing/2014/main" id="{17206011-45CA-F27B-6F28-7592B49B88F6}"/>
                </a:ext>
              </a:extLst>
            </p:cNvPr>
            <p:cNvSpPr txBox="1"/>
            <p:nvPr/>
          </p:nvSpPr>
          <p:spPr bwMode="gray">
            <a:xfrm>
              <a:off x="3234488" y="2041812"/>
              <a:ext cx="1175899" cy="460526"/>
            </a:xfrm>
            <a:prstGeom prst="rect">
              <a:avLst/>
            </a:prstGeom>
            <a:noFill/>
          </p:spPr>
          <p:txBody>
            <a:bodyPr wrap="square" lIns="0" tIns="0" rIns="0" bIns="0" rtlCol="0">
              <a:spAutoFit/>
            </a:bodyPr>
            <a:lstStyle/>
            <a:p>
              <a:pPr algn="ctr" defTabSz="990564" fontAlgn="auto">
                <a:spcBef>
                  <a:spcPts val="0"/>
                </a:spcBef>
                <a:spcAft>
                  <a:spcPts val="0"/>
                </a:spcAft>
                <a:buSzPct val="100000"/>
              </a:pPr>
              <a:r>
                <a:rPr kumimoji="1" lang="ja-JP" altLang="en-US" sz="900" b="1">
                  <a:solidFill>
                    <a:schemeClr val="bg1"/>
                  </a:solidFill>
                  <a:latin typeface="Meiryo UI" panose="020B0604030504040204" pitchFamily="50" charset="-128"/>
                  <a:ea typeface="Meiryo UI" panose="020B0604030504040204" pitchFamily="50" charset="-128"/>
                </a:rPr>
                <a:t>トップ</a:t>
              </a:r>
              <a:endParaRPr kumimoji="1" lang="en-US" altLang="ja-JP" sz="900" b="1">
                <a:solidFill>
                  <a:schemeClr val="bg1"/>
                </a:solidFill>
                <a:latin typeface="Meiryo UI" panose="020B0604030504040204" pitchFamily="50" charset="-128"/>
                <a:ea typeface="Meiryo UI" panose="020B0604030504040204" pitchFamily="50" charset="-128"/>
              </a:endParaRPr>
            </a:p>
            <a:p>
              <a:pPr algn="ctr" defTabSz="990564" fontAlgn="auto">
                <a:spcBef>
                  <a:spcPts val="0"/>
                </a:spcBef>
                <a:spcAft>
                  <a:spcPts val="0"/>
                </a:spcAft>
                <a:buSzPct val="100000"/>
              </a:pPr>
              <a:r>
                <a:rPr kumimoji="1" lang="ja-JP" altLang="en-US" sz="900" b="1">
                  <a:solidFill>
                    <a:schemeClr val="bg1"/>
                  </a:solidFill>
                  <a:latin typeface="Meiryo UI" panose="020B0604030504040204" pitchFamily="50" charset="-128"/>
                  <a:ea typeface="Meiryo UI" panose="020B0604030504040204" pitchFamily="50" charset="-128"/>
                </a:rPr>
                <a:t>マネジメント</a:t>
              </a:r>
            </a:p>
          </p:txBody>
        </p:sp>
        <p:sp>
          <p:nvSpPr>
            <p:cNvPr id="206" name="テキスト ボックス 205">
              <a:extLst>
                <a:ext uri="{FF2B5EF4-FFF2-40B4-BE49-F238E27FC236}">
                  <a16:creationId xmlns:a16="http://schemas.microsoft.com/office/drawing/2014/main" id="{033F5B80-4953-2DFC-6E94-9713BE496688}"/>
                </a:ext>
              </a:extLst>
            </p:cNvPr>
            <p:cNvSpPr txBox="1"/>
            <p:nvPr/>
          </p:nvSpPr>
          <p:spPr bwMode="gray">
            <a:xfrm>
              <a:off x="2875540" y="2528663"/>
              <a:ext cx="1893797" cy="460526"/>
            </a:xfrm>
            <a:prstGeom prst="rect">
              <a:avLst/>
            </a:prstGeom>
            <a:noFill/>
          </p:spPr>
          <p:txBody>
            <a:bodyPr wrap="square" lIns="0" tIns="0" rIns="0" bIns="0" rtlCol="0" anchor="ctr">
              <a:spAutoFit/>
            </a:bodyPr>
            <a:lstStyle/>
            <a:p>
              <a:pPr algn="ctr" defTabSz="990564" fontAlgn="auto">
                <a:spcBef>
                  <a:spcPts val="0"/>
                </a:spcBef>
                <a:spcAft>
                  <a:spcPts val="0"/>
                </a:spcAft>
                <a:buSzPct val="100000"/>
              </a:pPr>
              <a:r>
                <a:rPr kumimoji="1" lang="ja-JP" altLang="en-US" sz="900" b="1">
                  <a:solidFill>
                    <a:schemeClr val="bg1"/>
                  </a:solidFill>
                  <a:latin typeface="Meiryo UI" panose="020B0604030504040204" pitchFamily="50" charset="-128"/>
                  <a:ea typeface="Meiryo UI" panose="020B0604030504040204" pitchFamily="50" charset="-128"/>
                </a:rPr>
                <a:t>サス室・安環・</a:t>
              </a:r>
              <a:endParaRPr kumimoji="1" lang="en-US" altLang="ja-JP" sz="900" b="1">
                <a:solidFill>
                  <a:schemeClr val="bg1"/>
                </a:solidFill>
                <a:latin typeface="Meiryo UI" panose="020B0604030504040204" pitchFamily="50" charset="-128"/>
                <a:ea typeface="Meiryo UI" panose="020B0604030504040204" pitchFamily="50" charset="-128"/>
              </a:endParaRPr>
            </a:p>
            <a:p>
              <a:pPr algn="ctr" defTabSz="990564" fontAlgn="auto">
                <a:spcBef>
                  <a:spcPts val="0"/>
                </a:spcBef>
                <a:spcAft>
                  <a:spcPts val="0"/>
                </a:spcAft>
                <a:buSzPct val="100000"/>
              </a:pPr>
              <a:r>
                <a:rPr kumimoji="1" lang="en-US" altLang="ja-JP" sz="900" b="1">
                  <a:solidFill>
                    <a:schemeClr val="bg1"/>
                  </a:solidFill>
                  <a:latin typeface="Meiryo UI" panose="020B0604030504040204" pitchFamily="50" charset="-128"/>
                  <a:ea typeface="Meiryo UI" panose="020B0604030504040204" pitchFamily="50" charset="-128"/>
                </a:rPr>
                <a:t>CNX</a:t>
              </a:r>
              <a:r>
                <a:rPr kumimoji="1" lang="ja-JP" altLang="en-US" sz="900" b="1">
                  <a:solidFill>
                    <a:schemeClr val="bg1"/>
                  </a:solidFill>
                  <a:latin typeface="Meiryo UI" panose="020B0604030504040204" pitchFamily="50" charset="-128"/>
                  <a:ea typeface="Meiryo UI" panose="020B0604030504040204" pitchFamily="50" charset="-128"/>
                </a:rPr>
                <a:t>戦略室</a:t>
              </a:r>
            </a:p>
          </p:txBody>
        </p:sp>
        <p:sp>
          <p:nvSpPr>
            <p:cNvPr id="207" name="テキスト ボックス 206">
              <a:extLst>
                <a:ext uri="{FF2B5EF4-FFF2-40B4-BE49-F238E27FC236}">
                  <a16:creationId xmlns:a16="http://schemas.microsoft.com/office/drawing/2014/main" id="{C7F094B7-EACD-3C98-599A-87E9C16AEF2F}"/>
                </a:ext>
              </a:extLst>
            </p:cNvPr>
            <p:cNvSpPr txBox="1"/>
            <p:nvPr/>
          </p:nvSpPr>
          <p:spPr bwMode="gray">
            <a:xfrm>
              <a:off x="2875540" y="3155482"/>
              <a:ext cx="1893797" cy="230262"/>
            </a:xfrm>
            <a:prstGeom prst="rect">
              <a:avLst/>
            </a:prstGeom>
            <a:noFill/>
          </p:spPr>
          <p:txBody>
            <a:bodyPr wrap="square" lIns="0" tIns="0" rIns="0" bIns="0" rtlCol="0" anchor="ctr">
              <a:spAutoFit/>
            </a:bodyPr>
            <a:lstStyle/>
            <a:p>
              <a:pPr algn="ctr" defTabSz="990564" fontAlgn="auto">
                <a:spcBef>
                  <a:spcPts val="0"/>
                </a:spcBef>
                <a:spcAft>
                  <a:spcPts val="0"/>
                </a:spcAft>
                <a:buSzPct val="100000"/>
              </a:pPr>
              <a:r>
                <a:rPr kumimoji="1" lang="ja-JP" altLang="en-US" sz="900" b="1">
                  <a:solidFill>
                    <a:schemeClr val="bg1"/>
                  </a:solidFill>
                  <a:latin typeface="Meiryo UI" panose="020B0604030504040204" pitchFamily="50" charset="-128"/>
                  <a:ea typeface="Meiryo UI" panose="020B0604030504040204" pitchFamily="50" charset="-128"/>
                </a:rPr>
                <a:t>各拠点・各部署</a:t>
              </a:r>
            </a:p>
          </p:txBody>
        </p:sp>
      </p:grpSp>
      <p:sp>
        <p:nvSpPr>
          <p:cNvPr id="201" name="円柱 200">
            <a:extLst>
              <a:ext uri="{FF2B5EF4-FFF2-40B4-BE49-F238E27FC236}">
                <a16:creationId xmlns:a16="http://schemas.microsoft.com/office/drawing/2014/main" id="{E2B8B026-C633-1398-C479-935AAAC7FCEB}"/>
              </a:ext>
            </a:extLst>
          </p:cNvPr>
          <p:cNvSpPr/>
          <p:nvPr/>
        </p:nvSpPr>
        <p:spPr>
          <a:xfrm>
            <a:off x="6023600" y="3672333"/>
            <a:ext cx="1488916" cy="969426"/>
          </a:xfrm>
          <a:prstGeom prst="can">
            <a:avLst/>
          </a:prstGeom>
          <a:solidFill>
            <a:schemeClr val="bg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50" b="1">
                <a:solidFill>
                  <a:schemeClr val="bg1"/>
                </a:solidFill>
                <a:latin typeface="Meiryo UI" panose="020B0604030504040204" pitchFamily="50" charset="-128"/>
                <a:ea typeface="Meiryo UI" panose="020B0604030504040204" pitchFamily="50" charset="-128"/>
              </a:rPr>
              <a:t>ESG</a:t>
            </a:r>
            <a:r>
              <a:rPr kumimoji="1" lang="ja-JP" altLang="en-US" sz="1050" b="1">
                <a:solidFill>
                  <a:schemeClr val="bg1"/>
                </a:solidFill>
                <a:latin typeface="Meiryo UI" panose="020B0604030504040204" pitchFamily="50" charset="-128"/>
                <a:ea typeface="Meiryo UI" panose="020B0604030504040204" pitchFamily="50" charset="-128"/>
              </a:rPr>
              <a:t>データマネジメント</a:t>
            </a:r>
            <a:endParaRPr kumimoji="1" lang="en-US" altLang="ja-JP" sz="1050" b="1">
              <a:solidFill>
                <a:schemeClr val="bg1"/>
              </a:solidFill>
              <a:latin typeface="Meiryo UI" panose="020B0604030504040204" pitchFamily="50" charset="-128"/>
              <a:ea typeface="Meiryo UI" panose="020B0604030504040204" pitchFamily="50" charset="-128"/>
            </a:endParaRPr>
          </a:p>
          <a:p>
            <a:pPr algn="ctr"/>
            <a:r>
              <a:rPr kumimoji="1" lang="ja-JP" altLang="en-US" sz="1050" b="1">
                <a:solidFill>
                  <a:schemeClr val="bg1"/>
                </a:solidFill>
                <a:latin typeface="Meiryo UI" panose="020B0604030504040204" pitchFamily="50" charset="-128"/>
                <a:ea typeface="Meiryo UI" panose="020B0604030504040204" pitchFamily="50" charset="-128"/>
              </a:rPr>
              <a:t>システム</a:t>
            </a:r>
          </a:p>
        </p:txBody>
      </p:sp>
      <p:sp>
        <p:nvSpPr>
          <p:cNvPr id="211" name="矢印: 上 210">
            <a:extLst>
              <a:ext uri="{FF2B5EF4-FFF2-40B4-BE49-F238E27FC236}">
                <a16:creationId xmlns:a16="http://schemas.microsoft.com/office/drawing/2014/main" id="{81F96D18-C4BD-A8A4-66DD-2AB99CACB142}"/>
              </a:ext>
            </a:extLst>
          </p:cNvPr>
          <p:cNvSpPr/>
          <p:nvPr/>
        </p:nvSpPr>
        <p:spPr>
          <a:xfrm rot="16200000">
            <a:off x="5264409" y="3935864"/>
            <a:ext cx="770615" cy="369597"/>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13" name="矢印: 上 212">
            <a:extLst>
              <a:ext uri="{FF2B5EF4-FFF2-40B4-BE49-F238E27FC236}">
                <a16:creationId xmlns:a16="http://schemas.microsoft.com/office/drawing/2014/main" id="{11B5F71B-5B60-9B44-675B-2070AFDE9747}"/>
              </a:ext>
            </a:extLst>
          </p:cNvPr>
          <p:cNvSpPr/>
          <p:nvPr/>
        </p:nvSpPr>
        <p:spPr>
          <a:xfrm rot="5400000" flipH="1">
            <a:off x="3193351" y="3935864"/>
            <a:ext cx="770615" cy="369597"/>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15" name="テキスト ボックス 214">
            <a:extLst>
              <a:ext uri="{FF2B5EF4-FFF2-40B4-BE49-F238E27FC236}">
                <a16:creationId xmlns:a16="http://schemas.microsoft.com/office/drawing/2014/main" id="{E7846768-4538-4A79-5F21-B6A2A306AD18}"/>
              </a:ext>
            </a:extLst>
          </p:cNvPr>
          <p:cNvSpPr txBox="1"/>
          <p:nvPr/>
        </p:nvSpPr>
        <p:spPr>
          <a:xfrm>
            <a:off x="3828674" y="3899753"/>
            <a:ext cx="1571557" cy="523220"/>
          </a:xfrm>
          <a:prstGeom prst="rect">
            <a:avLst/>
          </a:prstGeom>
          <a:noFill/>
        </p:spPr>
        <p:txBody>
          <a:bodyPr wrap="square" anchor="ctr">
            <a:spAutoFit/>
          </a:bodyPr>
          <a:lstStyle/>
          <a:p>
            <a:pPr algn="ctr">
              <a:spcBef>
                <a:spcPts val="0"/>
              </a:spcBef>
              <a:buSzPct val="100000"/>
            </a:pPr>
            <a:r>
              <a:rPr kumimoji="1" lang="ja-JP" altLang="en-US" sz="1400" b="1">
                <a:latin typeface="Meiryo UI" panose="020B0604030504040204" pitchFamily="50" charset="-128"/>
                <a:ea typeface="Meiryo UI" panose="020B0604030504040204" pitchFamily="50" charset="-128"/>
              </a:rPr>
              <a:t>戦略実現を支える</a:t>
            </a:r>
            <a:br>
              <a:rPr kumimoji="1" lang="en-US" altLang="ja-JP" sz="1400" b="1">
                <a:latin typeface="Meiryo UI" panose="020B0604030504040204" pitchFamily="50" charset="-128"/>
                <a:ea typeface="Meiryo UI" panose="020B0604030504040204" pitchFamily="50" charset="-128"/>
              </a:rPr>
            </a:br>
            <a:r>
              <a:rPr kumimoji="1" lang="en-US" altLang="ja-JP" sz="1400" b="1">
                <a:latin typeface="Meiryo UI" panose="020B0604030504040204" pitchFamily="50" charset="-128"/>
                <a:ea typeface="Meiryo UI" panose="020B0604030504040204" pitchFamily="50" charset="-128"/>
              </a:rPr>
              <a:t>PDCA</a:t>
            </a:r>
            <a:r>
              <a:rPr kumimoji="1" lang="ja-JP" altLang="en-US" sz="1400" b="1">
                <a:latin typeface="Meiryo UI" panose="020B0604030504040204" pitchFamily="50" charset="-128"/>
                <a:ea typeface="Meiryo UI" panose="020B0604030504040204" pitchFamily="50" charset="-128"/>
              </a:rPr>
              <a:t>サイクル</a:t>
            </a:r>
          </a:p>
        </p:txBody>
      </p:sp>
      <p:cxnSp>
        <p:nvCxnSpPr>
          <p:cNvPr id="217" name="直線矢印コネクタ 216">
            <a:extLst>
              <a:ext uri="{FF2B5EF4-FFF2-40B4-BE49-F238E27FC236}">
                <a16:creationId xmlns:a16="http://schemas.microsoft.com/office/drawing/2014/main" id="{8F37CA71-C0F4-CF26-9AF8-11120A2CCE9A}"/>
              </a:ext>
            </a:extLst>
          </p:cNvPr>
          <p:cNvCxnSpPr/>
          <p:nvPr/>
        </p:nvCxnSpPr>
        <p:spPr>
          <a:xfrm>
            <a:off x="2066349" y="3463546"/>
            <a:ext cx="1106424" cy="0"/>
          </a:xfrm>
          <a:prstGeom prst="straightConnector1">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9" name="正方形/長方形 218">
            <a:extLst>
              <a:ext uri="{FF2B5EF4-FFF2-40B4-BE49-F238E27FC236}">
                <a16:creationId xmlns:a16="http://schemas.microsoft.com/office/drawing/2014/main" id="{E32C9BD7-E606-66F9-2A83-EE59A7BA93F4}"/>
              </a:ext>
            </a:extLst>
          </p:cNvPr>
          <p:cNvSpPr/>
          <p:nvPr/>
        </p:nvSpPr>
        <p:spPr>
          <a:xfrm>
            <a:off x="1631354" y="3137963"/>
            <a:ext cx="1917995" cy="396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Meiryo UI" panose="020B0604030504040204" pitchFamily="50" charset="-128"/>
                <a:ea typeface="Meiryo UI" panose="020B0604030504040204" pitchFamily="50" charset="-128"/>
              </a:rPr>
              <a:t>サステナビリティ管理体制</a:t>
            </a:r>
          </a:p>
        </p:txBody>
      </p:sp>
      <p:cxnSp>
        <p:nvCxnSpPr>
          <p:cNvPr id="221" name="直線矢印コネクタ 220">
            <a:extLst>
              <a:ext uri="{FF2B5EF4-FFF2-40B4-BE49-F238E27FC236}">
                <a16:creationId xmlns:a16="http://schemas.microsoft.com/office/drawing/2014/main" id="{3A036DD6-E1AE-AFCE-E7A6-C25F01BD9FD9}"/>
              </a:ext>
            </a:extLst>
          </p:cNvPr>
          <p:cNvCxnSpPr/>
          <p:nvPr/>
        </p:nvCxnSpPr>
        <p:spPr>
          <a:xfrm>
            <a:off x="6199517" y="3463546"/>
            <a:ext cx="1106424" cy="0"/>
          </a:xfrm>
          <a:prstGeom prst="straightConnector1">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2" name="正方形/長方形 221">
            <a:extLst>
              <a:ext uri="{FF2B5EF4-FFF2-40B4-BE49-F238E27FC236}">
                <a16:creationId xmlns:a16="http://schemas.microsoft.com/office/drawing/2014/main" id="{24956D09-6DA4-E9D1-55C1-0E1A7D283447}"/>
              </a:ext>
            </a:extLst>
          </p:cNvPr>
          <p:cNvSpPr/>
          <p:nvPr/>
        </p:nvSpPr>
        <p:spPr>
          <a:xfrm>
            <a:off x="5764522" y="3137963"/>
            <a:ext cx="1917995" cy="396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Meiryo UI" panose="020B0604030504040204" pitchFamily="50" charset="-128"/>
                <a:ea typeface="Meiryo UI" panose="020B0604030504040204" pitchFamily="50" charset="-128"/>
              </a:rPr>
              <a:t>システム基盤</a:t>
            </a:r>
          </a:p>
        </p:txBody>
      </p:sp>
      <p:sp>
        <p:nvSpPr>
          <p:cNvPr id="9" name="楕円 8">
            <a:extLst>
              <a:ext uri="{FF2B5EF4-FFF2-40B4-BE49-F238E27FC236}">
                <a16:creationId xmlns:a16="http://schemas.microsoft.com/office/drawing/2014/main" id="{9DDB1B26-03F3-6D08-7620-C83558BEA5FC}"/>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3719533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69C1C9-96A2-EF59-325E-2B3ADA52B334}"/>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参考</a:t>
            </a:r>
            <a:r>
              <a:rPr lang="en-US" altLang="ja-JP">
                <a:latin typeface="Meiryo UI" panose="020B0604030504040204" pitchFamily="50" charset="-128"/>
                <a:ea typeface="Meiryo UI" panose="020B0604030504040204" pitchFamily="50" charset="-128"/>
              </a:rPr>
              <a:t>】 </a:t>
            </a:r>
            <a:r>
              <a:rPr kumimoji="1" lang="en-US" altLang="ja-JP">
                <a:latin typeface="Meiryo UI" panose="020B0604030504040204" pitchFamily="50" charset="-128"/>
                <a:ea typeface="Meiryo UI" panose="020B0604030504040204" pitchFamily="50" charset="-128"/>
              </a:rPr>
              <a:t>ESG</a:t>
            </a:r>
            <a:r>
              <a:rPr kumimoji="1" lang="ja-JP" altLang="en-US">
                <a:latin typeface="Meiryo UI" panose="020B0604030504040204" pitchFamily="50" charset="-128"/>
                <a:ea typeface="Meiryo UI" panose="020B0604030504040204" pitchFamily="50" charset="-128"/>
              </a:rPr>
              <a:t>データ</a:t>
            </a:r>
            <a:r>
              <a:rPr lang="ja-JP" altLang="en-US">
                <a:latin typeface="Meiryo UI" panose="020B0604030504040204" pitchFamily="50" charset="-128"/>
                <a:ea typeface="Meiryo UI" panose="020B0604030504040204" pitchFamily="50" charset="-128"/>
              </a:rPr>
              <a:t>作成</a:t>
            </a:r>
            <a:r>
              <a:rPr kumimoji="1" lang="ja-JP" altLang="en-US">
                <a:latin typeface="Meiryo UI" panose="020B0604030504040204" pitchFamily="50" charset="-128"/>
                <a:ea typeface="Meiryo UI" panose="020B0604030504040204" pitchFamily="50" charset="-128"/>
              </a:rPr>
              <a:t>に必要な機能一覧</a:t>
            </a:r>
          </a:p>
        </p:txBody>
      </p:sp>
      <p:sp>
        <p:nvSpPr>
          <p:cNvPr id="3" name="スライド番号プレースホルダー 2">
            <a:extLst>
              <a:ext uri="{FF2B5EF4-FFF2-40B4-BE49-F238E27FC236}">
                <a16:creationId xmlns:a16="http://schemas.microsoft.com/office/drawing/2014/main" id="{6FD35523-DE2C-0435-4791-122C8D945840}"/>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37</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CF004A1A-C90C-D955-20ED-59BC0942979E}"/>
              </a:ext>
            </a:extLst>
          </p:cNvPr>
          <p:cNvSpPr>
            <a:spLocks noGrp="1"/>
          </p:cNvSpPr>
          <p:nvPr>
            <p:ph type="body" sz="quarter" idx="13"/>
          </p:nvPr>
        </p:nvSpPr>
        <p:spPr/>
        <p:txBody>
          <a:bodyPr/>
          <a:lstStyle/>
          <a:p>
            <a:r>
              <a:rPr kumimoji="1" lang="en-US" altLang="ja-JP"/>
              <a:t>ESG</a:t>
            </a:r>
            <a:r>
              <a:rPr kumimoji="1" lang="ja-JP" altLang="en-US"/>
              <a:t>データの収集から開示</a:t>
            </a:r>
            <a:r>
              <a:rPr kumimoji="1" lang="en-US" altLang="ja-JP"/>
              <a:t>/</a:t>
            </a:r>
            <a:r>
              <a:rPr kumimoji="1" lang="ja-JP" altLang="en-US"/>
              <a:t>データ利活用までのプロセスにおいて、システムに必要な機能は以下の通り</a:t>
            </a:r>
          </a:p>
        </p:txBody>
      </p:sp>
      <p:sp>
        <p:nvSpPr>
          <p:cNvPr id="6" name="正方形/長方形 5">
            <a:extLst>
              <a:ext uri="{FF2B5EF4-FFF2-40B4-BE49-F238E27FC236}">
                <a16:creationId xmlns:a16="http://schemas.microsoft.com/office/drawing/2014/main" id="{33F94997-51CB-D365-ACBD-B7A23E29C22E}"/>
              </a:ext>
            </a:extLst>
          </p:cNvPr>
          <p:cNvSpPr/>
          <p:nvPr/>
        </p:nvSpPr>
        <p:spPr>
          <a:xfrm>
            <a:off x="323528" y="1654178"/>
            <a:ext cx="720736" cy="986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会計データ</a:t>
            </a:r>
            <a:endParaRPr kumimoji="1" lang="en-US" altLang="ja-JP" sz="1200" b="1">
              <a:solidFill>
                <a:schemeClr val="bg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3C387863-E410-9BDA-D5B1-56099120AFAD}"/>
              </a:ext>
            </a:extLst>
          </p:cNvPr>
          <p:cNvSpPr/>
          <p:nvPr/>
        </p:nvSpPr>
        <p:spPr>
          <a:xfrm>
            <a:off x="323528" y="2773710"/>
            <a:ext cx="720736" cy="98680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環境データ</a:t>
            </a:r>
          </a:p>
        </p:txBody>
      </p:sp>
      <p:sp>
        <p:nvSpPr>
          <p:cNvPr id="8" name="正方形/長方形 7">
            <a:extLst>
              <a:ext uri="{FF2B5EF4-FFF2-40B4-BE49-F238E27FC236}">
                <a16:creationId xmlns:a16="http://schemas.microsoft.com/office/drawing/2014/main" id="{F6E34D83-DDA4-4DEF-AF93-CE6A4933FBC4}"/>
              </a:ext>
            </a:extLst>
          </p:cNvPr>
          <p:cNvSpPr/>
          <p:nvPr/>
        </p:nvSpPr>
        <p:spPr>
          <a:xfrm>
            <a:off x="323528" y="3893643"/>
            <a:ext cx="720736" cy="986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社会・人事データ</a:t>
            </a:r>
          </a:p>
        </p:txBody>
      </p:sp>
      <p:sp>
        <p:nvSpPr>
          <p:cNvPr id="9" name="正方形/長方形 8">
            <a:extLst>
              <a:ext uri="{FF2B5EF4-FFF2-40B4-BE49-F238E27FC236}">
                <a16:creationId xmlns:a16="http://schemas.microsoft.com/office/drawing/2014/main" id="{AEBC4E70-7883-B72D-C6A8-648527B98706}"/>
              </a:ext>
            </a:extLst>
          </p:cNvPr>
          <p:cNvSpPr/>
          <p:nvPr/>
        </p:nvSpPr>
        <p:spPr>
          <a:xfrm>
            <a:off x="323528" y="5013176"/>
            <a:ext cx="720736" cy="986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b="1">
                <a:solidFill>
                  <a:schemeClr val="bg1"/>
                </a:solidFill>
                <a:latin typeface="Meiryo UI" panose="020B0604030504040204" pitchFamily="50" charset="-128"/>
                <a:ea typeface="Meiryo UI" panose="020B0604030504040204" pitchFamily="50" charset="-128"/>
              </a:rPr>
              <a:t>外部</a:t>
            </a:r>
            <a:r>
              <a:rPr kumimoji="1" lang="en-US" altLang="ja-JP" sz="1200" b="1">
                <a:solidFill>
                  <a:schemeClr val="bg1"/>
                </a:solidFill>
                <a:latin typeface="Meiryo UI" panose="020B0604030504040204" pitchFamily="50" charset="-128"/>
                <a:ea typeface="Meiryo UI" panose="020B0604030504040204" pitchFamily="50" charset="-128"/>
              </a:rPr>
              <a:t>PF</a:t>
            </a:r>
            <a:r>
              <a:rPr kumimoji="1" lang="ja-JP" altLang="en-US" sz="1200" b="1">
                <a:solidFill>
                  <a:schemeClr val="bg1"/>
                </a:solidFill>
                <a:latin typeface="Meiryo UI" panose="020B0604030504040204" pitchFamily="50" charset="-128"/>
                <a:ea typeface="Meiryo UI" panose="020B0604030504040204" pitchFamily="50" charset="-128"/>
              </a:rPr>
              <a:t>等</a:t>
            </a:r>
          </a:p>
        </p:txBody>
      </p:sp>
      <p:sp>
        <p:nvSpPr>
          <p:cNvPr id="14" name="正方形/長方形 13">
            <a:extLst>
              <a:ext uri="{FF2B5EF4-FFF2-40B4-BE49-F238E27FC236}">
                <a16:creationId xmlns:a16="http://schemas.microsoft.com/office/drawing/2014/main" id="{139546CA-7016-4A54-3605-530E3299522F}"/>
              </a:ext>
            </a:extLst>
          </p:cNvPr>
          <p:cNvSpPr/>
          <p:nvPr/>
        </p:nvSpPr>
        <p:spPr>
          <a:xfrm>
            <a:off x="6425813" y="1649093"/>
            <a:ext cx="2376264" cy="32309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4F7B41F3-918D-02BA-2525-F9B783A91329}"/>
              </a:ext>
            </a:extLst>
          </p:cNvPr>
          <p:cNvSpPr/>
          <p:nvPr/>
        </p:nvSpPr>
        <p:spPr>
          <a:xfrm>
            <a:off x="6272667" y="1540277"/>
            <a:ext cx="1080120" cy="2176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Output</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EF8AB938-979F-AD50-9210-82C045637992}"/>
              </a:ext>
            </a:extLst>
          </p:cNvPr>
          <p:cNvSpPr/>
          <p:nvPr/>
        </p:nvSpPr>
        <p:spPr>
          <a:xfrm>
            <a:off x="3847355" y="1649093"/>
            <a:ext cx="2376264" cy="32309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6A2674A9-B888-DE66-4410-2E2AD634A830}"/>
              </a:ext>
            </a:extLst>
          </p:cNvPr>
          <p:cNvSpPr/>
          <p:nvPr/>
        </p:nvSpPr>
        <p:spPr>
          <a:xfrm>
            <a:off x="3701312" y="1540277"/>
            <a:ext cx="1080120" cy="2176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Process</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9E04EE28-98FF-B1F4-9464-F9E3D2AC118A}"/>
              </a:ext>
            </a:extLst>
          </p:cNvPr>
          <p:cNvSpPr/>
          <p:nvPr/>
        </p:nvSpPr>
        <p:spPr>
          <a:xfrm>
            <a:off x="1268897" y="1649093"/>
            <a:ext cx="2376264" cy="32309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29543210-68DB-8CCC-6C9E-0FF60965D4B6}"/>
              </a:ext>
            </a:extLst>
          </p:cNvPr>
          <p:cNvSpPr/>
          <p:nvPr/>
        </p:nvSpPr>
        <p:spPr>
          <a:xfrm>
            <a:off x="1115751" y="1540277"/>
            <a:ext cx="1080120" cy="2176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Input</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16934A4A-F194-EF34-367E-999E9AE5857C}"/>
              </a:ext>
            </a:extLst>
          </p:cNvPr>
          <p:cNvSpPr/>
          <p:nvPr/>
        </p:nvSpPr>
        <p:spPr>
          <a:xfrm>
            <a:off x="1322566" y="1824677"/>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①社内システム連携</a:t>
            </a:r>
          </a:p>
        </p:txBody>
      </p:sp>
      <p:sp>
        <p:nvSpPr>
          <p:cNvPr id="21" name="正方形/長方形 20">
            <a:extLst>
              <a:ext uri="{FF2B5EF4-FFF2-40B4-BE49-F238E27FC236}">
                <a16:creationId xmlns:a16="http://schemas.microsoft.com/office/drawing/2014/main" id="{2CA7C2DE-6CE5-0A29-801B-1991807FCFD6}"/>
              </a:ext>
            </a:extLst>
          </p:cNvPr>
          <p:cNvSpPr/>
          <p:nvPr/>
        </p:nvSpPr>
        <p:spPr>
          <a:xfrm>
            <a:off x="1322566" y="2050734"/>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a:solidFill>
                  <a:schemeClr val="tx1"/>
                </a:solidFill>
                <a:latin typeface="Meiryo UI" panose="020B0604030504040204" pitchFamily="50" charset="-128"/>
                <a:ea typeface="Meiryo UI" panose="020B0604030504040204" pitchFamily="50" charset="-128"/>
              </a:rPr>
              <a:t>サステナビリティに関連する情報を取り扱う</a:t>
            </a:r>
            <a:r>
              <a:rPr kumimoji="1" lang="ja-JP" altLang="en-US" sz="1000" b="1" u="sng">
                <a:solidFill>
                  <a:schemeClr val="tx1"/>
                </a:solidFill>
                <a:latin typeface="Meiryo UI" panose="020B0604030504040204" pitchFamily="50" charset="-128"/>
                <a:ea typeface="Meiryo UI" panose="020B0604030504040204" pitchFamily="50" charset="-128"/>
              </a:rPr>
              <a:t>社内システムとのデータ連携や連携管理</a:t>
            </a:r>
            <a:r>
              <a:rPr kumimoji="1" lang="ja-JP" altLang="en-US" sz="1000">
                <a:solidFill>
                  <a:schemeClr val="tx1"/>
                </a:solidFill>
                <a:latin typeface="Meiryo UI" panose="020B0604030504040204" pitchFamily="50" charset="-128"/>
                <a:ea typeface="Meiryo UI" panose="020B0604030504040204" pitchFamily="50" charset="-128"/>
              </a:rPr>
              <a:t>を実現するための各種機能（</a:t>
            </a:r>
            <a:r>
              <a:rPr kumimoji="1" lang="en-US" altLang="ja-JP" sz="1000">
                <a:solidFill>
                  <a:schemeClr val="tx1"/>
                </a:solidFill>
                <a:latin typeface="Meiryo UI" panose="020B0604030504040204" pitchFamily="50" charset="-128"/>
                <a:ea typeface="Meiryo UI" panose="020B0604030504040204" pitchFamily="50" charset="-128"/>
              </a:rPr>
              <a:t>API</a:t>
            </a:r>
            <a:r>
              <a:rPr kumimoji="1" lang="ja-JP" altLang="en-US" sz="1000">
                <a:solidFill>
                  <a:schemeClr val="tx1"/>
                </a:solidFill>
                <a:latin typeface="Meiryo UI" panose="020B0604030504040204" pitchFamily="50" charset="-128"/>
                <a:ea typeface="Meiryo UI" panose="020B0604030504040204" pitchFamily="50" charset="-128"/>
              </a:rPr>
              <a:t>連携、ステータス管理等）</a:t>
            </a:r>
          </a:p>
        </p:txBody>
      </p:sp>
      <p:sp>
        <p:nvSpPr>
          <p:cNvPr id="22" name="正方形/長方形 21">
            <a:extLst>
              <a:ext uri="{FF2B5EF4-FFF2-40B4-BE49-F238E27FC236}">
                <a16:creationId xmlns:a16="http://schemas.microsoft.com/office/drawing/2014/main" id="{45C992CE-B0AA-0B08-62A4-741BE56BD31F}"/>
              </a:ext>
            </a:extLst>
          </p:cNvPr>
          <p:cNvSpPr/>
          <p:nvPr/>
        </p:nvSpPr>
        <p:spPr>
          <a:xfrm>
            <a:off x="1322566" y="2783583"/>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①社外システム連携</a:t>
            </a:r>
          </a:p>
        </p:txBody>
      </p:sp>
      <p:sp>
        <p:nvSpPr>
          <p:cNvPr id="23" name="正方形/長方形 22">
            <a:extLst>
              <a:ext uri="{FF2B5EF4-FFF2-40B4-BE49-F238E27FC236}">
                <a16:creationId xmlns:a16="http://schemas.microsoft.com/office/drawing/2014/main" id="{D4BB0D48-89C9-F53F-7EF5-D1FC2D5B469D}"/>
              </a:ext>
            </a:extLst>
          </p:cNvPr>
          <p:cNvSpPr/>
          <p:nvPr/>
        </p:nvSpPr>
        <p:spPr>
          <a:xfrm>
            <a:off x="1322566" y="3009640"/>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b="1" u="sng">
                <a:solidFill>
                  <a:schemeClr val="tx1"/>
                </a:solidFill>
                <a:latin typeface="Meiryo UI" panose="020B0604030504040204" pitchFamily="50" charset="-128"/>
                <a:ea typeface="Meiryo UI" panose="020B0604030504040204" pitchFamily="50" charset="-128"/>
              </a:rPr>
              <a:t>サプライヤーや第三者機関から情報を連携する</a:t>
            </a:r>
            <a:r>
              <a:rPr kumimoji="1" lang="ja-JP" altLang="en-US" sz="1000">
                <a:solidFill>
                  <a:schemeClr val="tx1"/>
                </a:solidFill>
                <a:latin typeface="Meiryo UI" panose="020B0604030504040204" pitchFamily="50" charset="-128"/>
                <a:ea typeface="Meiryo UI" panose="020B0604030504040204" pitchFamily="50" charset="-128"/>
              </a:rPr>
              <a:t>ための機能（</a:t>
            </a:r>
            <a:r>
              <a:rPr kumimoji="1" lang="en-US" altLang="ja-JP" sz="1000">
                <a:solidFill>
                  <a:schemeClr val="tx1"/>
                </a:solidFill>
                <a:latin typeface="Meiryo UI" panose="020B0604030504040204" pitchFamily="50" charset="-128"/>
                <a:ea typeface="Meiryo UI" panose="020B0604030504040204" pitchFamily="50" charset="-128"/>
              </a:rPr>
              <a:t>API</a:t>
            </a:r>
            <a:r>
              <a:rPr kumimoji="1" lang="ja-JP" altLang="en-US" sz="1000">
                <a:solidFill>
                  <a:schemeClr val="tx1"/>
                </a:solidFill>
                <a:latin typeface="Meiryo UI" panose="020B0604030504040204" pitchFamily="50" charset="-128"/>
                <a:ea typeface="Meiryo UI" panose="020B0604030504040204" pitchFamily="50" charset="-128"/>
              </a:rPr>
              <a:t>連携、ステータス管理等）</a:t>
            </a:r>
          </a:p>
        </p:txBody>
      </p:sp>
      <p:sp>
        <p:nvSpPr>
          <p:cNvPr id="24" name="正方形/長方形 23">
            <a:extLst>
              <a:ext uri="{FF2B5EF4-FFF2-40B4-BE49-F238E27FC236}">
                <a16:creationId xmlns:a16="http://schemas.microsoft.com/office/drawing/2014/main" id="{2C72D8BC-1801-7444-8A6C-FAC0D31399A1}"/>
              </a:ext>
            </a:extLst>
          </p:cNvPr>
          <p:cNvSpPr/>
          <p:nvPr/>
        </p:nvSpPr>
        <p:spPr>
          <a:xfrm>
            <a:off x="1322566" y="3754850"/>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①ダイレクトインプット</a:t>
            </a:r>
          </a:p>
        </p:txBody>
      </p:sp>
      <p:sp>
        <p:nvSpPr>
          <p:cNvPr id="25" name="正方形/長方形 24">
            <a:extLst>
              <a:ext uri="{FF2B5EF4-FFF2-40B4-BE49-F238E27FC236}">
                <a16:creationId xmlns:a16="http://schemas.microsoft.com/office/drawing/2014/main" id="{C1BEA2F0-3079-4510-C727-D8BD9B0722C6}"/>
              </a:ext>
            </a:extLst>
          </p:cNvPr>
          <p:cNvSpPr/>
          <p:nvPr/>
        </p:nvSpPr>
        <p:spPr>
          <a:xfrm>
            <a:off x="1322566" y="3980907"/>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a:solidFill>
                  <a:schemeClr val="tx1"/>
                </a:solidFill>
                <a:latin typeface="Meiryo UI" panose="020B0604030504040204" pitchFamily="50" charset="-128"/>
                <a:ea typeface="Meiryo UI" panose="020B0604030504040204" pitchFamily="50" charset="-128"/>
              </a:rPr>
              <a:t>ユーザ（または社外ユーザ）が</a:t>
            </a:r>
            <a:r>
              <a:rPr kumimoji="1" lang="ja-JP" altLang="en-US" sz="1000" b="1" u="sng">
                <a:solidFill>
                  <a:schemeClr val="tx1"/>
                </a:solidFill>
                <a:latin typeface="Meiryo UI" panose="020B0604030504040204" pitchFamily="50" charset="-128"/>
                <a:ea typeface="Meiryo UI" panose="020B0604030504040204" pitchFamily="50" charset="-128"/>
              </a:rPr>
              <a:t>直接サステナビリティ関連情報を登録</a:t>
            </a:r>
            <a:r>
              <a:rPr kumimoji="1" lang="ja-JP" altLang="en-US" sz="1000">
                <a:solidFill>
                  <a:schemeClr val="tx1"/>
                </a:solidFill>
                <a:latin typeface="Meiryo UI" panose="020B0604030504040204" pitchFamily="50" charset="-128"/>
                <a:ea typeface="Meiryo UI" panose="020B0604030504040204" pitchFamily="50" charset="-128"/>
              </a:rPr>
              <a:t>するための機能（入力フォーム、データインポート機能等）</a:t>
            </a:r>
          </a:p>
        </p:txBody>
      </p:sp>
      <p:sp>
        <p:nvSpPr>
          <p:cNvPr id="26" name="正方形/長方形 25">
            <a:extLst>
              <a:ext uri="{FF2B5EF4-FFF2-40B4-BE49-F238E27FC236}">
                <a16:creationId xmlns:a16="http://schemas.microsoft.com/office/drawing/2014/main" id="{2D6AD748-9415-F32F-9C45-98F8124DF6BE}"/>
              </a:ext>
            </a:extLst>
          </p:cNvPr>
          <p:cNvSpPr/>
          <p:nvPr/>
        </p:nvSpPr>
        <p:spPr>
          <a:xfrm>
            <a:off x="3928300" y="1824677"/>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④データバリデーション</a:t>
            </a:r>
          </a:p>
        </p:txBody>
      </p:sp>
      <p:sp>
        <p:nvSpPr>
          <p:cNvPr id="27" name="正方形/長方形 26">
            <a:extLst>
              <a:ext uri="{FF2B5EF4-FFF2-40B4-BE49-F238E27FC236}">
                <a16:creationId xmlns:a16="http://schemas.microsoft.com/office/drawing/2014/main" id="{4A2209E4-212D-A1DD-6019-FC18E82E944F}"/>
              </a:ext>
            </a:extLst>
          </p:cNvPr>
          <p:cNvSpPr/>
          <p:nvPr/>
        </p:nvSpPr>
        <p:spPr>
          <a:xfrm>
            <a:off x="3928300" y="2050734"/>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a:solidFill>
                  <a:schemeClr val="tx1"/>
                </a:solidFill>
                <a:latin typeface="Meiryo UI" panose="020B0604030504040204" pitchFamily="50" charset="-128"/>
                <a:ea typeface="Meiryo UI" panose="020B0604030504040204" pitchFamily="50" charset="-128"/>
              </a:rPr>
              <a:t>入力されたデータの</a:t>
            </a:r>
            <a:r>
              <a:rPr kumimoji="1" lang="ja-JP" altLang="en-US" sz="1000" b="1" u="sng">
                <a:solidFill>
                  <a:schemeClr val="tx1"/>
                </a:solidFill>
                <a:latin typeface="Meiryo UI" panose="020B0604030504040204" pitchFamily="50" charset="-128"/>
                <a:ea typeface="Meiryo UI" panose="020B0604030504040204" pitchFamily="50" charset="-128"/>
              </a:rPr>
              <a:t>品質を担保</a:t>
            </a:r>
            <a:r>
              <a:rPr kumimoji="1" lang="ja-JP" altLang="en-US" sz="1000">
                <a:solidFill>
                  <a:schemeClr val="tx1"/>
                </a:solidFill>
                <a:latin typeface="Meiryo UI" panose="020B0604030504040204" pitchFamily="50" charset="-128"/>
                <a:ea typeface="Meiryo UI" panose="020B0604030504040204" pitchFamily="50" charset="-128"/>
              </a:rPr>
              <a:t>するためのチェック機能、以上検知機能やデータクレンジング、元情報との証跡紐づけ</a:t>
            </a:r>
            <a:endParaRPr kumimoji="1" lang="en-US" altLang="ja-JP" sz="1000">
              <a:solidFill>
                <a:schemeClr val="tx1"/>
              </a:solidFill>
              <a:latin typeface="Meiryo UI" panose="020B0604030504040204" pitchFamily="50" charset="-128"/>
              <a:ea typeface="Meiryo UI" panose="020B0604030504040204" pitchFamily="50" charset="-128"/>
            </a:endParaRPr>
          </a:p>
          <a:p>
            <a:r>
              <a:rPr kumimoji="1" lang="ja-JP" altLang="en-US" sz="1000">
                <a:solidFill>
                  <a:schemeClr val="tx1"/>
                </a:solidFill>
                <a:latin typeface="Meiryo UI" panose="020B0604030504040204" pitchFamily="50" charset="-128"/>
                <a:ea typeface="Meiryo UI" panose="020B0604030504040204" pitchFamily="50" charset="-128"/>
              </a:rPr>
              <a:t>機能</a:t>
            </a:r>
          </a:p>
        </p:txBody>
      </p:sp>
      <p:sp>
        <p:nvSpPr>
          <p:cNvPr id="28" name="正方形/長方形 27">
            <a:extLst>
              <a:ext uri="{FF2B5EF4-FFF2-40B4-BE49-F238E27FC236}">
                <a16:creationId xmlns:a16="http://schemas.microsoft.com/office/drawing/2014/main" id="{B0893837-7FB2-B077-B193-2027A4DD24C2}"/>
              </a:ext>
            </a:extLst>
          </p:cNvPr>
          <p:cNvSpPr/>
          <p:nvPr/>
        </p:nvSpPr>
        <p:spPr>
          <a:xfrm>
            <a:off x="3928300" y="2783583"/>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⑤データモデル</a:t>
            </a:r>
            <a:r>
              <a:rPr kumimoji="1" lang="en-US" altLang="ja-JP" sz="1000">
                <a:solidFill>
                  <a:schemeClr val="tx1"/>
                </a:solidFill>
                <a:latin typeface="Meiryo UI" panose="020B0604030504040204" pitchFamily="50" charset="-128"/>
                <a:ea typeface="Meiryo UI" panose="020B0604030504040204" pitchFamily="50" charset="-128"/>
              </a:rPr>
              <a:t>&amp;</a:t>
            </a:r>
            <a:r>
              <a:rPr kumimoji="1" lang="ja-JP" altLang="en-US" sz="1000">
                <a:solidFill>
                  <a:schemeClr val="tx1"/>
                </a:solidFill>
                <a:latin typeface="Meiryo UI" panose="020B0604030504040204" pitchFamily="50" charset="-128"/>
                <a:ea typeface="Meiryo UI" panose="020B0604030504040204" pitchFamily="50" charset="-128"/>
              </a:rPr>
              <a:t>カリキュレーション</a:t>
            </a:r>
          </a:p>
        </p:txBody>
      </p:sp>
      <p:sp>
        <p:nvSpPr>
          <p:cNvPr id="29" name="正方形/長方形 28">
            <a:extLst>
              <a:ext uri="{FF2B5EF4-FFF2-40B4-BE49-F238E27FC236}">
                <a16:creationId xmlns:a16="http://schemas.microsoft.com/office/drawing/2014/main" id="{333079BC-0C50-A556-E4D4-7D880C2B6B69}"/>
              </a:ext>
            </a:extLst>
          </p:cNvPr>
          <p:cNvSpPr/>
          <p:nvPr/>
        </p:nvSpPr>
        <p:spPr>
          <a:xfrm>
            <a:off x="3928300" y="3009640"/>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a:solidFill>
                  <a:schemeClr val="tx1"/>
                </a:solidFill>
                <a:latin typeface="Meiryo UI" panose="020B0604030504040204" pitchFamily="50" charset="-128"/>
                <a:ea typeface="Meiryo UI" panose="020B0604030504040204" pitchFamily="50" charset="-128"/>
              </a:rPr>
              <a:t>収集したデータを開示に活用するための</a:t>
            </a:r>
            <a:r>
              <a:rPr kumimoji="1" lang="ja-JP" altLang="en-US" sz="1000" b="1" u="sng">
                <a:solidFill>
                  <a:schemeClr val="tx1"/>
                </a:solidFill>
                <a:latin typeface="Meiryo UI" panose="020B0604030504040204" pitchFamily="50" charset="-128"/>
                <a:ea typeface="Meiryo UI" panose="020B0604030504040204" pitchFamily="50" charset="-128"/>
              </a:rPr>
              <a:t>各種計算・変換処理・マスタ関連</a:t>
            </a:r>
            <a:r>
              <a:rPr kumimoji="1" lang="ja-JP" altLang="en-US" sz="1000">
                <a:solidFill>
                  <a:schemeClr val="tx1"/>
                </a:solidFill>
                <a:latin typeface="Meiryo UI" panose="020B0604030504040204" pitchFamily="50" charset="-128"/>
                <a:ea typeface="Meiryo UI" panose="020B0604030504040204" pitchFamily="50" charset="-128"/>
              </a:rPr>
              <a:t>（単位変換、データマッピングや配賦・連結消込機能）</a:t>
            </a:r>
          </a:p>
        </p:txBody>
      </p:sp>
      <p:sp>
        <p:nvSpPr>
          <p:cNvPr id="30" name="正方形/長方形 29">
            <a:extLst>
              <a:ext uri="{FF2B5EF4-FFF2-40B4-BE49-F238E27FC236}">
                <a16:creationId xmlns:a16="http://schemas.microsoft.com/office/drawing/2014/main" id="{DD543FCF-E204-84AD-DD6D-FD0DE51D4AAA}"/>
              </a:ext>
            </a:extLst>
          </p:cNvPr>
          <p:cNvSpPr/>
          <p:nvPr/>
        </p:nvSpPr>
        <p:spPr>
          <a:xfrm>
            <a:off x="3928300" y="3754850"/>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⑥ビジネスロジック</a:t>
            </a:r>
          </a:p>
        </p:txBody>
      </p:sp>
      <p:sp>
        <p:nvSpPr>
          <p:cNvPr id="31" name="正方形/長方形 30">
            <a:extLst>
              <a:ext uri="{FF2B5EF4-FFF2-40B4-BE49-F238E27FC236}">
                <a16:creationId xmlns:a16="http://schemas.microsoft.com/office/drawing/2014/main" id="{709DCD62-05F8-6CC4-2353-CC2B0810C574}"/>
              </a:ext>
            </a:extLst>
          </p:cNvPr>
          <p:cNvSpPr/>
          <p:nvPr/>
        </p:nvSpPr>
        <p:spPr>
          <a:xfrm>
            <a:off x="3928300" y="3980907"/>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a:solidFill>
                  <a:schemeClr val="tx1"/>
                </a:solidFill>
                <a:latin typeface="Meiryo UI" panose="020B0604030504040204" pitchFamily="50" charset="-128"/>
                <a:ea typeface="Meiryo UI" panose="020B0604030504040204" pitchFamily="50" charset="-128"/>
              </a:rPr>
              <a:t>開示やデータ分析のための各種</a:t>
            </a:r>
            <a:r>
              <a:rPr kumimoji="1" lang="ja-JP" altLang="en-US" sz="1000" b="1" u="sng">
                <a:solidFill>
                  <a:schemeClr val="tx1"/>
                </a:solidFill>
                <a:latin typeface="Meiryo UI" panose="020B0604030504040204" pitchFamily="50" charset="-128"/>
                <a:ea typeface="Meiryo UI" panose="020B0604030504040204" pitchFamily="50" charset="-128"/>
              </a:rPr>
              <a:t>集計機能</a:t>
            </a:r>
            <a:r>
              <a:rPr kumimoji="1" lang="ja-JP" altLang="en-US" sz="1000">
                <a:solidFill>
                  <a:schemeClr val="tx1"/>
                </a:solidFill>
                <a:latin typeface="Meiryo UI" panose="020B0604030504040204" pitchFamily="50" charset="-128"/>
                <a:ea typeface="Meiryo UI" panose="020B0604030504040204" pitchFamily="50" charset="-128"/>
              </a:rPr>
              <a:t>（組織別集計、製品・サービス別集計、</a:t>
            </a:r>
            <a:r>
              <a:rPr kumimoji="1" lang="en-US" altLang="ja-JP" sz="1000">
                <a:solidFill>
                  <a:schemeClr val="tx1"/>
                </a:solidFill>
                <a:latin typeface="Meiryo UI" panose="020B0604030504040204" pitchFamily="50" charset="-128"/>
                <a:ea typeface="Meiryo UI" panose="020B0604030504040204" pitchFamily="50" charset="-128"/>
              </a:rPr>
              <a:t>ESG</a:t>
            </a:r>
            <a:r>
              <a:rPr kumimoji="1" lang="ja-JP" altLang="en-US" sz="1000">
                <a:solidFill>
                  <a:schemeClr val="tx1"/>
                </a:solidFill>
                <a:latin typeface="Meiryo UI" panose="020B0604030504040204" pitchFamily="50" charset="-128"/>
                <a:ea typeface="Meiryo UI" panose="020B0604030504040204" pitchFamily="50" charset="-128"/>
              </a:rPr>
              <a:t>テーマ別集計、バリューチェーン段階別集計等）</a:t>
            </a:r>
          </a:p>
        </p:txBody>
      </p:sp>
      <p:sp>
        <p:nvSpPr>
          <p:cNvPr id="32" name="正方形/長方形 31">
            <a:extLst>
              <a:ext uri="{FF2B5EF4-FFF2-40B4-BE49-F238E27FC236}">
                <a16:creationId xmlns:a16="http://schemas.microsoft.com/office/drawing/2014/main" id="{3F6EA756-99FD-A135-4DFE-37BA0FD60FA2}"/>
              </a:ext>
            </a:extLst>
          </p:cNvPr>
          <p:cNvSpPr/>
          <p:nvPr/>
        </p:nvSpPr>
        <p:spPr>
          <a:xfrm>
            <a:off x="6499515" y="1824677"/>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⑦外部開示</a:t>
            </a:r>
          </a:p>
        </p:txBody>
      </p:sp>
      <p:sp>
        <p:nvSpPr>
          <p:cNvPr id="33" name="正方形/長方形 32">
            <a:extLst>
              <a:ext uri="{FF2B5EF4-FFF2-40B4-BE49-F238E27FC236}">
                <a16:creationId xmlns:a16="http://schemas.microsoft.com/office/drawing/2014/main" id="{2948DBFB-705B-2AB9-78CD-C6B954154216}"/>
              </a:ext>
            </a:extLst>
          </p:cNvPr>
          <p:cNvSpPr/>
          <p:nvPr/>
        </p:nvSpPr>
        <p:spPr>
          <a:xfrm>
            <a:off x="6499515" y="2050734"/>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a:solidFill>
                  <a:schemeClr val="tx1"/>
                </a:solidFill>
                <a:latin typeface="Meiryo UI" panose="020B0604030504040204" pitchFamily="50" charset="-128"/>
                <a:ea typeface="Meiryo UI" panose="020B0604030504040204" pitchFamily="50" charset="-128"/>
              </a:rPr>
              <a:t>各種開示要求事項で求められるフォーマットに対応した</a:t>
            </a:r>
            <a:r>
              <a:rPr kumimoji="1" lang="ja-JP" altLang="en-US" sz="1000" b="1" u="sng">
                <a:solidFill>
                  <a:schemeClr val="tx1"/>
                </a:solidFill>
                <a:latin typeface="Meiryo UI" panose="020B0604030504040204" pitchFamily="50" charset="-128"/>
                <a:ea typeface="Meiryo UI" panose="020B0604030504040204" pitchFamily="50" charset="-128"/>
              </a:rPr>
              <a:t>レポーティング・マッピング機能</a:t>
            </a:r>
          </a:p>
        </p:txBody>
      </p:sp>
      <p:sp>
        <p:nvSpPr>
          <p:cNvPr id="34" name="正方形/長方形 33">
            <a:extLst>
              <a:ext uri="{FF2B5EF4-FFF2-40B4-BE49-F238E27FC236}">
                <a16:creationId xmlns:a16="http://schemas.microsoft.com/office/drawing/2014/main" id="{ABF22F92-C53B-9468-7BBD-D3851E74A54D}"/>
              </a:ext>
            </a:extLst>
          </p:cNvPr>
          <p:cNvSpPr/>
          <p:nvPr/>
        </p:nvSpPr>
        <p:spPr>
          <a:xfrm>
            <a:off x="1268896" y="5013175"/>
            <a:ext cx="7479567" cy="10747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1DCF2452-F194-CC95-4922-53E3468CC58B}"/>
              </a:ext>
            </a:extLst>
          </p:cNvPr>
          <p:cNvSpPr/>
          <p:nvPr/>
        </p:nvSpPr>
        <p:spPr>
          <a:xfrm>
            <a:off x="2277602" y="5188759"/>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⑩データマネジメント</a:t>
            </a:r>
          </a:p>
        </p:txBody>
      </p:sp>
      <p:sp>
        <p:nvSpPr>
          <p:cNvPr id="36" name="正方形/長方形 35">
            <a:extLst>
              <a:ext uri="{FF2B5EF4-FFF2-40B4-BE49-F238E27FC236}">
                <a16:creationId xmlns:a16="http://schemas.microsoft.com/office/drawing/2014/main" id="{1E963E31-910E-E822-50C4-6B065A8F32FF}"/>
              </a:ext>
            </a:extLst>
          </p:cNvPr>
          <p:cNvSpPr/>
          <p:nvPr/>
        </p:nvSpPr>
        <p:spPr>
          <a:xfrm>
            <a:off x="2277602" y="5414816"/>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a:solidFill>
                  <a:schemeClr val="tx1"/>
                </a:solidFill>
                <a:latin typeface="Meiryo UI" panose="020B0604030504040204" pitchFamily="50" charset="-128"/>
                <a:ea typeface="Meiryo UI" panose="020B0604030504040204" pitchFamily="50" charset="-128"/>
              </a:rPr>
              <a:t>上記を実現するための</a:t>
            </a:r>
            <a:r>
              <a:rPr kumimoji="1" lang="ja-JP" altLang="en-US" sz="1000" b="1" u="sng">
                <a:solidFill>
                  <a:schemeClr val="tx1"/>
                </a:solidFill>
                <a:latin typeface="Meiryo UI" panose="020B0604030504040204" pitchFamily="50" charset="-128"/>
                <a:ea typeface="Meiryo UI" panose="020B0604030504040204" pitchFamily="50" charset="-128"/>
              </a:rPr>
              <a:t>ベースとなるデータマネジメント</a:t>
            </a:r>
            <a:r>
              <a:rPr kumimoji="1" lang="ja-JP" altLang="en-US" sz="1000">
                <a:solidFill>
                  <a:schemeClr val="tx1"/>
                </a:solidFill>
                <a:latin typeface="Meiryo UI" panose="020B0604030504040204" pitchFamily="50" charset="-128"/>
                <a:ea typeface="Meiryo UI" panose="020B0604030504040204" pitchFamily="50" charset="-128"/>
              </a:rPr>
              <a:t>関連機能、データガバナンス、ドキュメント管理等</a:t>
            </a:r>
          </a:p>
        </p:txBody>
      </p:sp>
      <p:sp>
        <p:nvSpPr>
          <p:cNvPr id="37" name="正方形/長方形 36">
            <a:extLst>
              <a:ext uri="{FF2B5EF4-FFF2-40B4-BE49-F238E27FC236}">
                <a16:creationId xmlns:a16="http://schemas.microsoft.com/office/drawing/2014/main" id="{71231DA4-3B6D-DC9C-9DA8-02D52E5D75D8}"/>
              </a:ext>
            </a:extLst>
          </p:cNvPr>
          <p:cNvSpPr/>
          <p:nvPr/>
        </p:nvSpPr>
        <p:spPr>
          <a:xfrm>
            <a:off x="5455622" y="5188759"/>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⑪内部統制</a:t>
            </a:r>
          </a:p>
        </p:txBody>
      </p:sp>
      <p:sp>
        <p:nvSpPr>
          <p:cNvPr id="38" name="正方形/長方形 37">
            <a:extLst>
              <a:ext uri="{FF2B5EF4-FFF2-40B4-BE49-F238E27FC236}">
                <a16:creationId xmlns:a16="http://schemas.microsoft.com/office/drawing/2014/main" id="{90F86CF6-6582-4AAA-FCD2-9E166D7FFB6A}"/>
              </a:ext>
            </a:extLst>
          </p:cNvPr>
          <p:cNvSpPr/>
          <p:nvPr/>
        </p:nvSpPr>
        <p:spPr>
          <a:xfrm>
            <a:off x="5455622" y="5414816"/>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b="1" u="sng">
                <a:solidFill>
                  <a:schemeClr val="tx1"/>
                </a:solidFill>
                <a:latin typeface="Meiryo UI" panose="020B0604030504040204" pitchFamily="50" charset="-128"/>
                <a:ea typeface="Meiryo UI" panose="020B0604030504040204" pitchFamily="50" charset="-128"/>
              </a:rPr>
              <a:t>保証対応を見据えた各種内部統制</a:t>
            </a:r>
            <a:r>
              <a:rPr kumimoji="1" lang="ja-JP" altLang="en-US" sz="1000">
                <a:solidFill>
                  <a:schemeClr val="tx1"/>
                </a:solidFill>
                <a:latin typeface="Meiryo UI" panose="020B0604030504040204" pitchFamily="50" charset="-128"/>
                <a:ea typeface="Meiryo UI" panose="020B0604030504040204" pitchFamily="50" charset="-128"/>
              </a:rPr>
              <a:t>関連機能（ユーザ、</a:t>
            </a:r>
            <a:r>
              <a:rPr kumimoji="1" lang="en-US" altLang="ja-JP" sz="1000">
                <a:solidFill>
                  <a:schemeClr val="tx1"/>
                </a:solidFill>
                <a:latin typeface="Meiryo UI" panose="020B0604030504040204" pitchFamily="50" charset="-128"/>
                <a:ea typeface="Meiryo UI" panose="020B0604030504040204" pitchFamily="50" charset="-128"/>
              </a:rPr>
              <a:t>Audit Logging</a:t>
            </a:r>
            <a:r>
              <a:rPr kumimoji="1" lang="ja-JP" altLang="en-US" sz="1000">
                <a:solidFill>
                  <a:schemeClr val="tx1"/>
                </a:solidFill>
                <a:latin typeface="Meiryo UI" panose="020B0604030504040204" pitchFamily="50" charset="-128"/>
                <a:ea typeface="Meiryo UI" panose="020B0604030504040204" pitchFamily="50" charset="-128"/>
              </a:rPr>
              <a:t>、証跡管理、権限管理、ワークフロー等）</a:t>
            </a:r>
          </a:p>
        </p:txBody>
      </p:sp>
      <p:sp>
        <p:nvSpPr>
          <p:cNvPr id="39" name="正方形/長方形 38">
            <a:extLst>
              <a:ext uri="{FF2B5EF4-FFF2-40B4-BE49-F238E27FC236}">
                <a16:creationId xmlns:a16="http://schemas.microsoft.com/office/drawing/2014/main" id="{582951B0-EEF6-C46B-6373-7C596F810BE6}"/>
              </a:ext>
            </a:extLst>
          </p:cNvPr>
          <p:cNvSpPr/>
          <p:nvPr/>
        </p:nvSpPr>
        <p:spPr>
          <a:xfrm>
            <a:off x="6499515" y="2773710"/>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⑧</a:t>
            </a:r>
            <a:r>
              <a:rPr kumimoji="1" lang="en-US" altLang="ja-JP" sz="1000">
                <a:solidFill>
                  <a:schemeClr val="tx1"/>
                </a:solidFill>
                <a:latin typeface="Meiryo UI" panose="020B0604030504040204" pitchFamily="50" charset="-128"/>
                <a:ea typeface="Meiryo UI" panose="020B0604030504040204" pitchFamily="50" charset="-128"/>
              </a:rPr>
              <a:t>ESG</a:t>
            </a:r>
            <a:r>
              <a:rPr kumimoji="1" lang="ja-JP" altLang="en-US" sz="1000">
                <a:solidFill>
                  <a:schemeClr val="tx1"/>
                </a:solidFill>
                <a:latin typeface="Meiryo UI" panose="020B0604030504040204" pitchFamily="50" charset="-128"/>
                <a:ea typeface="Meiryo UI" panose="020B0604030504040204" pitchFamily="50" charset="-128"/>
              </a:rPr>
              <a:t>経営管理</a:t>
            </a:r>
          </a:p>
        </p:txBody>
      </p:sp>
      <p:sp>
        <p:nvSpPr>
          <p:cNvPr id="40" name="正方形/長方形 39">
            <a:extLst>
              <a:ext uri="{FF2B5EF4-FFF2-40B4-BE49-F238E27FC236}">
                <a16:creationId xmlns:a16="http://schemas.microsoft.com/office/drawing/2014/main" id="{21B66846-70E0-B0A0-A694-FDB486A63A3B}"/>
              </a:ext>
            </a:extLst>
          </p:cNvPr>
          <p:cNvSpPr/>
          <p:nvPr/>
        </p:nvSpPr>
        <p:spPr>
          <a:xfrm>
            <a:off x="6499515" y="3062594"/>
            <a:ext cx="1990019" cy="21763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Meiryo UI" panose="020B0604030504040204" pitchFamily="50" charset="-128"/>
                <a:ea typeface="Meiryo UI" panose="020B0604030504040204" pitchFamily="50" charset="-128"/>
              </a:rPr>
              <a:t>⑨シミュレーション</a:t>
            </a:r>
          </a:p>
        </p:txBody>
      </p:sp>
      <p:sp>
        <p:nvSpPr>
          <p:cNvPr id="43" name="正方形/長方形 42">
            <a:extLst>
              <a:ext uri="{FF2B5EF4-FFF2-40B4-BE49-F238E27FC236}">
                <a16:creationId xmlns:a16="http://schemas.microsoft.com/office/drawing/2014/main" id="{FBD508D5-D52D-5B0A-7F8A-0C481BE561DE}"/>
              </a:ext>
            </a:extLst>
          </p:cNvPr>
          <p:cNvSpPr/>
          <p:nvPr/>
        </p:nvSpPr>
        <p:spPr>
          <a:xfrm>
            <a:off x="6499515" y="3281317"/>
            <a:ext cx="2169314" cy="79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b="1" u="sng">
                <a:solidFill>
                  <a:schemeClr val="tx1"/>
                </a:solidFill>
                <a:latin typeface="Meiryo UI" panose="020B0604030504040204" pitchFamily="50" charset="-128"/>
                <a:ea typeface="Meiryo UI" panose="020B0604030504040204" pitchFamily="50" charset="-128"/>
              </a:rPr>
              <a:t>開示以外の目的</a:t>
            </a:r>
            <a:r>
              <a:rPr kumimoji="1" lang="ja-JP" altLang="en-US" sz="1000">
                <a:solidFill>
                  <a:schemeClr val="tx1"/>
                </a:solidFill>
                <a:latin typeface="Meiryo UI" panose="020B0604030504040204" pitchFamily="50" charset="-128"/>
                <a:ea typeface="Meiryo UI" panose="020B0604030504040204" pitchFamily="50" charset="-128"/>
              </a:rPr>
              <a:t>でサステナビリティ情報を活用する上で必要となる各種機能</a:t>
            </a:r>
            <a:endParaRPr kumimoji="1" lang="en-US" altLang="ja-JP" sz="1000">
              <a:solidFill>
                <a:schemeClr val="tx1"/>
              </a:solidFill>
              <a:latin typeface="Meiryo UI" panose="020B0604030504040204" pitchFamily="50" charset="-128"/>
              <a:ea typeface="Meiryo UI" panose="020B0604030504040204" pitchFamily="50" charset="-128"/>
            </a:endParaRPr>
          </a:p>
          <a:p>
            <a:r>
              <a:rPr kumimoji="1" lang="ja-JP" altLang="en-US" sz="1000">
                <a:solidFill>
                  <a:schemeClr val="tx1"/>
                </a:solidFill>
                <a:latin typeface="Meiryo UI" panose="020B0604030504040204" pitchFamily="50" charset="-128"/>
                <a:ea typeface="Meiryo UI" panose="020B0604030504040204" pitchFamily="50" charset="-128"/>
              </a:rPr>
              <a:t>（非財務</a:t>
            </a:r>
            <a:r>
              <a:rPr kumimoji="1" lang="en-US" altLang="ja-JP" sz="1000">
                <a:solidFill>
                  <a:schemeClr val="tx1"/>
                </a:solidFill>
                <a:latin typeface="Meiryo UI" panose="020B0604030504040204" pitchFamily="50" charset="-128"/>
                <a:ea typeface="Meiryo UI" panose="020B0604030504040204" pitchFamily="50" charset="-128"/>
              </a:rPr>
              <a:t>KPI</a:t>
            </a:r>
            <a:r>
              <a:rPr kumimoji="1" lang="ja-JP" altLang="en-US" sz="1000">
                <a:solidFill>
                  <a:schemeClr val="tx1"/>
                </a:solidFill>
                <a:latin typeface="Meiryo UI" panose="020B0604030504040204" pitchFamily="50" charset="-128"/>
                <a:ea typeface="Meiryo UI" panose="020B0604030504040204" pitchFamily="50" charset="-128"/>
              </a:rPr>
              <a:t>の管理ダッシュボード、投資判断で活用する</a:t>
            </a:r>
            <a:r>
              <a:rPr kumimoji="1" lang="en-US" altLang="ja-JP" sz="1000">
                <a:solidFill>
                  <a:schemeClr val="tx1"/>
                </a:solidFill>
                <a:latin typeface="Meiryo UI" panose="020B0604030504040204" pitchFamily="50" charset="-128"/>
                <a:ea typeface="Meiryo UI" panose="020B0604030504040204" pitchFamily="50" charset="-128"/>
              </a:rPr>
              <a:t>MAC</a:t>
            </a:r>
            <a:r>
              <a:rPr kumimoji="1" lang="ja-JP" altLang="en-US" sz="1000">
                <a:solidFill>
                  <a:schemeClr val="tx1"/>
                </a:solidFill>
                <a:latin typeface="Meiryo UI" panose="020B0604030504040204" pitchFamily="50" charset="-128"/>
                <a:ea typeface="Meiryo UI" panose="020B0604030504040204" pitchFamily="50" charset="-128"/>
              </a:rPr>
              <a:t>カーブ分析機能、</a:t>
            </a:r>
            <a:r>
              <a:rPr kumimoji="1" lang="en-US" altLang="ja-JP" sz="1000">
                <a:solidFill>
                  <a:schemeClr val="tx1"/>
                </a:solidFill>
                <a:latin typeface="Meiryo UI" panose="020B0604030504040204" pitchFamily="50" charset="-128"/>
                <a:ea typeface="Meiryo UI" panose="020B0604030504040204" pitchFamily="50" charset="-128"/>
              </a:rPr>
              <a:t>CFP/LCA</a:t>
            </a:r>
            <a:r>
              <a:rPr kumimoji="1" lang="ja-JP" altLang="en-US" sz="1000">
                <a:solidFill>
                  <a:schemeClr val="tx1"/>
                </a:solidFill>
                <a:latin typeface="Meiryo UI" panose="020B0604030504040204" pitchFamily="50" charset="-128"/>
                <a:ea typeface="Meiryo UI" panose="020B0604030504040204" pitchFamily="50" charset="-128"/>
              </a:rPr>
              <a:t>関連機能等）</a:t>
            </a:r>
          </a:p>
        </p:txBody>
      </p:sp>
      <p:sp>
        <p:nvSpPr>
          <p:cNvPr id="44" name="大かっこ 43">
            <a:extLst>
              <a:ext uri="{FF2B5EF4-FFF2-40B4-BE49-F238E27FC236}">
                <a16:creationId xmlns:a16="http://schemas.microsoft.com/office/drawing/2014/main" id="{8EFD2565-C3EC-2164-3918-5BD844DFBE63}"/>
              </a:ext>
            </a:extLst>
          </p:cNvPr>
          <p:cNvSpPr/>
          <p:nvPr/>
        </p:nvSpPr>
        <p:spPr>
          <a:xfrm>
            <a:off x="6463537" y="2694772"/>
            <a:ext cx="2247238" cy="1472650"/>
          </a:xfrm>
          <a:prstGeom prst="bracketPair">
            <a:avLst>
              <a:gd name="adj" fmla="val 9831"/>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5A7D7317-DFDF-3B39-C022-8179FB03DB4A}"/>
              </a:ext>
            </a:extLst>
          </p:cNvPr>
          <p:cNvSpPr/>
          <p:nvPr/>
        </p:nvSpPr>
        <p:spPr>
          <a:xfrm>
            <a:off x="1115750" y="4927130"/>
            <a:ext cx="1584041" cy="2176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Infrastructure</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13" name="楕円 12">
            <a:extLst>
              <a:ext uri="{FF2B5EF4-FFF2-40B4-BE49-F238E27FC236}">
                <a16:creationId xmlns:a16="http://schemas.microsoft.com/office/drawing/2014/main" id="{65EA3E7D-2197-02F7-3E99-0F08B8DF5FF2}"/>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3232428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線コネクタ 25">
            <a:extLst>
              <a:ext uri="{FF2B5EF4-FFF2-40B4-BE49-F238E27FC236}">
                <a16:creationId xmlns:a16="http://schemas.microsoft.com/office/drawing/2014/main" id="{78F0308D-3ED5-7A11-72FA-3265DDD93801}"/>
              </a:ext>
            </a:extLst>
          </p:cNvPr>
          <p:cNvCxnSpPr>
            <a:cxnSpLocks/>
          </p:cNvCxnSpPr>
          <p:nvPr/>
        </p:nvCxnSpPr>
        <p:spPr>
          <a:xfrm>
            <a:off x="3121863" y="1844824"/>
            <a:ext cx="0" cy="4551556"/>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1892B1AC-6713-72D0-C400-81DD153F6C1E}"/>
              </a:ext>
            </a:extLst>
          </p:cNvPr>
          <p:cNvCxnSpPr>
            <a:cxnSpLocks/>
          </p:cNvCxnSpPr>
          <p:nvPr/>
        </p:nvCxnSpPr>
        <p:spPr>
          <a:xfrm>
            <a:off x="6084168" y="1844824"/>
            <a:ext cx="0" cy="4438233"/>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46" name="矢印: 右 145">
            <a:extLst>
              <a:ext uri="{FF2B5EF4-FFF2-40B4-BE49-F238E27FC236}">
                <a16:creationId xmlns:a16="http://schemas.microsoft.com/office/drawing/2014/main" id="{1DEE20CE-F256-2A4C-5877-86A7545D44CB}"/>
              </a:ext>
            </a:extLst>
          </p:cNvPr>
          <p:cNvSpPr/>
          <p:nvPr/>
        </p:nvSpPr>
        <p:spPr>
          <a:xfrm>
            <a:off x="2956476" y="2336246"/>
            <a:ext cx="3440849" cy="1031066"/>
          </a:xfrm>
          <a:prstGeom prst="rightArrow">
            <a:avLst>
              <a:gd name="adj1" fmla="val 38340"/>
              <a:gd name="adj2" fmla="val 48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システム移行</a:t>
            </a:r>
          </a:p>
        </p:txBody>
      </p:sp>
      <p:sp>
        <p:nvSpPr>
          <p:cNvPr id="172" name="正方形/長方形 171">
            <a:extLst>
              <a:ext uri="{FF2B5EF4-FFF2-40B4-BE49-F238E27FC236}">
                <a16:creationId xmlns:a16="http://schemas.microsoft.com/office/drawing/2014/main" id="{17C9608D-8B56-B093-99E4-72C45F219830}"/>
              </a:ext>
            </a:extLst>
          </p:cNvPr>
          <p:cNvSpPr/>
          <p:nvPr/>
        </p:nvSpPr>
        <p:spPr>
          <a:xfrm>
            <a:off x="4076733" y="3367094"/>
            <a:ext cx="2210387" cy="1108361"/>
          </a:xfrm>
          <a:prstGeom prst="rect">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45" name="矢印: 右 144">
            <a:extLst>
              <a:ext uri="{FF2B5EF4-FFF2-40B4-BE49-F238E27FC236}">
                <a16:creationId xmlns:a16="http://schemas.microsoft.com/office/drawing/2014/main" id="{D997A4F3-0E78-F24F-9167-420E757CB5CC}"/>
              </a:ext>
            </a:extLst>
          </p:cNvPr>
          <p:cNvSpPr/>
          <p:nvPr/>
        </p:nvSpPr>
        <p:spPr>
          <a:xfrm rot="2880738">
            <a:off x="2339902" y="3984201"/>
            <a:ext cx="1690169" cy="77465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システム移行</a:t>
            </a:r>
          </a:p>
        </p:txBody>
      </p:sp>
      <p:sp>
        <p:nvSpPr>
          <p:cNvPr id="149" name="正方形/長方形 148">
            <a:extLst>
              <a:ext uri="{FF2B5EF4-FFF2-40B4-BE49-F238E27FC236}">
                <a16:creationId xmlns:a16="http://schemas.microsoft.com/office/drawing/2014/main" id="{87248440-000B-443C-608E-A1515F8B6FFE}"/>
              </a:ext>
            </a:extLst>
          </p:cNvPr>
          <p:cNvSpPr/>
          <p:nvPr/>
        </p:nvSpPr>
        <p:spPr>
          <a:xfrm>
            <a:off x="1316378" y="4492898"/>
            <a:ext cx="1597592" cy="937333"/>
          </a:xfrm>
          <a:prstGeom prst="rect">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44B192DC-21DD-8CFF-D7B7-E3140441B09A}"/>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参考</a:t>
            </a:r>
            <a:r>
              <a:rPr lang="en-US" altLang="ja-JP">
                <a:latin typeface="Meiryo UI" panose="020B0604030504040204" pitchFamily="50" charset="-128"/>
                <a:ea typeface="Meiryo UI" panose="020B0604030504040204" pitchFamily="50" charset="-128"/>
              </a:rPr>
              <a:t>】 </a:t>
            </a:r>
            <a:r>
              <a:rPr kumimoji="1" lang="en-US" altLang="ja-JP">
                <a:latin typeface="Meiryo UI" panose="020B0604030504040204" pitchFamily="50" charset="-128"/>
                <a:ea typeface="Meiryo UI" panose="020B0604030504040204" pitchFamily="50" charset="-128"/>
              </a:rPr>
              <a:t>ESG</a:t>
            </a:r>
            <a:r>
              <a:rPr kumimoji="1" lang="ja-JP" altLang="en-US">
                <a:latin typeface="Meiryo UI" panose="020B0604030504040204" pitchFamily="50" charset="-128"/>
                <a:ea typeface="Meiryo UI" panose="020B0604030504040204" pitchFamily="50" charset="-128"/>
              </a:rPr>
              <a:t>ソリューション導入のトレンド</a:t>
            </a:r>
          </a:p>
        </p:txBody>
      </p:sp>
      <p:sp>
        <p:nvSpPr>
          <p:cNvPr id="3" name="スライド番号プレースホルダー 2">
            <a:extLst>
              <a:ext uri="{FF2B5EF4-FFF2-40B4-BE49-F238E27FC236}">
                <a16:creationId xmlns:a16="http://schemas.microsoft.com/office/drawing/2014/main" id="{1AA826A6-B778-0B22-EEF8-061D0683B349}"/>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38</a:t>
            </a:fld>
            <a:endParaRPr kumimoji="1" lang="ja-JP" altLang="en-US">
              <a:latin typeface="Meiryo UI" panose="020B0604030504040204" pitchFamily="50" charset="-128"/>
              <a:ea typeface="Meiryo UI" panose="020B0604030504040204" pitchFamily="50" charset="-128"/>
            </a:endParaRPr>
          </a:p>
        </p:txBody>
      </p:sp>
      <p:sp>
        <p:nvSpPr>
          <p:cNvPr id="165" name="テキスト プレースホルダー 164">
            <a:extLst>
              <a:ext uri="{FF2B5EF4-FFF2-40B4-BE49-F238E27FC236}">
                <a16:creationId xmlns:a16="http://schemas.microsoft.com/office/drawing/2014/main" id="{5583D109-7159-38DA-37A2-4486C0A68FCF}"/>
              </a:ext>
            </a:extLst>
          </p:cNvPr>
          <p:cNvSpPr>
            <a:spLocks noGrp="1"/>
          </p:cNvSpPr>
          <p:nvPr>
            <p:ph type="body" sz="quarter" idx="13"/>
          </p:nvPr>
        </p:nvSpPr>
        <p:spPr/>
        <p:txBody>
          <a:bodyPr>
            <a:noAutofit/>
          </a:bodyPr>
          <a:lstStyle/>
          <a:p>
            <a:r>
              <a:rPr lang="ja-JP" altLang="en-US"/>
              <a:t>エンタープライズ企業において、昨今の外部環境の変化に伴い、全社開示を目的としたシステム再構築・導入が最新トレンドとなっている。</a:t>
            </a:r>
          </a:p>
        </p:txBody>
      </p:sp>
      <p:sp>
        <p:nvSpPr>
          <p:cNvPr id="130" name="楕円 129">
            <a:extLst>
              <a:ext uri="{FF2B5EF4-FFF2-40B4-BE49-F238E27FC236}">
                <a16:creationId xmlns:a16="http://schemas.microsoft.com/office/drawing/2014/main" id="{47E139DD-0EFC-505F-CC1F-04FAD61F91CE}"/>
              </a:ext>
            </a:extLst>
          </p:cNvPr>
          <p:cNvSpPr/>
          <p:nvPr/>
        </p:nvSpPr>
        <p:spPr>
          <a:xfrm>
            <a:off x="1177313" y="2107074"/>
            <a:ext cx="1948762" cy="194876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36" name="正方形/長方形 135">
            <a:extLst>
              <a:ext uri="{FF2B5EF4-FFF2-40B4-BE49-F238E27FC236}">
                <a16:creationId xmlns:a16="http://schemas.microsoft.com/office/drawing/2014/main" id="{958EA62B-7151-86D4-B307-8D69B3CC3554}"/>
              </a:ext>
            </a:extLst>
          </p:cNvPr>
          <p:cNvSpPr/>
          <p:nvPr/>
        </p:nvSpPr>
        <p:spPr>
          <a:xfrm>
            <a:off x="1170479" y="2378560"/>
            <a:ext cx="1962431" cy="3649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a:solidFill>
                  <a:schemeClr val="bg1"/>
                </a:solidFill>
                <a:latin typeface="Meiryo UI" panose="020B0604030504040204" pitchFamily="50" charset="-128"/>
                <a:ea typeface="Meiryo UI" panose="020B0604030504040204" pitchFamily="50" charset="-128"/>
              </a:rPr>
              <a:t>国内環境系ツール</a:t>
            </a:r>
            <a:endParaRPr kumimoji="1" lang="en-US" altLang="ja-JP" sz="1400" b="1">
              <a:solidFill>
                <a:schemeClr val="bg1"/>
              </a:solidFill>
              <a:latin typeface="Meiryo UI" panose="020B0604030504040204" pitchFamily="50" charset="-128"/>
              <a:ea typeface="Meiryo UI" panose="020B0604030504040204" pitchFamily="50" charset="-128"/>
            </a:endParaRPr>
          </a:p>
        </p:txBody>
      </p:sp>
      <p:sp>
        <p:nvSpPr>
          <p:cNvPr id="137" name="正方形/長方形 136">
            <a:extLst>
              <a:ext uri="{FF2B5EF4-FFF2-40B4-BE49-F238E27FC236}">
                <a16:creationId xmlns:a16="http://schemas.microsoft.com/office/drawing/2014/main" id="{20C20B74-571E-A1C1-AFF7-0F5B67263041}"/>
              </a:ext>
            </a:extLst>
          </p:cNvPr>
          <p:cNvSpPr/>
          <p:nvPr/>
        </p:nvSpPr>
        <p:spPr>
          <a:xfrm>
            <a:off x="1256517" y="2840884"/>
            <a:ext cx="1967781" cy="964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93663" indent="-93663">
              <a:buFont typeface="Wingdings" panose="05000000000000000000" pitchFamily="2" charset="2"/>
              <a:buChar char="n"/>
            </a:pPr>
            <a:r>
              <a:rPr kumimoji="1" lang="en-US" altLang="ja-JP" sz="1200" b="1">
                <a:solidFill>
                  <a:schemeClr val="bg1"/>
                </a:solidFill>
                <a:latin typeface="Meiryo UI" panose="020B0604030504040204" pitchFamily="50" charset="-128"/>
                <a:ea typeface="Meiryo UI" panose="020B0604030504040204" pitchFamily="50" charset="-128"/>
              </a:rPr>
              <a:t>GGX</a:t>
            </a:r>
            <a:r>
              <a:rPr kumimoji="1" lang="ja-JP" altLang="en-US" sz="1200" b="1">
                <a:solidFill>
                  <a:schemeClr val="bg1"/>
                </a:solidFill>
                <a:latin typeface="Meiryo UI" panose="020B0604030504040204" pitchFamily="50" charset="-128"/>
                <a:ea typeface="Meiryo UI" panose="020B0604030504040204" pitchFamily="50" charset="-128"/>
              </a:rPr>
              <a:t>（</a:t>
            </a:r>
            <a:r>
              <a:rPr kumimoji="1" lang="en-US" altLang="ja-JP" sz="1200" b="1">
                <a:solidFill>
                  <a:schemeClr val="bg1"/>
                </a:solidFill>
                <a:latin typeface="Meiryo UI" panose="020B0604030504040204" pitchFamily="50" charset="-128"/>
                <a:ea typeface="Meiryo UI" panose="020B0604030504040204" pitchFamily="50" charset="-128"/>
              </a:rPr>
              <a:t>NEC</a:t>
            </a:r>
            <a:r>
              <a:rPr kumimoji="1" lang="ja-JP" altLang="en-US" sz="1200" b="1">
                <a:solidFill>
                  <a:schemeClr val="bg1"/>
                </a:solidFill>
                <a:latin typeface="Meiryo UI" panose="020B0604030504040204" pitchFamily="50" charset="-128"/>
                <a:ea typeface="Meiryo UI" panose="020B0604030504040204" pitchFamily="50" charset="-128"/>
              </a:rPr>
              <a:t>）</a:t>
            </a:r>
            <a:endParaRPr kumimoji="1" lang="en-US" altLang="ja-JP" sz="1200" b="1">
              <a:solidFill>
                <a:schemeClr val="bg1"/>
              </a:solidFill>
              <a:latin typeface="Meiryo UI" panose="020B0604030504040204" pitchFamily="50" charset="-128"/>
              <a:ea typeface="Meiryo UI" panose="020B0604030504040204" pitchFamily="50" charset="-128"/>
            </a:endParaRPr>
          </a:p>
          <a:p>
            <a:pPr marL="93663" indent="-93663">
              <a:buFont typeface="Wingdings" panose="05000000000000000000" pitchFamily="2" charset="2"/>
              <a:buChar char="n"/>
            </a:pPr>
            <a:r>
              <a:rPr kumimoji="1" lang="en-US" altLang="ja-JP" sz="1200" err="1">
                <a:solidFill>
                  <a:schemeClr val="bg1"/>
                </a:solidFill>
                <a:latin typeface="Meiryo UI" panose="020B0604030504040204" pitchFamily="50" charset="-128"/>
                <a:ea typeface="Meiryo UI" panose="020B0604030504040204" pitchFamily="50" charset="-128"/>
              </a:rPr>
              <a:t>EcoTruck</a:t>
            </a:r>
            <a:r>
              <a:rPr kumimoji="1" lang="ja-JP" altLang="en-US" sz="1200">
                <a:solidFill>
                  <a:schemeClr val="bg1"/>
                </a:solidFill>
                <a:latin typeface="Meiryo UI" panose="020B0604030504040204" pitchFamily="50" charset="-128"/>
                <a:ea typeface="Meiryo UI" panose="020B0604030504040204" pitchFamily="50" charset="-128"/>
              </a:rPr>
              <a:t>（富士通）</a:t>
            </a:r>
            <a:endParaRPr kumimoji="1" lang="en-US" altLang="ja-JP" sz="1200">
              <a:solidFill>
                <a:schemeClr val="bg1"/>
              </a:solidFill>
              <a:latin typeface="Meiryo UI" panose="020B0604030504040204" pitchFamily="50" charset="-128"/>
              <a:ea typeface="Meiryo UI" panose="020B0604030504040204" pitchFamily="50" charset="-128"/>
            </a:endParaRPr>
          </a:p>
          <a:p>
            <a:pPr marL="93663" indent="-93663">
              <a:buFont typeface="Wingdings" panose="05000000000000000000" pitchFamily="2" charset="2"/>
              <a:buChar char="n"/>
            </a:pPr>
            <a:r>
              <a:rPr kumimoji="1" lang="en-US" altLang="ja-JP" sz="1200" err="1">
                <a:solidFill>
                  <a:schemeClr val="bg1"/>
                </a:solidFill>
                <a:latin typeface="Meiryo UI" panose="020B0604030504040204" pitchFamily="50" charset="-128"/>
                <a:ea typeface="Meiryo UI" panose="020B0604030504040204" pitchFamily="50" charset="-128"/>
              </a:rPr>
              <a:t>EcoAssist</a:t>
            </a:r>
            <a:r>
              <a:rPr kumimoji="1" lang="ja-JP" altLang="en-US" sz="1200">
                <a:solidFill>
                  <a:schemeClr val="bg1"/>
                </a:solidFill>
                <a:latin typeface="Meiryo UI" panose="020B0604030504040204" pitchFamily="50" charset="-128"/>
                <a:ea typeface="Meiryo UI" panose="020B0604030504040204" pitchFamily="50" charset="-128"/>
              </a:rPr>
              <a:t>（日立）</a:t>
            </a:r>
            <a:endParaRPr kumimoji="1" lang="en-US" altLang="ja-JP" sz="1200">
              <a:solidFill>
                <a:schemeClr val="bg1"/>
              </a:solidFill>
              <a:latin typeface="Meiryo UI" panose="020B0604030504040204" pitchFamily="50" charset="-128"/>
              <a:ea typeface="Meiryo UI" panose="020B0604030504040204" pitchFamily="50" charset="-128"/>
            </a:endParaRPr>
          </a:p>
          <a:p>
            <a:r>
              <a:rPr kumimoji="1" lang="ja-JP" altLang="en-US" sz="1200">
                <a:solidFill>
                  <a:schemeClr val="bg1"/>
                </a:solidFill>
                <a:latin typeface="Meiryo UI" panose="020B0604030504040204" pitchFamily="50" charset="-128"/>
                <a:ea typeface="Meiryo UI" panose="020B0604030504040204" pitchFamily="50" charset="-128"/>
              </a:rPr>
              <a:t>など</a:t>
            </a:r>
            <a:endParaRPr kumimoji="1" lang="en-US" altLang="ja-JP" sz="1200">
              <a:solidFill>
                <a:schemeClr val="bg1"/>
              </a:solidFill>
              <a:latin typeface="Meiryo UI" panose="020B0604030504040204" pitchFamily="50" charset="-128"/>
              <a:ea typeface="Meiryo UI" panose="020B0604030504040204" pitchFamily="50" charset="-128"/>
            </a:endParaRPr>
          </a:p>
        </p:txBody>
      </p:sp>
      <p:sp>
        <p:nvSpPr>
          <p:cNvPr id="139" name="楕円 138">
            <a:extLst>
              <a:ext uri="{FF2B5EF4-FFF2-40B4-BE49-F238E27FC236}">
                <a16:creationId xmlns:a16="http://schemas.microsoft.com/office/drawing/2014/main" id="{FF540657-A56B-8B41-C6E4-B4035BA0C95F}"/>
              </a:ext>
            </a:extLst>
          </p:cNvPr>
          <p:cNvSpPr/>
          <p:nvPr/>
        </p:nvSpPr>
        <p:spPr>
          <a:xfrm>
            <a:off x="3582335" y="4612039"/>
            <a:ext cx="1784341" cy="1784341"/>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40" name="正方形/長方形 139">
            <a:extLst>
              <a:ext uri="{FF2B5EF4-FFF2-40B4-BE49-F238E27FC236}">
                <a16:creationId xmlns:a16="http://schemas.microsoft.com/office/drawing/2014/main" id="{B04C57A1-7880-D470-8A9D-6A1A5D28E16D}"/>
              </a:ext>
            </a:extLst>
          </p:cNvPr>
          <p:cNvSpPr/>
          <p:nvPr/>
        </p:nvSpPr>
        <p:spPr>
          <a:xfrm>
            <a:off x="3663583" y="4870642"/>
            <a:ext cx="1621844" cy="3649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a:solidFill>
                  <a:schemeClr val="bg1"/>
                </a:solidFill>
                <a:latin typeface="Meiryo UI" panose="020B0604030504040204" pitchFamily="50" charset="-128"/>
                <a:ea typeface="Meiryo UI" panose="020B0604030504040204" pitchFamily="50" charset="-128"/>
              </a:rPr>
              <a:t>国内新興ツール</a:t>
            </a:r>
            <a:endParaRPr kumimoji="1" lang="en-US" altLang="ja-JP" sz="1400" b="1">
              <a:solidFill>
                <a:schemeClr val="bg1"/>
              </a:solidFill>
              <a:latin typeface="Meiryo UI" panose="020B0604030504040204" pitchFamily="50" charset="-128"/>
              <a:ea typeface="Meiryo UI" panose="020B0604030504040204" pitchFamily="50" charset="-128"/>
            </a:endParaRPr>
          </a:p>
        </p:txBody>
      </p:sp>
      <p:sp>
        <p:nvSpPr>
          <p:cNvPr id="141" name="正方形/長方形 140">
            <a:extLst>
              <a:ext uri="{FF2B5EF4-FFF2-40B4-BE49-F238E27FC236}">
                <a16:creationId xmlns:a16="http://schemas.microsoft.com/office/drawing/2014/main" id="{1B469C4D-F4EB-942E-CB3A-BD7367C4D9DD}"/>
              </a:ext>
            </a:extLst>
          </p:cNvPr>
          <p:cNvSpPr/>
          <p:nvPr/>
        </p:nvSpPr>
        <p:spPr>
          <a:xfrm>
            <a:off x="3582335" y="5356740"/>
            <a:ext cx="1759395" cy="7249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93663" indent="-93663">
              <a:buFont typeface="Wingdings" panose="05000000000000000000" pitchFamily="2" charset="2"/>
              <a:buChar char="n"/>
            </a:pPr>
            <a:r>
              <a:rPr kumimoji="1" lang="en-US" altLang="ja-JP" sz="1200" err="1">
                <a:solidFill>
                  <a:schemeClr val="bg1"/>
                </a:solidFill>
                <a:latin typeface="Meiryo UI" panose="020B0604030504040204" pitchFamily="50" charset="-128"/>
                <a:ea typeface="Meiryo UI" panose="020B0604030504040204" pitchFamily="50" charset="-128"/>
              </a:rPr>
              <a:t>Zeroboard</a:t>
            </a:r>
            <a:endParaRPr kumimoji="1" lang="en-US" altLang="ja-JP" sz="1200">
              <a:solidFill>
                <a:schemeClr val="bg1"/>
              </a:solidFill>
              <a:latin typeface="Meiryo UI" panose="020B0604030504040204" pitchFamily="50" charset="-128"/>
              <a:ea typeface="Meiryo UI" panose="020B0604030504040204" pitchFamily="50" charset="-128"/>
            </a:endParaRPr>
          </a:p>
          <a:p>
            <a:pPr marL="93663" indent="-93663">
              <a:buFont typeface="Wingdings" panose="05000000000000000000" pitchFamily="2" charset="2"/>
              <a:buChar char="n"/>
            </a:pPr>
            <a:r>
              <a:rPr kumimoji="1" lang="ja-JP" altLang="en-US" sz="1200">
                <a:solidFill>
                  <a:schemeClr val="bg1"/>
                </a:solidFill>
                <a:latin typeface="Meiryo UI" panose="020B0604030504040204" pitchFamily="50" charset="-128"/>
                <a:ea typeface="Meiryo UI" panose="020B0604030504040204" pitchFamily="50" charset="-128"/>
              </a:rPr>
              <a:t>アスエネ</a:t>
            </a:r>
            <a:br>
              <a:rPr kumimoji="1" lang="en-US" altLang="ja-JP" sz="1200">
                <a:solidFill>
                  <a:schemeClr val="bg1"/>
                </a:solidFill>
                <a:latin typeface="Meiryo UI" panose="020B0604030504040204" pitchFamily="50" charset="-128"/>
                <a:ea typeface="Meiryo UI" panose="020B0604030504040204" pitchFamily="50" charset="-128"/>
              </a:rPr>
            </a:br>
            <a:r>
              <a:rPr kumimoji="1" lang="ja-JP" altLang="en-US" sz="1200">
                <a:solidFill>
                  <a:schemeClr val="bg1"/>
                </a:solidFill>
                <a:latin typeface="Meiryo UI" panose="020B0604030504040204" pitchFamily="50" charset="-128"/>
                <a:ea typeface="Meiryo UI" panose="020B0604030504040204" pitchFamily="50" charset="-128"/>
              </a:rPr>
              <a:t>など</a:t>
            </a:r>
            <a:endParaRPr kumimoji="1" lang="en-US" altLang="ja-JP" sz="1200">
              <a:solidFill>
                <a:schemeClr val="bg1"/>
              </a:solidFill>
              <a:latin typeface="Meiryo UI" panose="020B0604030504040204" pitchFamily="50" charset="-128"/>
              <a:ea typeface="Meiryo UI" panose="020B0604030504040204" pitchFamily="50" charset="-128"/>
            </a:endParaRPr>
          </a:p>
        </p:txBody>
      </p:sp>
      <p:sp>
        <p:nvSpPr>
          <p:cNvPr id="142" name="四角形: 角を丸くする 141">
            <a:extLst>
              <a:ext uri="{FF2B5EF4-FFF2-40B4-BE49-F238E27FC236}">
                <a16:creationId xmlns:a16="http://schemas.microsoft.com/office/drawing/2014/main" id="{C9A4F9C2-EDE5-DAD2-5321-FF469F848885}"/>
              </a:ext>
            </a:extLst>
          </p:cNvPr>
          <p:cNvSpPr/>
          <p:nvPr/>
        </p:nvSpPr>
        <p:spPr>
          <a:xfrm>
            <a:off x="6438197" y="2614590"/>
            <a:ext cx="2374958" cy="3478706"/>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143" name="正方形/長方形 142">
            <a:extLst>
              <a:ext uri="{FF2B5EF4-FFF2-40B4-BE49-F238E27FC236}">
                <a16:creationId xmlns:a16="http://schemas.microsoft.com/office/drawing/2014/main" id="{D7513448-ABCE-1092-22D2-CECDDF6E74E2}"/>
              </a:ext>
            </a:extLst>
          </p:cNvPr>
          <p:cNvSpPr/>
          <p:nvPr/>
        </p:nvSpPr>
        <p:spPr>
          <a:xfrm>
            <a:off x="6459580" y="3219119"/>
            <a:ext cx="2374541" cy="3649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a:solidFill>
                  <a:schemeClr val="bg1"/>
                </a:solidFill>
                <a:latin typeface="Meiryo UI" panose="020B0604030504040204" pitchFamily="50" charset="-128"/>
                <a:ea typeface="Meiryo UI" panose="020B0604030504040204" pitchFamily="50" charset="-128"/>
              </a:rPr>
              <a:t>海外発</a:t>
            </a:r>
            <a:r>
              <a:rPr kumimoji="1" lang="en-US" altLang="ja-JP" sz="1400" b="1">
                <a:solidFill>
                  <a:schemeClr val="bg1"/>
                </a:solidFill>
                <a:latin typeface="Meiryo UI" panose="020B0604030504040204" pitchFamily="50" charset="-128"/>
                <a:ea typeface="Meiryo UI" panose="020B0604030504040204" pitchFamily="50" charset="-128"/>
              </a:rPr>
              <a:t>ESG</a:t>
            </a:r>
            <a:r>
              <a:rPr kumimoji="1" lang="ja-JP" altLang="en-US" sz="1400" b="1">
                <a:solidFill>
                  <a:schemeClr val="bg1"/>
                </a:solidFill>
                <a:latin typeface="Meiryo UI" panose="020B0604030504040204" pitchFamily="50" charset="-128"/>
                <a:ea typeface="Meiryo UI" panose="020B0604030504040204" pitchFamily="50" charset="-128"/>
              </a:rPr>
              <a:t>ツール</a:t>
            </a:r>
            <a:endParaRPr kumimoji="1" lang="en-US" altLang="ja-JP" sz="1400" b="1">
              <a:solidFill>
                <a:schemeClr val="bg1"/>
              </a:solidFill>
              <a:latin typeface="Meiryo UI" panose="020B0604030504040204" pitchFamily="50" charset="-128"/>
              <a:ea typeface="Meiryo UI" panose="020B0604030504040204" pitchFamily="50" charset="-128"/>
            </a:endParaRPr>
          </a:p>
        </p:txBody>
      </p:sp>
      <p:sp>
        <p:nvSpPr>
          <p:cNvPr id="144" name="正方形/長方形 143">
            <a:extLst>
              <a:ext uri="{FF2B5EF4-FFF2-40B4-BE49-F238E27FC236}">
                <a16:creationId xmlns:a16="http://schemas.microsoft.com/office/drawing/2014/main" id="{17238EF1-BED9-6DD2-AFB9-3D3CB7802D02}"/>
              </a:ext>
            </a:extLst>
          </p:cNvPr>
          <p:cNvSpPr/>
          <p:nvPr/>
        </p:nvSpPr>
        <p:spPr>
          <a:xfrm>
            <a:off x="6558650" y="3627379"/>
            <a:ext cx="2117806" cy="964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93663" indent="-93663">
              <a:buFont typeface="Wingdings" panose="05000000000000000000" pitchFamily="2" charset="2"/>
              <a:buChar char="n"/>
            </a:pPr>
            <a:r>
              <a:rPr kumimoji="1" lang="en-US" altLang="ja-JP" sz="1200">
                <a:solidFill>
                  <a:schemeClr val="bg1"/>
                </a:solidFill>
                <a:latin typeface="Meiryo UI" panose="020B0604030504040204" pitchFamily="50" charset="-128"/>
                <a:ea typeface="Meiryo UI" panose="020B0604030504040204" pitchFamily="50" charset="-128"/>
              </a:rPr>
              <a:t>Workiva</a:t>
            </a:r>
          </a:p>
          <a:p>
            <a:pPr marL="93663" indent="-93663">
              <a:buFont typeface="Wingdings" panose="05000000000000000000" pitchFamily="2" charset="2"/>
              <a:buChar char="n"/>
            </a:pPr>
            <a:r>
              <a:rPr kumimoji="1" lang="en-US" altLang="ja-JP" sz="1200">
                <a:solidFill>
                  <a:schemeClr val="bg1"/>
                </a:solidFill>
                <a:latin typeface="Meiryo UI" panose="020B0604030504040204" pitchFamily="50" charset="-128"/>
                <a:ea typeface="Meiryo UI" panose="020B0604030504040204" pitchFamily="50" charset="-128"/>
              </a:rPr>
              <a:t>IBM</a:t>
            </a:r>
          </a:p>
          <a:p>
            <a:pPr marL="93663" indent="-93663">
              <a:buFont typeface="Wingdings" panose="05000000000000000000" pitchFamily="2" charset="2"/>
              <a:buChar char="n"/>
            </a:pPr>
            <a:r>
              <a:rPr kumimoji="1" lang="en-US" altLang="ja-JP" sz="1200">
                <a:solidFill>
                  <a:schemeClr val="bg1"/>
                </a:solidFill>
                <a:latin typeface="Meiryo UI" panose="020B0604030504040204" pitchFamily="50" charset="-128"/>
                <a:ea typeface="Meiryo UI" panose="020B0604030504040204" pitchFamily="50" charset="-128"/>
              </a:rPr>
              <a:t>ServiceNow</a:t>
            </a:r>
          </a:p>
          <a:p>
            <a:pPr marL="93663" indent="-93663">
              <a:buFont typeface="Wingdings" panose="05000000000000000000" pitchFamily="2" charset="2"/>
              <a:buChar char="n"/>
            </a:pPr>
            <a:r>
              <a:rPr kumimoji="1" lang="en-US" altLang="ja-JP" sz="1200">
                <a:solidFill>
                  <a:schemeClr val="bg1"/>
                </a:solidFill>
                <a:latin typeface="Meiryo UI" panose="020B0604030504040204" pitchFamily="50" charset="-128"/>
                <a:ea typeface="Meiryo UI" panose="020B0604030504040204" pitchFamily="50" charset="-128"/>
              </a:rPr>
              <a:t>UL Solutions</a:t>
            </a:r>
          </a:p>
          <a:p>
            <a:pPr marL="93663" indent="-93663">
              <a:buFont typeface="Wingdings" panose="05000000000000000000" pitchFamily="2" charset="2"/>
              <a:buChar char="n"/>
            </a:pPr>
            <a:r>
              <a:rPr kumimoji="1" lang="en-US" altLang="ja-JP" sz="1200">
                <a:solidFill>
                  <a:schemeClr val="bg1"/>
                </a:solidFill>
                <a:latin typeface="Meiryo UI" panose="020B0604030504040204" pitchFamily="50" charset="-128"/>
                <a:ea typeface="Meiryo UI" panose="020B0604030504040204" pitchFamily="50" charset="-128"/>
              </a:rPr>
              <a:t>Microsoft</a:t>
            </a:r>
          </a:p>
          <a:p>
            <a:pPr marL="93663" indent="-93663">
              <a:buFont typeface="Wingdings" panose="05000000000000000000" pitchFamily="2" charset="2"/>
              <a:buChar char="n"/>
            </a:pPr>
            <a:r>
              <a:rPr kumimoji="1" lang="en-US" altLang="ja-JP" sz="1200">
                <a:solidFill>
                  <a:schemeClr val="bg1"/>
                </a:solidFill>
                <a:latin typeface="Meiryo UI" panose="020B0604030504040204" pitchFamily="50" charset="-128"/>
                <a:ea typeface="Meiryo UI" panose="020B0604030504040204" pitchFamily="50" charset="-128"/>
              </a:rPr>
              <a:t>SAP</a:t>
            </a:r>
          </a:p>
          <a:p>
            <a:pPr marL="93663" indent="-93663">
              <a:buFont typeface="Wingdings" panose="05000000000000000000" pitchFamily="2" charset="2"/>
              <a:buChar char="n"/>
            </a:pPr>
            <a:r>
              <a:rPr kumimoji="1" lang="en-US" altLang="ja-JP" sz="1200">
                <a:solidFill>
                  <a:schemeClr val="bg1"/>
                </a:solidFill>
                <a:latin typeface="Meiryo UI" panose="020B0604030504040204" pitchFamily="50" charset="-128"/>
                <a:ea typeface="Meiryo UI" panose="020B0604030504040204" pitchFamily="50" charset="-128"/>
              </a:rPr>
              <a:t>Salesforce</a:t>
            </a:r>
          </a:p>
          <a:p>
            <a:r>
              <a:rPr kumimoji="1" lang="ja-JP" altLang="en-US" sz="1200">
                <a:solidFill>
                  <a:schemeClr val="bg1"/>
                </a:solidFill>
                <a:latin typeface="Meiryo UI" panose="020B0604030504040204" pitchFamily="50" charset="-128"/>
                <a:ea typeface="Meiryo UI" panose="020B0604030504040204" pitchFamily="50" charset="-128"/>
              </a:rPr>
              <a:t>など</a:t>
            </a:r>
            <a:endParaRPr kumimoji="1" lang="en-US" altLang="ja-JP" sz="1200">
              <a:solidFill>
                <a:schemeClr val="bg1"/>
              </a:solidFill>
              <a:latin typeface="Meiryo UI" panose="020B0604030504040204" pitchFamily="50" charset="-128"/>
              <a:ea typeface="Meiryo UI" panose="020B0604030504040204" pitchFamily="50" charset="-128"/>
            </a:endParaRPr>
          </a:p>
        </p:txBody>
      </p:sp>
      <p:sp>
        <p:nvSpPr>
          <p:cNvPr id="147" name="矢印: 右 146">
            <a:extLst>
              <a:ext uri="{FF2B5EF4-FFF2-40B4-BE49-F238E27FC236}">
                <a16:creationId xmlns:a16="http://schemas.microsoft.com/office/drawing/2014/main" id="{BE4548EC-3B2B-2198-E35C-53EFB3DA284F}"/>
              </a:ext>
            </a:extLst>
          </p:cNvPr>
          <p:cNvSpPr/>
          <p:nvPr/>
        </p:nvSpPr>
        <p:spPr>
          <a:xfrm>
            <a:off x="5181927" y="5356013"/>
            <a:ext cx="1215399" cy="852121"/>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システム移行</a:t>
            </a:r>
          </a:p>
        </p:txBody>
      </p:sp>
      <p:sp>
        <p:nvSpPr>
          <p:cNvPr id="160" name="正方形/長方形 159">
            <a:extLst>
              <a:ext uri="{FF2B5EF4-FFF2-40B4-BE49-F238E27FC236}">
                <a16:creationId xmlns:a16="http://schemas.microsoft.com/office/drawing/2014/main" id="{2640E703-4479-D65C-580C-BB4A624D87C1}"/>
              </a:ext>
            </a:extLst>
          </p:cNvPr>
          <p:cNvSpPr/>
          <p:nvPr/>
        </p:nvSpPr>
        <p:spPr>
          <a:xfrm>
            <a:off x="1399983" y="4762875"/>
            <a:ext cx="1547526" cy="562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200">
                <a:solidFill>
                  <a:schemeClr val="tx1"/>
                </a:solidFill>
                <a:latin typeface="Meiryo UI" panose="020B0604030504040204" pitchFamily="50" charset="-128"/>
                <a:ea typeface="Meiryo UI" panose="020B0604030504040204" pitchFamily="50" charset="-128"/>
              </a:rPr>
              <a:t>Scope1</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3</a:t>
            </a:r>
            <a:r>
              <a:rPr kumimoji="1" lang="ja-JP" altLang="en-US" sz="1200">
                <a:solidFill>
                  <a:schemeClr val="tx1"/>
                </a:solidFill>
                <a:latin typeface="Meiryo UI" panose="020B0604030504040204" pitchFamily="50" charset="-128"/>
                <a:ea typeface="Meiryo UI" panose="020B0604030504040204" pitchFamily="50" charset="-128"/>
              </a:rPr>
              <a:t>算定、</a:t>
            </a:r>
            <a:r>
              <a:rPr kumimoji="1" lang="en-US" altLang="ja-JP" sz="1200">
                <a:solidFill>
                  <a:schemeClr val="tx1"/>
                </a:solidFill>
                <a:latin typeface="Meiryo UI" panose="020B0604030504040204" pitchFamily="50" charset="-128"/>
                <a:ea typeface="Meiryo UI" panose="020B0604030504040204" pitchFamily="50" charset="-128"/>
              </a:rPr>
              <a:t>CFP</a:t>
            </a:r>
            <a:r>
              <a:rPr kumimoji="1" lang="ja-JP" altLang="en-US" sz="1200">
                <a:solidFill>
                  <a:schemeClr val="tx1"/>
                </a:solidFill>
                <a:latin typeface="Meiryo UI" panose="020B0604030504040204" pitchFamily="50" charset="-128"/>
                <a:ea typeface="Meiryo UI" panose="020B0604030504040204" pitchFamily="50" charset="-128"/>
              </a:rPr>
              <a:t>算定をゴールとしたシステム再構築</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61" name="正方形/長方形 160">
            <a:extLst>
              <a:ext uri="{FF2B5EF4-FFF2-40B4-BE49-F238E27FC236}">
                <a16:creationId xmlns:a16="http://schemas.microsoft.com/office/drawing/2014/main" id="{5948D9C7-02E0-F756-F178-226E779D9501}"/>
              </a:ext>
            </a:extLst>
          </p:cNvPr>
          <p:cNvSpPr/>
          <p:nvPr/>
        </p:nvSpPr>
        <p:spPr>
          <a:xfrm>
            <a:off x="4106100" y="3627379"/>
            <a:ext cx="2177128" cy="81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200">
                <a:solidFill>
                  <a:schemeClr val="tx1"/>
                </a:solidFill>
                <a:latin typeface="Meiryo UI" panose="020B0604030504040204" pitchFamily="50" charset="-128"/>
                <a:ea typeface="Meiryo UI" panose="020B0604030504040204" pitchFamily="50" charset="-128"/>
              </a:rPr>
              <a:t>GHG</a:t>
            </a:r>
            <a:r>
              <a:rPr kumimoji="1" lang="ja-JP" altLang="en-US" sz="1200">
                <a:solidFill>
                  <a:schemeClr val="tx1"/>
                </a:solidFill>
                <a:latin typeface="Meiryo UI" panose="020B0604030504040204" pitchFamily="50" charset="-128"/>
                <a:ea typeface="Meiryo UI" panose="020B0604030504040204" pitchFamily="50" charset="-128"/>
              </a:rPr>
              <a:t>排出量だけでなく、</a:t>
            </a:r>
            <a:r>
              <a:rPr kumimoji="1" lang="ja-JP" altLang="en-US" sz="1200" b="1" u="sng">
                <a:solidFill>
                  <a:schemeClr val="tx1"/>
                </a:solidFill>
                <a:latin typeface="Meiryo UI" panose="020B0604030504040204" pitchFamily="50" charset="-128"/>
                <a:ea typeface="Meiryo UI" panose="020B0604030504040204" pitchFamily="50" charset="-128"/>
              </a:rPr>
              <a:t>全社データの保証・開示</a:t>
            </a:r>
            <a:r>
              <a:rPr kumimoji="1" lang="ja-JP" altLang="en-US" sz="1200">
                <a:solidFill>
                  <a:schemeClr val="tx1"/>
                </a:solidFill>
                <a:latin typeface="Meiryo UI" panose="020B0604030504040204" pitchFamily="50" charset="-128"/>
                <a:ea typeface="Meiryo UI" panose="020B0604030504040204" pitchFamily="50" charset="-128"/>
              </a:rPr>
              <a:t>・報告・経営管理への活用をゴールとしたシステム再構築</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62" name="正方形/長方形 161">
            <a:extLst>
              <a:ext uri="{FF2B5EF4-FFF2-40B4-BE49-F238E27FC236}">
                <a16:creationId xmlns:a16="http://schemas.microsoft.com/office/drawing/2014/main" id="{15BB8085-9F4B-3E29-F116-B7B0E87B534E}"/>
              </a:ext>
            </a:extLst>
          </p:cNvPr>
          <p:cNvSpPr/>
          <p:nvPr/>
        </p:nvSpPr>
        <p:spPr>
          <a:xfrm>
            <a:off x="1399983" y="4556536"/>
            <a:ext cx="1547526" cy="4255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200" b="1">
                <a:solidFill>
                  <a:schemeClr val="tx1"/>
                </a:solidFill>
                <a:latin typeface="Meiryo UI" panose="020B0604030504040204" pitchFamily="50" charset="-128"/>
                <a:ea typeface="Meiryo UI" panose="020B0604030504040204" pitchFamily="50" charset="-128"/>
              </a:rPr>
              <a:t>トレンド①</a:t>
            </a:r>
            <a:endParaRPr kumimoji="1" lang="en-US" altLang="ja-JP" sz="1200" b="1">
              <a:solidFill>
                <a:schemeClr val="tx1"/>
              </a:solidFill>
              <a:latin typeface="Meiryo UI" panose="020B0604030504040204" pitchFamily="50" charset="-128"/>
              <a:ea typeface="Meiryo UI" panose="020B0604030504040204" pitchFamily="50" charset="-128"/>
            </a:endParaRPr>
          </a:p>
        </p:txBody>
      </p:sp>
      <p:grpSp>
        <p:nvGrpSpPr>
          <p:cNvPr id="4" name="Graphic 4">
            <a:extLst>
              <a:ext uri="{FF2B5EF4-FFF2-40B4-BE49-F238E27FC236}">
                <a16:creationId xmlns:a16="http://schemas.microsoft.com/office/drawing/2014/main" id="{19BDBA68-FE69-6E5B-7F21-688B1D42A421}"/>
              </a:ext>
            </a:extLst>
          </p:cNvPr>
          <p:cNvGrpSpPr>
            <a:grpSpLocks noChangeAspect="1"/>
          </p:cNvGrpSpPr>
          <p:nvPr/>
        </p:nvGrpSpPr>
        <p:grpSpPr bwMode="gray">
          <a:xfrm>
            <a:off x="3132910" y="5691877"/>
            <a:ext cx="626948" cy="626948"/>
            <a:chOff x="1952125" y="1885990"/>
            <a:chExt cx="362313" cy="361971"/>
          </a:xfrm>
          <a:solidFill>
            <a:schemeClr val="tx2"/>
          </a:solidFill>
        </p:grpSpPr>
        <p:sp>
          <p:nvSpPr>
            <p:cNvPr id="128" name="Graphic 4">
              <a:extLst>
                <a:ext uri="{FF2B5EF4-FFF2-40B4-BE49-F238E27FC236}">
                  <a16:creationId xmlns:a16="http://schemas.microsoft.com/office/drawing/2014/main" id="{5170BDD9-539A-6BD7-456B-48770F14FCE4}"/>
                </a:ext>
              </a:extLst>
            </p:cNvPr>
            <p:cNvSpPr/>
            <p:nvPr/>
          </p:nvSpPr>
          <p:spPr bwMode="gray">
            <a:xfrm>
              <a:off x="1952125" y="1885990"/>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58153 w 362313"/>
                <a:gd name="connsiteY6" fmla="*/ 278342 h 361971"/>
                <a:gd name="connsiteX7" fmla="*/ 251763 w 362313"/>
                <a:gd name="connsiteY7" fmla="*/ 284726 h 361971"/>
                <a:gd name="connsiteX8" fmla="*/ 111824 w 362313"/>
                <a:gd name="connsiteY8" fmla="*/ 284726 h 361971"/>
                <a:gd name="connsiteX9" fmla="*/ 105434 w 362313"/>
                <a:gd name="connsiteY9" fmla="*/ 278342 h 361971"/>
                <a:gd name="connsiteX10" fmla="*/ 105434 w 362313"/>
                <a:gd name="connsiteY10" fmla="*/ 83630 h 361971"/>
                <a:gd name="connsiteX11" fmla="*/ 111824 w 362313"/>
                <a:gd name="connsiteY11" fmla="*/ 77246 h 361971"/>
                <a:gd name="connsiteX12" fmla="*/ 195532 w 362313"/>
                <a:gd name="connsiteY12" fmla="*/ 77246 h 361971"/>
                <a:gd name="connsiteX13" fmla="*/ 201922 w 362313"/>
                <a:gd name="connsiteY13" fmla="*/ 83630 h 361971"/>
                <a:gd name="connsiteX14" fmla="*/ 201922 w 362313"/>
                <a:gd name="connsiteY14" fmla="*/ 132787 h 361971"/>
                <a:gd name="connsiteX15" fmla="*/ 251124 w 362313"/>
                <a:gd name="connsiteY15" fmla="*/ 132787 h 361971"/>
                <a:gd name="connsiteX16" fmla="*/ 257514 w 362313"/>
                <a:gd name="connsiteY16" fmla="*/ 139171 h 361971"/>
                <a:gd name="connsiteX17" fmla="*/ 258153 w 362313"/>
                <a:gd name="connsiteY17" fmla="*/ 27834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58153" y="278342"/>
                  </a:moveTo>
                  <a:cubicBezTo>
                    <a:pt x="258153" y="282172"/>
                    <a:pt x="255597" y="284726"/>
                    <a:pt x="251763" y="284726"/>
                  </a:cubicBezTo>
                  <a:lnTo>
                    <a:pt x="111824" y="284726"/>
                  </a:lnTo>
                  <a:cubicBezTo>
                    <a:pt x="107990" y="284726"/>
                    <a:pt x="105434" y="282172"/>
                    <a:pt x="105434" y="278342"/>
                  </a:cubicBezTo>
                  <a:lnTo>
                    <a:pt x="105434" y="83630"/>
                  </a:lnTo>
                  <a:cubicBezTo>
                    <a:pt x="105434" y="79800"/>
                    <a:pt x="107990" y="77246"/>
                    <a:pt x="111824" y="77246"/>
                  </a:cubicBezTo>
                  <a:lnTo>
                    <a:pt x="195532" y="77246"/>
                  </a:lnTo>
                  <a:cubicBezTo>
                    <a:pt x="199366" y="77246"/>
                    <a:pt x="201922" y="79800"/>
                    <a:pt x="201922" y="83630"/>
                  </a:cubicBezTo>
                  <a:lnTo>
                    <a:pt x="201922" y="132787"/>
                  </a:lnTo>
                  <a:lnTo>
                    <a:pt x="251124" y="132787"/>
                  </a:lnTo>
                  <a:cubicBezTo>
                    <a:pt x="254958" y="132787"/>
                    <a:pt x="257514" y="135341"/>
                    <a:pt x="257514" y="139171"/>
                  </a:cubicBezTo>
                  <a:lnTo>
                    <a:pt x="258153" y="278342"/>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29" name="Graphic 4">
              <a:extLst>
                <a:ext uri="{FF2B5EF4-FFF2-40B4-BE49-F238E27FC236}">
                  <a16:creationId xmlns:a16="http://schemas.microsoft.com/office/drawing/2014/main" id="{E0B502CB-0307-0AE7-37D5-33246DE09638}"/>
                </a:ext>
              </a:extLst>
            </p:cNvPr>
            <p:cNvSpPr/>
            <p:nvPr/>
          </p:nvSpPr>
          <p:spPr bwMode="gray">
            <a:xfrm>
              <a:off x="2070339" y="1976005"/>
              <a:ext cx="70928" cy="181943"/>
            </a:xfrm>
            <a:custGeom>
              <a:avLst/>
              <a:gdLst>
                <a:gd name="connsiteX0" fmla="*/ 15336 w 70928"/>
                <a:gd name="connsiteY0" fmla="*/ 160238 h 181943"/>
                <a:gd name="connsiteX1" fmla="*/ 21726 w 70928"/>
                <a:gd name="connsiteY1" fmla="*/ 153854 h 181943"/>
                <a:gd name="connsiteX2" fmla="*/ 28116 w 70928"/>
                <a:gd name="connsiteY2" fmla="*/ 160238 h 181943"/>
                <a:gd name="connsiteX3" fmla="*/ 28116 w 70928"/>
                <a:gd name="connsiteY3" fmla="*/ 181944 h 181943"/>
                <a:gd name="connsiteX4" fmla="*/ 70928 w 70928"/>
                <a:gd name="connsiteY4" fmla="*/ 181944 h 181943"/>
                <a:gd name="connsiteX5" fmla="*/ 70928 w 70928"/>
                <a:gd name="connsiteY5" fmla="*/ 0 h 181943"/>
                <a:gd name="connsiteX6" fmla="*/ 0 w 70928"/>
                <a:gd name="connsiteY6" fmla="*/ 0 h 181943"/>
                <a:gd name="connsiteX7" fmla="*/ 0 w 70928"/>
                <a:gd name="connsiteY7" fmla="*/ 181944 h 181943"/>
                <a:gd name="connsiteX8" fmla="*/ 15336 w 70928"/>
                <a:gd name="connsiteY8" fmla="*/ 181944 h 181943"/>
                <a:gd name="connsiteX9" fmla="*/ 15336 w 70928"/>
                <a:gd name="connsiteY9" fmla="*/ 160238 h 181943"/>
                <a:gd name="connsiteX10" fmla="*/ 43451 w 70928"/>
                <a:gd name="connsiteY10" fmla="*/ 18514 h 181943"/>
                <a:gd name="connsiteX11" fmla="*/ 44730 w 70928"/>
                <a:gd name="connsiteY11" fmla="*/ 16598 h 181943"/>
                <a:gd name="connsiteX12" fmla="*/ 51759 w 70928"/>
                <a:gd name="connsiteY12" fmla="*/ 15322 h 181943"/>
                <a:gd name="connsiteX13" fmla="*/ 53675 w 70928"/>
                <a:gd name="connsiteY13" fmla="*/ 16598 h 181943"/>
                <a:gd name="connsiteX14" fmla="*/ 55593 w 70928"/>
                <a:gd name="connsiteY14" fmla="*/ 21067 h 181943"/>
                <a:gd name="connsiteX15" fmla="*/ 49203 w 70928"/>
                <a:gd name="connsiteY15" fmla="*/ 27451 h 181943"/>
                <a:gd name="connsiteX16" fmla="*/ 42813 w 70928"/>
                <a:gd name="connsiteY16" fmla="*/ 21067 h 181943"/>
                <a:gd name="connsiteX17" fmla="*/ 43451 w 70928"/>
                <a:gd name="connsiteY17" fmla="*/ 18514 h 181943"/>
                <a:gd name="connsiteX18" fmla="*/ 43451 w 70928"/>
                <a:gd name="connsiteY18" fmla="*/ 45965 h 181943"/>
                <a:gd name="connsiteX19" fmla="*/ 44730 w 70928"/>
                <a:gd name="connsiteY19" fmla="*/ 44049 h 181943"/>
                <a:gd name="connsiteX20" fmla="*/ 50480 w 70928"/>
                <a:gd name="connsiteY20" fmla="*/ 42134 h 181943"/>
                <a:gd name="connsiteX21" fmla="*/ 51759 w 70928"/>
                <a:gd name="connsiteY21" fmla="*/ 42134 h 181943"/>
                <a:gd name="connsiteX22" fmla="*/ 53036 w 70928"/>
                <a:gd name="connsiteY22" fmla="*/ 42773 h 181943"/>
                <a:gd name="connsiteX23" fmla="*/ 53675 w 70928"/>
                <a:gd name="connsiteY23" fmla="*/ 43411 h 181943"/>
                <a:gd name="connsiteX24" fmla="*/ 54954 w 70928"/>
                <a:gd name="connsiteY24" fmla="*/ 45326 h 181943"/>
                <a:gd name="connsiteX25" fmla="*/ 55593 w 70928"/>
                <a:gd name="connsiteY25" fmla="*/ 47880 h 181943"/>
                <a:gd name="connsiteX26" fmla="*/ 54954 w 70928"/>
                <a:gd name="connsiteY26" fmla="*/ 50433 h 181943"/>
                <a:gd name="connsiteX27" fmla="*/ 51759 w 70928"/>
                <a:gd name="connsiteY27" fmla="*/ 53625 h 181943"/>
                <a:gd name="connsiteX28" fmla="*/ 49203 w 70928"/>
                <a:gd name="connsiteY28" fmla="*/ 54264 h 181943"/>
                <a:gd name="connsiteX29" fmla="*/ 46646 w 70928"/>
                <a:gd name="connsiteY29" fmla="*/ 53625 h 181943"/>
                <a:gd name="connsiteX30" fmla="*/ 44730 w 70928"/>
                <a:gd name="connsiteY30" fmla="*/ 52349 h 181943"/>
                <a:gd name="connsiteX31" fmla="*/ 42813 w 70928"/>
                <a:gd name="connsiteY31" fmla="*/ 47880 h 181943"/>
                <a:gd name="connsiteX32" fmla="*/ 43451 w 70928"/>
                <a:gd name="connsiteY32" fmla="*/ 45965 h 181943"/>
                <a:gd name="connsiteX33" fmla="*/ 43451 w 70928"/>
                <a:gd name="connsiteY33" fmla="*/ 45965 h 181943"/>
                <a:gd name="connsiteX34" fmla="*/ 45369 w 70928"/>
                <a:gd name="connsiteY34" fmla="*/ 71501 h 181943"/>
                <a:gd name="connsiteX35" fmla="*/ 52398 w 70928"/>
                <a:gd name="connsiteY35" fmla="*/ 70224 h 181943"/>
                <a:gd name="connsiteX36" fmla="*/ 54314 w 70928"/>
                <a:gd name="connsiteY36" fmla="*/ 71501 h 181943"/>
                <a:gd name="connsiteX37" fmla="*/ 56231 w 70928"/>
                <a:gd name="connsiteY37" fmla="*/ 75969 h 181943"/>
                <a:gd name="connsiteX38" fmla="*/ 54314 w 70928"/>
                <a:gd name="connsiteY38" fmla="*/ 80438 h 181943"/>
                <a:gd name="connsiteX39" fmla="*/ 49841 w 70928"/>
                <a:gd name="connsiteY39" fmla="*/ 82353 h 181943"/>
                <a:gd name="connsiteX40" fmla="*/ 43451 w 70928"/>
                <a:gd name="connsiteY40" fmla="*/ 75969 h 181943"/>
                <a:gd name="connsiteX41" fmla="*/ 45369 w 70928"/>
                <a:gd name="connsiteY41" fmla="*/ 71501 h 181943"/>
                <a:gd name="connsiteX42" fmla="*/ 45369 w 70928"/>
                <a:gd name="connsiteY42" fmla="*/ 71501 h 181943"/>
                <a:gd name="connsiteX43" fmla="*/ 45369 w 70928"/>
                <a:gd name="connsiteY43" fmla="*/ 99590 h 181943"/>
                <a:gd name="connsiteX44" fmla="*/ 54314 w 70928"/>
                <a:gd name="connsiteY44" fmla="*/ 99590 h 181943"/>
                <a:gd name="connsiteX45" fmla="*/ 55593 w 70928"/>
                <a:gd name="connsiteY45" fmla="*/ 106613 h 181943"/>
                <a:gd name="connsiteX46" fmla="*/ 52398 w 70928"/>
                <a:gd name="connsiteY46" fmla="*/ 109805 h 181943"/>
                <a:gd name="connsiteX47" fmla="*/ 49841 w 70928"/>
                <a:gd name="connsiteY47" fmla="*/ 110443 h 181943"/>
                <a:gd name="connsiteX48" fmla="*/ 47285 w 70928"/>
                <a:gd name="connsiteY48" fmla="*/ 109805 h 181943"/>
                <a:gd name="connsiteX49" fmla="*/ 45369 w 70928"/>
                <a:gd name="connsiteY49" fmla="*/ 108528 h 181943"/>
                <a:gd name="connsiteX50" fmla="*/ 44091 w 70928"/>
                <a:gd name="connsiteY50" fmla="*/ 106613 h 181943"/>
                <a:gd name="connsiteX51" fmla="*/ 45369 w 70928"/>
                <a:gd name="connsiteY51" fmla="*/ 99590 h 181943"/>
                <a:gd name="connsiteX52" fmla="*/ 45369 w 70928"/>
                <a:gd name="connsiteY52" fmla="*/ 99590 h 181943"/>
                <a:gd name="connsiteX53" fmla="*/ 43451 w 70928"/>
                <a:gd name="connsiteY53" fmla="*/ 130872 h 181943"/>
                <a:gd name="connsiteX54" fmla="*/ 45369 w 70928"/>
                <a:gd name="connsiteY54" fmla="*/ 127680 h 181943"/>
                <a:gd name="connsiteX55" fmla="*/ 51119 w 70928"/>
                <a:gd name="connsiteY55" fmla="*/ 125765 h 181943"/>
                <a:gd name="connsiteX56" fmla="*/ 52398 w 70928"/>
                <a:gd name="connsiteY56" fmla="*/ 126403 h 181943"/>
                <a:gd name="connsiteX57" fmla="*/ 53675 w 70928"/>
                <a:gd name="connsiteY57" fmla="*/ 127041 h 181943"/>
                <a:gd name="connsiteX58" fmla="*/ 54314 w 70928"/>
                <a:gd name="connsiteY58" fmla="*/ 127680 h 181943"/>
                <a:gd name="connsiteX59" fmla="*/ 56231 w 70928"/>
                <a:gd name="connsiteY59" fmla="*/ 132149 h 181943"/>
                <a:gd name="connsiteX60" fmla="*/ 49841 w 70928"/>
                <a:gd name="connsiteY60" fmla="*/ 138533 h 181943"/>
                <a:gd name="connsiteX61" fmla="*/ 47285 w 70928"/>
                <a:gd name="connsiteY61" fmla="*/ 137894 h 181943"/>
                <a:gd name="connsiteX62" fmla="*/ 45369 w 70928"/>
                <a:gd name="connsiteY62" fmla="*/ 136617 h 181943"/>
                <a:gd name="connsiteX63" fmla="*/ 44091 w 70928"/>
                <a:gd name="connsiteY63" fmla="*/ 134702 h 181943"/>
                <a:gd name="connsiteX64" fmla="*/ 43451 w 70928"/>
                <a:gd name="connsiteY64" fmla="*/ 132149 h 181943"/>
                <a:gd name="connsiteX65" fmla="*/ 43451 w 70928"/>
                <a:gd name="connsiteY65" fmla="*/ 130872 h 181943"/>
                <a:gd name="connsiteX66" fmla="*/ 43451 w 70928"/>
                <a:gd name="connsiteY66" fmla="*/ 130872 h 181943"/>
                <a:gd name="connsiteX67" fmla="*/ 43451 w 70928"/>
                <a:gd name="connsiteY67" fmla="*/ 157684 h 181943"/>
                <a:gd name="connsiteX68" fmla="*/ 44730 w 70928"/>
                <a:gd name="connsiteY68" fmla="*/ 155769 h 181943"/>
                <a:gd name="connsiteX69" fmla="*/ 53675 w 70928"/>
                <a:gd name="connsiteY69" fmla="*/ 155769 h 181943"/>
                <a:gd name="connsiteX70" fmla="*/ 54954 w 70928"/>
                <a:gd name="connsiteY70" fmla="*/ 157684 h 181943"/>
                <a:gd name="connsiteX71" fmla="*/ 55593 w 70928"/>
                <a:gd name="connsiteY71" fmla="*/ 160238 h 181943"/>
                <a:gd name="connsiteX72" fmla="*/ 53675 w 70928"/>
                <a:gd name="connsiteY72" fmla="*/ 164707 h 181943"/>
                <a:gd name="connsiteX73" fmla="*/ 51759 w 70928"/>
                <a:gd name="connsiteY73" fmla="*/ 165984 h 181943"/>
                <a:gd name="connsiteX74" fmla="*/ 43451 w 70928"/>
                <a:gd name="connsiteY74" fmla="*/ 162792 h 181943"/>
                <a:gd name="connsiteX75" fmla="*/ 42813 w 70928"/>
                <a:gd name="connsiteY75" fmla="*/ 160238 h 181943"/>
                <a:gd name="connsiteX76" fmla="*/ 43451 w 70928"/>
                <a:gd name="connsiteY76" fmla="*/ 157684 h 181943"/>
                <a:gd name="connsiteX77" fmla="*/ 43451 w 70928"/>
                <a:gd name="connsiteY77" fmla="*/ 157684 h 181943"/>
                <a:gd name="connsiteX78" fmla="*/ 17253 w 70928"/>
                <a:gd name="connsiteY78" fmla="*/ 15960 h 181943"/>
                <a:gd name="connsiteX79" fmla="*/ 19170 w 70928"/>
                <a:gd name="connsiteY79" fmla="*/ 14683 h 181943"/>
                <a:gd name="connsiteX80" fmla="*/ 26199 w 70928"/>
                <a:gd name="connsiteY80" fmla="*/ 15960 h 181943"/>
                <a:gd name="connsiteX81" fmla="*/ 27477 w 70928"/>
                <a:gd name="connsiteY81" fmla="*/ 17875 h 181943"/>
                <a:gd name="connsiteX82" fmla="*/ 26199 w 70928"/>
                <a:gd name="connsiteY82" fmla="*/ 24897 h 181943"/>
                <a:gd name="connsiteX83" fmla="*/ 24282 w 70928"/>
                <a:gd name="connsiteY83" fmla="*/ 26174 h 181943"/>
                <a:gd name="connsiteX84" fmla="*/ 21726 w 70928"/>
                <a:gd name="connsiteY84" fmla="*/ 26813 h 181943"/>
                <a:gd name="connsiteX85" fmla="*/ 17253 w 70928"/>
                <a:gd name="connsiteY85" fmla="*/ 24897 h 181943"/>
                <a:gd name="connsiteX86" fmla="*/ 15336 w 70928"/>
                <a:gd name="connsiteY86" fmla="*/ 20429 h 181943"/>
                <a:gd name="connsiteX87" fmla="*/ 17253 w 70928"/>
                <a:gd name="connsiteY87" fmla="*/ 15960 h 181943"/>
                <a:gd name="connsiteX88" fmla="*/ 17253 w 70928"/>
                <a:gd name="connsiteY88" fmla="*/ 15960 h 181943"/>
                <a:gd name="connsiteX89" fmla="*/ 15975 w 70928"/>
                <a:gd name="connsiteY89" fmla="*/ 45965 h 181943"/>
                <a:gd name="connsiteX90" fmla="*/ 17253 w 70928"/>
                <a:gd name="connsiteY90" fmla="*/ 44049 h 181943"/>
                <a:gd name="connsiteX91" fmla="*/ 26199 w 70928"/>
                <a:gd name="connsiteY91" fmla="*/ 44049 h 181943"/>
                <a:gd name="connsiteX92" fmla="*/ 27477 w 70928"/>
                <a:gd name="connsiteY92" fmla="*/ 45965 h 181943"/>
                <a:gd name="connsiteX93" fmla="*/ 28116 w 70928"/>
                <a:gd name="connsiteY93" fmla="*/ 48518 h 181943"/>
                <a:gd name="connsiteX94" fmla="*/ 26199 w 70928"/>
                <a:gd name="connsiteY94" fmla="*/ 52987 h 181943"/>
                <a:gd name="connsiteX95" fmla="*/ 24282 w 70928"/>
                <a:gd name="connsiteY95" fmla="*/ 54264 h 181943"/>
                <a:gd name="connsiteX96" fmla="*/ 21726 w 70928"/>
                <a:gd name="connsiteY96" fmla="*/ 54902 h 181943"/>
                <a:gd name="connsiteX97" fmla="*/ 19170 w 70928"/>
                <a:gd name="connsiteY97" fmla="*/ 54264 h 181943"/>
                <a:gd name="connsiteX98" fmla="*/ 15975 w 70928"/>
                <a:gd name="connsiteY98" fmla="*/ 51072 h 181943"/>
                <a:gd name="connsiteX99" fmla="*/ 15336 w 70928"/>
                <a:gd name="connsiteY99" fmla="*/ 48518 h 181943"/>
                <a:gd name="connsiteX100" fmla="*/ 15975 w 70928"/>
                <a:gd name="connsiteY100" fmla="*/ 45965 h 181943"/>
                <a:gd name="connsiteX101" fmla="*/ 15975 w 70928"/>
                <a:gd name="connsiteY101" fmla="*/ 45965 h 181943"/>
                <a:gd name="connsiteX102" fmla="*/ 17253 w 70928"/>
                <a:gd name="connsiteY102" fmla="*/ 71501 h 181943"/>
                <a:gd name="connsiteX103" fmla="*/ 19170 w 70928"/>
                <a:gd name="connsiteY103" fmla="*/ 70862 h 181943"/>
                <a:gd name="connsiteX104" fmla="*/ 26199 w 70928"/>
                <a:gd name="connsiteY104" fmla="*/ 72139 h 181943"/>
                <a:gd name="connsiteX105" fmla="*/ 28116 w 70928"/>
                <a:gd name="connsiteY105" fmla="*/ 76608 h 181943"/>
                <a:gd name="connsiteX106" fmla="*/ 21726 w 70928"/>
                <a:gd name="connsiteY106" fmla="*/ 82992 h 181943"/>
                <a:gd name="connsiteX107" fmla="*/ 19170 w 70928"/>
                <a:gd name="connsiteY107" fmla="*/ 82353 h 181943"/>
                <a:gd name="connsiteX108" fmla="*/ 17253 w 70928"/>
                <a:gd name="connsiteY108" fmla="*/ 81077 h 181943"/>
                <a:gd name="connsiteX109" fmla="*/ 15336 w 70928"/>
                <a:gd name="connsiteY109" fmla="*/ 76608 h 181943"/>
                <a:gd name="connsiteX110" fmla="*/ 17253 w 70928"/>
                <a:gd name="connsiteY110" fmla="*/ 72139 h 181943"/>
                <a:gd name="connsiteX111" fmla="*/ 17253 w 70928"/>
                <a:gd name="connsiteY111" fmla="*/ 71501 h 181943"/>
                <a:gd name="connsiteX112" fmla="*/ 17253 w 70928"/>
                <a:gd name="connsiteY112" fmla="*/ 99590 h 181943"/>
                <a:gd name="connsiteX113" fmla="*/ 26199 w 70928"/>
                <a:gd name="connsiteY113" fmla="*/ 99590 h 181943"/>
                <a:gd name="connsiteX114" fmla="*/ 27477 w 70928"/>
                <a:gd name="connsiteY114" fmla="*/ 106613 h 181943"/>
                <a:gd name="connsiteX115" fmla="*/ 26199 w 70928"/>
                <a:gd name="connsiteY115" fmla="*/ 108528 h 181943"/>
                <a:gd name="connsiteX116" fmla="*/ 24282 w 70928"/>
                <a:gd name="connsiteY116" fmla="*/ 109805 h 181943"/>
                <a:gd name="connsiteX117" fmla="*/ 21726 w 70928"/>
                <a:gd name="connsiteY117" fmla="*/ 110443 h 181943"/>
                <a:gd name="connsiteX118" fmla="*/ 19170 w 70928"/>
                <a:gd name="connsiteY118" fmla="*/ 109805 h 181943"/>
                <a:gd name="connsiteX119" fmla="*/ 15975 w 70928"/>
                <a:gd name="connsiteY119" fmla="*/ 106613 h 181943"/>
                <a:gd name="connsiteX120" fmla="*/ 15336 w 70928"/>
                <a:gd name="connsiteY120" fmla="*/ 104059 h 181943"/>
                <a:gd name="connsiteX121" fmla="*/ 17253 w 70928"/>
                <a:gd name="connsiteY121" fmla="*/ 100229 h 181943"/>
                <a:gd name="connsiteX122" fmla="*/ 17253 w 70928"/>
                <a:gd name="connsiteY122" fmla="*/ 99590 h 181943"/>
                <a:gd name="connsiteX123" fmla="*/ 15336 w 70928"/>
                <a:gd name="connsiteY123" fmla="*/ 130233 h 181943"/>
                <a:gd name="connsiteX124" fmla="*/ 15975 w 70928"/>
                <a:gd name="connsiteY124" fmla="*/ 128957 h 181943"/>
                <a:gd name="connsiteX125" fmla="*/ 17253 w 70928"/>
                <a:gd name="connsiteY125" fmla="*/ 127041 h 181943"/>
                <a:gd name="connsiteX126" fmla="*/ 23004 w 70928"/>
                <a:gd name="connsiteY126" fmla="*/ 125126 h 181943"/>
                <a:gd name="connsiteX127" fmla="*/ 25560 w 70928"/>
                <a:gd name="connsiteY127" fmla="*/ 125765 h 181943"/>
                <a:gd name="connsiteX128" fmla="*/ 26199 w 70928"/>
                <a:gd name="connsiteY128" fmla="*/ 126403 h 181943"/>
                <a:gd name="connsiteX129" fmla="*/ 28116 w 70928"/>
                <a:gd name="connsiteY129" fmla="*/ 130872 h 181943"/>
                <a:gd name="connsiteX130" fmla="*/ 27477 w 70928"/>
                <a:gd name="connsiteY130" fmla="*/ 133425 h 181943"/>
                <a:gd name="connsiteX131" fmla="*/ 26199 w 70928"/>
                <a:gd name="connsiteY131" fmla="*/ 135341 h 181943"/>
                <a:gd name="connsiteX132" fmla="*/ 21726 w 70928"/>
                <a:gd name="connsiteY132" fmla="*/ 137256 h 181943"/>
                <a:gd name="connsiteX133" fmla="*/ 17253 w 70928"/>
                <a:gd name="connsiteY133" fmla="*/ 135341 h 181943"/>
                <a:gd name="connsiteX134" fmla="*/ 15975 w 70928"/>
                <a:gd name="connsiteY134" fmla="*/ 133425 h 181943"/>
                <a:gd name="connsiteX135" fmla="*/ 15336 w 70928"/>
                <a:gd name="connsiteY135" fmla="*/ 130872 h 181943"/>
                <a:gd name="connsiteX136" fmla="*/ 15336 w 70928"/>
                <a:gd name="connsiteY136" fmla="*/ 130233 h 181943"/>
                <a:gd name="connsiteX137" fmla="*/ 15336 w 70928"/>
                <a:gd name="connsiteY137" fmla="*/ 130233 h 181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70928" h="181943">
                  <a:moveTo>
                    <a:pt x="15336" y="160238"/>
                  </a:moveTo>
                  <a:cubicBezTo>
                    <a:pt x="15336" y="156408"/>
                    <a:pt x="17892" y="153854"/>
                    <a:pt x="21726" y="153854"/>
                  </a:cubicBezTo>
                  <a:cubicBezTo>
                    <a:pt x="25560" y="153854"/>
                    <a:pt x="28116" y="156408"/>
                    <a:pt x="28116" y="160238"/>
                  </a:cubicBezTo>
                  <a:lnTo>
                    <a:pt x="28116" y="181944"/>
                  </a:lnTo>
                  <a:lnTo>
                    <a:pt x="70928" y="181944"/>
                  </a:lnTo>
                  <a:lnTo>
                    <a:pt x="70928" y="0"/>
                  </a:lnTo>
                  <a:lnTo>
                    <a:pt x="0" y="0"/>
                  </a:lnTo>
                  <a:lnTo>
                    <a:pt x="0" y="181944"/>
                  </a:lnTo>
                  <a:lnTo>
                    <a:pt x="15336" y="181944"/>
                  </a:lnTo>
                  <a:lnTo>
                    <a:pt x="15336" y="160238"/>
                  </a:lnTo>
                  <a:close/>
                  <a:moveTo>
                    <a:pt x="43451" y="18514"/>
                  </a:moveTo>
                  <a:cubicBezTo>
                    <a:pt x="44091" y="17875"/>
                    <a:pt x="44091" y="17237"/>
                    <a:pt x="44730" y="16598"/>
                  </a:cubicBezTo>
                  <a:cubicBezTo>
                    <a:pt x="46646" y="14683"/>
                    <a:pt x="49203" y="14045"/>
                    <a:pt x="51759" y="15322"/>
                  </a:cubicBezTo>
                  <a:cubicBezTo>
                    <a:pt x="52398" y="15322"/>
                    <a:pt x="53036" y="15960"/>
                    <a:pt x="53675" y="16598"/>
                  </a:cubicBezTo>
                  <a:cubicBezTo>
                    <a:pt x="54954" y="17875"/>
                    <a:pt x="55593" y="19152"/>
                    <a:pt x="55593" y="21067"/>
                  </a:cubicBezTo>
                  <a:cubicBezTo>
                    <a:pt x="55593" y="24897"/>
                    <a:pt x="53036" y="27451"/>
                    <a:pt x="49203" y="27451"/>
                  </a:cubicBezTo>
                  <a:cubicBezTo>
                    <a:pt x="45369" y="27451"/>
                    <a:pt x="42813" y="24897"/>
                    <a:pt x="42813" y="21067"/>
                  </a:cubicBezTo>
                  <a:cubicBezTo>
                    <a:pt x="43451" y="19790"/>
                    <a:pt x="43451" y="19152"/>
                    <a:pt x="43451" y="18514"/>
                  </a:cubicBezTo>
                  <a:close/>
                  <a:moveTo>
                    <a:pt x="43451" y="45965"/>
                  </a:moveTo>
                  <a:cubicBezTo>
                    <a:pt x="44091" y="45326"/>
                    <a:pt x="44091" y="44688"/>
                    <a:pt x="44730" y="44049"/>
                  </a:cubicBezTo>
                  <a:cubicBezTo>
                    <a:pt x="46008" y="42773"/>
                    <a:pt x="48564" y="42134"/>
                    <a:pt x="50480" y="42134"/>
                  </a:cubicBezTo>
                  <a:lnTo>
                    <a:pt x="51759" y="42134"/>
                  </a:lnTo>
                  <a:cubicBezTo>
                    <a:pt x="52398" y="42134"/>
                    <a:pt x="52398" y="42773"/>
                    <a:pt x="53036" y="42773"/>
                  </a:cubicBezTo>
                  <a:cubicBezTo>
                    <a:pt x="53675" y="42773"/>
                    <a:pt x="53675" y="43411"/>
                    <a:pt x="53675" y="43411"/>
                  </a:cubicBezTo>
                  <a:cubicBezTo>
                    <a:pt x="54314" y="44049"/>
                    <a:pt x="54954" y="44688"/>
                    <a:pt x="54954" y="45326"/>
                  </a:cubicBezTo>
                  <a:cubicBezTo>
                    <a:pt x="55593" y="45965"/>
                    <a:pt x="55593" y="47241"/>
                    <a:pt x="55593" y="47880"/>
                  </a:cubicBezTo>
                  <a:cubicBezTo>
                    <a:pt x="55593" y="48518"/>
                    <a:pt x="55593" y="49795"/>
                    <a:pt x="54954" y="50433"/>
                  </a:cubicBezTo>
                  <a:cubicBezTo>
                    <a:pt x="54314" y="51710"/>
                    <a:pt x="53036" y="52987"/>
                    <a:pt x="51759" y="53625"/>
                  </a:cubicBezTo>
                  <a:cubicBezTo>
                    <a:pt x="51119" y="54264"/>
                    <a:pt x="50480" y="54264"/>
                    <a:pt x="49203" y="54264"/>
                  </a:cubicBezTo>
                  <a:cubicBezTo>
                    <a:pt x="48564" y="54264"/>
                    <a:pt x="47285" y="54264"/>
                    <a:pt x="46646" y="53625"/>
                  </a:cubicBezTo>
                  <a:cubicBezTo>
                    <a:pt x="46008" y="53625"/>
                    <a:pt x="45369" y="52987"/>
                    <a:pt x="44730" y="52349"/>
                  </a:cubicBezTo>
                  <a:cubicBezTo>
                    <a:pt x="43451" y="51072"/>
                    <a:pt x="42813" y="49795"/>
                    <a:pt x="42813" y="47880"/>
                  </a:cubicBezTo>
                  <a:cubicBezTo>
                    <a:pt x="43451" y="47880"/>
                    <a:pt x="43451" y="47241"/>
                    <a:pt x="43451" y="45965"/>
                  </a:cubicBezTo>
                  <a:lnTo>
                    <a:pt x="43451" y="45965"/>
                  </a:lnTo>
                  <a:close/>
                  <a:moveTo>
                    <a:pt x="45369" y="71501"/>
                  </a:moveTo>
                  <a:cubicBezTo>
                    <a:pt x="47285" y="69585"/>
                    <a:pt x="49841" y="68947"/>
                    <a:pt x="52398" y="70224"/>
                  </a:cubicBezTo>
                  <a:cubicBezTo>
                    <a:pt x="53036" y="70224"/>
                    <a:pt x="53675" y="70862"/>
                    <a:pt x="54314" y="71501"/>
                  </a:cubicBezTo>
                  <a:cubicBezTo>
                    <a:pt x="55593" y="72777"/>
                    <a:pt x="56231" y="74054"/>
                    <a:pt x="56231" y="75969"/>
                  </a:cubicBezTo>
                  <a:cubicBezTo>
                    <a:pt x="56231" y="77885"/>
                    <a:pt x="55593" y="79161"/>
                    <a:pt x="54314" y="80438"/>
                  </a:cubicBezTo>
                  <a:cubicBezTo>
                    <a:pt x="53036" y="81715"/>
                    <a:pt x="51759" y="82353"/>
                    <a:pt x="49841" y="82353"/>
                  </a:cubicBezTo>
                  <a:cubicBezTo>
                    <a:pt x="46008" y="82353"/>
                    <a:pt x="43451" y="79800"/>
                    <a:pt x="43451" y="75969"/>
                  </a:cubicBezTo>
                  <a:cubicBezTo>
                    <a:pt x="43451" y="74693"/>
                    <a:pt x="44091" y="73416"/>
                    <a:pt x="45369" y="71501"/>
                  </a:cubicBezTo>
                  <a:lnTo>
                    <a:pt x="45369" y="71501"/>
                  </a:lnTo>
                  <a:close/>
                  <a:moveTo>
                    <a:pt x="45369" y="99590"/>
                  </a:moveTo>
                  <a:cubicBezTo>
                    <a:pt x="47925" y="97037"/>
                    <a:pt x="51759" y="97037"/>
                    <a:pt x="54314" y="99590"/>
                  </a:cubicBezTo>
                  <a:cubicBezTo>
                    <a:pt x="56231" y="101505"/>
                    <a:pt x="56870" y="104059"/>
                    <a:pt x="55593" y="106613"/>
                  </a:cubicBezTo>
                  <a:cubicBezTo>
                    <a:pt x="54954" y="107889"/>
                    <a:pt x="53675" y="109166"/>
                    <a:pt x="52398" y="109805"/>
                  </a:cubicBezTo>
                  <a:cubicBezTo>
                    <a:pt x="51759" y="110443"/>
                    <a:pt x="51119" y="110443"/>
                    <a:pt x="49841" y="110443"/>
                  </a:cubicBezTo>
                  <a:cubicBezTo>
                    <a:pt x="49203" y="110443"/>
                    <a:pt x="47925" y="110443"/>
                    <a:pt x="47285" y="109805"/>
                  </a:cubicBezTo>
                  <a:cubicBezTo>
                    <a:pt x="46646" y="109805"/>
                    <a:pt x="46008" y="109166"/>
                    <a:pt x="45369" y="108528"/>
                  </a:cubicBezTo>
                  <a:cubicBezTo>
                    <a:pt x="44730" y="107889"/>
                    <a:pt x="44091" y="107251"/>
                    <a:pt x="44091" y="106613"/>
                  </a:cubicBezTo>
                  <a:cubicBezTo>
                    <a:pt x="42813" y="104059"/>
                    <a:pt x="43451" y="101505"/>
                    <a:pt x="45369" y="99590"/>
                  </a:cubicBezTo>
                  <a:lnTo>
                    <a:pt x="45369" y="99590"/>
                  </a:lnTo>
                  <a:close/>
                  <a:moveTo>
                    <a:pt x="43451" y="130872"/>
                  </a:moveTo>
                  <a:cubicBezTo>
                    <a:pt x="43451" y="129595"/>
                    <a:pt x="44091" y="128318"/>
                    <a:pt x="45369" y="127680"/>
                  </a:cubicBezTo>
                  <a:cubicBezTo>
                    <a:pt x="46646" y="126403"/>
                    <a:pt x="49203" y="125765"/>
                    <a:pt x="51119" y="125765"/>
                  </a:cubicBezTo>
                  <a:cubicBezTo>
                    <a:pt x="51759" y="125765"/>
                    <a:pt x="51759" y="125765"/>
                    <a:pt x="52398" y="126403"/>
                  </a:cubicBezTo>
                  <a:cubicBezTo>
                    <a:pt x="53036" y="126403"/>
                    <a:pt x="53036" y="127041"/>
                    <a:pt x="53675" y="127041"/>
                  </a:cubicBezTo>
                  <a:lnTo>
                    <a:pt x="54314" y="127680"/>
                  </a:lnTo>
                  <a:cubicBezTo>
                    <a:pt x="55593" y="128957"/>
                    <a:pt x="56231" y="130233"/>
                    <a:pt x="56231" y="132149"/>
                  </a:cubicBezTo>
                  <a:cubicBezTo>
                    <a:pt x="56231" y="135979"/>
                    <a:pt x="53675" y="138533"/>
                    <a:pt x="49841" y="138533"/>
                  </a:cubicBezTo>
                  <a:cubicBezTo>
                    <a:pt x="49203" y="138533"/>
                    <a:pt x="47925" y="138533"/>
                    <a:pt x="47285" y="137894"/>
                  </a:cubicBezTo>
                  <a:cubicBezTo>
                    <a:pt x="46646" y="137894"/>
                    <a:pt x="46008" y="137256"/>
                    <a:pt x="45369" y="136617"/>
                  </a:cubicBezTo>
                  <a:cubicBezTo>
                    <a:pt x="44730" y="135979"/>
                    <a:pt x="44091" y="135341"/>
                    <a:pt x="44091" y="134702"/>
                  </a:cubicBezTo>
                  <a:cubicBezTo>
                    <a:pt x="44091" y="134064"/>
                    <a:pt x="43451" y="133425"/>
                    <a:pt x="43451" y="132149"/>
                  </a:cubicBezTo>
                  <a:cubicBezTo>
                    <a:pt x="43451" y="131510"/>
                    <a:pt x="43451" y="131510"/>
                    <a:pt x="43451" y="130872"/>
                  </a:cubicBezTo>
                  <a:lnTo>
                    <a:pt x="43451" y="130872"/>
                  </a:lnTo>
                  <a:close/>
                  <a:moveTo>
                    <a:pt x="43451" y="157684"/>
                  </a:moveTo>
                  <a:cubicBezTo>
                    <a:pt x="44091" y="157046"/>
                    <a:pt x="44091" y="156408"/>
                    <a:pt x="44730" y="155769"/>
                  </a:cubicBezTo>
                  <a:cubicBezTo>
                    <a:pt x="47285" y="153216"/>
                    <a:pt x="51119" y="153216"/>
                    <a:pt x="53675" y="155769"/>
                  </a:cubicBezTo>
                  <a:cubicBezTo>
                    <a:pt x="54314" y="156408"/>
                    <a:pt x="54954" y="157046"/>
                    <a:pt x="54954" y="157684"/>
                  </a:cubicBezTo>
                  <a:cubicBezTo>
                    <a:pt x="55593" y="158323"/>
                    <a:pt x="55593" y="159600"/>
                    <a:pt x="55593" y="160238"/>
                  </a:cubicBezTo>
                  <a:cubicBezTo>
                    <a:pt x="55593" y="162153"/>
                    <a:pt x="54954" y="163430"/>
                    <a:pt x="53675" y="164707"/>
                  </a:cubicBezTo>
                  <a:cubicBezTo>
                    <a:pt x="53036" y="165345"/>
                    <a:pt x="52398" y="165984"/>
                    <a:pt x="51759" y="165984"/>
                  </a:cubicBezTo>
                  <a:cubicBezTo>
                    <a:pt x="48564" y="167260"/>
                    <a:pt x="44730" y="165984"/>
                    <a:pt x="43451" y="162792"/>
                  </a:cubicBezTo>
                  <a:cubicBezTo>
                    <a:pt x="43451" y="162153"/>
                    <a:pt x="42813" y="161515"/>
                    <a:pt x="42813" y="160238"/>
                  </a:cubicBezTo>
                  <a:cubicBezTo>
                    <a:pt x="43451" y="158961"/>
                    <a:pt x="43451" y="158323"/>
                    <a:pt x="43451" y="157684"/>
                  </a:cubicBezTo>
                  <a:lnTo>
                    <a:pt x="43451" y="157684"/>
                  </a:lnTo>
                  <a:close/>
                  <a:moveTo>
                    <a:pt x="17253" y="15960"/>
                  </a:moveTo>
                  <a:cubicBezTo>
                    <a:pt x="17892" y="15322"/>
                    <a:pt x="18531" y="14683"/>
                    <a:pt x="19170" y="14683"/>
                  </a:cubicBezTo>
                  <a:cubicBezTo>
                    <a:pt x="21726" y="13406"/>
                    <a:pt x="24282" y="14045"/>
                    <a:pt x="26199" y="15960"/>
                  </a:cubicBezTo>
                  <a:cubicBezTo>
                    <a:pt x="26838" y="16598"/>
                    <a:pt x="27477" y="17237"/>
                    <a:pt x="27477" y="17875"/>
                  </a:cubicBezTo>
                  <a:cubicBezTo>
                    <a:pt x="28755" y="20429"/>
                    <a:pt x="28116" y="22982"/>
                    <a:pt x="26199" y="24897"/>
                  </a:cubicBezTo>
                  <a:cubicBezTo>
                    <a:pt x="25560" y="25536"/>
                    <a:pt x="24921" y="26174"/>
                    <a:pt x="24282" y="26174"/>
                  </a:cubicBezTo>
                  <a:cubicBezTo>
                    <a:pt x="23643" y="26174"/>
                    <a:pt x="23004" y="26813"/>
                    <a:pt x="21726" y="26813"/>
                  </a:cubicBezTo>
                  <a:cubicBezTo>
                    <a:pt x="19809" y="26813"/>
                    <a:pt x="18531" y="26174"/>
                    <a:pt x="17253" y="24897"/>
                  </a:cubicBezTo>
                  <a:cubicBezTo>
                    <a:pt x="15975" y="23621"/>
                    <a:pt x="15336" y="22344"/>
                    <a:pt x="15336" y="20429"/>
                  </a:cubicBezTo>
                  <a:cubicBezTo>
                    <a:pt x="15336" y="19152"/>
                    <a:pt x="15975" y="17237"/>
                    <a:pt x="17253" y="15960"/>
                  </a:cubicBezTo>
                  <a:lnTo>
                    <a:pt x="17253" y="15960"/>
                  </a:lnTo>
                  <a:close/>
                  <a:moveTo>
                    <a:pt x="15975" y="45965"/>
                  </a:moveTo>
                  <a:cubicBezTo>
                    <a:pt x="15975" y="45326"/>
                    <a:pt x="16614" y="44688"/>
                    <a:pt x="17253" y="44049"/>
                  </a:cubicBezTo>
                  <a:cubicBezTo>
                    <a:pt x="19809" y="41496"/>
                    <a:pt x="23643" y="41496"/>
                    <a:pt x="26199" y="44049"/>
                  </a:cubicBezTo>
                  <a:cubicBezTo>
                    <a:pt x="26838" y="44688"/>
                    <a:pt x="27477" y="45326"/>
                    <a:pt x="27477" y="45965"/>
                  </a:cubicBezTo>
                  <a:cubicBezTo>
                    <a:pt x="27477" y="46603"/>
                    <a:pt x="28116" y="47880"/>
                    <a:pt x="28116" y="48518"/>
                  </a:cubicBezTo>
                  <a:cubicBezTo>
                    <a:pt x="28116" y="50433"/>
                    <a:pt x="27477" y="51710"/>
                    <a:pt x="26199" y="52987"/>
                  </a:cubicBezTo>
                  <a:cubicBezTo>
                    <a:pt x="25560" y="53625"/>
                    <a:pt x="24921" y="54264"/>
                    <a:pt x="24282" y="54264"/>
                  </a:cubicBezTo>
                  <a:cubicBezTo>
                    <a:pt x="23643" y="54902"/>
                    <a:pt x="22365" y="54902"/>
                    <a:pt x="21726" y="54902"/>
                  </a:cubicBezTo>
                  <a:cubicBezTo>
                    <a:pt x="21087" y="54902"/>
                    <a:pt x="19809" y="54902"/>
                    <a:pt x="19170" y="54264"/>
                  </a:cubicBezTo>
                  <a:cubicBezTo>
                    <a:pt x="17892" y="53625"/>
                    <a:pt x="16614" y="52349"/>
                    <a:pt x="15975" y="51072"/>
                  </a:cubicBezTo>
                  <a:cubicBezTo>
                    <a:pt x="15336" y="50433"/>
                    <a:pt x="15336" y="49795"/>
                    <a:pt x="15336" y="48518"/>
                  </a:cubicBezTo>
                  <a:cubicBezTo>
                    <a:pt x="15336" y="47880"/>
                    <a:pt x="15336" y="47241"/>
                    <a:pt x="15975" y="45965"/>
                  </a:cubicBezTo>
                  <a:lnTo>
                    <a:pt x="15975" y="45965"/>
                  </a:lnTo>
                  <a:close/>
                  <a:moveTo>
                    <a:pt x="17253" y="71501"/>
                  </a:moveTo>
                  <a:cubicBezTo>
                    <a:pt x="17892" y="70862"/>
                    <a:pt x="18531" y="70862"/>
                    <a:pt x="19170" y="70862"/>
                  </a:cubicBezTo>
                  <a:cubicBezTo>
                    <a:pt x="21726" y="69585"/>
                    <a:pt x="24282" y="70224"/>
                    <a:pt x="26199" y="72139"/>
                  </a:cubicBezTo>
                  <a:cubicBezTo>
                    <a:pt x="27477" y="73416"/>
                    <a:pt x="28116" y="74693"/>
                    <a:pt x="28116" y="76608"/>
                  </a:cubicBezTo>
                  <a:cubicBezTo>
                    <a:pt x="28116" y="80438"/>
                    <a:pt x="25560" y="82992"/>
                    <a:pt x="21726" y="82992"/>
                  </a:cubicBezTo>
                  <a:cubicBezTo>
                    <a:pt x="21087" y="82992"/>
                    <a:pt x="19809" y="82992"/>
                    <a:pt x="19170" y="82353"/>
                  </a:cubicBezTo>
                  <a:cubicBezTo>
                    <a:pt x="18531" y="81715"/>
                    <a:pt x="17892" y="81715"/>
                    <a:pt x="17253" y="81077"/>
                  </a:cubicBezTo>
                  <a:cubicBezTo>
                    <a:pt x="15975" y="79800"/>
                    <a:pt x="15336" y="78523"/>
                    <a:pt x="15336" y="76608"/>
                  </a:cubicBezTo>
                  <a:cubicBezTo>
                    <a:pt x="15336" y="74693"/>
                    <a:pt x="15975" y="73416"/>
                    <a:pt x="17253" y="72139"/>
                  </a:cubicBezTo>
                  <a:lnTo>
                    <a:pt x="17253" y="71501"/>
                  </a:lnTo>
                  <a:close/>
                  <a:moveTo>
                    <a:pt x="17253" y="99590"/>
                  </a:moveTo>
                  <a:cubicBezTo>
                    <a:pt x="19809" y="97037"/>
                    <a:pt x="23643" y="97037"/>
                    <a:pt x="26199" y="99590"/>
                  </a:cubicBezTo>
                  <a:cubicBezTo>
                    <a:pt x="28116" y="101505"/>
                    <a:pt x="28755" y="104059"/>
                    <a:pt x="27477" y="106613"/>
                  </a:cubicBezTo>
                  <a:cubicBezTo>
                    <a:pt x="26838" y="107251"/>
                    <a:pt x="26838" y="107889"/>
                    <a:pt x="26199" y="108528"/>
                  </a:cubicBezTo>
                  <a:cubicBezTo>
                    <a:pt x="25560" y="109166"/>
                    <a:pt x="24921" y="109805"/>
                    <a:pt x="24282" y="109805"/>
                  </a:cubicBezTo>
                  <a:cubicBezTo>
                    <a:pt x="23643" y="110443"/>
                    <a:pt x="22365" y="110443"/>
                    <a:pt x="21726" y="110443"/>
                  </a:cubicBezTo>
                  <a:cubicBezTo>
                    <a:pt x="21087" y="110443"/>
                    <a:pt x="19809" y="110443"/>
                    <a:pt x="19170" y="109805"/>
                  </a:cubicBezTo>
                  <a:cubicBezTo>
                    <a:pt x="17892" y="109166"/>
                    <a:pt x="16614" y="107889"/>
                    <a:pt x="15975" y="106613"/>
                  </a:cubicBezTo>
                  <a:cubicBezTo>
                    <a:pt x="15336" y="105974"/>
                    <a:pt x="15336" y="105336"/>
                    <a:pt x="15336" y="104059"/>
                  </a:cubicBezTo>
                  <a:cubicBezTo>
                    <a:pt x="15336" y="102782"/>
                    <a:pt x="15975" y="101505"/>
                    <a:pt x="17253" y="100229"/>
                  </a:cubicBezTo>
                  <a:lnTo>
                    <a:pt x="17253" y="99590"/>
                  </a:lnTo>
                  <a:close/>
                  <a:moveTo>
                    <a:pt x="15336" y="130233"/>
                  </a:moveTo>
                  <a:lnTo>
                    <a:pt x="15975" y="128957"/>
                  </a:lnTo>
                  <a:cubicBezTo>
                    <a:pt x="15975" y="128318"/>
                    <a:pt x="16614" y="127680"/>
                    <a:pt x="17253" y="127041"/>
                  </a:cubicBezTo>
                  <a:cubicBezTo>
                    <a:pt x="18531" y="125765"/>
                    <a:pt x="21087" y="125126"/>
                    <a:pt x="23004" y="125126"/>
                  </a:cubicBezTo>
                  <a:cubicBezTo>
                    <a:pt x="23643" y="125126"/>
                    <a:pt x="24921" y="125765"/>
                    <a:pt x="25560" y="125765"/>
                  </a:cubicBezTo>
                  <a:lnTo>
                    <a:pt x="26199" y="126403"/>
                  </a:lnTo>
                  <a:cubicBezTo>
                    <a:pt x="27477" y="127680"/>
                    <a:pt x="28116" y="128957"/>
                    <a:pt x="28116" y="130872"/>
                  </a:cubicBezTo>
                  <a:cubicBezTo>
                    <a:pt x="28116" y="131510"/>
                    <a:pt x="28116" y="132787"/>
                    <a:pt x="27477" y="133425"/>
                  </a:cubicBezTo>
                  <a:cubicBezTo>
                    <a:pt x="26838" y="134064"/>
                    <a:pt x="26838" y="134702"/>
                    <a:pt x="26199" y="135341"/>
                  </a:cubicBezTo>
                  <a:cubicBezTo>
                    <a:pt x="24921" y="136617"/>
                    <a:pt x="23643" y="137256"/>
                    <a:pt x="21726" y="137256"/>
                  </a:cubicBezTo>
                  <a:cubicBezTo>
                    <a:pt x="19809" y="137256"/>
                    <a:pt x="18531" y="136617"/>
                    <a:pt x="17253" y="135341"/>
                  </a:cubicBezTo>
                  <a:cubicBezTo>
                    <a:pt x="16614" y="134702"/>
                    <a:pt x="15975" y="134064"/>
                    <a:pt x="15975" y="133425"/>
                  </a:cubicBezTo>
                  <a:cubicBezTo>
                    <a:pt x="15336" y="132787"/>
                    <a:pt x="15336" y="132149"/>
                    <a:pt x="15336" y="130872"/>
                  </a:cubicBezTo>
                  <a:cubicBezTo>
                    <a:pt x="15336" y="130872"/>
                    <a:pt x="15336" y="130233"/>
                    <a:pt x="15336" y="130233"/>
                  </a:cubicBezTo>
                  <a:lnTo>
                    <a:pt x="15336" y="130233"/>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38" name="Graphic 4">
              <a:extLst>
                <a:ext uri="{FF2B5EF4-FFF2-40B4-BE49-F238E27FC236}">
                  <a16:creationId xmlns:a16="http://schemas.microsoft.com/office/drawing/2014/main" id="{365B99F6-BF61-E4E8-D8E9-494A434A54D3}"/>
                </a:ext>
              </a:extLst>
            </p:cNvPr>
            <p:cNvSpPr/>
            <p:nvPr/>
          </p:nvSpPr>
          <p:spPr bwMode="gray">
            <a:xfrm>
              <a:off x="2154047" y="2031545"/>
              <a:ext cx="43451" cy="126402"/>
            </a:xfrm>
            <a:custGeom>
              <a:avLst/>
              <a:gdLst>
                <a:gd name="connsiteX0" fmla="*/ 0 w 43451"/>
                <a:gd name="connsiteY0" fmla="*/ 126403 h 126402"/>
                <a:gd name="connsiteX1" fmla="*/ 15336 w 43451"/>
                <a:gd name="connsiteY1" fmla="*/ 126403 h 126402"/>
                <a:gd name="connsiteX2" fmla="*/ 15336 w 43451"/>
                <a:gd name="connsiteY2" fmla="*/ 104697 h 126402"/>
                <a:gd name="connsiteX3" fmla="*/ 21726 w 43451"/>
                <a:gd name="connsiteY3" fmla="*/ 98313 h 126402"/>
                <a:gd name="connsiteX4" fmla="*/ 28116 w 43451"/>
                <a:gd name="connsiteY4" fmla="*/ 104697 h 126402"/>
                <a:gd name="connsiteX5" fmla="*/ 28116 w 43451"/>
                <a:gd name="connsiteY5" fmla="*/ 126403 h 126402"/>
                <a:gd name="connsiteX6" fmla="*/ 43451 w 43451"/>
                <a:gd name="connsiteY6" fmla="*/ 126403 h 126402"/>
                <a:gd name="connsiteX7" fmla="*/ 43451 w 43451"/>
                <a:gd name="connsiteY7" fmla="*/ 0 h 126402"/>
                <a:gd name="connsiteX8" fmla="*/ 639 w 43451"/>
                <a:gd name="connsiteY8" fmla="*/ 0 h 126402"/>
                <a:gd name="connsiteX9" fmla="*/ 0 w 43451"/>
                <a:gd name="connsiteY9" fmla="*/ 126403 h 126402"/>
                <a:gd name="connsiteX10" fmla="*/ 17253 w 43451"/>
                <a:gd name="connsiteY10" fmla="*/ 16598 h 126402"/>
                <a:gd name="connsiteX11" fmla="*/ 26199 w 43451"/>
                <a:gd name="connsiteY11" fmla="*/ 16598 h 126402"/>
                <a:gd name="connsiteX12" fmla="*/ 28116 w 43451"/>
                <a:gd name="connsiteY12" fmla="*/ 21067 h 126402"/>
                <a:gd name="connsiteX13" fmla="*/ 26199 w 43451"/>
                <a:gd name="connsiteY13" fmla="*/ 25536 h 126402"/>
                <a:gd name="connsiteX14" fmla="*/ 21726 w 43451"/>
                <a:gd name="connsiteY14" fmla="*/ 27451 h 126402"/>
                <a:gd name="connsiteX15" fmla="*/ 15336 w 43451"/>
                <a:gd name="connsiteY15" fmla="*/ 21067 h 126402"/>
                <a:gd name="connsiteX16" fmla="*/ 17253 w 43451"/>
                <a:gd name="connsiteY16" fmla="*/ 16598 h 126402"/>
                <a:gd name="connsiteX17" fmla="*/ 17253 w 43451"/>
                <a:gd name="connsiteY17" fmla="*/ 44688 h 126402"/>
                <a:gd name="connsiteX18" fmla="*/ 23004 w 43451"/>
                <a:gd name="connsiteY18" fmla="*/ 42773 h 126402"/>
                <a:gd name="connsiteX19" fmla="*/ 24282 w 43451"/>
                <a:gd name="connsiteY19" fmla="*/ 42773 h 126402"/>
                <a:gd name="connsiteX20" fmla="*/ 25560 w 43451"/>
                <a:gd name="connsiteY20" fmla="*/ 43411 h 126402"/>
                <a:gd name="connsiteX21" fmla="*/ 26199 w 43451"/>
                <a:gd name="connsiteY21" fmla="*/ 44049 h 126402"/>
                <a:gd name="connsiteX22" fmla="*/ 27477 w 43451"/>
                <a:gd name="connsiteY22" fmla="*/ 45965 h 126402"/>
                <a:gd name="connsiteX23" fmla="*/ 28116 w 43451"/>
                <a:gd name="connsiteY23" fmla="*/ 47241 h 126402"/>
                <a:gd name="connsiteX24" fmla="*/ 28116 w 43451"/>
                <a:gd name="connsiteY24" fmla="*/ 48518 h 126402"/>
                <a:gd name="connsiteX25" fmla="*/ 27477 w 43451"/>
                <a:gd name="connsiteY25" fmla="*/ 51072 h 126402"/>
                <a:gd name="connsiteX26" fmla="*/ 24282 w 43451"/>
                <a:gd name="connsiteY26" fmla="*/ 54264 h 126402"/>
                <a:gd name="connsiteX27" fmla="*/ 21726 w 43451"/>
                <a:gd name="connsiteY27" fmla="*/ 54902 h 126402"/>
                <a:gd name="connsiteX28" fmla="*/ 19170 w 43451"/>
                <a:gd name="connsiteY28" fmla="*/ 54264 h 126402"/>
                <a:gd name="connsiteX29" fmla="*/ 17253 w 43451"/>
                <a:gd name="connsiteY29" fmla="*/ 52987 h 126402"/>
                <a:gd name="connsiteX30" fmla="*/ 15975 w 43451"/>
                <a:gd name="connsiteY30" fmla="*/ 51072 h 126402"/>
                <a:gd name="connsiteX31" fmla="*/ 15336 w 43451"/>
                <a:gd name="connsiteY31" fmla="*/ 48518 h 126402"/>
                <a:gd name="connsiteX32" fmla="*/ 17253 w 43451"/>
                <a:gd name="connsiteY32" fmla="*/ 44688 h 126402"/>
                <a:gd name="connsiteX33" fmla="*/ 17253 w 43451"/>
                <a:gd name="connsiteY33" fmla="*/ 44688 h 126402"/>
                <a:gd name="connsiteX34" fmla="*/ 17253 w 43451"/>
                <a:gd name="connsiteY34" fmla="*/ 72139 h 126402"/>
                <a:gd name="connsiteX35" fmla="*/ 26199 w 43451"/>
                <a:gd name="connsiteY35" fmla="*/ 72139 h 126402"/>
                <a:gd name="connsiteX36" fmla="*/ 28116 w 43451"/>
                <a:gd name="connsiteY36" fmla="*/ 76608 h 126402"/>
                <a:gd name="connsiteX37" fmla="*/ 27477 w 43451"/>
                <a:gd name="connsiteY37" fmla="*/ 79161 h 126402"/>
                <a:gd name="connsiteX38" fmla="*/ 26199 w 43451"/>
                <a:gd name="connsiteY38" fmla="*/ 81076 h 126402"/>
                <a:gd name="connsiteX39" fmla="*/ 21726 w 43451"/>
                <a:gd name="connsiteY39" fmla="*/ 82992 h 126402"/>
                <a:gd name="connsiteX40" fmla="*/ 15336 w 43451"/>
                <a:gd name="connsiteY40" fmla="*/ 76608 h 126402"/>
                <a:gd name="connsiteX41" fmla="*/ 17253 w 43451"/>
                <a:gd name="connsiteY41" fmla="*/ 72139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3451" h="126402">
                  <a:moveTo>
                    <a:pt x="0" y="126403"/>
                  </a:moveTo>
                  <a:lnTo>
                    <a:pt x="15336" y="126403"/>
                  </a:lnTo>
                  <a:lnTo>
                    <a:pt x="15336" y="104697"/>
                  </a:lnTo>
                  <a:cubicBezTo>
                    <a:pt x="15336" y="100867"/>
                    <a:pt x="17892" y="98313"/>
                    <a:pt x="21726" y="98313"/>
                  </a:cubicBezTo>
                  <a:cubicBezTo>
                    <a:pt x="25560" y="98313"/>
                    <a:pt x="28116" y="100867"/>
                    <a:pt x="28116" y="104697"/>
                  </a:cubicBezTo>
                  <a:lnTo>
                    <a:pt x="28116" y="126403"/>
                  </a:lnTo>
                  <a:lnTo>
                    <a:pt x="43451" y="126403"/>
                  </a:lnTo>
                  <a:lnTo>
                    <a:pt x="43451" y="0"/>
                  </a:lnTo>
                  <a:lnTo>
                    <a:pt x="639" y="0"/>
                  </a:lnTo>
                  <a:lnTo>
                    <a:pt x="0" y="126403"/>
                  </a:lnTo>
                  <a:close/>
                  <a:moveTo>
                    <a:pt x="17253" y="16598"/>
                  </a:moveTo>
                  <a:cubicBezTo>
                    <a:pt x="19809" y="14045"/>
                    <a:pt x="23643" y="14045"/>
                    <a:pt x="26199" y="16598"/>
                  </a:cubicBezTo>
                  <a:cubicBezTo>
                    <a:pt x="27477" y="17875"/>
                    <a:pt x="28116" y="19152"/>
                    <a:pt x="28116" y="21067"/>
                  </a:cubicBezTo>
                  <a:cubicBezTo>
                    <a:pt x="28116" y="22982"/>
                    <a:pt x="27477" y="24259"/>
                    <a:pt x="26199" y="25536"/>
                  </a:cubicBezTo>
                  <a:cubicBezTo>
                    <a:pt x="24921" y="26813"/>
                    <a:pt x="23643" y="27451"/>
                    <a:pt x="21726" y="27451"/>
                  </a:cubicBezTo>
                  <a:cubicBezTo>
                    <a:pt x="17892" y="27451"/>
                    <a:pt x="15336" y="24897"/>
                    <a:pt x="15336" y="21067"/>
                  </a:cubicBezTo>
                  <a:cubicBezTo>
                    <a:pt x="15336" y="19152"/>
                    <a:pt x="15975" y="17875"/>
                    <a:pt x="17253" y="16598"/>
                  </a:cubicBezTo>
                  <a:close/>
                  <a:moveTo>
                    <a:pt x="17253" y="44688"/>
                  </a:moveTo>
                  <a:cubicBezTo>
                    <a:pt x="18531" y="43411"/>
                    <a:pt x="21087" y="42773"/>
                    <a:pt x="23004" y="42773"/>
                  </a:cubicBezTo>
                  <a:lnTo>
                    <a:pt x="24282" y="42773"/>
                  </a:lnTo>
                  <a:cubicBezTo>
                    <a:pt x="24921" y="42773"/>
                    <a:pt x="24921" y="43411"/>
                    <a:pt x="25560" y="43411"/>
                  </a:cubicBezTo>
                  <a:cubicBezTo>
                    <a:pt x="26199" y="43411"/>
                    <a:pt x="26199" y="44049"/>
                    <a:pt x="26199" y="44049"/>
                  </a:cubicBezTo>
                  <a:cubicBezTo>
                    <a:pt x="26838" y="44688"/>
                    <a:pt x="27477" y="45326"/>
                    <a:pt x="27477" y="45965"/>
                  </a:cubicBezTo>
                  <a:cubicBezTo>
                    <a:pt x="27477" y="46603"/>
                    <a:pt x="27477" y="46603"/>
                    <a:pt x="28116" y="47241"/>
                  </a:cubicBezTo>
                  <a:cubicBezTo>
                    <a:pt x="28116" y="47880"/>
                    <a:pt x="28116" y="47880"/>
                    <a:pt x="28116" y="48518"/>
                  </a:cubicBezTo>
                  <a:cubicBezTo>
                    <a:pt x="28116" y="49157"/>
                    <a:pt x="28116" y="50433"/>
                    <a:pt x="27477" y="51072"/>
                  </a:cubicBezTo>
                  <a:cubicBezTo>
                    <a:pt x="26838" y="52349"/>
                    <a:pt x="25560" y="53625"/>
                    <a:pt x="24282" y="54264"/>
                  </a:cubicBezTo>
                  <a:cubicBezTo>
                    <a:pt x="23643" y="54902"/>
                    <a:pt x="23004" y="54902"/>
                    <a:pt x="21726" y="54902"/>
                  </a:cubicBezTo>
                  <a:cubicBezTo>
                    <a:pt x="21087" y="54902"/>
                    <a:pt x="19809" y="54902"/>
                    <a:pt x="19170" y="54264"/>
                  </a:cubicBezTo>
                  <a:cubicBezTo>
                    <a:pt x="18531" y="53625"/>
                    <a:pt x="17892" y="53625"/>
                    <a:pt x="17253" y="52987"/>
                  </a:cubicBezTo>
                  <a:cubicBezTo>
                    <a:pt x="16614" y="52349"/>
                    <a:pt x="15975" y="51710"/>
                    <a:pt x="15975" y="51072"/>
                  </a:cubicBezTo>
                  <a:cubicBezTo>
                    <a:pt x="15975" y="50433"/>
                    <a:pt x="15336" y="49795"/>
                    <a:pt x="15336" y="48518"/>
                  </a:cubicBezTo>
                  <a:cubicBezTo>
                    <a:pt x="15336" y="47241"/>
                    <a:pt x="15975" y="45965"/>
                    <a:pt x="17253" y="44688"/>
                  </a:cubicBezTo>
                  <a:lnTo>
                    <a:pt x="17253" y="44688"/>
                  </a:lnTo>
                  <a:close/>
                  <a:moveTo>
                    <a:pt x="17253" y="72139"/>
                  </a:moveTo>
                  <a:cubicBezTo>
                    <a:pt x="19809" y="69585"/>
                    <a:pt x="23643" y="69585"/>
                    <a:pt x="26199" y="72139"/>
                  </a:cubicBezTo>
                  <a:cubicBezTo>
                    <a:pt x="27477" y="73416"/>
                    <a:pt x="28116" y="74692"/>
                    <a:pt x="28116" y="76608"/>
                  </a:cubicBezTo>
                  <a:cubicBezTo>
                    <a:pt x="28116" y="77246"/>
                    <a:pt x="28116" y="78523"/>
                    <a:pt x="27477" y="79161"/>
                  </a:cubicBezTo>
                  <a:cubicBezTo>
                    <a:pt x="27477" y="79800"/>
                    <a:pt x="26838" y="80438"/>
                    <a:pt x="26199" y="81076"/>
                  </a:cubicBezTo>
                  <a:cubicBezTo>
                    <a:pt x="24921" y="82353"/>
                    <a:pt x="23643" y="82992"/>
                    <a:pt x="21726" y="82992"/>
                  </a:cubicBezTo>
                  <a:cubicBezTo>
                    <a:pt x="17892" y="82992"/>
                    <a:pt x="15336" y="80438"/>
                    <a:pt x="15336" y="76608"/>
                  </a:cubicBezTo>
                  <a:cubicBezTo>
                    <a:pt x="15336" y="75331"/>
                    <a:pt x="15975" y="73416"/>
                    <a:pt x="17253" y="72139"/>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sp>
        <p:nvSpPr>
          <p:cNvPr id="148" name="正方形/長方形 147">
            <a:extLst>
              <a:ext uri="{FF2B5EF4-FFF2-40B4-BE49-F238E27FC236}">
                <a16:creationId xmlns:a16="http://schemas.microsoft.com/office/drawing/2014/main" id="{D4FD5B02-03E7-E2CF-FAF2-F650C7A400BE}"/>
              </a:ext>
            </a:extLst>
          </p:cNvPr>
          <p:cNvSpPr/>
          <p:nvPr/>
        </p:nvSpPr>
        <p:spPr>
          <a:xfrm>
            <a:off x="4123504" y="3409842"/>
            <a:ext cx="2265734" cy="319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200" b="1">
                <a:solidFill>
                  <a:schemeClr val="tx1"/>
                </a:solidFill>
                <a:latin typeface="Meiryo UI" panose="020B0604030504040204" pitchFamily="50" charset="-128"/>
                <a:ea typeface="Meiryo UI" panose="020B0604030504040204" pitchFamily="50" charset="-128"/>
              </a:rPr>
              <a:t>トレンド②</a:t>
            </a:r>
            <a:endParaRPr kumimoji="1" lang="en-US" altLang="ja-JP" sz="1200" b="1">
              <a:solidFill>
                <a:schemeClr val="tx1"/>
              </a:solidFill>
              <a:latin typeface="Meiryo UI" panose="020B0604030504040204" pitchFamily="50" charset="-128"/>
              <a:ea typeface="Meiryo UI" panose="020B0604030504040204" pitchFamily="50" charset="-128"/>
            </a:endParaRPr>
          </a:p>
        </p:txBody>
      </p:sp>
      <p:cxnSp>
        <p:nvCxnSpPr>
          <p:cNvPr id="152" name="直線コネクタ 151">
            <a:extLst>
              <a:ext uri="{FF2B5EF4-FFF2-40B4-BE49-F238E27FC236}">
                <a16:creationId xmlns:a16="http://schemas.microsoft.com/office/drawing/2014/main" id="{7A8A0B9E-0AD1-7C24-A069-846392C61D07}"/>
              </a:ext>
            </a:extLst>
          </p:cNvPr>
          <p:cNvCxnSpPr>
            <a:cxnSpLocks/>
            <a:stCxn id="149" idx="3"/>
          </p:cNvCxnSpPr>
          <p:nvPr/>
        </p:nvCxnSpPr>
        <p:spPr>
          <a:xfrm flipV="1">
            <a:off x="2913970" y="4682083"/>
            <a:ext cx="319572" cy="279482"/>
          </a:xfrm>
          <a:prstGeom prst="line">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153" name="Graphic 4">
            <a:extLst>
              <a:ext uri="{FF2B5EF4-FFF2-40B4-BE49-F238E27FC236}">
                <a16:creationId xmlns:a16="http://schemas.microsoft.com/office/drawing/2014/main" id="{78EC5C27-8205-1233-0B97-AA9061BB7914}"/>
              </a:ext>
            </a:extLst>
          </p:cNvPr>
          <p:cNvGrpSpPr>
            <a:grpSpLocks noChangeAspect="1"/>
          </p:cNvGrpSpPr>
          <p:nvPr/>
        </p:nvGrpSpPr>
        <p:grpSpPr bwMode="gray">
          <a:xfrm>
            <a:off x="632193" y="3074253"/>
            <a:ext cx="626948" cy="626948"/>
            <a:chOff x="1952125" y="1885990"/>
            <a:chExt cx="362313" cy="361971"/>
          </a:xfrm>
          <a:solidFill>
            <a:schemeClr val="tx2"/>
          </a:solidFill>
        </p:grpSpPr>
        <p:sp>
          <p:nvSpPr>
            <p:cNvPr id="154" name="Graphic 4">
              <a:extLst>
                <a:ext uri="{FF2B5EF4-FFF2-40B4-BE49-F238E27FC236}">
                  <a16:creationId xmlns:a16="http://schemas.microsoft.com/office/drawing/2014/main" id="{E5CEA7F3-FD37-5E25-1FA6-D756951C7E70}"/>
                </a:ext>
              </a:extLst>
            </p:cNvPr>
            <p:cNvSpPr/>
            <p:nvPr/>
          </p:nvSpPr>
          <p:spPr bwMode="gray">
            <a:xfrm>
              <a:off x="1952125" y="1885990"/>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58153 w 362313"/>
                <a:gd name="connsiteY6" fmla="*/ 278342 h 361971"/>
                <a:gd name="connsiteX7" fmla="*/ 251763 w 362313"/>
                <a:gd name="connsiteY7" fmla="*/ 284726 h 361971"/>
                <a:gd name="connsiteX8" fmla="*/ 111824 w 362313"/>
                <a:gd name="connsiteY8" fmla="*/ 284726 h 361971"/>
                <a:gd name="connsiteX9" fmla="*/ 105434 w 362313"/>
                <a:gd name="connsiteY9" fmla="*/ 278342 h 361971"/>
                <a:gd name="connsiteX10" fmla="*/ 105434 w 362313"/>
                <a:gd name="connsiteY10" fmla="*/ 83630 h 361971"/>
                <a:gd name="connsiteX11" fmla="*/ 111824 w 362313"/>
                <a:gd name="connsiteY11" fmla="*/ 77246 h 361971"/>
                <a:gd name="connsiteX12" fmla="*/ 195532 w 362313"/>
                <a:gd name="connsiteY12" fmla="*/ 77246 h 361971"/>
                <a:gd name="connsiteX13" fmla="*/ 201922 w 362313"/>
                <a:gd name="connsiteY13" fmla="*/ 83630 h 361971"/>
                <a:gd name="connsiteX14" fmla="*/ 201922 w 362313"/>
                <a:gd name="connsiteY14" fmla="*/ 132787 h 361971"/>
                <a:gd name="connsiteX15" fmla="*/ 251124 w 362313"/>
                <a:gd name="connsiteY15" fmla="*/ 132787 h 361971"/>
                <a:gd name="connsiteX16" fmla="*/ 257514 w 362313"/>
                <a:gd name="connsiteY16" fmla="*/ 139171 h 361971"/>
                <a:gd name="connsiteX17" fmla="*/ 258153 w 362313"/>
                <a:gd name="connsiteY17" fmla="*/ 27834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58153" y="278342"/>
                  </a:moveTo>
                  <a:cubicBezTo>
                    <a:pt x="258153" y="282172"/>
                    <a:pt x="255597" y="284726"/>
                    <a:pt x="251763" y="284726"/>
                  </a:cubicBezTo>
                  <a:lnTo>
                    <a:pt x="111824" y="284726"/>
                  </a:lnTo>
                  <a:cubicBezTo>
                    <a:pt x="107990" y="284726"/>
                    <a:pt x="105434" y="282172"/>
                    <a:pt x="105434" y="278342"/>
                  </a:cubicBezTo>
                  <a:lnTo>
                    <a:pt x="105434" y="83630"/>
                  </a:lnTo>
                  <a:cubicBezTo>
                    <a:pt x="105434" y="79800"/>
                    <a:pt x="107990" y="77246"/>
                    <a:pt x="111824" y="77246"/>
                  </a:cubicBezTo>
                  <a:lnTo>
                    <a:pt x="195532" y="77246"/>
                  </a:lnTo>
                  <a:cubicBezTo>
                    <a:pt x="199366" y="77246"/>
                    <a:pt x="201922" y="79800"/>
                    <a:pt x="201922" y="83630"/>
                  </a:cubicBezTo>
                  <a:lnTo>
                    <a:pt x="201922" y="132787"/>
                  </a:lnTo>
                  <a:lnTo>
                    <a:pt x="251124" y="132787"/>
                  </a:lnTo>
                  <a:cubicBezTo>
                    <a:pt x="254958" y="132787"/>
                    <a:pt x="257514" y="135341"/>
                    <a:pt x="257514" y="139171"/>
                  </a:cubicBezTo>
                  <a:lnTo>
                    <a:pt x="258153" y="278342"/>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55" name="Graphic 4">
              <a:extLst>
                <a:ext uri="{FF2B5EF4-FFF2-40B4-BE49-F238E27FC236}">
                  <a16:creationId xmlns:a16="http://schemas.microsoft.com/office/drawing/2014/main" id="{16F6DFE1-6B27-CD5C-803D-8D69EF011E09}"/>
                </a:ext>
              </a:extLst>
            </p:cNvPr>
            <p:cNvSpPr/>
            <p:nvPr/>
          </p:nvSpPr>
          <p:spPr bwMode="gray">
            <a:xfrm>
              <a:off x="2070339" y="1976005"/>
              <a:ext cx="70928" cy="181943"/>
            </a:xfrm>
            <a:custGeom>
              <a:avLst/>
              <a:gdLst>
                <a:gd name="connsiteX0" fmla="*/ 15336 w 70928"/>
                <a:gd name="connsiteY0" fmla="*/ 160238 h 181943"/>
                <a:gd name="connsiteX1" fmla="*/ 21726 w 70928"/>
                <a:gd name="connsiteY1" fmla="*/ 153854 h 181943"/>
                <a:gd name="connsiteX2" fmla="*/ 28116 w 70928"/>
                <a:gd name="connsiteY2" fmla="*/ 160238 h 181943"/>
                <a:gd name="connsiteX3" fmla="*/ 28116 w 70928"/>
                <a:gd name="connsiteY3" fmla="*/ 181944 h 181943"/>
                <a:gd name="connsiteX4" fmla="*/ 70928 w 70928"/>
                <a:gd name="connsiteY4" fmla="*/ 181944 h 181943"/>
                <a:gd name="connsiteX5" fmla="*/ 70928 w 70928"/>
                <a:gd name="connsiteY5" fmla="*/ 0 h 181943"/>
                <a:gd name="connsiteX6" fmla="*/ 0 w 70928"/>
                <a:gd name="connsiteY6" fmla="*/ 0 h 181943"/>
                <a:gd name="connsiteX7" fmla="*/ 0 w 70928"/>
                <a:gd name="connsiteY7" fmla="*/ 181944 h 181943"/>
                <a:gd name="connsiteX8" fmla="*/ 15336 w 70928"/>
                <a:gd name="connsiteY8" fmla="*/ 181944 h 181943"/>
                <a:gd name="connsiteX9" fmla="*/ 15336 w 70928"/>
                <a:gd name="connsiteY9" fmla="*/ 160238 h 181943"/>
                <a:gd name="connsiteX10" fmla="*/ 43451 w 70928"/>
                <a:gd name="connsiteY10" fmla="*/ 18514 h 181943"/>
                <a:gd name="connsiteX11" fmla="*/ 44730 w 70928"/>
                <a:gd name="connsiteY11" fmla="*/ 16598 h 181943"/>
                <a:gd name="connsiteX12" fmla="*/ 51759 w 70928"/>
                <a:gd name="connsiteY12" fmla="*/ 15322 h 181943"/>
                <a:gd name="connsiteX13" fmla="*/ 53675 w 70928"/>
                <a:gd name="connsiteY13" fmla="*/ 16598 h 181943"/>
                <a:gd name="connsiteX14" fmla="*/ 55593 w 70928"/>
                <a:gd name="connsiteY14" fmla="*/ 21067 h 181943"/>
                <a:gd name="connsiteX15" fmla="*/ 49203 w 70928"/>
                <a:gd name="connsiteY15" fmla="*/ 27451 h 181943"/>
                <a:gd name="connsiteX16" fmla="*/ 42813 w 70928"/>
                <a:gd name="connsiteY16" fmla="*/ 21067 h 181943"/>
                <a:gd name="connsiteX17" fmla="*/ 43451 w 70928"/>
                <a:gd name="connsiteY17" fmla="*/ 18514 h 181943"/>
                <a:gd name="connsiteX18" fmla="*/ 43451 w 70928"/>
                <a:gd name="connsiteY18" fmla="*/ 45965 h 181943"/>
                <a:gd name="connsiteX19" fmla="*/ 44730 w 70928"/>
                <a:gd name="connsiteY19" fmla="*/ 44049 h 181943"/>
                <a:gd name="connsiteX20" fmla="*/ 50480 w 70928"/>
                <a:gd name="connsiteY20" fmla="*/ 42134 h 181943"/>
                <a:gd name="connsiteX21" fmla="*/ 51759 w 70928"/>
                <a:gd name="connsiteY21" fmla="*/ 42134 h 181943"/>
                <a:gd name="connsiteX22" fmla="*/ 53036 w 70928"/>
                <a:gd name="connsiteY22" fmla="*/ 42773 h 181943"/>
                <a:gd name="connsiteX23" fmla="*/ 53675 w 70928"/>
                <a:gd name="connsiteY23" fmla="*/ 43411 h 181943"/>
                <a:gd name="connsiteX24" fmla="*/ 54954 w 70928"/>
                <a:gd name="connsiteY24" fmla="*/ 45326 h 181943"/>
                <a:gd name="connsiteX25" fmla="*/ 55593 w 70928"/>
                <a:gd name="connsiteY25" fmla="*/ 47880 h 181943"/>
                <a:gd name="connsiteX26" fmla="*/ 54954 w 70928"/>
                <a:gd name="connsiteY26" fmla="*/ 50433 h 181943"/>
                <a:gd name="connsiteX27" fmla="*/ 51759 w 70928"/>
                <a:gd name="connsiteY27" fmla="*/ 53625 h 181943"/>
                <a:gd name="connsiteX28" fmla="*/ 49203 w 70928"/>
                <a:gd name="connsiteY28" fmla="*/ 54264 h 181943"/>
                <a:gd name="connsiteX29" fmla="*/ 46646 w 70928"/>
                <a:gd name="connsiteY29" fmla="*/ 53625 h 181943"/>
                <a:gd name="connsiteX30" fmla="*/ 44730 w 70928"/>
                <a:gd name="connsiteY30" fmla="*/ 52349 h 181943"/>
                <a:gd name="connsiteX31" fmla="*/ 42813 w 70928"/>
                <a:gd name="connsiteY31" fmla="*/ 47880 h 181943"/>
                <a:gd name="connsiteX32" fmla="*/ 43451 w 70928"/>
                <a:gd name="connsiteY32" fmla="*/ 45965 h 181943"/>
                <a:gd name="connsiteX33" fmla="*/ 43451 w 70928"/>
                <a:gd name="connsiteY33" fmla="*/ 45965 h 181943"/>
                <a:gd name="connsiteX34" fmla="*/ 45369 w 70928"/>
                <a:gd name="connsiteY34" fmla="*/ 71501 h 181943"/>
                <a:gd name="connsiteX35" fmla="*/ 52398 w 70928"/>
                <a:gd name="connsiteY35" fmla="*/ 70224 h 181943"/>
                <a:gd name="connsiteX36" fmla="*/ 54314 w 70928"/>
                <a:gd name="connsiteY36" fmla="*/ 71501 h 181943"/>
                <a:gd name="connsiteX37" fmla="*/ 56231 w 70928"/>
                <a:gd name="connsiteY37" fmla="*/ 75969 h 181943"/>
                <a:gd name="connsiteX38" fmla="*/ 54314 w 70928"/>
                <a:gd name="connsiteY38" fmla="*/ 80438 h 181943"/>
                <a:gd name="connsiteX39" fmla="*/ 49841 w 70928"/>
                <a:gd name="connsiteY39" fmla="*/ 82353 h 181943"/>
                <a:gd name="connsiteX40" fmla="*/ 43451 w 70928"/>
                <a:gd name="connsiteY40" fmla="*/ 75969 h 181943"/>
                <a:gd name="connsiteX41" fmla="*/ 45369 w 70928"/>
                <a:gd name="connsiteY41" fmla="*/ 71501 h 181943"/>
                <a:gd name="connsiteX42" fmla="*/ 45369 w 70928"/>
                <a:gd name="connsiteY42" fmla="*/ 71501 h 181943"/>
                <a:gd name="connsiteX43" fmla="*/ 45369 w 70928"/>
                <a:gd name="connsiteY43" fmla="*/ 99590 h 181943"/>
                <a:gd name="connsiteX44" fmla="*/ 54314 w 70928"/>
                <a:gd name="connsiteY44" fmla="*/ 99590 h 181943"/>
                <a:gd name="connsiteX45" fmla="*/ 55593 w 70928"/>
                <a:gd name="connsiteY45" fmla="*/ 106613 h 181943"/>
                <a:gd name="connsiteX46" fmla="*/ 52398 w 70928"/>
                <a:gd name="connsiteY46" fmla="*/ 109805 h 181943"/>
                <a:gd name="connsiteX47" fmla="*/ 49841 w 70928"/>
                <a:gd name="connsiteY47" fmla="*/ 110443 h 181943"/>
                <a:gd name="connsiteX48" fmla="*/ 47285 w 70928"/>
                <a:gd name="connsiteY48" fmla="*/ 109805 h 181943"/>
                <a:gd name="connsiteX49" fmla="*/ 45369 w 70928"/>
                <a:gd name="connsiteY49" fmla="*/ 108528 h 181943"/>
                <a:gd name="connsiteX50" fmla="*/ 44091 w 70928"/>
                <a:gd name="connsiteY50" fmla="*/ 106613 h 181943"/>
                <a:gd name="connsiteX51" fmla="*/ 45369 w 70928"/>
                <a:gd name="connsiteY51" fmla="*/ 99590 h 181943"/>
                <a:gd name="connsiteX52" fmla="*/ 45369 w 70928"/>
                <a:gd name="connsiteY52" fmla="*/ 99590 h 181943"/>
                <a:gd name="connsiteX53" fmla="*/ 43451 w 70928"/>
                <a:gd name="connsiteY53" fmla="*/ 130872 h 181943"/>
                <a:gd name="connsiteX54" fmla="*/ 45369 w 70928"/>
                <a:gd name="connsiteY54" fmla="*/ 127680 h 181943"/>
                <a:gd name="connsiteX55" fmla="*/ 51119 w 70928"/>
                <a:gd name="connsiteY55" fmla="*/ 125765 h 181943"/>
                <a:gd name="connsiteX56" fmla="*/ 52398 w 70928"/>
                <a:gd name="connsiteY56" fmla="*/ 126403 h 181943"/>
                <a:gd name="connsiteX57" fmla="*/ 53675 w 70928"/>
                <a:gd name="connsiteY57" fmla="*/ 127041 h 181943"/>
                <a:gd name="connsiteX58" fmla="*/ 54314 w 70928"/>
                <a:gd name="connsiteY58" fmla="*/ 127680 h 181943"/>
                <a:gd name="connsiteX59" fmla="*/ 56231 w 70928"/>
                <a:gd name="connsiteY59" fmla="*/ 132149 h 181943"/>
                <a:gd name="connsiteX60" fmla="*/ 49841 w 70928"/>
                <a:gd name="connsiteY60" fmla="*/ 138533 h 181943"/>
                <a:gd name="connsiteX61" fmla="*/ 47285 w 70928"/>
                <a:gd name="connsiteY61" fmla="*/ 137894 h 181943"/>
                <a:gd name="connsiteX62" fmla="*/ 45369 w 70928"/>
                <a:gd name="connsiteY62" fmla="*/ 136617 h 181943"/>
                <a:gd name="connsiteX63" fmla="*/ 44091 w 70928"/>
                <a:gd name="connsiteY63" fmla="*/ 134702 h 181943"/>
                <a:gd name="connsiteX64" fmla="*/ 43451 w 70928"/>
                <a:gd name="connsiteY64" fmla="*/ 132149 h 181943"/>
                <a:gd name="connsiteX65" fmla="*/ 43451 w 70928"/>
                <a:gd name="connsiteY65" fmla="*/ 130872 h 181943"/>
                <a:gd name="connsiteX66" fmla="*/ 43451 w 70928"/>
                <a:gd name="connsiteY66" fmla="*/ 130872 h 181943"/>
                <a:gd name="connsiteX67" fmla="*/ 43451 w 70928"/>
                <a:gd name="connsiteY67" fmla="*/ 157684 h 181943"/>
                <a:gd name="connsiteX68" fmla="*/ 44730 w 70928"/>
                <a:gd name="connsiteY68" fmla="*/ 155769 h 181943"/>
                <a:gd name="connsiteX69" fmla="*/ 53675 w 70928"/>
                <a:gd name="connsiteY69" fmla="*/ 155769 h 181943"/>
                <a:gd name="connsiteX70" fmla="*/ 54954 w 70928"/>
                <a:gd name="connsiteY70" fmla="*/ 157684 h 181943"/>
                <a:gd name="connsiteX71" fmla="*/ 55593 w 70928"/>
                <a:gd name="connsiteY71" fmla="*/ 160238 h 181943"/>
                <a:gd name="connsiteX72" fmla="*/ 53675 w 70928"/>
                <a:gd name="connsiteY72" fmla="*/ 164707 h 181943"/>
                <a:gd name="connsiteX73" fmla="*/ 51759 w 70928"/>
                <a:gd name="connsiteY73" fmla="*/ 165984 h 181943"/>
                <a:gd name="connsiteX74" fmla="*/ 43451 w 70928"/>
                <a:gd name="connsiteY74" fmla="*/ 162792 h 181943"/>
                <a:gd name="connsiteX75" fmla="*/ 42813 w 70928"/>
                <a:gd name="connsiteY75" fmla="*/ 160238 h 181943"/>
                <a:gd name="connsiteX76" fmla="*/ 43451 w 70928"/>
                <a:gd name="connsiteY76" fmla="*/ 157684 h 181943"/>
                <a:gd name="connsiteX77" fmla="*/ 43451 w 70928"/>
                <a:gd name="connsiteY77" fmla="*/ 157684 h 181943"/>
                <a:gd name="connsiteX78" fmla="*/ 17253 w 70928"/>
                <a:gd name="connsiteY78" fmla="*/ 15960 h 181943"/>
                <a:gd name="connsiteX79" fmla="*/ 19170 w 70928"/>
                <a:gd name="connsiteY79" fmla="*/ 14683 h 181943"/>
                <a:gd name="connsiteX80" fmla="*/ 26199 w 70928"/>
                <a:gd name="connsiteY80" fmla="*/ 15960 h 181943"/>
                <a:gd name="connsiteX81" fmla="*/ 27477 w 70928"/>
                <a:gd name="connsiteY81" fmla="*/ 17875 h 181943"/>
                <a:gd name="connsiteX82" fmla="*/ 26199 w 70928"/>
                <a:gd name="connsiteY82" fmla="*/ 24897 h 181943"/>
                <a:gd name="connsiteX83" fmla="*/ 24282 w 70928"/>
                <a:gd name="connsiteY83" fmla="*/ 26174 h 181943"/>
                <a:gd name="connsiteX84" fmla="*/ 21726 w 70928"/>
                <a:gd name="connsiteY84" fmla="*/ 26813 h 181943"/>
                <a:gd name="connsiteX85" fmla="*/ 17253 w 70928"/>
                <a:gd name="connsiteY85" fmla="*/ 24897 h 181943"/>
                <a:gd name="connsiteX86" fmla="*/ 15336 w 70928"/>
                <a:gd name="connsiteY86" fmla="*/ 20429 h 181943"/>
                <a:gd name="connsiteX87" fmla="*/ 17253 w 70928"/>
                <a:gd name="connsiteY87" fmla="*/ 15960 h 181943"/>
                <a:gd name="connsiteX88" fmla="*/ 17253 w 70928"/>
                <a:gd name="connsiteY88" fmla="*/ 15960 h 181943"/>
                <a:gd name="connsiteX89" fmla="*/ 15975 w 70928"/>
                <a:gd name="connsiteY89" fmla="*/ 45965 h 181943"/>
                <a:gd name="connsiteX90" fmla="*/ 17253 w 70928"/>
                <a:gd name="connsiteY90" fmla="*/ 44049 h 181943"/>
                <a:gd name="connsiteX91" fmla="*/ 26199 w 70928"/>
                <a:gd name="connsiteY91" fmla="*/ 44049 h 181943"/>
                <a:gd name="connsiteX92" fmla="*/ 27477 w 70928"/>
                <a:gd name="connsiteY92" fmla="*/ 45965 h 181943"/>
                <a:gd name="connsiteX93" fmla="*/ 28116 w 70928"/>
                <a:gd name="connsiteY93" fmla="*/ 48518 h 181943"/>
                <a:gd name="connsiteX94" fmla="*/ 26199 w 70928"/>
                <a:gd name="connsiteY94" fmla="*/ 52987 h 181943"/>
                <a:gd name="connsiteX95" fmla="*/ 24282 w 70928"/>
                <a:gd name="connsiteY95" fmla="*/ 54264 h 181943"/>
                <a:gd name="connsiteX96" fmla="*/ 21726 w 70928"/>
                <a:gd name="connsiteY96" fmla="*/ 54902 h 181943"/>
                <a:gd name="connsiteX97" fmla="*/ 19170 w 70928"/>
                <a:gd name="connsiteY97" fmla="*/ 54264 h 181943"/>
                <a:gd name="connsiteX98" fmla="*/ 15975 w 70928"/>
                <a:gd name="connsiteY98" fmla="*/ 51072 h 181943"/>
                <a:gd name="connsiteX99" fmla="*/ 15336 w 70928"/>
                <a:gd name="connsiteY99" fmla="*/ 48518 h 181943"/>
                <a:gd name="connsiteX100" fmla="*/ 15975 w 70928"/>
                <a:gd name="connsiteY100" fmla="*/ 45965 h 181943"/>
                <a:gd name="connsiteX101" fmla="*/ 15975 w 70928"/>
                <a:gd name="connsiteY101" fmla="*/ 45965 h 181943"/>
                <a:gd name="connsiteX102" fmla="*/ 17253 w 70928"/>
                <a:gd name="connsiteY102" fmla="*/ 71501 h 181943"/>
                <a:gd name="connsiteX103" fmla="*/ 19170 w 70928"/>
                <a:gd name="connsiteY103" fmla="*/ 70862 h 181943"/>
                <a:gd name="connsiteX104" fmla="*/ 26199 w 70928"/>
                <a:gd name="connsiteY104" fmla="*/ 72139 h 181943"/>
                <a:gd name="connsiteX105" fmla="*/ 28116 w 70928"/>
                <a:gd name="connsiteY105" fmla="*/ 76608 h 181943"/>
                <a:gd name="connsiteX106" fmla="*/ 21726 w 70928"/>
                <a:gd name="connsiteY106" fmla="*/ 82992 h 181943"/>
                <a:gd name="connsiteX107" fmla="*/ 19170 w 70928"/>
                <a:gd name="connsiteY107" fmla="*/ 82353 h 181943"/>
                <a:gd name="connsiteX108" fmla="*/ 17253 w 70928"/>
                <a:gd name="connsiteY108" fmla="*/ 81077 h 181943"/>
                <a:gd name="connsiteX109" fmla="*/ 15336 w 70928"/>
                <a:gd name="connsiteY109" fmla="*/ 76608 h 181943"/>
                <a:gd name="connsiteX110" fmla="*/ 17253 w 70928"/>
                <a:gd name="connsiteY110" fmla="*/ 72139 h 181943"/>
                <a:gd name="connsiteX111" fmla="*/ 17253 w 70928"/>
                <a:gd name="connsiteY111" fmla="*/ 71501 h 181943"/>
                <a:gd name="connsiteX112" fmla="*/ 17253 w 70928"/>
                <a:gd name="connsiteY112" fmla="*/ 99590 h 181943"/>
                <a:gd name="connsiteX113" fmla="*/ 26199 w 70928"/>
                <a:gd name="connsiteY113" fmla="*/ 99590 h 181943"/>
                <a:gd name="connsiteX114" fmla="*/ 27477 w 70928"/>
                <a:gd name="connsiteY114" fmla="*/ 106613 h 181943"/>
                <a:gd name="connsiteX115" fmla="*/ 26199 w 70928"/>
                <a:gd name="connsiteY115" fmla="*/ 108528 h 181943"/>
                <a:gd name="connsiteX116" fmla="*/ 24282 w 70928"/>
                <a:gd name="connsiteY116" fmla="*/ 109805 h 181943"/>
                <a:gd name="connsiteX117" fmla="*/ 21726 w 70928"/>
                <a:gd name="connsiteY117" fmla="*/ 110443 h 181943"/>
                <a:gd name="connsiteX118" fmla="*/ 19170 w 70928"/>
                <a:gd name="connsiteY118" fmla="*/ 109805 h 181943"/>
                <a:gd name="connsiteX119" fmla="*/ 15975 w 70928"/>
                <a:gd name="connsiteY119" fmla="*/ 106613 h 181943"/>
                <a:gd name="connsiteX120" fmla="*/ 15336 w 70928"/>
                <a:gd name="connsiteY120" fmla="*/ 104059 h 181943"/>
                <a:gd name="connsiteX121" fmla="*/ 17253 w 70928"/>
                <a:gd name="connsiteY121" fmla="*/ 100229 h 181943"/>
                <a:gd name="connsiteX122" fmla="*/ 17253 w 70928"/>
                <a:gd name="connsiteY122" fmla="*/ 99590 h 181943"/>
                <a:gd name="connsiteX123" fmla="*/ 15336 w 70928"/>
                <a:gd name="connsiteY123" fmla="*/ 130233 h 181943"/>
                <a:gd name="connsiteX124" fmla="*/ 15975 w 70928"/>
                <a:gd name="connsiteY124" fmla="*/ 128957 h 181943"/>
                <a:gd name="connsiteX125" fmla="*/ 17253 w 70928"/>
                <a:gd name="connsiteY125" fmla="*/ 127041 h 181943"/>
                <a:gd name="connsiteX126" fmla="*/ 23004 w 70928"/>
                <a:gd name="connsiteY126" fmla="*/ 125126 h 181943"/>
                <a:gd name="connsiteX127" fmla="*/ 25560 w 70928"/>
                <a:gd name="connsiteY127" fmla="*/ 125765 h 181943"/>
                <a:gd name="connsiteX128" fmla="*/ 26199 w 70928"/>
                <a:gd name="connsiteY128" fmla="*/ 126403 h 181943"/>
                <a:gd name="connsiteX129" fmla="*/ 28116 w 70928"/>
                <a:gd name="connsiteY129" fmla="*/ 130872 h 181943"/>
                <a:gd name="connsiteX130" fmla="*/ 27477 w 70928"/>
                <a:gd name="connsiteY130" fmla="*/ 133425 h 181943"/>
                <a:gd name="connsiteX131" fmla="*/ 26199 w 70928"/>
                <a:gd name="connsiteY131" fmla="*/ 135341 h 181943"/>
                <a:gd name="connsiteX132" fmla="*/ 21726 w 70928"/>
                <a:gd name="connsiteY132" fmla="*/ 137256 h 181943"/>
                <a:gd name="connsiteX133" fmla="*/ 17253 w 70928"/>
                <a:gd name="connsiteY133" fmla="*/ 135341 h 181943"/>
                <a:gd name="connsiteX134" fmla="*/ 15975 w 70928"/>
                <a:gd name="connsiteY134" fmla="*/ 133425 h 181943"/>
                <a:gd name="connsiteX135" fmla="*/ 15336 w 70928"/>
                <a:gd name="connsiteY135" fmla="*/ 130872 h 181943"/>
                <a:gd name="connsiteX136" fmla="*/ 15336 w 70928"/>
                <a:gd name="connsiteY136" fmla="*/ 130233 h 181943"/>
                <a:gd name="connsiteX137" fmla="*/ 15336 w 70928"/>
                <a:gd name="connsiteY137" fmla="*/ 130233 h 181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70928" h="181943">
                  <a:moveTo>
                    <a:pt x="15336" y="160238"/>
                  </a:moveTo>
                  <a:cubicBezTo>
                    <a:pt x="15336" y="156408"/>
                    <a:pt x="17892" y="153854"/>
                    <a:pt x="21726" y="153854"/>
                  </a:cubicBezTo>
                  <a:cubicBezTo>
                    <a:pt x="25560" y="153854"/>
                    <a:pt x="28116" y="156408"/>
                    <a:pt x="28116" y="160238"/>
                  </a:cubicBezTo>
                  <a:lnTo>
                    <a:pt x="28116" y="181944"/>
                  </a:lnTo>
                  <a:lnTo>
                    <a:pt x="70928" y="181944"/>
                  </a:lnTo>
                  <a:lnTo>
                    <a:pt x="70928" y="0"/>
                  </a:lnTo>
                  <a:lnTo>
                    <a:pt x="0" y="0"/>
                  </a:lnTo>
                  <a:lnTo>
                    <a:pt x="0" y="181944"/>
                  </a:lnTo>
                  <a:lnTo>
                    <a:pt x="15336" y="181944"/>
                  </a:lnTo>
                  <a:lnTo>
                    <a:pt x="15336" y="160238"/>
                  </a:lnTo>
                  <a:close/>
                  <a:moveTo>
                    <a:pt x="43451" y="18514"/>
                  </a:moveTo>
                  <a:cubicBezTo>
                    <a:pt x="44091" y="17875"/>
                    <a:pt x="44091" y="17237"/>
                    <a:pt x="44730" y="16598"/>
                  </a:cubicBezTo>
                  <a:cubicBezTo>
                    <a:pt x="46646" y="14683"/>
                    <a:pt x="49203" y="14045"/>
                    <a:pt x="51759" y="15322"/>
                  </a:cubicBezTo>
                  <a:cubicBezTo>
                    <a:pt x="52398" y="15322"/>
                    <a:pt x="53036" y="15960"/>
                    <a:pt x="53675" y="16598"/>
                  </a:cubicBezTo>
                  <a:cubicBezTo>
                    <a:pt x="54954" y="17875"/>
                    <a:pt x="55593" y="19152"/>
                    <a:pt x="55593" y="21067"/>
                  </a:cubicBezTo>
                  <a:cubicBezTo>
                    <a:pt x="55593" y="24897"/>
                    <a:pt x="53036" y="27451"/>
                    <a:pt x="49203" y="27451"/>
                  </a:cubicBezTo>
                  <a:cubicBezTo>
                    <a:pt x="45369" y="27451"/>
                    <a:pt x="42813" y="24897"/>
                    <a:pt x="42813" y="21067"/>
                  </a:cubicBezTo>
                  <a:cubicBezTo>
                    <a:pt x="43451" y="19790"/>
                    <a:pt x="43451" y="19152"/>
                    <a:pt x="43451" y="18514"/>
                  </a:cubicBezTo>
                  <a:close/>
                  <a:moveTo>
                    <a:pt x="43451" y="45965"/>
                  </a:moveTo>
                  <a:cubicBezTo>
                    <a:pt x="44091" y="45326"/>
                    <a:pt x="44091" y="44688"/>
                    <a:pt x="44730" y="44049"/>
                  </a:cubicBezTo>
                  <a:cubicBezTo>
                    <a:pt x="46008" y="42773"/>
                    <a:pt x="48564" y="42134"/>
                    <a:pt x="50480" y="42134"/>
                  </a:cubicBezTo>
                  <a:lnTo>
                    <a:pt x="51759" y="42134"/>
                  </a:lnTo>
                  <a:cubicBezTo>
                    <a:pt x="52398" y="42134"/>
                    <a:pt x="52398" y="42773"/>
                    <a:pt x="53036" y="42773"/>
                  </a:cubicBezTo>
                  <a:cubicBezTo>
                    <a:pt x="53675" y="42773"/>
                    <a:pt x="53675" y="43411"/>
                    <a:pt x="53675" y="43411"/>
                  </a:cubicBezTo>
                  <a:cubicBezTo>
                    <a:pt x="54314" y="44049"/>
                    <a:pt x="54954" y="44688"/>
                    <a:pt x="54954" y="45326"/>
                  </a:cubicBezTo>
                  <a:cubicBezTo>
                    <a:pt x="55593" y="45965"/>
                    <a:pt x="55593" y="47241"/>
                    <a:pt x="55593" y="47880"/>
                  </a:cubicBezTo>
                  <a:cubicBezTo>
                    <a:pt x="55593" y="48518"/>
                    <a:pt x="55593" y="49795"/>
                    <a:pt x="54954" y="50433"/>
                  </a:cubicBezTo>
                  <a:cubicBezTo>
                    <a:pt x="54314" y="51710"/>
                    <a:pt x="53036" y="52987"/>
                    <a:pt x="51759" y="53625"/>
                  </a:cubicBezTo>
                  <a:cubicBezTo>
                    <a:pt x="51119" y="54264"/>
                    <a:pt x="50480" y="54264"/>
                    <a:pt x="49203" y="54264"/>
                  </a:cubicBezTo>
                  <a:cubicBezTo>
                    <a:pt x="48564" y="54264"/>
                    <a:pt x="47285" y="54264"/>
                    <a:pt x="46646" y="53625"/>
                  </a:cubicBezTo>
                  <a:cubicBezTo>
                    <a:pt x="46008" y="53625"/>
                    <a:pt x="45369" y="52987"/>
                    <a:pt x="44730" y="52349"/>
                  </a:cubicBezTo>
                  <a:cubicBezTo>
                    <a:pt x="43451" y="51072"/>
                    <a:pt x="42813" y="49795"/>
                    <a:pt x="42813" y="47880"/>
                  </a:cubicBezTo>
                  <a:cubicBezTo>
                    <a:pt x="43451" y="47880"/>
                    <a:pt x="43451" y="47241"/>
                    <a:pt x="43451" y="45965"/>
                  </a:cubicBezTo>
                  <a:lnTo>
                    <a:pt x="43451" y="45965"/>
                  </a:lnTo>
                  <a:close/>
                  <a:moveTo>
                    <a:pt x="45369" y="71501"/>
                  </a:moveTo>
                  <a:cubicBezTo>
                    <a:pt x="47285" y="69585"/>
                    <a:pt x="49841" y="68947"/>
                    <a:pt x="52398" y="70224"/>
                  </a:cubicBezTo>
                  <a:cubicBezTo>
                    <a:pt x="53036" y="70224"/>
                    <a:pt x="53675" y="70862"/>
                    <a:pt x="54314" y="71501"/>
                  </a:cubicBezTo>
                  <a:cubicBezTo>
                    <a:pt x="55593" y="72777"/>
                    <a:pt x="56231" y="74054"/>
                    <a:pt x="56231" y="75969"/>
                  </a:cubicBezTo>
                  <a:cubicBezTo>
                    <a:pt x="56231" y="77885"/>
                    <a:pt x="55593" y="79161"/>
                    <a:pt x="54314" y="80438"/>
                  </a:cubicBezTo>
                  <a:cubicBezTo>
                    <a:pt x="53036" y="81715"/>
                    <a:pt x="51759" y="82353"/>
                    <a:pt x="49841" y="82353"/>
                  </a:cubicBezTo>
                  <a:cubicBezTo>
                    <a:pt x="46008" y="82353"/>
                    <a:pt x="43451" y="79800"/>
                    <a:pt x="43451" y="75969"/>
                  </a:cubicBezTo>
                  <a:cubicBezTo>
                    <a:pt x="43451" y="74693"/>
                    <a:pt x="44091" y="73416"/>
                    <a:pt x="45369" y="71501"/>
                  </a:cubicBezTo>
                  <a:lnTo>
                    <a:pt x="45369" y="71501"/>
                  </a:lnTo>
                  <a:close/>
                  <a:moveTo>
                    <a:pt x="45369" y="99590"/>
                  </a:moveTo>
                  <a:cubicBezTo>
                    <a:pt x="47925" y="97037"/>
                    <a:pt x="51759" y="97037"/>
                    <a:pt x="54314" y="99590"/>
                  </a:cubicBezTo>
                  <a:cubicBezTo>
                    <a:pt x="56231" y="101505"/>
                    <a:pt x="56870" y="104059"/>
                    <a:pt x="55593" y="106613"/>
                  </a:cubicBezTo>
                  <a:cubicBezTo>
                    <a:pt x="54954" y="107889"/>
                    <a:pt x="53675" y="109166"/>
                    <a:pt x="52398" y="109805"/>
                  </a:cubicBezTo>
                  <a:cubicBezTo>
                    <a:pt x="51759" y="110443"/>
                    <a:pt x="51119" y="110443"/>
                    <a:pt x="49841" y="110443"/>
                  </a:cubicBezTo>
                  <a:cubicBezTo>
                    <a:pt x="49203" y="110443"/>
                    <a:pt x="47925" y="110443"/>
                    <a:pt x="47285" y="109805"/>
                  </a:cubicBezTo>
                  <a:cubicBezTo>
                    <a:pt x="46646" y="109805"/>
                    <a:pt x="46008" y="109166"/>
                    <a:pt x="45369" y="108528"/>
                  </a:cubicBezTo>
                  <a:cubicBezTo>
                    <a:pt x="44730" y="107889"/>
                    <a:pt x="44091" y="107251"/>
                    <a:pt x="44091" y="106613"/>
                  </a:cubicBezTo>
                  <a:cubicBezTo>
                    <a:pt x="42813" y="104059"/>
                    <a:pt x="43451" y="101505"/>
                    <a:pt x="45369" y="99590"/>
                  </a:cubicBezTo>
                  <a:lnTo>
                    <a:pt x="45369" y="99590"/>
                  </a:lnTo>
                  <a:close/>
                  <a:moveTo>
                    <a:pt x="43451" y="130872"/>
                  </a:moveTo>
                  <a:cubicBezTo>
                    <a:pt x="43451" y="129595"/>
                    <a:pt x="44091" y="128318"/>
                    <a:pt x="45369" y="127680"/>
                  </a:cubicBezTo>
                  <a:cubicBezTo>
                    <a:pt x="46646" y="126403"/>
                    <a:pt x="49203" y="125765"/>
                    <a:pt x="51119" y="125765"/>
                  </a:cubicBezTo>
                  <a:cubicBezTo>
                    <a:pt x="51759" y="125765"/>
                    <a:pt x="51759" y="125765"/>
                    <a:pt x="52398" y="126403"/>
                  </a:cubicBezTo>
                  <a:cubicBezTo>
                    <a:pt x="53036" y="126403"/>
                    <a:pt x="53036" y="127041"/>
                    <a:pt x="53675" y="127041"/>
                  </a:cubicBezTo>
                  <a:lnTo>
                    <a:pt x="54314" y="127680"/>
                  </a:lnTo>
                  <a:cubicBezTo>
                    <a:pt x="55593" y="128957"/>
                    <a:pt x="56231" y="130233"/>
                    <a:pt x="56231" y="132149"/>
                  </a:cubicBezTo>
                  <a:cubicBezTo>
                    <a:pt x="56231" y="135979"/>
                    <a:pt x="53675" y="138533"/>
                    <a:pt x="49841" y="138533"/>
                  </a:cubicBezTo>
                  <a:cubicBezTo>
                    <a:pt x="49203" y="138533"/>
                    <a:pt x="47925" y="138533"/>
                    <a:pt x="47285" y="137894"/>
                  </a:cubicBezTo>
                  <a:cubicBezTo>
                    <a:pt x="46646" y="137894"/>
                    <a:pt x="46008" y="137256"/>
                    <a:pt x="45369" y="136617"/>
                  </a:cubicBezTo>
                  <a:cubicBezTo>
                    <a:pt x="44730" y="135979"/>
                    <a:pt x="44091" y="135341"/>
                    <a:pt x="44091" y="134702"/>
                  </a:cubicBezTo>
                  <a:cubicBezTo>
                    <a:pt x="44091" y="134064"/>
                    <a:pt x="43451" y="133425"/>
                    <a:pt x="43451" y="132149"/>
                  </a:cubicBezTo>
                  <a:cubicBezTo>
                    <a:pt x="43451" y="131510"/>
                    <a:pt x="43451" y="131510"/>
                    <a:pt x="43451" y="130872"/>
                  </a:cubicBezTo>
                  <a:lnTo>
                    <a:pt x="43451" y="130872"/>
                  </a:lnTo>
                  <a:close/>
                  <a:moveTo>
                    <a:pt x="43451" y="157684"/>
                  </a:moveTo>
                  <a:cubicBezTo>
                    <a:pt x="44091" y="157046"/>
                    <a:pt x="44091" y="156408"/>
                    <a:pt x="44730" y="155769"/>
                  </a:cubicBezTo>
                  <a:cubicBezTo>
                    <a:pt x="47285" y="153216"/>
                    <a:pt x="51119" y="153216"/>
                    <a:pt x="53675" y="155769"/>
                  </a:cubicBezTo>
                  <a:cubicBezTo>
                    <a:pt x="54314" y="156408"/>
                    <a:pt x="54954" y="157046"/>
                    <a:pt x="54954" y="157684"/>
                  </a:cubicBezTo>
                  <a:cubicBezTo>
                    <a:pt x="55593" y="158323"/>
                    <a:pt x="55593" y="159600"/>
                    <a:pt x="55593" y="160238"/>
                  </a:cubicBezTo>
                  <a:cubicBezTo>
                    <a:pt x="55593" y="162153"/>
                    <a:pt x="54954" y="163430"/>
                    <a:pt x="53675" y="164707"/>
                  </a:cubicBezTo>
                  <a:cubicBezTo>
                    <a:pt x="53036" y="165345"/>
                    <a:pt x="52398" y="165984"/>
                    <a:pt x="51759" y="165984"/>
                  </a:cubicBezTo>
                  <a:cubicBezTo>
                    <a:pt x="48564" y="167260"/>
                    <a:pt x="44730" y="165984"/>
                    <a:pt x="43451" y="162792"/>
                  </a:cubicBezTo>
                  <a:cubicBezTo>
                    <a:pt x="43451" y="162153"/>
                    <a:pt x="42813" y="161515"/>
                    <a:pt x="42813" y="160238"/>
                  </a:cubicBezTo>
                  <a:cubicBezTo>
                    <a:pt x="43451" y="158961"/>
                    <a:pt x="43451" y="158323"/>
                    <a:pt x="43451" y="157684"/>
                  </a:cubicBezTo>
                  <a:lnTo>
                    <a:pt x="43451" y="157684"/>
                  </a:lnTo>
                  <a:close/>
                  <a:moveTo>
                    <a:pt x="17253" y="15960"/>
                  </a:moveTo>
                  <a:cubicBezTo>
                    <a:pt x="17892" y="15322"/>
                    <a:pt x="18531" y="14683"/>
                    <a:pt x="19170" y="14683"/>
                  </a:cubicBezTo>
                  <a:cubicBezTo>
                    <a:pt x="21726" y="13406"/>
                    <a:pt x="24282" y="14045"/>
                    <a:pt x="26199" y="15960"/>
                  </a:cubicBezTo>
                  <a:cubicBezTo>
                    <a:pt x="26838" y="16598"/>
                    <a:pt x="27477" y="17237"/>
                    <a:pt x="27477" y="17875"/>
                  </a:cubicBezTo>
                  <a:cubicBezTo>
                    <a:pt x="28755" y="20429"/>
                    <a:pt x="28116" y="22982"/>
                    <a:pt x="26199" y="24897"/>
                  </a:cubicBezTo>
                  <a:cubicBezTo>
                    <a:pt x="25560" y="25536"/>
                    <a:pt x="24921" y="26174"/>
                    <a:pt x="24282" y="26174"/>
                  </a:cubicBezTo>
                  <a:cubicBezTo>
                    <a:pt x="23643" y="26174"/>
                    <a:pt x="23004" y="26813"/>
                    <a:pt x="21726" y="26813"/>
                  </a:cubicBezTo>
                  <a:cubicBezTo>
                    <a:pt x="19809" y="26813"/>
                    <a:pt x="18531" y="26174"/>
                    <a:pt x="17253" y="24897"/>
                  </a:cubicBezTo>
                  <a:cubicBezTo>
                    <a:pt x="15975" y="23621"/>
                    <a:pt x="15336" y="22344"/>
                    <a:pt x="15336" y="20429"/>
                  </a:cubicBezTo>
                  <a:cubicBezTo>
                    <a:pt x="15336" y="19152"/>
                    <a:pt x="15975" y="17237"/>
                    <a:pt x="17253" y="15960"/>
                  </a:cubicBezTo>
                  <a:lnTo>
                    <a:pt x="17253" y="15960"/>
                  </a:lnTo>
                  <a:close/>
                  <a:moveTo>
                    <a:pt x="15975" y="45965"/>
                  </a:moveTo>
                  <a:cubicBezTo>
                    <a:pt x="15975" y="45326"/>
                    <a:pt x="16614" y="44688"/>
                    <a:pt x="17253" y="44049"/>
                  </a:cubicBezTo>
                  <a:cubicBezTo>
                    <a:pt x="19809" y="41496"/>
                    <a:pt x="23643" y="41496"/>
                    <a:pt x="26199" y="44049"/>
                  </a:cubicBezTo>
                  <a:cubicBezTo>
                    <a:pt x="26838" y="44688"/>
                    <a:pt x="27477" y="45326"/>
                    <a:pt x="27477" y="45965"/>
                  </a:cubicBezTo>
                  <a:cubicBezTo>
                    <a:pt x="27477" y="46603"/>
                    <a:pt x="28116" y="47880"/>
                    <a:pt x="28116" y="48518"/>
                  </a:cubicBezTo>
                  <a:cubicBezTo>
                    <a:pt x="28116" y="50433"/>
                    <a:pt x="27477" y="51710"/>
                    <a:pt x="26199" y="52987"/>
                  </a:cubicBezTo>
                  <a:cubicBezTo>
                    <a:pt x="25560" y="53625"/>
                    <a:pt x="24921" y="54264"/>
                    <a:pt x="24282" y="54264"/>
                  </a:cubicBezTo>
                  <a:cubicBezTo>
                    <a:pt x="23643" y="54902"/>
                    <a:pt x="22365" y="54902"/>
                    <a:pt x="21726" y="54902"/>
                  </a:cubicBezTo>
                  <a:cubicBezTo>
                    <a:pt x="21087" y="54902"/>
                    <a:pt x="19809" y="54902"/>
                    <a:pt x="19170" y="54264"/>
                  </a:cubicBezTo>
                  <a:cubicBezTo>
                    <a:pt x="17892" y="53625"/>
                    <a:pt x="16614" y="52349"/>
                    <a:pt x="15975" y="51072"/>
                  </a:cubicBezTo>
                  <a:cubicBezTo>
                    <a:pt x="15336" y="50433"/>
                    <a:pt x="15336" y="49795"/>
                    <a:pt x="15336" y="48518"/>
                  </a:cubicBezTo>
                  <a:cubicBezTo>
                    <a:pt x="15336" y="47880"/>
                    <a:pt x="15336" y="47241"/>
                    <a:pt x="15975" y="45965"/>
                  </a:cubicBezTo>
                  <a:lnTo>
                    <a:pt x="15975" y="45965"/>
                  </a:lnTo>
                  <a:close/>
                  <a:moveTo>
                    <a:pt x="17253" y="71501"/>
                  </a:moveTo>
                  <a:cubicBezTo>
                    <a:pt x="17892" y="70862"/>
                    <a:pt x="18531" y="70862"/>
                    <a:pt x="19170" y="70862"/>
                  </a:cubicBezTo>
                  <a:cubicBezTo>
                    <a:pt x="21726" y="69585"/>
                    <a:pt x="24282" y="70224"/>
                    <a:pt x="26199" y="72139"/>
                  </a:cubicBezTo>
                  <a:cubicBezTo>
                    <a:pt x="27477" y="73416"/>
                    <a:pt x="28116" y="74693"/>
                    <a:pt x="28116" y="76608"/>
                  </a:cubicBezTo>
                  <a:cubicBezTo>
                    <a:pt x="28116" y="80438"/>
                    <a:pt x="25560" y="82992"/>
                    <a:pt x="21726" y="82992"/>
                  </a:cubicBezTo>
                  <a:cubicBezTo>
                    <a:pt x="21087" y="82992"/>
                    <a:pt x="19809" y="82992"/>
                    <a:pt x="19170" y="82353"/>
                  </a:cubicBezTo>
                  <a:cubicBezTo>
                    <a:pt x="18531" y="81715"/>
                    <a:pt x="17892" y="81715"/>
                    <a:pt x="17253" y="81077"/>
                  </a:cubicBezTo>
                  <a:cubicBezTo>
                    <a:pt x="15975" y="79800"/>
                    <a:pt x="15336" y="78523"/>
                    <a:pt x="15336" y="76608"/>
                  </a:cubicBezTo>
                  <a:cubicBezTo>
                    <a:pt x="15336" y="74693"/>
                    <a:pt x="15975" y="73416"/>
                    <a:pt x="17253" y="72139"/>
                  </a:cubicBezTo>
                  <a:lnTo>
                    <a:pt x="17253" y="71501"/>
                  </a:lnTo>
                  <a:close/>
                  <a:moveTo>
                    <a:pt x="17253" y="99590"/>
                  </a:moveTo>
                  <a:cubicBezTo>
                    <a:pt x="19809" y="97037"/>
                    <a:pt x="23643" y="97037"/>
                    <a:pt x="26199" y="99590"/>
                  </a:cubicBezTo>
                  <a:cubicBezTo>
                    <a:pt x="28116" y="101505"/>
                    <a:pt x="28755" y="104059"/>
                    <a:pt x="27477" y="106613"/>
                  </a:cubicBezTo>
                  <a:cubicBezTo>
                    <a:pt x="26838" y="107251"/>
                    <a:pt x="26838" y="107889"/>
                    <a:pt x="26199" y="108528"/>
                  </a:cubicBezTo>
                  <a:cubicBezTo>
                    <a:pt x="25560" y="109166"/>
                    <a:pt x="24921" y="109805"/>
                    <a:pt x="24282" y="109805"/>
                  </a:cubicBezTo>
                  <a:cubicBezTo>
                    <a:pt x="23643" y="110443"/>
                    <a:pt x="22365" y="110443"/>
                    <a:pt x="21726" y="110443"/>
                  </a:cubicBezTo>
                  <a:cubicBezTo>
                    <a:pt x="21087" y="110443"/>
                    <a:pt x="19809" y="110443"/>
                    <a:pt x="19170" y="109805"/>
                  </a:cubicBezTo>
                  <a:cubicBezTo>
                    <a:pt x="17892" y="109166"/>
                    <a:pt x="16614" y="107889"/>
                    <a:pt x="15975" y="106613"/>
                  </a:cubicBezTo>
                  <a:cubicBezTo>
                    <a:pt x="15336" y="105974"/>
                    <a:pt x="15336" y="105336"/>
                    <a:pt x="15336" y="104059"/>
                  </a:cubicBezTo>
                  <a:cubicBezTo>
                    <a:pt x="15336" y="102782"/>
                    <a:pt x="15975" y="101505"/>
                    <a:pt x="17253" y="100229"/>
                  </a:cubicBezTo>
                  <a:lnTo>
                    <a:pt x="17253" y="99590"/>
                  </a:lnTo>
                  <a:close/>
                  <a:moveTo>
                    <a:pt x="15336" y="130233"/>
                  </a:moveTo>
                  <a:lnTo>
                    <a:pt x="15975" y="128957"/>
                  </a:lnTo>
                  <a:cubicBezTo>
                    <a:pt x="15975" y="128318"/>
                    <a:pt x="16614" y="127680"/>
                    <a:pt x="17253" y="127041"/>
                  </a:cubicBezTo>
                  <a:cubicBezTo>
                    <a:pt x="18531" y="125765"/>
                    <a:pt x="21087" y="125126"/>
                    <a:pt x="23004" y="125126"/>
                  </a:cubicBezTo>
                  <a:cubicBezTo>
                    <a:pt x="23643" y="125126"/>
                    <a:pt x="24921" y="125765"/>
                    <a:pt x="25560" y="125765"/>
                  </a:cubicBezTo>
                  <a:lnTo>
                    <a:pt x="26199" y="126403"/>
                  </a:lnTo>
                  <a:cubicBezTo>
                    <a:pt x="27477" y="127680"/>
                    <a:pt x="28116" y="128957"/>
                    <a:pt x="28116" y="130872"/>
                  </a:cubicBezTo>
                  <a:cubicBezTo>
                    <a:pt x="28116" y="131510"/>
                    <a:pt x="28116" y="132787"/>
                    <a:pt x="27477" y="133425"/>
                  </a:cubicBezTo>
                  <a:cubicBezTo>
                    <a:pt x="26838" y="134064"/>
                    <a:pt x="26838" y="134702"/>
                    <a:pt x="26199" y="135341"/>
                  </a:cubicBezTo>
                  <a:cubicBezTo>
                    <a:pt x="24921" y="136617"/>
                    <a:pt x="23643" y="137256"/>
                    <a:pt x="21726" y="137256"/>
                  </a:cubicBezTo>
                  <a:cubicBezTo>
                    <a:pt x="19809" y="137256"/>
                    <a:pt x="18531" y="136617"/>
                    <a:pt x="17253" y="135341"/>
                  </a:cubicBezTo>
                  <a:cubicBezTo>
                    <a:pt x="16614" y="134702"/>
                    <a:pt x="15975" y="134064"/>
                    <a:pt x="15975" y="133425"/>
                  </a:cubicBezTo>
                  <a:cubicBezTo>
                    <a:pt x="15336" y="132787"/>
                    <a:pt x="15336" y="132149"/>
                    <a:pt x="15336" y="130872"/>
                  </a:cubicBezTo>
                  <a:cubicBezTo>
                    <a:pt x="15336" y="130872"/>
                    <a:pt x="15336" y="130233"/>
                    <a:pt x="15336" y="130233"/>
                  </a:cubicBezTo>
                  <a:lnTo>
                    <a:pt x="15336" y="130233"/>
                  </a:ln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sp>
          <p:nvSpPr>
            <p:cNvPr id="156" name="Graphic 4">
              <a:extLst>
                <a:ext uri="{FF2B5EF4-FFF2-40B4-BE49-F238E27FC236}">
                  <a16:creationId xmlns:a16="http://schemas.microsoft.com/office/drawing/2014/main" id="{4621EFBC-3F77-081D-3021-1F906FBF2A28}"/>
                </a:ext>
              </a:extLst>
            </p:cNvPr>
            <p:cNvSpPr/>
            <p:nvPr/>
          </p:nvSpPr>
          <p:spPr bwMode="gray">
            <a:xfrm>
              <a:off x="2154047" y="2031545"/>
              <a:ext cx="43451" cy="126402"/>
            </a:xfrm>
            <a:custGeom>
              <a:avLst/>
              <a:gdLst>
                <a:gd name="connsiteX0" fmla="*/ 0 w 43451"/>
                <a:gd name="connsiteY0" fmla="*/ 126403 h 126402"/>
                <a:gd name="connsiteX1" fmla="*/ 15336 w 43451"/>
                <a:gd name="connsiteY1" fmla="*/ 126403 h 126402"/>
                <a:gd name="connsiteX2" fmla="*/ 15336 w 43451"/>
                <a:gd name="connsiteY2" fmla="*/ 104697 h 126402"/>
                <a:gd name="connsiteX3" fmla="*/ 21726 w 43451"/>
                <a:gd name="connsiteY3" fmla="*/ 98313 h 126402"/>
                <a:gd name="connsiteX4" fmla="*/ 28116 w 43451"/>
                <a:gd name="connsiteY4" fmla="*/ 104697 h 126402"/>
                <a:gd name="connsiteX5" fmla="*/ 28116 w 43451"/>
                <a:gd name="connsiteY5" fmla="*/ 126403 h 126402"/>
                <a:gd name="connsiteX6" fmla="*/ 43451 w 43451"/>
                <a:gd name="connsiteY6" fmla="*/ 126403 h 126402"/>
                <a:gd name="connsiteX7" fmla="*/ 43451 w 43451"/>
                <a:gd name="connsiteY7" fmla="*/ 0 h 126402"/>
                <a:gd name="connsiteX8" fmla="*/ 639 w 43451"/>
                <a:gd name="connsiteY8" fmla="*/ 0 h 126402"/>
                <a:gd name="connsiteX9" fmla="*/ 0 w 43451"/>
                <a:gd name="connsiteY9" fmla="*/ 126403 h 126402"/>
                <a:gd name="connsiteX10" fmla="*/ 17253 w 43451"/>
                <a:gd name="connsiteY10" fmla="*/ 16598 h 126402"/>
                <a:gd name="connsiteX11" fmla="*/ 26199 w 43451"/>
                <a:gd name="connsiteY11" fmla="*/ 16598 h 126402"/>
                <a:gd name="connsiteX12" fmla="*/ 28116 w 43451"/>
                <a:gd name="connsiteY12" fmla="*/ 21067 h 126402"/>
                <a:gd name="connsiteX13" fmla="*/ 26199 w 43451"/>
                <a:gd name="connsiteY13" fmla="*/ 25536 h 126402"/>
                <a:gd name="connsiteX14" fmla="*/ 21726 w 43451"/>
                <a:gd name="connsiteY14" fmla="*/ 27451 h 126402"/>
                <a:gd name="connsiteX15" fmla="*/ 15336 w 43451"/>
                <a:gd name="connsiteY15" fmla="*/ 21067 h 126402"/>
                <a:gd name="connsiteX16" fmla="*/ 17253 w 43451"/>
                <a:gd name="connsiteY16" fmla="*/ 16598 h 126402"/>
                <a:gd name="connsiteX17" fmla="*/ 17253 w 43451"/>
                <a:gd name="connsiteY17" fmla="*/ 44688 h 126402"/>
                <a:gd name="connsiteX18" fmla="*/ 23004 w 43451"/>
                <a:gd name="connsiteY18" fmla="*/ 42773 h 126402"/>
                <a:gd name="connsiteX19" fmla="*/ 24282 w 43451"/>
                <a:gd name="connsiteY19" fmla="*/ 42773 h 126402"/>
                <a:gd name="connsiteX20" fmla="*/ 25560 w 43451"/>
                <a:gd name="connsiteY20" fmla="*/ 43411 h 126402"/>
                <a:gd name="connsiteX21" fmla="*/ 26199 w 43451"/>
                <a:gd name="connsiteY21" fmla="*/ 44049 h 126402"/>
                <a:gd name="connsiteX22" fmla="*/ 27477 w 43451"/>
                <a:gd name="connsiteY22" fmla="*/ 45965 h 126402"/>
                <a:gd name="connsiteX23" fmla="*/ 28116 w 43451"/>
                <a:gd name="connsiteY23" fmla="*/ 47241 h 126402"/>
                <a:gd name="connsiteX24" fmla="*/ 28116 w 43451"/>
                <a:gd name="connsiteY24" fmla="*/ 48518 h 126402"/>
                <a:gd name="connsiteX25" fmla="*/ 27477 w 43451"/>
                <a:gd name="connsiteY25" fmla="*/ 51072 h 126402"/>
                <a:gd name="connsiteX26" fmla="*/ 24282 w 43451"/>
                <a:gd name="connsiteY26" fmla="*/ 54264 h 126402"/>
                <a:gd name="connsiteX27" fmla="*/ 21726 w 43451"/>
                <a:gd name="connsiteY27" fmla="*/ 54902 h 126402"/>
                <a:gd name="connsiteX28" fmla="*/ 19170 w 43451"/>
                <a:gd name="connsiteY28" fmla="*/ 54264 h 126402"/>
                <a:gd name="connsiteX29" fmla="*/ 17253 w 43451"/>
                <a:gd name="connsiteY29" fmla="*/ 52987 h 126402"/>
                <a:gd name="connsiteX30" fmla="*/ 15975 w 43451"/>
                <a:gd name="connsiteY30" fmla="*/ 51072 h 126402"/>
                <a:gd name="connsiteX31" fmla="*/ 15336 w 43451"/>
                <a:gd name="connsiteY31" fmla="*/ 48518 h 126402"/>
                <a:gd name="connsiteX32" fmla="*/ 17253 w 43451"/>
                <a:gd name="connsiteY32" fmla="*/ 44688 h 126402"/>
                <a:gd name="connsiteX33" fmla="*/ 17253 w 43451"/>
                <a:gd name="connsiteY33" fmla="*/ 44688 h 126402"/>
                <a:gd name="connsiteX34" fmla="*/ 17253 w 43451"/>
                <a:gd name="connsiteY34" fmla="*/ 72139 h 126402"/>
                <a:gd name="connsiteX35" fmla="*/ 26199 w 43451"/>
                <a:gd name="connsiteY35" fmla="*/ 72139 h 126402"/>
                <a:gd name="connsiteX36" fmla="*/ 28116 w 43451"/>
                <a:gd name="connsiteY36" fmla="*/ 76608 h 126402"/>
                <a:gd name="connsiteX37" fmla="*/ 27477 w 43451"/>
                <a:gd name="connsiteY37" fmla="*/ 79161 h 126402"/>
                <a:gd name="connsiteX38" fmla="*/ 26199 w 43451"/>
                <a:gd name="connsiteY38" fmla="*/ 81076 h 126402"/>
                <a:gd name="connsiteX39" fmla="*/ 21726 w 43451"/>
                <a:gd name="connsiteY39" fmla="*/ 82992 h 126402"/>
                <a:gd name="connsiteX40" fmla="*/ 15336 w 43451"/>
                <a:gd name="connsiteY40" fmla="*/ 76608 h 126402"/>
                <a:gd name="connsiteX41" fmla="*/ 17253 w 43451"/>
                <a:gd name="connsiteY41" fmla="*/ 72139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3451" h="126402">
                  <a:moveTo>
                    <a:pt x="0" y="126403"/>
                  </a:moveTo>
                  <a:lnTo>
                    <a:pt x="15336" y="126403"/>
                  </a:lnTo>
                  <a:lnTo>
                    <a:pt x="15336" y="104697"/>
                  </a:lnTo>
                  <a:cubicBezTo>
                    <a:pt x="15336" y="100867"/>
                    <a:pt x="17892" y="98313"/>
                    <a:pt x="21726" y="98313"/>
                  </a:cubicBezTo>
                  <a:cubicBezTo>
                    <a:pt x="25560" y="98313"/>
                    <a:pt x="28116" y="100867"/>
                    <a:pt x="28116" y="104697"/>
                  </a:cubicBezTo>
                  <a:lnTo>
                    <a:pt x="28116" y="126403"/>
                  </a:lnTo>
                  <a:lnTo>
                    <a:pt x="43451" y="126403"/>
                  </a:lnTo>
                  <a:lnTo>
                    <a:pt x="43451" y="0"/>
                  </a:lnTo>
                  <a:lnTo>
                    <a:pt x="639" y="0"/>
                  </a:lnTo>
                  <a:lnTo>
                    <a:pt x="0" y="126403"/>
                  </a:lnTo>
                  <a:close/>
                  <a:moveTo>
                    <a:pt x="17253" y="16598"/>
                  </a:moveTo>
                  <a:cubicBezTo>
                    <a:pt x="19809" y="14045"/>
                    <a:pt x="23643" y="14045"/>
                    <a:pt x="26199" y="16598"/>
                  </a:cubicBezTo>
                  <a:cubicBezTo>
                    <a:pt x="27477" y="17875"/>
                    <a:pt x="28116" y="19152"/>
                    <a:pt x="28116" y="21067"/>
                  </a:cubicBezTo>
                  <a:cubicBezTo>
                    <a:pt x="28116" y="22982"/>
                    <a:pt x="27477" y="24259"/>
                    <a:pt x="26199" y="25536"/>
                  </a:cubicBezTo>
                  <a:cubicBezTo>
                    <a:pt x="24921" y="26813"/>
                    <a:pt x="23643" y="27451"/>
                    <a:pt x="21726" y="27451"/>
                  </a:cubicBezTo>
                  <a:cubicBezTo>
                    <a:pt x="17892" y="27451"/>
                    <a:pt x="15336" y="24897"/>
                    <a:pt x="15336" y="21067"/>
                  </a:cubicBezTo>
                  <a:cubicBezTo>
                    <a:pt x="15336" y="19152"/>
                    <a:pt x="15975" y="17875"/>
                    <a:pt x="17253" y="16598"/>
                  </a:cubicBezTo>
                  <a:close/>
                  <a:moveTo>
                    <a:pt x="17253" y="44688"/>
                  </a:moveTo>
                  <a:cubicBezTo>
                    <a:pt x="18531" y="43411"/>
                    <a:pt x="21087" y="42773"/>
                    <a:pt x="23004" y="42773"/>
                  </a:cubicBezTo>
                  <a:lnTo>
                    <a:pt x="24282" y="42773"/>
                  </a:lnTo>
                  <a:cubicBezTo>
                    <a:pt x="24921" y="42773"/>
                    <a:pt x="24921" y="43411"/>
                    <a:pt x="25560" y="43411"/>
                  </a:cubicBezTo>
                  <a:cubicBezTo>
                    <a:pt x="26199" y="43411"/>
                    <a:pt x="26199" y="44049"/>
                    <a:pt x="26199" y="44049"/>
                  </a:cubicBezTo>
                  <a:cubicBezTo>
                    <a:pt x="26838" y="44688"/>
                    <a:pt x="27477" y="45326"/>
                    <a:pt x="27477" y="45965"/>
                  </a:cubicBezTo>
                  <a:cubicBezTo>
                    <a:pt x="27477" y="46603"/>
                    <a:pt x="27477" y="46603"/>
                    <a:pt x="28116" y="47241"/>
                  </a:cubicBezTo>
                  <a:cubicBezTo>
                    <a:pt x="28116" y="47880"/>
                    <a:pt x="28116" y="47880"/>
                    <a:pt x="28116" y="48518"/>
                  </a:cubicBezTo>
                  <a:cubicBezTo>
                    <a:pt x="28116" y="49157"/>
                    <a:pt x="28116" y="50433"/>
                    <a:pt x="27477" y="51072"/>
                  </a:cubicBezTo>
                  <a:cubicBezTo>
                    <a:pt x="26838" y="52349"/>
                    <a:pt x="25560" y="53625"/>
                    <a:pt x="24282" y="54264"/>
                  </a:cubicBezTo>
                  <a:cubicBezTo>
                    <a:pt x="23643" y="54902"/>
                    <a:pt x="23004" y="54902"/>
                    <a:pt x="21726" y="54902"/>
                  </a:cubicBezTo>
                  <a:cubicBezTo>
                    <a:pt x="21087" y="54902"/>
                    <a:pt x="19809" y="54902"/>
                    <a:pt x="19170" y="54264"/>
                  </a:cubicBezTo>
                  <a:cubicBezTo>
                    <a:pt x="18531" y="53625"/>
                    <a:pt x="17892" y="53625"/>
                    <a:pt x="17253" y="52987"/>
                  </a:cubicBezTo>
                  <a:cubicBezTo>
                    <a:pt x="16614" y="52349"/>
                    <a:pt x="15975" y="51710"/>
                    <a:pt x="15975" y="51072"/>
                  </a:cubicBezTo>
                  <a:cubicBezTo>
                    <a:pt x="15975" y="50433"/>
                    <a:pt x="15336" y="49795"/>
                    <a:pt x="15336" y="48518"/>
                  </a:cubicBezTo>
                  <a:cubicBezTo>
                    <a:pt x="15336" y="47241"/>
                    <a:pt x="15975" y="45965"/>
                    <a:pt x="17253" y="44688"/>
                  </a:cubicBezTo>
                  <a:lnTo>
                    <a:pt x="17253" y="44688"/>
                  </a:lnTo>
                  <a:close/>
                  <a:moveTo>
                    <a:pt x="17253" y="72139"/>
                  </a:moveTo>
                  <a:cubicBezTo>
                    <a:pt x="19809" y="69585"/>
                    <a:pt x="23643" y="69585"/>
                    <a:pt x="26199" y="72139"/>
                  </a:cubicBezTo>
                  <a:cubicBezTo>
                    <a:pt x="27477" y="73416"/>
                    <a:pt x="28116" y="74692"/>
                    <a:pt x="28116" y="76608"/>
                  </a:cubicBezTo>
                  <a:cubicBezTo>
                    <a:pt x="28116" y="77246"/>
                    <a:pt x="28116" y="78523"/>
                    <a:pt x="27477" y="79161"/>
                  </a:cubicBezTo>
                  <a:cubicBezTo>
                    <a:pt x="27477" y="79800"/>
                    <a:pt x="26838" y="80438"/>
                    <a:pt x="26199" y="81076"/>
                  </a:cubicBezTo>
                  <a:cubicBezTo>
                    <a:pt x="24921" y="82353"/>
                    <a:pt x="23643" y="82992"/>
                    <a:pt x="21726" y="82992"/>
                  </a:cubicBezTo>
                  <a:cubicBezTo>
                    <a:pt x="17892" y="82992"/>
                    <a:pt x="15336" y="80438"/>
                    <a:pt x="15336" y="76608"/>
                  </a:cubicBezTo>
                  <a:cubicBezTo>
                    <a:pt x="15336" y="75331"/>
                    <a:pt x="15975" y="73416"/>
                    <a:pt x="17253" y="72139"/>
                  </a:cubicBezTo>
                  <a:close/>
                </a:path>
              </a:pathLst>
            </a:custGeom>
            <a:grpFill/>
            <a:ln w="6390" cap="flat">
              <a:noFill/>
              <a:prstDash val="solid"/>
              <a:miter/>
            </a:ln>
          </p:spPr>
          <p:txBody>
            <a:bodyPr wrap="none" lIns="0" tIns="0" rIns="0" bIns="0" rtlCol="0" anchor="ctr"/>
            <a:lstStyle/>
            <a:p>
              <a:pPr algn="ctr"/>
              <a:endParaRPr lang="ja-JP" altLang="en-US" sz="975">
                <a:latin typeface="Meiryo UI" panose="020B0604030504040204" pitchFamily="50" charset="-128"/>
                <a:ea typeface="Meiryo UI" panose="020B0604030504040204" pitchFamily="50" charset="-128"/>
                <a:sym typeface="+mn-lt"/>
              </a:endParaRPr>
            </a:p>
          </p:txBody>
        </p:sp>
      </p:grpSp>
      <p:cxnSp>
        <p:nvCxnSpPr>
          <p:cNvPr id="173" name="直線コネクタ 172">
            <a:extLst>
              <a:ext uri="{FF2B5EF4-FFF2-40B4-BE49-F238E27FC236}">
                <a16:creationId xmlns:a16="http://schemas.microsoft.com/office/drawing/2014/main" id="{663758E1-80AF-AFE9-28D9-894543913D0B}"/>
              </a:ext>
            </a:extLst>
          </p:cNvPr>
          <p:cNvCxnSpPr>
            <a:cxnSpLocks/>
            <a:stCxn id="172" idx="0"/>
          </p:cNvCxnSpPr>
          <p:nvPr/>
        </p:nvCxnSpPr>
        <p:spPr>
          <a:xfrm flipH="1" flipV="1">
            <a:off x="5076056" y="2969573"/>
            <a:ext cx="105871" cy="397521"/>
          </a:xfrm>
          <a:prstGeom prst="line">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5" name="直線コネクタ 174">
            <a:extLst>
              <a:ext uri="{FF2B5EF4-FFF2-40B4-BE49-F238E27FC236}">
                <a16:creationId xmlns:a16="http://schemas.microsoft.com/office/drawing/2014/main" id="{65582FF7-5592-7F61-C1C6-9D47885B47E5}"/>
              </a:ext>
            </a:extLst>
          </p:cNvPr>
          <p:cNvCxnSpPr>
            <a:cxnSpLocks/>
            <a:stCxn id="172" idx="2"/>
          </p:cNvCxnSpPr>
          <p:nvPr/>
        </p:nvCxnSpPr>
        <p:spPr>
          <a:xfrm>
            <a:off x="5181927" y="4475455"/>
            <a:ext cx="513830" cy="1108361"/>
          </a:xfrm>
          <a:prstGeom prst="line">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184" name="吹き出し: 線 (枠なし) 183">
            <a:extLst>
              <a:ext uri="{FF2B5EF4-FFF2-40B4-BE49-F238E27FC236}">
                <a16:creationId xmlns:a16="http://schemas.microsoft.com/office/drawing/2014/main" id="{AB1B3268-C386-ED64-93C2-B60B4887A6D6}"/>
              </a:ext>
            </a:extLst>
          </p:cNvPr>
          <p:cNvSpPr/>
          <p:nvPr/>
        </p:nvSpPr>
        <p:spPr>
          <a:xfrm>
            <a:off x="406275" y="4087136"/>
            <a:ext cx="1834132" cy="336979"/>
          </a:xfrm>
          <a:prstGeom prst="callout1">
            <a:avLst>
              <a:gd name="adj1" fmla="val -8385"/>
              <a:gd name="adj2" fmla="val 12440"/>
              <a:gd name="adj3" fmla="val -127195"/>
              <a:gd name="adj4" fmla="val 26063"/>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eiryo UI" panose="020B0604030504040204" pitchFamily="50" charset="-128"/>
                <a:ea typeface="Meiryo UI" panose="020B0604030504040204" pitchFamily="50" charset="-128"/>
              </a:rPr>
              <a:t>省エネ法・温対法対応するために導入した企業</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85" name="吹き出し: 線 (枠なし) 184">
            <a:extLst>
              <a:ext uri="{FF2B5EF4-FFF2-40B4-BE49-F238E27FC236}">
                <a16:creationId xmlns:a16="http://schemas.microsoft.com/office/drawing/2014/main" id="{DAC27B6B-E8F7-26BC-03F2-928E7932C25E}"/>
              </a:ext>
            </a:extLst>
          </p:cNvPr>
          <p:cNvSpPr/>
          <p:nvPr/>
        </p:nvSpPr>
        <p:spPr>
          <a:xfrm>
            <a:off x="371651" y="5782073"/>
            <a:ext cx="2528188" cy="453363"/>
          </a:xfrm>
          <a:prstGeom prst="callout1">
            <a:avLst>
              <a:gd name="adj1" fmla="val 57407"/>
              <a:gd name="adj2" fmla="val 95952"/>
              <a:gd name="adj3" fmla="val 36865"/>
              <a:gd name="adj4" fmla="val 11056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eiryo UI" panose="020B0604030504040204" pitchFamily="50" charset="-128"/>
                <a:ea typeface="Meiryo UI" panose="020B0604030504040204" pitchFamily="50" charset="-128"/>
              </a:rPr>
              <a:t>温対法等の法規制には該当しないが、</a:t>
            </a:r>
            <a:r>
              <a:rPr kumimoji="1" lang="en-US" altLang="ja-JP" sz="1200">
                <a:solidFill>
                  <a:schemeClr val="tx1"/>
                </a:solidFill>
                <a:latin typeface="Meiryo UI" panose="020B0604030504040204" pitchFamily="50" charset="-128"/>
                <a:ea typeface="Meiryo UI" panose="020B0604030504040204" pitchFamily="50" charset="-128"/>
              </a:rPr>
              <a:t>GHG</a:t>
            </a:r>
            <a:r>
              <a:rPr kumimoji="1" lang="ja-JP" altLang="en-US" sz="1200">
                <a:solidFill>
                  <a:schemeClr val="tx1"/>
                </a:solidFill>
                <a:latin typeface="Meiryo UI" panose="020B0604030504040204" pitchFamily="50" charset="-128"/>
                <a:ea typeface="Meiryo UI" panose="020B0604030504040204" pitchFamily="50" charset="-128"/>
              </a:rPr>
              <a:t>算定や</a:t>
            </a:r>
            <a:r>
              <a:rPr kumimoji="1" lang="en-US" altLang="ja-JP" sz="1200">
                <a:solidFill>
                  <a:schemeClr val="tx1"/>
                </a:solidFill>
                <a:latin typeface="Meiryo UI" panose="020B0604030504040204" pitchFamily="50" charset="-128"/>
                <a:ea typeface="Meiryo UI" panose="020B0604030504040204" pitchFamily="50" charset="-128"/>
              </a:rPr>
              <a:t>CFP</a:t>
            </a:r>
            <a:r>
              <a:rPr kumimoji="1" lang="ja-JP" altLang="en-US" sz="1200">
                <a:solidFill>
                  <a:schemeClr val="tx1"/>
                </a:solidFill>
                <a:latin typeface="Meiryo UI" panose="020B0604030504040204" pitchFamily="50" charset="-128"/>
                <a:ea typeface="Meiryo UI" panose="020B0604030504040204" pitchFamily="50" charset="-128"/>
              </a:rPr>
              <a:t>算定を目的として導入した企業</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7" name="矢印: 五方向 6">
            <a:extLst>
              <a:ext uri="{FF2B5EF4-FFF2-40B4-BE49-F238E27FC236}">
                <a16:creationId xmlns:a16="http://schemas.microsoft.com/office/drawing/2014/main" id="{A76A8187-C19B-A58D-7C5B-1D54B029B77F}"/>
              </a:ext>
            </a:extLst>
          </p:cNvPr>
          <p:cNvSpPr/>
          <p:nvPr/>
        </p:nvSpPr>
        <p:spPr>
          <a:xfrm>
            <a:off x="173573" y="1656928"/>
            <a:ext cx="2959337" cy="403920"/>
          </a:xfrm>
          <a:prstGeom prst="homePlat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bg1"/>
                </a:solidFill>
                <a:latin typeface="Meiryo UI" panose="020B0604030504040204" pitchFamily="50" charset="-128"/>
                <a:ea typeface="Meiryo UI" panose="020B0604030504040204" pitchFamily="50" charset="-128"/>
              </a:rPr>
              <a:t>省エネ法・温対法（国内法）対応</a:t>
            </a:r>
          </a:p>
        </p:txBody>
      </p:sp>
      <p:sp>
        <p:nvSpPr>
          <p:cNvPr id="8" name="矢印: 五方向 7">
            <a:extLst>
              <a:ext uri="{FF2B5EF4-FFF2-40B4-BE49-F238E27FC236}">
                <a16:creationId xmlns:a16="http://schemas.microsoft.com/office/drawing/2014/main" id="{EB5FB05B-36C7-2EAC-CDE6-DC5EE18CE587}"/>
              </a:ext>
            </a:extLst>
          </p:cNvPr>
          <p:cNvSpPr/>
          <p:nvPr/>
        </p:nvSpPr>
        <p:spPr>
          <a:xfrm>
            <a:off x="3116082" y="1656928"/>
            <a:ext cx="2959337" cy="403920"/>
          </a:xfrm>
          <a:prstGeom prst="homePlat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bg1"/>
                </a:solidFill>
                <a:latin typeface="Meiryo UI" panose="020B0604030504040204" pitchFamily="50" charset="-128"/>
                <a:ea typeface="Meiryo UI" panose="020B0604030504040204" pitchFamily="50" charset="-128"/>
              </a:rPr>
              <a:t>気候変動対応の高まり</a:t>
            </a:r>
          </a:p>
        </p:txBody>
      </p:sp>
      <p:sp>
        <p:nvSpPr>
          <p:cNvPr id="9" name="矢印: 五方向 8">
            <a:extLst>
              <a:ext uri="{FF2B5EF4-FFF2-40B4-BE49-F238E27FC236}">
                <a16:creationId xmlns:a16="http://schemas.microsoft.com/office/drawing/2014/main" id="{89D1D394-9EF8-FE71-A113-3FD1EAC79BCD}"/>
              </a:ext>
            </a:extLst>
          </p:cNvPr>
          <p:cNvSpPr/>
          <p:nvPr/>
        </p:nvSpPr>
        <p:spPr>
          <a:xfrm>
            <a:off x="6075419" y="1656928"/>
            <a:ext cx="2959337" cy="403920"/>
          </a:xfrm>
          <a:prstGeom prst="homePlat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bg1"/>
                </a:solidFill>
                <a:latin typeface="Meiryo UI" panose="020B0604030504040204" pitchFamily="50" charset="-128"/>
                <a:ea typeface="Meiryo UI" panose="020B0604030504040204" pitchFamily="50" charset="-128"/>
              </a:rPr>
              <a:t>CSRD</a:t>
            </a:r>
            <a:r>
              <a:rPr kumimoji="1" lang="ja-JP" altLang="en-US" sz="1400">
                <a:solidFill>
                  <a:schemeClr val="bg1"/>
                </a:solidFill>
                <a:latin typeface="Meiryo UI" panose="020B0604030504040204" pitchFamily="50" charset="-128"/>
                <a:ea typeface="Meiryo UI" panose="020B0604030504040204" pitchFamily="50" charset="-128"/>
              </a:rPr>
              <a:t>・</a:t>
            </a:r>
            <a:r>
              <a:rPr kumimoji="1" lang="en-US" altLang="ja-JP" sz="1400">
                <a:solidFill>
                  <a:schemeClr val="bg1"/>
                </a:solidFill>
                <a:latin typeface="Meiryo UI" panose="020B0604030504040204" pitchFamily="50" charset="-128"/>
                <a:ea typeface="Meiryo UI" panose="020B0604030504040204" pitchFamily="50" charset="-128"/>
              </a:rPr>
              <a:t>ISSB</a:t>
            </a:r>
            <a:r>
              <a:rPr kumimoji="1" lang="ja-JP" altLang="en-US" sz="1400">
                <a:solidFill>
                  <a:schemeClr val="bg1"/>
                </a:solidFill>
                <a:latin typeface="Meiryo UI" panose="020B0604030504040204" pitchFamily="50" charset="-128"/>
                <a:ea typeface="Meiryo UI" panose="020B0604030504040204" pitchFamily="50" charset="-128"/>
              </a:rPr>
              <a:t>への対応</a:t>
            </a:r>
          </a:p>
        </p:txBody>
      </p:sp>
      <p:sp>
        <p:nvSpPr>
          <p:cNvPr id="10" name="正方形/長方形 9">
            <a:extLst>
              <a:ext uri="{FF2B5EF4-FFF2-40B4-BE49-F238E27FC236}">
                <a16:creationId xmlns:a16="http://schemas.microsoft.com/office/drawing/2014/main" id="{29FEB098-BC63-F628-0B41-29C2C0E23163}"/>
              </a:ext>
            </a:extLst>
          </p:cNvPr>
          <p:cNvSpPr/>
          <p:nvPr/>
        </p:nvSpPr>
        <p:spPr>
          <a:xfrm>
            <a:off x="30265" y="1463445"/>
            <a:ext cx="941200" cy="230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2000</a:t>
            </a:r>
            <a:r>
              <a:rPr kumimoji="1" lang="ja-JP" altLang="en-US" sz="1200">
                <a:solidFill>
                  <a:schemeClr val="tx1"/>
                </a:solidFill>
                <a:latin typeface="Meiryo UI" panose="020B0604030504040204" pitchFamily="50" charset="-128"/>
                <a:ea typeface="Meiryo UI" panose="020B0604030504040204" pitchFamily="50" charset="-128"/>
              </a:rPr>
              <a:t>年代</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D549943A-FAB8-8B92-FBB9-656EE4272043}"/>
              </a:ext>
            </a:extLst>
          </p:cNvPr>
          <p:cNvSpPr/>
          <p:nvPr/>
        </p:nvSpPr>
        <p:spPr>
          <a:xfrm>
            <a:off x="3019232" y="1463445"/>
            <a:ext cx="941200" cy="230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2010</a:t>
            </a:r>
            <a:r>
              <a:rPr kumimoji="1" lang="ja-JP" altLang="en-US" sz="1200">
                <a:solidFill>
                  <a:schemeClr val="tx1"/>
                </a:solidFill>
                <a:latin typeface="Meiryo UI" panose="020B0604030504040204" pitchFamily="50" charset="-128"/>
                <a:ea typeface="Meiryo UI" panose="020B0604030504040204" pitchFamily="50" charset="-128"/>
              </a:rPr>
              <a:t>年代</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0EB13F11-58BE-A089-FA87-0530F350D91D}"/>
              </a:ext>
            </a:extLst>
          </p:cNvPr>
          <p:cNvSpPr/>
          <p:nvPr/>
        </p:nvSpPr>
        <p:spPr>
          <a:xfrm>
            <a:off x="5949585" y="1463445"/>
            <a:ext cx="941200" cy="230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2020</a:t>
            </a:r>
            <a:r>
              <a:rPr kumimoji="1" lang="ja-JP" altLang="en-US" sz="1200">
                <a:solidFill>
                  <a:schemeClr val="tx1"/>
                </a:solidFill>
                <a:latin typeface="Meiryo UI" panose="020B0604030504040204" pitchFamily="50" charset="-128"/>
                <a:ea typeface="Meiryo UI" panose="020B0604030504040204" pitchFamily="50" charset="-128"/>
              </a:rPr>
              <a:t>年代</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A18F8C18-7E45-A19E-94EF-AF03835BE837}"/>
              </a:ext>
            </a:extLst>
          </p:cNvPr>
          <p:cNvSpPr/>
          <p:nvPr/>
        </p:nvSpPr>
        <p:spPr>
          <a:xfrm>
            <a:off x="1217165" y="2637415"/>
            <a:ext cx="1898917" cy="2155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bg1"/>
                </a:solidFill>
                <a:latin typeface="Meiryo UI" panose="020B0604030504040204" pitchFamily="50" charset="-128"/>
                <a:ea typeface="Meiryo UI" panose="020B0604030504040204" pitchFamily="50" charset="-128"/>
              </a:rPr>
              <a:t>大手</a:t>
            </a:r>
            <a:r>
              <a:rPr kumimoji="1" lang="en-US" altLang="ja-JP" sz="1200">
                <a:solidFill>
                  <a:schemeClr val="bg1"/>
                </a:solidFill>
                <a:latin typeface="Meiryo UI" panose="020B0604030504040204" pitchFamily="50" charset="-128"/>
                <a:ea typeface="Meiryo UI" panose="020B0604030504040204" pitchFamily="50" charset="-128"/>
              </a:rPr>
              <a:t>SI</a:t>
            </a:r>
            <a:r>
              <a:rPr kumimoji="1" lang="ja-JP" altLang="en-US" sz="1200">
                <a:solidFill>
                  <a:schemeClr val="bg1"/>
                </a:solidFill>
                <a:latin typeface="Meiryo UI" panose="020B0604030504040204" pitchFamily="50" charset="-128"/>
                <a:ea typeface="Meiryo UI" panose="020B0604030504040204" pitchFamily="50" charset="-128"/>
              </a:rPr>
              <a:t>会社がツールを開発</a:t>
            </a:r>
            <a:endParaRPr kumimoji="1" lang="en-US" altLang="ja-JP" sz="1200">
              <a:solidFill>
                <a:schemeClr val="bg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C9402EFF-AFCE-4CE5-0329-FDD536351D3F}"/>
              </a:ext>
            </a:extLst>
          </p:cNvPr>
          <p:cNvSpPr/>
          <p:nvPr/>
        </p:nvSpPr>
        <p:spPr>
          <a:xfrm>
            <a:off x="3512573" y="5137157"/>
            <a:ext cx="1898917" cy="2155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bg1"/>
                </a:solidFill>
                <a:latin typeface="Meiryo UI" panose="020B0604030504040204" pitchFamily="50" charset="-128"/>
                <a:ea typeface="Meiryo UI" panose="020B0604030504040204" pitchFamily="50" charset="-128"/>
              </a:rPr>
              <a:t>気候変動特化のツール</a:t>
            </a:r>
            <a:endParaRPr kumimoji="1" lang="en-US" altLang="ja-JP" sz="1200">
              <a:solidFill>
                <a:schemeClr val="bg1"/>
              </a:solidFill>
              <a:latin typeface="Meiryo UI" panose="020B0604030504040204" pitchFamily="50" charset="-128"/>
              <a:ea typeface="Meiryo UI" panose="020B0604030504040204" pitchFamily="50" charset="-128"/>
            </a:endParaRPr>
          </a:p>
        </p:txBody>
      </p:sp>
      <p:sp>
        <p:nvSpPr>
          <p:cNvPr id="5" name="楕円 4">
            <a:extLst>
              <a:ext uri="{FF2B5EF4-FFF2-40B4-BE49-F238E27FC236}">
                <a16:creationId xmlns:a16="http://schemas.microsoft.com/office/drawing/2014/main" id="{4F1292F5-F502-5DFC-8DD7-354985BB2FA6}"/>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21250354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2ED305-18C3-B12D-D91F-214E415BEF36}"/>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参考</a:t>
            </a:r>
            <a:r>
              <a:rPr lang="en-US" altLang="ja-JP">
                <a:latin typeface="Meiryo UI" panose="020B0604030504040204" pitchFamily="50" charset="-128"/>
                <a:ea typeface="Meiryo UI" panose="020B0604030504040204" pitchFamily="50" charset="-128"/>
              </a:rPr>
              <a:t>】ESG</a:t>
            </a:r>
            <a:r>
              <a:rPr kumimoji="1" lang="ja-JP" altLang="en-US">
                <a:latin typeface="Meiryo UI" panose="020B0604030504040204" pitchFamily="50" charset="-128"/>
                <a:ea typeface="Meiryo UI" panose="020B0604030504040204" pitchFamily="50" charset="-128"/>
              </a:rPr>
              <a:t>調査レポート概要</a:t>
            </a:r>
          </a:p>
        </p:txBody>
      </p:sp>
      <p:sp>
        <p:nvSpPr>
          <p:cNvPr id="3" name="スライド番号プレースホルダー 2">
            <a:extLst>
              <a:ext uri="{FF2B5EF4-FFF2-40B4-BE49-F238E27FC236}">
                <a16:creationId xmlns:a16="http://schemas.microsoft.com/office/drawing/2014/main" id="{C473DF66-3ED6-C47F-B405-072D71D3102A}"/>
              </a:ext>
            </a:extLst>
          </p:cNvPr>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39</a:t>
            </a:fld>
            <a:endParaRPr kumimoji="1" lang="ja-JP" altLang="en-US">
              <a:latin typeface="Meiryo UI" panose="020B0604030504040204" pitchFamily="50" charset="-128"/>
              <a:ea typeface="Meiryo UI" panose="020B0604030504040204" pitchFamily="50" charset="-128"/>
            </a:endParaRPr>
          </a:p>
        </p:txBody>
      </p:sp>
      <p:sp>
        <p:nvSpPr>
          <p:cNvPr id="4" name="テキスト プレースホルダー 3">
            <a:extLst>
              <a:ext uri="{FF2B5EF4-FFF2-40B4-BE49-F238E27FC236}">
                <a16:creationId xmlns:a16="http://schemas.microsoft.com/office/drawing/2014/main" id="{CDCD8FB2-6E81-1BD2-FCA8-FB90111075EE}"/>
              </a:ext>
            </a:extLst>
          </p:cNvPr>
          <p:cNvSpPr>
            <a:spLocks noGrp="1"/>
          </p:cNvSpPr>
          <p:nvPr>
            <p:ph type="body" sz="quarter" idx="13"/>
          </p:nvPr>
        </p:nvSpPr>
        <p:spPr/>
        <p:txBody>
          <a:bodyPr>
            <a:noAutofit/>
          </a:bodyPr>
          <a:lstStyle/>
          <a:p>
            <a:r>
              <a:rPr kumimoji="1" lang="en-US" altLang="ja-JP" err="1"/>
              <a:t>Verdantix</a:t>
            </a:r>
            <a:r>
              <a:rPr lang="ja-JP" altLang="en-US"/>
              <a:t>・</a:t>
            </a:r>
            <a:r>
              <a:rPr kumimoji="1" lang="en-US" altLang="ja-JP"/>
              <a:t>IDC</a:t>
            </a:r>
            <a:r>
              <a:rPr kumimoji="1" lang="ja-JP" altLang="en-US"/>
              <a:t>は市場分析だけでなく、異なる観点からそれぞれの</a:t>
            </a:r>
            <a:r>
              <a:rPr kumimoji="1" lang="en-US" altLang="ja-JP"/>
              <a:t>ESG</a:t>
            </a:r>
            <a:r>
              <a:rPr kumimoji="1" lang="ja-JP" altLang="en-US"/>
              <a:t>ソリューションベンダーを詳細に評価し、</a:t>
            </a:r>
            <a:r>
              <a:rPr kumimoji="1" lang="en-US" altLang="ja-JP"/>
              <a:t>Leader</a:t>
            </a:r>
            <a:r>
              <a:rPr kumimoji="1" lang="ja-JP" altLang="en-US"/>
              <a:t>を定義している。</a:t>
            </a:r>
            <a:r>
              <a:rPr kumimoji="1" lang="en-US" altLang="ja-JP"/>
              <a:t>Garter</a:t>
            </a:r>
            <a:r>
              <a:rPr kumimoji="1" lang="ja-JP" altLang="en-US"/>
              <a:t>は</a:t>
            </a:r>
            <a:r>
              <a:rPr lang="ja-JP" altLang="en-US"/>
              <a:t>ベンダーの詳細評価ではなく、</a:t>
            </a:r>
            <a:r>
              <a:rPr lang="en-US" altLang="ja-JP"/>
              <a:t>ESG</a:t>
            </a:r>
            <a:r>
              <a:rPr lang="ja-JP" altLang="en-US"/>
              <a:t>市場全体を分析している</a:t>
            </a:r>
            <a:endParaRPr kumimoji="1" lang="ja-JP" altLang="en-US"/>
          </a:p>
        </p:txBody>
      </p:sp>
      <p:sp>
        <p:nvSpPr>
          <p:cNvPr id="6" name="正方形/長方形 5">
            <a:extLst>
              <a:ext uri="{FF2B5EF4-FFF2-40B4-BE49-F238E27FC236}">
                <a16:creationId xmlns:a16="http://schemas.microsoft.com/office/drawing/2014/main" id="{61E72D47-DAA3-0814-6D6A-B0D17FB8A638}"/>
              </a:ext>
            </a:extLst>
          </p:cNvPr>
          <p:cNvSpPr/>
          <p:nvPr/>
        </p:nvSpPr>
        <p:spPr>
          <a:xfrm>
            <a:off x="1335274" y="1573373"/>
            <a:ext cx="2396475" cy="312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err="1">
                <a:solidFill>
                  <a:schemeClr val="tx1"/>
                </a:solidFill>
                <a:latin typeface="Meiryo UI" panose="020B0604030504040204" pitchFamily="50" charset="-128"/>
                <a:ea typeface="Meiryo UI" panose="020B0604030504040204" pitchFamily="50" charset="-128"/>
              </a:rPr>
              <a:t>Verdantix</a:t>
            </a:r>
            <a:endParaRPr kumimoji="1" lang="ja-JP" altLang="en-US">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A58A8987-452D-350B-0171-29FE11D50A85}"/>
              </a:ext>
            </a:extLst>
          </p:cNvPr>
          <p:cNvSpPr/>
          <p:nvPr/>
        </p:nvSpPr>
        <p:spPr>
          <a:xfrm>
            <a:off x="3879399" y="1573373"/>
            <a:ext cx="2396475" cy="312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Meiryo UI" panose="020B0604030504040204" pitchFamily="50" charset="-128"/>
                <a:ea typeface="Meiryo UI" panose="020B0604030504040204" pitchFamily="50" charset="-128"/>
              </a:rPr>
              <a:t>IDC</a:t>
            </a:r>
            <a:endParaRPr kumimoji="1" lang="ja-JP" altLang="en-US">
              <a:solidFill>
                <a:schemeClr val="tx1"/>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04419CD7-814D-4DBE-C1D3-499736E9CB82}"/>
              </a:ext>
            </a:extLst>
          </p:cNvPr>
          <p:cNvSpPr/>
          <p:nvPr/>
        </p:nvSpPr>
        <p:spPr>
          <a:xfrm>
            <a:off x="6423524" y="1573373"/>
            <a:ext cx="2396475" cy="312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Meiryo UI" panose="020B0604030504040204" pitchFamily="50" charset="-128"/>
                <a:ea typeface="Meiryo UI" panose="020B0604030504040204" pitchFamily="50" charset="-128"/>
              </a:rPr>
              <a:t>Gartner</a:t>
            </a:r>
            <a:endParaRPr kumimoji="1" lang="ja-JP" altLang="en-US">
              <a:solidFill>
                <a:schemeClr val="tx1"/>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FB142BF0-EE52-9894-159D-48EA3B483B24}"/>
              </a:ext>
            </a:extLst>
          </p:cNvPr>
          <p:cNvSpPr/>
          <p:nvPr/>
        </p:nvSpPr>
        <p:spPr>
          <a:xfrm>
            <a:off x="1335274" y="1916958"/>
            <a:ext cx="2396475" cy="12887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1200" err="1">
                <a:solidFill>
                  <a:schemeClr val="tx1"/>
                </a:solidFill>
                <a:latin typeface="Meiryo UI" panose="020B0604030504040204" pitchFamily="50" charset="-128"/>
                <a:ea typeface="Meiryo UI" panose="020B0604030504040204" pitchFamily="50" charset="-128"/>
              </a:rPr>
              <a:t>Verdantix</a:t>
            </a:r>
            <a:r>
              <a:rPr kumimoji="1" lang="ja-JP" altLang="en-US" sz="1200">
                <a:solidFill>
                  <a:schemeClr val="tx1"/>
                </a:solidFill>
                <a:latin typeface="Meiryo UI" panose="020B0604030504040204" pitchFamily="50" charset="-128"/>
                <a:ea typeface="Meiryo UI" panose="020B0604030504040204" pitchFamily="50" charset="-128"/>
              </a:rPr>
              <a:t>は、</a:t>
            </a:r>
            <a:r>
              <a:rPr kumimoji="1" lang="en-US" altLang="ja-JP" sz="1200" b="1" u="sng">
                <a:solidFill>
                  <a:schemeClr val="tx1"/>
                </a:solidFill>
                <a:latin typeface="Meiryo UI" panose="020B0604030504040204" pitchFamily="50" charset="-128"/>
                <a:ea typeface="Meiryo UI" panose="020B0604030504040204" pitchFamily="50" charset="-128"/>
              </a:rPr>
              <a:t>ESG</a:t>
            </a:r>
            <a:r>
              <a:rPr kumimoji="1" lang="ja-JP" altLang="en-US" sz="1200" b="1" u="sng">
                <a:solidFill>
                  <a:schemeClr val="tx1"/>
                </a:solidFill>
                <a:latin typeface="Meiryo UI" panose="020B0604030504040204" pitchFamily="50" charset="-128"/>
                <a:ea typeface="Meiryo UI" panose="020B0604030504040204" pitchFamily="50" charset="-128"/>
              </a:rPr>
              <a:t>やサステナビリティ、環境管理に特化した市場調査会社</a:t>
            </a:r>
            <a:r>
              <a:rPr kumimoji="1" lang="ja-JP" altLang="en-US" sz="1200">
                <a:solidFill>
                  <a:schemeClr val="tx1"/>
                </a:solidFill>
                <a:latin typeface="Meiryo UI" panose="020B0604030504040204" pitchFamily="50" charset="-128"/>
                <a:ea typeface="Meiryo UI" panose="020B0604030504040204" pitchFamily="50" charset="-128"/>
              </a:rPr>
              <a:t>。特に企業が環境・安全・サステナビリティ戦略を実行するための技術やソリューションに焦点を当てている</a:t>
            </a:r>
          </a:p>
        </p:txBody>
      </p:sp>
      <p:sp>
        <p:nvSpPr>
          <p:cNvPr id="12" name="正方形/長方形 11">
            <a:extLst>
              <a:ext uri="{FF2B5EF4-FFF2-40B4-BE49-F238E27FC236}">
                <a16:creationId xmlns:a16="http://schemas.microsoft.com/office/drawing/2014/main" id="{76726552-3B4C-9984-D78D-85633B503502}"/>
              </a:ext>
            </a:extLst>
          </p:cNvPr>
          <p:cNvSpPr/>
          <p:nvPr/>
        </p:nvSpPr>
        <p:spPr>
          <a:xfrm>
            <a:off x="3879399" y="1916958"/>
            <a:ext cx="2396475" cy="12887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1200">
                <a:solidFill>
                  <a:schemeClr val="tx1"/>
                </a:solidFill>
                <a:latin typeface="Meiryo UI" panose="020B0604030504040204" pitchFamily="50" charset="-128"/>
                <a:ea typeface="Meiryo UI" panose="020B0604030504040204" pitchFamily="50" charset="-128"/>
              </a:rPr>
              <a:t>IDC</a:t>
            </a:r>
            <a:r>
              <a:rPr kumimoji="1" lang="ja-JP" altLang="en-US" sz="1200">
                <a:solidFill>
                  <a:schemeClr val="tx1"/>
                </a:solidFill>
                <a:latin typeface="Meiryo UI" panose="020B0604030504040204" pitchFamily="50" charset="-128"/>
                <a:ea typeface="Meiryo UI" panose="020B0604030504040204" pitchFamily="50" charset="-128"/>
              </a:rPr>
              <a:t>は、</a:t>
            </a:r>
            <a:r>
              <a:rPr kumimoji="1" lang="en-US" altLang="ja-JP" sz="1200" b="1" u="sng">
                <a:solidFill>
                  <a:schemeClr val="tx1"/>
                </a:solidFill>
                <a:latin typeface="Meiryo UI" panose="020B0604030504040204" pitchFamily="50" charset="-128"/>
                <a:ea typeface="Meiryo UI" panose="020B0604030504040204" pitchFamily="50" charset="-128"/>
              </a:rPr>
              <a:t>IT</a:t>
            </a:r>
            <a:r>
              <a:rPr kumimoji="1" lang="ja-JP" altLang="en-US" sz="1200" b="1" u="sng">
                <a:solidFill>
                  <a:schemeClr val="tx1"/>
                </a:solidFill>
                <a:latin typeface="Meiryo UI" panose="020B0604030504040204" pitchFamily="50" charset="-128"/>
                <a:ea typeface="Meiryo UI" panose="020B0604030504040204" pitchFamily="50" charset="-128"/>
              </a:rPr>
              <a:t>、デジタル変革、テクノロジー市場の調査を行う有名な調査会社</a:t>
            </a:r>
            <a:r>
              <a:rPr kumimoji="1" lang="ja-JP" altLang="en-US" sz="1200">
                <a:solidFill>
                  <a:schemeClr val="tx1"/>
                </a:solidFill>
                <a:latin typeface="Meiryo UI" panose="020B0604030504040204" pitchFamily="50" charset="-128"/>
                <a:ea typeface="Meiryo UI" panose="020B0604030504040204" pitchFamily="50" charset="-128"/>
              </a:rPr>
              <a:t>であり、</a:t>
            </a:r>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に関しても技術的な視点から分析を提供している</a:t>
            </a:r>
          </a:p>
        </p:txBody>
      </p:sp>
      <p:sp>
        <p:nvSpPr>
          <p:cNvPr id="13" name="正方形/長方形 12">
            <a:extLst>
              <a:ext uri="{FF2B5EF4-FFF2-40B4-BE49-F238E27FC236}">
                <a16:creationId xmlns:a16="http://schemas.microsoft.com/office/drawing/2014/main" id="{87F77847-6237-51EF-2D85-F9240A7BE6F5}"/>
              </a:ext>
            </a:extLst>
          </p:cNvPr>
          <p:cNvSpPr/>
          <p:nvPr/>
        </p:nvSpPr>
        <p:spPr>
          <a:xfrm>
            <a:off x="6423524" y="1916958"/>
            <a:ext cx="2396475" cy="12887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1200">
                <a:solidFill>
                  <a:schemeClr val="tx1"/>
                </a:solidFill>
                <a:latin typeface="Meiryo UI" panose="020B0604030504040204" pitchFamily="50" charset="-128"/>
                <a:ea typeface="Meiryo UI" panose="020B0604030504040204" pitchFamily="50" charset="-128"/>
              </a:rPr>
              <a:t>Gartner</a:t>
            </a:r>
            <a:r>
              <a:rPr kumimoji="1" lang="ja-JP" altLang="en-US" sz="1200">
                <a:solidFill>
                  <a:schemeClr val="tx1"/>
                </a:solidFill>
                <a:latin typeface="Meiryo UI" panose="020B0604030504040204" pitchFamily="50" charset="-128"/>
                <a:ea typeface="Meiryo UI" panose="020B0604030504040204" pitchFamily="50" charset="-128"/>
              </a:rPr>
              <a:t>は、</a:t>
            </a:r>
            <a:r>
              <a:rPr kumimoji="1" lang="en-US" altLang="ja-JP" sz="1200" b="1" u="sng">
                <a:solidFill>
                  <a:schemeClr val="tx1"/>
                </a:solidFill>
                <a:latin typeface="Meiryo UI" panose="020B0604030504040204" pitchFamily="50" charset="-128"/>
                <a:ea typeface="Meiryo UI" panose="020B0604030504040204" pitchFamily="50" charset="-128"/>
              </a:rPr>
              <a:t>IT</a:t>
            </a:r>
            <a:r>
              <a:rPr kumimoji="1" lang="ja-JP" altLang="en-US" sz="1200" b="1" u="sng">
                <a:solidFill>
                  <a:schemeClr val="tx1"/>
                </a:solidFill>
                <a:latin typeface="Meiryo UI" panose="020B0604030504040204" pitchFamily="50" charset="-128"/>
                <a:ea typeface="Meiryo UI" panose="020B0604030504040204" pitchFamily="50" charset="-128"/>
              </a:rPr>
              <a:t>やビジネス戦略に関する調査で非常に広範囲の分析を行う調査会社</a:t>
            </a:r>
            <a:r>
              <a:rPr kumimoji="1" lang="ja-JP" altLang="en-US" sz="1200">
                <a:solidFill>
                  <a:schemeClr val="tx1"/>
                </a:solidFill>
                <a:latin typeface="Meiryo UI" panose="020B0604030504040204" pitchFamily="50" charset="-128"/>
                <a:ea typeface="Meiryo UI" panose="020B0604030504040204" pitchFamily="50" charset="-128"/>
              </a:rPr>
              <a:t>であり、</a:t>
            </a:r>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についても企業戦略やテクノロジーの観点で洞察を提供している</a:t>
            </a:r>
          </a:p>
        </p:txBody>
      </p:sp>
      <p:sp>
        <p:nvSpPr>
          <p:cNvPr id="14" name="正方形/長方形 13">
            <a:extLst>
              <a:ext uri="{FF2B5EF4-FFF2-40B4-BE49-F238E27FC236}">
                <a16:creationId xmlns:a16="http://schemas.microsoft.com/office/drawing/2014/main" id="{5D76C2B5-2035-9EFD-7DED-3BAAFE6A6781}"/>
              </a:ext>
            </a:extLst>
          </p:cNvPr>
          <p:cNvSpPr/>
          <p:nvPr/>
        </p:nvSpPr>
        <p:spPr>
          <a:xfrm>
            <a:off x="180117" y="1916958"/>
            <a:ext cx="1007507" cy="128879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bg1"/>
                </a:solidFill>
                <a:latin typeface="Meiryo UI" panose="020B0604030504040204" pitchFamily="50" charset="-128"/>
                <a:ea typeface="Meiryo UI" panose="020B0604030504040204" pitchFamily="50" charset="-128"/>
              </a:rPr>
              <a:t>調査会社概要</a:t>
            </a:r>
          </a:p>
        </p:txBody>
      </p:sp>
      <p:sp>
        <p:nvSpPr>
          <p:cNvPr id="16" name="正方形/長方形 15">
            <a:extLst>
              <a:ext uri="{FF2B5EF4-FFF2-40B4-BE49-F238E27FC236}">
                <a16:creationId xmlns:a16="http://schemas.microsoft.com/office/drawing/2014/main" id="{0B76164F-13C4-47B3-5D95-6C066AAA5BB0}"/>
              </a:ext>
            </a:extLst>
          </p:cNvPr>
          <p:cNvSpPr/>
          <p:nvPr/>
        </p:nvSpPr>
        <p:spPr>
          <a:xfrm>
            <a:off x="180117" y="3284982"/>
            <a:ext cx="1007507" cy="23385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bg1"/>
                </a:solidFill>
                <a:latin typeface="Meiryo UI" panose="020B0604030504040204" pitchFamily="50" charset="-128"/>
                <a:ea typeface="Meiryo UI" panose="020B0604030504040204" pitchFamily="50" charset="-128"/>
              </a:rPr>
              <a:t>調査の</a:t>
            </a:r>
            <a:endParaRPr kumimoji="1" lang="en-US" altLang="ja-JP" sz="1600">
              <a:solidFill>
                <a:schemeClr val="bg1"/>
              </a:solidFill>
              <a:latin typeface="Meiryo UI" panose="020B0604030504040204" pitchFamily="50" charset="-128"/>
              <a:ea typeface="Meiryo UI" panose="020B0604030504040204" pitchFamily="50" charset="-128"/>
            </a:endParaRPr>
          </a:p>
          <a:p>
            <a:pPr algn="ctr"/>
            <a:r>
              <a:rPr kumimoji="1" lang="ja-JP" altLang="en-US" sz="1600">
                <a:solidFill>
                  <a:schemeClr val="bg1"/>
                </a:solidFill>
                <a:latin typeface="Meiryo UI" panose="020B0604030504040204" pitchFamily="50" charset="-128"/>
                <a:ea typeface="Meiryo UI" panose="020B0604030504040204" pitchFamily="50" charset="-128"/>
              </a:rPr>
              <a:t>特徴</a:t>
            </a:r>
          </a:p>
        </p:txBody>
      </p:sp>
      <p:sp>
        <p:nvSpPr>
          <p:cNvPr id="17" name="正方形/長方形 16">
            <a:extLst>
              <a:ext uri="{FF2B5EF4-FFF2-40B4-BE49-F238E27FC236}">
                <a16:creationId xmlns:a16="http://schemas.microsoft.com/office/drawing/2014/main" id="{C0255685-BC4F-A651-3A62-FD986CCEEBE3}"/>
              </a:ext>
            </a:extLst>
          </p:cNvPr>
          <p:cNvSpPr/>
          <p:nvPr/>
        </p:nvSpPr>
        <p:spPr>
          <a:xfrm>
            <a:off x="180117" y="5702746"/>
            <a:ext cx="1007507" cy="53317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bg1"/>
                </a:solidFill>
                <a:latin typeface="Meiryo UI" panose="020B0604030504040204" pitchFamily="50" charset="-128"/>
                <a:ea typeface="Meiryo UI" panose="020B0604030504040204" pitchFamily="50" charset="-128"/>
              </a:rPr>
              <a:t>レポート</a:t>
            </a:r>
            <a:endParaRPr kumimoji="1" lang="en-US" altLang="ja-JP" sz="1600">
              <a:solidFill>
                <a:schemeClr val="bg1"/>
              </a:solidFill>
              <a:latin typeface="Meiryo UI" panose="020B0604030504040204" pitchFamily="50" charset="-128"/>
              <a:ea typeface="Meiryo UI" panose="020B0604030504040204" pitchFamily="50" charset="-128"/>
            </a:endParaRPr>
          </a:p>
          <a:p>
            <a:pPr algn="ctr"/>
            <a:r>
              <a:rPr kumimoji="1" lang="ja-JP" altLang="en-US" sz="1600">
                <a:solidFill>
                  <a:schemeClr val="bg1"/>
                </a:solidFill>
                <a:latin typeface="Meiryo UI" panose="020B0604030504040204" pitchFamily="50" charset="-128"/>
                <a:ea typeface="Meiryo UI" panose="020B0604030504040204" pitchFamily="50" charset="-128"/>
              </a:rPr>
              <a:t>形式</a:t>
            </a:r>
            <a:endParaRPr kumimoji="1" lang="en-US" altLang="ja-JP" sz="1600">
              <a:solidFill>
                <a:schemeClr val="bg1"/>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ADFAF8C0-74C4-5B2E-7144-852D02857684}"/>
              </a:ext>
            </a:extLst>
          </p:cNvPr>
          <p:cNvSpPr/>
          <p:nvPr/>
        </p:nvSpPr>
        <p:spPr>
          <a:xfrm>
            <a:off x="1335274" y="3284984"/>
            <a:ext cx="2396475" cy="23385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9388" indent="-179388">
              <a:buFont typeface="Wingdings" panose="05000000000000000000" pitchFamily="2" charset="2"/>
              <a:buChar char="ü"/>
            </a:pPr>
            <a:r>
              <a:rPr kumimoji="1" lang="en-US" altLang="ja-JP" sz="1200" b="1">
                <a:solidFill>
                  <a:schemeClr val="tx1"/>
                </a:solidFill>
                <a:latin typeface="Meiryo UI" panose="020B0604030504040204" pitchFamily="50" charset="-128"/>
                <a:ea typeface="Meiryo UI" panose="020B0604030504040204" pitchFamily="50" charset="-128"/>
              </a:rPr>
              <a:t>ESG</a:t>
            </a:r>
            <a:r>
              <a:rPr kumimoji="1" lang="ja-JP" altLang="en-US" sz="1200" b="1">
                <a:solidFill>
                  <a:schemeClr val="tx1"/>
                </a:solidFill>
                <a:latin typeface="Meiryo UI" panose="020B0604030504040204" pitchFamily="50" charset="-128"/>
                <a:ea typeface="Meiryo UI" panose="020B0604030504040204" pitchFamily="50" charset="-128"/>
              </a:rPr>
              <a:t>特化のソリューショントレンド調査</a:t>
            </a:r>
            <a:endParaRPr kumimoji="1" lang="en-US" altLang="ja-JP" sz="1200" b="1">
              <a:solidFill>
                <a:schemeClr val="tx1"/>
              </a:solidFill>
              <a:latin typeface="Meiryo UI" panose="020B0604030504040204" pitchFamily="50" charset="-128"/>
              <a:ea typeface="Meiryo UI" panose="020B0604030504040204" pitchFamily="50" charset="-128"/>
            </a:endParaRPr>
          </a:p>
          <a:p>
            <a:pPr marL="269875"/>
            <a:r>
              <a:rPr kumimoji="1" lang="en-US" altLang="ja-JP" sz="1200" err="1">
                <a:solidFill>
                  <a:schemeClr val="tx1"/>
                </a:solidFill>
                <a:latin typeface="Meiryo UI" panose="020B0604030504040204" pitchFamily="50" charset="-128"/>
                <a:ea typeface="Meiryo UI" panose="020B0604030504040204" pitchFamily="50" charset="-128"/>
              </a:rPr>
              <a:t>Verdantix</a:t>
            </a:r>
            <a:r>
              <a:rPr kumimoji="1" lang="ja-JP" altLang="en-US" sz="1200">
                <a:solidFill>
                  <a:schemeClr val="tx1"/>
                </a:solidFill>
                <a:latin typeface="Meiryo UI" panose="020B0604030504040204" pitchFamily="50" charset="-128"/>
                <a:ea typeface="Meiryo UI" panose="020B0604030504040204" pitchFamily="50" charset="-128"/>
              </a:rPr>
              <a:t>は、</a:t>
            </a:r>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関連のソフトウェア、プラットフォーム、技術ソリューションに特化した分析を提供</a:t>
            </a:r>
            <a:endParaRPr kumimoji="1" lang="en-US" altLang="ja-JP" sz="1200">
              <a:solidFill>
                <a:schemeClr val="tx1"/>
              </a:solidFill>
              <a:latin typeface="Meiryo UI" panose="020B0604030504040204" pitchFamily="50" charset="-128"/>
              <a:ea typeface="Meiryo UI" panose="020B0604030504040204" pitchFamily="50" charset="-128"/>
            </a:endParaRPr>
          </a:p>
          <a:p>
            <a:pPr marL="179388" indent="-179388">
              <a:buFont typeface="Wingdings" panose="05000000000000000000" pitchFamily="2" charset="2"/>
              <a:buChar char="ü"/>
            </a:pPr>
            <a:r>
              <a:rPr kumimoji="1" lang="ja-JP" altLang="en-US" sz="1200" b="1">
                <a:solidFill>
                  <a:schemeClr val="tx1"/>
                </a:solidFill>
                <a:latin typeface="Meiryo UI" panose="020B0604030504040204" pitchFamily="50" charset="-128"/>
                <a:ea typeface="Meiryo UI" panose="020B0604030504040204" pitchFamily="50" charset="-128"/>
              </a:rPr>
              <a:t>詳細なベンダー評価</a:t>
            </a:r>
            <a:endParaRPr kumimoji="1" lang="en-US" altLang="ja-JP" sz="1200" b="1">
              <a:solidFill>
                <a:schemeClr val="tx1"/>
              </a:solidFill>
              <a:latin typeface="Meiryo UI" panose="020B0604030504040204" pitchFamily="50" charset="-128"/>
              <a:ea typeface="Meiryo UI" panose="020B0604030504040204" pitchFamily="50" charset="-128"/>
            </a:endParaRPr>
          </a:p>
          <a:p>
            <a:pPr marL="269875"/>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Green Quadrant</a:t>
            </a:r>
            <a:r>
              <a:rPr kumimoji="1" lang="ja-JP" altLang="en-US" sz="1200">
                <a:solidFill>
                  <a:schemeClr val="tx1"/>
                </a:solidFill>
                <a:latin typeface="Meiryo UI" panose="020B0604030504040204" pitchFamily="50" charset="-128"/>
                <a:ea typeface="Meiryo UI" panose="020B0604030504040204" pitchFamily="50" charset="-128"/>
              </a:rPr>
              <a:t>」フレームワークを使用し、市場内の主要ベンダーをケイパビリティとモメンタムで定量的に評価し、</a:t>
            </a:r>
            <a:r>
              <a:rPr kumimoji="1" lang="en-US" altLang="ja-JP" sz="1200">
                <a:solidFill>
                  <a:schemeClr val="tx1"/>
                </a:solidFill>
                <a:latin typeface="Meiryo UI" panose="020B0604030504040204" pitchFamily="50" charset="-128"/>
                <a:ea typeface="Meiryo UI" panose="020B0604030504040204" pitchFamily="50" charset="-128"/>
              </a:rPr>
              <a:t>Leader</a:t>
            </a:r>
            <a:r>
              <a:rPr kumimoji="1" lang="ja-JP" altLang="en-US" sz="1200">
                <a:solidFill>
                  <a:schemeClr val="tx1"/>
                </a:solidFill>
                <a:latin typeface="Meiryo UI" panose="020B0604030504040204" pitchFamily="50" charset="-128"/>
                <a:ea typeface="Meiryo UI" panose="020B0604030504040204" pitchFamily="50" charset="-128"/>
              </a:rPr>
              <a:t>を定義している</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11005DE9-4AEC-98F7-4301-113CF69CBCF6}"/>
              </a:ext>
            </a:extLst>
          </p:cNvPr>
          <p:cNvSpPr/>
          <p:nvPr/>
        </p:nvSpPr>
        <p:spPr>
          <a:xfrm>
            <a:off x="3879399" y="5702746"/>
            <a:ext cx="2396475" cy="5331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en-US" altLang="ja-JP" sz="1100">
                <a:solidFill>
                  <a:schemeClr val="tx1"/>
                </a:solidFill>
                <a:latin typeface="Meiryo UI" panose="020B0604030504040204" pitchFamily="50" charset="-128"/>
                <a:ea typeface="Meiryo UI" panose="020B0604030504040204" pitchFamily="50" charset="-128"/>
              </a:rPr>
              <a:t>IDC </a:t>
            </a:r>
            <a:r>
              <a:rPr kumimoji="1" lang="en-US" altLang="ja-JP" sz="1100" err="1">
                <a:solidFill>
                  <a:schemeClr val="tx1"/>
                </a:solidFill>
                <a:latin typeface="Meiryo UI" panose="020B0604030504040204" pitchFamily="50" charset="-128"/>
                <a:ea typeface="Meiryo UI" panose="020B0604030504040204" pitchFamily="50" charset="-128"/>
              </a:rPr>
              <a:t>MarketScape</a:t>
            </a:r>
            <a:endParaRPr kumimoji="1" lang="en-US" altLang="ja-JP" sz="1100">
              <a:solidFill>
                <a:schemeClr val="tx1"/>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D6D178C2-D4DC-C75C-F015-42BA87011E13}"/>
              </a:ext>
            </a:extLst>
          </p:cNvPr>
          <p:cNvSpPr/>
          <p:nvPr/>
        </p:nvSpPr>
        <p:spPr>
          <a:xfrm>
            <a:off x="1335274" y="5702746"/>
            <a:ext cx="2396475" cy="5331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en-US" altLang="ja-JP" sz="1100">
                <a:solidFill>
                  <a:schemeClr val="tx1"/>
                </a:solidFill>
                <a:latin typeface="Meiryo UI" panose="020B0604030504040204" pitchFamily="50" charset="-128"/>
                <a:ea typeface="Meiryo UI" panose="020B0604030504040204" pitchFamily="50" charset="-128"/>
              </a:rPr>
              <a:t>Green Quadrant</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E1B52B6F-250A-FFF4-712F-80965F804C6D}"/>
              </a:ext>
            </a:extLst>
          </p:cNvPr>
          <p:cNvSpPr/>
          <p:nvPr/>
        </p:nvSpPr>
        <p:spPr>
          <a:xfrm>
            <a:off x="3879398" y="3284984"/>
            <a:ext cx="2396475" cy="23385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9388" indent="-179388">
              <a:buFont typeface="Wingdings" panose="05000000000000000000" pitchFamily="2" charset="2"/>
              <a:buChar char="ü"/>
            </a:pPr>
            <a:r>
              <a:rPr kumimoji="1" lang="ja-JP" altLang="en-US" sz="1200" b="1">
                <a:solidFill>
                  <a:schemeClr val="tx1"/>
                </a:solidFill>
                <a:latin typeface="Meiryo UI" panose="020B0604030504040204" pitchFamily="50" charset="-128"/>
                <a:ea typeface="Meiryo UI" panose="020B0604030504040204" pitchFamily="50" charset="-128"/>
              </a:rPr>
              <a:t>テクノロジー主導の視点</a:t>
            </a:r>
            <a:endParaRPr kumimoji="1" lang="en-US" altLang="ja-JP" sz="1200" b="1">
              <a:solidFill>
                <a:schemeClr val="tx1"/>
              </a:solidFill>
              <a:latin typeface="Meiryo UI" panose="020B0604030504040204" pitchFamily="50" charset="-128"/>
              <a:ea typeface="Meiryo UI" panose="020B0604030504040204" pitchFamily="50" charset="-128"/>
            </a:endParaRPr>
          </a:p>
          <a:p>
            <a:pPr marL="269875">
              <a:tabLst>
                <a:tab pos="269875" algn="l"/>
              </a:tabLst>
            </a:pPr>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をデジタル変革や技術の観点から捉え、企業がどのようにデータを活用して</a:t>
            </a:r>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目標を達成するかを分析</a:t>
            </a:r>
            <a:endParaRPr kumimoji="1" lang="en-US" altLang="ja-JP" sz="1200">
              <a:solidFill>
                <a:schemeClr val="tx1"/>
              </a:solidFill>
              <a:latin typeface="Meiryo UI" panose="020B0604030504040204" pitchFamily="50" charset="-128"/>
              <a:ea typeface="Meiryo UI" panose="020B0604030504040204" pitchFamily="50" charset="-128"/>
            </a:endParaRPr>
          </a:p>
          <a:p>
            <a:pPr marL="179388" indent="-179388">
              <a:buFont typeface="Wingdings" panose="05000000000000000000" pitchFamily="2" charset="2"/>
              <a:buChar char="ü"/>
            </a:pPr>
            <a:r>
              <a:rPr kumimoji="1" lang="ja-JP" altLang="en-US" sz="1200" b="1">
                <a:solidFill>
                  <a:schemeClr val="tx1"/>
                </a:solidFill>
                <a:latin typeface="Meiryo UI" panose="020B0604030504040204" pitchFamily="50" charset="-128"/>
                <a:ea typeface="Meiryo UI" panose="020B0604030504040204" pitchFamily="50" charset="-128"/>
              </a:rPr>
              <a:t>詳細なベンダー評価</a:t>
            </a:r>
            <a:endParaRPr kumimoji="1" lang="en-US" altLang="ja-JP" sz="1200" b="1">
              <a:solidFill>
                <a:schemeClr val="tx1"/>
              </a:solidFill>
              <a:latin typeface="Meiryo UI" panose="020B0604030504040204" pitchFamily="50" charset="-128"/>
              <a:ea typeface="Meiryo UI" panose="020B0604030504040204" pitchFamily="50" charset="-128"/>
            </a:endParaRPr>
          </a:p>
          <a:p>
            <a:pPr marL="269875"/>
            <a:r>
              <a:rPr kumimoji="1" lang="en-US" altLang="ja-JP" sz="1200">
                <a:solidFill>
                  <a:schemeClr val="tx1"/>
                </a:solidFill>
                <a:latin typeface="Meiryo UI" panose="020B0604030504040204" pitchFamily="50" charset="-128"/>
                <a:ea typeface="Meiryo UI" panose="020B0604030504040204" pitchFamily="50" charset="-128"/>
              </a:rPr>
              <a:t>IDC</a:t>
            </a:r>
            <a:r>
              <a:rPr kumimoji="1" lang="ja-JP" altLang="en-US" sz="1200">
                <a:solidFill>
                  <a:schemeClr val="tx1"/>
                </a:solidFill>
                <a:latin typeface="Meiryo UI" panose="020B0604030504040204" pitchFamily="50" charset="-128"/>
                <a:ea typeface="Meiryo UI" panose="020B0604030504040204" pitchFamily="50" charset="-128"/>
              </a:rPr>
              <a:t>独自のフレームワークを使用し、市場内の主要ベンダーをケイパビリティ・規模・地理的範囲で絞った上で評価し、</a:t>
            </a:r>
            <a:r>
              <a:rPr kumimoji="1" lang="en-US" altLang="ja-JP" sz="1200">
                <a:solidFill>
                  <a:schemeClr val="tx1"/>
                </a:solidFill>
                <a:latin typeface="Meiryo UI" panose="020B0604030504040204" pitchFamily="50" charset="-128"/>
                <a:ea typeface="Meiryo UI" panose="020B0604030504040204" pitchFamily="50" charset="-128"/>
              </a:rPr>
              <a:t>Leader</a:t>
            </a:r>
            <a:r>
              <a:rPr kumimoji="1" lang="ja-JP" altLang="en-US" sz="1200">
                <a:solidFill>
                  <a:schemeClr val="tx1"/>
                </a:solidFill>
                <a:latin typeface="Meiryo UI" panose="020B0604030504040204" pitchFamily="50" charset="-128"/>
                <a:ea typeface="Meiryo UI" panose="020B0604030504040204" pitchFamily="50" charset="-128"/>
              </a:rPr>
              <a:t>を定義している</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FF32E4B0-9050-68A4-7EB2-0D8805E0CF99}"/>
              </a:ext>
            </a:extLst>
          </p:cNvPr>
          <p:cNvSpPr/>
          <p:nvPr/>
        </p:nvSpPr>
        <p:spPr>
          <a:xfrm>
            <a:off x="6423525" y="5702746"/>
            <a:ext cx="2396475" cy="5331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en-US" altLang="ja-JP" sz="1100">
                <a:solidFill>
                  <a:schemeClr val="tx1"/>
                </a:solidFill>
                <a:latin typeface="Meiryo UI" panose="020B0604030504040204" pitchFamily="50" charset="-128"/>
                <a:ea typeface="Meiryo UI" panose="020B0604030504040204" pitchFamily="50" charset="-128"/>
              </a:rPr>
              <a:t>Market Guide</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6A7F49F9-E079-C618-7C70-F48DD518F8EB}"/>
              </a:ext>
            </a:extLst>
          </p:cNvPr>
          <p:cNvSpPr/>
          <p:nvPr/>
        </p:nvSpPr>
        <p:spPr>
          <a:xfrm>
            <a:off x="6423524" y="3284984"/>
            <a:ext cx="2396475" cy="23385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9388" indent="-179388">
              <a:buFont typeface="Wingdings" panose="05000000000000000000" pitchFamily="2" charset="2"/>
              <a:buChar char="ü"/>
            </a:pPr>
            <a:r>
              <a:rPr kumimoji="1" lang="ja-JP" altLang="en-US" sz="1200" b="1">
                <a:solidFill>
                  <a:schemeClr val="tx1"/>
                </a:solidFill>
                <a:latin typeface="Meiryo UI" panose="020B0604030504040204" pitchFamily="50" charset="-128"/>
                <a:ea typeface="Meiryo UI" panose="020B0604030504040204" pitchFamily="50" charset="-128"/>
              </a:rPr>
              <a:t>企業戦略・テクノロジー視点からの</a:t>
            </a:r>
            <a:r>
              <a:rPr kumimoji="1" lang="en-US" altLang="ja-JP" sz="1200" b="1">
                <a:solidFill>
                  <a:schemeClr val="tx1"/>
                </a:solidFill>
                <a:latin typeface="Meiryo UI" panose="020B0604030504040204" pitchFamily="50" charset="-128"/>
                <a:ea typeface="Meiryo UI" panose="020B0604030504040204" pitchFamily="50" charset="-128"/>
              </a:rPr>
              <a:t>ESG</a:t>
            </a:r>
            <a:r>
              <a:rPr kumimoji="1" lang="ja-JP" altLang="en-US" sz="1200" b="1">
                <a:solidFill>
                  <a:schemeClr val="tx1"/>
                </a:solidFill>
                <a:latin typeface="Meiryo UI" panose="020B0604030504040204" pitchFamily="50" charset="-128"/>
                <a:ea typeface="Meiryo UI" panose="020B0604030504040204" pitchFamily="50" charset="-128"/>
              </a:rPr>
              <a:t>マーケットの分析</a:t>
            </a:r>
            <a:endParaRPr kumimoji="1" lang="en-US" altLang="ja-JP" sz="1200" b="1">
              <a:solidFill>
                <a:schemeClr val="tx1"/>
              </a:solidFill>
              <a:latin typeface="Meiryo UI" panose="020B0604030504040204" pitchFamily="50" charset="-128"/>
              <a:ea typeface="Meiryo UI" panose="020B0604030504040204" pitchFamily="50" charset="-128"/>
            </a:endParaRPr>
          </a:p>
          <a:p>
            <a:pPr marL="269875"/>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をテクノロジーと戦略の観点から分析し、現在の</a:t>
            </a:r>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マーケット動向と</a:t>
            </a:r>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ゴールを達成するための良いソフトウェアの定義やフレームワークを提供</a:t>
            </a:r>
            <a:endParaRPr kumimoji="1" lang="en-US" altLang="ja-JP" sz="1200">
              <a:solidFill>
                <a:schemeClr val="tx1"/>
              </a:solidFill>
              <a:latin typeface="Meiryo UI" panose="020B0604030504040204" pitchFamily="50" charset="-128"/>
              <a:ea typeface="Meiryo UI" panose="020B0604030504040204" pitchFamily="50" charset="-128"/>
            </a:endParaRPr>
          </a:p>
          <a:p>
            <a:pPr marL="179388" indent="-179388">
              <a:buFont typeface="Wingdings" panose="05000000000000000000" pitchFamily="2" charset="2"/>
              <a:buChar char="ü"/>
            </a:pPr>
            <a:r>
              <a:rPr kumimoji="1" lang="ja-JP" altLang="en-US" sz="1200" b="1">
                <a:solidFill>
                  <a:schemeClr val="tx1"/>
                </a:solidFill>
                <a:latin typeface="Meiryo UI" panose="020B0604030504040204" pitchFamily="50" charset="-128"/>
                <a:ea typeface="Meiryo UI" panose="020B0604030504040204" pitchFamily="50" charset="-128"/>
              </a:rPr>
              <a:t>機能分類ごとのベンダー紹介</a:t>
            </a:r>
            <a:endParaRPr kumimoji="1" lang="en-US" altLang="ja-JP" sz="1200" b="1">
              <a:solidFill>
                <a:schemeClr val="tx1"/>
              </a:solidFill>
              <a:latin typeface="Meiryo UI" panose="020B0604030504040204" pitchFamily="50" charset="-128"/>
              <a:ea typeface="Meiryo UI" panose="020B0604030504040204" pitchFamily="50" charset="-128"/>
            </a:endParaRPr>
          </a:p>
          <a:p>
            <a:pPr marL="269875"/>
            <a:r>
              <a:rPr kumimoji="1" lang="en-US" altLang="ja-JP" sz="1200">
                <a:solidFill>
                  <a:schemeClr val="tx1"/>
                </a:solidFill>
                <a:latin typeface="Meiryo UI" panose="020B0604030504040204" pitchFamily="50" charset="-128"/>
                <a:ea typeface="Meiryo UI" panose="020B0604030504040204" pitchFamily="50" charset="-128"/>
              </a:rPr>
              <a:t>ESG</a:t>
            </a:r>
            <a:r>
              <a:rPr kumimoji="1" lang="ja-JP" altLang="en-US" sz="1200">
                <a:solidFill>
                  <a:schemeClr val="tx1"/>
                </a:solidFill>
                <a:latin typeface="Meiryo UI" panose="020B0604030504040204" pitchFamily="50" charset="-128"/>
                <a:ea typeface="Meiryo UI" panose="020B0604030504040204" pitchFamily="50" charset="-128"/>
              </a:rPr>
              <a:t>ソリューションの主要ベンダーをマーケット観点から洗い出し、機能・目的別に代表的なソリューションを紹介している</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10" name="楕円 9">
            <a:extLst>
              <a:ext uri="{FF2B5EF4-FFF2-40B4-BE49-F238E27FC236}">
                <a16:creationId xmlns:a16="http://schemas.microsoft.com/office/drawing/2014/main" id="{3EFE3BD6-0F9E-B55E-1C06-F956D0A27E24}"/>
              </a:ext>
            </a:extLst>
          </p:cNvPr>
          <p:cNvSpPr/>
          <p:nvPr/>
        </p:nvSpPr>
        <p:spPr>
          <a:xfrm>
            <a:off x="92768" y="62455"/>
            <a:ext cx="914400" cy="344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latin typeface="Meiryo UI" panose="020B0604030504040204" pitchFamily="50" charset="-128"/>
                <a:ea typeface="Meiryo UI" panose="020B0604030504040204" pitchFamily="50" charset="-128"/>
              </a:rPr>
              <a:t>変更なし</a:t>
            </a:r>
          </a:p>
        </p:txBody>
      </p:sp>
    </p:spTree>
    <p:extLst>
      <p:ext uri="{BB962C8B-B14F-4D97-AF65-F5344CB8AC3E}">
        <p14:creationId xmlns:p14="http://schemas.microsoft.com/office/powerpoint/2010/main" val="20108046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Calibri Light"/>
        <a:ea typeface="Yu Gothic UI"/>
        <a:cs typeface=""/>
      </a:majorFont>
      <a:minorFont>
        <a:latin typeface="Calibri"/>
        <a:ea typeface="Yu Gothic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40000"/>
            <a:lumOff val="60000"/>
          </a:schemeClr>
        </a:solidFill>
      </a:spPr>
      <a:bodyPr rtlCol="0" anchor="ctr"/>
      <a:lstStyle>
        <a:defPPr algn="ctr">
          <a:defRPr kumimoji="1" sz="10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sz="1400" dirty="0" smtClean="0">
            <a:highlight>
              <a:srgbClr val="ED7D31"/>
            </a:highlight>
            <a:latin typeface="メイリオ" panose="020B0604030504040204" pitchFamily="50" charset="-128"/>
            <a:ea typeface="メイリオ"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E097F0-2BCC-4421-BECB-E75C8BC38901}">
  <ds:schemaRefs>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http://purl.org/dc/terms/"/>
    <ds:schemaRef ds:uri="d19f0fb5-6d55-4d25-8cbf-0d105e0b6bcf"/>
    <ds:schemaRef ds:uri="http://www.w3.org/XML/1998/namespace"/>
  </ds:schemaRefs>
</ds:datastoreItem>
</file>

<file path=customXml/itemProps2.xml><?xml version="1.0" encoding="utf-8"?>
<ds:datastoreItem xmlns:ds="http://schemas.openxmlformats.org/officeDocument/2006/customXml" ds:itemID="{CB36709D-C6DA-4C33-8F2E-B8F660F01F42}">
  <ds:schemaRefs>
    <ds:schemaRef ds:uri="http://schemas.microsoft.com/sharepoint/v3/contenttype/forms"/>
  </ds:schemaRefs>
</ds:datastoreItem>
</file>

<file path=customXml/itemProps3.xml><?xml version="1.0" encoding="utf-8"?>
<ds:datastoreItem xmlns:ds="http://schemas.openxmlformats.org/officeDocument/2006/customXml" ds:itemID="{9CF93954-A820-4565-B1F9-BE3917EA86A5}"/>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Office Theme</Template>
  <TotalTime>39</TotalTime>
  <Words>8008</Words>
  <Application>Microsoft Office PowerPoint</Application>
  <PresentationFormat>画面に合わせる (4:3)</PresentationFormat>
  <Paragraphs>1460</Paragraphs>
  <Slides>39</Slides>
  <Notes>3</Notes>
  <HiddenSlides>0</HiddenSlides>
  <MMClips>0</MMClips>
  <ScaleCrop>false</ScaleCrop>
  <HeadingPairs>
    <vt:vector size="8" baseType="variant">
      <vt:variant>
        <vt:lpstr>使用されているフォント</vt:lpstr>
      </vt:variant>
      <vt:variant>
        <vt:i4>8</vt:i4>
      </vt:variant>
      <vt:variant>
        <vt:lpstr>テーマ</vt:lpstr>
      </vt:variant>
      <vt:variant>
        <vt:i4>1</vt:i4>
      </vt:variant>
      <vt:variant>
        <vt:lpstr>埋め込まれた OLE サーバー</vt:lpstr>
      </vt:variant>
      <vt:variant>
        <vt:i4>1</vt:i4>
      </vt:variant>
      <vt:variant>
        <vt:lpstr>スライド タイトル</vt:lpstr>
      </vt:variant>
      <vt:variant>
        <vt:i4>39</vt:i4>
      </vt:variant>
    </vt:vector>
  </HeadingPairs>
  <TitlesOfParts>
    <vt:vector size="49" baseType="lpstr">
      <vt:lpstr>Meiryo UI</vt:lpstr>
      <vt:lpstr>Meiryo</vt:lpstr>
      <vt:lpstr>游ゴシック</vt:lpstr>
      <vt:lpstr>Arial</vt:lpstr>
      <vt:lpstr>Calibri</vt:lpstr>
      <vt:lpstr>Calibri Light</vt:lpstr>
      <vt:lpstr>Wingdings</vt:lpstr>
      <vt:lpstr>Wingdings 2</vt:lpstr>
      <vt:lpstr>1_Office テーマ</vt:lpstr>
      <vt:lpstr>think-cell スライド</vt:lpstr>
      <vt:lpstr>システム導入構想書</vt:lpstr>
      <vt:lpstr>システム導入構想書　目次</vt:lpstr>
      <vt:lpstr>1. ESGシステム導入の背景・課題</vt:lpstr>
      <vt:lpstr>システム検討プロジェクトの位置づけ</vt:lpstr>
      <vt:lpstr>外部開示における開示対象マトリクス</vt:lpstr>
      <vt:lpstr>現状の課題</vt:lpstr>
      <vt:lpstr>2. ESGシステム構築によって実現したい状態</vt:lpstr>
      <vt:lpstr>現状の課題と実現したい姿</vt:lpstr>
      <vt:lpstr>ESGシステム導入による課題解決コンセプト</vt:lpstr>
      <vt:lpstr>保証要件に基づくGHG算定サイクル</vt:lpstr>
      <vt:lpstr>3. 導入アプローチ・ロードマップ</vt:lpstr>
      <vt:lpstr>導入アプローチ・ロードマップの前提</vt:lpstr>
      <vt:lpstr>システム導入のスケジュール</vt:lpstr>
      <vt:lpstr>ESGシステム導入アプローチ</vt:lpstr>
      <vt:lpstr>ESGシステム導入ロードマップ</vt:lpstr>
      <vt:lpstr>アプローチに対する重点機能の変遷</vt:lpstr>
      <vt:lpstr>4. 新ESGシステムとしての主な要件</vt:lpstr>
      <vt:lpstr>新ESGシステムにおける要件のポイント</vt:lpstr>
      <vt:lpstr>ESGシステム全体像</vt:lpstr>
      <vt:lpstr>新ESGシステム概観図</vt:lpstr>
      <vt:lpstr>新ESGシステムで保持するデータ</vt:lpstr>
      <vt:lpstr>対象とする組織バウンダリー</vt:lpstr>
      <vt:lpstr>Scope3データ収集におけるシステムスコープ</vt:lpstr>
      <vt:lpstr>GHG以外のデータ収集におけるシステムスコープ</vt:lpstr>
      <vt:lpstr>複数算定ロジック概要(Scope1,2)</vt:lpstr>
      <vt:lpstr>暫定係数を利用するために必要な機能</vt:lpstr>
      <vt:lpstr>5. ESGシステム導入に向けた周辺タスク</vt:lpstr>
      <vt:lpstr>ESGシステム全体像（周辺タスク）</vt:lpstr>
      <vt:lpstr>タグデータからのデータ収集フローイメージ(1/2)</vt:lpstr>
      <vt:lpstr>タグデータからのデータ収集フローイメージ</vt:lpstr>
      <vt:lpstr>業務効率化実現に向けたタスク（出光実施主体）</vt:lpstr>
      <vt:lpstr>6. 新ESGシステムにおける機能要求・非機能要求</vt:lpstr>
      <vt:lpstr>7. RFP提出先候補ソリューション</vt:lpstr>
      <vt:lpstr>対象ベンダーの絞り込み（案）</vt:lpstr>
      <vt:lpstr>8. Appendix</vt:lpstr>
      <vt:lpstr>【参考】サステナビリティデータ管理のあるべき姿</vt:lpstr>
      <vt:lpstr>【参考】 ESGデータ作成に必要な機能一覧</vt:lpstr>
      <vt:lpstr>【参考】 ESGソリューション導入のトレンド</vt:lpstr>
      <vt:lpstr>【参考】ESG調査レポート概要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Phase2　実施報告書</dc:title>
  <dc:creator/>
  <cp:lastModifiedBy>Okuda, Keita</cp:lastModifiedBy>
  <cp:revision>5</cp:revision>
  <dcterms:created xsi:type="dcterms:W3CDTF">2024-03-15T09:35:18Z</dcterms:created>
  <dcterms:modified xsi:type="dcterms:W3CDTF">2025-09-03T05:10:40Z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2024-03-15T09:35:26Z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65fe997f-4465-4360-8f80-dd7f00e25f27</vt:lpwstr>
  </property>
  <property fmtid="{D5CDD505-2E9C-101B-9397-08002B2CF9AE}" pid="8" name="MSIP_Label_ea60d57e-af5b-4752-ac57-3e4f28ca11dc_ContentBits">
    <vt:lpwstr>0</vt:lpwstr>
  </property>
  <property fmtid="{D5CDD505-2E9C-101B-9397-08002B2CF9AE}" pid="9" name="ContentTypeId">
    <vt:lpwstr>0x0101008B207C222D4A704392DD812ABE7F848A</vt:lpwstr>
  </property>
  <property fmtid="{D5CDD505-2E9C-101B-9397-08002B2CF9AE}" pid="10" name="MediaServiceImageTags">
    <vt:lpwstr/>
  </property>
</Properties>
</file>