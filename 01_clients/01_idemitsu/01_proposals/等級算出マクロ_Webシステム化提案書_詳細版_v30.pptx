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6E813-B0C0-45DA-A575-B8A6C73A9BE3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B6213-3A43-4CDA-B575-CC60814134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91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Mermaid Diagram Code:</a:t>
            </a:r>
          </a:p>
          <a:p>
            <a:endParaRPr/>
          </a:p>
          <a:p>
            <a:r>
              <a:t>```mermaid</a:t>
            </a:r>
          </a:p>
          <a:p>
            <a:r>
              <a:t>graph LR</a:t>
            </a:r>
          </a:p>
          <a:p>
            <a:r>
              <a:t>    subgraph External["外部システム"]</a:t>
            </a:r>
          </a:p>
          <a:p>
            <a:r>
              <a:t>        TSR[TSR-API&lt;br/&gt;TSR]</a:t>
            </a:r>
          </a:p>
          <a:p>
            <a:r>
              <a:t>        DB_EXT[Direct+&lt;br/&gt;D&amp;B]</a:t>
            </a:r>
          </a:p>
          <a:p>
            <a:r>
              <a:t>        DD[DataDrive&lt;br/&gt;帝国DB]</a:t>
            </a:r>
          </a:p>
          <a:p>
            <a:r>
              <a:t>    end</a:t>
            </a:r>
          </a:p>
          <a:p>
            <a:endParaRPr/>
          </a:p>
          <a:p>
            <a:r>
              <a:t>    subgraph Azure["Microsoft Azure"]</a:t>
            </a:r>
          </a:p>
          <a:p>
            <a:r>
              <a:t>        API[Azure API&lt;br/&gt;Management]</a:t>
            </a:r>
          </a:p>
          <a:p>
            <a:r>
              <a:t>        APP[Azure App&lt;br/&gt;Service]</a:t>
            </a:r>
          </a:p>
          <a:p>
            <a:r>
              <a:t>        DB[Azure SQL&lt;br/&gt;Database]</a:t>
            </a:r>
          </a:p>
          <a:p>
            <a:r>
              <a:t>        FUNC[Azure&lt;br/&gt;Functions]</a:t>
            </a:r>
          </a:p>
          <a:p>
            <a:r>
              <a:t>    end</a:t>
            </a:r>
          </a:p>
          <a:p>
            <a:endParaRPr/>
          </a:p>
          <a:p>
            <a:r>
              <a:t>    subgraph Monitor["監視・連携"]</a:t>
            </a:r>
          </a:p>
          <a:p>
            <a:r>
              <a:t>        ZAB[Zabbix監視]</a:t>
            </a:r>
          </a:p>
          <a:p>
            <a:r>
              <a:t>        SAP[SAP連携]</a:t>
            </a:r>
          </a:p>
          <a:p>
            <a:r>
              <a:t>    end</a:t>
            </a:r>
          </a:p>
          <a:p>
            <a:endParaRPr/>
          </a:p>
          <a:p>
            <a:r>
              <a:t>    TSR --&gt; API</a:t>
            </a:r>
          </a:p>
          <a:p>
            <a:r>
              <a:t>    DB_EXT --&gt; API</a:t>
            </a:r>
          </a:p>
          <a:p>
            <a:r>
              <a:t>    DD --&gt; API</a:t>
            </a:r>
          </a:p>
          <a:p>
            <a:r>
              <a:t>    API --&gt; APP</a:t>
            </a:r>
          </a:p>
          <a:p>
            <a:r>
              <a:t>    APP --&gt; DB</a:t>
            </a:r>
          </a:p>
          <a:p>
            <a:r>
              <a:t>    APP --&gt; FUNC</a:t>
            </a:r>
          </a:p>
          <a:p>
            <a:r>
              <a:t>    FUNC --&gt; ZAB</a:t>
            </a:r>
          </a:p>
          <a:p>
            <a:r>
              <a:t>    DB --&gt; SAP</a:t>
            </a:r>
          </a:p>
          <a:p>
            <a:endParaRPr/>
          </a:p>
          <a:p>
            <a:r>
              <a:t>    style API fill:#0078d4,color:#fff</a:t>
            </a:r>
          </a:p>
          <a:p>
            <a:r>
              <a:t>    style APP fill:#0078d4,color:#fff</a:t>
            </a:r>
          </a:p>
          <a:p>
            <a:r>
              <a:t>    style DB fill:#0078d4,color:#fff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Mermaid Diagram Code:</a:t>
            </a:r>
          </a:p>
          <a:p>
            <a:endParaRPr/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A[取引先情報] --&gt; B[一次マクロ&lt;br/&gt;債権管理等級算出&lt;br/&gt;A+ → E 9等級]</a:t>
            </a:r>
          </a:p>
          <a:p>
            <a:r>
              <a:t>    B --&gt; C[基準与信限度額算出&lt;br/&gt;理論上の与信額]</a:t>
            </a:r>
          </a:p>
          <a:p>
            <a:r>
              <a:t>    C --&gt; D[限度申請書作成&lt;br/&gt;パターンA/B自動判定]</a:t>
            </a:r>
          </a:p>
          <a:p>
            <a:r>
              <a:t>    D --&gt; F[ワークフロー承認]</a:t>
            </a:r>
          </a:p>
          <a:p>
            <a:r>
              <a:t>    F --&gt; G[二次マクロ&lt;br/&gt;限度申請書取込]</a:t>
            </a:r>
          </a:p>
          <a:p>
            <a:r>
              <a:t>    G --&gt; H[取引先一覧&lt;br/&gt;ファイル反映]</a:t>
            </a:r>
          </a:p>
          <a:p>
            <a:r>
              <a:t>    H --&gt; I[SAP連携&lt;br/&gt;CSV出力]</a:t>
            </a:r>
          </a:p>
          <a:p>
            <a:endParaRPr/>
          </a:p>
          <a:p>
            <a:r>
              <a:t>    E[外部データ連携] --&gt; B</a:t>
            </a:r>
          </a:p>
          <a:p>
            <a:r>
              <a:t>    E --&gt; |TSR-VAN2| B</a:t>
            </a:r>
          </a:p>
          <a:p>
            <a:r>
              <a:t>    E --&gt; |Direct+ D&amp;B| B</a:t>
            </a:r>
          </a:p>
          <a:p>
            <a:r>
              <a:t>    E --&gt; |DataDrive 帝国DB| B</a:t>
            </a:r>
          </a:p>
          <a:p>
            <a:r>
              <a:t>    E --&gt; |S&amp;P/Moody's| B</a:t>
            </a:r>
          </a:p>
          <a:p>
            <a:r>
              <a:t>    E --&gt; |為替情報| B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D1701DDA-447B-9A41-8218-EF9F4F3A9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4000" y="2844000"/>
            <a:ext cx="8640000" cy="432000"/>
          </a:xfrm>
        </p:spPr>
        <p:txBody>
          <a:bodyPr lIns="0" tIns="72000" rIns="0" bIns="0" anchor="ctr" anchorCtr="0">
            <a:noAutofit/>
          </a:bodyPr>
          <a:lstStyle>
            <a:lvl1pPr algn="l">
              <a:defRPr sz="320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4000" y="3348000"/>
            <a:ext cx="8640000" cy="324000"/>
          </a:xfrm>
        </p:spPr>
        <p:txBody>
          <a:bodyPr lIns="0" tIns="72000" rIns="0" bIns="0" anchor="ctr" anchorCtr="0">
            <a:noAutofit/>
          </a:bodyPr>
          <a:lstStyle>
            <a:lvl1pPr marL="0" indent="0" algn="l">
              <a:buNone/>
              <a:defRPr sz="2200"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04000" y="5400000"/>
            <a:ext cx="2160000" cy="288000"/>
          </a:xfrm>
        </p:spPr>
        <p:txBody>
          <a:bodyPr lIns="0" tIns="36000" rIns="0" bIns="0"/>
          <a:lstStyle>
            <a:lvl1pPr algn="ctr">
              <a:defRPr sz="1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3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白いバックグラウンドのスクリーンショット&#10;&#10;自動的に生成された説明">
            <a:extLst>
              <a:ext uri="{FF2B5EF4-FFF2-40B4-BE49-F238E27FC236}">
                <a16:creationId xmlns:a16="http://schemas.microsoft.com/office/drawing/2014/main" id="{A851688F-C419-5642-BCCF-F34205046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000" y="360000"/>
            <a:ext cx="10224000" cy="360000"/>
          </a:xfrm>
        </p:spPr>
        <p:txBody>
          <a:bodyPr lIns="0" tIns="36000" rIns="0" bIns="0">
            <a:noAutofit/>
          </a:bodyPr>
          <a:lstStyle>
            <a:lvl1pPr>
              <a:defRPr sz="2400"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20000" y="6624000"/>
            <a:ext cx="432000" cy="144000"/>
          </a:xfrm>
        </p:spPr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09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債権管理等級・基準与信限度額</a:t>
            </a:r>
            <a:br/>
            <a:r>
              <a:t>算出マクロ</a:t>
            </a:r>
            <a:br/>
            <a:r>
              <a:t>Microsoft Azure基盤</a:t>
            </a:r>
            <a:br/>
            <a:r>
              <a:t>Webシステム化</a:t>
            </a:r>
            <a:br/>
            <a:r>
              <a:t>システム導入構想書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Meiryo"/>
              </a:defRPr>
            </a:pPr>
            <a:r>
              <a:t>総務部財務リスク管理課 御中</a:t>
            </a:r>
            <a:br/>
            <a:br/>
            <a:r>
              <a:t>情報システム部</a:t>
            </a:r>
            <a:br/>
            <a:r>
              <a:t>2025年11月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システム導入構想書　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1. システム導入の背景・課題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プロジェクトの位置づけ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総務部の現状課題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三者（総務部・EXE・DI部）の課題整理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2. システム構築によって実現したい状態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Webシステム化で実現する3つの価値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DI部主導の新しいプロジェクト体制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3. 導入アプローチ・ロードマップ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導入アプローチの前提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システム導入スケジュール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Wave/Phase構成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関係者タスク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4. 新システムとしての主な要件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Azure基盤Webアプリケーション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システム全体像とデータフロー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主要機能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5. スクラム開発アプローチ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6. 期待される効果と予算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7. Appendix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現行マクロの機能概要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Zabbixとは（総務部向け説明）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Meiryo"/>
              </a:defRPr>
            </a:pPr>
            <a:r>
              <a:t>1. システム導入の背景・課題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1-1. プロジェクトの位置づけ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総務部で運用中のExcelマクロ（等級算出・与信限度額算出）を、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Azure基盤のWebシステムに全面リプレースするプロジェクトです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【このプロジェクトの背景】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現行システムの限界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- 2021～2022年に構築されたExcelマクロが複雑化・ブラックボックス化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エラー発生時の原因特定が困難で、外部ベンダー依存の体制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担当者の属人化により、業務継続リスクが顕在化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出光グループのIT戦略との整合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次期アーキテクチャ基盤：Azure標準化の方針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レガシーシステムからモダンなクラウド基盤への移行推進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DI部主導での開発体制構築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総務部とEXEの橋渡し役として、DI部がプロジェクトを主導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要件整理・品質管理・運用保守を一元的に担当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【本プロジェクトの目的】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安定稼働するWebシステムで、総務部の業務負担を大幅軽減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誰でも使えるシステムで属人化を解消、業務継続性を確保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将来の業務変化に柔軟に対応できる、拡張可能な基盤を構築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1-2. 総務部の現状課題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総務部が日常的に直面している課題を詳細に整理します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【総務部の現状課題】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課題1：ほぼ毎月発生するマクロエラーへの対応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エラー原因の特定が困難で、原因調査に多大な時間を要する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ログ機能が無く、どこで何が起きているのか把握できない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外部ベンダーへの問い合わせが必須で、対応に数日かかることも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各事業部からの予期しない入力値でエラーが頻発する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エラー修正と再実行を繰り返すため、業務時間を大幅に圧迫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課題2：特定担当者への依存（属人化）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有識者不在時に業務が完全に止まってしまう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マクロの操作方法や注意点が口頭伝承のみで記録が無い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外部データ（TSR、D&amp;B、帝国DBなど）の手動取得作業に時間がかかる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新人への引継ぎが困難で、習得に時間を要する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課題3：マクロの改修・機能追加が困難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業務変化（新しい取引先条件、計算式変更など）への対応が実質不可能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過去のマクロ改修履歴が分からず、なぜこの処理があるのか不明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データの履歴管理ができず、いつ誰が何を変更したか追跡不可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Excelファイルが複雑化・肥大化し、動作が遅い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1-3. 総務部・EXE・DI部の課題整理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各関係者が抱える固有の課題を整理し、プロジェクトで解決を目指す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【総務部の固有課題】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マクロエラー対応に多大な時間と労力を要する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各事業部への申請書記載ルールの徹底が困難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外部データの手動取得作業の負担が大きい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【システムエグゼ（開発側）の固有課題】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マクロのあるべき処理フローが把握しきれていない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エラーハンドリングが不十分で、エラー原因の特定が困難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総務部の業務内容・業務フローを十分に認識できていない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【DI部の固有課題】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マクロ処理の仕様書・設計資料が無く、課題発生時の対応が困難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総務部・EXEへの技術的な支援やアドバイスが十分にできない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プロジェクト全体の品質管理・進捗管理の体制が不十分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【共通課題（三者共通）】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マクロエラー対応に多大な時間を要する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属人化による業務継続リスク（キーパーソン不在時の対応困難）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ドキュメント・ナレッジの不足（ノウハウの散逸、コミュニケーション不足）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保守性・拡張性の欠如（改修・機能追加が実質不可能）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Meiryo"/>
              </a:defRPr>
            </a:pPr>
            <a:r>
              <a:t>2. システム構築によって</a:t>
            </a:r>
            <a:br/>
            <a:r>
              <a:t>実現したい状態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2-1. Webシステム化で実現する3つの価値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総務部の皆さまの業務負担を軽減し、安心して使えるシステムを実現します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【① エラー対応工数を70～90%削減】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Zabbix 24時間監視で、エラー原因を即座に特定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詳細ログで「どこで」「何が」起きたか一目で分かる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外部ベンダーへの問い合わせ不要、自己解決が可能に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Web画面でのリアルタイム入力検証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申請書の記載ミスを入力時点で自動チェック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各事業部からの予期しない入力値を事前防止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【② 誰でも使える、属人化ゼロのシステム】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分かりやすいWeb画面で、特別な知識不要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マクロ操作の習得不要、直感的なUI設計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有識者不在時でも業務が止まらない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DI部主導の三者橋渡し体制で、安心のサポート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システム設計書・運用手順書を一元管理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困ったときの問い合わせ先が明確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【③ 将来への投資：柔軟な機能拡張】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Azure基盤で、業務変化に柔軟に対応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取引先条件や計算式の変更に、迅速に対応可能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新機能追加も容易（Wave2で外部データAPI連携など）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データ履歴を自動記録、過去の変更も追跡可能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いつ誰が何を変更したか、完全に記録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監査対応やトラブルシューティングが容易に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2-2. DI部主導の新しいプロジェクト体制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latin typeface="Meiryo"/>
              </a:defRPr>
            </a:pPr>
            <a:r>
              <a:t>現状：直接やり取りで問題発生</a:t>
            </a:r>
          </a:p>
        </p:txBody>
      </p:sp>
      <p:pic>
        <p:nvPicPr>
          <p:cNvPr id="4" name="Picture 3" descr="diagram_1_7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486400" cy="12943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48095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latin typeface="Meiryo"/>
              </a:defRPr>
            </a:pPr>
            <a:r>
              <a:t>新体制：DI部が主導して橋渡し</a:t>
            </a:r>
          </a:p>
        </p:txBody>
      </p:sp>
      <p:pic>
        <p:nvPicPr>
          <p:cNvPr id="6" name="Picture 5" descr="diagram_1_7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2011680"/>
            <a:ext cx="5486400" cy="15612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Meiryo"/>
              </a:defRPr>
            </a:pPr>
            <a:r>
              <a:t>3. 導入アプローチ・</a:t>
            </a:r>
            <a:br/>
            <a:r>
              <a:t>ロードマップ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3-1. 導入アプローチの前提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出光で実績のあるスクラム開発手法を採用し、MVP（最小実行可能製品）アプローチで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段階的にリリースすることで、早期に価値提供可能な状態を目指す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【基本方針】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1. パッケージ・標準機能の最大活用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Azureの標準サービスを最大限活用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カスタマイズは最小限に抑える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2. MVP（最小実行可能製品）アプローチ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Wave1: 基本機能（MVP1）を先行リリース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Wave2: 機能拡張とユーザーフィードバック反映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3. スクラム開発による段階的リリース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2週間スプリントで継続的に価値提供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各スプリント終了時にデモ・フィードバック収集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4. リスクの分散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小さな反復でリスクを早期発見・対応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四半期ごとに契約見直し可能（準委任契約）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【契約形態】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準委任契約（四半期ごとに見直し可能）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要件の変更に柔軟に対応可能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3-2. システム導入のスケジュール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【全体タイムライン】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2025年12月：提案承認・ベンダー選定・契約締結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2026年1月：プロジェクトキックオフ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【Wave1：完全リプレース】2026年1月～8月（8ヶ月）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準備（2ヶ月）：仕様確認・バックログ作成・Azure構築・設計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スクラム（5ヶ月）：Sprint 1-10で現行マクロ全機能実装・比較テスト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導入（1ヶ月）：UAT・データ移行・トレーニング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▼ 2026年8月末：Wave1稼働・Excelマクロ完全廃止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【Wave2：機能拡張】2026年9月～2027年3月（7ヶ月）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Sprint 11-20：ワークフロー・高度レポート・API連携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▼ 2027年3月末：Wave2稼働（付加価値機能追加）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3-3. Wave/Phase構成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【Wave1：基本機能（完全リプレース）】優先度：最高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目的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現行Excelマクロの全機能をWebアプリ化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Wave1稼働と同時にExcelマクロを完全廃止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エラー削減と業務効率化を実現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対象機能（一次マクロ・二次マクロの両方をリプレース）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ユーザー認証・権限管理（Azure AD連携）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取引先管理機能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データ入力・検証機能（現行マクロの全入力項目）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自動処理機能（現行マクロの全算出ロジック）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限度申請書取込機能（二次マクロ）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SAP連携用CSV出力（二次マクロ）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レポート出力（現行マクロと同等の出力）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履歴管理・監査証跡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期待効果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エラー発生率の大幅削減（ヒアリング後に精緻化予定）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データ処理時間の短縮（ヒアリング後に精緻化予定）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Excelマクロの完全廃止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【Wave2：機能拡張（将来対応）】優先度：高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目的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Wave1で実現した基本機能に、さらなる付加価値機能を追加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ユーザーフィードバックを反映した機能拡張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業務効率化のさらなる推進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対象機能（現行マクロにない新機能）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承認ワークフロー機能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高度なレポート機能（カスタムレポート）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外部システム自動連携（D&amp;B、TSR、TDB等のAPI連携）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✓ AI/BIツール連携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期待効果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エラー発生率の大幅削減（ヒアリング後に精緻化予定）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問い合わせ対応時間の削減（ヒアリング後に精緻化予定）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データ活用の高度化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3-4. スプリント計画詳細（Wave1：完全リプレース）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【Wave1：8ヶ月 = 準備2ヶ月+開発5ヶ月（Sprint 1-10）+導入1ヶ月】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Sprint 1-2：基盤構築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Azure環境・認証機能・DB構築・基本画面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Sprint 3-4：データ入力機能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全入力画面・リアルタイム検証・ファイルアップロード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Sprint 5-7：自動処理機能（マクロ全ロジック）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等級算出・与信限度額計算・外部データ取込・バッチ処理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Sprint 8-9：レポート・出力機能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レポート生成・Excel/PDF出力・履歴管理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Sprint 10：最終調整・UAT準備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現行マクロとの比較テスト・性能チューニング・UAT準備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3-5. 関係者タスク（出光実施主体）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DI部が主体となり、総務部とEXEの橋渡しをしながらプロジェクトを推進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プロダクトオーナー業務（総務部）全期間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要件定義参画・プロダクトバックログ優先順位決定（DI部経由）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スプリントレビュー参加・受入判断（UAT実施）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プロジェクト推進・調整（DI部）全期間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プロジェクト全体統括・管理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総務部とEXEの橋渡し役（コーディネーション）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技術翻訳（総務部要望→EXEへ、EXE技術説明→総務部へ）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Azure環境構築支援・EXE開発品質チェック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運用・保守体制構築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システム開発（EXE）2026年1月～2027年3月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DI部経由の要件に基づく設計・開発・テスト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スクラムマスター業務・DI部へのシステム仕様説明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データ移行準備（総務部・DI部）2026年7～8月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総務部：既存データ整理・クレンジング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DI部：移行計画策定・EXE調整・移行テスト品質チェック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Meiryo"/>
              </a:defRPr>
            </a:pPr>
            <a:r>
              <a:t>4. 新システムとしての</a:t>
            </a:r>
            <a:br/>
            <a:r>
              <a:t>主な要件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4-1. Webシステム化で総務部の業務が変わる4つのこと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総務部の皆さまにとって、Webシステム化で実現する具体的な変化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【① エラーが起きても、すぐに原因が分かる】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Zabbix 24時間監視システム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エラー発生時、DI部に即座に通知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詳細ログで「どの画面で」「誰が」「何をした時」に起きたか一目瞭然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外部ベンダーへの問い合わせが不要に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【② 出光ネットワーク内なら、どの端末からでもアクセス可能】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Web画面で、いつでもどこでも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会議室のPC、自席のPC、どこからでも同じ画面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マクロが入ったExcelファイルを探す手間が不要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複数人が同時にアクセス可能（マクロの待ち時間ゼロ）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【③ 申請書の記載ミスを、入力時点で自動チェック】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リアルタイム入力検証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「この項目は必須です」「数値が範囲外です」と即座にエラー表示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各事業部からの予期しない入力を事前に防ぐ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マクロ実行後のエラー対応が激減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【④ 将来の業務変化に、迅速に対応可能】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Azure基盤で柔軟な機能拡張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取引先条件や計算式の変更に、数週間で対応（現状は実質不可能）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Wave2で外部データのAPI自動連携など、段階的に機能追加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出光興産の次期アーキテクチャに適合した将来性のある基盤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※技術詳細（Azure構成）はAppendixに記載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4-2. システム全体像（Azure構成詳細）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【レイヤー構成】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セキュリティ・認証レイヤー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┌─────────────────────┐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│ Azure Active Directory │ → SAML認証、SSO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└─────────────────────┘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         ↓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┌─────────────────────┐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│  Azure Front Door      │ → WAF、SSL/TLS、CDN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└─────────────────────┘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アプリケーションレイヤー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┌─────────────────────┐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│  Azure App Service     │ → Webアプリ、REST API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│  (Web Apps)            │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└─────────────────────┘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         ↓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┌─────────────────────┐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│  Azure Functions       │ → バッチ処理、自動算出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└─────────────────────┘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データレイヤー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┌─────────────────────┐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│  Azure SQL Database    │ → トランザクションデータ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└─────────────────────┘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┌─────────────────────┐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│  Azure Storage         │ → ファイル保存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└─────────────────────┘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運用管理レイヤー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Zabbix（監視・ログ・アラート）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- 24時間システム監視（DI部による監視体制）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エラー発生時の即座な通知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  - 詳細ログによる原因特定の迅速化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Azure Key Vault（シークレット管理）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Azure Backup（バックアップ）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4-3. データフロー（Before / After）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3390" y="1188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eiryo"/>
              </a:defRPr>
            </a:pPr>
            <a:r>
              <a:t>Before：現状</a:t>
            </a:r>
          </a:p>
        </p:txBody>
      </p:sp>
      <p:pic>
        <p:nvPicPr>
          <p:cNvPr id="4" name="Picture 3" descr="diagram_4_3_befo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645920"/>
            <a:ext cx="9144000" cy="12279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3390" y="3931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eiryo"/>
              </a:defRPr>
            </a:pPr>
            <a:r>
              <a:t>After：To-Be</a:t>
            </a:r>
          </a:p>
        </p:txBody>
      </p:sp>
      <p:pic>
        <p:nvPicPr>
          <p:cNvPr id="6" name="Picture 5" descr="diagram_4_4_afte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90" y="4389120"/>
            <a:ext cx="9144000" cy="12125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4-5. 主要機能（詳細）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【1. ユーザー認証・権限管理】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社内認証システム連携、権限設定、二段階認証対応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【2. データ入力・管理機能】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Web画面でのデータ入力、リアルタイム検証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Excelファイル一括取り込み、履歴管理、途中保存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【3. 自動処理機能】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外部データ取込（Wave1: 手動／Wave2: API自動連携）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債権管理等級・与信限度額の自動計算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夜間自動バッチ処理、詳細ログ・アラート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【4. ワークフロー機能（Wave2）】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承認申請電子化、メール・Teams通知、差し戻し機能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【5. レポート出力機能】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レポート自動作成、PDF・Excel出力、カスタムレポート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4-6. Microsoft Azure採用のメリット（詳細）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【1. 出光興産様の次期アーキへの適合】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次期アーキ移行計画に整合・出光Azure環境での統一管理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Azure AD連携・SAML認証による安全なSSO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【2. 技術的なメリット】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高可用性（SLA 99.95%以上）・自動スケーリング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エンタープライズセキュリティ・複数リージョンバックアップ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【3. 運用面のメリット】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Zabbix 24時間監視（DI部による監視体制）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自動デプロイ・従量課金・自動アップデート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【4. ビジネスメリット】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開発期間短縮・グローバル展開対応・AIサービス統合可能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4-6a. 外部システム連携図</a:t>
            </a:r>
          </a:p>
        </p:txBody>
      </p:sp>
      <p:pic>
        <p:nvPicPr>
          <p:cNvPr id="3" name="Picture 2" descr="diagram_4_6a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390" y="1645920"/>
            <a:ext cx="6858000" cy="27405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4-7. システムエグゼをベンダーとして選ぶ理由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【1. 既存マクロコード保有】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現行マクロの開発元として処理ロジックのソースコードを保有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二次マクロの開発・保守実績、外部データ連携の実装経験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【2. 出光でのアジャイル開発実績】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スクラム開発実績（2週間スプリント・MVP方式）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出光の開発標準・品質基準への理解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【3. 他社比での優位性】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ゼロからの開発不要（既存コード流用可能）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他社の場合、コード解析に数ヶ月要する→期間・コスト削減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【4. DI部主導によるリスク対策】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現状課題：EXEは総務部業務フロー全体を把握しきれていない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対策：DI部が橋渡し役として業務要件整理・品質チェック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三者体制（総務部・DI部・EXE）で課題を補完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【結論】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既存資産・実績を活用し、DI部主導で課題補完することで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最も低リスク・短期間に推進できるベンダー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Meiryo"/>
              </a:defRPr>
            </a:pPr>
            <a:r>
              <a:t>5. スクラム開発アプローチ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5-1. スクラム開発の進め方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【出光興産様の標準的な開発手法】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スクラム開発を採用する理由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不確実性の高い作業に対応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短い周期での実現可能性を探求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評価とフィードバックに基づいて迅速に適応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早期の価値提供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- 2週間ごとに動くソフトウェアをリリース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ユーザーフィードバックを次スプリントに反映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【スクラムの基本構造】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プロダクトバックログ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開発すべき機能のリスト（優先順位付き）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プロダクトオーナー（総務部）が優先順位を決定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スプリント（2週間サイクル）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計画 → 開発 → レビュー → 振り返り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各スプリント終了時にデモ実施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MVP（Minimum Viable Product）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最小限の機能で早期にリリース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フィードバックを基に改善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継続的な改善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スプリントごとに振り返り、次に活かす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プロセス改善を継続的に実施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5-2. スクラム開発における6つの重要管理項目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【プロジェクト管理の6つの重要項目】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1. スコープ管理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プロダクトバックログを中心とした管理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優先順位の明確化とトレードオフ判断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2. 品質管理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スプリントごとの品質ゲート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継続的なテスト（自動テスト）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コードレビューの徹底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3. スケジュール管理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- 2週間スプリントの厳守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バーンダウンチャートでの可視化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遅延の早期検知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4. コスト管理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スプリントごとの工数管理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予算の透明性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四半期ごとの見直し（準委任契約）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5. リスク管理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小さな反復でリスクを分散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早期の問題検出と対応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リスクレジスターの維持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6. コミュニケーション管理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デイリースタンドアップ（毎日15分）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スプリントレビュー・レトロスペクティブ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透明性の確保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5-3. 会議体（スクラム開発）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【定例会議】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1. デイリースタンドアップ（毎日15分）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実施：毎朝9:00～9:15（Web会議）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参加：開発チーム全員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内容：昨日の進捗、今日の予定、障害事項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2. スプリントプランニング（2週間毎、2時間）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実施：スプリント初日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参加：プロダクトオーナー、スクラムマスター、開発チーム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内容：次スプリントの計画、タスク選定、見積もり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3. スプリントレビュー（2週間毎、1時間）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実施：スプリント最終日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参加：全ステークホルダー（総務部・DI部含む）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内容：デモ、フィードバック収集、受入判断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4. スプリントレトロスペクティブ（2週間毎、1時間）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実施：スプリント最終日（レビュー後）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参加：開発チーム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内容：振り返り、改善点の洗い出し、アクションアイテム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5. プロジェクト定例会議（月1回、1時間）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実施：毎月第1週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参加：全ステークホルダー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内容：全体進捗、課題管理、予算報告、リスク管理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5-4. 開発体制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【DI部を中心とした三者連携体制】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出光興産側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プロダクトオーナー（総務部財務リスク管理課）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業務要件提供・優先順位決定・受入判断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週10時間程度、連絡経路：総務部⇔DI部⇔EXE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プロジェクト管理・品質管理（DI部）★主導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プロジェクト統括・橋渡し役・品質チェック・運用管理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週20時間程度、総務部とEXEの間に入りプロジェクト主導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総務部要望を技術的に整理、EXE説明を総務部に翻訳、開発品質チェック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ベンダー側（システムエグゼ想定）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スクラムマスター（PM、1名）：開発推進・課題解決、DI部へ報告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開発チーム（7名）：FE 2名・BE 2名・インフラ 1名・UI/UX 1名・QA 1名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合計：8名体制（EXE）+ DI部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※ 体制は状況により変動、Wave2で最適化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Meiryo"/>
              </a:defRPr>
            </a:pPr>
            <a:r>
              <a:t>6. 期待される効果と予算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6-1. 定量的効果（総務部の業務負担軽減）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現状推定値に基づく削減効果試算　※詳細は総務部ヒアリングで精緻化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【1. エラー対応時間：年間84～216時間削減（70～90%）】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現状推定：月10～20時間、年間120～240時間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マクロエラー調査、原因特定、外部ベンダー問合せ、修正・再実行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担当者1名の業務時間の約7～15%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削減施策：Zabbix 24時間監視 + リアルタイム入力検証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エラー原因を即座に特定、外部ベンダー問合せ不要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削減後：年間24～72時間（削減率70～90%）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【2. データ処理時間：年間160～180時間削減（80～90%）】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現状推定：月16～20時間、年間200時間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手動マクロ実行、データ確認、整合性チェック、レポート作成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削減施策：Azure Functions 自動バッチ（夜間実行）</a:t>
            </a:r>
          </a:p>
          <a:p>
            <a:pPr lvl="1">
              <a:lnSpc>
                <a:spcPct val="11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  - 削減後：年間20～40時間（削減率80～90%）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【3. 合計削減効果（推定）】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年間244～396時間削減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担当者1名の業務時間の約15～25%を削減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削減工数を、より付加価値の高い業務に再配分可能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6-2. 定性的効果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【業務品質の向上】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エラー発生率の大幅削減（90%削減目標）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データ品質向上・処理の正確性確保・監査証跡自動記録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【ユーザビリティの向上】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直感的な操作性（Webアプリ）・リアルタイム進捗確認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【属人化の解消】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業務の標準化・可視化、ナレッジ一元管理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担当者不在時の業務継続、新人教育の効率化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【将来への投資】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出光次期アーキへの適合、拡張性の確保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最新技術対応、データ活用高度化（AI/BI連携）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【セキュリティ・コンプライアンス】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エンタープライズレベルのセキュリティ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アクセス制御強化、監査対応の容易化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6-3. 概算予算（要詳細見積）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【初期開発費用】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Wave1：基本機能（8ヶ月）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準備（2ヶ月）：要件定義・設計・Azure環境構築 → XXX万円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スクラム（5ヶ月）：開発（Sprint 1-10）・品質保証 → XXX万円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導入（1ヶ月）：UAT・データ移行・トレーニング → XXX万円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Wave1合計：XXX万円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■ Wave2：機能拡張（7ヶ月）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• 開発（Sprint 11-20）・品質保証・UAT・トレーニング → XXX万円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Wave2合計：XXX万円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初期費用総額：XXX～XXX万円（要見積）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【運用・保守費用（年間）】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Azure クラウド基盤（App Service、SQL Database等）：XXX万円/年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保守・サポート：XXX万円/年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• ライセンス：XX万円/年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年間運用費用：XXX万円/年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※詳細は複数ベンダーからの見積取得後に確定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6-4. リスクと対策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リスク項目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レベル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対策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スケジュール遅延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要件定義の遅延、技術的課題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・スクラム開発により優先度の高い機能から実装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・2週間ごとの進捗確認と軌道修正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・Wave構成により柔軟な対応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予算超過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要件の追加・変更、技術的課題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・MVPアプローチで必須機能に絞る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・準委任契約で四半期ごとに調整可能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・プロダクトバックログで優先順位を明確化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ユーザー受け入れ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UI/UXの不満、操作性の問題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・早期からのユーザー参画（スプリントレビュー）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・プロトタイプでの事前確認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・段階的なトレーニング実施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データ移行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データ品質問題、移行ツールの不具合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・事前検証の徹底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・バックアップ体制の確保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・段階的な移行（テスト移行→本番移行）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システム障害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Azure障害、アプリケーション不具合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・Azure高可用性構成採用（SLA 99.95%）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・Zabbixでの24時間監視</a:t>
                      </a:r>
                    </a:p>
                    <a:p>
                      <a:pPr algn="l">
                        <a:defRPr sz="1100">
                          <a:latin typeface="Meiryo"/>
                        </a:defRPr>
                      </a:pPr>
                      <a:r>
                        <a:t>・障害発生時の即座通知（メール・Teams）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Meiryo"/>
              </a:defRPr>
            </a:pPr>
            <a:r>
              <a:t>7. Appendix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【参考】詳細タイムライン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【2025年12月】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提案承認・RFP作成・ベンダー選定・契約締結・キックオフ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【2026年1～2月】準備フェーズ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バックログ作成・Azure環境構築・設計・プロトタイプ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【2026年3～7月】スクラムフェーズ（Wave1）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Sprint 1-10（2週間×10）で現行マクロ全機能実装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データ入力・自動処理・出力・認証・比較テスト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【2026年8月】導入フェーズ（Wave1）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UAT（並行稼働テスト）・データ移行・トレーニング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▼ 2026年8月末：Wave1稼働・Excelマクロ完全廃止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【2026年9月～2027年3月】スクラムフェーズ（Wave2）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Sprint 11-20で付加価値機能追加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ワークフロー・高度レポート・API連携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【2027年3月】導入フェーズ（Wave2）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UAT実施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▼ 2027年3月末：Wave2稼働（付加価値機能追加）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【参考】現行マクロの機能概要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latin typeface="Meiryo"/>
              </a:defRPr>
            </a:pPr>
            <a:r>
              <a:t>現行業務は2種類のマクロで運用されている</a:t>
            </a:r>
          </a:p>
          <a:p>
            <a:pPr>
              <a:lnSpc>
                <a:spcPct val="90000"/>
              </a:lnSpc>
              <a:defRPr sz="100">
                <a:latin typeface="Meiryo"/>
              </a:defRPr>
            </a:pPr>
            <a:endParaRPr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338D"/>
                </a:solidFill>
                <a:latin typeface="Meiryo"/>
              </a:defRPr>
            </a:pPr>
            <a:r>
              <a:t>【一次マクロ：等級算出・与信限度額算出マクロ】</a:t>
            </a:r>
          </a:p>
          <a:p>
            <a:pPr>
              <a:lnSpc>
                <a:spcPct val="9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① 債権管理等級算出（A+ → E、9等級）</a:t>
            </a:r>
          </a:p>
          <a:p>
            <a:pPr>
              <a:lnSpc>
                <a:spcPct val="9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② 基準与信限度額算出（理論上の与信額）</a:t>
            </a:r>
          </a:p>
          <a:p>
            <a:pPr>
              <a:lnSpc>
                <a:spcPct val="9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③ 限度申請書作成（パターンA/B自動判定）</a:t>
            </a:r>
          </a:p>
          <a:p>
            <a:pPr>
              <a:lnSpc>
                <a:spcPct val="90000"/>
              </a:lnSpc>
              <a:defRPr sz="100">
                <a:latin typeface="Meiryo"/>
              </a:defRPr>
            </a:pPr>
            <a:endParaRPr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338D"/>
                </a:solidFill>
                <a:latin typeface="Meiryo"/>
              </a:defRPr>
            </a:pPr>
            <a:r>
              <a:t>【二次マクロ：限度申請書取込マクロ】</a:t>
            </a:r>
          </a:p>
          <a:p>
            <a:pPr>
              <a:lnSpc>
                <a:spcPct val="9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④ ワークフロー承認後の限度申請書の自動取り込み</a:t>
            </a:r>
          </a:p>
          <a:p>
            <a:pPr>
              <a:lnSpc>
                <a:spcPct val="9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⑤ 取引先一覧ファイルへの自動反映</a:t>
            </a:r>
          </a:p>
          <a:p>
            <a:pPr>
              <a:lnSpc>
                <a:spcPct val="90000"/>
              </a:lnSpc>
              <a:spcAft>
                <a:spcPts val="100"/>
              </a:spcAft>
              <a:defRPr sz="1100">
                <a:latin typeface="Meiryo"/>
              </a:defRPr>
            </a:pPr>
            <a:r>
              <a:t>⑥ SAP連携用CSV出力</a:t>
            </a:r>
          </a:p>
          <a:p>
            <a:pPr>
              <a:lnSpc>
                <a:spcPct val="90000"/>
              </a:lnSpc>
              <a:defRPr sz="100">
                <a:latin typeface="Meiryo"/>
              </a:defRPr>
            </a:pPr>
            <a:endParaRPr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338D"/>
                </a:solidFill>
                <a:latin typeface="Meiryo"/>
              </a:defRPr>
            </a:pPr>
            <a:r>
              <a:t>【外部データ連携】</a:t>
            </a:r>
          </a:p>
          <a:p>
            <a:pPr>
              <a:lnSpc>
                <a:spcPct val="90000"/>
              </a:lnSpc>
              <a:defRPr sz="1100">
                <a:latin typeface="Meiryo"/>
              </a:defRPr>
            </a:pPr>
            <a:r>
              <a:t>TSR-VAN2 / Direct+(D&amp;B) / DataDrive(帝国DB) / S&amp;P/Moody's / 為替 / SAP</a:t>
            </a:r>
          </a:p>
          <a:p>
            <a:pPr>
              <a:lnSpc>
                <a:spcPct val="90000"/>
              </a:lnSpc>
              <a:defRPr sz="100">
                <a:latin typeface="Meiryo"/>
              </a:defRPr>
            </a:pPr>
            <a:endParaRPr/>
          </a:p>
          <a:p>
            <a:pPr>
              <a:lnSpc>
                <a:spcPct val="90000"/>
              </a:lnSpc>
              <a:defRPr sz="1100">
                <a:latin typeface="Meiryo"/>
              </a:defRPr>
            </a:pPr>
            <a:r>
              <a:t>※ 今回は両マクロの完全リプレースを実施</a:t>
            </a:r>
          </a:p>
        </p:txBody>
      </p:sp>
      <p:pic>
        <p:nvPicPr>
          <p:cNvPr id="4" name="Picture 3" descr="diagram_1_2_macro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7" y="4297680"/>
            <a:ext cx="11430000" cy="16411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【参考】Zabbixとは（総務部向け説明）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Zabbixはシステムを24時間365日監視する「見守りツール」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【総務部にとってのメリット】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エラー原因がすぐに分かる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現行：原因不明→ベンダー問合せ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新規：Zabbixに記録→即座に確認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分かりやすいダッシュボード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専門知識不要・色で一目判別・グラフで時系列確認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FF6600"/>
                </a:solidFill>
                <a:latin typeface="Meiryo"/>
              </a:defRPr>
            </a:pPr>
            <a:r>
              <a:t>● 自動通知で素早く対応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  エラー発生→メール・Teams自動通知→DI部へ即座エスカレーション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【Zabbixの機能】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リアルタイム監視：システム正常稼働確認（CPU・メモリ・ディスク等）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詳細ログ記録：全処理履歴を自動記録（誰が・いつ・何を）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200">
                <a:latin typeface="Meiryo"/>
              </a:defRPr>
            </a:pPr>
            <a:r>
              <a:t>✓ アラート機能：異常即座通知・障害予兆検知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【活用イメージ】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1. エラー発生 → 2. Zabbix検知・通知 → 3. DI部原因確認 → 4. エスカレーション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従来の「原因不明」で悩む時間を大幅削減！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228600" rtlCol="0" anchor="t"/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お問い合わせ先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623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338D"/>
                </a:solidFill>
                <a:latin typeface="Meiryo"/>
              </a:defRPr>
            </a:pPr>
            <a:r>
              <a:t>【ご質問・ご相談は情報システム部までお気軽にどうぞ】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情報システム部　デジタルプラットフォーム課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担当：[お名前]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Email: [メールアドレス]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内線：[内線番号]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次回ミーティング候補日：</a:t>
            </a:r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2025年11月中旬（要調整）</a:t>
            </a:r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400">
                <a:latin typeface="Meiryo"/>
              </a:defRPr>
            </a:pPr>
            <a:endParaRPr/>
          </a:p>
          <a:p>
            <a:pPr>
              <a:lnSpc>
                <a:spcPct val="110000"/>
              </a:lnSpc>
              <a:defRPr sz="1200">
                <a:latin typeface="Meiry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【出光興産用】(和文)pptテンプレート_wid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【出光興産用】(和文)pptテンプレート_wide.pptx[読み取り専用]" id="{71A5EF92-F7B4-4A82-8A17-5934044B2649}" vid="{BFF53255-75F8-48E0-9D4B-888354A9ED0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cd2f88ee6a2934efb41cd9289b91e144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a4c4fd50c0b00be67728f9d39ce10164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8D38300-1366-4C03-9AF2-3320F78685DA}"/>
</file>

<file path=customXml/itemProps2.xml><?xml version="1.0" encoding="utf-8"?>
<ds:datastoreItem xmlns:ds="http://schemas.openxmlformats.org/officeDocument/2006/customXml" ds:itemID="{F8712326-25A4-488C-ABEA-B08EAB0BFEC1}"/>
</file>

<file path=customXml/itemProps3.xml><?xml version="1.0" encoding="utf-8"?>
<ds:datastoreItem xmlns:ds="http://schemas.openxmlformats.org/officeDocument/2006/customXml" ds:itemID="{3CBBA9BB-E9A4-4F90-A836-5519B2E60A9F}"/>
</file>

<file path=docProps/app.xml><?xml version="1.0" encoding="utf-8"?>
<Properties xmlns="http://schemas.openxmlformats.org/officeDocument/2006/extended-properties" xmlns:vt="http://schemas.openxmlformats.org/officeDocument/2006/docPropsVTypes">
  <Template>【出光興産用】(和文)pptテンプレート_wide</Template>
  <TotalTime>1</TotalTime>
  <Words>3443</Words>
  <Application>Microsoft Office PowerPoint</Application>
  <PresentationFormat>ワイド画面</PresentationFormat>
  <Paragraphs>730</Paragraphs>
  <Slides>38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38</vt:i4>
      </vt:variant>
    </vt:vector>
  </HeadingPairs>
  <TitlesOfParts>
    <vt:vector size="44" baseType="lpstr">
      <vt:lpstr>Meiryo</vt:lpstr>
      <vt:lpstr>游ゴシック</vt:lpstr>
      <vt:lpstr>Arial</vt:lpstr>
      <vt:lpstr>Calibri</vt:lpstr>
      <vt:lpstr>Calibri Light</vt:lpstr>
      <vt:lpstr>【出光興産用】(和文)pptテンプレート_wide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川名翔太</cp:lastModifiedBy>
  <cp:revision>2</cp:revision>
  <dcterms:created xsi:type="dcterms:W3CDTF">2013-01-27T09:14:16Z</dcterms:created>
  <dcterms:modified xsi:type="dcterms:W3CDTF">2025-10-29T18:50:32Z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</Properties>
</file>