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9" r:id="rId12"/>
    <p:sldId id="270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4383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AI技術を活用した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開発体制の強化について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F8C8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より高品質なシステムを、より早く提供するために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F8C8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Agentic Coding への移行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本日お伝えすること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E8F4F8"/>
          </a:solidFill>
          <a:ln w="254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これまでの開発手法に加えて、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AIを全面的に活用した開発体制へ移行します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2286000" cy="201168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18872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より早い納品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383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開発期間の大幅短縮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2286000"/>
            <a:ext cx="2286000" cy="201168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93192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840480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より高い品質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0" y="3383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一貫性のある実装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286000"/>
            <a:ext cx="2286000" cy="201168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67512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583680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安全な管理体制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3383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適切なセキュリティ管理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なぜ今、開発体制を強化するのか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E8F4F8"/>
          </a:solidFill>
          <a:ln w="254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AI技術の急速な進化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ソフトウェア開発におけるAI活用が、単なる「補助」から「自律実行」へと進化しています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3474720" cy="137160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これまで（AI補助）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開発者がAIに質問し、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回答を参考に手作業で実装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560320"/>
            <a:ext cx="3474720" cy="1371600"/>
          </a:xfrm>
          <a:prstGeom prst="rect">
            <a:avLst/>
          </a:prstGeom>
          <a:solidFill>
            <a:srgbClr val="D5F4E6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93776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これから（Agentic Coding）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3200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AIが設計・実装・テストまで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自律的に実行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お客様にとってのメリット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200400" cy="1371600"/>
          </a:xfrm>
          <a:prstGeom prst="rect">
            <a:avLst/>
          </a:prstGeom>
          <a:solidFill>
            <a:srgbClr val="F8F9FA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097280" y="1508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⚡ 納期の短縮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9202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従来2週間 → 3日間（実績ベース）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市場投入が10日早まり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ビジネス機会を逃さない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2926080"/>
            <a:ext cx="3200400" cy="1371600"/>
          </a:xfrm>
          <a:prstGeom prst="rect">
            <a:avLst/>
          </a:prstGeom>
          <a:solidFill>
            <a:srgbClr val="F8F9FA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097280" y="3063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💰 コストの最適化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4747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同じ予算で1.5倍の機能実装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または30%のコスト削減を実現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投資対効果を最大化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1371600"/>
            <a:ext cx="3200400" cy="1371600"/>
          </a:xfrm>
          <a:prstGeom prst="rect">
            <a:avLst/>
          </a:prstGeom>
          <a:solidFill>
            <a:srgbClr val="F8F9FA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212080" y="1508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🎯 品質の安定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12080" y="19202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単体テストカバレッジ90%以上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リリース後のバグ50%削減（目標）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一貫性のある実装を実現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2926080"/>
            <a:ext cx="3200400" cy="1371600"/>
          </a:xfrm>
          <a:prstGeom prst="rect">
            <a:avLst/>
          </a:prstGeom>
          <a:solidFill>
            <a:srgbClr val="F8F9FA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212080" y="3063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📝 ドキュメント品質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12080" y="34747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設計書とコードが常に同期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保守費用を年間20%削減見込み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メンテナンス性が向上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E8F4F8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開発生産性の向上は、お客様への価値提供の向上につながります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開発時間の大幅な短縮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0" y="1097280"/>
            <a:ext cx="2743200" cy="1097280"/>
          </a:xfrm>
          <a:prstGeom prst="rect">
            <a:avLst/>
          </a:prstGeom>
          <a:solidFill>
            <a:srgbClr val="E8F4F8"/>
          </a:solidFill>
          <a:ln w="254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200400" y="1188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7AE6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60%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0040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開発時間を短縮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これまで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834640"/>
            <a:ext cx="3200400" cy="1371600"/>
          </a:xfrm>
          <a:prstGeom prst="rect">
            <a:avLst/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097280" y="29260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設計書作成 → 2h
コーディング → 4h
テスト作成 → 2h
整合性確認 → 1h
レビュー対応 → 2h
</a:t>
            </a:r>
            <a:r>
              <a:rPr lang="en-US" sz="1300" b="1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合計: 11時間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これから（Agentic Coding）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0" y="2834640"/>
            <a:ext cx="3200400" cy="1371600"/>
          </a:xfrm>
          <a:prstGeom prst="rect">
            <a:avLst/>
          </a:prstGeom>
          <a:solidFill>
            <a:srgbClr val="D5F4E6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212080" y="2880360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要件入力 → 10分
AI自動実行 → 1.5h
</a:t>
            </a:r>
            <a:r>
              <a:rPr lang="en-US" sz="9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 ✓ 設計書・コード・テスト生成
</a:t>
            </a:r>
            <a:r>
              <a:rPr lang="en-US" sz="10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確認・微調整 → 1h
最終確認 → 30分
</a:t>
            </a:r>
            <a:r>
              <a:rPr lang="en-US" sz="1300" b="1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合計: 約4時間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solidFill>
            <a:srgbClr val="FFFACD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40080" y="44805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👤 人間の役割（より価値の高い業務にシフト）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7548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AI: 定型コーディング・テスト生成 / 人間: 要件定義・設計判断・品質保証・お客様対応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具体例：ESGシステムのモック作成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2743200"/>
          </a:xfrm>
          <a:prstGeom prst="rect">
            <a:avLst/>
          </a:prstGeom>
          <a:solidFill>
            <a:srgbClr val="F8F9FA"/>
          </a:solidFill>
          <a:ln w="254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📊 プロジェクト実績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プロジェクト: </a:t>
            </a:r>
            <a:r>
              <a:rPr lang="en-US" sz="13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ESG-ETLシステム
</a:t>
            </a:r>
            <a:r>
              <a:rPr lang="en-US" sz="1300" b="1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作成内容: </a:t>
            </a:r>
            <a:r>
              <a:rPr lang="en-US" sz="13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12画面のモック
</a:t>
            </a:r>
            <a:r>
              <a:rPr lang="en-US" sz="1300" b="1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開発期間: </a:t>
            </a:r>
            <a:r>
              <a:rPr lang="en-US" sz="13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1週間（3日間の実作業）
</a:t>
            </a:r>
            <a:r>
              <a:rPr lang="en-US" sz="1300" b="1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従来手法の場合: </a:t>
            </a:r>
            <a:r>
              <a:rPr lang="en-US" sz="13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2週間必要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3383280" cy="457200"/>
          </a:xfrm>
          <a:prstGeom prst="rect">
            <a:avLst/>
          </a:prstGeom>
          <a:solidFill>
            <a:srgbClr val="D5F4E6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005840" y="3749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⚡ 開発期間を 50% 短縮！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画面モック例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8C8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※ 実際のプロジェクトで作成した画面イメージ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適用範囲と制約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E8F4F8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適切な技術を適切な場面で活用することで、最大の効果を発揮します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31920" cy="2560320"/>
          </a:xfrm>
          <a:prstGeom prst="rect">
            <a:avLst/>
          </a:prstGeom>
          <a:solidFill>
            <a:srgbClr val="D5F4E6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✅ 最高の効果を発揮する開発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 CRUD操作中心のWebアプリ
• 明確な仕様があるシステム
• 標準的なフレームワーク使用
• データ変換・ETL処理
• 管理画面・ダッシュボード
• API開発・単体テスト
</a:t>
            </a:r>
            <a:r>
              <a:rPr lang="en-US" sz="1200" b="1" dirty="0">
                <a:solidFill>
                  <a:srgbClr val="27AE6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→ 60%の生産性向上を実現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931920" cy="2560320"/>
          </a:xfrm>
          <a:prstGeom prst="rect">
            <a:avLst/>
          </a:prstGeom>
          <a:solidFill>
            <a:srgbClr val="FFF3CD"/>
          </a:solidFill>
          <a:ln w="254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⚡ ハイブリッド適用が効果的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46888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 高度なアルゴリズム設計
</a:t>
            </a:r>
            <a:r>
              <a:rPr lang="en-US" sz="10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 → コア部分は人間、周辺はAI
</a:t>
            </a:r>
            <a:r>
              <a:rPr lang="en-US" sz="12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 レガシーとの複雑連携
</a:t>
            </a:r>
            <a:r>
              <a:rPr lang="en-US" sz="10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 → 連携部分は人間、新規はAI
</a:t>
            </a:r>
            <a:r>
              <a:rPr lang="en-US" sz="12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 独自ビジネスロジック
</a:t>
            </a:r>
            <a:r>
              <a:rPr lang="en-US" sz="10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 → 設計は人間、実装はAI
</a:t>
            </a:r>
            <a:r>
              <a:rPr lang="en-US" sz="1200" b="1" dirty="0">
                <a:solidFill>
                  <a:srgbClr val="FFC10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→ 従来手法とAIの良いとこ取り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💡 お客様のプロジェクトに最適な開発手法をご提案します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リスク管理と品質保証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E8F4F8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74C3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AIが生成したコードも、弊社が全責任を負います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31920" cy="2286000"/>
          </a:xfrm>
          <a:prstGeom prst="rect">
            <a:avLst/>
          </a:prstGeom>
          <a:solidFill>
            <a:srgbClr val="F8F9FA"/>
          </a:solidFill>
          <a:ln w="254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🔍 品質保証プロセス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1. AI生成コード
</a:t>
            </a: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  ↓ 自動テスト実行
</a:t>
            </a:r>
            <a:r>
              <a:rPr lang="en-US" sz="1200" b="1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2. エンジニアレビュー
</a:t>
            </a: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  ↓ 経験豊富な担当者が確認
</a:t>
            </a:r>
            <a:r>
              <a:rPr lang="en-US" sz="1200" b="1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3. セキュリティスキャン
</a:t>
            </a: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  ↓ 脆弱性を自動検出
</a:t>
            </a:r>
            <a:r>
              <a:rPr lang="en-US" sz="1200" b="1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4. お客様納品前の最終確認
</a:t>
            </a: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  → 品質基準クリア後に納品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931920" cy="2286000"/>
          </a:xfrm>
          <a:prstGeom prst="rect">
            <a:avLst/>
          </a:prstGeom>
          <a:solidFill>
            <a:srgbClr val="FFF3CD"/>
          </a:solidFill>
          <a:ln w="254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⚠️ もし問題があった場合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246888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【対応プロセス】
</a:t>
            </a: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 即座に従来手法に切り替え
• 追加費用なしで修正対応
• 原因分析と再発防止
</a:t>
            </a:r>
            <a:r>
              <a:rPr lang="en-US" sz="1200" b="1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【品質保証】
</a:t>
            </a: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 SLAは従来と同等
• バグ対応：24時間以内
• 賠償責任：従来の契約条件適用
</a:t>
            </a:r>
            <a:r>
              <a:rPr lang="en-US" sz="1100" b="1" dirty="0">
                <a:solidFill>
                  <a:srgbClr val="FFC10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→ お客様にリスクを負わせません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使用するAIツール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2286000" cy="1828800"/>
          </a:xfrm>
          <a:prstGeom prst="rect">
            <a:avLst/>
          </a:prstGeom>
          <a:solidFill>
            <a:srgbClr val="F8F9FA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09728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Anthropic社提供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自律的なコード生成と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テスト実行が可能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0" y="1371600"/>
            <a:ext cx="2286000" cy="1828800"/>
          </a:xfrm>
          <a:prstGeom prst="rect">
            <a:avLst/>
          </a:prstGeom>
          <a:solidFill>
            <a:srgbClr val="F8F9FA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84048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Codex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0" y="1965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OpenAI社提供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高度なコード理解と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生成機能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2286000" cy="1828800"/>
          </a:xfrm>
          <a:prstGeom prst="rect">
            <a:avLst/>
          </a:prstGeom>
          <a:solidFill>
            <a:srgbClr val="F8F9FA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658368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SmileChat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1965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社内向けAIアシスタント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セキュアな環境で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AI活用を実現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solidFill>
            <a:srgbClr val="E8F4F8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8C8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※ AI技術の進化に応じて、使用ツールは適宜変更する可能性があります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セキュリティと管理体制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2286000" cy="1828800"/>
          </a:xfrm>
          <a:prstGeom prst="rect">
            <a:avLst/>
          </a:prstGeom>
          <a:solidFill>
            <a:srgbClr val="F8F9FA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188720" y="1554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データ保護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オプトアウト設定済み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データは学習に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使用されません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0" y="1371600"/>
            <a:ext cx="2286000" cy="1828800"/>
          </a:xfrm>
          <a:prstGeom prst="rect">
            <a:avLst/>
          </a:prstGeom>
          <a:solidFill>
            <a:srgbClr val="F8F9FA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931920" y="1554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84048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R&amp;D部門管理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23774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専門部門が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AIツールを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適切に管理・監督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2286000" cy="1828800"/>
          </a:xfrm>
          <a:prstGeom prst="rect">
            <a:avLst/>
          </a:prstGeom>
          <a:solidFill>
            <a:srgbClr val="F8F9FA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6675120" y="1554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58368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継続的検証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23774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生産性向上を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継続測定・検証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より良い開発体制を追求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solidFill>
            <a:srgbClr val="E8F4F8"/>
          </a:solidFill>
          <a:ln w="254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お客様の情報セキュリティを最優先に、安全な環境でAIを活用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今後の取り組み予定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E8F4F8"/>
          </a:solidFill>
          <a:ln w="254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AIを効果的に活用できる人材の育成を推進します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73152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09728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📚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勉強会の定期開催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2148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AIツールの的確な使い方を習得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使えるユーザーを段階的に拡大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017520"/>
            <a:ext cx="73152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09728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82880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ノウハウの蓄積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3154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お客様固有のルールやノウハウを整備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（Azure環境設定、コーディング規約等）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4023360"/>
            <a:ext cx="73152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109728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👁️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82880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品質管理体制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4160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AIが生成したコードも人の目でレビュー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品質とセキュリティを確保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40080" y="516636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※ AIは強力なツールですが、的確に使いこなすスキルが必要です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まとめ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E8F4F8"/>
          </a:solidFill>
          <a:ln w="254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AI技術を全面活用した開発体制により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お客様に、より高品質なシステムを、より早く提供します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2286000" cy="1371600"/>
          </a:xfrm>
          <a:prstGeom prst="rect">
            <a:avLst/>
          </a:prstGeom>
          <a:solidFill>
            <a:srgbClr val="F8F9FA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188720" y="2423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2788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納期短縮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開発期間60%削減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市場投入を加速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2286000"/>
            <a:ext cx="2286000" cy="1371600"/>
          </a:xfrm>
          <a:prstGeom prst="rect">
            <a:avLst/>
          </a:prstGeom>
          <a:solidFill>
            <a:srgbClr val="F8F9FA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931920" y="2423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840480" y="2788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コスト最適化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30%削減または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1.5倍の機能実装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2286000"/>
            <a:ext cx="2286000" cy="1371600"/>
          </a:xfrm>
          <a:prstGeom prst="rect">
            <a:avLst/>
          </a:prstGeom>
          <a:solidFill>
            <a:srgbClr val="F8F9FA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675120" y="2423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583680" y="2788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品質向上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一貫性のある実装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バグ50%削減目標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57400" y="3840480"/>
            <a:ext cx="2286000" cy="1097280"/>
          </a:xfrm>
          <a:prstGeom prst="rect">
            <a:avLst/>
          </a:prstGeom>
          <a:solidFill>
            <a:srgbClr val="F8F9FA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2331720" y="39776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240280" y="43434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安全管理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40280" y="46177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適切なセキュリティ体制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840480"/>
            <a:ext cx="2286000" cy="1097280"/>
          </a:xfrm>
          <a:prstGeom prst="rect">
            <a:avLst/>
          </a:prstGeom>
          <a:solidFill>
            <a:srgbClr val="F8F9FA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074920" y="39776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983480" y="43434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即座に適用可能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46177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2025年4月から開始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solidFill>
            <a:srgbClr val="D5F4E6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640080" y="52578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AE6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より良いシステム開発を通じて、お客様のビジネスに貢献します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536</Words>
  <Application>Microsoft Office PowerPoint</Application>
  <PresentationFormat>画面に合わせる (16:9)</PresentationFormat>
  <Paragraphs>151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5" baseType="lpstr">
      <vt:lpstr>メイリオ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川名翔太</cp:lastModifiedBy>
  <cp:revision>2</cp:revision>
  <dcterms:created xsi:type="dcterms:W3CDTF">2026-01-21T07:14:20Z</dcterms:created>
  <dcterms:modified xsi:type="dcterms:W3CDTF">2026-02-02T00:54:36Z</dcterms:modified>
</cp:coreProperties>
</file>